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4.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Mid-to-Advanced Level 9-10</a:t>
            </a:r>
          </a:p>
          <a:p>
            <a:r>
              <a:t>Unit 9: Entrepreneurship and New Business Models — Self-Study Workbook (Lessons 79–89)</a:t>
            </a:r>
          </a:p>
          <a:p/>
          <a:p>
            <a:r>
              <a:t>开场：简单介绍本单元的主题和要完成的 11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79 · Getting Into Business 进入商业领域</a:t>
            </a:r>
          </a:p>
          <a:p>
            <a:r>
              <a:t>Goal: talk about starting a business: ideas, motivation, planning, funding and first steps.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start a business = 创业;set up = 创办。第 1 题可用第二条件句:If I started a business, I’d…。venture = 创业项目。</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Pitch a simple business idea to a friend or investor.</a:t>
            </a:r>
          </a:p>
          <a:p>
            <a:r>
              <a:t>Say: problem → solution → customers → how you make money → what you need</a:t>
            </a:r>
          </a:p>
          <a:p>
            <a:r>
              <a:t>Useful starters: “I’ve noticed that people struggle with…” / “My idea is to…” / “We’d make money by…”</a:t>
            </a:r>
          </a:p>
          <a:p>
            <a:r>
              <a:t>struggle with = 在……方面有困难。We’d make money by + -ing 说明盈利方式。</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Most businesses begin with a simple observation: people have a problem and nobody is solving it well. Turning that observation into a company requires several steps. First, test the idea cheaply by talking to potential customers and, if possible, selling a small version of the product. Second, write a short plan covering who the customers are, how you will reach them, what it will cost and how you will earn money. Third, decide how to fund the start: personal savings, loans, investors or early sales. Many founders underestimate how long it takes to become profitable, so they keep a cash reserve. Finally, get advice, from mentors, accountants or other founders. The first version will probably not be perfect, but starting small and learning quickly is usually better than waiting for the perfect plan.</a:t>
            </a:r>
          </a:p>
          <a:p>
            <a:r>
              <a:t>observation = 观察。cash reserve = 现金储备。profitable = 盈利的。mentor = 导师。</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does a business often begin?</a:t>
            </a:r>
          </a:p>
          <a:p>
            <a:r>
              <a:t>A: With the observation that people have a problem nobody is solving well.</a:t>
            </a:r>
          </a:p>
          <a:p>
            <a:r>
              <a:t>Q2. What should be done before investing heavily?</a:t>
            </a:r>
          </a:p>
          <a:p>
            <a:r>
              <a:t>A: Test the idea cheaply by talking to customers and selling a small version.</a:t>
            </a:r>
          </a:p>
          <a:p>
            <a:r>
              <a:t>Q3. What do many founders underestimate?</a:t>
            </a:r>
          </a:p>
          <a:p>
            <a:r>
              <a:t>A: How long it takes to become profitable.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Starting out 起步</a:t>
            </a:r>
          </a:p>
          <a:p>
            <a:r>
              <a:t>领读 → 学员跟读 → 请学员用表达造一个和自己工作相关的句子。</a:t>
            </a:r>
          </a:p>
          <a:p>
            <a:r>
              <a:t>start-up (noun) 初创公司 — “She works for a start-up.”</a:t>
            </a:r>
          </a:p>
          <a:p>
            <a:r>
              <a:t>founder (noun) 创始人 — “The founder is also the CEO.”</a:t>
            </a:r>
          </a:p>
          <a:p>
            <a:r>
              <a:t>business plan (noun) 商业计划 — “We wrote a business plan.”</a:t>
            </a:r>
          </a:p>
          <a:p>
            <a:r>
              <a:t>funding (noun (uncountable)) 资金 — “We’re seeking funding.”</a:t>
            </a:r>
          </a:p>
          <a:p>
            <a:r>
              <a:t>customer base (noun) 客户群 — “We’re growing our customer base.”</a:t>
            </a:r>
          </a:p>
          <a:p>
            <a:r>
              <a:t>revenue (noun (uncountable)) 收入 — “Revenue was £50,000 last year.”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Taking the plunge ★ 迈出第一步</a:t>
            </a:r>
          </a:p>
          <a:p>
            <a:r>
              <a:t>领读 → 学员跟读 → 请学员用表达造一个和自己工作相关的句子。</a:t>
            </a:r>
          </a:p>
          <a:p>
            <a:r>
              <a:t>★ take the plunge (idiom) 下定决心 — “She took the plunge and quit her job.”</a:t>
            </a:r>
          </a:p>
          <a:p>
            <a:r>
              <a:t>★ get off the ground (idiom) 起步 — “The project never got off the ground.”</a:t>
            </a:r>
          </a:p>
          <a:p>
            <a:r>
              <a:t>★ bootstrap (verb) 自筹资金 — “We bootstrapped the business.”</a:t>
            </a:r>
          </a:p>
          <a:p>
            <a:r>
              <a:t>★ seed money (noun phrase) 种子资金 — “We raised seed money from friends.”</a:t>
            </a:r>
          </a:p>
          <a:p>
            <a:r>
              <a:t>★ minimum viable product (noun phrase) 最小可行产品 — “We launched a minimum viable product.”</a:t>
            </a:r>
          </a:p>
          <a:p>
            <a:r>
              <a:t>★ find a niche (collocation) 找到细分市场 — “They found a niche in pet food.”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start-up / founder / funding / revenue / take the plunge / get off the ground</a:t>
            </a:r>
          </a:p>
          <a:p>
            <a:r>
              <a:t>1. She left a bank to join a fast-growing _______. → start-up</a:t>
            </a:r>
          </a:p>
          <a:p>
            <a:r>
              <a:t>2. The _______ of the company started it in her kitchen. → founder</a:t>
            </a:r>
          </a:p>
          <a:p>
            <a:r>
              <a:t>3. We’re seeking _______ to expand into new markets. → funding</a:t>
            </a:r>
          </a:p>
          <a:p>
            <a:r>
              <a:t>4. The business made £50,000 in _______ in its first year. → revenue</a:t>
            </a:r>
          </a:p>
          <a:p>
            <a:r>
              <a:t>5. After years of thinking, he finally decided to _______. → take the plunge</a:t>
            </a:r>
          </a:p>
          <a:p>
            <a:r>
              <a:t>6. It took two years for the idea to _______. → get off the ground</a:t>
            </a:r>
          </a:p>
          <a:p>
            <a:r>
              <a:t>Mistake Watch (拼写与搭配): entrepreneur (not “enterpreneur”), business (not “bussiness”), revenue. Start / set up / launch / run a business, go into business, be in business. Funding and revenue are uncountable. Profit (income minus costs) vs revenue (total income). Make a profit (not “do”).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Pitching a business idea 介绍创业想法</a:t>
            </a:r>
          </a:p>
          <a:p>
            <a:r>
              <a:t>情景：You pitch an idea for a neighbourhood bike-repair service to a friend who might invest.</a:t>
            </a:r>
          </a:p>
          <a:p>
            <a:r>
              <a:t>Role A: Tao Yu, would-be founder (you) Role B: Clara Dean, potential investor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(Tao): Clara, thanks for listening. I’ve noticed that people in our area struggle to find a quick, affordable bike repair.</a:t>
            </a:r>
          </a:p>
          <a:p>
            <a:r>
              <a:t>B (Clara): Interesting. What’s your idea?</a:t>
            </a:r>
          </a:p>
          <a:p>
            <a:r>
              <a:t>A: A mobile repair service. I’d come to customers’ homes or workplaces and fix bikes on the spot.</a:t>
            </a:r>
          </a:p>
          <a:p>
            <a:r>
              <a:t>B: Who are your customers?</a:t>
            </a:r>
          </a:p>
          <a:p>
            <a:r>
              <a:t>A: Commuters and students, mainly. Cycling has grown a lot here.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How would you make money?</a:t>
            </a:r>
          </a:p>
          <a:p>
            <a:r>
              <a:t>A: By charging a fixed fee for each visit plus parts, and offering a monthly subscription for basic servicing.</a:t>
            </a:r>
          </a:p>
          <a:p>
            <a:r>
              <a:t>B: What do you need to start?</a:t>
            </a:r>
          </a:p>
          <a:p>
            <a:r>
              <a:t>A: About six thousand pounds for a van, tools and insurance. I can contribute two thousand myself.</a:t>
            </a:r>
          </a:p>
          <a:p>
            <a:r>
              <a:t>B: What’s your plan if it doesn’t 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start part-time and test the demand first. I wouldn’t quit my job until it’s profitable.</a:t>
            </a:r>
          </a:p>
          <a:p>
            <a:r>
              <a:t>B: That’s sensible. Send me a one-page plan and I’ll think about it.</a:t>
            </a:r>
          </a:p>
          <a:p>
            <a:r>
              <a:t>A: I’ll have it ready by Friday. Thank you.</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79 | </a:t>
            </a:r>
          </a:p>
          <a:p>
            <a:r>
              <a:t>Situation | You pitch a business idea.</a:t>
            </a:r>
          </a:p>
          <a:p>
            <a:r>
              <a:t>Your role (A) | Founder. Idea: ______________</a:t>
            </a:r>
          </a:p>
          <a:p>
            <a:r>
              <a:t>Partner’s role (B) | Investor. Ask about customers, income and risk.</a:t>
            </a:r>
          </a:p>
          <a:p>
            <a:r>
              <a:t>Must use (4 or more) | I’ve noticed that · my idea is to · we’d make money by · customers · start-up costs · test</a:t>
            </a:r>
          </a:p>
          <a:p>
            <a:r>
              <a:t>Goal | Describe the problem, solution, customers, income and funding.</a:t>
            </a:r>
          </a:p>
          <a:p>
            <a:r>
              <a:t>My notes | ____________________________________________</a:t>
            </a:r>
          </a:p>
          <a:p>
            <a:r>
              <a:t>Clara says: “There is already competition.” Respond.</a:t>
            </a:r>
          </a:p>
          <a:p>
            <a:r>
              <a:t>Explain your idea in 30 seconds.</a:t>
            </a:r>
          </a:p>
          <a:p>
            <a:r>
              <a:t>Write a one-sentence mission statement for your business.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business would you like to start? | “I’d like to… because… / If I started a business, I’d…”</a:t>
            </a:r>
          </a:p>
          <a:p>
            <a:r>
              <a:t>2. What are the main risks of starting a business? | “The main risks are… / Many fail because…”</a:t>
            </a:r>
          </a:p>
          <a:p>
            <a:r>
              <a:t>3. Is it better to start small or big? | “Starting small lets you… but…”</a:t>
            </a:r>
          </a:p>
          <a:p>
            <a:r>
              <a:t>4. Where can new businesses find money? | “They can use… / One option is…”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starting small is usually wiser. It lets you test the idea with real customers before you commit a lot of money, and you can learn from mistakes at lower cost. Starting big can attract attention and allow fast growth, but the risks are higher if the idea doesn’t work. A good approach is to start small, learn quickly and scale up when you see proof of demand.”</a:t>
            </a:r>
          </a:p>
          <a:p>
            <a:r>
              <a:t>commit = 投入。”proof of demand” = 需求证明。scale up = 扩大规模。”learn from mistakes” = 从错误中学习。</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want to open a company. | I’m thinking of setting up my own business. | 地道</a:t>
            </a:r>
          </a:p>
          <a:p>
            <a:r>
              <a:t>I have no money. | I’m looking for seed funding. | 术语</a:t>
            </a:r>
          </a:p>
          <a:p>
            <a:r>
              <a:t>My idea is good. | I believe there’s a real gap in the market. | 论据</a:t>
            </a:r>
          </a:p>
          <a:p>
            <a:r>
              <a:t>I earn money. | I make a modest profit. | 搭配</a:t>
            </a:r>
          </a:p>
          <a:p>
            <a:r>
              <a:t>Many people buy. | There’s strong demand. | 术语</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Second conditional: “If I started a business, I’d focus on repairs.” (imagined)</a:t>
            </a:r>
          </a:p>
          <a:p>
            <a:r>
              <a:t>Plans and intentions: I’m going to…, I’m planning to…, I intend to…</a:t>
            </a:r>
          </a:p>
          <a:p>
            <a:r>
              <a:t>Describing how you earn: We make money by…, Our income comes from…, We charge…</a:t>
            </a:r>
          </a:p>
          <a:p>
            <a:r>
              <a:t>Numbers: £6,000 = “six thousand pounds”; 2.5% = “two point five per cent”.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want to make a company.  →  ✓ I want to set up a company.  (set up)</a:t>
            </a:r>
          </a:p>
          <a:p>
            <a:r>
              <a:t>✗ The business is founded by me.  →  ✓ I founded the business.  (主动语态)</a:t>
            </a:r>
          </a:p>
          <a:p>
            <a:r>
              <a:t>✗ We need fundings.  →  ✓ We need funding.  (不可数)</a:t>
            </a:r>
          </a:p>
          <a:p>
            <a:r>
              <a:t>Mistake Watch: Check uncountable funding / revenue, conditionals and verb collocations (set up).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earn a lot of revenue.  →  ✓ We generate a lot of revenue.  (generate revenue)</a:t>
            </a:r>
          </a:p>
          <a:p>
            <a:r>
              <a:t>✗ If I will start a business, …  →  ✓ If I start a business, …  (条件句时态)</a:t>
            </a:r>
          </a:p>
          <a:p>
            <a:r>
              <a:t>✗ I’m the owner of a small-size company.  →  ✓ I own a small company.  (自然表达)</a:t>
            </a:r>
          </a:p>
          <a:p>
            <a:r>
              <a:t>Mistake Watch: Check uncountable funding / revenue, conditionals and verb collocations (set up).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Failure and starting again: In Silicon Valley, failed businesses are seen as learning; elsewhere failure may carry stigma.</a:t>
            </a:r>
          </a:p>
          <a:p>
            <a:r>
              <a:t>Elevator pitch: A 30-second summary is a normal test of clarity.</a:t>
            </a:r>
          </a:p>
          <a:p>
            <a:r>
              <a:t>Legal basics: Registration, tax and insurance requirements differ by country. Get professional advice.</a:t>
            </a:r>
          </a:p>
          <a:p>
            <a:r>
              <a:t>funding / revenue 不可数;set up a business;条件句 if 从句用现在时。创业前先小规模验证需求。</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pitch a business idea clearly.</a:t>
            </a:r>
          </a:p>
          <a:p>
            <a:r>
              <a:t>I can talk about funding and risk.</a:t>
            </a:r>
          </a:p>
          <a:p>
            <a:r>
              <a:t>I can use second conditional for imagined plans.</a:t>
            </a:r>
          </a:p>
          <a:p>
            <a:r>
              <a:t>I can use uncountable funding / revenue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uncountable funding / revenue, conditionals, and collocations with set up.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80 · Being an Entrepreneur 成为企业家</a:t>
            </a:r>
          </a:p>
          <a:p>
            <a:r>
              <a:t>Goal: talk about the personality, skills and lifestyle of entrepreneurs: risk, resilience, decision-making and work-life trade-offs.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resilience = 韧性;risk-taker = 敢于冒险者。注意:entrepreneur /ˌɒntrəprəˈnɜː(r)/。第 5 题表达愿望:I’d love to…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an entrepreneur you admire and what makes them successful.</a:t>
            </a:r>
          </a:p>
          <a:p>
            <a:r>
              <a:t>Say: who → what they did → qualities → what you can learn</a:t>
            </a:r>
          </a:p>
          <a:p>
            <a:r>
              <a:t>Useful starters: “She started out by…” / “What makes her stand out is…” / “One thing I learned from her is…”</a:t>
            </a:r>
          </a:p>
          <a:p>
            <a:r>
              <a:t>started out by + -ing。What makes her stand out is… 突出特点。one thing I learned is…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Popular stories often show entrepreneurs as lone geniuses who take huge risks. Reality is usually less dramatic. Many successful founders are careful about risk: they test ideas, limit their losses and learn from failure. What they tend to share is resilience, the ability to keep going after setbacks, together with curiosity and a willingness to ask for help. They are also comfortable with uncertainty, since they rarely have complete information. Being your own boss brings freedom, but also responsibility: long hours, irregular income and decisions that fall on you alone. Support matters. Mentors, partners and a good network make the journey less lonely. Some entrepreneurs thrive on the challenge, while others discover that they prefer a steady job. Neither choice is wrong. The key is to understand your own strengths and preferences.</a:t>
            </a:r>
          </a:p>
          <a:p>
            <a:r>
              <a:t>lone = 孤独的。setback = 挫折。thrive on = 因……而茁壮成长。steady = 稳定的。</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is the popular image of entrepreneurs different from reality?</a:t>
            </a:r>
          </a:p>
          <a:p>
            <a:r>
              <a:t>A: The popular image is of lone geniuses taking huge risks; in reality many are careful about risk.</a:t>
            </a:r>
          </a:p>
          <a:p>
            <a:r>
              <a:t>Q2. What do successful founders tend to share?</a:t>
            </a:r>
          </a:p>
          <a:p>
            <a:r>
              <a:t>A: Resilience, curiosity and willingness to ask for help.</a:t>
            </a:r>
          </a:p>
          <a:p>
            <a:r>
              <a:t>Q3. What do some entrepreneurs discover?</a:t>
            </a:r>
          </a:p>
          <a:p>
            <a:r>
              <a:t>A: That they prefer a steady job.</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Entrepreneurial qualities 企业家特质</a:t>
            </a:r>
          </a:p>
          <a:p>
            <a:r>
              <a:t>领读 → 学员跟读 → 请学员用表达造一个和自己工作相关的句子。</a:t>
            </a:r>
          </a:p>
          <a:p>
            <a:r>
              <a:t>resilience (noun) 韧性 — “Resilience is essential.”</a:t>
            </a:r>
          </a:p>
          <a:p>
            <a:r>
              <a:t>risk-taker (noun) 敢于冒险的人 — “She’s a calculated risk-taker.”</a:t>
            </a:r>
          </a:p>
          <a:p>
            <a:r>
              <a:t>initiative (noun) 主动性 — “He showed great initiative.”</a:t>
            </a:r>
          </a:p>
          <a:p>
            <a:r>
              <a:t>self-employed (adjective) 自雇的 — “She’s self-employed.”</a:t>
            </a:r>
          </a:p>
          <a:p>
            <a:r>
              <a:t>work ethic (noun) 职业道德/勤奋 — “He has a strong work ethic.”</a:t>
            </a:r>
          </a:p>
          <a:p>
            <a:r>
              <a:t>vision (noun) 愿景 — “The founder has a clear vision.”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Mindset and lifestyle ★ 心态与生活方式</a:t>
            </a:r>
          </a:p>
          <a:p>
            <a:r>
              <a:t>领读 → 学员跟读 → 请学员用表达造一个和自己工作相关的句子。</a:t>
            </a:r>
          </a:p>
          <a:p>
            <a:r>
              <a:t>★ calculated risk (noun phrase) 经过计算的风险 — “It was a calculated risk.”</a:t>
            </a:r>
          </a:p>
          <a:p>
            <a:r>
              <a:t>★ bounce back (phrasal verb) 迅速恢复 — “She bounced back after the failure.”</a:t>
            </a:r>
          </a:p>
          <a:p>
            <a:r>
              <a:t>★ burn the candle at both ends (idiom) 过度劳累 — “Founders often burn the candle at both ends.”</a:t>
            </a:r>
          </a:p>
          <a:p>
            <a:r>
              <a:t>★ be your own boss (idiom) 自己当老板 — “I love being my own boss.”</a:t>
            </a:r>
          </a:p>
          <a:p>
            <a:r>
              <a:t>★ thrive on (phrasal verb) 因……而旺盛 — “He thrives on pressure.”</a:t>
            </a:r>
          </a:p>
          <a:p>
            <a:r>
              <a:t>★ a leap of faith (idiom) 冒险一试 — “Starting up was a leap of faith.”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Resilience / risk-taker / initiative / work ethic / bounce back / thrive on</a:t>
            </a:r>
          </a:p>
          <a:p>
            <a:r>
              <a:t>1. _______ helps founders continue after failure. → Resilience</a:t>
            </a:r>
          </a:p>
          <a:p>
            <a:r>
              <a:t>2. She’s not a reckless _______; she plans carefully. → risk-taker</a:t>
            </a:r>
          </a:p>
          <a:p>
            <a:r>
              <a:t>3. Employees who show _______ get more responsibility. → initiative</a:t>
            </a:r>
          </a:p>
          <a:p>
            <a:r>
              <a:t>4. He’s successful because of his strong _______. → work ethic</a:t>
            </a:r>
          </a:p>
          <a:p>
            <a:r>
              <a:t>5. After the loss, the company managed to _______. → bounce back</a:t>
            </a:r>
          </a:p>
          <a:p>
            <a:r>
              <a:t>6. Some people _______ pressure and deadlines. → thrive on</a:t>
            </a:r>
          </a:p>
          <a:p>
            <a:r>
              <a:t>Mistake Watch (拼写与搭配): entrepreneur (/ɒn-/), entrepreneurial, resilience (not “resilliance”). Be self-employed (adjective); a self-employed person. Run a business, own a business. Take a risk (not “make”). In charge of. Work for yourself.</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about an entrepreneur you admire 谈论你敬佩的企业家</a:t>
            </a:r>
          </a:p>
          <a:p>
            <a:r>
              <a:t>情景：At a networking event, you describe an entrepreneur who has inspired you.</a:t>
            </a:r>
          </a:p>
          <a:p>
            <a:r>
              <a:t>Role A: Hana Li, attendee (you) Role B: Will Cox, fellow attendee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(Hana): Will, who’s an entrepreneur you admire?</a:t>
            </a:r>
          </a:p>
          <a:p>
            <a:r>
              <a:t>B (Will): Hmm. Someone who started small and stayed ambitious. How about you?</a:t>
            </a:r>
          </a:p>
          <a:p>
            <a:r>
              <a:t>A: My aunt. She started out by selling homemade sauces at a weekend market.</a:t>
            </a:r>
          </a:p>
          <a:p>
            <a:r>
              <a:t>B: And now?</a:t>
            </a:r>
          </a:p>
          <a:p>
            <a:r>
              <a:t>A: She employs fifteen people and supplies local shops. What makes her stand out is how carefully she grows.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Carefully?</a:t>
            </a:r>
          </a:p>
          <a:p>
            <a:r>
              <a:t>A: She never borrows more than she can repay. She tests each new product at the market first.</a:t>
            </a:r>
          </a:p>
          <a:p>
            <a:r>
              <a:t>B: Smart. Has she ever failed?</a:t>
            </a:r>
          </a:p>
          <a:p>
            <a:r>
              <a:t>A: Several times. One product line lost money, but she bounced back and learned from it.</a:t>
            </a:r>
          </a:p>
          <a:p>
            <a:r>
              <a:t>B: What did you learn from her?</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 resilience matters more than luck, and that you should listen to customers.</a:t>
            </a:r>
          </a:p>
          <a:p>
            <a:r>
              <a:t>B: That’s inspiring. Would you like to start your own business?</a:t>
            </a:r>
          </a:p>
          <a:p>
            <a:r>
              <a:t>A: One day, maybe. I’d need a bit more experience first.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80 | </a:t>
            </a:r>
          </a:p>
          <a:p>
            <a:r>
              <a:t>Situation | You describe an entrepreneur.</a:t>
            </a:r>
          </a:p>
          <a:p>
            <a:r>
              <a:t>Your role (A) | Speaker. Entrepreneur: ______________</a:t>
            </a:r>
          </a:p>
          <a:p>
            <a:r>
              <a:t>Partner’s role (B) | Listener. Ask about failures and lessons.</a:t>
            </a:r>
          </a:p>
          <a:p>
            <a:r>
              <a:t>Must use (4 or more) | started out by · what makes … stand out · bounced back · learned from · resilience · calculated risk</a:t>
            </a:r>
          </a:p>
          <a:p>
            <a:r>
              <a:t>Goal | Tell a short story with qualities and a lesson.</a:t>
            </a:r>
          </a:p>
          <a:p>
            <a:r>
              <a:t>My notes | ____________________________________________</a:t>
            </a:r>
          </a:p>
          <a:p>
            <a:r>
              <a:t>Will says: “Entrepreneurs are just lucky.” Respond.</a:t>
            </a:r>
          </a:p>
          <a:p>
            <a:r>
              <a:t>Describe what a typical day for an entrepreneur might be.</a:t>
            </a:r>
          </a:p>
          <a:p>
            <a:r>
              <a:t>Say whether you’d like to be self-employed and why.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qualities do entrepreneurs need most? | “I think it’s resilience… / They also need…”</a:t>
            </a:r>
          </a:p>
          <a:p>
            <a:r>
              <a:t>2. Is it better to be employed or self-employed? | “It depends on… / Being employed offers…”</a:t>
            </a:r>
          </a:p>
          <a:p>
            <a:r>
              <a:t>3. How do entrepreneurs cope with failure? | “They tend to… / Many see it as…”</a:t>
            </a:r>
          </a:p>
          <a:p>
            <a:r>
              <a:t>4. Do you have an entrepreneur in your family or community? | “My… runs a… / He/She…”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“Entrepreneurs tend to cope with failure by treating it as information rather than as a verdict on themselves. They look at what went wrong, change the plan and try again. Support from family, friends and mentors helps them keep perspective. Of course, it isn’t easy, and some failures are painful financially, so I think it’s wise not to risk more than you can afford to lose.”</a:t>
            </a:r>
          </a:p>
          <a:p>
            <a:r>
              <a:t>verdict = 判决。keep perspective = 保持客观看法。”more than you can afford to lose” = 超出承受范围的损失。painful = 痛苦的。</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He has courage. | He’s not afraid to take calculated risks. | 具体</a:t>
            </a:r>
          </a:p>
          <a:p>
            <a:r>
              <a:t>She works hard. | She has a strong work ethic. | 搭配</a:t>
            </a:r>
          </a:p>
          <a:p>
            <a:r>
              <a:t>He is his boss. | He’s self-employed. | 术语</a:t>
            </a:r>
          </a:p>
          <a:p>
            <a:r>
              <a:t>She lost, then won. | She bounced back from the setback. | 习语</a:t>
            </a:r>
          </a:p>
          <a:p>
            <a:r>
              <a:t>He likes pressure. | He thrives on pressure. | 习语</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Present simple for general truths: “Entrepreneurs often work long hours.”</a:t>
            </a:r>
          </a:p>
          <a:p>
            <a:r>
              <a:t>Past simple for stories: “She started out by… She employed… She learned…”</a:t>
            </a:r>
          </a:p>
          <a:p>
            <a:r>
              <a:t>Relative clauses: a person who takes risks, a business that grows slowly.</a:t>
            </a:r>
          </a:p>
          <a:p>
            <a:r>
              <a:t>Adverbs of frequency: often, rarely, tend to, usually, always.</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Entrepreneur are brave.  →  ✓ Entrepreneurs are brave.  (复数)</a:t>
            </a:r>
          </a:p>
          <a:p>
            <a:r>
              <a:t>✗ She is a self employed.  →  ✓ She is self-employed.  (形容词)</a:t>
            </a:r>
          </a:p>
          <a:p>
            <a:r>
              <a:t>✗ He is success.  →  ✓ He is successful.  (形容词)</a:t>
            </a:r>
          </a:p>
          <a:p>
            <a:r>
              <a:t>Mistake Watch: Check adjective/noun forms (successful / success; persevere / perseverance) and relative pronouns.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She make a big risk.  →  ✓ She took a big risk.  (take a risk)</a:t>
            </a:r>
          </a:p>
          <a:p>
            <a:r>
              <a:t>✗ I admire her very much for her persevere.  →  ✓ I admire her perseverance.  (名词)</a:t>
            </a:r>
          </a:p>
          <a:p>
            <a:r>
              <a:t>✗ My uncle owns a factory what makes toys.  →  ✓ My uncle owns a factory that makes toys.  (that/which)</a:t>
            </a:r>
          </a:p>
          <a:p>
            <a:r>
              <a:t>Mistake Watch: Check adjective/noun forms (successful / success; persevere / perseverance) and relative pronouns.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Hustle culture: Some cultures glorify long hours; others value balance. Be aware of burnout.</a:t>
            </a:r>
          </a:p>
          <a:p>
            <a:r>
              <a:t>Role models: Entrepreneurs often share stories on podcasts and talks; remember that survivor bias shapes stories.</a:t>
            </a:r>
          </a:p>
          <a:p>
            <a:r>
              <a:t>Family business: In many countries family businesses are common; roles and expectations can differ.</a:t>
            </a:r>
          </a:p>
          <a:p>
            <a:r>
              <a:t>self-employed 是形容词,不加 a;take a risk;名词形容词转换:success → successful, perseverance → persevere。事物用 that / which,人用 who / that。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an entrepreneur’s qualities with examples.</a:t>
            </a:r>
          </a:p>
          <a:p>
            <a:r>
              <a:t>I can tell a short story about a business person.</a:t>
            </a:r>
          </a:p>
          <a:p>
            <a:r>
              <a:t>I can use relative clauses and adverbs of frequency.</a:t>
            </a:r>
          </a:p>
          <a:p>
            <a:r>
              <a:t>I can use self-employed, take a risk and adjective forms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adjective/noun forms, take a risk, and relative clauses.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81 · Why Businesses Fail 企业为什么失败</a:t>
            </a:r>
          </a:p>
          <a:p>
            <a:r>
              <a:t>Goal: discuss why businesses fail: cash flow, poor planning, wrong market, competition and management issues; learn from failure.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go bust / go bankrupt = 破产。cash flow = 现金流。第 4 题可答 “It depends…”。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Analyse why a business failed and what could have been done.</a:t>
            </a:r>
          </a:p>
          <a:p>
            <a:r>
              <a:t>Say: what happened → causes → what could have been done → lessons</a:t>
            </a:r>
          </a:p>
          <a:p>
            <a:r>
              <a:t>Useful starters: “The main reason it failed was…” / “They should have…” / “A lesson for others is…”</a:t>
            </a:r>
          </a:p>
          <a:p>
            <a:r>
              <a:t>should have + 过去分词 = 本该……。The main reason… was… 引出主因。</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A large number of new businesses close within a few years, and the reasons are surprisingly consistent. Running out of cash is the most common: a company can be profitable on paper but still fail if customers pay late and bills must be paid now. Other causes include building a product nobody wants, underestimating competition, setting prices too low to cover costs, hiring too fast and conflict among founders. Often the problem is not one big mistake but a series of small ones that go unnoticed. Warning signs include falling sales, rising debts, stressed staff and regular surprises in the accounts. Owners who check numbers weekly, speak to customers and ask advisers early have a better chance of acting in time. Failure can be painful, but those who analyse it honestly often start stronger the next time.</a:t>
            </a:r>
          </a:p>
          <a:p>
            <a:r>
              <a:t>on paper = 账面上。debts = 债务。”go unnoticed” = 未被注意。analyse = 分析。</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the most common reason for failure?</a:t>
            </a:r>
          </a:p>
          <a:p>
            <a:r>
              <a:t>A: Running out of cash.</a:t>
            </a:r>
          </a:p>
          <a:p>
            <a:r>
              <a:t>Q2. Name two other causes.</a:t>
            </a:r>
          </a:p>
          <a:p>
            <a:r>
              <a:t>A: E.g. a product nobody wants, underestimating competition, prices too low, hiring too fast, founder conflict.</a:t>
            </a:r>
          </a:p>
          <a:p>
            <a:r>
              <a:t>Q3. What helps owners act in time?</a:t>
            </a:r>
          </a:p>
          <a:p>
            <a:r>
              <a:t>A: Checking numbers weekly, speaking to customers and asking advisers early.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Business trouble 经营困境</a:t>
            </a:r>
          </a:p>
          <a:p>
            <a:r>
              <a:t>领读 → 学员跟读 → 请学员用表达造一个和自己工作相关的句子。</a:t>
            </a:r>
          </a:p>
          <a:p>
            <a:r>
              <a:t>cash flow (noun) 现金流 — “Cash flow is our biggest concern.”</a:t>
            </a:r>
          </a:p>
          <a:p>
            <a:r>
              <a:t>debt (noun) 债务 — “The firm is in debt.”</a:t>
            </a:r>
          </a:p>
          <a:p>
            <a:r>
              <a:t>bankruptcy (noun) 破产 — “The company filed for bankruptcy.”</a:t>
            </a:r>
          </a:p>
          <a:p>
            <a:r>
              <a:t>overheads (noun (plural)) 运营成本 — “Overheads are too high.”</a:t>
            </a:r>
          </a:p>
          <a:p>
            <a:r>
              <a:t>break even (verb phrase) 收支平衡 — “We hope to break even this year.”</a:t>
            </a:r>
          </a:p>
          <a:p>
            <a:r>
              <a:t>liquidation (noun) 清算 — “The company went into liquidation.”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Warning signs and lessons ★ 预警信号与教训</a:t>
            </a:r>
          </a:p>
          <a:p>
            <a:r>
              <a:t>领读 → 学员跟读 → 请学员用表达造一个和自己工作相关的句子。</a:t>
            </a:r>
          </a:p>
          <a:p>
            <a:r>
              <a:t>★ run out of cash (phrase) 现金耗尽 — “They ran out of cash.”</a:t>
            </a:r>
          </a:p>
          <a:p>
            <a:r>
              <a:t>★ go under (phrasal verb) 倒闭 — “Many small shops went under.”</a:t>
            </a:r>
          </a:p>
          <a:p>
            <a:r>
              <a:t>★ in the red / in the black (idiom) 亏损 / 盈利 — “We’re still in the red.”</a:t>
            </a:r>
          </a:p>
          <a:p>
            <a:r>
              <a:t>★ burn rate (noun phrase) 烧钱速度 — “Our burn rate is too high.”</a:t>
            </a:r>
          </a:p>
          <a:p>
            <a:r>
              <a:t>★ pivot (verb) 转型 — “They pivoted to online sales.”</a:t>
            </a:r>
          </a:p>
          <a:p>
            <a:r>
              <a:t>★ cut your losses (idiom) 及时止损 — “He decided to cut his losses.”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cash flow / debt / bankruptcy / overheads / break even / pivot</a:t>
            </a:r>
          </a:p>
          <a:p>
            <a:r>
              <a:t>1. Poor _______ is a common reason small firms fail. → cash flow</a:t>
            </a:r>
          </a:p>
          <a:p>
            <a:r>
              <a:t>2. The company has a lot of _______ and little income. → debt</a:t>
            </a:r>
          </a:p>
          <a:p>
            <a:r>
              <a:t>3. After years of losses, the firm filed for _______. → bankruptcy</a:t>
            </a:r>
          </a:p>
          <a:p>
            <a:r>
              <a:t>4. Rent and utilities are our biggest _______. → overheads</a:t>
            </a:r>
          </a:p>
          <a:p>
            <a:r>
              <a:t>5. We expect to _______ by the end of the year. → break even</a:t>
            </a:r>
          </a:p>
          <a:p>
            <a:r>
              <a:t>6. The restaurant had to _______ to takeaway to survive. → pivot</a:t>
            </a:r>
          </a:p>
          <a:p>
            <a:r>
              <a:t>Mistake Watch (拼写与搭配): bankruptcy (not “bankrupcy”), liquidation, overheads (UK; US overhead). File for bankruptcy, go bankrupt, go bust (informal). Cash flow (two words, noun), cash-flow problem. Be in debt, be in the red. Fail vs failure. Lose money (not “waste”).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Analysing why a business failed 分析企业为什么失败</a:t>
            </a:r>
          </a:p>
          <a:p>
            <a:r>
              <a:t>情景：Two friends discuss why a local cafe closed after two years.</a:t>
            </a:r>
          </a:p>
          <a:p>
            <a:r>
              <a:t>Role A: Bea Guo, business student (you) Role B: Sam Leigh, friend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(Bea): Sam, did you hear that the cafe on Park Road has closed?</a:t>
            </a:r>
          </a:p>
          <a:p>
            <a:r>
              <a:t>B (Sam): Yes. It was always busy, so I was surprised. Why did it fail?</a:t>
            </a:r>
          </a:p>
          <a:p>
            <a:r>
              <a:t>A: The main reason, I think, was the rent. It was very high, and they had no cushion when sales dipped.</a:t>
            </a:r>
          </a:p>
          <a:p>
            <a:r>
              <a:t>B: But they were busy.</a:t>
            </a:r>
          </a:p>
          <a:p>
            <a:r>
              <a:t>A: Busy doesn’t always mean profitable. Prices were low, and they didn’t track costs carefully.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They should have raised prices.</a:t>
            </a:r>
          </a:p>
          <a:p>
            <a:r>
              <a:t>A: Probably, or reduced the menu. They also spent a lot on a second branch too early.</a:t>
            </a:r>
          </a:p>
          <a:p>
            <a:r>
              <a:t>B: A cash-flow problem, then.</a:t>
            </a:r>
          </a:p>
          <a:p>
            <a:r>
              <a:t>A: Exactly. A lesson for others is to keep a cash reserve and check the numbers weekly.</a:t>
            </a:r>
          </a:p>
          <a:p>
            <a:r>
              <a:t>B: Do you think they could have survived?</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Perhaps, if they had pivoted to takeaway earlier. But it’s hard to say.</a:t>
            </a:r>
          </a:p>
          <a:p>
            <a:r>
              <a:t>B: It’s a shame. They made good coffee.</a:t>
            </a:r>
          </a:p>
          <a:p>
            <a:r>
              <a:t>A: Quality doesn’t guarantee survival, unfortunately.</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81 | </a:t>
            </a:r>
          </a:p>
          <a:p>
            <a:r>
              <a:t>Situation | You analyse a business failure.</a:t>
            </a:r>
          </a:p>
          <a:p>
            <a:r>
              <a:t>Your role (A) | Speaker. Business: ______________</a:t>
            </a:r>
          </a:p>
          <a:p>
            <a:r>
              <a:t>Partner’s role (B) | Listener. Ask about causes.</a:t>
            </a:r>
          </a:p>
          <a:p>
            <a:r>
              <a:t>Must use (4 or more) | the main reason · should have · cash flow · lesson · could have · warning signs</a:t>
            </a:r>
          </a:p>
          <a:p>
            <a:r>
              <a:t>Goal | Give causes, what could have been done and one lesson.</a:t>
            </a:r>
          </a:p>
          <a:p>
            <a:r>
              <a:t>My notes | ____________________________________________</a:t>
            </a:r>
          </a:p>
          <a:p>
            <a:r>
              <a:t>Sam says: “Maybe they were just unlucky.” Respond.</a:t>
            </a:r>
          </a:p>
          <a:p>
            <a:r>
              <a:t>Write three warning signs a small business owner should watch.</a:t>
            </a:r>
          </a:p>
          <a:p>
            <a:r>
              <a:t>Describe a business you know that adapted to survive.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are the most common reasons businesses fail? | “I think the main reasons are… “</a:t>
            </a:r>
          </a:p>
          <a:p>
            <a:r>
              <a:t>2. Is it better to close a failing business quickly? | “Often yes, because… but…”</a:t>
            </a:r>
          </a:p>
          <a:p>
            <a:r>
              <a:t>3. Should entrepreneurs be afraid of failure? | “A healthy respect for failure is good, but…”</a:t>
            </a:r>
          </a:p>
          <a:p>
            <a:r>
              <a:t>4. What can we learn from failed businesses? | “We can learn to…”</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“In many cases it’s better to cut your losses early, because staying in a failing business can drain money, energy and morale. But it depends. If the problem is temporary or fixable, such as a short-term cash shortage, it can be worth continuing. A useful rule is to set clear limits in advance, for example a date or a sum of money after which you will reassess honestly.”</a:t>
            </a:r>
          </a:p>
          <a:p>
            <a:r>
              <a:t>drain = 耗尽。reassess = 重新评估。”set limits” = 设定限度。”temporary” = 暂时的。</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The shop closed. | The shop went out of business. | 地道</a:t>
            </a:r>
          </a:p>
          <a:p>
            <a:r>
              <a:t>It lost money. | It operated at a loss. | 术语</a:t>
            </a:r>
          </a:p>
          <a:p>
            <a:r>
              <a:t>They had no money. | They ran out of cash. | 搭配</a:t>
            </a:r>
          </a:p>
          <a:p>
            <a:r>
              <a:t>They had too many costs. | Their overheads were too high. | 术语</a:t>
            </a:r>
          </a:p>
          <a:p>
            <a:r>
              <a:t>They changed their business. | They pivoted to a new model. | 术语</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Past modals: should have + past participle (criticism), could have (possibility), might have (speculation): “They could have survived.”</a:t>
            </a:r>
          </a:p>
          <a:p>
            <a:r>
              <a:t>Third conditional: “If they had tracked costs, they might have survived.”</a:t>
            </a:r>
          </a:p>
          <a:p>
            <a:r>
              <a:t>Causes: because of, due to, as a result of, owing to.</a:t>
            </a:r>
          </a:p>
          <a:p>
            <a:r>
              <a:t>Hedging causes: The main reason seems to be…, It appears that…</a:t>
            </a:r>
          </a:p>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They should have raise prices.  →  ✓ They should have raised prices.  (过去分词)</a:t>
            </a:r>
          </a:p>
          <a:p>
            <a:r>
              <a:t>✗ The cafe was bankrupt by the high rent.  →  ✓ The cafe went bankrupt because of the high rent.  (go bankrupt)</a:t>
            </a:r>
          </a:p>
          <a:p>
            <a:r>
              <a:t>✗ The reason is because the rent was high.  →  ✓ The reason is that the rent was high.  (reason … that)</a:t>
            </a:r>
          </a:p>
          <a:p>
            <a:r>
              <a:t>Mistake Watch: Check should have + past participle, third conditional, and the reason is that.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If they didn’t open the second branch, they survived.  →  ✓ If they hadn’t opened a second branch, they might have survived.  (第三条件句)</a:t>
            </a:r>
          </a:p>
          <a:p>
            <a:r>
              <a:t>✗ They lost all of the benefits.  →  ✓ They lost all their money.  (搭配)</a:t>
            </a:r>
          </a:p>
          <a:p>
            <a:r>
              <a:t>✗ The business was closed down by failing.  →  ✓ The business closed down because it failed.  (因果)</a:t>
            </a:r>
          </a:p>
          <a:p>
            <a:r>
              <a:t>Mistake Watch: Check should have + past participle, third conditional, and the reason is that.</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Stigma of failure: Attitudes differ; in some countries a bankruptcy can limit future business activity.</a:t>
            </a:r>
          </a:p>
          <a:p>
            <a:r>
              <a:t>Privacy: Avoid speculating about named real people or businesses; use general examples.</a:t>
            </a:r>
          </a:p>
          <a:p>
            <a:r>
              <a:t>Seeking help: Accountants, advisers and charities often offer free support for struggling small firms.</a:t>
            </a:r>
          </a:p>
          <a:p>
            <a:r>
              <a:t>should have + 过去分词;reason … is that(不要 because);go bankrupt。第三条件句描述过去未发生的假设。</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why a business might fail.</a:t>
            </a:r>
          </a:p>
          <a:p>
            <a:r>
              <a:t>I can use past modals and third conditional.</a:t>
            </a:r>
          </a:p>
          <a:p>
            <a:r>
              <a:t>I can talk about cash flow and warning signs.</a:t>
            </a:r>
          </a:p>
          <a:p>
            <a:r>
              <a:t>I can use go bankrupt and the reason is that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past modals, third conditional, and the reason is that.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82 · Low-Cost Businesses 低成本创业</a:t>
            </a:r>
          </a:p>
          <a:p>
            <a:r>
              <a:t>Goal: talk about businesses that can be started with little money: service businesses, online selling, side projects and keeping costs under control.</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low-cost = 低成本的;overheads = 运营成本;lean = 精益。第 4 题思考:low barriers to entry 意味着竞争多。</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to start a low-cost business and keep costs under control.</a:t>
            </a:r>
          </a:p>
          <a:p>
            <a:r>
              <a:t>Say: idea → minimal costs → first customers → growth</a:t>
            </a:r>
          </a:p>
          <a:p>
            <a:r>
              <a:t>Useful starters: “You can start with very little by…” / “To keep costs down, I’d…” / “The downside is that…”</a:t>
            </a:r>
          </a:p>
          <a:p>
            <a:r>
              <a:t>keep costs down = 控制成本。The downside is that… = 缺点是……。by + -ing 说明方式。</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You do not always need a large loan to start a business. Many people begin with services that require skills rather than equipment: tutoring, graphic design, cleaning, home repairs or consulting. Others sell products online without holding stock, by working with suppliers who send goods directly to customers. Free or cheap tools handle websites, accounting and social media, and working from home saves rent. The aim is to keep overheads low and to test demand quickly. However, low barriers to entry mean that competitors can start just as easily, so it is important to stand out through quality, niche focus or customer service. Low-cost does not mean low-effort: time is the main investment. Founders should track every expense, reinvest early profits wisely and avoid spending on things that do not directly help win customers.</a:t>
            </a:r>
          </a:p>
          <a:p>
            <a:r>
              <a:t>stock = 库存(英)。barrier to entry = 进入壁垒。reinvest = 再投资。niche = 利基市场。</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kinds of business need skills rather than equipment?</a:t>
            </a:r>
          </a:p>
          <a:p>
            <a:r>
              <a:t>A: Services such as tutoring, graphic design, cleaning, home repairs or consulting.</a:t>
            </a:r>
          </a:p>
          <a:p>
            <a:r>
              <a:t>Q2. How can someone sell products without holding stock?</a:t>
            </a:r>
          </a:p>
          <a:p>
            <a:r>
              <a:t>A: By working with suppliers who send goods directly to customers.</a:t>
            </a:r>
          </a:p>
          <a:p>
            <a:r>
              <a:t>Q3. Why is it important to stand out?</a:t>
            </a:r>
          </a:p>
          <a:p>
            <a:r>
              <a:t>A: Low barriers to entry mean competitors can start easily.</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Keeping costs low 控制成本</a:t>
            </a:r>
          </a:p>
          <a:p>
            <a:r>
              <a:t>领读 → 学员跟读 → 请学员用表达造一个和自己工作相关的句子。</a:t>
            </a:r>
          </a:p>
          <a:p>
            <a:r>
              <a:t>start-up costs (noun) 启动成本 — “Start-up costs are low.”</a:t>
            </a:r>
          </a:p>
          <a:p>
            <a:r>
              <a:t>overheads (noun) 运营成本 — “We keep overheads low.”</a:t>
            </a:r>
          </a:p>
          <a:p>
            <a:r>
              <a:t>budget (noun / verb) 预算 — “We work on a tight budget.”</a:t>
            </a:r>
          </a:p>
          <a:p>
            <a:r>
              <a:t>profit margin (noun) 利润率 — “Our profit margin is 20%.”</a:t>
            </a:r>
          </a:p>
          <a:p>
            <a:r>
              <a:t>supplier (noun) 供应商 — “We use a reliable supplier.”</a:t>
            </a:r>
          </a:p>
          <a:p>
            <a:r>
              <a:t>freelance (adjective / verb) 自由职业的 — “She works freelance.”</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Lean thinking ★ 精益思维</a:t>
            </a:r>
          </a:p>
          <a:p>
            <a:r>
              <a:t>领读 → 学员跟读 → 请学员用表达造一个和自己工作相关的句子。</a:t>
            </a:r>
          </a:p>
          <a:p>
            <a:r>
              <a:t>★ on a shoestring (idiom) 预算极少 — “They started on a shoestring.”</a:t>
            </a:r>
          </a:p>
          <a:p>
            <a:r>
              <a:t>★ low barriers to entry (noun phrase) 进入门槛低 — “The market has low barriers to entry.”</a:t>
            </a:r>
          </a:p>
          <a:p>
            <a:r>
              <a:t>★ dropshipping (noun) 代发货模式 — “He sells through dropshipping.”</a:t>
            </a:r>
          </a:p>
          <a:p>
            <a:r>
              <a:t>★ cut corners (idiom) 偷工减料 — “Don’t cut corners on quality.”</a:t>
            </a:r>
          </a:p>
          <a:p>
            <a:r>
              <a:t>★ scale up (phrasal verb) 扩大规模 — “We’ll scale up as we grow.”</a:t>
            </a:r>
          </a:p>
          <a:p>
            <a:r>
              <a:t>★ word-of-mouth marketing (noun phrase) 口碑营销 — “Our marketing is mostly word of mouth.”</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start-up costs / overheads / profit margin / supplier / on a shoestring / cut corners</a:t>
            </a:r>
          </a:p>
          <a:p>
            <a:r>
              <a:t>1. Our _______ are only £500, mostly for a laptop. → start-up costs</a:t>
            </a:r>
          </a:p>
          <a:p>
            <a:r>
              <a:t>2. Working from home keeps our _______ low. → overheads</a:t>
            </a:r>
          </a:p>
          <a:p>
            <a:r>
              <a:t>3. We have a _______ of about 25% on each item. → profit margin</a:t>
            </a:r>
          </a:p>
          <a:p>
            <a:r>
              <a:t>4. A good _______ delivers on time. → supplier</a:t>
            </a:r>
          </a:p>
          <a:p>
            <a:r>
              <a:t>5. They launched the company _______ with almost no money. → on a shoestring</a:t>
            </a:r>
          </a:p>
          <a:p>
            <a:r>
              <a:t>6. Never _______ on safety, even if you want to save money. → cut corners</a:t>
            </a:r>
          </a:p>
          <a:p>
            <a:r>
              <a:t>Mistake Watch (拼写与搭配): low-cost (hyphen), freelance, dropshipping. Cheap vs inexpensive; low-cost is positive, cheap can sound poor quality. Save money on, spend money on. Overheads (UK, plural), overhead (US, uncountable). Stock (UK) / inventory (US). Keep costs down (not “make costs low”).</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Advising a friend on a low-cost start 为朋友的低成本创业提建议</a:t>
            </a:r>
          </a:p>
          <a:p>
            <a:r>
              <a:t>情景：A friend wants to start a home-baking business and asks you how to do it cheaply.</a:t>
            </a:r>
          </a:p>
          <a:p>
            <a:r>
              <a:t>Role A: Dora Fan, adviser (you) Role B: Zac Mills, friend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(Dora): Zac, you said you want to sell cakes. How much can you spend to start?</a:t>
            </a:r>
          </a:p>
          <a:p>
            <a:r>
              <a:t>B (Zac): Not much, maybe five hundred pounds.</a:t>
            </a:r>
          </a:p>
          <a:p>
            <a:r>
              <a:t>A: That’s enough. You can start with very little by using your own kitchen and tools.</a:t>
            </a:r>
          </a:p>
          <a:p>
            <a:r>
              <a:t>B: Is that allowed?</a:t>
            </a:r>
          </a:p>
          <a:p>
            <a:r>
              <a:t>A: Check local rules on food businesses. You may need registration and a hygiene certificate.</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What else?</a:t>
            </a:r>
          </a:p>
          <a:p>
            <a:r>
              <a:t>A: To keep costs down, I’d buy ingredients in bulk and take orders in advance so nothing is wasted.</a:t>
            </a:r>
          </a:p>
          <a:p>
            <a:r>
              <a:t>B: How would I find customers?</a:t>
            </a:r>
          </a:p>
          <a:p>
            <a:r>
              <a:t>A: Social media and word of mouth. A small tasting event could help.</a:t>
            </a:r>
          </a:p>
          <a:p>
            <a:r>
              <a:t>B: Any downside?</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The downside is that it takes your time, and the market may be crowded. You’ll need a niche, like allergy-friendly cakes.</a:t>
            </a:r>
          </a:p>
          <a:p>
            <a:r>
              <a:t>B: Good idea. And pricing?</a:t>
            </a:r>
          </a:p>
          <a:p>
            <a:r>
              <a:t>A: Add up all costs and aim for a margin of at least 30%.</a:t>
            </a:r>
          </a:p>
          <a:p>
            <a:r>
              <a:t>B: Thanks, that helps a lot.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82 | </a:t>
            </a:r>
          </a:p>
          <a:p>
            <a:r>
              <a:t>Situation | You advise on a low-cost start.</a:t>
            </a:r>
          </a:p>
          <a:p>
            <a:r>
              <a:t>Your role (A) | Adviser. Business: ______________</a:t>
            </a:r>
          </a:p>
          <a:p>
            <a:r>
              <a:t>Partner’s role (B) | Friend. Ask about costs and risks.</a:t>
            </a:r>
          </a:p>
          <a:p>
            <a:r>
              <a:t>Must use (4 or more) | very little · keep costs down · downside · niche · margin · registration</a:t>
            </a:r>
          </a:p>
          <a:p>
            <a:r>
              <a:t>Goal | Give practical advice and one warning.</a:t>
            </a:r>
          </a:p>
          <a:p>
            <a:r>
              <a:t>My notes | ____________________________________________</a:t>
            </a:r>
          </a:p>
          <a:p>
            <a:r>
              <a:t>Zac says: “I want to quit my job now.” Advise caution.</a:t>
            </a:r>
          </a:p>
          <a:p>
            <a:r>
              <a:t>Compare a low-cost and a high-cost start for one business.</a:t>
            </a:r>
          </a:p>
          <a:p>
            <a:r>
              <a:t>List five costs a new business should track.</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low-cost business would you start? | “I’d probably… because… “</a:t>
            </a:r>
          </a:p>
          <a:p>
            <a:r>
              <a:t>2. What are the downsides of a very low-cost business? | “The main downside is… / Competition…”</a:t>
            </a:r>
          </a:p>
          <a:p>
            <a:r>
              <a:t>3. How can the internet reduce costs? | “It lets you… without…”</a:t>
            </a:r>
          </a:p>
          <a:p>
            <a:r>
              <a:t>4. What is the difference between cheap and good value? | “Cheap is… whereas good value is…”</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“Cheap just means low in price, but good value means you get quality that justifies the price. A cheap product may break quickly and cost more in the long run, while a good-value product lasts longer or does the job better. For a business, offering good value usually builds loyalty, whereas competing only on price can lead to low margins and unhappy customers.”</a:t>
            </a:r>
          </a:p>
          <a:p>
            <a:r>
              <a:t>justifies = 使……合理。margin = 利润率。loyalty = 忠诚度。”in the long run” = 从长远看。</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have little money. | I’m starting on a tight budget. | 地道</a:t>
            </a:r>
          </a:p>
          <a:p>
            <a:r>
              <a:t>It costs nothing. | It costs next to nothing. | 搭配</a:t>
            </a:r>
          </a:p>
          <a:p>
            <a:r>
              <a:t>I save money. | I keep costs down. | 搭配</a:t>
            </a:r>
          </a:p>
          <a:p>
            <a:r>
              <a:t>There are many competitors. | The market is crowded. | 习语</a:t>
            </a:r>
          </a:p>
          <a:p>
            <a:r>
              <a:t>It’s cheap. | It’s a low-cost option. | 积极</a:t>
            </a:r>
          </a:p>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Giving advice: You could…, You might want to…, I’d suggest…, Why don’t you…?</a:t>
            </a:r>
          </a:p>
          <a:p>
            <a:r>
              <a:t>Reasons and purpose: to + verb, in order to, so that.</a:t>
            </a:r>
          </a:p>
          <a:p>
            <a:r>
              <a:t>Quantifiers: little/a little (uncountable), few/a few (countable): “I have little money.” (almost none) / “a little money” (some).</a:t>
            </a:r>
          </a:p>
          <a:p>
            <a:r>
              <a:t>Comparisons: cheaper than, less risky than, as profitable as.</a:t>
            </a:r>
          </a:p>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few money.  →  ✓ I have little money.  (little + 不可数)</a:t>
            </a:r>
          </a:p>
          <a:p>
            <a:r>
              <a:t>✗ It costs very cheap.  →  ✓ It’s very cheap.  (cost 不加 cheap)</a:t>
            </a:r>
          </a:p>
          <a:p>
            <a:r>
              <a:t>✗ I will spend little time.  →  ✓ I will spend a little time.  (little vs a little)</a:t>
            </a:r>
          </a:p>
          <a:p>
            <a:r>
              <a:t>Mistake Watch: Check few / little, hyphenated compounds and collocations (save time).</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need to economy the cost.  →  ✓ We need to reduce costs.  (动词)</a:t>
            </a:r>
          </a:p>
          <a:p>
            <a:r>
              <a:t>✗ It’s a low cost.  →  ✓ It’s low-cost. / It has a low cost.  (连字符)</a:t>
            </a:r>
          </a:p>
          <a:p>
            <a:r>
              <a:t>✗ I save my time by working.  →  ✓ I save time by working efficiently.  (搭配)</a:t>
            </a:r>
          </a:p>
          <a:p>
            <a:r>
              <a:t>Mistake Watch: Check few / little, hyphenated compounds and collocations (save time).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Regulations: Even small businesses need licences, insurance and tax registration. Check them.</a:t>
            </a:r>
          </a:p>
          <a:p>
            <a:r>
              <a:t>Side hustles: In some countries, extra income must be declared to tax authorities.</a:t>
            </a:r>
          </a:p>
          <a:p>
            <a:r>
              <a:t>Pricing: Very low prices can signal low quality in some markets.</a:t>
            </a:r>
          </a:p>
          <a:p>
            <a:r>
              <a:t>little / few 的区别:little 修饰不可数,few 修饰可数;a little = 一点,little = 几乎没有。cost 后不加 cheap。</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advise on starting a low-cost business.</a:t>
            </a:r>
          </a:p>
          <a:p>
            <a:r>
              <a:t>I can give advice and warn of downsides.</a:t>
            </a:r>
          </a:p>
          <a:p>
            <a:r>
              <a:t>I can use quantifiers (little / few / a little) correctly.</a:t>
            </a:r>
          </a:p>
          <a:p>
            <a:r>
              <a:t>I can use cost-related collocations.</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quantifiers (little / few), advice language, and cost collocations.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83 · How to Succeed as a Freelancer 如何成为成功的自由职业者</a:t>
            </a:r>
          </a:p>
          <a:p>
            <a:r>
              <a:t>Goal: talk about freelancing: finding clients, setting rates, managing time and money, contracts and staying motivated.</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freelance = 自由职业;rate = 费率;invoice = 发票。第 4 题:day rate / hourly rate。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advice to someone starting out as a freelancer.</a:t>
            </a:r>
          </a:p>
          <a:p>
            <a:r>
              <a:t>Say: finding work → pricing → organisation → money → well-being</a:t>
            </a:r>
          </a:p>
          <a:p>
            <a:r>
              <a:t>Useful starters: “My first tip is to…” / “It’s worth…” / “Don’t forget to…”</a:t>
            </a:r>
          </a:p>
          <a:p>
            <a:r>
              <a:t>It’s worth + -ing = 值得……。Don’t forget to + 动词。My first tip is to… 列建议。</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Freelancing offers independence: you choose your projects, set your hours and work from almost anywhere. But independence has a price. There is no guaranteed income, no paid holiday and no one to remind you about deadlines. Successful freelancers treat themselves as a small business. They build a portfolio that shows their best work, ask happy clients for testimonials and keep in touch with former clients, since repeat work is easier than finding new customers. They set rates that cover not just working hours but also unpaid time spent on admin, marketing and holidays. They use clear contracts, send invoices promptly and put money aside for tax. Finally, they protect their well-being by setting working hours and making time to rest. Freelancing can be rewarding, but it demands discipline.</a:t>
            </a:r>
          </a:p>
          <a:p>
            <a:r>
              <a:t>testimonial = 客户评价。admin = 行政事务。discipline = 自律。”put aside” = 存起来。</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the disadvantages of freelancing?</a:t>
            </a:r>
          </a:p>
          <a:p>
            <a:r>
              <a:t>A: No guaranteed income, no paid holiday and no reminders about deadlines.</a:t>
            </a:r>
          </a:p>
          <a:p>
            <a:r>
              <a:t>Q2. How should freelancers set their rates?</a:t>
            </a:r>
          </a:p>
          <a:p>
            <a:r>
              <a:t>A: To cover working hours plus unpaid time for admin, marketing and holidays.</a:t>
            </a:r>
          </a:p>
          <a:p>
            <a:r>
              <a:t>Q3. What do successful freelancers do about money?</a:t>
            </a:r>
          </a:p>
          <a:p>
            <a:r>
              <a:t>A: Use clear contracts, send invoices promptly and save for tax.</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Freelance basics 自由职业基础</a:t>
            </a:r>
          </a:p>
          <a:p>
            <a:r>
              <a:t>领读 → 学员跟读 → 请学员用表达造一个和自己工作相关的句子。</a:t>
            </a:r>
          </a:p>
          <a:p>
            <a:r>
              <a:t>freelancer (noun) 自由职业者 — “She works as a freelancer.”</a:t>
            </a:r>
          </a:p>
          <a:p>
            <a:r>
              <a:t>client (noun) 客户 — “I have three regular clients.”</a:t>
            </a:r>
          </a:p>
          <a:p>
            <a:r>
              <a:t>invoice (noun / verb) 发票 / 开发票 — “I sent the invoice yesterday.”</a:t>
            </a:r>
          </a:p>
          <a:p>
            <a:r>
              <a:t>rate (noun) 费率 — “My day rate is £250.”</a:t>
            </a:r>
          </a:p>
          <a:p>
            <a:r>
              <a:t>portfolio (noun) 作品集 — “Show clients your portfolio.”</a:t>
            </a:r>
          </a:p>
          <a:p>
            <a:r>
              <a:t>deadline (noun) 截止日期 — “I always meet deadlines.”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Working for yourself ★ 为自己工作</a:t>
            </a:r>
          </a:p>
          <a:p>
            <a:r>
              <a:t>领读 → 学员跟读 → 请学员用表达造一个和自己工作相关的句子。</a:t>
            </a:r>
          </a:p>
          <a:p>
            <a:r>
              <a:t>★ chase payment (collocation) 催款 — “I hate chasing payment.”</a:t>
            </a:r>
          </a:p>
          <a:p>
            <a:r>
              <a:t>★ feast or famine (idiom) 忙闲不均 — “Freelancing can be feast or famine.”</a:t>
            </a:r>
          </a:p>
          <a:p>
            <a:r>
              <a:t>★ juggle (several clients) (verb) 同时应付 — “She juggles four clients.”</a:t>
            </a:r>
          </a:p>
          <a:p>
            <a:r>
              <a:t>★ word of mouth (noun phrase) 口碑 — “Most of my work comes through word of mouth.”</a:t>
            </a:r>
          </a:p>
          <a:p>
            <a:r>
              <a:t>★ retainer (noun) 长期聘用费 — “The client pays a monthly retainer.”</a:t>
            </a:r>
          </a:p>
          <a:p>
            <a:r>
              <a:t>★ scope creep (noun phrase) 范围蔓延 — “Beware of scope creep.”</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freelancer / invoice / rate / portfolio / retainer / Scope creep</a:t>
            </a:r>
          </a:p>
          <a:p>
            <a:r>
              <a:t>1. As a _______, I choose my own projects and hours. → freelancer</a:t>
            </a:r>
          </a:p>
          <a:p>
            <a:r>
              <a:t>2. Please send your _______ by the end of the month. → invoice</a:t>
            </a:r>
          </a:p>
          <a:p>
            <a:r>
              <a:t>3. My daily _______ is £250. → rate</a:t>
            </a:r>
          </a:p>
          <a:p>
            <a:r>
              <a:t>4. A good _______ shows the quality of your previous work. → portfolio</a:t>
            </a:r>
          </a:p>
          <a:p>
            <a:r>
              <a:t>5. A monthly _______ gives me a steady income. → retainer</a:t>
            </a:r>
          </a:p>
          <a:p>
            <a:r>
              <a:t>6. _______ happens when a client asks for extras beyond the agreed work. → Scope creep</a:t>
            </a:r>
          </a:p>
          <a:p>
            <a:r>
              <a:t>Mistake Watch (拼写与搭配): freelance (one word; “free-lance” is old), invoice, retainer. Work freelance / as a freelancer / as a freelance designer. Charge a fee, pay a fee. Send / issue / raise an invoice. Chase an invoice. Self-assessment tax (UK). Be paid on time. A client (professional) vs a customer (shop).</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advice to a new freelancer 给新手自由职业者提建议</a:t>
            </a:r>
          </a:p>
          <a:p>
            <a:r>
              <a:t>情景：A colleague is about to leave her job to freelance as a translator. You give advice.</a:t>
            </a:r>
          </a:p>
          <a:p>
            <a:r>
              <a:t>Role A: Ken Ji, experienced freelancer (you) Role B: Elsa Marsh, new freelancer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(Ken): Elsa, congratulations on taking the plunge. Can I share a few tips?</a:t>
            </a:r>
          </a:p>
          <a:p>
            <a:r>
              <a:t>B (Elsa): Please do. I’m a little nervous.</a:t>
            </a:r>
          </a:p>
          <a:p>
            <a:r>
              <a:t>A: My first tip is to build a small portfolio and ask your first clients for testimonials.</a:t>
            </a:r>
          </a:p>
          <a:p>
            <a:r>
              <a:t>B: Good idea. What about pricing?</a:t>
            </a:r>
          </a:p>
          <a:p>
            <a:r>
              <a:t>A: Don’t just calculate your hourly pay. Remember unpaid time for admin, marketing and holidays.</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So charge more than I expect.</a:t>
            </a:r>
          </a:p>
          <a:p>
            <a:r>
              <a:t>A: Exactly. And use a clear contract with payment terms, and send invoices promptly.</a:t>
            </a:r>
          </a:p>
          <a:p>
            <a:r>
              <a:t>B: What if clients pay late?</a:t>
            </a:r>
          </a:p>
          <a:p>
            <a:r>
              <a:t>A: It happens. Send a polite reminder after the due date and charge late fees if the contract allows.</a:t>
            </a:r>
          </a:p>
          <a:p>
            <a:r>
              <a:t>B: And money for tax?</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Put thirty per cent aside from every payment.</a:t>
            </a:r>
          </a:p>
          <a:p>
            <a:r>
              <a:t>B: What about motivation?</a:t>
            </a:r>
          </a:p>
          <a:p>
            <a:r>
              <a:t>A: Set regular hours and take breaks. It’s worth having a routine, or work will take over.</a:t>
            </a:r>
          </a:p>
          <a:p>
            <a:r>
              <a:t>B: Thank you, Ken. That’s really practical.</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83 | </a:t>
            </a:r>
          </a:p>
          <a:p>
            <a:r>
              <a:t>Situation | You advise a new freelancer.</a:t>
            </a:r>
          </a:p>
          <a:p>
            <a:r>
              <a:t>Your role (A) | Experienced freelancer. Tips: ______________</a:t>
            </a:r>
          </a:p>
          <a:p>
            <a:r>
              <a:t>Partner’s role (B) | New freelancer. Ask about clients, pricing and tax.</a:t>
            </a:r>
          </a:p>
          <a:p>
            <a:r>
              <a:t>Must use (4 or more) | my first tip · it’s worth · don’t forget to · invoice · rate · portfolio</a:t>
            </a:r>
          </a:p>
          <a:p>
            <a:r>
              <a:t>Goal | Give four tips with reasons.</a:t>
            </a:r>
          </a:p>
          <a:p>
            <a:r>
              <a:t>My notes | ____________________________________________</a:t>
            </a:r>
          </a:p>
          <a:p>
            <a:r>
              <a:t>Elsa says: “A client wants a discount.” Advise her.</a:t>
            </a:r>
          </a:p>
          <a:p>
            <a:r>
              <a:t>Write a short polite payment reminder.</a:t>
            </a:r>
          </a:p>
          <a:p>
            <a:r>
              <a:t>Describe the advantages of freelance work in 45 seconds.</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Would you like to be a freelancer? | “I’d love to… because… / I’d prefer… since…”</a:t>
            </a:r>
          </a:p>
          <a:p>
            <a:r>
              <a:t>2. What are the risks of freelancing? | “The main risks are… / Without a steady income…”</a:t>
            </a:r>
          </a:p>
          <a:p>
            <a:r>
              <a:t>3. How can freelancers find clients? | “They can… / Networking…”</a:t>
            </a:r>
          </a:p>
          <a:p>
            <a:r>
              <a:t>4. How do you set a fair price? | “I’d base it on… / Factor in…”</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“To set a fair price, I’d start by working out what I need to earn per year, then add costs like tax, insurance, equipment and unpaid time. I’d divide this by the number of billable days I realistically have. Then I’d compare it with what others in my field charge. It should feel fair to both sides: high enough to be sustainable, but competitive enough to win work.”</a:t>
            </a:r>
          </a:p>
          <a:p>
            <a:r>
              <a:t>billable = 可计费的。sustainable = 可持续的。”work out” = 算出。”factor in” = 把……考虑进去。</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I work alone. | I work as a freelancer. | 术语</a:t>
            </a:r>
          </a:p>
          <a:p>
            <a:r>
              <a:t>Client doesn’t pay. | A client is late with payment. | 完整</a:t>
            </a:r>
          </a:p>
          <a:p>
            <a:r>
              <a:t>I get work. | I win new contracts. | 搭配</a:t>
            </a:r>
          </a:p>
          <a:p>
            <a:r>
              <a:t>I need to remind him. | I’ll send a polite reminder. | 具体</a:t>
            </a:r>
          </a:p>
          <a:p>
            <a:r>
              <a:t>I have a lot of work and then none. | My workload is feast or famine. | 习语</a:t>
            </a:r>
          </a:p>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Imperative for advice: “Build a portfolio. Don’t forget to send invoices.”</a:t>
            </a:r>
          </a:p>
          <a:p>
            <a:r>
              <a:t>Reasons: because, since, as, that’s why.</a:t>
            </a:r>
          </a:p>
          <a:p>
            <a:r>
              <a:t>Gerund after “worth”: It’s worth having a routine.</a:t>
            </a:r>
          </a:p>
          <a:p>
            <a:r>
              <a:t>Polite reminders: Just a quick reminder that… / I wanted to check whether…</a:t>
            </a:r>
          </a:p>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freelancer.  →  ✓ I’m a freelancer.  (冠词)</a:t>
            </a:r>
          </a:p>
          <a:p>
            <a:r>
              <a:t>✗ I make a invoice.  →  ✓ I send an invoice.  (冠词和搭配)</a:t>
            </a:r>
          </a:p>
          <a:p>
            <a:r>
              <a:t>✗ He paid me with the invoice.  →  ✓ He paid the invoice.  (搭配)</a:t>
            </a:r>
          </a:p>
          <a:p>
            <a:r>
              <a:t>Mistake Watch: Check articles, worth + -ing, and ask for.</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It’s worth to have a routine.  →  ✓ It’s worth having a routine.  (worth + -ing)</a:t>
            </a:r>
          </a:p>
          <a:p>
            <a:r>
              <a:t>✗ I work for freelance.  →  ✓ I work freelance.  (无 for)</a:t>
            </a:r>
          </a:p>
          <a:p>
            <a:r>
              <a:t>✗ She asked a discount.  →  ✓ She asked for a discount.  (ask for)</a:t>
            </a:r>
          </a:p>
          <a:p>
            <a:r>
              <a:t>Mistake Watch: Check articles, worth + -ing, and ask for.</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Tax and insurance: Freelancers handle their own tax and insurance in most countries. Get advice.</a:t>
            </a:r>
          </a:p>
          <a:p>
            <a:r>
              <a:t>Platforms: Online marketplaces can help find clients but take fees.</a:t>
            </a:r>
          </a:p>
          <a:p>
            <a:r>
              <a:t>Boundaries: Clear contracts and polite reminders are normal in business; they aren’t rude.</a:t>
            </a:r>
          </a:p>
          <a:p>
            <a:r>
              <a:t>a freelancer 要加冠词;worth + -ing;ask for;work freelance(不加 for)。自由职业者要把自己当作小公司管理。</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give practical advice to a new freelancer.</a:t>
            </a:r>
          </a:p>
          <a:p>
            <a:r>
              <a:t>I can talk about pricing, invoices and tax.</a:t>
            </a:r>
          </a:p>
          <a:p>
            <a:r>
              <a:t>I can use worth + -ing and ask for correctly.</a:t>
            </a:r>
          </a:p>
          <a:p>
            <a:r>
              <a:t>I can write a polite payment reminder.</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articles with job titles, worth + -ing, and ask for.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84 · Remote Business 远程商业</a:t>
            </a:r>
          </a:p>
          <a:p>
            <a:r>
              <a:t>Goal: talk about running a business or team remotely: tools, communication, trust, time zones and company culture.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remote = 远程的;asynchronous = 异步的(不要求同时在线)。time zone = 时区。第 3 题答:communicate clearly, deliver on promises。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to make a remote team work well.</a:t>
            </a:r>
          </a:p>
          <a:p>
            <a:r>
              <a:t>Say: communication → tools → trust → time zones → culture</a:t>
            </a:r>
          </a:p>
          <a:p>
            <a:r>
              <a:t>Useful starters: “It helps to agree…” / “We rely on…” / “The key is to…”</a:t>
            </a:r>
          </a:p>
          <a:p>
            <a:r>
              <a:t>rely on = 依靠。The key is to + 动词。It helps to + 动词。</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Remote work has moved from an exception to a normal option for many businesses. It offers access to talent worldwide, lower office costs and flexibility for employees. But it also brings challenges. Messages can be misunderstood without tone of voice, teams in different time zones struggle to meet and new staff may feel isolated. Companies that do it well rely on clear communication habits: they write things down, share decisions openly and agree when people should be online. Many use asynchronous communication, where people reply when convenient rather than immediately, which respects different schedules. Video calls remain useful for relationships but should not fill the whole day. Trust is built by focusing on results, not hours, and culture is built deliberately, through regular team rituals, shared goals and recognition.</a:t>
            </a:r>
          </a:p>
          <a:p>
            <a:r>
              <a:t>isolated = 孤立的。asynchronous = 异步的。deliberately = 有意地。ritual = 惯例。</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are the benefits of remote work?</a:t>
            </a:r>
          </a:p>
          <a:p>
            <a:r>
              <a:t>A: Access to worldwide talent, lower office costs and flexibility.</a:t>
            </a:r>
          </a:p>
          <a:p>
            <a:r>
              <a:t>Q2. What is asynchronous communication?</a:t>
            </a:r>
          </a:p>
          <a:p>
            <a:r>
              <a:t>A: People reply when convenient rather than immediately.</a:t>
            </a:r>
          </a:p>
          <a:p>
            <a:r>
              <a:t>Q3. How is trust built?</a:t>
            </a:r>
          </a:p>
          <a:p>
            <a:r>
              <a:t>A: By focusing on results rather than hours.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Remote working vocabulary 远程办公词汇</a:t>
            </a:r>
          </a:p>
          <a:p>
            <a:r>
              <a:t>领读 → 学员跟读 → 请学员用表达造一个和自己工作相关的句子。</a:t>
            </a:r>
          </a:p>
          <a:p>
            <a:r>
              <a:t>remote team (noun) 远程团队 — “We manage a remote team.”</a:t>
            </a:r>
          </a:p>
          <a:p>
            <a:r>
              <a:t>time zone (noun) 时区 — “We work across five time zones.”</a:t>
            </a:r>
          </a:p>
          <a:p>
            <a:r>
              <a:t>video call (noun) 视频通话 — “We hold daily video calls.”</a:t>
            </a:r>
          </a:p>
          <a:p>
            <a:r>
              <a:t>collaboration tool (noun) 协作工具 — “We use a collaboration tool for tasks.”</a:t>
            </a:r>
          </a:p>
          <a:p>
            <a:r>
              <a:t>online meeting (noun) 线上会议 — “The online meeting starts at ten.”</a:t>
            </a:r>
          </a:p>
          <a:p>
            <a:r>
              <a:t>virtual (adjective) 虚拟的 — “We have a virtual office.”</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Making remote work well ★ 让远程办公有效</a:t>
            </a:r>
          </a:p>
          <a:p>
            <a:r>
              <a:t>领读 → 学员跟读 → 请学员用表达造一个和自己工作相关的句子。</a:t>
            </a:r>
          </a:p>
          <a:p>
            <a:r>
              <a:t>★ asynchronous (adjective) 异步的 — “We prefer asynchronous updates.”</a:t>
            </a:r>
          </a:p>
          <a:p>
            <a:r>
              <a:t>★ overlap hours (noun phrase) 重叠工作时间 — “We have four overlap hours.”</a:t>
            </a:r>
          </a:p>
          <a:p>
            <a:r>
              <a:t>★ stay in the loop (idiom) 保持了解 — “Stay in the loop through the channel.”</a:t>
            </a:r>
          </a:p>
          <a:p>
            <a:r>
              <a:t>★ feel isolated (collocation) 感到孤立 — “New staff can feel isolated.”</a:t>
            </a:r>
          </a:p>
          <a:p>
            <a:r>
              <a:t>★ set expectations (collocation) 明确预期 — “We set expectations early.”</a:t>
            </a:r>
          </a:p>
          <a:p>
            <a:r>
              <a:t>★ be on the same page (idiom) 想法一致 — “Let’s make sure we’re on the same page.”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remote team / time zone / collaboration tool / asynchronous / overlap hours / set expectations</a:t>
            </a:r>
          </a:p>
          <a:p>
            <a:r>
              <a:t>1. We manage a _______ of designers in six countries. → remote team</a:t>
            </a:r>
          </a:p>
          <a:p>
            <a:r>
              <a:t>2. Our clients are in a different _______. → time zone</a:t>
            </a:r>
          </a:p>
          <a:p>
            <a:r>
              <a:t>3. We use a _______ to track tasks. → collaboration tool</a:t>
            </a:r>
          </a:p>
          <a:p>
            <a:r>
              <a:t>4. Many teams prefer _______ communication to constant meetings. → asynchronous</a:t>
            </a:r>
          </a:p>
          <a:p>
            <a:r>
              <a:t>5. We have only two _______ between London and Sydney. → overlap hours</a:t>
            </a:r>
          </a:p>
          <a:p>
            <a:r>
              <a:t>6. Managers should _______ early about response times. → set expectations</a:t>
            </a:r>
          </a:p>
          <a:p>
            <a:r>
              <a:t>Mistake Watch (拼写与搭配): remote (not “remoted”), asynchronous (hard to spell: a-sync-hron-ous), colleague. Work remotely / from home / from anywhere. In a different time zone (not “different time”). Video call, online meeting, join a call. Attend / join a meeting. Share your screen. Mute / unmute.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Setting up working agreements for a remote team 为远程团队设定工作约定</a:t>
            </a:r>
          </a:p>
          <a:p>
            <a:r>
              <a:t>情景：You lead a team across three time zones and agree working rules with a team member.</a:t>
            </a:r>
          </a:p>
          <a:p>
            <a:r>
              <a:t>Role A: Pia Seng, team lead (you) Role B: Omar Dias,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(Pia): Omar, I’d like to agree a few working rules for the team. How is it going for you?</a:t>
            </a:r>
          </a:p>
          <a:p>
            <a:r>
              <a:t>B (Omar): Mostly well. The time difference is the hard part.</a:t>
            </a:r>
          </a:p>
          <a:p>
            <a:r>
              <a:t>A: I know. It helps to agree some overlap hours. Would two to five p.m. my time work?</a:t>
            </a:r>
          </a:p>
          <a:p>
            <a:r>
              <a:t>B: That’s workable. Early morning for me.</a:t>
            </a:r>
          </a:p>
          <a:p>
            <a:r>
              <a:t>A: Outside that window, let’s rely on written updates so nobody has to be online all day.</a:t>
            </a:r>
          </a:p>
          <a:p>
            <a:r>
              <a:t>B: That would help. Can we avoid last-minute meetings?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Yes. We’ll set the agenda at least a day ahead.</a:t>
            </a:r>
          </a:p>
          <a:p>
            <a:r>
              <a:t>B: What about response times?</a:t>
            </a:r>
          </a:p>
          <a:p>
            <a:r>
              <a:t>A: Within one working day for non-urgent messages, and a direct call if something is urgent.</a:t>
            </a:r>
          </a:p>
          <a:p>
            <a:r>
              <a:t>B: Fair. How do we keep a team feeling?</a:t>
            </a:r>
          </a:p>
          <a:p>
            <a:r>
              <a:t>A: A short weekly video call and a monthly informal chat.</a:t>
            </a:r>
          </a:p>
          <a:p>
            <a:r>
              <a:t>B: Sounds good. I’ll add those to the shared calendar.</a:t>
            </a:r>
          </a:p>
          <a:p>
            <a:r>
              <a:t>A: Thanks. Let’s review how it’s working in a month.</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84 | </a:t>
            </a:r>
          </a:p>
          <a:p>
            <a:r>
              <a:t>Situation | You agree remote working rules.</a:t>
            </a:r>
          </a:p>
          <a:p>
            <a:r>
              <a:t>Your role (A) | Team lead. Rules: ______________</a:t>
            </a:r>
          </a:p>
          <a:p>
            <a:r>
              <a:t>Partner’s role (B) | Team member. Raise one difficulty.</a:t>
            </a:r>
          </a:p>
          <a:p>
            <a:r>
              <a:t>Must use (4 or more) | overlap hours · written updates · response time · agenda · team feeling · review</a:t>
            </a:r>
          </a:p>
          <a:p>
            <a:r>
              <a:t>Goal | Agree communication rules and a review date.</a:t>
            </a:r>
          </a:p>
          <a:p>
            <a:r>
              <a:t>My notes | ____________________________________________</a:t>
            </a:r>
          </a:p>
          <a:p>
            <a:r>
              <a:t>Omar says: “Meetings feel pointless.” Respond with solutions.</a:t>
            </a:r>
          </a:p>
          <a:p>
            <a:r>
              <a:t>Write a short message setting team communication rules.</a:t>
            </a:r>
          </a:p>
          <a:p>
            <a:r>
              <a:t>Explain how you’d welcome a new remote colleague.</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Do you prefer working remotely or in an office? | “I prefer… because… / It depends on…”</a:t>
            </a:r>
          </a:p>
          <a:p>
            <a:r>
              <a:t>2. How can remote teams build trust? | “By being reliable… / Communicating openly…”</a:t>
            </a:r>
          </a:p>
          <a:p>
            <a:r>
              <a:t>3. What problems can time zones cause? | “They can make it hard to… / Meetings…”</a:t>
            </a:r>
          </a:p>
          <a:p>
            <a:r>
              <a:t>4. Will most jobs be remote in the future? | “Some will, but many… / It depends on…”</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“Remote teams can build trust by being consistently reliable: doing what they say they’ll do, responding within agreed times and being open about problems early. Clear written communication also reduces misunderstandings. Occasional meetings in person, if possible, can strengthen relationships. Leaders can help by focusing on results, giving recognition and showing that they trust people to manage their own time.”</a:t>
            </a:r>
          </a:p>
          <a:p>
            <a:r>
              <a:t>consistently = 始终如一地。”within agreed times” = 在约定时间内。”in person” = 当面。recognition = 认可。</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We meet by internet. | We hold video calls. | 搭配</a:t>
            </a:r>
          </a:p>
          <a:p>
            <a:r>
              <a:t>He lives in another time. | He’s in a different time zone. | 搭配</a:t>
            </a:r>
          </a:p>
          <a:p>
            <a:r>
              <a:t>Write me later. | Drop me a message when you’re online. | 口语</a:t>
            </a:r>
          </a:p>
          <a:p>
            <a:r>
              <a:t>I work in home. | I work from home. | 介词</a:t>
            </a:r>
          </a:p>
          <a:p>
            <a:r>
              <a:t>Please attend with camera. | Please join with your camera on. | join</a:t>
            </a:r>
          </a:p>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Scheduling language: Would … work for you? / Could we move it to…? / I’m free on…</a:t>
            </a:r>
          </a:p>
          <a:p>
            <a:r>
              <a:t>Prepositions of time: at 3 p.m., on Monday, in the morning, by Friday.</a:t>
            </a:r>
          </a:p>
          <a:p>
            <a:r>
              <a:t>Present perfect for status: “I’ve updated the document.” / “Have you seen the message?”</a:t>
            </a:r>
          </a:p>
          <a:p>
            <a:r>
              <a:t>Politeness in writing: Thanks in advance, I’d appreciate it if…, Just checking whether…</a:t>
            </a:r>
          </a:p>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work at home.  →  ✓ I work from home.  (work from home)</a:t>
            </a:r>
          </a:p>
          <a:p>
            <a:r>
              <a:t>✗ Let’s meet in 3 p.m.  →  ✓ Let’s meet at 3 p.m.  (at + 时刻)</a:t>
            </a:r>
          </a:p>
          <a:p>
            <a:r>
              <a:t>✗ The meeting is on 2 o’clock.  →  ✓ The meeting is at 2 o’clock.  (at)</a:t>
            </a:r>
          </a:p>
          <a:p>
            <a:r>
              <a:t>Mistake Watch: Check prepositions of time, discuss, and reflexives (mute yourself).</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discuss about the schedule.  →  ✓ We discuss the schedule.  (discuss)</a:t>
            </a:r>
          </a:p>
          <a:p>
            <a:r>
              <a:t>✗ I’m join the call.  →  ✓ I’m joining the call.  (进行时)</a:t>
            </a:r>
          </a:p>
          <a:p>
            <a:r>
              <a:t>✗ Please mute you.  →  ✓ Please mute yourself.  (反身代词)</a:t>
            </a:r>
          </a:p>
          <a:p>
            <a:r>
              <a:t>Mistake Watch: Check prepositions of time, discuss, and reflexives (mute yourself).</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Time zone etiquette: Use UTC or write both time zones when scheduling; avoid assuming everyone is available.</a:t>
            </a:r>
          </a:p>
          <a:p>
            <a:r>
              <a:t>Camera norms: Expectations about cameras vary; ask rather than assume.</a:t>
            </a:r>
          </a:p>
          <a:p>
            <a:r>
              <a:t>Written tone: Without voice, emojis and friendly phrases help avoid sounding cold.</a:t>
            </a:r>
          </a:p>
          <a:p>
            <a:r>
              <a:t>work from home;at 3 p.m.(时刻用 at);discuss 不加 about。远程团队要把规则写下来,并留出重叠时间。</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agree rules for remote working.</a:t>
            </a:r>
          </a:p>
          <a:p>
            <a:r>
              <a:t>I can schedule across time zones.</a:t>
            </a:r>
          </a:p>
          <a:p>
            <a:r>
              <a:t>I can use prepositions of time correctly.</a:t>
            </a:r>
          </a:p>
          <a:p>
            <a:r>
              <a:t>I can use work from home and discuss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prepositions of time, work from home, and polite written requests.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85 · Clickworkers 微任务工作者</a:t>
            </a:r>
          </a:p>
          <a:p>
            <a:r>
              <a:t>Goal: discuss online micro-task work (“clickwork”): what it is, who does it, pay and conditions, pros and cons, and fairness in the gig economy.</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clickwork = 在线点击/微任务工作;gig economy = 零工经济;piece rate = 计件工资。第 5 题讨论责任问题,可用 should / ought to。</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the pros and cons of micro-task work and fairness.</a:t>
            </a:r>
          </a:p>
          <a:p>
            <a:r>
              <a:t>Say: what it is → benefits → problems → fairness → suggestion</a:t>
            </a:r>
          </a:p>
          <a:p>
            <a:r>
              <a:t>Useful starters: “It offers flexibility, but…” / “The main concern is…” / “Platforms ought to…”</a:t>
            </a:r>
          </a:p>
          <a:p>
            <a:r>
              <a:t>ought to + 动词 = 应该。The main concern is… 点明问题。 flexibility 与 security 的对比。</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Behind many websites and apps are people performing small online tasks: labelling photographs, checking search results, transcribing audio or answering surveys. Each task may take only a few minutes, and workers are often paid per task. For some, this is a flexible way to earn extra money from home. It can suit students, carers and people in areas with few jobs. But there are concerns. Pay can be low, especially once unpaid time spent finding tasks is included. Work may be irregular, and workers often have no paid leave, sick pay or clear way to challenge unfair rejections. Researchers and campaigners have called for clearer rules, fair minimum pay and better communication from platforms. Supporters say the sector creates opportunities, but the debate about fairness continues.</a:t>
            </a:r>
          </a:p>
          <a:p>
            <a:r>
              <a:t>transcribe = 转录。carer = 照护者。rejection = 拒付/拒绝。campaigner = 倡导者。</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kinds of tasks are mentioned?</a:t>
            </a:r>
          </a:p>
          <a:p>
            <a:r>
              <a:t>A: Labelling photographs, checking search results, transcribing audio, answering surveys.</a:t>
            </a:r>
          </a:p>
          <a:p>
            <a:r>
              <a:t>Q2. Why might the real pay be low?</a:t>
            </a:r>
          </a:p>
          <a:p>
            <a:r>
              <a:t>A: Unpaid time spent finding tasks is not counted.</a:t>
            </a:r>
          </a:p>
          <a:p>
            <a:r>
              <a:t>Q3. What changes do campaigners ask for?</a:t>
            </a:r>
          </a:p>
          <a:p>
            <a:r>
              <a:t>A: Clearer rules, fair minimum pay and better communication from platforms.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Gig and micro-task work 零工与微任务</a:t>
            </a:r>
          </a:p>
          <a:p>
            <a:r>
              <a:t>领读 → 学员跟读 → 请学员用表达造一个和自己工作相关的句子。</a:t>
            </a:r>
          </a:p>
          <a:p>
            <a:r>
              <a:t>gig economy (noun) 零工经济 — “The gig economy is growing.”</a:t>
            </a:r>
          </a:p>
          <a:p>
            <a:r>
              <a:t>micro-task (noun) 微任务 — “Each micro-task takes two minutes.”</a:t>
            </a:r>
          </a:p>
          <a:p>
            <a:r>
              <a:t>piece rate (noun) 计件工资 — “They are paid a piece rate.”</a:t>
            </a:r>
          </a:p>
          <a:p>
            <a:r>
              <a:t>platform (noun) 平台 — “The platform connects workers and clients.”</a:t>
            </a:r>
          </a:p>
          <a:p>
            <a:r>
              <a:t>self-employed (adjective) 自雇的 — “Most clickworkers are self-employed.”</a:t>
            </a:r>
          </a:p>
          <a:p>
            <a:r>
              <a:t>minimum wage (noun) 最低工资 — “The pay is below minimum wage.”</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Fairness and conditions ★ 公平与工作条件</a:t>
            </a:r>
          </a:p>
          <a:p>
            <a:r>
              <a:t>领读 → 学员跟读 → 请学员用表达造一个和自己工作相关的句子。</a:t>
            </a:r>
          </a:p>
          <a:p>
            <a:r>
              <a:t>★ precarious (adjective) 不稳定的 — “Precarious work offers little security.”</a:t>
            </a:r>
          </a:p>
          <a:p>
            <a:r>
              <a:t>★ job security (noun phrase) 工作保障 — “Job security is low.”</a:t>
            </a:r>
          </a:p>
          <a:p>
            <a:r>
              <a:t>★ exploit (verb) 剥削 — “Workers can be exploited.”</a:t>
            </a:r>
          </a:p>
          <a:p>
            <a:r>
              <a:t>★ make ends meet (idiom) 维持生计 — “Some use gigs to make ends meet.”</a:t>
            </a:r>
          </a:p>
          <a:p>
            <a:r>
              <a:t>★ side income (noun phrase) 副业收入 — “It gives me a small side income.”</a:t>
            </a:r>
          </a:p>
          <a:p>
            <a:r>
              <a:t>★ a race to the bottom (idiom) 恶性竞争 — “Price competition becomes a race to the bottom.”</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gig economy / platform / piece rate / minimum wage / precarious / make ends meet</a:t>
            </a:r>
          </a:p>
          <a:p>
            <a:r>
              <a:t>1. Many people drive or deliver in the _______. → gig economy</a:t>
            </a:r>
          </a:p>
          <a:p>
            <a:r>
              <a:t>2. The _______ matches workers with short tasks. → platform</a:t>
            </a:r>
          </a:p>
          <a:p>
            <a:r>
              <a:t>3. They are paid a _______ for every item they label. → piece rate</a:t>
            </a:r>
          </a:p>
          <a:p>
            <a:r>
              <a:t>4. Campaigners say the pay is below the legal _______. → minimum wage</a:t>
            </a:r>
          </a:p>
          <a:p>
            <a:r>
              <a:t>5. The work is _______: there is no guarantee of income. → precarious</a:t>
            </a:r>
          </a:p>
          <a:p>
            <a:r>
              <a:t>6. Some people use gig work to help them _______. → make ends meet</a:t>
            </a:r>
          </a:p>
          <a:p>
            <a:r>
              <a:t>Mistake Watch (拼写与搭配): clickworker (one word), gig (informal), precarious (not “precarius”). Earn money, make money, earn a living. Be paid per task / by the hour / a piece rate. Self-employed vs employee. Minimum wage (UK/US), living wage. Exploit (verb), exploitation (noun).</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micro-task work 讨论微任务工作</a:t>
            </a:r>
          </a:p>
          <a:p>
            <a:r>
              <a:t>情景：Two colleagues discuss an article about online micro-task workers.</a:t>
            </a:r>
          </a:p>
          <a:p>
            <a:r>
              <a:t>Role A: Rex Chua, researcher (you) Role B: Dina Sol,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(Rex): Dina, did you read the article about online micro-tasks?</a:t>
            </a:r>
          </a:p>
          <a:p>
            <a:r>
              <a:t>B (Dina): Yes. It said many people earn small amounts for tasks like labelling images.</a:t>
            </a:r>
          </a:p>
          <a:p>
            <a:r>
              <a:t>A: It offers flexibility, but pay seems very low once you count the unpaid time spent searching for tasks.</a:t>
            </a:r>
          </a:p>
          <a:p>
            <a:r>
              <a:t>B: That’s a fair point. Though for some people, flexibility is the main attraction.</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True. Students and carers value it. The main concern is the lack of security.</a:t>
            </a:r>
          </a:p>
          <a:p>
            <a:r>
              <a:t>B: No sick pay, no holiday, and you can be rejected without explanation.</a:t>
            </a:r>
          </a:p>
          <a:p>
            <a:r>
              <a:t>A: Exactly. I think platforms ought to give clearer rules and a fair minimum rate.</a:t>
            </a:r>
          </a:p>
          <a:p>
            <a:r>
              <a:t>B: Would that make tasks more expensive?</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Probably, but companies that rely on this work should be prepared to pay fairly.</a:t>
            </a:r>
          </a:p>
          <a:p>
            <a:r>
              <a:t>B: What about the workers’ view? Some like being independent.</a:t>
            </a:r>
          </a:p>
          <a:p>
            <a:r>
              <a:t>A: Right. It should be a choice, not the only option.</a:t>
            </a:r>
          </a:p>
          <a:p>
            <a:r>
              <a:t>B: Agreed. Regulation should protect without removing flexibility.</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85 | </a:t>
            </a:r>
          </a:p>
          <a:p>
            <a:r>
              <a:t>Situation | You discuss fairness in gig work.</a:t>
            </a:r>
          </a:p>
          <a:p>
            <a:r>
              <a:t>Your role (A) | Speaker. Position: ______________</a:t>
            </a:r>
          </a:p>
          <a:p>
            <a:r>
              <a:t>Partner’s role (B) | Speaker. Offer a different view.</a:t>
            </a:r>
          </a:p>
          <a:p>
            <a:r>
              <a:t>Must use (4 or more) | flexibility · security · ought to · fair rate · rely on · regulation</a:t>
            </a:r>
          </a:p>
          <a:p>
            <a:r>
              <a:t>Goal | Discuss pros and cons and make a suggestion.</a:t>
            </a:r>
          </a:p>
          <a:p>
            <a:r>
              <a:t>My notes | ____________________________________________</a:t>
            </a:r>
          </a:p>
          <a:p>
            <a:r>
              <a:t>Dina says: “It’s better than no job.” Respond.</a:t>
            </a:r>
          </a:p>
          <a:p>
            <a:r>
              <a:t>Explain the term “gig economy” in one sentence.</a:t>
            </a:r>
          </a:p>
          <a:p>
            <a:r>
              <a:t>Suggest three protections for gig workers.</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gig work a good option for young people? | “It can be a stepping stone, but…”</a:t>
            </a:r>
          </a:p>
          <a:p>
            <a:r>
              <a:t>2. Who is responsible for protecting gig workers? | “Platforms, governments and… should…”</a:t>
            </a:r>
          </a:p>
          <a:p>
            <a:r>
              <a:t>3. Would you do micro-tasks for extra money? | “Possibly, if… / I wouldn’t because…”</a:t>
            </a:r>
          </a:p>
          <a:p>
            <a:r>
              <a:t>4. How do gig platforms change the nature of work? | “They make work more… but also…”</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responsibility should be shared. Platforms benefit from workers’ time, so they should provide clear rules, fair pay and ways to resolve disputes. Governments should set minimum standards and make sure they’re enforced. Workers can also organise and share information. If only one party takes responsibility, protection is likely to be weak.”</a:t>
            </a:r>
          </a:p>
          <a:p>
            <a:r>
              <a:t>enforce = 执行。dispute = 争议。”minimum standards” = 最低标准。organise = 组织起来。</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The pay is bad. | The pay is very low once you include unpaid time. | 具体</a:t>
            </a:r>
          </a:p>
          <a:p>
            <a:r>
              <a:t>There is no job guarantee. | The work is precarious. | 术语</a:t>
            </a:r>
          </a:p>
          <a:p>
            <a:r>
              <a:t>He is used. | He’s being exploited. | 被动</a:t>
            </a:r>
          </a:p>
          <a:p>
            <a:r>
              <a:t>It’s a small money job. | It’s a source of extra income. | 搭配</a:t>
            </a:r>
          </a:p>
          <a:p>
            <a:r>
              <a:t>Workers have no rights. | Workers have limited protection. | 稳妥</a:t>
            </a:r>
          </a:p>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Contrast: although, while, however, on the other hand: “It’s flexible; however, it’s insecure.”</a:t>
            </a:r>
          </a:p>
          <a:p>
            <a:r>
              <a:t>Obligation: should, ought to, must, need to, are required to.</a:t>
            </a:r>
          </a:p>
          <a:p>
            <a:r>
              <a:t>Passive to avoid naming agents: “Workers are paid per task.”</a:t>
            </a:r>
          </a:p>
          <a:p>
            <a:r>
              <a:t>Hedging: It seems that…, tends to, can be, may be.</a:t>
            </a:r>
          </a:p>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They are pay low.  →  ✓ They are paid low wages.  (被动)</a:t>
            </a:r>
          </a:p>
          <a:p>
            <a:r>
              <a:t>✗ The work is flexible, but pay not good.  →  ✓ The work is flexible, but the pay isn’t good.  (完整)</a:t>
            </a:r>
          </a:p>
          <a:p>
            <a:r>
              <a:t>✗ Many peoples do this work.  →  ✓ Many people do this work.  (people)</a:t>
            </a:r>
          </a:p>
          <a:p>
            <a:r>
              <a:t>Mistake Watch: Check passive forms, subject-verb agreement, and should + base verb.</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Gig worker have no right.  →  ✓ Gig workers have few rights.  (复数)</a:t>
            </a:r>
          </a:p>
          <a:p>
            <a:r>
              <a:t>✗ It’s exploited.  →  ✓ They’re exploited.  (主语)</a:t>
            </a:r>
          </a:p>
          <a:p>
            <a:r>
              <a:t>✗ I think they should to protect workers.  →  ✓ I think they should protect workers.  (should + 原形)</a:t>
            </a:r>
          </a:p>
          <a:p>
            <a:r>
              <a:t>Mistake Watch: Check passive forms, subject-verb agreement, and should + base verb.</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Sensitive topic: Gig work conditions are debated politically; stay factual and avoid generalisations about specific companies.</a:t>
            </a:r>
          </a:p>
          <a:p>
            <a:r>
              <a:t>Terminology: “Self-employed” status is defined differently by country and can be disputed.</a:t>
            </a:r>
          </a:p>
          <a:p>
            <a:r>
              <a:t>Flexibility vs security: Many people value both; the question is the balance.</a:t>
            </a:r>
          </a:p>
          <a:p>
            <a:r>
              <a:t>people 本身是复数;should + 动词原形;被动 are paid。讨论争议话题时要平衡,先说好处再说担忧。</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pros and cons of gig work.</a:t>
            </a:r>
          </a:p>
          <a:p>
            <a:r>
              <a:t>I can use obligation modals and passive voice.</a:t>
            </a:r>
          </a:p>
          <a:p>
            <a:r>
              <a:t>I can talk about fairness without overgeneralising.</a:t>
            </a:r>
          </a:p>
          <a:p>
            <a:r>
              <a:t>I can use people, should and passive forms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people (plural), obligation modals, and passive voice.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86 · Salaries and Side Hustles 薪资和副业</a:t>
            </a:r>
          </a:p>
          <a:p>
            <a:r>
              <a:t>Goal: talk about salaries, extra income and side businesses: negotiating pay, comparing jobs, managing two jobs and tax/permission issues.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side hustle = 副业(口语);moonlighting = 兼职干活(常指未告知主业)。第 5 题:benefits, bonus, 发展机会。</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Discuss how to compare job offers and whether to start a side business.</a:t>
            </a:r>
          </a:p>
          <a:p>
            <a:r>
              <a:t>Say: salary and benefits → growth → balance → side income → risk</a:t>
            </a:r>
          </a:p>
          <a:p>
            <a:r>
              <a:t>Useful starters: “Beyond salary, I’d consider…” / “A side hustle can…, but…” / “Before starting one, check…”</a:t>
            </a:r>
          </a:p>
          <a:p>
            <a:r>
              <a:t>Beyond salary = 除工资外。check + whether/that…。A side hustle can… 说明作用。</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Salary matters, but it is only one part of the picture when comparing jobs. Benefits such as pension contributions, health cover, holiday, training and flexible hours can add up to a lot. Opportunities to learn and progress, and a manager you respect, also shape long-term satisfaction. Many people also earn extra income from a side hustle, whether it is freelancing, selling crafts online or teaching. A second income can provide security and let you try out a business idea. However, there are things to check. Your employment contract may restrict outside work, and conflicts of interest must be avoided. Additional income is usually taxable. And there is the risk of exhaustion: two jobs can mean little rest. A sensible approach is to start small, be transparent with your employer when needed and review the effect on your health regularly.</a:t>
            </a:r>
          </a:p>
          <a:p>
            <a:r>
              <a:t>pension = 养老金。health cover = 医疗保险(英)。taxable = 应纳税的。transparent = 公开透明的。</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else should you consider besides salary?</a:t>
            </a:r>
          </a:p>
          <a:p>
            <a:r>
              <a:t>A: Benefits, learning and progression opportunities, and your manager.</a:t>
            </a:r>
          </a:p>
          <a:p>
            <a:r>
              <a:t>Q2. What can a side hustle provide?</a:t>
            </a:r>
          </a:p>
          <a:p>
            <a:r>
              <a:t>A: Security and a chance to try out a business idea.</a:t>
            </a:r>
          </a:p>
          <a:p>
            <a:r>
              <a:t>Q3. What should you check before starting one?</a:t>
            </a:r>
          </a:p>
          <a:p>
            <a:r>
              <a:t>A: Your contract, conflicts of interest, tax and the effect on your health.</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Pay and benefits 薪资与福利</a:t>
            </a:r>
          </a:p>
          <a:p>
            <a:r>
              <a:t>领读 → 学员跟读 → 请学员用表达造一个和自己工作相关的句子。</a:t>
            </a:r>
          </a:p>
          <a:p>
            <a:r>
              <a:t>salary (noun) 薪水 — “His salary is £45,000.”</a:t>
            </a:r>
          </a:p>
          <a:p>
            <a:r>
              <a:t>bonus (noun) 奖金 — “She received a bonus.”</a:t>
            </a:r>
          </a:p>
          <a:p>
            <a:r>
              <a:t>benefits package (noun) 福利待遇 — “The benefits package is generous.”</a:t>
            </a:r>
          </a:p>
          <a:p>
            <a:r>
              <a:t>pension (noun) 养老金 — “The company contributes to my pension.”</a:t>
            </a:r>
          </a:p>
          <a:p>
            <a:r>
              <a:t>overtime (noun) 加班 — “Overtime is paid at 1.5 times.”</a:t>
            </a:r>
          </a:p>
          <a:p>
            <a:r>
              <a:t>take-home pay (noun) 税后收入 — “My take-home pay is lower than I expected.”</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Extra income ★ 额外收入</a:t>
            </a:r>
          </a:p>
          <a:p>
            <a:r>
              <a:t>领读 → 学员跟读 → 请学员用表达造一个和自己工作相关的句子。</a:t>
            </a:r>
          </a:p>
          <a:p>
            <a:r>
              <a:t>★ side hustle (noun phrase) 副业 — “I run a side hustle selling prints.”</a:t>
            </a:r>
          </a:p>
          <a:p>
            <a:r>
              <a:t>★ moonlight (verb) 兼职(业余) — “He moonlights as a tutor.”</a:t>
            </a:r>
          </a:p>
          <a:p>
            <a:r>
              <a:t>★ supplement your income (collocation) 补贴收入 — “Teaching helps supplement my income.”</a:t>
            </a:r>
          </a:p>
          <a:p>
            <a:r>
              <a:t>★ conflict of interest (noun phrase) 利益冲突 — “Check for conflicts of interest.”</a:t>
            </a:r>
          </a:p>
          <a:p>
            <a:r>
              <a:t>★ burn out (phrasal verb) 精疲力竭 — “Working two jobs can burn you out.”</a:t>
            </a:r>
          </a:p>
          <a:p>
            <a:r>
              <a:t>★ a nest egg (idiom) 积蓄 — “She built up a nest egg.”</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salary / bonus / benefits package / pension / overtime / side hustle</a:t>
            </a:r>
          </a:p>
          <a:p>
            <a:r>
              <a:t>1. Her annual _______ is £45,000 before tax. → salary</a:t>
            </a:r>
          </a:p>
          <a:p>
            <a:r>
              <a:t>2. I received a _______ for finishing the project early. → bonus</a:t>
            </a:r>
          </a:p>
          <a:p>
            <a:r>
              <a:t>3. The _______ includes health cover and extra holiday. → benefits package</a:t>
            </a:r>
          </a:p>
          <a:p>
            <a:r>
              <a:t>4. The company contributes 5% to my _______. → pension</a:t>
            </a:r>
          </a:p>
          <a:p>
            <a:r>
              <a:t>5. He earns extra money from _______ at weekends. → overtime</a:t>
            </a:r>
          </a:p>
          <a:p>
            <a:r>
              <a:t>6. I run a _______ selling handmade cards. → side hustle</a:t>
            </a:r>
          </a:p>
          <a:p>
            <a:r>
              <a:t>Mistake Watch (拼写与搭配): salary (monthly/annual), wage (hourly/weekly), income (total money). Earn a salary, get paid, be on a salary of £, take-home pay. Per annum / a year. Negotiate a raise. Pay rise (UK), raise (US). Overtime (uncountable). Benefit (singular) vs benefits (package).</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two job offers 比较两个工作机会</a:t>
            </a:r>
          </a:p>
          <a:p>
            <a:r>
              <a:t>情景：You discuss two job offers with a friend and a possible side hustle.</a:t>
            </a:r>
          </a:p>
          <a:p>
            <a:r>
              <a:t>Role A: Jin Park, job seeker (you) Role B: Ada Moss, friend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(Jin): Ada, I have two offers. Company A pays £48,000, and Company B pays £44,000.</a:t>
            </a:r>
          </a:p>
          <a:p>
            <a:r>
              <a:t>B (Ada): A looks better, but what about the benefits?</a:t>
            </a:r>
          </a:p>
          <a:p>
            <a:r>
              <a:t>A: B offers a larger pension contribution, flexible hours and a training budget.</a:t>
            </a:r>
          </a:p>
          <a:p>
            <a:r>
              <a:t>B: Beyond salary, I’d consider growth. Which job would teach you more?</a:t>
            </a:r>
          </a:p>
          <a:p>
            <a:r>
              <a:t>A: Probably B. The manager seems supportive, and the role has more variety.</a:t>
            </a:r>
          </a:p>
          <a:p>
            <a:r>
              <a:t>B: So the gap in pay could be worth it.</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Possibly. I also want to keep my weekend side hustle, designing logos.</a:t>
            </a:r>
          </a:p>
          <a:p>
            <a:r>
              <a:t>B: Does either contract allow that?</a:t>
            </a:r>
          </a:p>
          <a:p>
            <a:r>
              <a:t>A: Company A says outside work needs approval. B has no objection if there’s no conflict of interest.</a:t>
            </a:r>
          </a:p>
          <a:p>
            <a:r>
              <a:t>B: That’s an important factor. And the tax?</a:t>
            </a:r>
          </a:p>
          <a:p>
            <a:r>
              <a:t>A: I’ll declare the extra income and keep records.</a:t>
            </a:r>
          </a:p>
          <a:p>
            <a:r>
              <a:t>B: Sensible. Just watch your energy, so you don’t burn out.</a:t>
            </a:r>
          </a:p>
          <a:p>
            <a:r>
              <a:t>A: Good point. I’ll go with B and keep my side work small.</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86 | </a:t>
            </a:r>
          </a:p>
          <a:p>
            <a:r>
              <a:t>Situation | You compare job offers and a side hustle.</a:t>
            </a:r>
          </a:p>
          <a:p>
            <a:r>
              <a:t>Your role (A) | Job seeker. Offers: ______________</a:t>
            </a:r>
          </a:p>
          <a:p>
            <a:r>
              <a:t>Partner’s role (B) | Friend. Ask about benefits and risks.</a:t>
            </a:r>
          </a:p>
          <a:p>
            <a:r>
              <a:t>Must use (4 or more) | beyond salary · benefits · growth · conflict of interest · declare · burn out</a:t>
            </a:r>
          </a:p>
          <a:p>
            <a:r>
              <a:t>Goal | Compare two offers and decide with reasons.</a:t>
            </a:r>
          </a:p>
          <a:p>
            <a:r>
              <a:t>My notes | ____________________________________________</a:t>
            </a:r>
          </a:p>
          <a:p>
            <a:r>
              <a:t>Ada asks: “Would you accept less pay for more flexibility?” Answer.</a:t>
            </a:r>
          </a:p>
          <a:p>
            <a:r>
              <a:t>Ask HR whether you can run a side business.</a:t>
            </a:r>
          </a:p>
          <a:p>
            <a:r>
              <a:t>Explain the difference between salary and take-home pay.</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salary the most important factor in choosing a job? | “Not the only factor. I also consider…”</a:t>
            </a:r>
          </a:p>
          <a:p>
            <a:r>
              <a:t>2. Do you think side hustles are a good idea? | “They can be… if… but…”</a:t>
            </a:r>
          </a:p>
          <a:p>
            <a:r>
              <a:t>3. Should employers allow staff to have second jobs? | “It depends on whether…”</a:t>
            </a:r>
          </a:p>
          <a:p>
            <a:r>
              <a:t>4. How comfortable are you discussing pay with colleagues? | “I’m fairly comfortable… / I prefer not to…”</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employers should generally allow second jobs, provided there is no conflict of interest and the employee’s performance doesn’t suffer. People have the right to earn extra income, particularly when living costs are high. However, the employer has a legitimate interest in confidentiality and in ensuring employees are rested and focused. A fair policy is to ask staff to inform the employer and to agree clear rules.”</a:t>
            </a:r>
          </a:p>
          <a:p>
            <a:r>
              <a:t>provided = 只要。legitimate = 正当的。confidentiality = 保密。”inform the employer” = 告知雇主。</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My salary is low. | I feel my pay doesn’t reflect my responsibilities. | 具体</a:t>
            </a:r>
          </a:p>
          <a:p>
            <a:r>
              <a:t>I want more money. | I’d like to discuss my compensation. | 礼貌</a:t>
            </a:r>
          </a:p>
          <a:p>
            <a:r>
              <a:t>I do other work. | I have a side project on the weekends. | 具体</a:t>
            </a:r>
          </a:p>
          <a:p>
            <a:r>
              <a:t>It’s not allowed. | It would need approval from my employer. | 具体</a:t>
            </a:r>
          </a:p>
          <a:p>
            <a:r>
              <a:t>I’m earning two ways. | I have two sources of income. | 术语</a:t>
            </a:r>
          </a:p>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Talking about money: I earn £48,000 a year. / It pays well. / The package includes…</a:t>
            </a:r>
          </a:p>
          <a:p>
            <a:r>
              <a:t>Comparisons: higher than, less flexible than, the more … the more…</a:t>
            </a:r>
          </a:p>
          <a:p>
            <a:r>
              <a:t>Conditionals: If I took the job, I’d… / Provided that … I’d…</a:t>
            </a:r>
          </a:p>
          <a:p>
            <a:r>
              <a:t>Present perfect: “I’ve been offered two jobs.” (passive present perfect)</a:t>
            </a:r>
          </a:p>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earn 3000 per month.  →  ✓ I earn £3,000 a month.  (货币写法)</a:t>
            </a:r>
          </a:p>
          <a:p>
            <a:r>
              <a:t>✗ My wage is 40,000 per year.  →  ✓ My salary is £40,000 a year.  (salary)</a:t>
            </a:r>
          </a:p>
          <a:p>
            <a:r>
              <a:t>✗ I have two offer.  →  ✓ I have two offers.  (复数)</a:t>
            </a:r>
          </a:p>
          <a:p>
            <a:r>
              <a:t>Mistake Watch: Check money formats, salary / wage, and purpose infinitive.</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in debt of the bank.  →  ✓ I owe the bank money.  (owe)</a:t>
            </a:r>
          </a:p>
          <a:p>
            <a:r>
              <a:t>✗ The salary of Company A is more high.  →  ✓ Company A’s salary is higher.  (比较级)</a:t>
            </a:r>
          </a:p>
          <a:p>
            <a:r>
              <a:t>✗ I do a side job for earn more.  →  ✓ I do a side job to earn more.  (to earn)</a:t>
            </a:r>
          </a:p>
          <a:p>
            <a:r>
              <a:t>Mistake Watch: Check money formats, salary / wage, and purpose infinitive.</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Pay talk: In many countries, salary is private. In some (e.g. parts of Europe) pay transparency is increasing.</a:t>
            </a:r>
          </a:p>
          <a:p>
            <a:r>
              <a:t>Tax: Side income is usually taxable. Keep records and check local rules.</a:t>
            </a:r>
          </a:p>
          <a:p>
            <a:r>
              <a:t>Contract clauses: Some contracts have exclusivity clauses; read them before starting a second job.</a:t>
            </a:r>
          </a:p>
          <a:p>
            <a:r>
              <a:t>salary(月/年薪)与 wage(时薪/周薪)区分;£3,000 a month;目的用 to + 动词。做副业前要检查合同并注意税务。</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compare job offers beyond salary.</a:t>
            </a:r>
          </a:p>
          <a:p>
            <a:r>
              <a:t>I can discuss side hustles, tax and conflicts of interest.</a:t>
            </a:r>
          </a:p>
          <a:p>
            <a:r>
              <a:t>I can use money and number formats correctly.</a:t>
            </a:r>
          </a:p>
          <a:p>
            <a:r>
              <a:t>I can use salary / wage and purpose infinitive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money expressions, salary / wage, and comparatives.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87 · Time Banks 时间银行</a:t>
            </a:r>
          </a:p>
          <a:p>
            <a:r>
              <a:t>Goal: talk about time banks and alternative exchange systems: sharing skills, community value, how they work and their limits as a business model.</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time bank = 时间银行:一小时服务换一小时服务。barter = 以物易物。community = 社区。第 3 题可用 “I could offer… in exchange for…”。</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a time bank works and evaluate it.</a:t>
            </a:r>
          </a:p>
          <a:p>
            <a:r>
              <a:t>Say: concept → example → benefits → limits</a:t>
            </a:r>
          </a:p>
          <a:p>
            <a:r>
              <a:t>Useful starters: “A time bank works by…” / “For example, someone might…” / “One limitation is…”</a:t>
            </a:r>
          </a:p>
          <a:p>
            <a:r>
              <a:t>works by + -ing。in exchange for… = 作为交换。One limitation is… 指出局限。</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In a time bank, members exchange services using time as the currency. One hour of help is worth one hour, whatever the task. Someone who teaches a language for an hour earns a time credit, which they can spend on, say, help with gardening or computer repairs. The idea is that everyone has something valuable to offer, and that skills of all kinds are treated equally. Supporters say that time banks strengthen communities, reduce loneliness and give people who may have little money a way to contribute. Critics point out that popular skills can be hard to match with demand, that the schemes need careful organisation and that they work best at small scale. Some businesses and charities use similar ideas, such as volunteering days or skill swaps, to build relationships and goodwill.</a:t>
            </a:r>
          </a:p>
          <a:p>
            <a:r>
              <a:t>currency = 货币。credit = 积分/信用。loneliness = 孤独感。at small scale = 小规模。</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does a time bank work?</a:t>
            </a:r>
          </a:p>
          <a:p>
            <a:r>
              <a:t>A: Members exchange services using time credits; one hour of help equals one hour.</a:t>
            </a:r>
          </a:p>
          <a:p>
            <a:r>
              <a:t>Q2. What benefits do supporters mention?</a:t>
            </a:r>
          </a:p>
          <a:p>
            <a:r>
              <a:t>A: Stronger communities, less loneliness and a way for people with little money to contribute.</a:t>
            </a:r>
          </a:p>
          <a:p>
            <a:r>
              <a:t>Q3. What limitations are mentioned?</a:t>
            </a:r>
          </a:p>
          <a:p>
            <a:r>
              <a:t>A: Matching skills with demand, the need for organisation and working best at small scale.</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Exchange and community 交换与社区</a:t>
            </a:r>
          </a:p>
          <a:p>
            <a:r>
              <a:t>领读 → 学员跟读 → 请学员用表达造一个和自己工作相关的句子。</a:t>
            </a:r>
          </a:p>
          <a:p>
            <a:r>
              <a:t>time bank (noun) 时间银行 — “She joined a time bank.”</a:t>
            </a:r>
          </a:p>
          <a:p>
            <a:r>
              <a:t>time credit (noun) 时间积分 — “She earned two time credits.”</a:t>
            </a:r>
          </a:p>
          <a:p>
            <a:r>
              <a:t>barter (verb / noun) 以物易物 — “They bartered services.”</a:t>
            </a:r>
          </a:p>
          <a:p>
            <a:r>
              <a:t>swap (verb / noun) 交换 — “We swapped skills.”</a:t>
            </a:r>
          </a:p>
          <a:p>
            <a:r>
              <a:t>volunteer (verb / noun) 志愿者 / 志愿服务 — “He volunteers at weekends.”</a:t>
            </a:r>
          </a:p>
          <a:p>
            <a:r>
              <a:t>community (noun) 社区 — “The community benefits.”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Value and trust ★ 价值与信任</a:t>
            </a:r>
          </a:p>
          <a:p>
            <a:r>
              <a:t>领读 → 学员跟读 → 请学员用表达造一个和自己工作相关的句子。</a:t>
            </a:r>
          </a:p>
          <a:p>
            <a:r>
              <a:t>★ in exchange for (phrase) 作为交换 — “She offered help in exchange for lessons.”</a:t>
            </a:r>
          </a:p>
          <a:p>
            <a:r>
              <a:t>★ pay it forward (idiom) 把善意传递下去 — “Pay it forward by helping someone else.”</a:t>
            </a:r>
          </a:p>
          <a:p>
            <a:r>
              <a:t>★ give back (phrasal verb) 回馈 — “I want to give back to the community.”</a:t>
            </a:r>
          </a:p>
          <a:p>
            <a:r>
              <a:t>★ a sense of belonging (noun phrase) 归属感 — “Time banks give a sense of belonging.”</a:t>
            </a:r>
          </a:p>
          <a:p>
            <a:r>
              <a:t>★ mutual benefit (noun phrase) 互惠互利 — “It works for mutual benefit.”</a:t>
            </a:r>
          </a:p>
          <a:p>
            <a:r>
              <a:t>★ social capital (noun phrase) 社会资本 — “Time banks build social capital.”</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time bank / time credit / barter / swap / give back / mutual benefit</a:t>
            </a:r>
          </a:p>
          <a:p>
            <a:r>
              <a:t>1. Members of a _______ exchange services using hours rather than money. → time bank</a:t>
            </a:r>
          </a:p>
          <a:p>
            <a:r>
              <a:t>2. She earned a _______ for teaching English for an hour. → time credit</a:t>
            </a:r>
          </a:p>
          <a:p>
            <a:r>
              <a:t>3. Before money existed, people used to _______ goods. → barter</a:t>
            </a:r>
          </a:p>
          <a:p>
            <a:r>
              <a:t>4. Do you want to _______ your design skills for help with accounts? → swap</a:t>
            </a:r>
          </a:p>
          <a:p>
            <a:r>
              <a:t>5. Many retirees want to _______ to the community. → give back</a:t>
            </a:r>
          </a:p>
          <a:p>
            <a:r>
              <a:t>6. A good partnership works for _______. → mutual benefit</a:t>
            </a:r>
          </a:p>
          <a:p>
            <a:r>
              <a:t>Mistake Watch (拼写与搭配): time bank (two words), barter (verb/noun), volunteer (not “voluntear”). Volunteer to do, do voluntary work, volunteer for. Exchange A for B (give A and receive B). In exchange for. Swap A for B. Community is countable: “a community”, “local communities”. Benefit from.</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a time bank to a friend 向朋友介绍时间银行</a:t>
            </a:r>
          </a:p>
          <a:p>
            <a:r>
              <a:t>情景：You explain how a local time bank works to a friend who might join.</a:t>
            </a:r>
          </a:p>
          <a:p>
            <a:r>
              <a:t>Role A: Lena Dou, member (you) Role B: Mark Oates, friend</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(Lena): Mark, have you heard of a time bank? I joined one last month.</a:t>
            </a:r>
          </a:p>
          <a:p>
            <a:r>
              <a:t>B (Mark): No. What is it?</a:t>
            </a:r>
          </a:p>
          <a:p>
            <a:r>
              <a:t>A: A time bank works by exchanging services using hours instead of money. One hour of help is worth one hour.</a:t>
            </a:r>
          </a:p>
          <a:p>
            <a:r>
              <a:t>B: So an hour of gardening equals an hour of teaching?</a:t>
            </a:r>
          </a:p>
          <a:p>
            <a:r>
              <a:t>A: Exactly. For example, I spent an hour helping a neighbour with her website, and I earned a credit.</a:t>
            </a:r>
          </a:p>
          <a:p>
            <a:r>
              <a:t>B: And then?</a:t>
            </a:r>
          </a:p>
          <a:p>
            <a:r>
              <a:t>A: I used it to get help with my bike. A member fixed it for an hour.</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Interesting. What’s the benefit?</a:t>
            </a:r>
          </a:p>
          <a:p>
            <a:r>
              <a:t>A: You meet people, use skills and get help without paying. It builds a sense of community.</a:t>
            </a:r>
          </a:p>
          <a:p>
            <a:r>
              <a:t>B: Any downsides?</a:t>
            </a:r>
          </a:p>
          <a:p>
            <a:r>
              <a:t>A: One limitation is that popular skills can be hard to match. Not everyone needs web design.</a:t>
            </a:r>
          </a:p>
          <a:p>
            <a:r>
              <a:t>B: I could offer cooking lessons in exchange for help with DIY.</a:t>
            </a:r>
          </a:p>
          <a:p>
            <a:r>
              <a:t>A: That would work well. I’ll introduce you to the coordinator.</a:t>
            </a:r>
          </a:p>
          <a:p>
            <a:r>
              <a:t>B: Great. Sign me up.</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87 | </a:t>
            </a:r>
          </a:p>
          <a:p>
            <a:r>
              <a:t>Situation | You explain a time bank.</a:t>
            </a:r>
          </a:p>
          <a:p>
            <a:r>
              <a:t>Your role (A) | Member. Skill you offered: ______________</a:t>
            </a:r>
          </a:p>
          <a:p>
            <a:r>
              <a:t>Partner’s role (B) | Friend. Ask how it works and about limits.</a:t>
            </a:r>
          </a:p>
          <a:p>
            <a:r>
              <a:t>Must use (4 or more) | works by · for example · in exchange for · sense of community · limitation · sign up</a:t>
            </a:r>
          </a:p>
          <a:p>
            <a:r>
              <a:t>Goal | Explain simply with an example and one limit.</a:t>
            </a:r>
          </a:p>
          <a:p>
            <a:r>
              <a:t>My notes | ____________________________________________</a:t>
            </a:r>
          </a:p>
          <a:p>
            <a:r>
              <a:t>Mark says: “Why not just pay for it?” Respond.</a:t>
            </a:r>
          </a:p>
          <a:p>
            <a:r>
              <a:t>Suggest how a company could use a time-bank idea with staff.</a:t>
            </a:r>
          </a:p>
          <a:p>
            <a:r>
              <a:t>Write a short invitation for a community skill-swap event.</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Would you join a time bank? | “I think I would, because… / I’m not sure because…”</a:t>
            </a:r>
          </a:p>
          <a:p>
            <a:r>
              <a:t>2. What skills could you offer? | “I could offer… / I’d be happy to help with…”</a:t>
            </a:r>
          </a:p>
          <a:p>
            <a:r>
              <a:t>3. Can the time-bank idea work in a company? | “It could work for… e.g. mentoring swaps.”</a:t>
            </a:r>
          </a:p>
          <a:p>
            <a:r>
              <a:t>4. Is money the best way to value work? | “Money is convenient, but it doesn’t capture…”</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“Money is convenient and flexible, but it doesn’t capture everything of value. Care work, community support and mentoring are valuable but often underpaid or unpaid. Systems like time banks recognise this by valuing every hour equally. Still, money has advantages: it’s widely accepted, easy to store and lets people choose what to spend on. So I’d say money works well for markets, while other systems can complement it.”</a:t>
            </a:r>
          </a:p>
          <a:p>
            <a:r>
              <a:t>capture = 体现。”underpaid” = 报酬过低。complement = 补充。”easy to store” = 便于储存。</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Everyone helps everyone. | Members help each other on a reciprocal basis. | 术语</a:t>
            </a:r>
          </a:p>
          <a:p>
            <a:r>
              <a:t>No money. | Without exchanging money. | 完整</a:t>
            </a:r>
          </a:p>
          <a:p>
            <a:r>
              <a:t>I give you, you give me. | We swap skills. | 动词</a:t>
            </a:r>
          </a:p>
          <a:p>
            <a:r>
              <a:t>The group lives together. | It strengthens the local community. | 搭配</a:t>
            </a:r>
          </a:p>
          <a:p>
            <a:r>
              <a:t>It’s not for business. | It is a non-profit scheme. | 术语</a:t>
            </a:r>
          </a:p>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Explaining a process: works by -ing, is based on, involves.</a:t>
            </a:r>
          </a:p>
          <a:p>
            <a:r>
              <a:t>Examples: for example, such as, like, e.g.</a:t>
            </a:r>
          </a:p>
          <a:p>
            <a:r>
              <a:t>Offers: I could offer…, I’d be happy to…, How about…?</a:t>
            </a:r>
          </a:p>
          <a:p>
            <a:r>
              <a:t>Present simple for processes; passive: “Credits are earned and spent.”</a:t>
            </a:r>
          </a:p>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A time bank work by exchange hours.  →  ✓ A time bank works by exchanging hours.  (by + -ing)</a:t>
            </a:r>
          </a:p>
          <a:p>
            <a:r>
              <a:t>✗ I give you teaching for you give me help.  →  ✓ I’ll teach you in exchange for your help.  (in exchange for)</a:t>
            </a:r>
          </a:p>
          <a:p>
            <a:r>
              <a:t>✗ Volunteer is good.  →  ✓ Volunteering is good.  (动名词)</a:t>
            </a:r>
          </a:p>
          <a:p>
            <a:r>
              <a:t>Mistake Watch: Check by + -ing, benefit (transitive), and noun/verb forms (volunteer).</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volunteer in a charity.  →  ✓ I volunteer for a charity.  (动词)</a:t>
            </a:r>
          </a:p>
          <a:p>
            <a:r>
              <a:t>✗ It benefits to the community.  →  ✓ It benefits the community.  (benefit 及物)</a:t>
            </a:r>
          </a:p>
          <a:p>
            <a:r>
              <a:t>✗ They changed time for money.  →  ✓ They exchanged time for money.  (exchange)</a:t>
            </a:r>
          </a:p>
          <a:p>
            <a:r>
              <a:t>Mistake Watch: Check by + -ing, benefit (transitive), and noun/verb forms (volunteer).</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Volunteering culture: In UK/US, volunteering is common and often listed on CVs.</a:t>
            </a:r>
          </a:p>
          <a:p>
            <a:r>
              <a:t>Tax: Exchanging services can have tax implications in some countries.</a:t>
            </a:r>
          </a:p>
          <a:p>
            <a:r>
              <a:t>Safety: Reputable schemes check and support members.</a:t>
            </a:r>
          </a:p>
          <a:p>
            <a:r>
              <a:t>by + -ing;benefit 是及物动词;exchange A for B。介绍机制时先概念、再例子、最后局限。</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how a time bank works.</a:t>
            </a:r>
          </a:p>
          <a:p>
            <a:r>
              <a:t>I can evaluate the idea with pros and cons.</a:t>
            </a:r>
          </a:p>
          <a:p>
            <a:r>
              <a:t>I can use by + -ing and in exchange for correctly.</a:t>
            </a:r>
          </a:p>
          <a:p>
            <a:r>
              <a:t>I can use benefit (transitive) and volunteer forms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by + -ing, exchange / swap for, and transitive benefit.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88 · The Horror Business 恐怖产业</a:t>
            </a:r>
          </a:p>
          <a:p>
            <a:r>
              <a:t>Goal: talk about the horror entertainment business: why scary stories sell, budgets and returns, genres, audiences and what other industries can learn.</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genre = 体裁/类型。low-budget = 低成本。franchise = 系列作品。第 3 题思考:budget vs box office。</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why a genre can be a good business and discuss its risks.</a:t>
            </a:r>
          </a:p>
          <a:p>
            <a:r>
              <a:t>Say: audience → costs → revenue → risk → lesson</a:t>
            </a:r>
          </a:p>
          <a:p>
            <a:r>
              <a:t>Useful starters: “One reason it’s profitable is…” / “It tends to appeal to…” / “The downside is that…”</a:t>
            </a:r>
          </a:p>
          <a:p>
            <a:r>
              <a:t>appeal to = 吸引。tends to 表示倾向。the downside is that… 说明风险。</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Horror has long been a reliable genre for film, books and games. One reason is cost: a successful horror film does not always need famous actors or expensive effects, so budgets can be modest while returns can be strong. Another is the audience. Horror tends to attract younger viewers who enjoy shared, intense experiences, and it travels well across languages because fear needs little translation. Successful titles often become franchises, creating sequels, merchandise and streaming rights. However, the model has risks. Audiences quickly tire of repeated formulas, and a poorly made film can fail. Studios therefore look for fresh ideas within the genre, test early versions with audiences and watch reactions on social media. For other businesses, the lesson is that a clear niche, a modest budget and strong word of mouth can be powerful.</a:t>
            </a:r>
          </a:p>
          <a:p>
            <a:r>
              <a:t>modest = 适度的/不高的。franchise = 系列作品。merchandise = 周边商品。formula = 套路。</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can horror films be profitable?</a:t>
            </a:r>
          </a:p>
          <a:p>
            <a:r>
              <a:t>A: Budgets can be modest, and returns can be strong.</a:t>
            </a:r>
          </a:p>
          <a:p>
            <a:r>
              <a:t>Q2. Why does horror travel well?</a:t>
            </a:r>
          </a:p>
          <a:p>
            <a:r>
              <a:t>A: Fear needs little translation, so it works across languages.</a:t>
            </a:r>
          </a:p>
          <a:p>
            <a:r>
              <a:t>Q3. What risks does the genre face?</a:t>
            </a:r>
          </a:p>
          <a:p>
            <a:r>
              <a:t>A: Audiences tire of repeated formulas, and poorly made films can fail.</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Entertainment business terms 娱乐产业术语</a:t>
            </a:r>
          </a:p>
          <a:p>
            <a:r>
              <a:t>领读 → 学员跟读 → 请学员用表达造一个和自己工作相关的句子。</a:t>
            </a:r>
          </a:p>
          <a:p>
            <a:r>
              <a:t>budget (noun) 预算 — “The film had a small budget.”</a:t>
            </a:r>
          </a:p>
          <a:p>
            <a:r>
              <a:t>box office (noun) 票房 — “The film did well at the box office.”</a:t>
            </a:r>
          </a:p>
          <a:p>
            <a:r>
              <a:t>return on investment (noun) 投资回报 — “The return on investment was high.”</a:t>
            </a:r>
          </a:p>
          <a:p>
            <a:r>
              <a:t>franchise (noun) 系列作品 / 特许经营 — “It became a franchise.”</a:t>
            </a:r>
          </a:p>
          <a:p>
            <a:r>
              <a:t>sequel (noun) 续集 — “The sequel earned more.”</a:t>
            </a:r>
          </a:p>
          <a:p>
            <a:r>
              <a:t>merchandise (noun (uncountable)) 周边商品 — “Merchandise adds revenue.”</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Genre and audience ★ 类型与观众</a:t>
            </a:r>
          </a:p>
          <a:p>
            <a:r>
              <a:t>领读 → 学员跟读 → 请学员用表达造一个和自己工作相关的句子。</a:t>
            </a:r>
          </a:p>
          <a:p>
            <a:r>
              <a:t>★ niche audience (noun phrase) 小众观众 — “The film has a niche audience.”</a:t>
            </a:r>
          </a:p>
          <a:p>
            <a:r>
              <a:t>★ sleeper hit (noun phrase) 意外热门 — “The film was a sleeper hit.”</a:t>
            </a:r>
          </a:p>
          <a:p>
            <a:r>
              <a:t>★ cash in on (phrasal verb) 借机赚钱 — “Studios cash in on trends.”</a:t>
            </a:r>
          </a:p>
          <a:p>
            <a:r>
              <a:t>★ run out of steam (idiom) 失去动力 — “The series ran out of steam.”</a:t>
            </a:r>
          </a:p>
          <a:p>
            <a:r>
              <a:t>★ word-of-mouth success (noun phrase) 口碑成功 — “It was a word-of-mouth success.”</a:t>
            </a:r>
          </a:p>
          <a:p>
            <a:r>
              <a:t>★ a safe bet (idiom) 稳妥选择 — “Horror is considered a safe bet.”</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budget / box office / return on investment / franchise / merchandise / sleeper hit</a:t>
            </a:r>
          </a:p>
          <a:p>
            <a:r>
              <a:t>1. The film was made on a small _______. → budget</a:t>
            </a:r>
          </a:p>
          <a:p>
            <a:r>
              <a:t>2. It did very well at the _______. → box office</a:t>
            </a:r>
          </a:p>
          <a:p>
            <a:r>
              <a:t>3. Investors want a good _______. → return on investment</a:t>
            </a:r>
          </a:p>
          <a:p>
            <a:r>
              <a:t>4. The popular series became a global _______. → franchise</a:t>
            </a:r>
          </a:p>
          <a:p>
            <a:r>
              <a:t>5. Toys and clothing are examples of _______. → merchandise</a:t>
            </a:r>
          </a:p>
          <a:p>
            <a:r>
              <a:t>6. The low-budget film became a _______. → sleeper hit</a:t>
            </a:r>
          </a:p>
          <a:p>
            <a:r>
              <a:t>Mistake Watch (拼写与搭配): horror (not “horrer”), genre /ˈʒɒnrə/, franchise. Do well at the box office (not “in”). On a small budget. Release a film, release date. Gross (earnings), net. Audience is a collective noun (the audience is / are). Frightening (adj) vs frightened (feel).</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Discussing why horror sells 讨论恐怖题材为何畅销</a:t>
            </a:r>
          </a:p>
          <a:p>
            <a:r>
              <a:t>情景：Two colleagues at a media company discuss whether to invest in a horror project.</a:t>
            </a:r>
          </a:p>
          <a:p>
            <a:r>
              <a:t>Role A: Cleo Ng, producer (you) Role B: Mr Nash, finance director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(Cleo): Mr Nash, I’d like to propose investing in a low-budget horror film.</a:t>
            </a:r>
          </a:p>
          <a:p>
            <a:r>
              <a:t>B (Mr Nash): Why horror?</a:t>
            </a:r>
          </a:p>
          <a:p>
            <a:r>
              <a:t>A: One reason it’s profitable is cost. We can make it with a small cast and a modest budget.</a:t>
            </a:r>
          </a:p>
          <a:p>
            <a:r>
              <a:t>B: And the revenue?</a:t>
            </a:r>
          </a:p>
          <a:p>
            <a:r>
              <a:t>A: Horror tends to appeal to younger audiences, who go to the cinema in groups. It also works internationally.</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What are the risks?</a:t>
            </a:r>
          </a:p>
          <a:p>
            <a:r>
              <a:t>A: The downside is that audiences get tired of formulas. We need a fresh idea.</a:t>
            </a:r>
          </a:p>
          <a:p>
            <a:r>
              <a:t>B: What’s different about this one?</a:t>
            </a:r>
          </a:p>
          <a:p>
            <a:r>
              <a:t>A: A new setting and a strong script. We’d test it with a small audience first.</a:t>
            </a:r>
          </a:p>
          <a:p>
            <a:r>
              <a:t>B: What would success look like?</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Covering costs through the box office and earning more from streaming rights.</a:t>
            </a:r>
          </a:p>
          <a:p>
            <a:r>
              <a:t>B: And if it fails?</a:t>
            </a:r>
          </a:p>
          <a:p>
            <a:r>
              <a:t>A: The loss would be limited because the budget is small.</a:t>
            </a:r>
          </a:p>
          <a:p>
            <a:r>
              <a:t>B: All right. Please send a detailed plan.</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88 | </a:t>
            </a:r>
          </a:p>
          <a:p>
            <a:r>
              <a:t>Situation | You pitch a creative project to finance.</a:t>
            </a:r>
          </a:p>
          <a:p>
            <a:r>
              <a:t>Your role (A) | Producer. Project: ______________</a:t>
            </a:r>
          </a:p>
          <a:p>
            <a:r>
              <a:t>Partner’s role (B) | Finance director. Ask about risk and return.</a:t>
            </a:r>
          </a:p>
          <a:p>
            <a:r>
              <a:t>Must use (4 or more) | one reason · tends to appeal · the downside is · budget · return · test</a:t>
            </a:r>
          </a:p>
          <a:p>
            <a:r>
              <a:t>Goal | Present reasons, risks and a limited-risk plan.</a:t>
            </a:r>
          </a:p>
          <a:p>
            <a:r>
              <a:t>My notes | ____________________________________________</a:t>
            </a:r>
          </a:p>
          <a:p>
            <a:r>
              <a:t>Mr Nash says: “Horror is out of fashion.” Respond.</a:t>
            </a:r>
          </a:p>
          <a:p>
            <a:r>
              <a:t>Explain why niche audiences can be valuable.</a:t>
            </a:r>
          </a:p>
          <a:p>
            <a:r>
              <a:t>Suggest how another industry can use “low budget, high impact”.</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Why do people enjoy being scared? | “Because it gives a safe thrill…”</a:t>
            </a:r>
          </a:p>
          <a:p>
            <a:r>
              <a:t>2. Is horror a safe business bet? | “It’s relatively safe because… but…”</a:t>
            </a:r>
          </a:p>
          <a:p>
            <a:r>
              <a:t>3. Should there be limits on scary content? | “Age ratings help… / Content should be…”</a:t>
            </a:r>
          </a:p>
          <a:p>
            <a:r>
              <a:t>4. What can other industries learn from the horror business? | “They can learn to… / Focus on a niche…”</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“Other industries can learn that a clear niche, tight cost control and word of mouth can work better than a big budget. Horror producers often succeed by focusing on a story that resonates with a specific audience rather than trying to please everyone. They also test ideas early and listen to audience reactions. The same approach can help start-ups in food, fashion or software.”</a:t>
            </a:r>
          </a:p>
          <a:p>
            <a:r>
              <a:t>resonate with = 引起共鸣。tight = 严格的。”please everyone” = 讨好所有人。niche = 利基。</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Horror makes money. | Horror films can generate healthy returns. | 具体</a:t>
            </a:r>
          </a:p>
          <a:p>
            <a:r>
              <a:t>People like fear. | Audiences enjoy the thrill of being scared. | 具体</a:t>
            </a:r>
          </a:p>
          <a:p>
            <a:r>
              <a:t>It had no money. | It was made on a shoestring budget. | 习语</a:t>
            </a:r>
          </a:p>
          <a:p>
            <a:r>
              <a:t>Everybody watched it. | It became a word-of-mouth success. | 具体</a:t>
            </a:r>
          </a:p>
          <a:p>
            <a:r>
              <a:t>The story is weak. | The plot feels predictable. | 具体</a:t>
            </a:r>
          </a:p>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Giving reasons: One reason is…, Another factor is…, This is partly because…</a:t>
            </a:r>
          </a:p>
          <a:p>
            <a:r>
              <a:t>Contrasting risk and reward: On the one hand… On the other hand…</a:t>
            </a:r>
          </a:p>
          <a:p>
            <a:r>
              <a:t>Adjectives -ed / -ing: frightening film / frightened viewers; terrifying / terrified.</a:t>
            </a:r>
          </a:p>
          <a:p>
            <a:r>
              <a:t>Collective nouns: “The audience is growing” (as one group) / “The audience are arriving” (individuals; UK).</a:t>
            </a:r>
          </a:p>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film is very frighten.  →  ✓ The film is very frightening.  (-ing)</a:t>
            </a:r>
          </a:p>
          <a:p>
            <a:r>
              <a:t>✗ I was frightening.  →  ✓ I was frightened.  (-ed)</a:t>
            </a:r>
          </a:p>
          <a:p>
            <a:r>
              <a:t>✗ The audiences is big.  →  ✓ The audience is big.  (audience 单数)</a:t>
            </a:r>
          </a:p>
          <a:p>
            <a:r>
              <a:t>Mistake Watch: Check -ed / -ing adjectives, do well, and uncountable money.</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earned a big money.  →  ✓ It earned a lot of money.  (money 不可数)</a:t>
            </a:r>
          </a:p>
          <a:p>
            <a:r>
              <a:t>✗ The movie did good.  →  ✓ The movie did well.  (adverb)</a:t>
            </a:r>
          </a:p>
          <a:p>
            <a:r>
              <a:t>✗ The profit was high in the box office.  →  ✓ It did well at the box office.  (at)</a:t>
            </a:r>
          </a:p>
          <a:p>
            <a:r>
              <a:t>Mistake Watch: Check -ed / -ing adjectives, do well, and uncountable money.</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Age ratings: Content is classified differently by country. Be careful with content for minors.</a:t>
            </a:r>
          </a:p>
          <a:p>
            <a:r>
              <a:t>Cultural fears: What frightens people varies by culture, so adaptation matters.</a:t>
            </a:r>
          </a:p>
          <a:p>
            <a:r>
              <a:t>Taste: Avoid assuming everyone enjoys violent content; consider audience sensitivity.</a:t>
            </a:r>
          </a:p>
          <a:p>
            <a:r>
              <a:t>frightening(令人害怕的)/ frightened(感到害怕的);do well;money 不可数。商业角度分析时看成本、观众、风险与回报。</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why a genre can be profitable.</a:t>
            </a:r>
          </a:p>
          <a:p>
            <a:r>
              <a:t>I can discuss risks and audiences.</a:t>
            </a:r>
          </a:p>
          <a:p>
            <a:r>
              <a:t>I can use -ed / -ing adjectives correctly.</a:t>
            </a:r>
          </a:p>
          <a:p>
            <a:r>
              <a:t>I can use do well and uncountable money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-ed / -ing adjectives, do well, and collective nouns.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89 · The Business of Gaming 游戏行业</a:t>
            </a:r>
          </a:p>
          <a:p>
            <a:r>
              <a:t>Goal: discuss the games industry as a business: revenue models, platforms, marketing, communities, competition and trends.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free-to-play = 免费游玩;in-app purchase = 应用内购买;subscription = 订阅;monetise = 变现。第 2 题是重点:商业模式。</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how a game company makes money and what challenges it faces.</a:t>
            </a:r>
          </a:p>
          <a:p>
            <a:r>
              <a:t>Say: revenue models → audience → competition → challenges</a:t>
            </a:r>
          </a:p>
          <a:p>
            <a:r>
              <a:t>Useful starters: “The main revenue models are…” / “Players can…” / “The industry faces challenges such as…”</a:t>
            </a:r>
          </a:p>
          <a:p>
            <a:r>
              <a:t>such as 举例。revenue model = 收入模式。 faces challenges 表示面临。</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The games industry is large and competitive. Companies earn money in several ways: selling games at a fixed price, offering free-to-play titles with optional purchases, charging subscriptions or earning from advertising. Online communities are crucial, because active players recommend games, create content and stay loyal. Development can be expensive and risky; teams may work for years on a title that does not find an audience. Marketing, therefore, often starts early, with trailers, demos and conversations with players. Competition is intense, as thousands of new games appear each year, and keeping players engaged requires updates and events. Critics raise concerns about excessive spending, addictive design and working conditions in studios. Many companies are now trying to be more transparent, protect younger players and treat staff fairly.</a:t>
            </a:r>
          </a:p>
          <a:p>
            <a:r>
              <a:t>title = 游戏作品。trailer = 预告片。demo = 试玩版。engaged = 持续投入的。</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How do game companies earn money?</a:t>
            </a:r>
          </a:p>
          <a:p>
            <a:r>
              <a:t>A: Fixed-price sales, free-to-play with optional purchases, subscriptions and advertising.</a:t>
            </a:r>
          </a:p>
          <a:p>
            <a:r>
              <a:t>Q2. Why are online communities important?</a:t>
            </a:r>
          </a:p>
          <a:p>
            <a:r>
              <a:t>A: Active players recommend games, create content and stay loyal.</a:t>
            </a:r>
          </a:p>
          <a:p>
            <a:r>
              <a:t>Q3. What concerns are raised?</a:t>
            </a:r>
          </a:p>
          <a:p>
            <a:r>
              <a:t>A: Excessive spending, addictive design and working conditions in studios.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Games business 游戏商业</a:t>
            </a:r>
          </a:p>
          <a:p>
            <a:r>
              <a:t>领读 → 学员跟读 → 请学员用表达造一个和自己工作相关的句子。</a:t>
            </a:r>
          </a:p>
          <a:p>
            <a:r>
              <a:t>free-to-play (adjective) 免费游玩的 — “The game is free-to-play.”</a:t>
            </a:r>
          </a:p>
          <a:p>
            <a:r>
              <a:t>in-app purchase (noun) 应用内购买 — “In-app purchases make up most revenue.”</a:t>
            </a:r>
          </a:p>
          <a:p>
            <a:r>
              <a:t>subscription (noun) 订阅 — “A monthly subscription gives access.”</a:t>
            </a:r>
          </a:p>
          <a:p>
            <a:r>
              <a:t>player base (noun) 玩家群体 — “The player base is growing.”</a:t>
            </a:r>
          </a:p>
          <a:p>
            <a:r>
              <a:t>publisher / developer (noun) 发行商 / 开发商 — “The developer works with a publisher.”</a:t>
            </a:r>
          </a:p>
          <a:p>
            <a:r>
              <a:t>monetise (verb) 变现 — “How do you monetise a free game?”</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Players and markets ★ 玩家与市场</a:t>
            </a:r>
          </a:p>
          <a:p>
            <a:r>
              <a:t>领读 → 学员跟读 → 请学员用表达造一个和自己工作相关的句子。</a:t>
            </a:r>
          </a:p>
          <a:p>
            <a:r>
              <a:t>★ engagement (noun) 用户粘性 — “Engagement is key.”</a:t>
            </a:r>
          </a:p>
          <a:p>
            <a:r>
              <a:t>★ retention (noun) 留存 — “Player retention drives revenue.”</a:t>
            </a:r>
          </a:p>
          <a:p>
            <a:r>
              <a:t>★ go viral (verb phrase) 迅速走红 — “The trailer went viral.”</a:t>
            </a:r>
          </a:p>
          <a:p>
            <a:r>
              <a:t>★ cross-platform (adjective) 跨平台的 — “It’s a cross-platform game.”</a:t>
            </a:r>
          </a:p>
          <a:p>
            <a:r>
              <a:t>★ crunch (noun) 赶工(加班) — “Studios face crunch before launch.”</a:t>
            </a:r>
          </a:p>
          <a:p>
            <a:r>
              <a:t>★ live service (noun phrase) 持续运营服务型游戏 — “It’s a live service game with regular updates.”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free-to-play / in-app purchase / subscription / player base / monetise / retention</a:t>
            </a:r>
          </a:p>
          <a:p>
            <a:r>
              <a:t>1. Many mobile games are _______ but earn money from extras. → free-to-play</a:t>
            </a:r>
          </a:p>
          <a:p>
            <a:r>
              <a:t>2. A skin costs £2 as an _______. → in-app purchase</a:t>
            </a:r>
          </a:p>
          <a:p>
            <a:r>
              <a:t>3. A monthly _______ gives access to many games. → subscription</a:t>
            </a:r>
          </a:p>
          <a:p>
            <a:r>
              <a:t>4. The game has built a loyal _______ over five years. → player base</a:t>
            </a:r>
          </a:p>
          <a:p>
            <a:r>
              <a:t>5. It’s hard to _______ a game without annoying players. → monetise</a:t>
            </a:r>
          </a:p>
          <a:p>
            <a:r>
              <a:t>6. Good updates improve player _______. → retention</a:t>
            </a:r>
          </a:p>
          <a:p>
            <a:r>
              <a:t>Mistake Watch (拼写与搭配): gaming (the activity), video game, developer (not “developper”), subscription. Play a game, a computer game. Release / launch a game, update, patch. Players (not “gamers” in all contexts). Publisher / studio. Revenue from, spend on. Monetise (UK) / monetize (US).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a game’s business model 讲解游戏的商业模式</a:t>
            </a:r>
          </a:p>
          <a:p>
            <a:r>
              <a:t>情景：You explain to a new investor how your mobile game earns money.</a:t>
            </a:r>
          </a:p>
          <a:p>
            <a:r>
              <a:t>Role A: Ray Xie, game studio founder (you) Role B: Ms Carr, investor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(Ray): Ms Carr, thanks for meeting. I’d like to explain how our game makes money.</a:t>
            </a:r>
          </a:p>
          <a:p>
            <a:r>
              <a:t>B (Ms Carr): Please. Is it paid or free?</a:t>
            </a:r>
          </a:p>
          <a:p>
            <a:r>
              <a:t>A: It’s free-to-play. Players can download it for free and buy optional items.</a:t>
            </a:r>
          </a:p>
          <a:p>
            <a:r>
              <a:t>B: What percentage of players spend money?</a:t>
            </a:r>
          </a:p>
          <a:p>
            <a:r>
              <a:t>A: A small percentage, but they account for most of the revenue.</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B: That sounds risky.</a:t>
            </a:r>
          </a:p>
          <a:p>
            <a:r>
              <a:t>A: It is, so retention is crucial. We release regular updates and events to keep players engaged.</a:t>
            </a:r>
          </a:p>
          <a:p>
            <a:r>
              <a:t>B: What about competition?</a:t>
            </a:r>
          </a:p>
          <a:p>
            <a:r>
              <a:t>A: It’s intense. Thousands of games appear each year, so we focus on a niche community and word of mouth.</a:t>
            </a:r>
          </a:p>
          <a:p>
            <a:r>
              <a:t>B: What are the main challenges?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Keeping costs under control and treating players fairly. We avoid pressuring them to spend.</a:t>
            </a:r>
          </a:p>
          <a:p>
            <a:r>
              <a:t>B: Good. And how will you use the funding?</a:t>
            </a:r>
          </a:p>
          <a:p>
            <a:r>
              <a:t>A: Mostly marketing and a new development team.</a:t>
            </a:r>
          </a:p>
          <a:p>
            <a:r>
              <a:t>B: Send me the numbers, and we’ll talk again.</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89 | </a:t>
            </a:r>
          </a:p>
          <a:p>
            <a:r>
              <a:t>Situation | You explain a game business model.</a:t>
            </a:r>
          </a:p>
          <a:p>
            <a:r>
              <a:t>Your role (A) | Founder. Game: ______________</a:t>
            </a:r>
          </a:p>
          <a:p>
            <a:r>
              <a:t>Partner’s role (B) | Investor. Ask about revenue, risk and competition.</a:t>
            </a:r>
          </a:p>
          <a:p>
            <a:r>
              <a:t>Must use (4 or more) | revenue model · free-to-play · retention · engagement · challenges · fairly</a:t>
            </a:r>
          </a:p>
          <a:p>
            <a:r>
              <a:t>Goal | Explain income sources and one challenge.</a:t>
            </a:r>
          </a:p>
          <a:p>
            <a:r>
              <a:t>My notes | ____________________________________________</a:t>
            </a:r>
          </a:p>
          <a:p>
            <a:r>
              <a:t>Ms Carr asks: “Is the model ethical?” Respond.</a:t>
            </a:r>
          </a:p>
          <a:p>
            <a:r>
              <a:t>Describe your favourite game’s business model.</a:t>
            </a:r>
          </a:p>
          <a:p>
            <a:r>
              <a:t>Suggest ways to keep players engaged without pressure.</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Is gaming a good business to be in? | “It can be… but it’s also risky because…”</a:t>
            </a:r>
          </a:p>
          <a:p>
            <a:r>
              <a:t>2. How should game companies treat young players? | “They should protect… by…”</a:t>
            </a:r>
          </a:p>
          <a:p>
            <a:r>
              <a:t>3. What makes a game succeed commercially? | “A strong community, quality and…”</a:t>
            </a:r>
          </a:p>
          <a:p>
            <a:r>
              <a:t>4. Will gaming keep growing? | “It will probably… but competition…”</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“Game companies have a duty to protect younger players, who may not understand the cost of in-game purchases. That means clear pricing, spending limits, age checks and avoiding design tricks that pressure children to spend. Parents also have a role, but companies should not rely on that alone. Being responsible is not just ethical; it also protects the company’s reputation and avoids stricter regulation.”</a:t>
            </a:r>
          </a:p>
          <a:p>
            <a:r>
              <a:t>duty = 义务。age checks = 年龄验证。”design tricks” = 设计技巧(诱导)。regulation = 监管。</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Register ladder: everyday → more professional 语体对比</a:t>
            </a:r>
          </a:p>
          <a:p>
            <a:r>
              <a:t>Everyday / neutral | More professional (B2) | 中文</a:t>
            </a:r>
          </a:p>
          <a:p>
            <a:r>
              <a:t>Game is free. | The game is free to download. | 完整</a:t>
            </a:r>
          </a:p>
          <a:p>
            <a:r>
              <a:t>People pay for items. | Players can buy optional items. | 具体</a:t>
            </a:r>
          </a:p>
          <a:p>
            <a:r>
              <a:t>It’s popular. | It has a large and active player base. | 具体</a:t>
            </a:r>
          </a:p>
          <a:p>
            <a:r>
              <a:t>Game makers earn. | Developers earn revenue through sales and in-app purchases. | 具体</a:t>
            </a:r>
          </a:p>
          <a:p>
            <a:r>
              <a:t>The game is too hard to quit. | The game is designed to keep players engaged. | 中性</a:t>
            </a:r>
          </a:p>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Useful points </a:t>
            </a:r>
          </a:p>
          <a:p>
            <a:r>
              <a:t>Explaining business models: We make money by -ing, Revenue comes from…, Players can…</a:t>
            </a:r>
          </a:p>
          <a:p>
            <a:r>
              <a:t>Passive for features: “Updates are released monthly.”</a:t>
            </a:r>
          </a:p>
          <a:p>
            <a:r>
              <a:t>Frequency and quantity: a small percentage, the majority, most, a minority.</a:t>
            </a:r>
          </a:p>
          <a:p>
            <a:r>
              <a:t>Responsibility: should, ought to, have a duty to, are required to.</a:t>
            </a:r>
          </a:p>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The game is playing by millions.  →  ✓ The game is played by millions.  (被动)</a:t>
            </a:r>
          </a:p>
          <a:p>
            <a:r>
              <a:t>✗ Gamers spends a lot.  →  ✓ Gamers spend a lot.  (主谓一致)</a:t>
            </a:r>
          </a:p>
          <a:p>
            <a:r>
              <a:t>✗ I like play games.  →  ✓ I like playing games.  (like + -ing)</a:t>
            </a:r>
          </a:p>
          <a:p>
            <a:r>
              <a:t>Mistake Watch: Check passive forms, hyphenated compounds and from + -ing.</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A big percent of players pay.  →  ✓ A large percentage of players pay.  (percentage)</a:t>
            </a:r>
          </a:p>
          <a:p>
            <a:r>
              <a:t>✗ It’s free to play game.  →  ✓ It’s a free-to-play game.  (连字符)</a:t>
            </a:r>
          </a:p>
          <a:p>
            <a:r>
              <a:t>✗ The company earns money from sell items.  →  ✓ The company earns money from selling items.  (from + -ing)</a:t>
            </a:r>
          </a:p>
          <a:p>
            <a:r>
              <a:t>Mistake Watch: Check passive forms, hyphenated compounds and from + -ing.</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Regulation: Rules on loot boxes and children’s spending vary across countries.</a:t>
            </a:r>
          </a:p>
          <a:p>
            <a:r>
              <a:t>Language: “Gamer” culture has its own jargon; avoid assuming everyone knows it.</a:t>
            </a:r>
          </a:p>
          <a:p>
            <a:r>
              <a:t>Ethics: Responsible design and clear pricing are becoming business priorities.</a:t>
            </a:r>
          </a:p>
          <a:p>
            <a:r>
              <a:t>free-to-play 作形容词连字符;from + -ing;percentage 才对(percent 是数字后的词)。讲商业模式要说明谁付钱、为什么付、如何持续。</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a game company’s business model.</a:t>
            </a:r>
          </a:p>
          <a:p>
            <a:r>
              <a:t>I can discuss responsibility and regulation.</a:t>
            </a:r>
          </a:p>
          <a:p>
            <a:r>
              <a:t>I can use passive voice and hyphenated compounds.</a:t>
            </a:r>
          </a:p>
          <a:p>
            <a:r>
              <a:t>I can use from + -ing and percentage correctly.</a:t>
            </a:r>
          </a:p>
          <a:p>
            <a:r>
              <a:t>I can use at least five of the 12 expressions (two of them ★) without looking, and I can avoid the mistakes in the table.</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12 expressions aloud. Cover the English and say it from the Chinese. Start with the ★ items.</a:t>
            </a:r>
          </a:p>
          <a:p>
            <a:r>
              <a:t>2–4 | Listen to the Reading / Listening focus with the text covered. Answer the 3 questions, then read and check.</a:t>
            </a:r>
          </a:p>
          <a:p>
            <a:r>
              <a:t>4–7 | Shadow the model dialogue (same rhythm and intonation), then play A with the blank role card. Record yourself.</a:t>
            </a:r>
          </a:p>
          <a:p>
            <a:r>
              <a:t>7–10 | Listen to the recording. Check: passive voice, hyphenated compounds, and percentage. Write 3 corrections.</a:t>
            </a:r>
          </a:p>
          <a:p>
            <a:r>
              <a:t>Weekly rhythm: Mon–Tue vocabulary + reading · Wed–Thu role play · Fri level-up variation + discussion answers · Weekend: record the 1-minute speaking prompt again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“感到孤立” in English? → feel isolated</a:t>
            </a:r>
          </a:p>
          <a:p>
            <a:r>
              <a:t>“稳妥选择” in English? → a safe bet</a:t>
            </a:r>
          </a:p>
          <a:p>
            <a:r>
              <a:t>“客户” in English? → client</a:t>
            </a:r>
          </a:p>
          <a:p>
            <a:r>
              <a:t>Fix it: They changed time for money. → They exchanged time for money.</a:t>
            </a:r>
          </a:p>
          <a:p>
            <a:r>
              <a:t>Fix it: I have few money. → I have little money.</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27.xml"/><Relationship Id="rId5" Type="http://schemas.openxmlformats.org/officeDocument/2006/relationships/slide" Target="slide50.xml"/><Relationship Id="rId6" Type="http://schemas.openxmlformats.org/officeDocument/2006/relationships/slide" Target="slide73.xml"/><Relationship Id="rId7" Type="http://schemas.openxmlformats.org/officeDocument/2006/relationships/slide" Target="slide96.xml"/><Relationship Id="rId8" Type="http://schemas.openxmlformats.org/officeDocument/2006/relationships/slide" Target="slide119.xml"/><Relationship Id="rId9" Type="http://schemas.openxmlformats.org/officeDocument/2006/relationships/slide" Target="slide141.xml"/><Relationship Id="rId10" Type="http://schemas.openxmlformats.org/officeDocument/2006/relationships/slide" Target="slide164.xml"/><Relationship Id="rId11" Type="http://schemas.openxmlformats.org/officeDocument/2006/relationships/slide" Target="slide186.xml"/><Relationship Id="rId12" Type="http://schemas.openxmlformats.org/officeDocument/2006/relationships/slide" Target="slide208.xml"/><Relationship Id="rId13" Type="http://schemas.openxmlformats.org/officeDocument/2006/relationships/slide" Target="slide23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5.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6.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8.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9.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0.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1.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3.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4.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5.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6.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8.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9.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0.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1.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3.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4.xml"/><Relationship Id="rId4" Type="http://schemas.openxmlformats.org/officeDocument/2006/relationships/slide" Target="slide255.xml"/><Relationship Id="rId5" Type="http://schemas.openxmlformats.org/officeDocument/2006/relationships/slide" Target="slide256.xml"/><Relationship Id="rId6" Type="http://schemas.openxmlformats.org/officeDocument/2006/relationships/slide" Target="slide257.xml"/><Relationship Id="rId7" Type="http://schemas.openxmlformats.org/officeDocument/2006/relationships/slide" Target="slide258.xml"/><Relationship Id="rId8" Type="http://schemas.openxmlformats.org/officeDocument/2006/relationships/slide" Target="slide259.xml"/><Relationship Id="rId9" Type="http://schemas.openxmlformats.org/officeDocument/2006/relationships/slide" Target="slide260.xml"/><Relationship Id="rId10" Type="http://schemas.openxmlformats.org/officeDocument/2006/relationships/slide" Target="slide261.xml"/><Relationship Id="rId11" Type="http://schemas.openxmlformats.org/officeDocument/2006/relationships/slide" Target="slide262.xml"/><Relationship Id="rId12" Type="http://schemas.openxmlformats.org/officeDocument/2006/relationships/slide" Target="slide263.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4.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4.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4.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4.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4.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4.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4.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4.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4.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5.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6.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9</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9-10 · UNIT 9</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5200" b="1">
                <a:solidFill>
                  <a:srgbClr val="FFFFFF"/>
                </a:solidFill>
                <a:latin typeface="Arial"/>
                <a:ea typeface="Microsoft YaHei"/>
              </a:rPr>
              <a:t>Entrepreneurship and New Business Models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645920"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11 Lessons</a:t>
            </a:r>
          </a:p>
        </p:txBody>
      </p:sp>
      <p:sp>
        <p:nvSpPr>
          <p:cNvPr id="12" name="Rounded Rectangle 11"/>
          <p:cNvSpPr/>
          <p:nvPr/>
        </p:nvSpPr>
        <p:spPr>
          <a:xfrm>
            <a:off x="4389120"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L79 Getting Into Business · L80 Being an Entrepreneur · L81 Why Businesses Fail · L82 Low-Cost Businesses · L83 How to Succeed as a Freelancer · L84 Remote Business · L85 Clickworkers · L86 Salaries and Side Hustles  +3 more</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2636443"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6400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79</a:t>
            </a:r>
          </a:p>
        </p:txBody>
      </p:sp>
      <p:sp>
        <p:nvSpPr>
          <p:cNvPr id="9" name="TextBox 8"/>
          <p:cNvSpPr txBox="1"/>
          <p:nvPr/>
        </p:nvSpPr>
        <p:spPr>
          <a:xfrm>
            <a:off x="1417320" y="158191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Getting Into Business</a:t>
            </a:r>
          </a:p>
          <a:p>
            <a:pPr algn="l">
              <a:lnSpc>
                <a:spcPct val="100000"/>
              </a:lnSpc>
              <a:spcAft>
                <a:spcPts val="800"/>
              </a:spcAft>
            </a:pPr>
            <a:r>
              <a:rPr sz="1400" b="0">
                <a:solidFill>
                  <a:srgbClr val="5F677A"/>
                </a:solidFill>
                <a:latin typeface="Arial"/>
                <a:ea typeface="Microsoft YaHei"/>
              </a:rPr>
              <a:t>进入商业领域</a:t>
            </a:r>
          </a:p>
        </p:txBody>
      </p:sp>
      <p:sp>
        <p:nvSpPr>
          <p:cNvPr id="10" name="Rounded Rectangle 9">
            <a:hlinkClick action="ppaction://hlinksldjump" r:id="rId4"/>
          </p:cNvPr>
          <p:cNvSpPr/>
          <p:nvPr/>
        </p:nvSpPr>
        <p:spPr>
          <a:xfrm>
            <a:off x="3367963" y="1554480"/>
            <a:ext cx="2636443"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77691" y="1851660"/>
            <a:ext cx="6400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80</a:t>
            </a:r>
          </a:p>
        </p:txBody>
      </p:sp>
      <p:sp>
        <p:nvSpPr>
          <p:cNvPr id="12" name="TextBox 11"/>
          <p:cNvSpPr txBox="1"/>
          <p:nvPr/>
        </p:nvSpPr>
        <p:spPr>
          <a:xfrm>
            <a:off x="4236643" y="158191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Being an Entrepreneur</a:t>
            </a:r>
          </a:p>
          <a:p>
            <a:pPr algn="l">
              <a:lnSpc>
                <a:spcPct val="100000"/>
              </a:lnSpc>
              <a:spcAft>
                <a:spcPts val="800"/>
              </a:spcAft>
            </a:pPr>
            <a:r>
              <a:rPr sz="1400" b="0">
                <a:solidFill>
                  <a:srgbClr val="5F677A"/>
                </a:solidFill>
                <a:latin typeface="Arial"/>
                <a:ea typeface="Microsoft YaHei"/>
              </a:rPr>
              <a:t>成为企业家</a:t>
            </a:r>
          </a:p>
        </p:txBody>
      </p:sp>
      <p:sp>
        <p:nvSpPr>
          <p:cNvPr id="13" name="Rounded Rectangle 12">
            <a:hlinkClick action="ppaction://hlinksldjump" r:id="rId5"/>
          </p:cNvPr>
          <p:cNvSpPr/>
          <p:nvPr/>
        </p:nvSpPr>
        <p:spPr>
          <a:xfrm>
            <a:off x="6187286" y="1554480"/>
            <a:ext cx="2636443"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97014" y="1851660"/>
            <a:ext cx="6400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81</a:t>
            </a:r>
          </a:p>
        </p:txBody>
      </p:sp>
      <p:sp>
        <p:nvSpPr>
          <p:cNvPr id="15" name="TextBox 14"/>
          <p:cNvSpPr txBox="1"/>
          <p:nvPr/>
        </p:nvSpPr>
        <p:spPr>
          <a:xfrm>
            <a:off x="7055966" y="158191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Why Businesses Fail</a:t>
            </a:r>
          </a:p>
          <a:p>
            <a:pPr algn="l">
              <a:lnSpc>
                <a:spcPct val="100000"/>
              </a:lnSpc>
              <a:spcAft>
                <a:spcPts val="800"/>
              </a:spcAft>
            </a:pPr>
            <a:r>
              <a:rPr sz="1400" b="0">
                <a:solidFill>
                  <a:srgbClr val="5F677A"/>
                </a:solidFill>
                <a:latin typeface="Arial"/>
                <a:ea typeface="Microsoft YaHei"/>
              </a:rPr>
              <a:t>企业为什么失败</a:t>
            </a:r>
          </a:p>
        </p:txBody>
      </p:sp>
      <p:sp>
        <p:nvSpPr>
          <p:cNvPr id="16" name="Rounded Rectangle 15">
            <a:hlinkClick action="ppaction://hlinksldjump" r:id="rId6"/>
          </p:cNvPr>
          <p:cNvSpPr/>
          <p:nvPr/>
        </p:nvSpPr>
        <p:spPr>
          <a:xfrm>
            <a:off x="9006609" y="1554480"/>
            <a:ext cx="2636443"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116337" y="1851660"/>
            <a:ext cx="6400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82</a:t>
            </a:r>
          </a:p>
        </p:txBody>
      </p:sp>
      <p:sp>
        <p:nvSpPr>
          <p:cNvPr id="18" name="TextBox 17"/>
          <p:cNvSpPr txBox="1"/>
          <p:nvPr/>
        </p:nvSpPr>
        <p:spPr>
          <a:xfrm>
            <a:off x="9875289" y="158191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Low-Cost Businesses</a:t>
            </a:r>
          </a:p>
          <a:p>
            <a:pPr algn="l">
              <a:lnSpc>
                <a:spcPct val="100000"/>
              </a:lnSpc>
              <a:spcAft>
                <a:spcPts val="800"/>
              </a:spcAft>
            </a:pPr>
            <a:r>
              <a:rPr sz="1400" b="0">
                <a:solidFill>
                  <a:srgbClr val="5F677A"/>
                </a:solidFill>
                <a:latin typeface="Arial"/>
                <a:ea typeface="Microsoft YaHei"/>
              </a:rPr>
              <a:t>低成本创业</a:t>
            </a:r>
          </a:p>
        </p:txBody>
      </p:sp>
      <p:sp>
        <p:nvSpPr>
          <p:cNvPr id="19" name="Rounded Rectangle 18">
            <a:hlinkClick action="ppaction://hlinksldjump" r:id="rId7"/>
          </p:cNvPr>
          <p:cNvSpPr/>
          <p:nvPr/>
        </p:nvSpPr>
        <p:spPr>
          <a:xfrm>
            <a:off x="548640" y="2971800"/>
            <a:ext cx="2636443"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8368" y="3268980"/>
            <a:ext cx="6400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83</a:t>
            </a:r>
          </a:p>
        </p:txBody>
      </p:sp>
      <p:sp>
        <p:nvSpPr>
          <p:cNvPr id="21" name="TextBox 20"/>
          <p:cNvSpPr txBox="1"/>
          <p:nvPr/>
        </p:nvSpPr>
        <p:spPr>
          <a:xfrm>
            <a:off x="1417320" y="2999232"/>
            <a:ext cx="1676323" cy="1179576"/>
          </a:xfrm>
          <a:prstGeom prst="rect">
            <a:avLst/>
          </a:prstGeom>
          <a:noFill/>
        </p:spPr>
        <p:txBody>
          <a:bodyPr wrap="square" anchor="ctr">
            <a:spAutoFit/>
          </a:bodyPr>
          <a:lstStyle/>
          <a:p>
            <a:pPr algn="l">
              <a:lnSpc>
                <a:spcPct val="100000"/>
              </a:lnSpc>
              <a:spcAft>
                <a:spcPts val="100"/>
              </a:spcAft>
            </a:pPr>
            <a:r>
              <a:rPr sz="1500" b="1">
                <a:solidFill>
                  <a:srgbClr val="1F2A44"/>
                </a:solidFill>
                <a:latin typeface="Arial"/>
                <a:ea typeface="Microsoft YaHei"/>
              </a:rPr>
              <a:t>How to Succeed as a Freelancer</a:t>
            </a:r>
          </a:p>
          <a:p>
            <a:pPr algn="l">
              <a:lnSpc>
                <a:spcPct val="100000"/>
              </a:lnSpc>
              <a:spcAft>
                <a:spcPts val="800"/>
              </a:spcAft>
            </a:pPr>
            <a:r>
              <a:rPr sz="1100" b="0">
                <a:solidFill>
                  <a:srgbClr val="5F677A"/>
                </a:solidFill>
                <a:latin typeface="Arial"/>
                <a:ea typeface="Microsoft YaHei"/>
              </a:rPr>
              <a:t>如何成为成功的自由职业者</a:t>
            </a:r>
          </a:p>
        </p:txBody>
      </p:sp>
      <p:sp>
        <p:nvSpPr>
          <p:cNvPr id="22" name="Rounded Rectangle 21">
            <a:hlinkClick action="ppaction://hlinksldjump" r:id="rId8"/>
          </p:cNvPr>
          <p:cNvSpPr/>
          <p:nvPr/>
        </p:nvSpPr>
        <p:spPr>
          <a:xfrm>
            <a:off x="3367963" y="2971800"/>
            <a:ext cx="2636443"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477691" y="3268980"/>
            <a:ext cx="6400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84</a:t>
            </a:r>
          </a:p>
        </p:txBody>
      </p:sp>
      <p:sp>
        <p:nvSpPr>
          <p:cNvPr id="24" name="TextBox 23"/>
          <p:cNvSpPr txBox="1"/>
          <p:nvPr/>
        </p:nvSpPr>
        <p:spPr>
          <a:xfrm>
            <a:off x="4236643" y="299923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Remote Business</a:t>
            </a:r>
          </a:p>
          <a:p>
            <a:pPr algn="l">
              <a:lnSpc>
                <a:spcPct val="100000"/>
              </a:lnSpc>
              <a:spcAft>
                <a:spcPts val="800"/>
              </a:spcAft>
            </a:pPr>
            <a:r>
              <a:rPr sz="1400" b="0">
                <a:solidFill>
                  <a:srgbClr val="5F677A"/>
                </a:solidFill>
                <a:latin typeface="Arial"/>
                <a:ea typeface="Microsoft YaHei"/>
              </a:rPr>
              <a:t>远程商业</a:t>
            </a:r>
          </a:p>
        </p:txBody>
      </p:sp>
      <p:sp>
        <p:nvSpPr>
          <p:cNvPr id="25" name="Rounded Rectangle 24">
            <a:hlinkClick action="ppaction://hlinksldjump" r:id="rId9"/>
          </p:cNvPr>
          <p:cNvSpPr/>
          <p:nvPr/>
        </p:nvSpPr>
        <p:spPr>
          <a:xfrm>
            <a:off x="6187286" y="2971800"/>
            <a:ext cx="2636443"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6297014" y="3268980"/>
            <a:ext cx="6400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85</a:t>
            </a:r>
          </a:p>
        </p:txBody>
      </p:sp>
      <p:sp>
        <p:nvSpPr>
          <p:cNvPr id="27" name="TextBox 26"/>
          <p:cNvSpPr txBox="1"/>
          <p:nvPr/>
        </p:nvSpPr>
        <p:spPr>
          <a:xfrm>
            <a:off x="7055966" y="299923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Clickworkers</a:t>
            </a:r>
          </a:p>
          <a:p>
            <a:pPr algn="l">
              <a:lnSpc>
                <a:spcPct val="100000"/>
              </a:lnSpc>
              <a:spcAft>
                <a:spcPts val="800"/>
              </a:spcAft>
            </a:pPr>
            <a:r>
              <a:rPr sz="1400" b="0">
                <a:solidFill>
                  <a:srgbClr val="5F677A"/>
                </a:solidFill>
                <a:latin typeface="Arial"/>
                <a:ea typeface="Microsoft YaHei"/>
              </a:rPr>
              <a:t>微任务工作者</a:t>
            </a:r>
          </a:p>
        </p:txBody>
      </p:sp>
      <p:sp>
        <p:nvSpPr>
          <p:cNvPr id="28" name="Rounded Rectangle 27">
            <a:hlinkClick action="ppaction://hlinksldjump" r:id="rId10"/>
          </p:cNvPr>
          <p:cNvSpPr/>
          <p:nvPr/>
        </p:nvSpPr>
        <p:spPr>
          <a:xfrm>
            <a:off x="9006609" y="2971800"/>
            <a:ext cx="2636443"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116337" y="3268980"/>
            <a:ext cx="6400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86</a:t>
            </a:r>
          </a:p>
        </p:txBody>
      </p:sp>
      <p:sp>
        <p:nvSpPr>
          <p:cNvPr id="30" name="TextBox 29"/>
          <p:cNvSpPr txBox="1"/>
          <p:nvPr/>
        </p:nvSpPr>
        <p:spPr>
          <a:xfrm>
            <a:off x="9875289" y="299923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Salaries and Side Hustles</a:t>
            </a:r>
          </a:p>
          <a:p>
            <a:pPr algn="l">
              <a:lnSpc>
                <a:spcPct val="100000"/>
              </a:lnSpc>
              <a:spcAft>
                <a:spcPts val="800"/>
              </a:spcAft>
            </a:pPr>
            <a:r>
              <a:rPr sz="1400" b="0">
                <a:solidFill>
                  <a:srgbClr val="5F677A"/>
                </a:solidFill>
                <a:latin typeface="Arial"/>
                <a:ea typeface="Microsoft YaHei"/>
              </a:rPr>
              <a:t>薪资和副业</a:t>
            </a:r>
          </a:p>
        </p:txBody>
      </p:sp>
      <p:sp>
        <p:nvSpPr>
          <p:cNvPr id="31" name="Rounded Rectangle 30">
            <a:hlinkClick action="ppaction://hlinksldjump" r:id="rId11"/>
          </p:cNvPr>
          <p:cNvSpPr/>
          <p:nvPr/>
        </p:nvSpPr>
        <p:spPr>
          <a:xfrm>
            <a:off x="548640" y="4389120"/>
            <a:ext cx="2636443" cy="123444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58368" y="4686300"/>
            <a:ext cx="640080" cy="640080"/>
          </a:xfrm>
          <a:prstGeom prst="roundRect">
            <a:avLst>
              <a:gd name="adj" fmla="val 3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87</a:t>
            </a:r>
          </a:p>
        </p:txBody>
      </p:sp>
      <p:sp>
        <p:nvSpPr>
          <p:cNvPr id="33" name="TextBox 32"/>
          <p:cNvSpPr txBox="1"/>
          <p:nvPr/>
        </p:nvSpPr>
        <p:spPr>
          <a:xfrm>
            <a:off x="1417320" y="441655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Time Banks</a:t>
            </a:r>
          </a:p>
          <a:p>
            <a:pPr algn="l">
              <a:lnSpc>
                <a:spcPct val="100000"/>
              </a:lnSpc>
              <a:spcAft>
                <a:spcPts val="800"/>
              </a:spcAft>
            </a:pPr>
            <a:r>
              <a:rPr sz="1400" b="0">
                <a:solidFill>
                  <a:srgbClr val="5F677A"/>
                </a:solidFill>
                <a:latin typeface="Arial"/>
                <a:ea typeface="Microsoft YaHei"/>
              </a:rPr>
              <a:t>时间银行</a:t>
            </a:r>
          </a:p>
        </p:txBody>
      </p:sp>
      <p:sp>
        <p:nvSpPr>
          <p:cNvPr id="34" name="Rounded Rectangle 33">
            <a:hlinkClick action="ppaction://hlinksldjump" r:id="rId12"/>
          </p:cNvPr>
          <p:cNvSpPr/>
          <p:nvPr/>
        </p:nvSpPr>
        <p:spPr>
          <a:xfrm>
            <a:off x="3367963" y="4389120"/>
            <a:ext cx="2636443" cy="12344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3477691" y="4686300"/>
            <a:ext cx="640080" cy="640080"/>
          </a:xfrm>
          <a:prstGeom prst="roundRect">
            <a:avLst>
              <a:gd name="adj" fmla="val 3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88</a:t>
            </a:r>
          </a:p>
        </p:txBody>
      </p:sp>
      <p:sp>
        <p:nvSpPr>
          <p:cNvPr id="36" name="TextBox 35"/>
          <p:cNvSpPr txBox="1"/>
          <p:nvPr/>
        </p:nvSpPr>
        <p:spPr>
          <a:xfrm>
            <a:off x="4236643" y="441655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Horror Business</a:t>
            </a:r>
          </a:p>
          <a:p>
            <a:pPr algn="l">
              <a:lnSpc>
                <a:spcPct val="100000"/>
              </a:lnSpc>
              <a:spcAft>
                <a:spcPts val="800"/>
              </a:spcAft>
            </a:pPr>
            <a:r>
              <a:rPr sz="1400" b="0">
                <a:solidFill>
                  <a:srgbClr val="5F677A"/>
                </a:solidFill>
                <a:latin typeface="Arial"/>
                <a:ea typeface="Microsoft YaHei"/>
              </a:rPr>
              <a:t>恐怖产业</a:t>
            </a:r>
          </a:p>
        </p:txBody>
      </p:sp>
      <p:sp>
        <p:nvSpPr>
          <p:cNvPr id="37" name="Rounded Rectangle 36">
            <a:hlinkClick action="ppaction://hlinksldjump" r:id="rId13"/>
          </p:cNvPr>
          <p:cNvSpPr/>
          <p:nvPr/>
        </p:nvSpPr>
        <p:spPr>
          <a:xfrm>
            <a:off x="6187286" y="4389120"/>
            <a:ext cx="2636443"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297014" y="4686300"/>
            <a:ext cx="6400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700" b="1">
                <a:solidFill>
                  <a:srgbClr val="FFFFFF"/>
                </a:solidFill>
                <a:latin typeface="Arial"/>
                <a:ea typeface="Microsoft YaHei"/>
              </a:rPr>
              <a:t>89</a:t>
            </a:r>
          </a:p>
        </p:txBody>
      </p:sp>
      <p:sp>
        <p:nvSpPr>
          <p:cNvPr id="39" name="TextBox 38"/>
          <p:cNvSpPr txBox="1"/>
          <p:nvPr/>
        </p:nvSpPr>
        <p:spPr>
          <a:xfrm>
            <a:off x="7055966" y="4416552"/>
            <a:ext cx="1676323"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Business of Gaming</a:t>
            </a:r>
          </a:p>
          <a:p>
            <a:pPr algn="l">
              <a:lnSpc>
                <a:spcPct val="100000"/>
              </a:lnSpc>
              <a:spcAft>
                <a:spcPts val="800"/>
              </a:spcAft>
            </a:pPr>
            <a:r>
              <a:rPr sz="1400" b="0">
                <a:solidFill>
                  <a:srgbClr val="5F677A"/>
                </a:solidFill>
                <a:latin typeface="Arial"/>
                <a:ea typeface="Microsoft YaHei"/>
              </a:rPr>
              <a:t>游戏行业</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9 · Lesson 79 Getting Into Business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Getting Into Business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进入商业领域</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starting a business: ideas, motivation, planning, funding and first steps.</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thought about starting your own business? What kind?</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qualities does a person need to run a business?</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biggest obstacles for a new business?</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Where can start-ups get money?</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it better to start a business alone or with a partner?</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start a business = 创业;set up = 创办。第 1 题可用第二条件句:If I started a business, I’d…。venture = 创业项目。</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Pitch a simple business idea to a friend or investor.</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problem</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solution</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customers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how you make money</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what you need</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I’ve noticed that people struggle with…   💬 My idea is to…   💬 We’d make money by…</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struggle with = 在……方面有困难。We’d make money by + -ing 说明盈利方式。</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From Idea to Opening Day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Most businesses begin with a simple observation: people have a problem and nobody is solving it well. Turning that observation into a company requires several steps. First, test the idea cheaply by talking to potential customers and, if possible, selling a small version of the product. Second, write a short plan covering who the customers are, how you will reach them, what it will cost and how you will earn money. Third, decide how to fund the start: personal savings, loans, investors or early sales. Many founders underestimate how long it takes to become profitable, so they keep a cash reserve. Finally, get advice, from mentors, accountants or other founders. The first version will probably not be perfect, but starting small and learning quickly is usually better than waiting for the perfect plan.</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does a business often begin?</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With the observation that people have a problem nobody is solving well.</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should be done before investing heavily?</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Test the idea cheaply by talking to customers and selling a small version.</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many founders underestimate?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How long it takes to become profitable.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Starting out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起步</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start-up</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初创公司</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works for a start-up.”</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founder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创始人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founder is also the CEO.”</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business plan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商业计划</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wrote a business plan.”</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funding</a:t>
            </a:r>
          </a:p>
          <a:p>
            <a:pPr algn="l">
              <a:lnSpc>
                <a:spcPct val="115000"/>
              </a:lnSpc>
              <a:spcAft>
                <a:spcPts val="800"/>
              </a:spcAft>
            </a:pPr>
            <a:r>
              <a:rPr sz="1300" b="0">
                <a:solidFill>
                  <a:srgbClr val="5F677A"/>
                </a:solidFill>
                <a:latin typeface="Arial"/>
                <a:ea typeface="Microsoft YaHei"/>
              </a:rPr>
              <a:t>noun (uncountable)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资金</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seeking funding.”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customer base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客户群</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growing our customer base.”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revenue</a:t>
            </a:r>
          </a:p>
          <a:p>
            <a:pPr algn="l">
              <a:lnSpc>
                <a:spcPct val="115000"/>
              </a:lnSpc>
              <a:spcAft>
                <a:spcPts val="800"/>
              </a:spcAft>
            </a:pPr>
            <a:r>
              <a:rPr sz="1300" b="0">
                <a:solidFill>
                  <a:srgbClr val="5F677A"/>
                </a:solidFill>
                <a:latin typeface="Arial"/>
                <a:ea typeface="Microsoft YaHei"/>
              </a:rPr>
              <a:t>noun (uncountable)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收入</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“Revenue was £50,000 last year.”</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Taking the plunge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迈出第一步</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the plunge</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下定决心</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took the plunge and quit her job.”</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get off the ground</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起步</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project never got off the ground.”</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bootstrap</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自筹资金</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bootstrapped the business.”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seed money</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种子资金</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raised seed money from friends.”</a:t>
            </a:r>
          </a:p>
        </p:txBody>
      </p:sp>
      <p:sp>
        <p:nvSpPr>
          <p:cNvPr id="29" name="Rounded Rectangle 28"/>
          <p:cNvSpPr/>
          <p:nvPr/>
        </p:nvSpPr>
        <p:spPr>
          <a:xfrm>
            <a:off x="548640" y="42316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minimum viable product</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最小可行产品</a:t>
            </a:r>
          </a:p>
        </p:txBody>
      </p:sp>
      <p:sp>
        <p:nvSpPr>
          <p:cNvPr id="33" name="TextBox 32"/>
          <p:cNvSpPr txBox="1"/>
          <p:nvPr/>
        </p:nvSpPr>
        <p:spPr>
          <a:xfrm>
            <a:off x="6675120" y="42773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launched a minimum viable product.”</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find a niche</a:t>
            </a:r>
          </a:p>
          <a:p>
            <a:pPr algn="l">
              <a:lnSpc>
                <a:spcPct val="115000"/>
              </a:lnSpc>
              <a:spcAft>
                <a:spcPts val="800"/>
              </a:spcAft>
            </a:pPr>
            <a:r>
              <a:rPr sz="1300" b="0">
                <a:solidFill>
                  <a:srgbClr val="5F677A"/>
                </a:solidFill>
                <a:latin typeface="Arial"/>
                <a:ea typeface="Microsoft YaHei"/>
              </a:rPr>
              <a:t>collocation</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找到细分市场</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found a niche in pet food.”</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种子资金</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seed money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收入</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revenue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创始人</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founder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找到细分市场</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find a niche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资金</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funding</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最小可行产品</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minimum viable product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商业计划</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business plan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客户群</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customer base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start-up</a:t>
            </a:r>
          </a:p>
        </p:txBody>
      </p:sp>
      <p:sp>
        <p:nvSpPr>
          <p:cNvPr id="10" name="Rounded Rectangle 9"/>
          <p:cNvSpPr/>
          <p:nvPr/>
        </p:nvSpPr>
        <p:spPr>
          <a:xfrm>
            <a:off x="3346704"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founder</a:t>
            </a:r>
          </a:p>
        </p:txBody>
      </p:sp>
      <p:sp>
        <p:nvSpPr>
          <p:cNvPr id="11" name="Rounded Rectangle 10"/>
          <p:cNvSpPr/>
          <p:nvPr/>
        </p:nvSpPr>
        <p:spPr>
          <a:xfrm>
            <a:off x="4572000"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funding</a:t>
            </a:r>
          </a:p>
        </p:txBody>
      </p:sp>
      <p:sp>
        <p:nvSpPr>
          <p:cNvPr id="12" name="Rounded Rectangle 11"/>
          <p:cNvSpPr/>
          <p:nvPr/>
        </p:nvSpPr>
        <p:spPr>
          <a:xfrm>
            <a:off x="5797296"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revenue</a:t>
            </a:r>
          </a:p>
        </p:txBody>
      </p:sp>
      <p:sp>
        <p:nvSpPr>
          <p:cNvPr id="13" name="Rounded Rectangle 12"/>
          <p:cNvSpPr/>
          <p:nvPr/>
        </p:nvSpPr>
        <p:spPr>
          <a:xfrm>
            <a:off x="7022592" y="987552"/>
            <a:ext cx="2011679"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take the plunge</a:t>
            </a:r>
          </a:p>
        </p:txBody>
      </p:sp>
      <p:sp>
        <p:nvSpPr>
          <p:cNvPr id="14" name="Rounded Rectangle 13"/>
          <p:cNvSpPr/>
          <p:nvPr/>
        </p:nvSpPr>
        <p:spPr>
          <a:xfrm>
            <a:off x="9125711" y="987552"/>
            <a:ext cx="234086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get off the ground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She left a bank to join a fast-growing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start-up</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_______ of the company started it in her kitchen.</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founder</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We’re seeking _______ to expand into new markets.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funding</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business made £50,000 in _______ in its first year.</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revenue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After years of thinking, he finally decided to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the plunge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It took two years for the idea to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get off the ground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Pitching a business idea</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介绍创业想法</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pitch an idea for a neighbourhood bike-repair service to a friend who might invest.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Tao Yu, would-be founder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Clara Dean, potential investor</a:t>
            </a:r>
          </a:p>
        </p:txBody>
      </p:sp>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Pitching a business idea</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Tao</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Clara, thanks for listening. I’ve noticed that people in our area struggle to find a quick, affordable bike repair.</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Clara</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Interesting. What’s your idea?</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mobile repair service. I’d come to customers’ homes or workplaces and fix bikes on the spot.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Who are your customers?</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Commuters and students, mainly. Cycling has grown a lot here.</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Pitching a business idea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would you make money?</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By charging a fixed fee for each visit plus parts, and offering a monthly subscription for basic servicing.</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do you need to start?</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About six thousand pounds for a van, tools and insurance. I can contribute two thousand myself.</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your plan if it doesn’t work?</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Pitching a business idea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start part-time and test the demand first. I wouldn’t quit my job until it’s profitable.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sensible. Send me a one-page plan and I’ll think about it.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have it ready by Friday. Thank you.</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Pitching a business idea</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pitch a business idea.</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Founder. Idea: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Investor. Ask about customers, income and risk.</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I’ve noticed that · my idea is to · we’d make money by · customers · start-up costs · test</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Describe the problem, solution, customers, income and funding.</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Clara says: “There is already competition.”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your idea in 30 seconds.</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one-sentence mission statement for your business.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business would you like to start?</a:t>
            </a:r>
          </a:p>
          <a:p>
            <a:pPr algn="l">
              <a:lnSpc>
                <a:spcPct val="115000"/>
              </a:lnSpc>
              <a:spcAft>
                <a:spcPts val="800"/>
              </a:spcAft>
            </a:pPr>
            <a:r>
              <a:rPr sz="1400" b="0">
                <a:solidFill>
                  <a:srgbClr val="5F677A"/>
                </a:solidFill>
                <a:latin typeface="Arial"/>
                <a:ea typeface="Microsoft YaHei"/>
              </a:rPr>
              <a:t>💬 “I’d like to… because… / If I started a business, I’d…”</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main risks of starting a business?</a:t>
            </a:r>
          </a:p>
          <a:p>
            <a:pPr algn="l">
              <a:lnSpc>
                <a:spcPct val="115000"/>
              </a:lnSpc>
              <a:spcAft>
                <a:spcPts val="800"/>
              </a:spcAft>
            </a:pPr>
            <a:r>
              <a:rPr sz="1400" b="0">
                <a:solidFill>
                  <a:srgbClr val="5F677A"/>
                </a:solidFill>
                <a:latin typeface="Arial"/>
                <a:ea typeface="Microsoft YaHei"/>
              </a:rPr>
              <a:t>💬 “The main risks are… / Many fail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start small or big?</a:t>
            </a:r>
          </a:p>
          <a:p>
            <a:pPr algn="l">
              <a:lnSpc>
                <a:spcPct val="115000"/>
              </a:lnSpc>
              <a:spcAft>
                <a:spcPts val="800"/>
              </a:spcAft>
            </a:pPr>
            <a:r>
              <a:rPr sz="1400" b="0">
                <a:solidFill>
                  <a:srgbClr val="5F677A"/>
                </a:solidFill>
                <a:latin typeface="Arial"/>
                <a:ea typeface="Microsoft YaHei"/>
              </a:rPr>
              <a:t>💬 “Starting small lets you… but…”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Where can new businesses find money?</a:t>
            </a:r>
          </a:p>
          <a:p>
            <a:pPr algn="l">
              <a:lnSpc>
                <a:spcPct val="115000"/>
              </a:lnSpc>
              <a:spcAft>
                <a:spcPts val="800"/>
              </a:spcAft>
            </a:pPr>
            <a:r>
              <a:rPr sz="1400" b="0">
                <a:solidFill>
                  <a:srgbClr val="5F677A"/>
                </a:solidFill>
                <a:latin typeface="Arial"/>
                <a:ea typeface="Microsoft YaHei"/>
              </a:rPr>
              <a:t>💬 “They can use… / One option 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starting small is usually wiser. It lets you test the idea with real customers before you commit a lot of money, and you can learn from mistakes at lower cost. Starting big can attract attention and allow fast growth, but the risks are higher if the idea doesn’t work. A good approach is to start small, learn quickly and scale up when you see proof of demand.</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commit = 投入。”proof of demand” = 需求证明。scale up = 扩大规模。”learn from mistakes” = 从错误中学习。</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I want to open a company.</a:t>
                      </a:r>
                    </a:p>
                  </a:txBody>
                  <a:tcPr anchor="ctr">
                    <a:solidFill>
                      <a:srgbClr val="FFFFFF"/>
                    </a:solidFill>
                  </a:tcPr>
                </a:tc>
                <a:tc>
                  <a:txBody>
                    <a:bodyPr wrap="square"/>
                    <a:lstStyle/>
                    <a:p>
                      <a:r>
                        <a:rPr sz="1600" b="0">
                          <a:solidFill>
                            <a:srgbClr val="1F2A44"/>
                          </a:solidFill>
                          <a:latin typeface="Arial"/>
                          <a:ea typeface="Microsoft YaHei"/>
                        </a:rPr>
                        <a:t>I’m thinking of setting up my own business.</a:t>
                      </a:r>
                    </a:p>
                  </a:txBody>
                  <a:tcPr anchor="ctr">
                    <a:solidFill>
                      <a:srgbClr val="FFFFFF"/>
                    </a:solidFill>
                  </a:tcPr>
                </a:tc>
                <a:tc>
                  <a:txBody>
                    <a:bodyPr wrap="square"/>
                    <a:lstStyle/>
                    <a:p>
                      <a:r>
                        <a:rPr sz="1600" b="0">
                          <a:solidFill>
                            <a:srgbClr val="FF6B5B"/>
                          </a:solidFill>
                          <a:latin typeface="Arial"/>
                          <a:ea typeface="Microsoft YaHei"/>
                        </a:rPr>
                        <a:t>地道</a:t>
                      </a:r>
                    </a:p>
                  </a:txBody>
                  <a:tcPr anchor="ctr">
                    <a:solidFill>
                      <a:srgbClr val="FFFFFF"/>
                    </a:solidFill>
                  </a:tcPr>
                </a:tc>
              </a:tr>
              <a:tr h="408432">
                <a:tc>
                  <a:txBody>
                    <a:bodyPr wrap="square"/>
                    <a:lstStyle/>
                    <a:p>
                      <a:r>
                        <a:rPr sz="1600" b="1">
                          <a:solidFill>
                            <a:srgbClr val="1F2A44"/>
                          </a:solidFill>
                          <a:latin typeface="Arial"/>
                          <a:ea typeface="Microsoft YaHei"/>
                        </a:rPr>
                        <a:t>I have no money.</a:t>
                      </a:r>
                    </a:p>
                  </a:txBody>
                  <a:tcPr anchor="ctr">
                    <a:solidFill>
                      <a:srgbClr val="FFEFD9"/>
                    </a:solidFill>
                  </a:tcPr>
                </a:tc>
                <a:tc>
                  <a:txBody>
                    <a:bodyPr wrap="square"/>
                    <a:lstStyle/>
                    <a:p>
                      <a:r>
                        <a:rPr sz="1600" b="0">
                          <a:solidFill>
                            <a:srgbClr val="1F2A44"/>
                          </a:solidFill>
                          <a:latin typeface="Arial"/>
                          <a:ea typeface="Microsoft YaHei"/>
                        </a:rPr>
                        <a:t>I’m looking for seed funding.</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652272">
                <a:tc>
                  <a:txBody>
                    <a:bodyPr wrap="square"/>
                    <a:lstStyle/>
                    <a:p>
                      <a:r>
                        <a:rPr sz="1600" b="1">
                          <a:solidFill>
                            <a:srgbClr val="1F2A44"/>
                          </a:solidFill>
                          <a:latin typeface="Arial"/>
                          <a:ea typeface="Microsoft YaHei"/>
                        </a:rPr>
                        <a:t>My idea is good.</a:t>
                      </a:r>
                    </a:p>
                  </a:txBody>
                  <a:tcPr anchor="ctr">
                    <a:solidFill>
                      <a:srgbClr val="FFFFFF"/>
                    </a:solidFill>
                  </a:tcPr>
                </a:tc>
                <a:tc>
                  <a:txBody>
                    <a:bodyPr wrap="square"/>
                    <a:lstStyle/>
                    <a:p>
                      <a:r>
                        <a:rPr sz="1600" b="0">
                          <a:solidFill>
                            <a:srgbClr val="1F2A44"/>
                          </a:solidFill>
                          <a:latin typeface="Arial"/>
                          <a:ea typeface="Microsoft YaHei"/>
                        </a:rPr>
                        <a:t>I believe there’s a real gap in the market.</a:t>
                      </a:r>
                    </a:p>
                  </a:txBody>
                  <a:tcPr anchor="ctr">
                    <a:solidFill>
                      <a:srgbClr val="FFFFFF"/>
                    </a:solidFill>
                  </a:tcPr>
                </a:tc>
                <a:tc>
                  <a:txBody>
                    <a:bodyPr wrap="square"/>
                    <a:lstStyle/>
                    <a:p>
                      <a:r>
                        <a:rPr sz="1600" b="0">
                          <a:solidFill>
                            <a:srgbClr val="FF6B5B"/>
                          </a:solidFill>
                          <a:latin typeface="Arial"/>
                          <a:ea typeface="Microsoft YaHei"/>
                        </a:rPr>
                        <a:t>论据</a:t>
                      </a:r>
                    </a:p>
                  </a:txBody>
                  <a:tcPr anchor="ctr">
                    <a:solidFill>
                      <a:srgbClr val="FFFFFF"/>
                    </a:solidFill>
                  </a:tcPr>
                </a:tc>
              </a:tr>
              <a:tr h="408432">
                <a:tc>
                  <a:txBody>
                    <a:bodyPr wrap="square"/>
                    <a:lstStyle/>
                    <a:p>
                      <a:r>
                        <a:rPr sz="1600" b="1">
                          <a:solidFill>
                            <a:srgbClr val="1F2A44"/>
                          </a:solidFill>
                          <a:latin typeface="Arial"/>
                          <a:ea typeface="Microsoft YaHei"/>
                        </a:rPr>
                        <a:t>I earn money.</a:t>
                      </a:r>
                    </a:p>
                  </a:txBody>
                  <a:tcPr anchor="ctr">
                    <a:solidFill>
                      <a:srgbClr val="FFEFD9"/>
                    </a:solidFill>
                  </a:tcPr>
                </a:tc>
                <a:tc>
                  <a:txBody>
                    <a:bodyPr wrap="square"/>
                    <a:lstStyle/>
                    <a:p>
                      <a:r>
                        <a:rPr sz="1600" b="0">
                          <a:solidFill>
                            <a:srgbClr val="1F2A44"/>
                          </a:solidFill>
                          <a:latin typeface="Arial"/>
                          <a:ea typeface="Microsoft YaHei"/>
                        </a:rPr>
                        <a:t>I make a modest profit.</a:t>
                      </a:r>
                    </a:p>
                  </a:txBody>
                  <a:tcPr anchor="ctr">
                    <a:solidFill>
                      <a:srgbClr val="FFEFD9"/>
                    </a:solidFill>
                  </a:tcPr>
                </a:tc>
                <a:tc>
                  <a:txBody>
                    <a:bodyPr wrap="square"/>
                    <a:lstStyle/>
                    <a:p>
                      <a:r>
                        <a:rPr sz="1600" b="0">
                          <a:solidFill>
                            <a:srgbClr val="FF6B5B"/>
                          </a:solidFill>
                          <a:latin typeface="Arial"/>
                          <a:ea typeface="Microsoft YaHei"/>
                        </a:rPr>
                        <a:t>搭配</a:t>
                      </a:r>
                    </a:p>
                  </a:txBody>
                  <a:tcPr anchor="ctr">
                    <a:solidFill>
                      <a:srgbClr val="FFEFD9"/>
                    </a:solidFill>
                  </a:tcPr>
                </a:tc>
              </a:tr>
              <a:tr h="408432">
                <a:tc>
                  <a:txBody>
                    <a:bodyPr wrap="square"/>
                    <a:lstStyle/>
                    <a:p>
                      <a:r>
                        <a:rPr sz="1600" b="1">
                          <a:solidFill>
                            <a:srgbClr val="1F2A44"/>
                          </a:solidFill>
                          <a:latin typeface="Arial"/>
                          <a:ea typeface="Microsoft YaHei"/>
                        </a:rPr>
                        <a:t>Many people buy.</a:t>
                      </a:r>
                    </a:p>
                  </a:txBody>
                  <a:tcPr anchor="ctr">
                    <a:solidFill>
                      <a:srgbClr val="FFFFFF"/>
                    </a:solidFill>
                  </a:tcPr>
                </a:tc>
                <a:tc>
                  <a:txBody>
                    <a:bodyPr wrap="square"/>
                    <a:lstStyle/>
                    <a:p>
                      <a:r>
                        <a:rPr sz="1600" b="0">
                          <a:solidFill>
                            <a:srgbClr val="1F2A44"/>
                          </a:solidFill>
                          <a:latin typeface="Arial"/>
                          <a:ea typeface="Microsoft YaHei"/>
                        </a:rPr>
                        <a:t>There’s strong demand.</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bl>
          </a:graphicData>
        </a:graphic>
      </p:graphicFrame>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Second conditional: </a:t>
            </a:r>
            <a:r>
              <a:rPr sz="1700" b="0">
                <a:solidFill>
                  <a:srgbClr val="1F2A44"/>
                </a:solidFill>
                <a:latin typeface="Arial"/>
                <a:ea typeface="Microsoft YaHei"/>
              </a:rPr>
              <a:t>“If I started a business, I’d focus on repairs.” (imagined)</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Plans and intentions: </a:t>
            </a:r>
            <a:r>
              <a:rPr sz="1700" b="0">
                <a:solidFill>
                  <a:srgbClr val="1F2A44"/>
                </a:solidFill>
                <a:latin typeface="Arial"/>
                <a:ea typeface="Microsoft YaHei"/>
              </a:rPr>
              <a:t>I’m going to…, I’m planning to…, I intend to…</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Describing how you earn: </a:t>
            </a:r>
            <a:r>
              <a:rPr sz="1700" b="0">
                <a:solidFill>
                  <a:srgbClr val="1F2A44"/>
                </a:solidFill>
                <a:latin typeface="Arial"/>
                <a:ea typeface="Microsoft YaHei"/>
              </a:rPr>
              <a:t>We make money by…, Our income comes from…, We charge…</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Numbers: </a:t>
            </a:r>
            <a:r>
              <a:rPr sz="1700" b="0">
                <a:solidFill>
                  <a:srgbClr val="1F2A44"/>
                </a:solidFill>
                <a:latin typeface="Arial"/>
                <a:ea typeface="Microsoft YaHei"/>
              </a:rPr>
              <a:t>£6,000 = “six thousand pounds”; 2.5% = “two point five per cent”.</a:t>
            </a:r>
          </a:p>
        </p:txBody>
      </p:sp>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want to make a company.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want to set up a company.</a:t>
            </a:r>
          </a:p>
          <a:p>
            <a:pPr algn="l">
              <a:spcAft>
                <a:spcPts val="200"/>
              </a:spcAft>
            </a:pPr>
            <a:r>
              <a:rPr sz="1200" b="0">
                <a:solidFill>
                  <a:srgbClr val="FFFFFF"/>
                </a:solidFill>
                <a:latin typeface="Arial"/>
                <a:ea typeface="Microsoft YaHei"/>
              </a:rPr>
              <a:t>set up</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business is founded by 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founded the business.</a:t>
            </a:r>
          </a:p>
          <a:p>
            <a:pPr algn="l">
              <a:spcAft>
                <a:spcPts val="200"/>
              </a:spcAft>
            </a:pPr>
            <a:r>
              <a:rPr sz="1200" b="0">
                <a:solidFill>
                  <a:srgbClr val="FFFFFF"/>
                </a:solidFill>
                <a:latin typeface="Arial"/>
                <a:ea typeface="Microsoft YaHei"/>
              </a:rPr>
              <a:t>主动语态</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need fundings.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need funding.</a:t>
            </a:r>
          </a:p>
          <a:p>
            <a:pPr algn="l">
              <a:spcAft>
                <a:spcPts val="200"/>
              </a:spcAft>
            </a:pPr>
            <a:r>
              <a:rPr sz="1200" b="0">
                <a:solidFill>
                  <a:srgbClr val="FFFFFF"/>
                </a:solidFill>
                <a:latin typeface="Arial"/>
                <a:ea typeface="Microsoft YaHei"/>
              </a:rPr>
              <a:t>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earn a lot of revenue.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generate a lot of revenue.</a:t>
            </a:r>
          </a:p>
          <a:p>
            <a:pPr algn="l">
              <a:spcAft>
                <a:spcPts val="200"/>
              </a:spcAft>
            </a:pPr>
            <a:r>
              <a:rPr sz="1200" b="0">
                <a:solidFill>
                  <a:srgbClr val="FFFFFF"/>
                </a:solidFill>
                <a:latin typeface="Arial"/>
                <a:ea typeface="Microsoft YaHei"/>
              </a:rPr>
              <a:t>generate revenue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I will start a business, …</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I start a business, …</a:t>
            </a:r>
          </a:p>
          <a:p>
            <a:pPr algn="l">
              <a:spcAft>
                <a:spcPts val="200"/>
              </a:spcAft>
            </a:pPr>
            <a:r>
              <a:rPr sz="1200" b="0">
                <a:solidFill>
                  <a:srgbClr val="FFFFFF"/>
                </a:solidFill>
                <a:latin typeface="Arial"/>
                <a:ea typeface="Microsoft YaHei"/>
              </a:rPr>
              <a:t>条件句时态</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the owner of a small-size company.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own a small company.</a:t>
            </a:r>
          </a:p>
          <a:p>
            <a:pPr algn="l">
              <a:spcAft>
                <a:spcPts val="200"/>
              </a:spcAft>
            </a:pPr>
            <a:r>
              <a:rPr sz="1200" b="0">
                <a:solidFill>
                  <a:srgbClr val="FFFFFF"/>
                </a:solidFill>
                <a:latin typeface="Arial"/>
                <a:ea typeface="Microsoft YaHei"/>
              </a:rPr>
              <a:t>自然表达</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uncountable funding / revenue, conditionals and verb collocations (set up).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Failure and starting again: </a:t>
            </a:r>
            <a:r>
              <a:rPr sz="1700" b="0">
                <a:solidFill>
                  <a:srgbClr val="1F2A44"/>
                </a:solidFill>
                <a:latin typeface="Arial"/>
                <a:ea typeface="Microsoft YaHei"/>
              </a:rPr>
              <a:t>In Silicon Valley, failed businesses are seen as learning; elsewhere failure may carry stigma.</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Elevator pitch: </a:t>
            </a:r>
            <a:r>
              <a:rPr sz="1700" b="0">
                <a:solidFill>
                  <a:srgbClr val="1F2A44"/>
                </a:solidFill>
                <a:latin typeface="Arial"/>
                <a:ea typeface="Microsoft YaHei"/>
              </a:rPr>
              <a:t>A 30-second summary is a normal test of clarity.</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Legal basics: </a:t>
            </a:r>
            <a:r>
              <a:rPr sz="1700" b="0">
                <a:solidFill>
                  <a:srgbClr val="1F2A44"/>
                </a:solidFill>
                <a:latin typeface="Arial"/>
                <a:ea typeface="Microsoft YaHei"/>
              </a:rPr>
              <a:t>Registration, tax and insurance requirements differ by country. Get professional advice.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funding / revenue 不可数;set up a business;条件句 if 从句用现在时。创业前先小规模验证需求。</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pitch a business idea clearly.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funding and risk.</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second conditional for imagined plans.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uncountable funding / revenue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79 Getting Into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uncountable funding / revenue, conditionals, and collocations with set up.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9 · Lesson 80 Being an Entrepreneur</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27</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Being an Entrepreneur</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成为企业家</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the personality, skills and lifestyle of entrepreneurs: risk, resilience, decision-making and work-life trade-offs.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qualities do successful entrepreneurs share?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Are entrepreneurs born or made?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being your own boss easier or harder than being an employee?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entrepreneurs deal with risk and stress?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like to be an entrepreneur? Why or why not?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resilience = 韧性;risk-taker = 敢于冒险者。注意:entrepreneur /ˌɒntrəprəˈnɜː(r)/。第 5 题表达愿望:I’d love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an entrepreneur you admire and what makes them successful.</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who</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what they did</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qualities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you can learn</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She started out by…   💬 What makes her stand out is…   💬 One thing I learned from her is…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started out by + -ing。What makes her stand out is… 突出特点。one thing I learned is…</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Reading · The Entrepreneur’s Mindset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Popular stories often show entrepreneurs as lone geniuses who take huge risks. Reality is usually less dramatic. Many successful founders are careful about risk: they test ideas, limit their losses and learn from failure. What they tend to share is resilience, the ability to keep going after setbacks, together with curiosity and a willingness to ask for help. They are also comfortable with uncertainty, since they rarely have complete information. Being your own boss brings freedom, but also responsibility: long hours, irregular income and decisions that fall on you alone. Support matters. Mentors, partners and a good network make the journey less lonely. Some entrepreneurs thrive on the challenge, while others discover that they prefer a steady job. Neither choice is wrong. The key is to understand your own strengths and preferences.</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is the popular image of entrepreneurs different from reality?</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 popular image is of lone geniuses taking huge risks; in reality many are careful about risk.</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do successful founders tend to share?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Resilience, curiosity and willingness to ask for help.</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some entrepreneurs discover?</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That they prefer a steady job.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Entrepreneurial qualities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企业家特质</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resilience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韧性</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“Resilience is essential.”</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risk-taker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敢于冒险的人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a calculated risk-taker.”</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initiative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主动性</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showed great initiative.”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self-employed</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自雇的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“She’s self-employed.”</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 ethic</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职业道德/勤奋</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has a strong work ethic.”</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vision</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愿景</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founder has a clear vision.”</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Mindset and lifestyle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心态与生活方式</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calculated risk</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经过计算的风险</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was a calculated risk.”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bounce back</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迅速恢复</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bounced back after the failure.”</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 the candle at both ends</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过度劳累</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“Founders often burn the candle at both ends.”</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your own boss</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自己当老板</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love being my own boss.”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thrive on</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因……而旺盛</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thrives on pressure.”</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leap of faith</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冒险一试</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“Starting up was a leap of faith.”</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敢于冒险的人</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risk-taker</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冒险一试</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leap of faith</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因……而旺盛</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thrive on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过度劳累</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 the candle at both ends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职业道德/勤奋</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 ethic</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主动性</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initiative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韧性</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resilience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愿景</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vision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Resilience</a:t>
            </a:r>
          </a:p>
        </p:txBody>
      </p:sp>
      <p:sp>
        <p:nvSpPr>
          <p:cNvPr id="10" name="Rounded Rectangle 9"/>
          <p:cNvSpPr/>
          <p:nvPr/>
        </p:nvSpPr>
        <p:spPr>
          <a:xfrm>
            <a:off x="3566160"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risk-taker</a:t>
            </a:r>
          </a:p>
        </p:txBody>
      </p:sp>
      <p:sp>
        <p:nvSpPr>
          <p:cNvPr id="11" name="Rounded Rectangle 10"/>
          <p:cNvSpPr/>
          <p:nvPr/>
        </p:nvSpPr>
        <p:spPr>
          <a:xfrm>
            <a:off x="5120640"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initiative</a:t>
            </a:r>
          </a:p>
        </p:txBody>
      </p:sp>
      <p:sp>
        <p:nvSpPr>
          <p:cNvPr id="12" name="Rounded Rectangle 11"/>
          <p:cNvSpPr/>
          <p:nvPr/>
        </p:nvSpPr>
        <p:spPr>
          <a:xfrm>
            <a:off x="6675120" y="987552"/>
            <a:ext cx="146304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work ethic</a:t>
            </a:r>
          </a:p>
        </p:txBody>
      </p:sp>
      <p:sp>
        <p:nvSpPr>
          <p:cNvPr id="13" name="Rounded Rectangle 12"/>
          <p:cNvSpPr/>
          <p:nvPr/>
        </p:nvSpPr>
        <p:spPr>
          <a:xfrm>
            <a:off x="8229600"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bounce back</a:t>
            </a:r>
          </a:p>
        </p:txBody>
      </p:sp>
      <p:sp>
        <p:nvSpPr>
          <p:cNvPr id="14" name="Rounded Rectangle 13"/>
          <p:cNvSpPr/>
          <p:nvPr/>
        </p:nvSpPr>
        <p:spPr>
          <a:xfrm>
            <a:off x="9893807"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thrive on</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_______ helps founders continue after failure.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Resilience</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She’s not a reckless _______; she plans carefully.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risk-taker</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Employees who show _______ get more responsibility.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initiative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He’s successful because of his strong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work ethic</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After the loss, the company managed to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bounce back</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Some people _______ pressure and deadlines.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thrive on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entrepreneur (/ɒn-/), entrepreneurial, resilience (not “resilliance”). Be self-employed (adjective); a self-employed person. Run a business, own a business. Take a risk (not “make”). In charge of. Work for yourself.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Talking about an entrepreneur you admire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谈论你敬佩的企业家</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At a networking event, you describe an entrepreneur who has inspired you.</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Hana Li, attendee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Will Cox, fellow attendee</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about an entrepreneur you admire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Hana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Will, who’s an entrepreneur you admire?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Will</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Hmm. Someone who started small and stayed ambitious. How about you?</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My aunt. She started out by selling homemade sauces at a weekend market.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now?</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She employs fifteen people and supplies local shops. What makes her stand out is how carefully she grows.</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about an entrepreneur you admire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Carefully?</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She never borrows more than she can repay. She tests each new product at the market first.</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Smart. Has she ever failed?</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Several times. One product line lost money, but she bounced back and learned from it.</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did you learn from her?</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Talking about an entrepreneur you admire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resilience matters more than luck, and that you should listen to customers.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inspiring. Would you like to start your own business?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day, maybe. I’d need a bit more experience first.</a:t>
            </a:r>
          </a:p>
        </p:txBody>
      </p:sp>
    </p:spTree>
  </p:cSld>
  <p:clrMapOvr>
    <a:masterClrMapping/>
  </p:clrMapOvr>
  <p:transition spd="med">
    <p:fade/>
  </p:transition>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Talking about an entrepreneur you admire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describe an entrepreneur.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Speaker. Entrepreneur: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Listener. Ask about failures and lessons.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started out by · what makes … stand out · bounced back · learned from · resilience · calculated risk</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Tell a short story with qualities and a lesson.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Will says: “Entrepreneurs are just lucky.”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what a typical day for an entrepreneur might be.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whether you’d like to be self-employed and why.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qualities do entrepreneurs need most?</a:t>
            </a:r>
          </a:p>
          <a:p>
            <a:pPr algn="l">
              <a:lnSpc>
                <a:spcPct val="115000"/>
              </a:lnSpc>
              <a:spcAft>
                <a:spcPts val="800"/>
              </a:spcAft>
            </a:pPr>
            <a:r>
              <a:rPr sz="1400" b="0">
                <a:solidFill>
                  <a:srgbClr val="5F677A"/>
                </a:solidFill>
                <a:latin typeface="Arial"/>
                <a:ea typeface="Microsoft YaHei"/>
              </a:rPr>
              <a:t>💬 “I think it’s resilience… / They also need…”</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be employed or self-employed?</a:t>
            </a:r>
          </a:p>
          <a:p>
            <a:pPr algn="l">
              <a:lnSpc>
                <a:spcPct val="115000"/>
              </a:lnSpc>
              <a:spcAft>
                <a:spcPts val="800"/>
              </a:spcAft>
            </a:pPr>
            <a:r>
              <a:rPr sz="1400" b="0">
                <a:solidFill>
                  <a:srgbClr val="5F677A"/>
                </a:solidFill>
                <a:latin typeface="Arial"/>
                <a:ea typeface="Microsoft YaHei"/>
              </a:rPr>
              <a:t>💬 “It depends on… / Being employed offers…”</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entrepreneurs cope with failure?</a:t>
            </a:r>
          </a:p>
          <a:p>
            <a:pPr algn="l">
              <a:lnSpc>
                <a:spcPct val="115000"/>
              </a:lnSpc>
              <a:spcAft>
                <a:spcPts val="800"/>
              </a:spcAft>
            </a:pPr>
            <a:r>
              <a:rPr sz="1400" b="0">
                <a:solidFill>
                  <a:srgbClr val="5F677A"/>
                </a:solidFill>
                <a:latin typeface="Arial"/>
                <a:ea typeface="Microsoft YaHei"/>
              </a:rPr>
              <a:t>💬 “They tend to… / Many see it as…”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have an entrepreneur in your family or community?</a:t>
            </a:r>
          </a:p>
          <a:p>
            <a:pPr algn="l">
              <a:lnSpc>
                <a:spcPct val="115000"/>
              </a:lnSpc>
              <a:spcAft>
                <a:spcPts val="800"/>
              </a:spcAft>
            </a:pPr>
            <a:r>
              <a:rPr sz="1400" b="0">
                <a:solidFill>
                  <a:srgbClr val="5F677A"/>
                </a:solidFill>
                <a:latin typeface="Arial"/>
                <a:ea typeface="Microsoft YaHei"/>
              </a:rPr>
              <a:t>💬 “My… runs a… / He/She…”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Entrepreneurs tend to cope with failure by treating it as information rather than as a verdict on themselves. They look at what went wrong, change the plan and try again. Support from family, friends and mentors helps them keep perspective. Of course, it isn’t easy, and some failures are painful financially, so I think it’s wise not to risk more than you can afford to lose.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verdict = 判决。keep perspective = 保持客观看法。”more than you can afford to lose” = 超出承受范围的损失。painful = 痛苦的。</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He has courage.</a:t>
                      </a:r>
                    </a:p>
                  </a:txBody>
                  <a:tcPr anchor="ctr">
                    <a:solidFill>
                      <a:srgbClr val="FFFFFF"/>
                    </a:solidFill>
                  </a:tcPr>
                </a:tc>
                <a:tc>
                  <a:txBody>
                    <a:bodyPr wrap="square"/>
                    <a:lstStyle/>
                    <a:p>
                      <a:r>
                        <a:rPr sz="1600" b="0">
                          <a:solidFill>
                            <a:srgbClr val="1F2A44"/>
                          </a:solidFill>
                          <a:latin typeface="Arial"/>
                          <a:ea typeface="Microsoft YaHei"/>
                        </a:rPr>
                        <a:t>He’s not afraid to take calculated risks.</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408432">
                <a:tc>
                  <a:txBody>
                    <a:bodyPr wrap="square"/>
                    <a:lstStyle/>
                    <a:p>
                      <a:r>
                        <a:rPr sz="1600" b="1">
                          <a:solidFill>
                            <a:srgbClr val="1F2A44"/>
                          </a:solidFill>
                          <a:latin typeface="Arial"/>
                          <a:ea typeface="Microsoft YaHei"/>
                        </a:rPr>
                        <a:t>She works hard.</a:t>
                      </a:r>
                    </a:p>
                  </a:txBody>
                  <a:tcPr anchor="ctr">
                    <a:solidFill>
                      <a:srgbClr val="FFEFD9"/>
                    </a:solidFill>
                  </a:tcPr>
                </a:tc>
                <a:tc>
                  <a:txBody>
                    <a:bodyPr wrap="square"/>
                    <a:lstStyle/>
                    <a:p>
                      <a:r>
                        <a:rPr sz="1600" b="0">
                          <a:solidFill>
                            <a:srgbClr val="1F2A44"/>
                          </a:solidFill>
                          <a:latin typeface="Arial"/>
                          <a:ea typeface="Microsoft YaHei"/>
                        </a:rPr>
                        <a:t>She has a strong work ethic.</a:t>
                      </a:r>
                    </a:p>
                  </a:txBody>
                  <a:tcPr anchor="ctr">
                    <a:solidFill>
                      <a:srgbClr val="FFEFD9"/>
                    </a:solidFill>
                  </a:tcPr>
                </a:tc>
                <a:tc>
                  <a:txBody>
                    <a:bodyPr wrap="square"/>
                    <a:lstStyle/>
                    <a:p>
                      <a:r>
                        <a:rPr sz="1600" b="0">
                          <a:solidFill>
                            <a:srgbClr val="FF6B5B"/>
                          </a:solidFill>
                          <a:latin typeface="Arial"/>
                          <a:ea typeface="Microsoft YaHei"/>
                        </a:rPr>
                        <a:t>搭配</a:t>
                      </a:r>
                    </a:p>
                  </a:txBody>
                  <a:tcPr anchor="ctr">
                    <a:solidFill>
                      <a:srgbClr val="FFEFD9"/>
                    </a:solidFill>
                  </a:tcPr>
                </a:tc>
              </a:tr>
              <a:tr h="408432">
                <a:tc>
                  <a:txBody>
                    <a:bodyPr wrap="square"/>
                    <a:lstStyle/>
                    <a:p>
                      <a:r>
                        <a:rPr sz="1600" b="1">
                          <a:solidFill>
                            <a:srgbClr val="1F2A44"/>
                          </a:solidFill>
                          <a:latin typeface="Arial"/>
                          <a:ea typeface="Microsoft YaHei"/>
                        </a:rPr>
                        <a:t>He is his boss.</a:t>
                      </a:r>
                    </a:p>
                  </a:txBody>
                  <a:tcPr anchor="ctr">
                    <a:solidFill>
                      <a:srgbClr val="FFFFFF"/>
                    </a:solidFill>
                  </a:tcPr>
                </a:tc>
                <a:tc>
                  <a:txBody>
                    <a:bodyPr wrap="square"/>
                    <a:lstStyle/>
                    <a:p>
                      <a:r>
                        <a:rPr sz="1600" b="0">
                          <a:solidFill>
                            <a:srgbClr val="1F2A44"/>
                          </a:solidFill>
                          <a:latin typeface="Arial"/>
                          <a:ea typeface="Microsoft YaHei"/>
                        </a:rPr>
                        <a:t>He’s self-employed.</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r h="652272">
                <a:tc>
                  <a:txBody>
                    <a:bodyPr wrap="square"/>
                    <a:lstStyle/>
                    <a:p>
                      <a:r>
                        <a:rPr sz="1600" b="1">
                          <a:solidFill>
                            <a:srgbClr val="1F2A44"/>
                          </a:solidFill>
                          <a:latin typeface="Arial"/>
                          <a:ea typeface="Microsoft YaHei"/>
                        </a:rPr>
                        <a:t>She lost, then won.</a:t>
                      </a:r>
                    </a:p>
                  </a:txBody>
                  <a:tcPr anchor="ctr">
                    <a:solidFill>
                      <a:srgbClr val="FFEFD9"/>
                    </a:solidFill>
                  </a:tcPr>
                </a:tc>
                <a:tc>
                  <a:txBody>
                    <a:bodyPr wrap="square"/>
                    <a:lstStyle/>
                    <a:p>
                      <a:r>
                        <a:rPr sz="1600" b="0">
                          <a:solidFill>
                            <a:srgbClr val="1F2A44"/>
                          </a:solidFill>
                          <a:latin typeface="Arial"/>
                          <a:ea typeface="Microsoft YaHei"/>
                        </a:rPr>
                        <a:t>She bounced back from the setback.</a:t>
                      </a:r>
                    </a:p>
                  </a:txBody>
                  <a:tcPr anchor="ctr">
                    <a:solidFill>
                      <a:srgbClr val="FFEFD9"/>
                    </a:solidFill>
                  </a:tcPr>
                </a:tc>
                <a:tc>
                  <a:txBody>
                    <a:bodyPr wrap="square"/>
                    <a:lstStyle/>
                    <a:p>
                      <a:r>
                        <a:rPr sz="1600" b="0">
                          <a:solidFill>
                            <a:srgbClr val="FF6B5B"/>
                          </a:solidFill>
                          <a:latin typeface="Arial"/>
                          <a:ea typeface="Microsoft YaHei"/>
                        </a:rPr>
                        <a:t>习语</a:t>
                      </a:r>
                    </a:p>
                  </a:txBody>
                  <a:tcPr anchor="ctr">
                    <a:solidFill>
                      <a:srgbClr val="FFEFD9"/>
                    </a:solidFill>
                  </a:tcPr>
                </a:tc>
              </a:tr>
              <a:tr h="408432">
                <a:tc>
                  <a:txBody>
                    <a:bodyPr wrap="square"/>
                    <a:lstStyle/>
                    <a:p>
                      <a:r>
                        <a:rPr sz="1600" b="1">
                          <a:solidFill>
                            <a:srgbClr val="1F2A44"/>
                          </a:solidFill>
                          <a:latin typeface="Arial"/>
                          <a:ea typeface="Microsoft YaHei"/>
                        </a:rPr>
                        <a:t>He likes pressure.</a:t>
                      </a:r>
                    </a:p>
                  </a:txBody>
                  <a:tcPr anchor="ctr">
                    <a:solidFill>
                      <a:srgbClr val="FFFFFF"/>
                    </a:solidFill>
                  </a:tcPr>
                </a:tc>
                <a:tc>
                  <a:txBody>
                    <a:bodyPr wrap="square"/>
                    <a:lstStyle/>
                    <a:p>
                      <a:r>
                        <a:rPr sz="1600" b="0">
                          <a:solidFill>
                            <a:srgbClr val="1F2A44"/>
                          </a:solidFill>
                          <a:latin typeface="Arial"/>
                          <a:ea typeface="Microsoft YaHei"/>
                        </a:rPr>
                        <a:t>He thrives on pressure.</a:t>
                      </a:r>
                    </a:p>
                  </a:txBody>
                  <a:tcPr anchor="ctr">
                    <a:solidFill>
                      <a:srgbClr val="FFFFFF"/>
                    </a:solidFill>
                  </a:tcPr>
                </a:tc>
                <a:tc>
                  <a:txBody>
                    <a:bodyPr wrap="square"/>
                    <a:lstStyle/>
                    <a:p>
                      <a:r>
                        <a:rPr sz="1600" b="0">
                          <a:solidFill>
                            <a:srgbClr val="FF6B5B"/>
                          </a:solidFill>
                          <a:latin typeface="Arial"/>
                          <a:ea typeface="Microsoft YaHei"/>
                        </a:rPr>
                        <a:t>习语</a:t>
                      </a:r>
                    </a:p>
                  </a:txBody>
                  <a:tcPr anchor="ctr">
                    <a:solidFill>
                      <a:srgbClr val="FFFFFF"/>
                    </a:solidFill>
                  </a:tcPr>
                </a:tc>
              </a:tr>
            </a:tbl>
          </a:graphicData>
        </a:graphic>
      </p:graphicFrame>
    </p:spTree>
  </p:cSld>
  <p:clrMapOvr>
    <a:masterClrMapping/>
  </p:clrMapOvr>
  <p:transition spd="med">
    <p:fade/>
  </p:transition>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Present simple for general truths: </a:t>
            </a:r>
            <a:r>
              <a:rPr sz="1700" b="0">
                <a:solidFill>
                  <a:srgbClr val="1F2A44"/>
                </a:solidFill>
                <a:latin typeface="Arial"/>
                <a:ea typeface="Microsoft YaHei"/>
              </a:rPr>
              <a:t>“Entrepreneurs often work long hours.”</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Past simple for stories: </a:t>
            </a:r>
            <a:r>
              <a:rPr sz="1700" b="0">
                <a:solidFill>
                  <a:srgbClr val="1F2A44"/>
                </a:solidFill>
                <a:latin typeface="Arial"/>
                <a:ea typeface="Microsoft YaHei"/>
              </a:rPr>
              <a:t>“She started out by… She employed… She learned…”</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Relative clauses: </a:t>
            </a:r>
            <a:r>
              <a:rPr sz="1700" b="0">
                <a:solidFill>
                  <a:srgbClr val="1F2A44"/>
                </a:solidFill>
                <a:latin typeface="Arial"/>
                <a:ea typeface="Microsoft YaHei"/>
              </a:rPr>
              <a:t>a person who takes risks, a business that grows slowly.</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Adverbs of frequency: </a:t>
            </a:r>
            <a:r>
              <a:rPr sz="1700" b="0">
                <a:solidFill>
                  <a:srgbClr val="1F2A44"/>
                </a:solidFill>
                <a:latin typeface="Arial"/>
                <a:ea typeface="Microsoft YaHei"/>
              </a:rPr>
              <a:t>often, rarely, tend to, usually, always.</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Entrepreneur are brave.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Entrepreneurs are brave.</a:t>
            </a:r>
          </a:p>
          <a:p>
            <a:pPr algn="l">
              <a:spcAft>
                <a:spcPts val="200"/>
              </a:spcAft>
            </a:pPr>
            <a:r>
              <a:rPr sz="1200" b="0">
                <a:solidFill>
                  <a:srgbClr val="FFFFFF"/>
                </a:solidFill>
                <a:latin typeface="Arial"/>
                <a:ea typeface="Microsoft YaHei"/>
              </a:rPr>
              <a:t>复数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is a self employed.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is self-employed.</a:t>
            </a:r>
          </a:p>
          <a:p>
            <a:pPr algn="l">
              <a:spcAft>
                <a:spcPts val="200"/>
              </a:spcAft>
            </a:pPr>
            <a:r>
              <a:rPr sz="1200" b="0">
                <a:solidFill>
                  <a:srgbClr val="FFFFFF"/>
                </a:solidFill>
                <a:latin typeface="Arial"/>
                <a:ea typeface="Microsoft YaHei"/>
              </a:rPr>
              <a:t>形容词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success.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successful.</a:t>
            </a:r>
          </a:p>
          <a:p>
            <a:pPr algn="l">
              <a:spcAft>
                <a:spcPts val="200"/>
              </a:spcAft>
            </a:pPr>
            <a:r>
              <a:rPr sz="1200" b="0">
                <a:solidFill>
                  <a:srgbClr val="FFFFFF"/>
                </a:solidFill>
                <a:latin typeface="Arial"/>
                <a:ea typeface="Microsoft YaHei"/>
              </a:rPr>
              <a:t>形容词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make a big risk.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took a big risk.</a:t>
            </a:r>
          </a:p>
          <a:p>
            <a:pPr algn="l">
              <a:spcAft>
                <a:spcPts val="200"/>
              </a:spcAft>
            </a:pPr>
            <a:r>
              <a:rPr sz="1200" b="0">
                <a:solidFill>
                  <a:srgbClr val="FFFFFF"/>
                </a:solidFill>
                <a:latin typeface="Arial"/>
                <a:ea typeface="Microsoft YaHei"/>
              </a:rPr>
              <a:t>take a risk</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admire her very much for her persevere.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admire her perseverance.</a:t>
            </a:r>
          </a:p>
          <a:p>
            <a:pPr algn="l">
              <a:spcAft>
                <a:spcPts val="200"/>
              </a:spcAft>
            </a:pPr>
            <a:r>
              <a:rPr sz="1200" b="0">
                <a:solidFill>
                  <a:srgbClr val="FFFFFF"/>
                </a:solidFill>
                <a:latin typeface="Arial"/>
                <a:ea typeface="Microsoft YaHei"/>
              </a:rPr>
              <a:t>名词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uncle owns a factory what makes toys.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uncle owns a factory that makes toys.</a:t>
            </a:r>
          </a:p>
          <a:p>
            <a:pPr algn="l">
              <a:spcAft>
                <a:spcPts val="200"/>
              </a:spcAft>
            </a:pPr>
            <a:r>
              <a:rPr sz="1200" b="0">
                <a:solidFill>
                  <a:srgbClr val="FFFFFF"/>
                </a:solidFill>
                <a:latin typeface="Arial"/>
                <a:ea typeface="Microsoft YaHei"/>
              </a:rPr>
              <a:t>that/which</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adjective/noun forms (successful / success; persevere / perseverance) and relative pronouns.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Hustle culture: </a:t>
            </a:r>
            <a:r>
              <a:rPr sz="1700" b="0">
                <a:solidFill>
                  <a:srgbClr val="1F2A44"/>
                </a:solidFill>
                <a:latin typeface="Arial"/>
                <a:ea typeface="Microsoft YaHei"/>
              </a:rPr>
              <a:t>Some cultures glorify long hours; others value balance. Be aware of burnout.</a:t>
            </a:r>
          </a:p>
        </p:txBody>
      </p:sp>
      <p:sp>
        <p:nvSpPr>
          <p:cNvPr id="12" name="Rounded Rectangle 11"/>
          <p:cNvSpPr/>
          <p:nvPr/>
        </p:nvSpPr>
        <p:spPr>
          <a:xfrm>
            <a:off x="548640" y="1950719"/>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70103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701039"/>
          </a:xfrm>
          <a:prstGeom prst="rect">
            <a:avLst/>
          </a:prstGeom>
          <a:noFill/>
        </p:spPr>
        <p:txBody>
          <a:bodyPr wrap="square" anchor="ctr">
            <a:spAutoFit/>
          </a:bodyPr>
          <a:lstStyle/>
          <a:p>
            <a:r>
              <a:rPr sz="1700" b="1">
                <a:solidFill>
                  <a:srgbClr val="4A90E2"/>
                </a:solidFill>
                <a:latin typeface="Arial"/>
                <a:ea typeface="Microsoft YaHei"/>
              </a:rPr>
              <a:t>Role models: </a:t>
            </a:r>
            <a:r>
              <a:rPr sz="1700" b="0">
                <a:solidFill>
                  <a:srgbClr val="1F2A44"/>
                </a:solidFill>
                <a:latin typeface="Arial"/>
                <a:ea typeface="Microsoft YaHei"/>
              </a:rPr>
              <a:t>Entrepreneurs often share stories on podcasts and talks; remember that survivor bias shapes stories.</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Family business: </a:t>
            </a:r>
            <a:r>
              <a:rPr sz="1700" b="0">
                <a:solidFill>
                  <a:srgbClr val="1F2A44"/>
                </a:solidFill>
                <a:latin typeface="Arial"/>
                <a:ea typeface="Microsoft YaHei"/>
              </a:rPr>
              <a:t>In many countries family businesses are common; roles and expectations can differ.</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self-employed 是形容词,不加 a;take a risk;名词形容词转换:success → successful, perseverance → persevere。事物用 that / which,人用 who / that。</a:t>
            </a:r>
          </a:p>
        </p:txBody>
      </p:sp>
    </p:spTree>
  </p:cSld>
  <p:clrMapOvr>
    <a:masterClrMapping/>
  </p:clrMapOvr>
  <p:transition spd="med">
    <p:fade/>
  </p:transition>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an entrepreneur’s qualities with examples.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tell a short story about a business person.</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relative clauses and adverbs of frequency.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self-employed, take a risk and adjective forms correctly.</a:t>
            </a:r>
          </a:p>
        </p:txBody>
      </p:sp>
      <p:sp>
        <p:nvSpPr>
          <p:cNvPr id="24" name="TextBox 23"/>
          <p:cNvSpPr txBox="1"/>
          <p:nvPr/>
        </p:nvSpPr>
        <p:spPr>
          <a:xfrm>
            <a:off x="9539935" y="3300984"/>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42031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42031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42031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42031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80 Being an Entrepreneur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adjective/noun forms, take a risk, and relative clauses.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9 · Lesson 81 Why Businesses Fail</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81</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Why Businesses Fail</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企业为什么失败</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why businesses fail: cash flow, poor planning, wrong market, competition and management issues; learn from failure.</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know a business that failed? Why?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main reason small businesses close?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an owner see warning signs?</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Is failure always bad?</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should an entrepreneur do when a business is in trouble?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go bust / go bankrupt = 破产。cash flow = 现金流。第 4 题可答 “It depends…”。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Analyse why a business failed and what could have been done.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happened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causes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could have been done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lessons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main reason it failed was…   💬 They should have…   💬 A lesson for others is…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should have + 过去分词 = 本该……。The main reason… was… 引出主因。</a:t>
            </a:r>
          </a:p>
        </p:txBody>
      </p:sp>
    </p:spTree>
  </p:cSld>
  <p:clrMapOvr>
    <a:masterClrMapping/>
  </p:clrMapOvr>
  <p:transition spd="med">
    <p:fade/>
  </p:transition>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Seeing the Warning Signs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A large number of new businesses close within a few years, and the reasons are surprisingly consistent. Running out of cash is the most common: a company can be profitable on paper but still fail if customers pay late and bills must be paid now. Other causes include building a product nobody wants, underestimating competition, setting prices too low to cover costs, hiring too fast and conflict among founders. Often the problem is not one big mistake but a series of small ones that go unnoticed. Warning signs include falling sales, rising debts, stressed staff and regular surprises in the accounts. Owners who check numbers weekly, speak to customers and ask advisers early have a better chance of acting in time. Failure can be painful, but those who analyse it honestly often start stronger the next time.</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the most common reason for failure?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Running out of cash.</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Name two other causes.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E.g. a product nobody wants, underestimating competition, prices too low, hiring too fast, founder conflict.</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helps owners act in time?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Checking numbers weekly, speaking to customers and asking advisers early.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Business trouble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经营困境</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cash flow</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现金流</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“Cash flow is our biggest concern.”</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debt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债务</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firm is in debt.”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bankruptcy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破产</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filed for bankruptcy.”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overheads</a:t>
            </a:r>
          </a:p>
          <a:p>
            <a:pPr algn="l">
              <a:lnSpc>
                <a:spcPct val="115000"/>
              </a:lnSpc>
              <a:spcAft>
                <a:spcPts val="800"/>
              </a:spcAft>
            </a:pPr>
            <a:r>
              <a:rPr sz="1300" b="0">
                <a:solidFill>
                  <a:srgbClr val="5F677A"/>
                </a:solidFill>
                <a:latin typeface="Arial"/>
                <a:ea typeface="Microsoft YaHei"/>
              </a:rPr>
              <a:t>noun (plural)</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运营成本</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“Overheads are too high.”</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break even</a:t>
            </a:r>
          </a:p>
          <a:p>
            <a:pPr algn="l">
              <a:lnSpc>
                <a:spcPct val="115000"/>
              </a:lnSpc>
              <a:spcAft>
                <a:spcPts val="800"/>
              </a:spcAft>
            </a:pPr>
            <a:r>
              <a:rPr sz="1300" b="0">
                <a:solidFill>
                  <a:srgbClr val="5F677A"/>
                </a:solidFill>
                <a:latin typeface="Arial"/>
                <a:ea typeface="Microsoft YaHei"/>
              </a:rPr>
              <a:t>verb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收支平衡</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hope to break even this year.”</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liquidation</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清算</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went into liquidation.”</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2: Warning signs and lessons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预警信号与教训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run out of cash</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现金耗尽</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ran out of cash.”</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under</a:t>
            </a:r>
          </a:p>
          <a:p>
            <a:pPr algn="l">
              <a:lnSpc>
                <a:spcPct val="115000"/>
              </a:lnSpc>
              <a:spcAft>
                <a:spcPts val="800"/>
              </a:spcAft>
            </a:pPr>
            <a:r>
              <a:rPr sz="1300" b="0">
                <a:solidFill>
                  <a:srgbClr val="5F677A"/>
                </a:solidFill>
                <a:latin typeface="Arial"/>
                <a:ea typeface="Microsoft YaHei"/>
              </a:rPr>
              <a:t>phrasal 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倒闭</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“Many small shops went under.”</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 the red / in the black</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亏损 / 盈利</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“We’re still in the red.”</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 rate</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烧钱速度</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burn rate is too high.”</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pivot</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转型</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pivoted to online sales.”</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 your losses</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及时止损</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decided to cut his losses.”</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转型</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pivot</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及时止损</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 your losses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亏损 / 盈利</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 the red / in the black</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破产</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bankruptcy</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运营成本</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overheads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现金耗尽</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run out of cash</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清算</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liquidation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烧钱速度</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 rate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cash flow</a:t>
            </a:r>
          </a:p>
        </p:txBody>
      </p:sp>
      <p:sp>
        <p:nvSpPr>
          <p:cNvPr id="10" name="Rounded Rectangle 9"/>
          <p:cNvSpPr/>
          <p:nvPr/>
        </p:nvSpPr>
        <p:spPr>
          <a:xfrm>
            <a:off x="3456432" y="987552"/>
            <a:ext cx="80467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debt</a:t>
            </a:r>
          </a:p>
        </p:txBody>
      </p:sp>
      <p:sp>
        <p:nvSpPr>
          <p:cNvPr id="11" name="Rounded Rectangle 10"/>
          <p:cNvSpPr/>
          <p:nvPr/>
        </p:nvSpPr>
        <p:spPr>
          <a:xfrm>
            <a:off x="4352544"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bankruptcy</a:t>
            </a:r>
          </a:p>
        </p:txBody>
      </p:sp>
      <p:sp>
        <p:nvSpPr>
          <p:cNvPr id="12" name="Rounded Rectangle 11"/>
          <p:cNvSpPr/>
          <p:nvPr/>
        </p:nvSpPr>
        <p:spPr>
          <a:xfrm>
            <a:off x="5907024"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overheads</a:t>
            </a:r>
          </a:p>
        </p:txBody>
      </p:sp>
      <p:sp>
        <p:nvSpPr>
          <p:cNvPr id="13" name="Rounded Rectangle 12"/>
          <p:cNvSpPr/>
          <p:nvPr/>
        </p:nvSpPr>
        <p:spPr>
          <a:xfrm>
            <a:off x="7351776"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break even</a:t>
            </a:r>
          </a:p>
        </p:txBody>
      </p:sp>
      <p:sp>
        <p:nvSpPr>
          <p:cNvPr id="14" name="Rounded Rectangle 13"/>
          <p:cNvSpPr/>
          <p:nvPr/>
        </p:nvSpPr>
        <p:spPr>
          <a:xfrm>
            <a:off x="8906256"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pivot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Poor _______ is a common reason small firms fail.</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cash flow</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company has a lot of _______ and little income.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debt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After years of losses, the firm filed for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bankruptcy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Rent and utilities are our biggest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overheads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expect to _______ by the end of the year.</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 even</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 restaurant had to _______ to takeaway to survive.</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pivot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bankruptcy (not “bankrupcy”), liquidation, overheads (UK; US overhead). File for bankruptcy, go bankrupt, go bust (informal). Cash flow (two words, noun), cash-flow problem. Be in debt, be in the red. Fail vs failure. Lose money (not “waste”).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Role Play · Analysing why a business failed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分析企业为什么失败</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friends discuss why a local cafe closed after two years.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Bea Guo, business student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Sam Leigh, friend</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Analysing why a business failed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Bea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Sam, did you hear that the cafe on Park Road has closed?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Sam</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It was always busy, so I was surprised. Why did it fail?</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main reason, I think, was the rent. It was very high, and they had no cushion when sales dipped.</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they were busy.</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Busy doesn’t always mean profitable. Prices were low, and they didn’t track costs carefully.</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Analysing why a business failed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They should have raised prices.</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Probably, or reduced the menu. They also spent a lot on a second branch too early.</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cash-flow problem, then.</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A lesson for others is to keep a cash reserve and check the numbers weekly.</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think they could have survived?</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Analysing why a business failed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Perhaps, if they had pivoted to takeaway earlier. But it’s hard to say.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a shame. They made good coffee.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Quality doesn’t guarantee survival, unfortunately.</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Your Turn · Analysing why a business failed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analyse a business failure.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Speaker. Business: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Listener. Ask about causes.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the main reason · should have · cash flow · lesson · could have · warning signs</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causes, what could have been done and one lesson.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Sam says: “Maybe they were just unlucky.” Respond.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three warning signs a small business owner should watch.</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a business you know that adapted to survive.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most common reasons businesses fail?</a:t>
            </a:r>
          </a:p>
          <a:p>
            <a:pPr algn="l">
              <a:lnSpc>
                <a:spcPct val="115000"/>
              </a:lnSpc>
              <a:spcAft>
                <a:spcPts val="800"/>
              </a:spcAft>
            </a:pPr>
            <a:r>
              <a:rPr sz="1400" b="0">
                <a:solidFill>
                  <a:srgbClr val="5F677A"/>
                </a:solidFill>
                <a:latin typeface="Arial"/>
                <a:ea typeface="Microsoft YaHei"/>
              </a:rPr>
              <a:t>💬 “I think the main reasons are… “</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better to close a failing business quickly?</a:t>
            </a:r>
          </a:p>
          <a:p>
            <a:pPr algn="l">
              <a:lnSpc>
                <a:spcPct val="115000"/>
              </a:lnSpc>
              <a:spcAft>
                <a:spcPts val="800"/>
              </a:spcAft>
            </a:pPr>
            <a:r>
              <a:rPr sz="1400" b="0">
                <a:solidFill>
                  <a:srgbClr val="5F677A"/>
                </a:solidFill>
                <a:latin typeface="Arial"/>
                <a:ea typeface="Microsoft YaHei"/>
              </a:rPr>
              <a:t>💬 “Often yes, because…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entrepreneurs be afraid of failure?</a:t>
            </a:r>
          </a:p>
          <a:p>
            <a:pPr algn="l">
              <a:lnSpc>
                <a:spcPct val="115000"/>
              </a:lnSpc>
              <a:spcAft>
                <a:spcPts val="800"/>
              </a:spcAft>
            </a:pPr>
            <a:r>
              <a:rPr sz="1400" b="0">
                <a:solidFill>
                  <a:srgbClr val="5F677A"/>
                </a:solidFill>
                <a:latin typeface="Arial"/>
                <a:ea typeface="Microsoft YaHei"/>
              </a:rPr>
              <a:t>💬 “A healthy respect for failure is good, but…”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we learn from failed businesses?</a:t>
            </a:r>
          </a:p>
          <a:p>
            <a:pPr algn="l">
              <a:lnSpc>
                <a:spcPct val="115000"/>
              </a:lnSpc>
              <a:spcAft>
                <a:spcPts val="800"/>
              </a:spcAft>
            </a:pPr>
            <a:r>
              <a:rPr sz="1400" b="0">
                <a:solidFill>
                  <a:srgbClr val="5F677A"/>
                </a:solidFill>
                <a:latin typeface="Arial"/>
                <a:ea typeface="Microsoft YaHei"/>
              </a:rPr>
              <a:t>💬 “We can learn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In many cases it’s better to cut your losses early, because staying in a failing business can drain money, energy and morale. But it depends. If the problem is temporary or fixable, such as a short-term cash shortage, it can be worth continuing. A useful rule is to set clear limits in advance, for example a date or a sum of money after which you will reassess honestly.</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drain = 耗尽。reassess = 重新评估。”set limits” = 设定限度。”temporary” = 暂时的。</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4505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The shop closed.</a:t>
                      </a:r>
                    </a:p>
                  </a:txBody>
                  <a:tcPr anchor="ctr">
                    <a:solidFill>
                      <a:srgbClr val="FFFFFF"/>
                    </a:solidFill>
                  </a:tcPr>
                </a:tc>
                <a:tc>
                  <a:txBody>
                    <a:bodyPr wrap="square"/>
                    <a:lstStyle/>
                    <a:p>
                      <a:r>
                        <a:rPr sz="1600" b="0">
                          <a:solidFill>
                            <a:srgbClr val="1F2A44"/>
                          </a:solidFill>
                          <a:latin typeface="Arial"/>
                          <a:ea typeface="Microsoft YaHei"/>
                        </a:rPr>
                        <a:t>The shop went out of business.</a:t>
                      </a:r>
                    </a:p>
                  </a:txBody>
                  <a:tcPr anchor="ctr">
                    <a:solidFill>
                      <a:srgbClr val="FFFFFF"/>
                    </a:solidFill>
                  </a:tcPr>
                </a:tc>
                <a:tc>
                  <a:txBody>
                    <a:bodyPr wrap="square"/>
                    <a:lstStyle/>
                    <a:p>
                      <a:r>
                        <a:rPr sz="1600" b="0">
                          <a:solidFill>
                            <a:srgbClr val="FF6B5B"/>
                          </a:solidFill>
                          <a:latin typeface="Arial"/>
                          <a:ea typeface="Microsoft YaHei"/>
                        </a:rPr>
                        <a:t>地道</a:t>
                      </a:r>
                    </a:p>
                  </a:txBody>
                  <a:tcPr anchor="ctr">
                    <a:solidFill>
                      <a:srgbClr val="FFFFFF"/>
                    </a:solidFill>
                  </a:tcPr>
                </a:tc>
              </a:tr>
              <a:tr h="408432">
                <a:tc>
                  <a:txBody>
                    <a:bodyPr wrap="square"/>
                    <a:lstStyle/>
                    <a:p>
                      <a:r>
                        <a:rPr sz="1600" b="1">
                          <a:solidFill>
                            <a:srgbClr val="1F2A44"/>
                          </a:solidFill>
                          <a:latin typeface="Arial"/>
                          <a:ea typeface="Microsoft YaHei"/>
                        </a:rPr>
                        <a:t>It lost money.</a:t>
                      </a:r>
                    </a:p>
                  </a:txBody>
                  <a:tcPr anchor="ctr">
                    <a:solidFill>
                      <a:srgbClr val="FFEFD9"/>
                    </a:solidFill>
                  </a:tcPr>
                </a:tc>
                <a:tc>
                  <a:txBody>
                    <a:bodyPr wrap="square"/>
                    <a:lstStyle/>
                    <a:p>
                      <a:r>
                        <a:rPr sz="1600" b="0">
                          <a:solidFill>
                            <a:srgbClr val="1F2A44"/>
                          </a:solidFill>
                          <a:latin typeface="Arial"/>
                          <a:ea typeface="Microsoft YaHei"/>
                        </a:rPr>
                        <a:t>It operated at a loss.</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408432">
                <a:tc>
                  <a:txBody>
                    <a:bodyPr wrap="square"/>
                    <a:lstStyle/>
                    <a:p>
                      <a:r>
                        <a:rPr sz="1600" b="1">
                          <a:solidFill>
                            <a:srgbClr val="1F2A44"/>
                          </a:solidFill>
                          <a:latin typeface="Arial"/>
                          <a:ea typeface="Microsoft YaHei"/>
                        </a:rPr>
                        <a:t>They had no money.</a:t>
                      </a:r>
                    </a:p>
                  </a:txBody>
                  <a:tcPr anchor="ctr">
                    <a:solidFill>
                      <a:srgbClr val="FFFFFF"/>
                    </a:solidFill>
                  </a:tcPr>
                </a:tc>
                <a:tc>
                  <a:txBody>
                    <a:bodyPr wrap="square"/>
                    <a:lstStyle/>
                    <a:p>
                      <a:r>
                        <a:rPr sz="1600" b="0">
                          <a:solidFill>
                            <a:srgbClr val="1F2A44"/>
                          </a:solidFill>
                          <a:latin typeface="Arial"/>
                          <a:ea typeface="Microsoft YaHei"/>
                        </a:rPr>
                        <a:t>They ran out of cash.</a:t>
                      </a:r>
                    </a:p>
                  </a:txBody>
                  <a:tcPr anchor="ctr">
                    <a:solidFill>
                      <a:srgbClr val="FFFFFF"/>
                    </a:solidFill>
                  </a:tcPr>
                </a:tc>
                <a:tc>
                  <a:txBody>
                    <a:bodyPr wrap="square"/>
                    <a:lstStyle/>
                    <a:p>
                      <a:r>
                        <a:rPr sz="1600" b="0">
                          <a:solidFill>
                            <a:srgbClr val="FF6B5B"/>
                          </a:solidFill>
                          <a:latin typeface="Arial"/>
                          <a:ea typeface="Microsoft YaHei"/>
                        </a:rPr>
                        <a:t>搭配</a:t>
                      </a:r>
                    </a:p>
                  </a:txBody>
                  <a:tcPr anchor="ctr">
                    <a:solidFill>
                      <a:srgbClr val="FFFFFF"/>
                    </a:solidFill>
                  </a:tcPr>
                </a:tc>
              </a:tr>
              <a:tr h="408432">
                <a:tc>
                  <a:txBody>
                    <a:bodyPr wrap="square"/>
                    <a:lstStyle/>
                    <a:p>
                      <a:r>
                        <a:rPr sz="1600" b="1">
                          <a:solidFill>
                            <a:srgbClr val="1F2A44"/>
                          </a:solidFill>
                          <a:latin typeface="Arial"/>
                          <a:ea typeface="Microsoft YaHei"/>
                        </a:rPr>
                        <a:t>They had too many costs.</a:t>
                      </a:r>
                    </a:p>
                  </a:txBody>
                  <a:tcPr anchor="ctr">
                    <a:solidFill>
                      <a:srgbClr val="FFEFD9"/>
                    </a:solidFill>
                  </a:tcPr>
                </a:tc>
                <a:tc>
                  <a:txBody>
                    <a:bodyPr wrap="square"/>
                    <a:lstStyle/>
                    <a:p>
                      <a:r>
                        <a:rPr sz="1600" b="0">
                          <a:solidFill>
                            <a:srgbClr val="1F2A44"/>
                          </a:solidFill>
                          <a:latin typeface="Arial"/>
                          <a:ea typeface="Microsoft YaHei"/>
                        </a:rPr>
                        <a:t>Their overheads were too high.</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408432">
                <a:tc>
                  <a:txBody>
                    <a:bodyPr wrap="square"/>
                    <a:lstStyle/>
                    <a:p>
                      <a:r>
                        <a:rPr sz="1600" b="1">
                          <a:solidFill>
                            <a:srgbClr val="1F2A44"/>
                          </a:solidFill>
                          <a:latin typeface="Arial"/>
                          <a:ea typeface="Microsoft YaHei"/>
                        </a:rPr>
                        <a:t>They changed their business.</a:t>
                      </a:r>
                    </a:p>
                  </a:txBody>
                  <a:tcPr anchor="ctr">
                    <a:solidFill>
                      <a:srgbClr val="FFFFFF"/>
                    </a:solidFill>
                  </a:tcPr>
                </a:tc>
                <a:tc>
                  <a:txBody>
                    <a:bodyPr wrap="square"/>
                    <a:lstStyle/>
                    <a:p>
                      <a:r>
                        <a:rPr sz="1600" b="0">
                          <a:solidFill>
                            <a:srgbClr val="1F2A44"/>
                          </a:solidFill>
                          <a:latin typeface="Arial"/>
                          <a:ea typeface="Microsoft YaHei"/>
                        </a:rPr>
                        <a:t>They pivoted to a new model.</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bl>
          </a:graphicData>
        </a:graphic>
      </p:graphicFrame>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Past modals: </a:t>
            </a:r>
            <a:r>
              <a:rPr sz="1700" b="0">
                <a:solidFill>
                  <a:srgbClr val="1F2A44"/>
                </a:solidFill>
                <a:latin typeface="Arial"/>
                <a:ea typeface="Microsoft YaHei"/>
              </a:rPr>
              <a:t>should have + past participle (criticism), could have (possibility), might have (speculation): “They could have survived.”</a:t>
            </a:r>
          </a:p>
        </p:txBody>
      </p:sp>
      <p:sp>
        <p:nvSpPr>
          <p:cNvPr id="11" name="Rounded Rectangle 10"/>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Third conditional: </a:t>
            </a:r>
            <a:r>
              <a:rPr sz="1700" b="0">
                <a:solidFill>
                  <a:srgbClr val="1F2A44"/>
                </a:solidFill>
                <a:latin typeface="Arial"/>
                <a:ea typeface="Microsoft YaHei"/>
              </a:rPr>
              <a:t>“If they had tracked costs, they might have survived.”</a:t>
            </a:r>
          </a:p>
        </p:txBody>
      </p:sp>
      <p:sp>
        <p:nvSpPr>
          <p:cNvPr id="14" name="Rounded Rectangle 13"/>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Causes: </a:t>
            </a:r>
            <a:r>
              <a:rPr sz="1700" b="0">
                <a:solidFill>
                  <a:srgbClr val="1F2A44"/>
                </a:solidFill>
                <a:latin typeface="Arial"/>
                <a:ea typeface="Microsoft YaHei"/>
              </a:rPr>
              <a:t>because of, due to, as a result of, owing to.</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Hedging causes: </a:t>
            </a:r>
            <a:r>
              <a:rPr sz="1700" b="0">
                <a:solidFill>
                  <a:srgbClr val="1F2A44"/>
                </a:solidFill>
                <a:latin typeface="Arial"/>
                <a:ea typeface="Microsoft YaHei"/>
              </a:rPr>
              <a:t>The main reason seems to be…, It appears that…</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should have raise prices.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should have raised prices.</a:t>
            </a:r>
          </a:p>
          <a:p>
            <a:pPr algn="l">
              <a:spcAft>
                <a:spcPts val="200"/>
              </a:spcAft>
            </a:pPr>
            <a:r>
              <a:rPr sz="1200" b="0">
                <a:solidFill>
                  <a:srgbClr val="FFFFFF"/>
                </a:solidFill>
                <a:latin typeface="Arial"/>
                <a:ea typeface="Microsoft YaHei"/>
              </a:rPr>
              <a:t>过去分词</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cafe was bankrupt by the high rent.</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cafe went bankrupt because of the high rent.</a:t>
            </a:r>
          </a:p>
          <a:p>
            <a:pPr algn="l">
              <a:spcAft>
                <a:spcPts val="200"/>
              </a:spcAft>
            </a:pPr>
            <a:r>
              <a:rPr sz="1200" b="0">
                <a:solidFill>
                  <a:srgbClr val="FFFFFF"/>
                </a:solidFill>
                <a:latin typeface="Arial"/>
                <a:ea typeface="Microsoft YaHei"/>
              </a:rPr>
              <a:t>go bankrupt</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reason is because the rent was high.</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reason is that the rent was high.</a:t>
            </a:r>
          </a:p>
          <a:p>
            <a:pPr algn="l">
              <a:spcAft>
                <a:spcPts val="200"/>
              </a:spcAft>
            </a:pPr>
            <a:r>
              <a:rPr sz="1200" b="0">
                <a:solidFill>
                  <a:srgbClr val="FFFFFF"/>
                </a:solidFill>
                <a:latin typeface="Arial"/>
                <a:ea typeface="Microsoft YaHei"/>
              </a:rPr>
              <a:t>reason …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If they didn’t open the second branch, they survived.</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If they hadn’t opened a second branch, they might have survived.</a:t>
            </a:r>
          </a:p>
          <a:p>
            <a:pPr algn="l">
              <a:spcAft>
                <a:spcPts val="200"/>
              </a:spcAft>
            </a:pPr>
            <a:r>
              <a:rPr sz="1200" b="0">
                <a:solidFill>
                  <a:srgbClr val="FFFFFF"/>
                </a:solidFill>
                <a:latin typeface="Arial"/>
                <a:ea typeface="Microsoft YaHei"/>
              </a:rPr>
              <a:t>第三条件句</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lost all of the benefits.</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lost all their money.</a:t>
            </a:r>
          </a:p>
          <a:p>
            <a:pPr algn="l">
              <a:spcAft>
                <a:spcPts val="200"/>
              </a:spcAft>
            </a:pPr>
            <a:r>
              <a:rPr sz="1200" b="0">
                <a:solidFill>
                  <a:srgbClr val="FFFFFF"/>
                </a:solidFill>
                <a:latin typeface="Arial"/>
                <a:ea typeface="Microsoft YaHei"/>
              </a:rPr>
              <a:t>搭配</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business was closed down by failing.</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business closed down because it failed.</a:t>
            </a:r>
          </a:p>
          <a:p>
            <a:pPr algn="l">
              <a:spcAft>
                <a:spcPts val="200"/>
              </a:spcAft>
            </a:pPr>
            <a:r>
              <a:rPr sz="1200" b="0">
                <a:solidFill>
                  <a:srgbClr val="FFFFFF"/>
                </a:solidFill>
                <a:latin typeface="Arial"/>
                <a:ea typeface="Microsoft YaHei"/>
              </a:rPr>
              <a:t>因果</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should have + past participle, third conditional, and the reason is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Stigma of failure: </a:t>
            </a:r>
            <a:r>
              <a:rPr sz="1700" b="0">
                <a:solidFill>
                  <a:srgbClr val="1F2A44"/>
                </a:solidFill>
                <a:latin typeface="Arial"/>
                <a:ea typeface="Microsoft YaHei"/>
              </a:rPr>
              <a:t>Attitudes differ; in some countries a bankruptcy can limit future business activity.</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Privacy: </a:t>
            </a:r>
            <a:r>
              <a:rPr sz="1700" b="0">
                <a:solidFill>
                  <a:srgbClr val="1F2A44"/>
                </a:solidFill>
                <a:latin typeface="Arial"/>
                <a:ea typeface="Microsoft YaHei"/>
              </a:rPr>
              <a:t>Avoid speculating about named real people or businesses; use general examples.</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Seeking help: </a:t>
            </a:r>
            <a:r>
              <a:rPr sz="1700" b="0">
                <a:solidFill>
                  <a:srgbClr val="1F2A44"/>
                </a:solidFill>
                <a:latin typeface="Arial"/>
                <a:ea typeface="Microsoft YaHei"/>
              </a:rPr>
              <a:t>Accountants, advisers and charities often offer free support for struggling small firms.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should have + 过去分词;reason … is that(不要 because);go bankrupt。第三条件句描述过去未发生的假设。</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81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why a business might fail.</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past modals and third conditional.</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cash flow and warning signs.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go bankrupt and the reason is that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81 Why Businesses Fail</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past modals, third conditional, and the reason is that.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9 · Lesson 82 Low-Cost Businesses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73</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82</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Low-Cost Businesses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低成本创业</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businesses that can be started with little money: service businesses, online selling, side projects and keeping costs under control.</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kind of business could you start with very little money?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costs can a new business avoid?</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the internet make it cheaper to start a business?</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downsides of a low-cost business?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keep costs down without lowering quality?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low-cost = 低成本的;overheads = 运营成本;lean = 精益。第 4 题思考:low barriers to entry 意味着竞争多。</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to start a low-cost business and keep costs under control.</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idea</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minimal costs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first customers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growth</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You can start with very little by…   💬 To keep costs down, I’d…   💬 The downside is that…</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keep costs down = 控制成本。The downside is that… = 缺点是……。by + -ing 说明方式。</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Starting Lean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134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You do not always need a large loan to start a business. Many people begin with services that require skills rather than equipment: tutoring, graphic design, cleaning, home repairs or consulting. Others sell products online without holding stock, by working with suppliers who send goods directly to customers. Free or cheap tools handle websites, accounting and social media, and working from home saves rent. The aim is to keep overheads low and to test demand quickly. However, low barriers to entry mean that competitors can start just as easily, so it is important to stand out through quality, niche focus or customer service. Low-cost does not mean low-effort: time is the main investment. Founders should track every expense, reinvest early profits wisely and avoid spending on things that do not directly help win customers.</a:t>
            </a:r>
          </a:p>
        </p:txBody>
      </p:sp>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kinds of business need skills rather than equipment?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Services such as tutoring, graphic design, cleaning, home repairs or consulting.</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can someone sell products without holding stock?</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By working with suppliers who send goods directly to customers.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Why is it important to stand out?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Low barriers to entry mean competitors can start easily.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Keeping costs low</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控制成本</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start-up costs</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启动成本</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“Start-up costs are low.”</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overheads</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运营成本</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keep overheads low.”</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budget</a:t>
            </a:r>
          </a:p>
          <a:p>
            <a:pPr algn="l">
              <a:lnSpc>
                <a:spcPct val="115000"/>
              </a:lnSpc>
              <a:spcAft>
                <a:spcPts val="800"/>
              </a:spcAft>
            </a:pPr>
            <a:r>
              <a:rPr sz="1300" b="0">
                <a:solidFill>
                  <a:srgbClr val="5F677A"/>
                </a:solidFill>
                <a:latin typeface="Arial"/>
                <a:ea typeface="Microsoft YaHei"/>
              </a:rPr>
              <a:t>noun /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预算</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work on a tight budget.”</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profit margin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利润率</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profit margin is 20%.”</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supplier</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供应商</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use a reliable supplier.”</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freelance</a:t>
            </a:r>
          </a:p>
          <a:p>
            <a:pPr algn="l">
              <a:lnSpc>
                <a:spcPct val="115000"/>
              </a:lnSpc>
              <a:spcAft>
                <a:spcPts val="800"/>
              </a:spcAft>
            </a:pPr>
            <a:r>
              <a:rPr sz="1300" b="0">
                <a:solidFill>
                  <a:srgbClr val="5F677A"/>
                </a:solidFill>
                <a:latin typeface="Arial"/>
                <a:ea typeface="Microsoft YaHei"/>
              </a:rPr>
              <a:t>adjective / 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自由职业的</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works freelance.”</a:t>
            </a:r>
          </a:p>
        </p:txBody>
      </p:sp>
    </p:spTree>
  </p:cSld>
  <p:clrMapOvr>
    <a:masterClrMapping/>
  </p:clrMapOvr>
  <p:transition spd="med">
    <p:fade/>
  </p:transition>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Lean thinking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精益思维</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on a shoestring</a:t>
            </a:r>
          </a:p>
          <a:p>
            <a:pPr algn="l">
              <a:lnSpc>
                <a:spcPct val="115000"/>
              </a:lnSpc>
              <a:spcAft>
                <a:spcPts val="800"/>
              </a:spcAft>
            </a:pPr>
            <a:r>
              <a:rPr sz="1300" b="0">
                <a:solidFill>
                  <a:srgbClr val="5F677A"/>
                </a:solidFill>
                <a:latin typeface="Arial"/>
                <a:ea typeface="Microsoft YaHei"/>
              </a:rPr>
              <a:t>idiom</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预算极少</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started on a shoestring.”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low barriers to entry</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进入门槛低</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market has low barriers to entry.”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dropshipping</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代发货模式</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sells through dropshipping.”</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cut corners</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偷工减料</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cut corners on quality.”</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scale up</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扩大规模</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“We’ll scale up as we grow.”</a:t>
            </a:r>
          </a:p>
        </p:txBody>
      </p:sp>
      <p:sp>
        <p:nvSpPr>
          <p:cNvPr id="34" name="Rounded Rectangle 33"/>
          <p:cNvSpPr/>
          <p:nvPr/>
        </p:nvSpPr>
        <p:spPr>
          <a:xfrm>
            <a:off x="548640" y="49352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word-of-mouth marketing</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口碑营销</a:t>
            </a:r>
          </a:p>
        </p:txBody>
      </p:sp>
      <p:sp>
        <p:nvSpPr>
          <p:cNvPr id="38" name="TextBox 37"/>
          <p:cNvSpPr txBox="1"/>
          <p:nvPr/>
        </p:nvSpPr>
        <p:spPr>
          <a:xfrm>
            <a:off x="6675120" y="49809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“Our marketing is mostly word of mouth.”</a:t>
            </a:r>
          </a:p>
        </p:txBody>
      </p:sp>
    </p:spTree>
  </p:cSld>
  <p:clrMapOvr>
    <a:masterClrMapping/>
  </p:clrMapOvr>
  <p:transition spd="med">
    <p:fade/>
  </p:transition>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运营成本</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overheads</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启动成本</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start-up costs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扩大规模</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scale up</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利润率</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profit margin</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预算极少</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 a shoestring</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供应商</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supplier</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代发货模式</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dropshipping</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偷工减料</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 corners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90195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start-up costs</a:t>
            </a:r>
          </a:p>
        </p:txBody>
      </p:sp>
      <p:sp>
        <p:nvSpPr>
          <p:cNvPr id="10" name="Rounded Rectangle 9"/>
          <p:cNvSpPr/>
          <p:nvPr/>
        </p:nvSpPr>
        <p:spPr>
          <a:xfrm>
            <a:off x="4005072"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overheads</a:t>
            </a:r>
          </a:p>
        </p:txBody>
      </p:sp>
      <p:sp>
        <p:nvSpPr>
          <p:cNvPr id="11" name="Rounded Rectangle 10"/>
          <p:cNvSpPr/>
          <p:nvPr/>
        </p:nvSpPr>
        <p:spPr>
          <a:xfrm>
            <a:off x="5449824" y="987552"/>
            <a:ext cx="179222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profit margin</a:t>
            </a:r>
          </a:p>
        </p:txBody>
      </p:sp>
      <p:sp>
        <p:nvSpPr>
          <p:cNvPr id="12" name="Rounded Rectangle 11"/>
          <p:cNvSpPr/>
          <p:nvPr/>
        </p:nvSpPr>
        <p:spPr>
          <a:xfrm>
            <a:off x="7333488"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supplier</a:t>
            </a:r>
          </a:p>
        </p:txBody>
      </p:sp>
      <p:sp>
        <p:nvSpPr>
          <p:cNvPr id="13" name="Rounded Rectangle 12"/>
          <p:cNvSpPr/>
          <p:nvPr/>
        </p:nvSpPr>
        <p:spPr>
          <a:xfrm>
            <a:off x="8668512" y="987552"/>
            <a:ext cx="2011679"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on a shoestring</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Our _______ are only £500, mostly for a laptop.</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start-up costs</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Working from home keeps our _______ low.</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overheads</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have a _______ of about 25% on each item.</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profit margin</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 good _______ delivers on time.</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supplier</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They launched the company _______ with almost no money.</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 a shoestring</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Never _______ on safety, even if you want to save money.</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cut corners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Advising a friend on a low-cost start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为朋友的低成本创业提建议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friend wants to start a home-baking business and asks you how to do it cheaply.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Dora Fan, adviser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Zac Mills, friend</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Advising a friend on a low-cost start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Dora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Zac, you said you want to sell cakes. How much can you spend to start?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Zac</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much, maybe five hundred pounds.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enough. You can start with very little by using your own kitchen and tools.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 that allowed?</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Check local rules on food businesses. You may need registration and a hygiene certificate.</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Advising a friend on a low-cost start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else?</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To keep costs down, I’d buy ingredients in bulk and take orders in advance so nothing is wasted.</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would I find customers?</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Social media and word of mouth. A small tasting event could help.</a:t>
            </a:r>
          </a:p>
        </p:txBody>
      </p:sp>
      <p:sp>
        <p:nvSpPr>
          <p:cNvPr id="20" name="Rounded Rectangle 19"/>
          <p:cNvSpPr/>
          <p:nvPr/>
        </p:nvSpPr>
        <p:spPr>
          <a:xfrm>
            <a:off x="10911535" y="394411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394411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Any downside?</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Advising a friend on a low-cost start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downside is that it takes your time, and the market may be crowded. You’ll need a niche, like allergy-friendly cakes.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And pricing?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Add up all costs and aim for a margin of at least 30%.</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that helps a lot.</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Advising a friend on a low-cost start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advise on a low-cost start.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Adviser. Business: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 Ask about costs and risks.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very little · keep costs down · downside · niche · margin · registration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practical advice and one warning.</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Zac says: “I want to quit my job now.” Advise caution.</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Compare a low-cost and a high-cost start for one business.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List five costs a new business should track.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low-cost business would you start?</a:t>
            </a:r>
          </a:p>
          <a:p>
            <a:pPr algn="l">
              <a:lnSpc>
                <a:spcPct val="115000"/>
              </a:lnSpc>
              <a:spcAft>
                <a:spcPts val="800"/>
              </a:spcAft>
            </a:pPr>
            <a:r>
              <a:rPr sz="1400" b="0">
                <a:solidFill>
                  <a:srgbClr val="5F677A"/>
                </a:solidFill>
                <a:latin typeface="Arial"/>
                <a:ea typeface="Microsoft YaHei"/>
              </a:rPr>
              <a:t>💬 “I’d probably… because… “</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downsides of a very low-cost business?</a:t>
            </a:r>
          </a:p>
          <a:p>
            <a:pPr algn="l">
              <a:lnSpc>
                <a:spcPct val="115000"/>
              </a:lnSpc>
              <a:spcAft>
                <a:spcPts val="800"/>
              </a:spcAft>
            </a:pPr>
            <a:r>
              <a:rPr sz="1400" b="0">
                <a:solidFill>
                  <a:srgbClr val="5F677A"/>
                </a:solidFill>
                <a:latin typeface="Arial"/>
                <a:ea typeface="Microsoft YaHei"/>
              </a:rPr>
              <a:t>💬 “The main downside is… / Competition…”</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the internet reduce costs?</a:t>
            </a:r>
          </a:p>
          <a:p>
            <a:pPr algn="l">
              <a:lnSpc>
                <a:spcPct val="115000"/>
              </a:lnSpc>
              <a:spcAft>
                <a:spcPts val="800"/>
              </a:spcAft>
            </a:pPr>
            <a:r>
              <a:rPr sz="1400" b="0">
                <a:solidFill>
                  <a:srgbClr val="5F677A"/>
                </a:solidFill>
                <a:latin typeface="Arial"/>
                <a:ea typeface="Microsoft YaHei"/>
              </a:rPr>
              <a:t>💬 “It lets you… without…”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difference between cheap and good value?</a:t>
            </a:r>
          </a:p>
          <a:p>
            <a:pPr algn="l">
              <a:lnSpc>
                <a:spcPct val="115000"/>
              </a:lnSpc>
              <a:spcAft>
                <a:spcPts val="800"/>
              </a:spcAft>
            </a:pPr>
            <a:r>
              <a:rPr sz="1400" b="0">
                <a:solidFill>
                  <a:srgbClr val="5F677A"/>
                </a:solidFill>
                <a:latin typeface="Arial"/>
                <a:ea typeface="Microsoft YaHei"/>
              </a:rPr>
              <a:t>💬 “Cheap is… whereas good value is…”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Cheap just means low in price, but good value means you get quality that justifies the price. A cheap product may break quickly and cost more in the long run, while a good-value product lasts longer or does the job better. For a business, offering good value usually builds loyalty, whereas competing only on price can lead to low margins and unhappy customers.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justifies = 使……合理。margin = 利润率。loyalty = 忠诚度。”in the long run” = 从长远看。</a:t>
            </a:r>
          </a:p>
        </p:txBody>
      </p:sp>
    </p:spTree>
  </p:cSld>
  <p:clrMapOvr>
    <a:masterClrMapping/>
  </p:clrMapOvr>
  <p:transition spd="med">
    <p:fade/>
  </p:transition>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45059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I have little money.</a:t>
                      </a:r>
                    </a:p>
                  </a:txBody>
                  <a:tcPr anchor="ctr">
                    <a:solidFill>
                      <a:srgbClr val="FFFFFF"/>
                    </a:solidFill>
                  </a:tcPr>
                </a:tc>
                <a:tc>
                  <a:txBody>
                    <a:bodyPr wrap="square"/>
                    <a:lstStyle/>
                    <a:p>
                      <a:r>
                        <a:rPr sz="1600" b="0">
                          <a:solidFill>
                            <a:srgbClr val="1F2A44"/>
                          </a:solidFill>
                          <a:latin typeface="Arial"/>
                          <a:ea typeface="Microsoft YaHei"/>
                        </a:rPr>
                        <a:t>I’m starting on a tight budget.</a:t>
                      </a:r>
                    </a:p>
                  </a:txBody>
                  <a:tcPr anchor="ctr">
                    <a:solidFill>
                      <a:srgbClr val="FFFFFF"/>
                    </a:solidFill>
                  </a:tcPr>
                </a:tc>
                <a:tc>
                  <a:txBody>
                    <a:bodyPr wrap="square"/>
                    <a:lstStyle/>
                    <a:p>
                      <a:r>
                        <a:rPr sz="1600" b="0">
                          <a:solidFill>
                            <a:srgbClr val="FF6B5B"/>
                          </a:solidFill>
                          <a:latin typeface="Arial"/>
                          <a:ea typeface="Microsoft YaHei"/>
                        </a:rPr>
                        <a:t>地道</a:t>
                      </a:r>
                    </a:p>
                  </a:txBody>
                  <a:tcPr anchor="ctr">
                    <a:solidFill>
                      <a:srgbClr val="FFFFFF"/>
                    </a:solidFill>
                  </a:tcPr>
                </a:tc>
              </a:tr>
              <a:tr h="408432">
                <a:tc>
                  <a:txBody>
                    <a:bodyPr wrap="square"/>
                    <a:lstStyle/>
                    <a:p>
                      <a:r>
                        <a:rPr sz="1600" b="1">
                          <a:solidFill>
                            <a:srgbClr val="1F2A44"/>
                          </a:solidFill>
                          <a:latin typeface="Arial"/>
                          <a:ea typeface="Microsoft YaHei"/>
                        </a:rPr>
                        <a:t>It costs nothing.</a:t>
                      </a:r>
                    </a:p>
                  </a:txBody>
                  <a:tcPr anchor="ctr">
                    <a:solidFill>
                      <a:srgbClr val="FFEFD9"/>
                    </a:solidFill>
                  </a:tcPr>
                </a:tc>
                <a:tc>
                  <a:txBody>
                    <a:bodyPr wrap="square"/>
                    <a:lstStyle/>
                    <a:p>
                      <a:r>
                        <a:rPr sz="1600" b="0">
                          <a:solidFill>
                            <a:srgbClr val="1F2A44"/>
                          </a:solidFill>
                          <a:latin typeface="Arial"/>
                          <a:ea typeface="Microsoft YaHei"/>
                        </a:rPr>
                        <a:t>It costs next to nothing.</a:t>
                      </a:r>
                    </a:p>
                  </a:txBody>
                  <a:tcPr anchor="ctr">
                    <a:solidFill>
                      <a:srgbClr val="FFEFD9"/>
                    </a:solidFill>
                  </a:tcPr>
                </a:tc>
                <a:tc>
                  <a:txBody>
                    <a:bodyPr wrap="square"/>
                    <a:lstStyle/>
                    <a:p>
                      <a:r>
                        <a:rPr sz="1600" b="0">
                          <a:solidFill>
                            <a:srgbClr val="FF6B5B"/>
                          </a:solidFill>
                          <a:latin typeface="Arial"/>
                          <a:ea typeface="Microsoft YaHei"/>
                        </a:rPr>
                        <a:t>搭配</a:t>
                      </a:r>
                    </a:p>
                  </a:txBody>
                  <a:tcPr anchor="ctr">
                    <a:solidFill>
                      <a:srgbClr val="FFEFD9"/>
                    </a:solidFill>
                  </a:tcPr>
                </a:tc>
              </a:tr>
              <a:tr h="408432">
                <a:tc>
                  <a:txBody>
                    <a:bodyPr wrap="square"/>
                    <a:lstStyle/>
                    <a:p>
                      <a:r>
                        <a:rPr sz="1600" b="1">
                          <a:solidFill>
                            <a:srgbClr val="1F2A44"/>
                          </a:solidFill>
                          <a:latin typeface="Arial"/>
                          <a:ea typeface="Microsoft YaHei"/>
                        </a:rPr>
                        <a:t>I save money.</a:t>
                      </a:r>
                    </a:p>
                  </a:txBody>
                  <a:tcPr anchor="ctr">
                    <a:solidFill>
                      <a:srgbClr val="FFFFFF"/>
                    </a:solidFill>
                  </a:tcPr>
                </a:tc>
                <a:tc>
                  <a:txBody>
                    <a:bodyPr wrap="square"/>
                    <a:lstStyle/>
                    <a:p>
                      <a:r>
                        <a:rPr sz="1600" b="0">
                          <a:solidFill>
                            <a:srgbClr val="1F2A44"/>
                          </a:solidFill>
                          <a:latin typeface="Arial"/>
                          <a:ea typeface="Microsoft YaHei"/>
                        </a:rPr>
                        <a:t>I keep costs down.</a:t>
                      </a:r>
                    </a:p>
                  </a:txBody>
                  <a:tcPr anchor="ctr">
                    <a:solidFill>
                      <a:srgbClr val="FFFFFF"/>
                    </a:solidFill>
                  </a:tcPr>
                </a:tc>
                <a:tc>
                  <a:txBody>
                    <a:bodyPr wrap="square"/>
                    <a:lstStyle/>
                    <a:p>
                      <a:r>
                        <a:rPr sz="1600" b="0">
                          <a:solidFill>
                            <a:srgbClr val="FF6B5B"/>
                          </a:solidFill>
                          <a:latin typeface="Arial"/>
                          <a:ea typeface="Microsoft YaHei"/>
                        </a:rPr>
                        <a:t>搭配</a:t>
                      </a:r>
                    </a:p>
                  </a:txBody>
                  <a:tcPr anchor="ctr">
                    <a:solidFill>
                      <a:srgbClr val="FFFFFF"/>
                    </a:solidFill>
                  </a:tcPr>
                </a:tc>
              </a:tr>
              <a:tr h="408432">
                <a:tc>
                  <a:txBody>
                    <a:bodyPr wrap="square"/>
                    <a:lstStyle/>
                    <a:p>
                      <a:r>
                        <a:rPr sz="1600" b="1">
                          <a:solidFill>
                            <a:srgbClr val="1F2A44"/>
                          </a:solidFill>
                          <a:latin typeface="Arial"/>
                          <a:ea typeface="Microsoft YaHei"/>
                        </a:rPr>
                        <a:t>There are many competitors.</a:t>
                      </a:r>
                    </a:p>
                  </a:txBody>
                  <a:tcPr anchor="ctr">
                    <a:solidFill>
                      <a:srgbClr val="FFEFD9"/>
                    </a:solidFill>
                  </a:tcPr>
                </a:tc>
                <a:tc>
                  <a:txBody>
                    <a:bodyPr wrap="square"/>
                    <a:lstStyle/>
                    <a:p>
                      <a:r>
                        <a:rPr sz="1600" b="0">
                          <a:solidFill>
                            <a:srgbClr val="1F2A44"/>
                          </a:solidFill>
                          <a:latin typeface="Arial"/>
                          <a:ea typeface="Microsoft YaHei"/>
                        </a:rPr>
                        <a:t>The market is crowded.</a:t>
                      </a:r>
                    </a:p>
                  </a:txBody>
                  <a:tcPr anchor="ctr">
                    <a:solidFill>
                      <a:srgbClr val="FFEFD9"/>
                    </a:solidFill>
                  </a:tcPr>
                </a:tc>
                <a:tc>
                  <a:txBody>
                    <a:bodyPr wrap="square"/>
                    <a:lstStyle/>
                    <a:p>
                      <a:r>
                        <a:rPr sz="1600" b="0">
                          <a:solidFill>
                            <a:srgbClr val="FF6B5B"/>
                          </a:solidFill>
                          <a:latin typeface="Arial"/>
                          <a:ea typeface="Microsoft YaHei"/>
                        </a:rPr>
                        <a:t>习语</a:t>
                      </a:r>
                    </a:p>
                  </a:txBody>
                  <a:tcPr anchor="ctr">
                    <a:solidFill>
                      <a:srgbClr val="FFEFD9"/>
                    </a:solidFill>
                  </a:tcPr>
                </a:tc>
              </a:tr>
              <a:tr h="408432">
                <a:tc>
                  <a:txBody>
                    <a:bodyPr wrap="square"/>
                    <a:lstStyle/>
                    <a:p>
                      <a:r>
                        <a:rPr sz="1600" b="1">
                          <a:solidFill>
                            <a:srgbClr val="1F2A44"/>
                          </a:solidFill>
                          <a:latin typeface="Arial"/>
                          <a:ea typeface="Microsoft YaHei"/>
                        </a:rPr>
                        <a:t>It’s cheap.</a:t>
                      </a:r>
                    </a:p>
                  </a:txBody>
                  <a:tcPr anchor="ctr">
                    <a:solidFill>
                      <a:srgbClr val="FFFFFF"/>
                    </a:solidFill>
                  </a:tcPr>
                </a:tc>
                <a:tc>
                  <a:txBody>
                    <a:bodyPr wrap="square"/>
                    <a:lstStyle/>
                    <a:p>
                      <a:r>
                        <a:rPr sz="1600" b="0">
                          <a:solidFill>
                            <a:srgbClr val="1F2A44"/>
                          </a:solidFill>
                          <a:latin typeface="Arial"/>
                          <a:ea typeface="Microsoft YaHei"/>
                        </a:rPr>
                        <a:t>It’s a low-cost option.</a:t>
                      </a:r>
                    </a:p>
                  </a:txBody>
                  <a:tcPr anchor="ctr">
                    <a:solidFill>
                      <a:srgbClr val="FFFFFF"/>
                    </a:solidFill>
                  </a:tcPr>
                </a:tc>
                <a:tc>
                  <a:txBody>
                    <a:bodyPr wrap="square"/>
                    <a:lstStyle/>
                    <a:p>
                      <a:r>
                        <a:rPr sz="1600" b="0">
                          <a:solidFill>
                            <a:srgbClr val="FF6B5B"/>
                          </a:solidFill>
                          <a:latin typeface="Arial"/>
                          <a:ea typeface="Microsoft YaHei"/>
                        </a:rPr>
                        <a:t>积极</a:t>
                      </a:r>
                    </a:p>
                  </a:txBody>
                  <a:tcPr anchor="ctr">
                    <a:solidFill>
                      <a:srgbClr val="FFFFFF"/>
                    </a:solidFill>
                  </a:tcPr>
                </a:tc>
              </a:tr>
            </a:tbl>
          </a:graphicData>
        </a:graphic>
      </p:graphicFrame>
    </p:spTree>
  </p:cSld>
  <p:clrMapOvr>
    <a:masterClrMapping/>
  </p:clrMapOvr>
  <p:transition spd="med">
    <p:fade/>
  </p:transition>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Giving advice: </a:t>
            </a:r>
            <a:r>
              <a:rPr sz="1700" b="0">
                <a:solidFill>
                  <a:srgbClr val="1F2A44"/>
                </a:solidFill>
                <a:latin typeface="Arial"/>
                <a:ea typeface="Microsoft YaHei"/>
              </a:rPr>
              <a:t>You could…, You might want to…, I’d suggest…, Why don’t you…?</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Reasons and purpose: </a:t>
            </a:r>
            <a:r>
              <a:rPr sz="1700" b="0">
                <a:solidFill>
                  <a:srgbClr val="1F2A44"/>
                </a:solidFill>
                <a:latin typeface="Arial"/>
                <a:ea typeface="Microsoft YaHei"/>
              </a:rPr>
              <a:t>to + verb, in order to, so that.</a:t>
            </a:r>
          </a:p>
        </p:txBody>
      </p:sp>
      <p:sp>
        <p:nvSpPr>
          <p:cNvPr id="14" name="Rounded Rectangle 13"/>
          <p:cNvSpPr/>
          <p:nvPr/>
        </p:nvSpPr>
        <p:spPr>
          <a:xfrm>
            <a:off x="548640" y="248411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701039"/>
          </a:xfrm>
          <a:prstGeom prst="rect">
            <a:avLst/>
          </a:prstGeom>
          <a:noFill/>
        </p:spPr>
        <p:txBody>
          <a:bodyPr wrap="square" anchor="ctr">
            <a:spAutoFit/>
          </a:bodyPr>
          <a:lstStyle/>
          <a:p>
            <a:r>
              <a:rPr sz="1700" b="1">
                <a:solidFill>
                  <a:srgbClr val="3CC49A"/>
                </a:solidFill>
                <a:latin typeface="Arial"/>
                <a:ea typeface="Microsoft YaHei"/>
              </a:rPr>
              <a:t>Quantifiers: </a:t>
            </a:r>
            <a:r>
              <a:rPr sz="1700" b="0">
                <a:solidFill>
                  <a:srgbClr val="1F2A44"/>
                </a:solidFill>
                <a:latin typeface="Arial"/>
                <a:ea typeface="Microsoft YaHei"/>
              </a:rPr>
              <a:t>little/a little (uncountable), few/a few (countable): “I have little money.” (almost none) / “a little money” (some).</a:t>
            </a:r>
          </a:p>
        </p:txBody>
      </p:sp>
      <p:sp>
        <p:nvSpPr>
          <p:cNvPr id="17" name="Rounded Rectangle 16"/>
          <p:cNvSpPr/>
          <p:nvPr/>
        </p:nvSpPr>
        <p:spPr>
          <a:xfrm>
            <a:off x="548640" y="327659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27659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276597"/>
            <a:ext cx="10728655" cy="441959"/>
          </a:xfrm>
          <a:prstGeom prst="rect">
            <a:avLst/>
          </a:prstGeom>
          <a:noFill/>
        </p:spPr>
        <p:txBody>
          <a:bodyPr wrap="square" anchor="ctr">
            <a:spAutoFit/>
          </a:bodyPr>
          <a:lstStyle/>
          <a:p>
            <a:r>
              <a:rPr sz="1700" b="1">
                <a:solidFill>
                  <a:srgbClr val="FFC857"/>
                </a:solidFill>
                <a:latin typeface="Arial"/>
                <a:ea typeface="Microsoft YaHei"/>
              </a:rPr>
              <a:t>Comparisons: </a:t>
            </a:r>
            <a:r>
              <a:rPr sz="1700" b="0">
                <a:solidFill>
                  <a:srgbClr val="1F2A44"/>
                </a:solidFill>
                <a:latin typeface="Arial"/>
                <a:ea typeface="Microsoft YaHei"/>
              </a:rPr>
              <a:t>cheaper than, less risky than, as profitable as.</a:t>
            </a:r>
          </a:p>
        </p:txBody>
      </p:sp>
    </p:spTree>
  </p:cSld>
  <p:clrMapOvr>
    <a:masterClrMapping/>
  </p:clrMapOvr>
  <p:transition spd="med">
    <p:fade/>
  </p:transition>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few money.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little money.</a:t>
            </a:r>
          </a:p>
          <a:p>
            <a:pPr algn="l">
              <a:spcAft>
                <a:spcPts val="200"/>
              </a:spcAft>
            </a:pPr>
            <a:r>
              <a:rPr sz="1200" b="0">
                <a:solidFill>
                  <a:srgbClr val="FFFFFF"/>
                </a:solidFill>
                <a:latin typeface="Arial"/>
                <a:ea typeface="Microsoft YaHei"/>
              </a:rPr>
              <a:t>little +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costs very cheap.</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very cheap.</a:t>
            </a:r>
          </a:p>
          <a:p>
            <a:pPr algn="l">
              <a:spcAft>
                <a:spcPts val="200"/>
              </a:spcAft>
            </a:pPr>
            <a:r>
              <a:rPr sz="1200" b="0">
                <a:solidFill>
                  <a:srgbClr val="FFFFFF"/>
                </a:solidFill>
                <a:latin typeface="Arial"/>
                <a:ea typeface="Microsoft YaHei"/>
              </a:rPr>
              <a:t>cost 不加 cheap</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spend little time.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will spend a little time.</a:t>
            </a:r>
          </a:p>
          <a:p>
            <a:pPr algn="l">
              <a:spcAft>
                <a:spcPts val="200"/>
              </a:spcAft>
            </a:pPr>
            <a:r>
              <a:rPr sz="1200" b="0">
                <a:solidFill>
                  <a:srgbClr val="FFFFFF"/>
                </a:solidFill>
                <a:latin typeface="Arial"/>
                <a:ea typeface="Microsoft YaHei"/>
              </a:rPr>
              <a:t>little vs a little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need to economy the cost.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need to reduce costs.</a:t>
            </a:r>
          </a:p>
          <a:p>
            <a:pPr algn="l">
              <a:spcAft>
                <a:spcPts val="200"/>
              </a:spcAft>
            </a:pPr>
            <a:r>
              <a:rPr sz="1200" b="0">
                <a:solidFill>
                  <a:srgbClr val="FFFFFF"/>
                </a:solidFill>
                <a:latin typeface="Arial"/>
                <a:ea typeface="Microsoft YaHei"/>
              </a:rPr>
              <a:t>动词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a low cost.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low-cost. / It has a low cost.</a:t>
            </a:r>
          </a:p>
          <a:p>
            <a:pPr algn="l">
              <a:spcAft>
                <a:spcPts val="200"/>
              </a:spcAft>
            </a:pPr>
            <a:r>
              <a:rPr sz="1200" b="0">
                <a:solidFill>
                  <a:srgbClr val="FFFFFF"/>
                </a:solidFill>
                <a:latin typeface="Arial"/>
                <a:ea typeface="Microsoft YaHei"/>
              </a:rPr>
              <a:t>连字符</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save my time by working.</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save time by working efficiently.</a:t>
            </a:r>
          </a:p>
          <a:p>
            <a:pPr algn="l">
              <a:spcAft>
                <a:spcPts val="200"/>
              </a:spcAft>
            </a:pPr>
            <a:r>
              <a:rPr sz="1200" b="0">
                <a:solidFill>
                  <a:srgbClr val="FFFFFF"/>
                </a:solidFill>
                <a:latin typeface="Arial"/>
                <a:ea typeface="Microsoft YaHei"/>
              </a:rPr>
              <a:t>搭配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few / little, hyphenated compounds and collocations (save 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Regulations: </a:t>
            </a:r>
            <a:r>
              <a:rPr sz="1700" b="0">
                <a:solidFill>
                  <a:srgbClr val="1F2A44"/>
                </a:solidFill>
                <a:latin typeface="Arial"/>
                <a:ea typeface="Microsoft YaHei"/>
              </a:rPr>
              <a:t>Even small businesses need licences, insurance and tax registration. Check them.</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Side hustles: </a:t>
            </a:r>
            <a:r>
              <a:rPr sz="1700" b="0">
                <a:solidFill>
                  <a:srgbClr val="1F2A44"/>
                </a:solidFill>
                <a:latin typeface="Arial"/>
                <a:ea typeface="Microsoft YaHei"/>
              </a:rPr>
              <a:t>In some countries, extra income must be declared to tax authorities.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Pricing: </a:t>
            </a:r>
            <a:r>
              <a:rPr sz="1700" b="0">
                <a:solidFill>
                  <a:srgbClr val="1F2A44"/>
                </a:solidFill>
                <a:latin typeface="Arial"/>
                <a:ea typeface="Microsoft YaHei"/>
              </a:rPr>
              <a:t>Very low prices can signal low quality in some markets.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little / few 的区别:little 修饰不可数,few 修饰可数;a little = 一点,little = 几乎没有。cost 后不加 cheap。</a:t>
            </a:r>
          </a:p>
        </p:txBody>
      </p:sp>
    </p:spTree>
  </p:cSld>
  <p:clrMapOvr>
    <a:masterClrMapping/>
  </p:clrMapOvr>
  <p:transition spd="med">
    <p:fade/>
  </p:transition>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82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advise on starting a low-cost business.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advice and warn of downsides.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quantifiers (little / few / a little)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cost-related collocations.</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82 Low-Cost Businesses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quantifiers (little / few), advice language, and cost collocations.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9 · Lesson 83 How to Succeed as a Freelancer</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83</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000" b="1">
                <a:solidFill>
                  <a:srgbClr val="FFFFFF"/>
                </a:solidFill>
                <a:latin typeface="Arial"/>
                <a:ea typeface="Microsoft YaHei"/>
              </a:rPr>
              <a:t>How to Succeed as a Freelancer</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如何成为成功的自由职业者</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freelancing: finding clients, setting rates, managing time and money, contracts and staying motivated.</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worked as a freelancer? Would you like to?</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advantages and disadvantages of freelance work?</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freelancers find clients?</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should a freelancer decide what to charge?</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freelancers stay organised and motivated?</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freelance = 自由职业;rate = 费率;invoice = 发票。第 4 题:day rate / hourly rate。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advice to someone starting out as a freelancer.</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finding work</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pricing</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organisation</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money</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well-being</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My first tip is to…   💬 It’s worth…   💬 Don’t forget to…</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It’s worth + -ing = 值得……。Don’t forget to + 动词。My first tip is to… 列建议。</a:t>
            </a:r>
          </a:p>
        </p:txBody>
      </p:sp>
    </p:spTree>
  </p:cSld>
  <p:clrMapOvr>
    <a:masterClrMapping/>
  </p:clrMapOvr>
  <p:transition spd="med">
    <p:fade/>
  </p:transition>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Freelancing Without Fear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128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Freelancing offers independence: you choose your projects, set your hours and work from almost anywhere. But independence has a price. There is no guaranteed income, no paid holiday and no one to remind you about deadlines. Successful freelancers treat themselves as a small business. They build a portfolio that shows their best work, ask happy clients for testimonials and keep in touch with former clients, since repeat work is easier than finding new customers. They set rates that cover not just working hours but also unpaid time spent on admin, marketing and holidays. They use clear contracts, send invoices promptly and put money aside for tax. Finally, they protect their well-being by setting working hours and making time to rest. Freelancing can be rewarding, but it demands discipline.</a:t>
            </a:r>
          </a:p>
        </p:txBody>
      </p:sp>
    </p:spTree>
  </p:cSld>
  <p:clrMapOvr>
    <a:masterClrMapping/>
  </p:clrMapOvr>
  <p:transition spd="med">
    <p:fade/>
  </p:transition>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the disadvantages of freelancing?</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No guaranteed income, no paid holiday and no reminders about deadlines.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How should freelancers set their rates?</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To cover working hours plus unpaid time for admin, marketing and holidays.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 successful freelancers do about money?</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Use clear contracts, send invoices promptly and save for tax.</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Freelance basics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自由职业基础</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freelancer</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自由职业者</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works as a freelancer.”</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client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客户</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have three regular clients.”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invoice</a:t>
            </a:r>
          </a:p>
          <a:p>
            <a:pPr algn="l">
              <a:lnSpc>
                <a:spcPct val="115000"/>
              </a:lnSpc>
              <a:spcAft>
                <a:spcPts val="800"/>
              </a:spcAft>
            </a:pPr>
            <a:r>
              <a:rPr sz="1300" b="0">
                <a:solidFill>
                  <a:srgbClr val="5F677A"/>
                </a:solidFill>
                <a:latin typeface="Arial"/>
                <a:ea typeface="Microsoft YaHei"/>
              </a:rPr>
              <a:t>noun /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发票 / 开发票</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sent the invoice yesterday.”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rate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费率</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day rate is £250.”</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portfolio</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作品集</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“Show clients your portfolio.”</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deadline</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截止日期</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always meet deadlines.”</a:t>
            </a:r>
          </a:p>
        </p:txBody>
      </p:sp>
    </p:spTree>
  </p:cSld>
  <p:clrMapOvr>
    <a:masterClrMapping/>
  </p:clrMapOvr>
  <p:transition spd="med">
    <p:fade/>
  </p:transition>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Working for yourself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为自己工作</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chase payment</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催款</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hate chasing payment.”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feast or famine</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忙闲不均</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“Freelancing can be feast or famine.”</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juggle (several clients)</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同时应付</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juggles four clients.”</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word of mouth</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口碑</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“Most of my work comes through word of mouth.”</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retainer</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长期聘用费</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client pays a monthly retainer.”</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scope creep</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范围蔓延</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“Beware of scope creep.”</a:t>
            </a:r>
          </a:p>
        </p:txBody>
      </p:sp>
    </p:spTree>
  </p:cSld>
  <p:clrMapOvr>
    <a:masterClrMapping/>
  </p:clrMapOvr>
  <p:transition spd="med">
    <p:fade/>
  </p:transition>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自由职业者</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freelancer</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截止日期</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deadline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作品集</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portfolio</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忙闲不均</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feast or famine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范围蔓延</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scope creep</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客户</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client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催款</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chase payment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长期聘用费</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retainer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46304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freelancer</a:t>
            </a:r>
          </a:p>
        </p:txBody>
      </p:sp>
      <p:sp>
        <p:nvSpPr>
          <p:cNvPr id="10" name="Rounded Rectangle 9"/>
          <p:cNvSpPr/>
          <p:nvPr/>
        </p:nvSpPr>
        <p:spPr>
          <a:xfrm>
            <a:off x="3566160"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invoice</a:t>
            </a:r>
          </a:p>
        </p:txBody>
      </p:sp>
      <p:sp>
        <p:nvSpPr>
          <p:cNvPr id="11" name="Rounded Rectangle 10"/>
          <p:cNvSpPr/>
          <p:nvPr/>
        </p:nvSpPr>
        <p:spPr>
          <a:xfrm>
            <a:off x="4791456" y="987552"/>
            <a:ext cx="804672"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rate</a:t>
            </a:r>
          </a:p>
        </p:txBody>
      </p:sp>
      <p:sp>
        <p:nvSpPr>
          <p:cNvPr id="12" name="Rounded Rectangle 11"/>
          <p:cNvSpPr/>
          <p:nvPr/>
        </p:nvSpPr>
        <p:spPr>
          <a:xfrm>
            <a:off x="5687568"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portfolio</a:t>
            </a:r>
          </a:p>
        </p:txBody>
      </p:sp>
      <p:sp>
        <p:nvSpPr>
          <p:cNvPr id="13" name="Rounded Rectangle 12"/>
          <p:cNvSpPr/>
          <p:nvPr/>
        </p:nvSpPr>
        <p:spPr>
          <a:xfrm>
            <a:off x="7132320"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retainer</a:t>
            </a:r>
          </a:p>
        </p:txBody>
      </p:sp>
      <p:sp>
        <p:nvSpPr>
          <p:cNvPr id="14" name="Rounded Rectangle 13"/>
          <p:cNvSpPr/>
          <p:nvPr/>
        </p:nvSpPr>
        <p:spPr>
          <a:xfrm>
            <a:off x="8467344"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Scope creep</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1.  As a _______, I choose my own projects and hours.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freelancer</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2.  Please send your _______ by the end of the month.</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invoice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3.  My daily _______ is £250.</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rate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4.  A good _______ shows the quality of your previous work.</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portfolio</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5.  A monthly _______ gives me a steady income.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retainer</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6.  _______ happens when a client asks for extras beyond the agreed work.</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Scope creep</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Role Play · Giving advice to a new freelancer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给新手自由职业者提建议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is about to leave her job to freelance as a translator. You give advice.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Ken Ji, experienced freelancer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Elsa Marsh, new freelancer</a:t>
            </a:r>
          </a:p>
        </p:txBody>
      </p:sp>
    </p:spTree>
  </p:cSld>
  <p:clrMapOvr>
    <a:masterClrMapping/>
  </p:clrMapOvr>
  <p:transition spd="med">
    <p:fade/>
  </p:transition>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Giving advice to a new freelancer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Ken</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Elsa, congratulations on taking the plunge. Can I share a few tips?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Elsa</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do. I’m a little nervous.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My first tip is to build a small portfolio and ask your first clients for testimonials.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idea. What about pricing?</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Don’t just calculate your hourly pay. Remember unpaid time for admin, marketing and holidays.</a:t>
            </a:r>
          </a:p>
        </p:txBody>
      </p:sp>
    </p:spTree>
  </p:cSld>
  <p:clrMapOvr>
    <a:masterClrMapping/>
  </p:clrMapOvr>
  <p:transition spd="med">
    <p:fade/>
  </p:transition>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Giving advice to a new freelancer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charge more than I expect.</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And use a clear contract with payment terms, and send invoices promptly.</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if clients pay late?</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happens. Send a polite reminder after the due date and charge late fees if the contract allows.</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money for tax?</a:t>
            </a:r>
          </a:p>
        </p:txBody>
      </p:sp>
    </p:spTree>
  </p:cSld>
  <p:clrMapOvr>
    <a:masterClrMapping/>
  </p:clrMapOvr>
  <p:transition spd="med">
    <p:fade/>
  </p:transition>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Giving advice to a new freelancer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Put thirty per cent aside from every payment.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motivation?</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Set regular hours and take breaks. It’s worth having a routine, or work will take over.</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Ken. That’s really practical.</a:t>
            </a:r>
          </a:p>
        </p:txBody>
      </p:sp>
    </p:spTree>
  </p:cSld>
  <p:clrMapOvr>
    <a:masterClrMapping/>
  </p:clrMapOvr>
  <p:transition spd="med">
    <p:fade/>
  </p:transition>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Your Turn · Giving advice to a new freelancer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advise a new freelancer.</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Experienced freelancer. Tips: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New freelancer. Ask about clients, pricing and tax.</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my first tip · it’s worth · don’t forget to · invoice · rate · portfolio</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Give four tips with reasons.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Elsa says: “A client wants a discount.” Advise her.</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short polite payment reminder.</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the advantages of freelance work in 45 seconds.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like to be a freelancer?</a:t>
            </a:r>
          </a:p>
          <a:p>
            <a:pPr algn="l">
              <a:lnSpc>
                <a:spcPct val="115000"/>
              </a:lnSpc>
              <a:spcAft>
                <a:spcPts val="800"/>
              </a:spcAft>
            </a:pPr>
            <a:r>
              <a:rPr sz="1400" b="0">
                <a:solidFill>
                  <a:srgbClr val="5F677A"/>
                </a:solidFill>
                <a:latin typeface="Arial"/>
                <a:ea typeface="Microsoft YaHei"/>
              </a:rPr>
              <a:t>💬 “I’d love to… because… / I’d prefer… since…”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are the risks of freelancing?</a:t>
            </a:r>
          </a:p>
          <a:p>
            <a:pPr algn="l">
              <a:lnSpc>
                <a:spcPct val="115000"/>
              </a:lnSpc>
              <a:spcAft>
                <a:spcPts val="800"/>
              </a:spcAft>
            </a:pPr>
            <a:r>
              <a:rPr sz="1400" b="0">
                <a:solidFill>
                  <a:srgbClr val="5F677A"/>
                </a:solidFill>
                <a:latin typeface="Arial"/>
                <a:ea typeface="Microsoft YaHei"/>
              </a:rPr>
              <a:t>💬 “The main risks are… / Without a steady income…”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freelancers find clients?</a:t>
            </a:r>
          </a:p>
          <a:p>
            <a:pPr algn="l">
              <a:lnSpc>
                <a:spcPct val="115000"/>
              </a:lnSpc>
              <a:spcAft>
                <a:spcPts val="800"/>
              </a:spcAft>
            </a:pPr>
            <a:r>
              <a:rPr sz="1400" b="0">
                <a:solidFill>
                  <a:srgbClr val="5F677A"/>
                </a:solidFill>
                <a:latin typeface="Arial"/>
                <a:ea typeface="Microsoft YaHei"/>
              </a:rPr>
              <a:t>💬 “They can… / Networking…”</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you set a fair price?</a:t>
            </a:r>
          </a:p>
          <a:p>
            <a:pPr algn="l">
              <a:lnSpc>
                <a:spcPct val="115000"/>
              </a:lnSpc>
              <a:spcAft>
                <a:spcPts val="800"/>
              </a:spcAft>
            </a:pPr>
            <a:r>
              <a:rPr sz="1400" b="0">
                <a:solidFill>
                  <a:srgbClr val="5F677A"/>
                </a:solidFill>
                <a:latin typeface="Arial"/>
                <a:ea typeface="Microsoft YaHei"/>
              </a:rPr>
              <a:t>💬 “I’d base it on… / Factor in…”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To set a fair price, I’d start by working out what I need to earn per year, then add costs like tax, insurance, equipment and unpaid time. I’d divide this by the number of billable days I realistically have. Then I’d compare it with what others in my field charge. It should feel fair to both sides: high enough to be sustainable, but competitive enough to win work.</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billable = 可计费的。sustainable = 可持续的。”work out” = 算出。”factor in” = 把……考虑进去。</a:t>
            </a:r>
          </a:p>
        </p:txBody>
      </p:sp>
    </p:spTree>
  </p:cSld>
  <p:clrMapOvr>
    <a:masterClrMapping/>
  </p:clrMapOvr>
  <p:transition spd="med">
    <p:fade/>
  </p:transition>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69443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I work alone.</a:t>
                      </a:r>
                    </a:p>
                  </a:txBody>
                  <a:tcPr anchor="ctr">
                    <a:solidFill>
                      <a:srgbClr val="FFFFFF"/>
                    </a:solidFill>
                  </a:tcPr>
                </a:tc>
                <a:tc>
                  <a:txBody>
                    <a:bodyPr wrap="square"/>
                    <a:lstStyle/>
                    <a:p>
                      <a:r>
                        <a:rPr sz="1600" b="0">
                          <a:solidFill>
                            <a:srgbClr val="1F2A44"/>
                          </a:solidFill>
                          <a:latin typeface="Arial"/>
                          <a:ea typeface="Microsoft YaHei"/>
                        </a:rPr>
                        <a:t>I work as a freelancer.</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r h="408432">
                <a:tc>
                  <a:txBody>
                    <a:bodyPr wrap="square"/>
                    <a:lstStyle/>
                    <a:p>
                      <a:r>
                        <a:rPr sz="1600" b="1">
                          <a:solidFill>
                            <a:srgbClr val="1F2A44"/>
                          </a:solidFill>
                          <a:latin typeface="Arial"/>
                          <a:ea typeface="Microsoft YaHei"/>
                        </a:rPr>
                        <a:t>Client doesn’t pay.</a:t>
                      </a:r>
                    </a:p>
                  </a:txBody>
                  <a:tcPr anchor="ctr">
                    <a:solidFill>
                      <a:srgbClr val="FFEFD9"/>
                    </a:solidFill>
                  </a:tcPr>
                </a:tc>
                <a:tc>
                  <a:txBody>
                    <a:bodyPr wrap="square"/>
                    <a:lstStyle/>
                    <a:p>
                      <a:r>
                        <a:rPr sz="1600" b="0">
                          <a:solidFill>
                            <a:srgbClr val="1F2A44"/>
                          </a:solidFill>
                          <a:latin typeface="Arial"/>
                          <a:ea typeface="Microsoft YaHei"/>
                        </a:rPr>
                        <a:t>A client is late with payment.</a:t>
                      </a:r>
                    </a:p>
                  </a:txBody>
                  <a:tcPr anchor="ctr">
                    <a:solidFill>
                      <a:srgbClr val="FFEFD9"/>
                    </a:solidFill>
                  </a:tcPr>
                </a:tc>
                <a:tc>
                  <a:txBody>
                    <a:bodyPr wrap="square"/>
                    <a:lstStyle/>
                    <a:p>
                      <a:r>
                        <a:rPr sz="1600" b="0">
                          <a:solidFill>
                            <a:srgbClr val="FF6B5B"/>
                          </a:solidFill>
                          <a:latin typeface="Arial"/>
                          <a:ea typeface="Microsoft YaHei"/>
                        </a:rPr>
                        <a:t>完整</a:t>
                      </a:r>
                    </a:p>
                  </a:txBody>
                  <a:tcPr anchor="ctr">
                    <a:solidFill>
                      <a:srgbClr val="FFEFD9"/>
                    </a:solidFill>
                  </a:tcPr>
                </a:tc>
              </a:tr>
              <a:tr h="408432">
                <a:tc>
                  <a:txBody>
                    <a:bodyPr wrap="square"/>
                    <a:lstStyle/>
                    <a:p>
                      <a:r>
                        <a:rPr sz="1600" b="1">
                          <a:solidFill>
                            <a:srgbClr val="1F2A44"/>
                          </a:solidFill>
                          <a:latin typeface="Arial"/>
                          <a:ea typeface="Microsoft YaHei"/>
                        </a:rPr>
                        <a:t>I get work.</a:t>
                      </a:r>
                    </a:p>
                  </a:txBody>
                  <a:tcPr anchor="ctr">
                    <a:solidFill>
                      <a:srgbClr val="FFFFFF"/>
                    </a:solidFill>
                  </a:tcPr>
                </a:tc>
                <a:tc>
                  <a:txBody>
                    <a:bodyPr wrap="square"/>
                    <a:lstStyle/>
                    <a:p>
                      <a:r>
                        <a:rPr sz="1600" b="0">
                          <a:solidFill>
                            <a:srgbClr val="1F2A44"/>
                          </a:solidFill>
                          <a:latin typeface="Arial"/>
                          <a:ea typeface="Microsoft YaHei"/>
                        </a:rPr>
                        <a:t>I win new contracts.</a:t>
                      </a:r>
                    </a:p>
                  </a:txBody>
                  <a:tcPr anchor="ctr">
                    <a:solidFill>
                      <a:srgbClr val="FFFFFF"/>
                    </a:solidFill>
                  </a:tcPr>
                </a:tc>
                <a:tc>
                  <a:txBody>
                    <a:bodyPr wrap="square"/>
                    <a:lstStyle/>
                    <a:p>
                      <a:r>
                        <a:rPr sz="1600" b="0">
                          <a:solidFill>
                            <a:srgbClr val="FF6B5B"/>
                          </a:solidFill>
                          <a:latin typeface="Arial"/>
                          <a:ea typeface="Microsoft YaHei"/>
                        </a:rPr>
                        <a:t>搭配</a:t>
                      </a:r>
                    </a:p>
                  </a:txBody>
                  <a:tcPr anchor="ctr">
                    <a:solidFill>
                      <a:srgbClr val="FFFFFF"/>
                    </a:solidFill>
                  </a:tcPr>
                </a:tc>
              </a:tr>
              <a:tr h="408432">
                <a:tc>
                  <a:txBody>
                    <a:bodyPr wrap="square"/>
                    <a:lstStyle/>
                    <a:p>
                      <a:r>
                        <a:rPr sz="1600" b="1">
                          <a:solidFill>
                            <a:srgbClr val="1F2A44"/>
                          </a:solidFill>
                          <a:latin typeface="Arial"/>
                          <a:ea typeface="Microsoft YaHei"/>
                        </a:rPr>
                        <a:t>I need to remind him.</a:t>
                      </a:r>
                    </a:p>
                  </a:txBody>
                  <a:tcPr anchor="ctr">
                    <a:solidFill>
                      <a:srgbClr val="FFEFD9"/>
                    </a:solidFill>
                  </a:tcPr>
                </a:tc>
                <a:tc>
                  <a:txBody>
                    <a:bodyPr wrap="square"/>
                    <a:lstStyle/>
                    <a:p>
                      <a:r>
                        <a:rPr sz="1600" b="0">
                          <a:solidFill>
                            <a:srgbClr val="1F2A44"/>
                          </a:solidFill>
                          <a:latin typeface="Arial"/>
                          <a:ea typeface="Microsoft YaHei"/>
                        </a:rPr>
                        <a:t>I’ll send a polite reminder.</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652272">
                <a:tc>
                  <a:txBody>
                    <a:bodyPr wrap="square"/>
                    <a:lstStyle/>
                    <a:p>
                      <a:r>
                        <a:rPr sz="1600" b="1">
                          <a:solidFill>
                            <a:srgbClr val="1F2A44"/>
                          </a:solidFill>
                          <a:latin typeface="Arial"/>
                          <a:ea typeface="Microsoft YaHei"/>
                        </a:rPr>
                        <a:t>I have a lot of work and then none.</a:t>
                      </a:r>
                    </a:p>
                  </a:txBody>
                  <a:tcPr anchor="ctr">
                    <a:solidFill>
                      <a:srgbClr val="FFFFFF"/>
                    </a:solidFill>
                  </a:tcPr>
                </a:tc>
                <a:tc>
                  <a:txBody>
                    <a:bodyPr wrap="square"/>
                    <a:lstStyle/>
                    <a:p>
                      <a:r>
                        <a:rPr sz="1600" b="0">
                          <a:solidFill>
                            <a:srgbClr val="1F2A44"/>
                          </a:solidFill>
                          <a:latin typeface="Arial"/>
                          <a:ea typeface="Microsoft YaHei"/>
                        </a:rPr>
                        <a:t>My workload is feast or famine.</a:t>
                      </a:r>
                    </a:p>
                  </a:txBody>
                  <a:tcPr anchor="ctr">
                    <a:solidFill>
                      <a:srgbClr val="FFFFFF"/>
                    </a:solidFill>
                  </a:tcPr>
                </a:tc>
                <a:tc>
                  <a:txBody>
                    <a:bodyPr wrap="square"/>
                    <a:lstStyle/>
                    <a:p>
                      <a:r>
                        <a:rPr sz="1600" b="0">
                          <a:solidFill>
                            <a:srgbClr val="FF6B5B"/>
                          </a:solidFill>
                          <a:latin typeface="Arial"/>
                          <a:ea typeface="Microsoft YaHei"/>
                        </a:rPr>
                        <a:t>习语</a:t>
                      </a:r>
                    </a:p>
                  </a:txBody>
                  <a:tcPr anchor="ctr">
                    <a:solidFill>
                      <a:srgbClr val="FFFFFF"/>
                    </a:solidFill>
                  </a:tcPr>
                </a:tc>
              </a:tr>
            </a:tbl>
          </a:graphicData>
        </a:graphic>
      </p:graphicFrame>
    </p:spTree>
  </p:cSld>
  <p:clrMapOvr>
    <a:masterClrMapping/>
  </p:clrMapOvr>
  <p:transition spd="med">
    <p:fade/>
  </p:transition>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Imperative for advice: </a:t>
            </a:r>
            <a:r>
              <a:rPr sz="1700" b="0">
                <a:solidFill>
                  <a:srgbClr val="1F2A44"/>
                </a:solidFill>
                <a:latin typeface="Arial"/>
                <a:ea typeface="Microsoft YaHei"/>
              </a:rPr>
              <a:t>“Build a portfolio. Don’t forget to send invoices.”</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Reasons: </a:t>
            </a:r>
            <a:r>
              <a:rPr sz="1700" b="0">
                <a:solidFill>
                  <a:srgbClr val="1F2A44"/>
                </a:solidFill>
                <a:latin typeface="Arial"/>
                <a:ea typeface="Microsoft YaHei"/>
              </a:rPr>
              <a:t>because, since, as, that’s why.</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Gerund after “worth”: </a:t>
            </a:r>
            <a:r>
              <a:rPr sz="1700" b="0">
                <a:solidFill>
                  <a:srgbClr val="1F2A44"/>
                </a:solidFill>
                <a:latin typeface="Arial"/>
                <a:ea typeface="Microsoft YaHei"/>
              </a:rPr>
              <a:t>It’s worth having a routine.</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Polite reminders: </a:t>
            </a:r>
            <a:r>
              <a:rPr sz="1700" b="0">
                <a:solidFill>
                  <a:srgbClr val="1F2A44"/>
                </a:solidFill>
                <a:latin typeface="Arial"/>
                <a:ea typeface="Microsoft YaHei"/>
              </a:rPr>
              <a:t>Just a quick reminder that… / I wanted to check whether…</a:t>
            </a:r>
          </a:p>
        </p:txBody>
      </p:sp>
    </p:spTree>
  </p:cSld>
  <p:clrMapOvr>
    <a:masterClrMapping/>
  </p:clrMapOvr>
  <p:transition spd="med">
    <p:fade/>
  </p:transition>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freelancer.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a freelancer.</a:t>
            </a:r>
          </a:p>
          <a:p>
            <a:pPr algn="l">
              <a:spcAft>
                <a:spcPts val="200"/>
              </a:spcAft>
            </a:pPr>
            <a:r>
              <a:rPr sz="1200" b="0">
                <a:solidFill>
                  <a:srgbClr val="FFFFFF"/>
                </a:solidFill>
                <a:latin typeface="Arial"/>
                <a:ea typeface="Microsoft YaHei"/>
              </a:rPr>
              <a:t>冠词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make a invoice.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send an invoice.</a:t>
            </a:r>
          </a:p>
          <a:p>
            <a:pPr algn="l">
              <a:spcAft>
                <a:spcPts val="200"/>
              </a:spcAft>
            </a:pPr>
            <a:r>
              <a:rPr sz="1200" b="0">
                <a:solidFill>
                  <a:srgbClr val="FFFFFF"/>
                </a:solidFill>
                <a:latin typeface="Arial"/>
                <a:ea typeface="Microsoft YaHei"/>
              </a:rPr>
              <a:t>冠词和搭配</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paid me with the invoice.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paid the invoice.</a:t>
            </a:r>
          </a:p>
          <a:p>
            <a:pPr algn="l">
              <a:spcAft>
                <a:spcPts val="200"/>
              </a:spcAft>
            </a:pPr>
            <a:r>
              <a:rPr sz="1200" b="0">
                <a:solidFill>
                  <a:srgbClr val="FFFFFF"/>
                </a:solidFill>
                <a:latin typeface="Arial"/>
                <a:ea typeface="Microsoft YaHei"/>
              </a:rPr>
              <a:t>搭配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worth to have a routine.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worth having a routine.</a:t>
            </a:r>
          </a:p>
          <a:p>
            <a:pPr algn="l">
              <a:spcAft>
                <a:spcPts val="200"/>
              </a:spcAft>
            </a:pPr>
            <a:r>
              <a:rPr sz="1200" b="0">
                <a:solidFill>
                  <a:srgbClr val="FFFFFF"/>
                </a:solidFill>
                <a:latin typeface="Arial"/>
                <a:ea typeface="Microsoft YaHei"/>
              </a:rPr>
              <a:t>worth + -ing</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work for freelance.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work freelance.</a:t>
            </a:r>
          </a:p>
          <a:p>
            <a:pPr algn="l">
              <a:spcAft>
                <a:spcPts val="200"/>
              </a:spcAft>
            </a:pPr>
            <a:r>
              <a:rPr sz="1200" b="0">
                <a:solidFill>
                  <a:srgbClr val="FFFFFF"/>
                </a:solidFill>
                <a:latin typeface="Arial"/>
                <a:ea typeface="Microsoft YaHei"/>
              </a:rPr>
              <a:t>无 for</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asked a discount.</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She asked for a discount.</a:t>
            </a:r>
          </a:p>
          <a:p>
            <a:pPr algn="l">
              <a:spcAft>
                <a:spcPts val="200"/>
              </a:spcAft>
            </a:pPr>
            <a:r>
              <a:rPr sz="1200" b="0">
                <a:solidFill>
                  <a:srgbClr val="FFFFFF"/>
                </a:solidFill>
                <a:latin typeface="Arial"/>
                <a:ea typeface="Microsoft YaHei"/>
              </a:rPr>
              <a:t>ask for</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articles, worth + -ing, and ask for.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Tax and insurance: </a:t>
            </a:r>
            <a:r>
              <a:rPr sz="1700" b="0">
                <a:solidFill>
                  <a:srgbClr val="1F2A44"/>
                </a:solidFill>
                <a:latin typeface="Arial"/>
                <a:ea typeface="Microsoft YaHei"/>
              </a:rPr>
              <a:t>Freelancers handle their own tax and insurance in most countries. Get advice.</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Platforms: </a:t>
            </a:r>
            <a:r>
              <a:rPr sz="1700" b="0">
                <a:solidFill>
                  <a:srgbClr val="1F2A44"/>
                </a:solidFill>
                <a:latin typeface="Arial"/>
                <a:ea typeface="Microsoft YaHei"/>
              </a:rPr>
              <a:t>Online marketplaces can help find clients but take fees.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Boundaries: </a:t>
            </a:r>
            <a:r>
              <a:rPr sz="1700" b="0">
                <a:solidFill>
                  <a:srgbClr val="1F2A44"/>
                </a:solidFill>
                <a:latin typeface="Arial"/>
                <a:ea typeface="Microsoft YaHei"/>
              </a:rPr>
              <a:t>Clear contracts and polite reminders are normal in business; they aren’t rude.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 freelancer 要加冠词;worth + -ing;ask for;work freelance(不加 for)。自由职业者要把自己当作小公司管理。</a:t>
            </a:r>
          </a:p>
        </p:txBody>
      </p:sp>
    </p:spTree>
  </p:cSld>
  <p:clrMapOvr>
    <a:masterClrMapping/>
  </p:clrMapOvr>
  <p:transition spd="med">
    <p:fade/>
  </p:transition>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83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give practical advice to a new freelancer.</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pricing, invoices and tax.</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worth + -ing and ask for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write a polite payment reminder.</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83 How to Succeed as a Freelancer</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articles with job titles, worth + -ing, and ask for.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9 · Lesson 84 Remote Business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119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84</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Remote Business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远程商业</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running a business or team remotely: tools, communication, trust, time zones and company culture.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work remotely sometimes? What are the pros and cons?</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tools do remote teams use?</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build trust in a remote team?</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problems come from different time zones?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Can a company culture exist without a shared office?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remote = 远程的;asynchronous = 异步的(不要求同时在线)。time zone = 时区。第 3 题答:communicate clearly, deliver on promises。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to make a remote team work well.</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communication</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tools</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trust</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time zones</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culture</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It helps to agree…   💬 We rely on…   💬 The key is to…</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rely on = 依靠。The key is to + 动词。It helps to + 动词。</a:t>
            </a:r>
          </a:p>
        </p:txBody>
      </p:sp>
    </p:spTree>
  </p:cSld>
  <p:clrMapOvr>
    <a:masterClrMapping/>
  </p:clrMapOvr>
  <p:transition spd="med">
    <p:fade/>
  </p:transition>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Working Together, Apart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Remote work has moved from an exception to a normal option for many businesses. It offers access to talent worldwide, lower office costs and flexibility for employees. But it also brings challenges. Messages can be misunderstood without tone of voice, teams in different time zones struggle to meet and new staff may feel isolated. Companies that do it well rely on clear communication habits: they write things down, share decisions openly and agree when people should be online. Many use asynchronous communication, where people reply when convenient rather than immediately, which respects different schedules. Video calls remain useful for relationships but should not fill the whole day. Trust is built by focusing on results, not hours, and culture is built deliberately, through regular team rituals, shared goals and recognition.</a:t>
            </a:r>
          </a:p>
        </p:txBody>
      </p:sp>
    </p:spTree>
  </p:cSld>
  <p:clrMapOvr>
    <a:masterClrMapping/>
  </p:clrMapOvr>
  <p:transition spd="med">
    <p:fade/>
  </p:transition>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are the benefits of remote work?</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Access to worldwide talent, lower office costs and flexibility.</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asynchronous communication?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People reply when convenient rather than immediately.</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is trust built?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By focusing on results rather than hours.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Remote working vocabulary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远程办公词汇</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remote team</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远程团队</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manage a remote team.”</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time zone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时区</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work across five time zones.”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video call</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视频通话</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hold daily video calls.”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collaboration tool</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协作工具</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use a collaboration tool for tasks.”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online meeting</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线上会议</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online meeting starts at ten.”</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virtual</a:t>
            </a:r>
          </a:p>
          <a:p>
            <a:pPr algn="l">
              <a:lnSpc>
                <a:spcPct val="115000"/>
              </a:lnSpc>
              <a:spcAft>
                <a:spcPts val="800"/>
              </a:spcAft>
            </a:pPr>
            <a:r>
              <a:rPr sz="1300" b="0">
                <a:solidFill>
                  <a:srgbClr val="5F677A"/>
                </a:solidFill>
                <a:latin typeface="Arial"/>
                <a:ea typeface="Microsoft YaHei"/>
              </a:rPr>
              <a:t>adjective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虚拟的</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a virtual office.”</a:t>
            </a:r>
          </a:p>
        </p:txBody>
      </p:sp>
    </p:spTree>
  </p:cSld>
  <p:clrMapOvr>
    <a:masterClrMapping/>
  </p:clrMapOvr>
  <p:transition spd="med">
    <p:fade/>
  </p:transition>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Making remote work well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让远程办公有效</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asynchronous</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异步的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prefer asynchronous updates.”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overlap hours</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重叠工作时间</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four overlap hours.”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stay in the loop</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保持了解</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“Stay in the loop through the channel.”</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feel isolated</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感到孤立</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“New staff can feel isolated.”</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set expectations</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明确预期</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set expectations early.”</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on the same page</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想法一致</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“Let’s make sure we’re on the same page.”</a:t>
            </a:r>
          </a:p>
        </p:txBody>
      </p:sp>
    </p:spTree>
  </p:cSld>
  <p:clrMapOvr>
    <a:masterClrMapping/>
  </p:clrMapOvr>
  <p:transition spd="med">
    <p:fade/>
  </p:transition>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线上会议</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online meeting</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时区</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time zone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远程团队</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remote team</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异步的</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asynchronous</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保持了解</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stay in the loop</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明确预期</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 expectations</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视频通话</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video call</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协作工具</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collaboration tool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remote team</a:t>
            </a:r>
          </a:p>
        </p:txBody>
      </p:sp>
      <p:sp>
        <p:nvSpPr>
          <p:cNvPr id="10" name="Rounded Rectangle 9"/>
          <p:cNvSpPr/>
          <p:nvPr/>
        </p:nvSpPr>
        <p:spPr>
          <a:xfrm>
            <a:off x="3675887"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time zone</a:t>
            </a:r>
          </a:p>
        </p:txBody>
      </p:sp>
      <p:sp>
        <p:nvSpPr>
          <p:cNvPr id="11" name="Rounded Rectangle 10"/>
          <p:cNvSpPr/>
          <p:nvPr/>
        </p:nvSpPr>
        <p:spPr>
          <a:xfrm>
            <a:off x="5120639" y="987552"/>
            <a:ext cx="2340864"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collaboration tool</a:t>
            </a:r>
          </a:p>
        </p:txBody>
      </p:sp>
      <p:sp>
        <p:nvSpPr>
          <p:cNvPr id="12" name="Rounded Rectangle 11"/>
          <p:cNvSpPr/>
          <p:nvPr/>
        </p:nvSpPr>
        <p:spPr>
          <a:xfrm>
            <a:off x="7552943"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asynchronous</a:t>
            </a:r>
          </a:p>
        </p:txBody>
      </p:sp>
      <p:sp>
        <p:nvSpPr>
          <p:cNvPr id="13" name="Rounded Rectangle 12"/>
          <p:cNvSpPr/>
          <p:nvPr/>
        </p:nvSpPr>
        <p:spPr>
          <a:xfrm>
            <a:off x="9326878" y="987552"/>
            <a:ext cx="179222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overlap hours</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manage a _______ of designers in six countries.</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remote team</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Our clients are in a different _______.</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time zone</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We use a _______ to track tasks.</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collaboration tool</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Many teams prefer _______ communication to constant meetings.</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asynchronous</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We have only two _______ between London and Sydney.</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overlap hours</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Managers should _______ early about response times.</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 expectations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Role Play · Setting up working agreements for a remote team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为远程团队设定工作约定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lead a team across three time zones and agree working rules with a team member.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Pia Seng, team lead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Omar Dias, team member</a:t>
            </a:r>
          </a:p>
        </p:txBody>
      </p:sp>
    </p:spTree>
  </p:cSld>
  <p:clrMapOvr>
    <a:masterClrMapping/>
  </p:clrMapOvr>
  <p:transition spd="med">
    <p:fade/>
  </p:transition>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Setting up working agreements for a remote team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Pia</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Omar, I’d like to agree a few working rules for the team. How is it going for you?</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Omar</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Mostly well. The time difference is the hard part.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know. It helps to agree some overlap hours. Would two to five p.m. my time work?</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workable. Early morning for me.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Outside that window, let’s rely on written updates so nobody has to be online all day.</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help. Can we avoid last-minute meetings?</a:t>
            </a:r>
          </a:p>
        </p:txBody>
      </p:sp>
    </p:spTree>
  </p:cSld>
  <p:clrMapOvr>
    <a:masterClrMapping/>
  </p:clrMapOvr>
  <p:transition spd="med">
    <p:fade/>
  </p:transition>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Setting up working agreements for a remote team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We’ll set the agenda at least a day ahead.</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response times?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Within one working day for non-urgent messages, and a direct call if something is urgent.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Fair. How do we keep a team feeling?</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short weekly video call and a monthly informal chat.</a:t>
            </a:r>
          </a:p>
        </p:txBody>
      </p:sp>
      <p:sp>
        <p:nvSpPr>
          <p:cNvPr id="23" name="Rounded Rectangle 22"/>
          <p:cNvSpPr/>
          <p:nvPr/>
        </p:nvSpPr>
        <p:spPr>
          <a:xfrm>
            <a:off x="10911535" y="45262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9651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5262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Sounds good. I’ll add those to the shared calendar.</a:t>
            </a:r>
          </a:p>
        </p:txBody>
      </p:sp>
      <p:sp>
        <p:nvSpPr>
          <p:cNvPr id="26" name="Rounded Rectangle 25"/>
          <p:cNvSpPr/>
          <p:nvPr/>
        </p:nvSpPr>
        <p:spPr>
          <a:xfrm>
            <a:off x="548640" y="51084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5473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10844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Let’s review how it’s working in a month.</a:t>
            </a:r>
          </a:p>
        </p:txBody>
      </p:sp>
    </p:spTree>
  </p:cSld>
  <p:clrMapOvr>
    <a:masterClrMapping/>
  </p:clrMapOvr>
  <p:transition spd="med">
    <p:fade/>
  </p:transition>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Your Turn · Setting up working agreements for a remote team</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agree remote working rules.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lead. Rules: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Raise one difficulty.</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overlap hours · written updates · response time · agenda · team feeling · review</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Agree communication rules and a review date.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Omar says: “Meetings feel pointless.” Respond with solutions.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short message setting team communication rules.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how you’d welcome a new remote colleague.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prefer working remotely or in an office?</a:t>
            </a:r>
          </a:p>
          <a:p>
            <a:pPr algn="l">
              <a:lnSpc>
                <a:spcPct val="115000"/>
              </a:lnSpc>
              <a:spcAft>
                <a:spcPts val="800"/>
              </a:spcAft>
            </a:pPr>
            <a:r>
              <a:rPr sz="1400" b="0">
                <a:solidFill>
                  <a:srgbClr val="5F677A"/>
                </a:solidFill>
                <a:latin typeface="Arial"/>
                <a:ea typeface="Microsoft YaHei"/>
              </a:rPr>
              <a:t>💬 “I prefer… because… / It depends on…”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remote teams build trust?</a:t>
            </a:r>
          </a:p>
          <a:p>
            <a:pPr algn="l">
              <a:lnSpc>
                <a:spcPct val="115000"/>
              </a:lnSpc>
              <a:spcAft>
                <a:spcPts val="800"/>
              </a:spcAft>
            </a:pPr>
            <a:r>
              <a:rPr sz="1400" b="0">
                <a:solidFill>
                  <a:srgbClr val="5F677A"/>
                </a:solidFill>
                <a:latin typeface="Arial"/>
                <a:ea typeface="Microsoft YaHei"/>
              </a:rPr>
              <a:t>💬 “By being reliable… / Communicating openly…”</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problems can time zones cause?</a:t>
            </a:r>
          </a:p>
          <a:p>
            <a:pPr algn="l">
              <a:lnSpc>
                <a:spcPct val="115000"/>
              </a:lnSpc>
              <a:spcAft>
                <a:spcPts val="800"/>
              </a:spcAft>
            </a:pPr>
            <a:r>
              <a:rPr sz="1400" b="0">
                <a:solidFill>
                  <a:srgbClr val="5F677A"/>
                </a:solidFill>
                <a:latin typeface="Arial"/>
                <a:ea typeface="Microsoft YaHei"/>
              </a:rPr>
              <a:t>💬 “They can make it hard to… / Meetings…”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Will most jobs be remote in the future?</a:t>
            </a:r>
          </a:p>
          <a:p>
            <a:pPr algn="l">
              <a:lnSpc>
                <a:spcPct val="115000"/>
              </a:lnSpc>
              <a:spcAft>
                <a:spcPts val="800"/>
              </a:spcAft>
            </a:pPr>
            <a:r>
              <a:rPr sz="1400" b="0">
                <a:solidFill>
                  <a:srgbClr val="5F677A"/>
                </a:solidFill>
                <a:latin typeface="Arial"/>
                <a:ea typeface="Microsoft YaHei"/>
              </a:rPr>
              <a:t>💬 “Some will, but many… / It depends 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Remote teams can build trust by being consistently reliable: doing what they say they’ll do, responding within agreed times and being open about problems early. Clear written communication also reduces misunderstandings. Occasional meetings in person, if possible, can strengthen relationships. Leaders can help by focusing on results, giving recognition and showing that they trust people to manage their own time.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consistently = 始终如一地。”within agreed times” = 在约定时间内。”in person” = 当面。recognition = 认可。</a:t>
            </a:r>
          </a:p>
        </p:txBody>
      </p:sp>
    </p:spTree>
  </p:cSld>
  <p:clrMapOvr>
    <a:masterClrMapping/>
  </p:clrMapOvr>
  <p:transition spd="med">
    <p:fade/>
  </p:transition>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69443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We meet by internet.</a:t>
                      </a:r>
                    </a:p>
                  </a:txBody>
                  <a:tcPr anchor="ctr">
                    <a:solidFill>
                      <a:srgbClr val="FFFFFF"/>
                    </a:solidFill>
                  </a:tcPr>
                </a:tc>
                <a:tc>
                  <a:txBody>
                    <a:bodyPr wrap="square"/>
                    <a:lstStyle/>
                    <a:p>
                      <a:r>
                        <a:rPr sz="1600" b="0">
                          <a:solidFill>
                            <a:srgbClr val="1F2A44"/>
                          </a:solidFill>
                          <a:latin typeface="Arial"/>
                          <a:ea typeface="Microsoft YaHei"/>
                        </a:rPr>
                        <a:t>We hold video calls.</a:t>
                      </a:r>
                    </a:p>
                  </a:txBody>
                  <a:tcPr anchor="ctr">
                    <a:solidFill>
                      <a:srgbClr val="FFFFFF"/>
                    </a:solidFill>
                  </a:tcPr>
                </a:tc>
                <a:tc>
                  <a:txBody>
                    <a:bodyPr wrap="square"/>
                    <a:lstStyle/>
                    <a:p>
                      <a:r>
                        <a:rPr sz="1600" b="0">
                          <a:solidFill>
                            <a:srgbClr val="FF6B5B"/>
                          </a:solidFill>
                          <a:latin typeface="Arial"/>
                          <a:ea typeface="Microsoft YaHei"/>
                        </a:rPr>
                        <a:t>搭配</a:t>
                      </a:r>
                    </a:p>
                  </a:txBody>
                  <a:tcPr anchor="ctr">
                    <a:solidFill>
                      <a:srgbClr val="FFFFFF"/>
                    </a:solidFill>
                  </a:tcPr>
                </a:tc>
              </a:tr>
              <a:tr h="408432">
                <a:tc>
                  <a:txBody>
                    <a:bodyPr wrap="square"/>
                    <a:lstStyle/>
                    <a:p>
                      <a:r>
                        <a:rPr sz="1600" b="1">
                          <a:solidFill>
                            <a:srgbClr val="1F2A44"/>
                          </a:solidFill>
                          <a:latin typeface="Arial"/>
                          <a:ea typeface="Microsoft YaHei"/>
                        </a:rPr>
                        <a:t>He lives in another time.</a:t>
                      </a:r>
                    </a:p>
                  </a:txBody>
                  <a:tcPr anchor="ctr">
                    <a:solidFill>
                      <a:srgbClr val="FFEFD9"/>
                    </a:solidFill>
                  </a:tcPr>
                </a:tc>
                <a:tc>
                  <a:txBody>
                    <a:bodyPr wrap="square"/>
                    <a:lstStyle/>
                    <a:p>
                      <a:r>
                        <a:rPr sz="1600" b="0">
                          <a:solidFill>
                            <a:srgbClr val="1F2A44"/>
                          </a:solidFill>
                          <a:latin typeface="Arial"/>
                          <a:ea typeface="Microsoft YaHei"/>
                        </a:rPr>
                        <a:t>He’s in a different time zone.</a:t>
                      </a:r>
                    </a:p>
                  </a:txBody>
                  <a:tcPr anchor="ctr">
                    <a:solidFill>
                      <a:srgbClr val="FFEFD9"/>
                    </a:solidFill>
                  </a:tcPr>
                </a:tc>
                <a:tc>
                  <a:txBody>
                    <a:bodyPr wrap="square"/>
                    <a:lstStyle/>
                    <a:p>
                      <a:r>
                        <a:rPr sz="1600" b="0">
                          <a:solidFill>
                            <a:srgbClr val="FF6B5B"/>
                          </a:solidFill>
                          <a:latin typeface="Arial"/>
                          <a:ea typeface="Microsoft YaHei"/>
                        </a:rPr>
                        <a:t>搭配</a:t>
                      </a:r>
                    </a:p>
                  </a:txBody>
                  <a:tcPr anchor="ctr">
                    <a:solidFill>
                      <a:srgbClr val="FFEFD9"/>
                    </a:solidFill>
                  </a:tcPr>
                </a:tc>
              </a:tr>
              <a:tr h="652272">
                <a:tc>
                  <a:txBody>
                    <a:bodyPr wrap="square"/>
                    <a:lstStyle/>
                    <a:p>
                      <a:r>
                        <a:rPr sz="1600" b="1">
                          <a:solidFill>
                            <a:srgbClr val="1F2A44"/>
                          </a:solidFill>
                          <a:latin typeface="Arial"/>
                          <a:ea typeface="Microsoft YaHei"/>
                        </a:rPr>
                        <a:t>Write me later.</a:t>
                      </a:r>
                    </a:p>
                  </a:txBody>
                  <a:tcPr anchor="ctr">
                    <a:solidFill>
                      <a:srgbClr val="FFFFFF"/>
                    </a:solidFill>
                  </a:tcPr>
                </a:tc>
                <a:tc>
                  <a:txBody>
                    <a:bodyPr wrap="square"/>
                    <a:lstStyle/>
                    <a:p>
                      <a:r>
                        <a:rPr sz="1600" b="0">
                          <a:solidFill>
                            <a:srgbClr val="1F2A44"/>
                          </a:solidFill>
                          <a:latin typeface="Arial"/>
                          <a:ea typeface="Microsoft YaHei"/>
                        </a:rPr>
                        <a:t>Drop me a message when you’re online.</a:t>
                      </a:r>
                    </a:p>
                  </a:txBody>
                  <a:tcPr anchor="ctr">
                    <a:solidFill>
                      <a:srgbClr val="FFFFFF"/>
                    </a:solidFill>
                  </a:tcPr>
                </a:tc>
                <a:tc>
                  <a:txBody>
                    <a:bodyPr wrap="square"/>
                    <a:lstStyle/>
                    <a:p>
                      <a:r>
                        <a:rPr sz="1600" b="0">
                          <a:solidFill>
                            <a:srgbClr val="FF6B5B"/>
                          </a:solidFill>
                          <a:latin typeface="Arial"/>
                          <a:ea typeface="Microsoft YaHei"/>
                        </a:rPr>
                        <a:t>口语</a:t>
                      </a:r>
                    </a:p>
                  </a:txBody>
                  <a:tcPr anchor="ctr">
                    <a:solidFill>
                      <a:srgbClr val="FFFFFF"/>
                    </a:solidFill>
                  </a:tcPr>
                </a:tc>
              </a:tr>
              <a:tr h="408432">
                <a:tc>
                  <a:txBody>
                    <a:bodyPr wrap="square"/>
                    <a:lstStyle/>
                    <a:p>
                      <a:r>
                        <a:rPr sz="1600" b="1">
                          <a:solidFill>
                            <a:srgbClr val="1F2A44"/>
                          </a:solidFill>
                          <a:latin typeface="Arial"/>
                          <a:ea typeface="Microsoft YaHei"/>
                        </a:rPr>
                        <a:t>I work in home.</a:t>
                      </a:r>
                    </a:p>
                  </a:txBody>
                  <a:tcPr anchor="ctr">
                    <a:solidFill>
                      <a:srgbClr val="FFEFD9"/>
                    </a:solidFill>
                  </a:tcPr>
                </a:tc>
                <a:tc>
                  <a:txBody>
                    <a:bodyPr wrap="square"/>
                    <a:lstStyle/>
                    <a:p>
                      <a:r>
                        <a:rPr sz="1600" b="0">
                          <a:solidFill>
                            <a:srgbClr val="1F2A44"/>
                          </a:solidFill>
                          <a:latin typeface="Arial"/>
                          <a:ea typeface="Microsoft YaHei"/>
                        </a:rPr>
                        <a:t>I work from home.</a:t>
                      </a:r>
                    </a:p>
                  </a:txBody>
                  <a:tcPr anchor="ctr">
                    <a:solidFill>
                      <a:srgbClr val="FFEFD9"/>
                    </a:solidFill>
                  </a:tcPr>
                </a:tc>
                <a:tc>
                  <a:txBody>
                    <a:bodyPr wrap="square"/>
                    <a:lstStyle/>
                    <a:p>
                      <a:r>
                        <a:rPr sz="1600" b="0">
                          <a:solidFill>
                            <a:srgbClr val="FF6B5B"/>
                          </a:solidFill>
                          <a:latin typeface="Arial"/>
                          <a:ea typeface="Microsoft YaHei"/>
                        </a:rPr>
                        <a:t>介词</a:t>
                      </a:r>
                    </a:p>
                  </a:txBody>
                  <a:tcPr anchor="ctr">
                    <a:solidFill>
                      <a:srgbClr val="FFEFD9"/>
                    </a:solidFill>
                  </a:tcPr>
                </a:tc>
              </a:tr>
              <a:tr h="408432">
                <a:tc>
                  <a:txBody>
                    <a:bodyPr wrap="square"/>
                    <a:lstStyle/>
                    <a:p>
                      <a:r>
                        <a:rPr sz="1600" b="1">
                          <a:solidFill>
                            <a:srgbClr val="1F2A44"/>
                          </a:solidFill>
                          <a:latin typeface="Arial"/>
                          <a:ea typeface="Microsoft YaHei"/>
                        </a:rPr>
                        <a:t>Please attend with camera.</a:t>
                      </a:r>
                    </a:p>
                  </a:txBody>
                  <a:tcPr anchor="ctr">
                    <a:solidFill>
                      <a:srgbClr val="FFFFFF"/>
                    </a:solidFill>
                  </a:tcPr>
                </a:tc>
                <a:tc>
                  <a:txBody>
                    <a:bodyPr wrap="square"/>
                    <a:lstStyle/>
                    <a:p>
                      <a:r>
                        <a:rPr sz="1600" b="0">
                          <a:solidFill>
                            <a:srgbClr val="1F2A44"/>
                          </a:solidFill>
                          <a:latin typeface="Arial"/>
                          <a:ea typeface="Microsoft YaHei"/>
                        </a:rPr>
                        <a:t>Please join with your camera on.</a:t>
                      </a:r>
                    </a:p>
                  </a:txBody>
                  <a:tcPr anchor="ctr">
                    <a:solidFill>
                      <a:srgbClr val="FFFFFF"/>
                    </a:solidFill>
                  </a:tcPr>
                </a:tc>
                <a:tc>
                  <a:txBody>
                    <a:bodyPr wrap="square"/>
                    <a:lstStyle/>
                    <a:p>
                      <a:r>
                        <a:rPr sz="1600" b="0">
                          <a:solidFill>
                            <a:srgbClr val="1F2A44"/>
                          </a:solidFill>
                          <a:latin typeface="Arial"/>
                          <a:ea typeface="Microsoft YaHei"/>
                        </a:rPr>
                        <a:t>join</a:t>
                      </a:r>
                    </a:p>
                  </a:txBody>
                  <a:tcPr anchor="ctr">
                    <a:solidFill>
                      <a:srgbClr val="FFFFFF"/>
                    </a:solidFill>
                  </a:tcPr>
                </a:tc>
              </a:tr>
            </a:tbl>
          </a:graphicData>
        </a:graphic>
      </p:graphicFrame>
    </p:spTree>
  </p:cSld>
  <p:clrMapOvr>
    <a:masterClrMapping/>
  </p:clrMapOvr>
  <p:transition spd="med">
    <p:fade/>
  </p:transition>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Scheduling language: </a:t>
            </a:r>
            <a:r>
              <a:rPr sz="1700" b="0">
                <a:solidFill>
                  <a:srgbClr val="1F2A44"/>
                </a:solidFill>
                <a:latin typeface="Arial"/>
                <a:ea typeface="Microsoft YaHei"/>
              </a:rPr>
              <a:t>Would … work for you? / Could we move it to…? / I’m free on…</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Prepositions of time: </a:t>
            </a:r>
            <a:r>
              <a:rPr sz="1700" b="0">
                <a:solidFill>
                  <a:srgbClr val="1F2A44"/>
                </a:solidFill>
                <a:latin typeface="Arial"/>
                <a:ea typeface="Microsoft YaHei"/>
              </a:rPr>
              <a:t>at 3 p.m., on Monday, in the morning, by Friday.</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Present perfect for status: </a:t>
            </a:r>
            <a:r>
              <a:rPr sz="1700" b="0">
                <a:solidFill>
                  <a:srgbClr val="1F2A44"/>
                </a:solidFill>
                <a:latin typeface="Arial"/>
                <a:ea typeface="Microsoft YaHei"/>
              </a:rPr>
              <a:t>“I’ve updated the document.” / “Have you seen the message?”</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Politeness in writing: </a:t>
            </a:r>
            <a:r>
              <a:rPr sz="1700" b="0">
                <a:solidFill>
                  <a:srgbClr val="1F2A44"/>
                </a:solidFill>
                <a:latin typeface="Arial"/>
                <a:ea typeface="Microsoft YaHei"/>
              </a:rPr>
              <a:t>Thanks in advance, I’d appreciate it if…, Just checking whether…</a:t>
            </a:r>
          </a:p>
        </p:txBody>
      </p:sp>
    </p:spTree>
  </p:cSld>
  <p:clrMapOvr>
    <a:masterClrMapping/>
  </p:clrMapOvr>
  <p:transition spd="med">
    <p:fade/>
  </p:transition>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work at home.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work from home.</a:t>
            </a:r>
          </a:p>
          <a:p>
            <a:pPr algn="l">
              <a:spcAft>
                <a:spcPts val="200"/>
              </a:spcAft>
            </a:pPr>
            <a:r>
              <a:rPr sz="1200" b="0">
                <a:solidFill>
                  <a:srgbClr val="FFFFFF"/>
                </a:solidFill>
                <a:latin typeface="Arial"/>
                <a:ea typeface="Microsoft YaHei"/>
              </a:rPr>
              <a:t>work from home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Let’s meet in 3 p.m.</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Let’s meet at 3 p.m.</a:t>
            </a:r>
          </a:p>
          <a:p>
            <a:pPr algn="l">
              <a:spcAft>
                <a:spcPts val="200"/>
              </a:spcAft>
            </a:pPr>
            <a:r>
              <a:rPr sz="1200" b="0">
                <a:solidFill>
                  <a:srgbClr val="FFFFFF"/>
                </a:solidFill>
                <a:latin typeface="Arial"/>
                <a:ea typeface="Microsoft YaHei"/>
              </a:rPr>
              <a:t>at + 时刻</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meeting is on 2 o’clock.</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meeting is at 2 o’clock.</a:t>
            </a:r>
          </a:p>
          <a:p>
            <a:pPr algn="l">
              <a:spcAft>
                <a:spcPts val="200"/>
              </a:spcAft>
            </a:pPr>
            <a:r>
              <a:rPr sz="1200" b="0">
                <a:solidFill>
                  <a:srgbClr val="FFFFFF"/>
                </a:solidFill>
                <a:latin typeface="Arial"/>
                <a:ea typeface="Microsoft YaHei"/>
              </a:rPr>
              <a:t>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discuss about the schedule.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discuss the schedule.</a:t>
            </a:r>
          </a:p>
          <a:p>
            <a:pPr algn="l">
              <a:spcAft>
                <a:spcPts val="200"/>
              </a:spcAft>
            </a:pPr>
            <a:r>
              <a:rPr sz="1200" b="0">
                <a:solidFill>
                  <a:srgbClr val="FFFFFF"/>
                </a:solidFill>
                <a:latin typeface="Arial"/>
                <a:ea typeface="Microsoft YaHei"/>
              </a:rPr>
              <a:t>discuss</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join the call.</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joining the call.</a:t>
            </a:r>
          </a:p>
          <a:p>
            <a:pPr algn="l">
              <a:spcAft>
                <a:spcPts val="200"/>
              </a:spcAft>
            </a:pPr>
            <a:r>
              <a:rPr sz="1200" b="0">
                <a:solidFill>
                  <a:srgbClr val="FFFFFF"/>
                </a:solidFill>
                <a:latin typeface="Arial"/>
                <a:ea typeface="Microsoft YaHei"/>
              </a:rPr>
              <a:t>进行时</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Please mute you.</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Please mute yourself.</a:t>
            </a:r>
          </a:p>
          <a:p>
            <a:pPr algn="l">
              <a:spcAft>
                <a:spcPts val="200"/>
              </a:spcAft>
            </a:pPr>
            <a:r>
              <a:rPr sz="1200" b="0">
                <a:solidFill>
                  <a:srgbClr val="FFFFFF"/>
                </a:solidFill>
                <a:latin typeface="Arial"/>
                <a:ea typeface="Microsoft YaHei"/>
              </a:rPr>
              <a:t>反身代词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prepositions of time, discuss, and reflexives (mute yourself).</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Time zone etiquette: </a:t>
            </a:r>
            <a:r>
              <a:rPr sz="1700" b="0">
                <a:solidFill>
                  <a:srgbClr val="1F2A44"/>
                </a:solidFill>
                <a:latin typeface="Arial"/>
                <a:ea typeface="Microsoft YaHei"/>
              </a:rPr>
              <a:t>Use UTC or write both time zones when scheduling; avoid assuming everyone is available.</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Camera norms: </a:t>
            </a:r>
            <a:r>
              <a:rPr sz="1700" b="0">
                <a:solidFill>
                  <a:srgbClr val="1F2A44"/>
                </a:solidFill>
                <a:latin typeface="Arial"/>
                <a:ea typeface="Microsoft YaHei"/>
              </a:rPr>
              <a:t>Expectations about cameras vary; ask rather than assume.</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Written tone: </a:t>
            </a:r>
            <a:r>
              <a:rPr sz="1700" b="0">
                <a:solidFill>
                  <a:srgbClr val="1F2A44"/>
                </a:solidFill>
                <a:latin typeface="Arial"/>
                <a:ea typeface="Microsoft YaHei"/>
              </a:rPr>
              <a:t>Without voice, emojis and friendly phrases help avoid sounding cold.</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work from home;at 3 p.m.(时刻用 at);discuss 不加 about。远程团队要把规则写下来,并留出重叠时间。</a:t>
            </a:r>
          </a:p>
        </p:txBody>
      </p:sp>
    </p:spTree>
  </p:cSld>
  <p:clrMapOvr>
    <a:masterClrMapping/>
  </p:clrMapOvr>
  <p:transition spd="med">
    <p:fade/>
  </p:transition>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84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agree rules for remote working.</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schedule across time zones.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prepositions of time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work from home and discuss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84 Remote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prepositions of time, work from home, and polite written requests.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9 · Lesson 85 Clickworkers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141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85</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Clickworkers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微任务工作者</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online micro-task work (“clickwork”): what it is, who does it, pay and conditions, pros and cons, and fairness in the gig economy.</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heard of online micro-tasks, such as labelling images or answering short surveys?</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might someone choose this kind of work?</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problems might workers face?</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benefits most from this kind of work?</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platforms be responsible for workers’ conditions?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clickwork = 在线点击/微任务工作;gig economy = 零工经济;piece rate = 计件工资。第 5 题讨论责任问题,可用 should / ought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the pros and cons of micro-task work and fairness.</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it is</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benefits</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problems</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fairness</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suggestion</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It offers flexibility, but…   💬 The main concern is…   💬 Platforms ought to…</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ought to + 动词 = 应该。The main concern is… 点明问题。 flexibility 与 security 的对比。</a:t>
            </a:r>
          </a:p>
        </p:txBody>
      </p:sp>
    </p:spTree>
  </p:cSld>
  <p:clrMapOvr>
    <a:masterClrMapping/>
  </p:clrMapOvr>
  <p:transition spd="med">
    <p:fade/>
  </p:transition>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Work in Small Pieces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126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Behind many websites and apps are people performing small online tasks: labelling photographs, checking search results, transcribing audio or answering surveys. Each task may take only a few minutes, and workers are often paid per task. For some, this is a flexible way to earn extra money from home. It can suit students, carers and people in areas with few jobs. But there are concerns. Pay can be low, especially once unpaid time spent finding tasks is included. Work may be irregular, and workers often have no paid leave, sick pay or clear way to challenge unfair rejections. Researchers and campaigners have called for clearer rules, fair minimum pay and better communication from platforms. Supporters say the sector creates opportunities, but the debate about fairness continues.</a:t>
            </a:r>
          </a:p>
        </p:txBody>
      </p:sp>
    </p:spTree>
  </p:cSld>
  <p:clrMapOvr>
    <a:masterClrMapping/>
  </p:clrMapOvr>
  <p:transition spd="med">
    <p:fade/>
  </p:transition>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kinds of tasks are mentioned?</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Labelling photographs, checking search results, transcribing audio, answering surveys.</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might the real pay be low?</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Unpaid time spent finding tasks is not counted.</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changes do campaigners ask for?</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Clearer rules, fair minimum pay and better communication from platforms.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Gig and micro-task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零工与微任务</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gig economy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零工经济</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gig economy is growing.”</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micro-task</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微任务</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“Each micro-task takes two minutes.”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piece rate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计件工资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are paid a piece rate.”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platform</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平台</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platform connects workers and clients.”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self-employed</a:t>
            </a:r>
          </a:p>
          <a:p>
            <a:pPr algn="l">
              <a:lnSpc>
                <a:spcPct val="115000"/>
              </a:lnSpc>
              <a:spcAft>
                <a:spcPts val="800"/>
              </a:spcAft>
            </a:pPr>
            <a:r>
              <a:rPr sz="1300" b="0">
                <a:solidFill>
                  <a:srgbClr val="5F677A"/>
                </a:solidFill>
                <a:latin typeface="Arial"/>
                <a:ea typeface="Microsoft YaHei"/>
              </a:rPr>
              <a:t>adjective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自雇的</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“Most clickworkers are self-employed.”</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minimum wage</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最低工资</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pay is below minimum wage.”</a:t>
            </a:r>
          </a:p>
        </p:txBody>
      </p:sp>
    </p:spTree>
  </p:cSld>
  <p:clrMapOvr>
    <a:masterClrMapping/>
  </p:clrMapOvr>
  <p:transition spd="med">
    <p:fade/>
  </p:transition>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Fairness and conditions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公平与工作条件</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precarious</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不稳定的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“Precarious work offers little security.”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job security</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工作保障</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“Job security is low.”</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exploit</a:t>
            </a:r>
          </a:p>
          <a:p>
            <a:pPr algn="l">
              <a:lnSpc>
                <a:spcPct val="115000"/>
              </a:lnSpc>
              <a:spcAft>
                <a:spcPts val="800"/>
              </a:spcAft>
            </a:pPr>
            <a:r>
              <a:rPr sz="1300" b="0">
                <a:solidFill>
                  <a:srgbClr val="5F677A"/>
                </a:solidFill>
                <a:latin typeface="Arial"/>
                <a:ea typeface="Microsoft YaHei"/>
              </a:rPr>
              <a:t>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剥削</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“Workers can be exploited.”</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make ends meet</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维持生计</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 use gigs to make ends meet.”</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side income</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副业收入</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gives me a small side income.”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race to the bottom</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恶性竞争</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“Price competition becomes a race to the bottom.”</a:t>
            </a:r>
          </a:p>
        </p:txBody>
      </p:sp>
    </p:spTree>
  </p:cSld>
  <p:clrMapOvr>
    <a:masterClrMapping/>
  </p:clrMapOvr>
  <p:transition spd="med">
    <p:fade/>
  </p:transition>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工作保障</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job security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不稳定的</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precarious</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平台</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platform</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零工经济</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gig economy</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最低工资</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minimum wage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恶性竞争</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race to the bottom</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计件工资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piece rate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剥削</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exploit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gig economy</a:t>
            </a:r>
          </a:p>
        </p:txBody>
      </p:sp>
      <p:sp>
        <p:nvSpPr>
          <p:cNvPr id="10" name="Rounded Rectangle 9"/>
          <p:cNvSpPr/>
          <p:nvPr/>
        </p:nvSpPr>
        <p:spPr>
          <a:xfrm>
            <a:off x="3675887" y="987552"/>
            <a:ext cx="1243584"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platform</a:t>
            </a:r>
          </a:p>
        </p:txBody>
      </p:sp>
      <p:sp>
        <p:nvSpPr>
          <p:cNvPr id="11" name="Rounded Rectangle 10"/>
          <p:cNvSpPr/>
          <p:nvPr/>
        </p:nvSpPr>
        <p:spPr>
          <a:xfrm>
            <a:off x="5010911" y="987552"/>
            <a:ext cx="146304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piece rate</a:t>
            </a:r>
          </a:p>
        </p:txBody>
      </p:sp>
      <p:sp>
        <p:nvSpPr>
          <p:cNvPr id="12" name="Rounded Rectangle 11"/>
          <p:cNvSpPr/>
          <p:nvPr/>
        </p:nvSpPr>
        <p:spPr>
          <a:xfrm>
            <a:off x="6565391" y="987552"/>
            <a:ext cx="1682495"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minimum wage</a:t>
            </a:r>
          </a:p>
        </p:txBody>
      </p:sp>
      <p:sp>
        <p:nvSpPr>
          <p:cNvPr id="13" name="Rounded Rectangle 12"/>
          <p:cNvSpPr/>
          <p:nvPr/>
        </p:nvSpPr>
        <p:spPr>
          <a:xfrm>
            <a:off x="8339326" y="987552"/>
            <a:ext cx="146304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precarious</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Many people drive or deliver in the _______.</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gig economy</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_______ matches workers with short tasks.</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platform</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They are paid a _______ for every item they label.</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piece rate</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Campaigners say the pay is below the legal _______.</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minimum wage</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 work is _______: there is no guarantee of income.</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precarious</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Some people use gig work to help them _______.</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make ends meet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clickworker (one word), gig (informal), precarious (not “precarius”). Earn money, make money, earn a living. Be paid per task / by the hour / a piece rate. Self-employed vs employee. Minimum wage (UK/US), living wage. Exploit (verb), exploitation (noun).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Discussing micro-task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讨论微任务工作</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colleagues discuss an article about online micro-task workers.</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Rex Chua, researcher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Dina Sol, colleague</a:t>
            </a:r>
          </a:p>
        </p:txBody>
      </p:sp>
    </p:spTree>
  </p:cSld>
  <p:clrMapOvr>
    <a:masterClrMapping/>
  </p:clrMapOvr>
  <p:transition spd="med">
    <p:fade/>
  </p:transition>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Discussing micro-task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Rex</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Dina, did you read the article about online micro-tasks?</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Dina</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It said many people earn small amounts for tasks like labelling images.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offers flexibility, but pay seems very low once you count the unpaid time spent searching for tasks.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fair point. Though for some people, flexibility is the main attraction.</a:t>
            </a:r>
          </a:p>
        </p:txBody>
      </p:sp>
    </p:spTree>
  </p:cSld>
  <p:clrMapOvr>
    <a:masterClrMapping/>
  </p:clrMapOvr>
  <p:transition spd="med">
    <p:fade/>
  </p:transition>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micro-task work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True. Students and carers value it. The main concern is the lack of security.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sick pay, no holiday, and you can be rejected without explanation.</a:t>
            </a:r>
          </a:p>
        </p:txBody>
      </p:sp>
      <p:sp>
        <p:nvSpPr>
          <p:cNvPr id="14" name="Rounded Rectangle 13"/>
          <p:cNvSpPr/>
          <p:nvPr/>
        </p:nvSpPr>
        <p:spPr>
          <a:xfrm>
            <a:off x="548640" y="306933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50824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306933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I think platforms ought to give clearer rules and a fair minimum rate.</a:t>
            </a:r>
          </a:p>
        </p:txBody>
      </p:sp>
      <p:sp>
        <p:nvSpPr>
          <p:cNvPr id="17" name="Rounded Rectangle 16"/>
          <p:cNvSpPr/>
          <p:nvPr/>
        </p:nvSpPr>
        <p:spPr>
          <a:xfrm>
            <a:off x="10911535" y="394106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37997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94106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Would that make tasks more expensive?</a:t>
            </a:r>
          </a:p>
        </p:txBody>
      </p:sp>
    </p:spTree>
  </p:cSld>
  <p:clrMapOvr>
    <a:masterClrMapping/>
  </p:clrMapOvr>
  <p:transition spd="med">
    <p:fade/>
  </p:transition>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micro-task work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Probably, but companies that rely on this work should be prepared to pay fairly.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the workers’ view? Some like being independent.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Right. It should be a choice, not the only option.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Agreed. Regulation should protect without removing flexibility.</a:t>
            </a:r>
          </a:p>
        </p:txBody>
      </p:sp>
    </p:spTree>
  </p:cSld>
  <p:clrMapOvr>
    <a:masterClrMapping/>
  </p:clrMapOvr>
  <p:transition spd="med">
    <p:fade/>
  </p:transition>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Discussing micro-task work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discuss fairness in gig work.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Speaker. Position: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Speaker. Offer a different view.</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flexibility · security · ought to · fair rate · rely on · regulation</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Discuss pros and cons and make a suggestion.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Dina says: “It’s better than no job.” Respond.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the term “gig economy” in one sentence.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three protections for gig workers.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gig work a good option for young people?</a:t>
            </a:r>
          </a:p>
          <a:p>
            <a:pPr algn="l">
              <a:lnSpc>
                <a:spcPct val="115000"/>
              </a:lnSpc>
              <a:spcAft>
                <a:spcPts val="800"/>
              </a:spcAft>
            </a:pPr>
            <a:r>
              <a:rPr sz="1400" b="0">
                <a:solidFill>
                  <a:srgbClr val="5F677A"/>
                </a:solidFill>
                <a:latin typeface="Arial"/>
                <a:ea typeface="Microsoft YaHei"/>
              </a:rPr>
              <a:t>💬 “It can be a stepping stone, but…”</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is responsible for protecting gig workers?</a:t>
            </a:r>
          </a:p>
          <a:p>
            <a:pPr algn="l">
              <a:lnSpc>
                <a:spcPct val="115000"/>
              </a:lnSpc>
              <a:spcAft>
                <a:spcPts val="800"/>
              </a:spcAft>
            </a:pPr>
            <a:r>
              <a:rPr sz="1400" b="0">
                <a:solidFill>
                  <a:srgbClr val="5F677A"/>
                </a:solidFill>
                <a:latin typeface="Arial"/>
                <a:ea typeface="Microsoft YaHei"/>
              </a:rPr>
              <a:t>💬 “Platforms, governments and… should…”</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do micro-tasks for extra money?</a:t>
            </a:r>
          </a:p>
          <a:p>
            <a:pPr algn="l">
              <a:lnSpc>
                <a:spcPct val="115000"/>
              </a:lnSpc>
              <a:spcAft>
                <a:spcPts val="800"/>
              </a:spcAft>
            </a:pPr>
            <a:r>
              <a:rPr sz="1400" b="0">
                <a:solidFill>
                  <a:srgbClr val="5F677A"/>
                </a:solidFill>
                <a:latin typeface="Arial"/>
                <a:ea typeface="Microsoft YaHei"/>
              </a:rPr>
              <a:t>💬 “Possibly, if… / I wouldn’t because…”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do gig platforms change the nature of work?</a:t>
            </a:r>
          </a:p>
          <a:p>
            <a:pPr algn="l">
              <a:lnSpc>
                <a:spcPct val="115000"/>
              </a:lnSpc>
              <a:spcAft>
                <a:spcPts val="800"/>
              </a:spcAft>
            </a:pPr>
            <a:r>
              <a:rPr sz="1400" b="0">
                <a:solidFill>
                  <a:srgbClr val="5F677A"/>
                </a:solidFill>
                <a:latin typeface="Arial"/>
                <a:ea typeface="Microsoft YaHei"/>
              </a:rPr>
              <a:t>💬 “They make work more… but also…”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responsibility should be shared. Platforms benefit from workers’ time, so they should provide clear rules, fair pay and ways to resolve disputes. Governments should set minimum standards and make sure they’re enforced. Workers can also organise and share information. If only one party takes responsibility, protection is likely to be weak.</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enforce = 执行。dispute = 争议。”minimum standards” = 最低标准。organise = 组织起来。</a:t>
            </a:r>
          </a:p>
        </p:txBody>
      </p:sp>
    </p:spTree>
  </p:cSld>
  <p:clrMapOvr>
    <a:masterClrMapping/>
  </p:clrMapOvr>
  <p:transition spd="med">
    <p:fade/>
  </p:transition>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69443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The pay is bad.</a:t>
                      </a:r>
                    </a:p>
                  </a:txBody>
                  <a:tcPr anchor="ctr">
                    <a:solidFill>
                      <a:srgbClr val="FFFFFF"/>
                    </a:solidFill>
                  </a:tcPr>
                </a:tc>
                <a:tc>
                  <a:txBody>
                    <a:bodyPr wrap="square"/>
                    <a:lstStyle/>
                    <a:p>
                      <a:r>
                        <a:rPr sz="1600" b="0">
                          <a:solidFill>
                            <a:srgbClr val="1F2A44"/>
                          </a:solidFill>
                          <a:latin typeface="Arial"/>
                          <a:ea typeface="Microsoft YaHei"/>
                        </a:rPr>
                        <a:t>The pay is very low once you include unpaid time.</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408432">
                <a:tc>
                  <a:txBody>
                    <a:bodyPr wrap="square"/>
                    <a:lstStyle/>
                    <a:p>
                      <a:r>
                        <a:rPr sz="1600" b="1">
                          <a:solidFill>
                            <a:srgbClr val="1F2A44"/>
                          </a:solidFill>
                          <a:latin typeface="Arial"/>
                          <a:ea typeface="Microsoft YaHei"/>
                        </a:rPr>
                        <a:t>There is no job guarantee.</a:t>
                      </a:r>
                    </a:p>
                  </a:txBody>
                  <a:tcPr anchor="ctr">
                    <a:solidFill>
                      <a:srgbClr val="FFEFD9"/>
                    </a:solidFill>
                  </a:tcPr>
                </a:tc>
                <a:tc>
                  <a:txBody>
                    <a:bodyPr wrap="square"/>
                    <a:lstStyle/>
                    <a:p>
                      <a:r>
                        <a:rPr sz="1600" b="0">
                          <a:solidFill>
                            <a:srgbClr val="1F2A44"/>
                          </a:solidFill>
                          <a:latin typeface="Arial"/>
                          <a:ea typeface="Microsoft YaHei"/>
                        </a:rPr>
                        <a:t>The work is precarious.</a:t>
                      </a:r>
                    </a:p>
                  </a:txBody>
                  <a:tcPr anchor="ctr">
                    <a:solidFill>
                      <a:srgbClr val="FFEFD9"/>
                    </a:solidFill>
                  </a:tcPr>
                </a:tc>
                <a:tc>
                  <a:txBody>
                    <a:bodyPr wrap="square"/>
                    <a:lstStyle/>
                    <a:p>
                      <a:r>
                        <a:rPr sz="1600" b="0">
                          <a:solidFill>
                            <a:srgbClr val="FF6B5B"/>
                          </a:solidFill>
                          <a:latin typeface="Arial"/>
                          <a:ea typeface="Microsoft YaHei"/>
                        </a:rPr>
                        <a:t>术语</a:t>
                      </a:r>
                    </a:p>
                  </a:txBody>
                  <a:tcPr anchor="ctr">
                    <a:solidFill>
                      <a:srgbClr val="FFEFD9"/>
                    </a:solidFill>
                  </a:tcPr>
                </a:tc>
              </a:tr>
              <a:tr h="408432">
                <a:tc>
                  <a:txBody>
                    <a:bodyPr wrap="square"/>
                    <a:lstStyle/>
                    <a:p>
                      <a:r>
                        <a:rPr sz="1600" b="1">
                          <a:solidFill>
                            <a:srgbClr val="1F2A44"/>
                          </a:solidFill>
                          <a:latin typeface="Arial"/>
                          <a:ea typeface="Microsoft YaHei"/>
                        </a:rPr>
                        <a:t>He is used.</a:t>
                      </a:r>
                    </a:p>
                  </a:txBody>
                  <a:tcPr anchor="ctr">
                    <a:solidFill>
                      <a:srgbClr val="FFFFFF"/>
                    </a:solidFill>
                  </a:tcPr>
                </a:tc>
                <a:tc>
                  <a:txBody>
                    <a:bodyPr wrap="square"/>
                    <a:lstStyle/>
                    <a:p>
                      <a:r>
                        <a:rPr sz="1600" b="0">
                          <a:solidFill>
                            <a:srgbClr val="1F2A44"/>
                          </a:solidFill>
                          <a:latin typeface="Arial"/>
                          <a:ea typeface="Microsoft YaHei"/>
                        </a:rPr>
                        <a:t>He’s being exploited.</a:t>
                      </a:r>
                    </a:p>
                  </a:txBody>
                  <a:tcPr anchor="ctr">
                    <a:solidFill>
                      <a:srgbClr val="FFFFFF"/>
                    </a:solidFill>
                  </a:tcPr>
                </a:tc>
                <a:tc>
                  <a:txBody>
                    <a:bodyPr wrap="square"/>
                    <a:lstStyle/>
                    <a:p>
                      <a:r>
                        <a:rPr sz="1600" b="0">
                          <a:solidFill>
                            <a:srgbClr val="FF6B5B"/>
                          </a:solidFill>
                          <a:latin typeface="Arial"/>
                          <a:ea typeface="Microsoft YaHei"/>
                        </a:rPr>
                        <a:t>被动</a:t>
                      </a:r>
                    </a:p>
                  </a:txBody>
                  <a:tcPr anchor="ctr">
                    <a:solidFill>
                      <a:srgbClr val="FFFFFF"/>
                    </a:solidFill>
                  </a:tcPr>
                </a:tc>
              </a:tr>
              <a:tr h="408432">
                <a:tc>
                  <a:txBody>
                    <a:bodyPr wrap="square"/>
                    <a:lstStyle/>
                    <a:p>
                      <a:r>
                        <a:rPr sz="1600" b="1">
                          <a:solidFill>
                            <a:srgbClr val="1F2A44"/>
                          </a:solidFill>
                          <a:latin typeface="Arial"/>
                          <a:ea typeface="Microsoft YaHei"/>
                        </a:rPr>
                        <a:t>It’s a small money job.</a:t>
                      </a:r>
                    </a:p>
                  </a:txBody>
                  <a:tcPr anchor="ctr">
                    <a:solidFill>
                      <a:srgbClr val="FFEFD9"/>
                    </a:solidFill>
                  </a:tcPr>
                </a:tc>
                <a:tc>
                  <a:txBody>
                    <a:bodyPr wrap="square"/>
                    <a:lstStyle/>
                    <a:p>
                      <a:r>
                        <a:rPr sz="1600" b="0">
                          <a:solidFill>
                            <a:srgbClr val="1F2A44"/>
                          </a:solidFill>
                          <a:latin typeface="Arial"/>
                          <a:ea typeface="Microsoft YaHei"/>
                        </a:rPr>
                        <a:t>It’s a source of extra income.</a:t>
                      </a:r>
                    </a:p>
                  </a:txBody>
                  <a:tcPr anchor="ctr">
                    <a:solidFill>
                      <a:srgbClr val="FFEFD9"/>
                    </a:solidFill>
                  </a:tcPr>
                </a:tc>
                <a:tc>
                  <a:txBody>
                    <a:bodyPr wrap="square"/>
                    <a:lstStyle/>
                    <a:p>
                      <a:r>
                        <a:rPr sz="1600" b="0">
                          <a:solidFill>
                            <a:srgbClr val="FF6B5B"/>
                          </a:solidFill>
                          <a:latin typeface="Arial"/>
                          <a:ea typeface="Microsoft YaHei"/>
                        </a:rPr>
                        <a:t>搭配</a:t>
                      </a:r>
                    </a:p>
                  </a:txBody>
                  <a:tcPr anchor="ctr">
                    <a:solidFill>
                      <a:srgbClr val="FFEFD9"/>
                    </a:solidFill>
                  </a:tcPr>
                </a:tc>
              </a:tr>
              <a:tr h="408432">
                <a:tc>
                  <a:txBody>
                    <a:bodyPr wrap="square"/>
                    <a:lstStyle/>
                    <a:p>
                      <a:r>
                        <a:rPr sz="1600" b="1">
                          <a:solidFill>
                            <a:srgbClr val="1F2A44"/>
                          </a:solidFill>
                          <a:latin typeface="Arial"/>
                          <a:ea typeface="Microsoft YaHei"/>
                        </a:rPr>
                        <a:t>Workers have no rights.</a:t>
                      </a:r>
                    </a:p>
                  </a:txBody>
                  <a:tcPr anchor="ctr">
                    <a:solidFill>
                      <a:srgbClr val="FFFFFF"/>
                    </a:solidFill>
                  </a:tcPr>
                </a:tc>
                <a:tc>
                  <a:txBody>
                    <a:bodyPr wrap="square"/>
                    <a:lstStyle/>
                    <a:p>
                      <a:r>
                        <a:rPr sz="1600" b="0">
                          <a:solidFill>
                            <a:srgbClr val="1F2A44"/>
                          </a:solidFill>
                          <a:latin typeface="Arial"/>
                          <a:ea typeface="Microsoft YaHei"/>
                        </a:rPr>
                        <a:t>Workers have limited protection.</a:t>
                      </a:r>
                    </a:p>
                  </a:txBody>
                  <a:tcPr anchor="ctr">
                    <a:solidFill>
                      <a:srgbClr val="FFFFFF"/>
                    </a:solidFill>
                  </a:tcPr>
                </a:tc>
                <a:tc>
                  <a:txBody>
                    <a:bodyPr wrap="square"/>
                    <a:lstStyle/>
                    <a:p>
                      <a:r>
                        <a:rPr sz="1600" b="0">
                          <a:solidFill>
                            <a:srgbClr val="FF6B5B"/>
                          </a:solidFill>
                          <a:latin typeface="Arial"/>
                          <a:ea typeface="Microsoft YaHei"/>
                        </a:rPr>
                        <a:t>稳妥</a:t>
                      </a:r>
                    </a:p>
                  </a:txBody>
                  <a:tcPr anchor="ctr">
                    <a:solidFill>
                      <a:srgbClr val="FFFFFF"/>
                    </a:solidFill>
                  </a:tcPr>
                </a:tc>
              </a:tr>
            </a:tbl>
          </a:graphicData>
        </a:graphic>
      </p:graphicFrame>
    </p:spTree>
  </p:cSld>
  <p:clrMapOvr>
    <a:masterClrMapping/>
  </p:clrMapOvr>
  <p:transition spd="med">
    <p:fade/>
  </p:transition>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Contrast: </a:t>
            </a:r>
            <a:r>
              <a:rPr sz="1700" b="0">
                <a:solidFill>
                  <a:srgbClr val="1F2A44"/>
                </a:solidFill>
                <a:latin typeface="Arial"/>
                <a:ea typeface="Microsoft YaHei"/>
              </a:rPr>
              <a:t>although, while, however, on the other hand: “It’s flexible; however, it’s insecure.”</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Obligation: </a:t>
            </a:r>
            <a:r>
              <a:rPr sz="1700" b="0">
                <a:solidFill>
                  <a:srgbClr val="1F2A44"/>
                </a:solidFill>
                <a:latin typeface="Arial"/>
                <a:ea typeface="Microsoft YaHei"/>
              </a:rPr>
              <a:t>should, ought to, must, need to, are required to.</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Passive to avoid naming agents: </a:t>
            </a:r>
            <a:r>
              <a:rPr sz="1700" b="0">
                <a:solidFill>
                  <a:srgbClr val="1F2A44"/>
                </a:solidFill>
                <a:latin typeface="Arial"/>
                <a:ea typeface="Microsoft YaHei"/>
              </a:rPr>
              <a:t>“Workers are paid per task.”</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Hedging: </a:t>
            </a:r>
            <a:r>
              <a:rPr sz="1700" b="0">
                <a:solidFill>
                  <a:srgbClr val="1F2A44"/>
                </a:solidFill>
                <a:latin typeface="Arial"/>
                <a:ea typeface="Microsoft YaHei"/>
              </a:rPr>
              <a:t>It seems that…, tends to, can be, may be.</a:t>
            </a:r>
          </a:p>
        </p:txBody>
      </p:sp>
    </p:spTree>
  </p:cSld>
  <p:clrMapOvr>
    <a:masterClrMapping/>
  </p:clrMapOvr>
  <p:transition spd="med">
    <p:fade/>
  </p:transition>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are pay low.</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are paid low wages.</a:t>
            </a:r>
          </a:p>
          <a:p>
            <a:pPr algn="l">
              <a:spcAft>
                <a:spcPts val="200"/>
              </a:spcAft>
            </a:pPr>
            <a:r>
              <a:rPr sz="1200" b="0">
                <a:solidFill>
                  <a:srgbClr val="FFFFFF"/>
                </a:solidFill>
                <a:latin typeface="Arial"/>
                <a:ea typeface="Microsoft YaHei"/>
              </a:rPr>
              <a:t>被动</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work is flexible, but pay not good.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work is flexible, but the pay isn’t good.</a:t>
            </a:r>
          </a:p>
          <a:p>
            <a:pPr algn="l">
              <a:spcAft>
                <a:spcPts val="200"/>
              </a:spcAft>
            </a:pPr>
            <a:r>
              <a:rPr sz="1200" b="0">
                <a:solidFill>
                  <a:srgbClr val="FFFFFF"/>
                </a:solidFill>
                <a:latin typeface="Arial"/>
                <a:ea typeface="Microsoft YaHei"/>
              </a:rPr>
              <a:t>完整</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Many peoples do this work.</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Many people do this work.</a:t>
            </a:r>
          </a:p>
          <a:p>
            <a:pPr algn="l">
              <a:spcAft>
                <a:spcPts val="200"/>
              </a:spcAft>
            </a:pPr>
            <a:r>
              <a:rPr sz="1200" b="0">
                <a:solidFill>
                  <a:srgbClr val="FFFFFF"/>
                </a:solidFill>
                <a:latin typeface="Arial"/>
                <a:ea typeface="Microsoft YaHei"/>
              </a:rPr>
              <a:t>people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Gig worker have no right.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Gig workers have few rights.</a:t>
            </a:r>
          </a:p>
          <a:p>
            <a:pPr algn="l">
              <a:spcAft>
                <a:spcPts val="200"/>
              </a:spcAft>
            </a:pPr>
            <a:r>
              <a:rPr sz="1200" b="0">
                <a:solidFill>
                  <a:srgbClr val="FFFFFF"/>
                </a:solidFill>
                <a:latin typeface="Arial"/>
                <a:ea typeface="Microsoft YaHei"/>
              </a:rPr>
              <a:t>复数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exploited.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They’re exploited.</a:t>
            </a:r>
          </a:p>
          <a:p>
            <a:pPr algn="l">
              <a:spcAft>
                <a:spcPts val="200"/>
              </a:spcAft>
            </a:pPr>
            <a:r>
              <a:rPr sz="1200" b="0">
                <a:solidFill>
                  <a:srgbClr val="FFFFFF"/>
                </a:solidFill>
                <a:latin typeface="Arial"/>
                <a:ea typeface="Microsoft YaHei"/>
              </a:rPr>
              <a:t>主语</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think they should to protect workers.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think they should protect workers.</a:t>
            </a:r>
          </a:p>
          <a:p>
            <a:pPr algn="l">
              <a:spcAft>
                <a:spcPts val="200"/>
              </a:spcAft>
            </a:pPr>
            <a:r>
              <a:rPr sz="1200" b="0">
                <a:solidFill>
                  <a:srgbClr val="FFFFFF"/>
                </a:solidFill>
                <a:latin typeface="Arial"/>
                <a:ea typeface="Microsoft YaHei"/>
              </a:rPr>
              <a:t>should + 原形</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passive forms, subject-verb agreement, and should + base 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Sensitive topic: </a:t>
            </a:r>
            <a:r>
              <a:rPr sz="1700" b="0">
                <a:solidFill>
                  <a:srgbClr val="1F2A44"/>
                </a:solidFill>
                <a:latin typeface="Arial"/>
                <a:ea typeface="Microsoft YaHei"/>
              </a:rPr>
              <a:t>Gig work conditions are debated politically; stay factual and avoid generalisations about specific companies.</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Terminology: </a:t>
            </a:r>
            <a:r>
              <a:rPr sz="1700" b="0">
                <a:solidFill>
                  <a:srgbClr val="1F2A44"/>
                </a:solidFill>
                <a:latin typeface="Arial"/>
                <a:ea typeface="Microsoft YaHei"/>
              </a:rPr>
              <a:t>“Self-employed” status is defined differently by country and can be disputed.</a:t>
            </a:r>
          </a:p>
        </p:txBody>
      </p:sp>
      <p:sp>
        <p:nvSpPr>
          <p:cNvPr id="15" name="Rounded Rectangle 14"/>
          <p:cNvSpPr/>
          <p:nvPr/>
        </p:nvSpPr>
        <p:spPr>
          <a:xfrm>
            <a:off x="548640" y="274319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441959"/>
          </a:xfrm>
          <a:prstGeom prst="rect">
            <a:avLst/>
          </a:prstGeom>
          <a:noFill/>
        </p:spPr>
        <p:txBody>
          <a:bodyPr wrap="square" anchor="ctr">
            <a:spAutoFit/>
          </a:bodyPr>
          <a:lstStyle/>
          <a:p>
            <a:r>
              <a:rPr sz="1700" b="1">
                <a:solidFill>
                  <a:srgbClr val="3CC49A"/>
                </a:solidFill>
                <a:latin typeface="Arial"/>
                <a:ea typeface="Microsoft YaHei"/>
              </a:rPr>
              <a:t>Flexibility vs security: </a:t>
            </a:r>
            <a:r>
              <a:rPr sz="1700" b="0">
                <a:solidFill>
                  <a:srgbClr val="1F2A44"/>
                </a:solidFill>
                <a:latin typeface="Arial"/>
                <a:ea typeface="Microsoft YaHei"/>
              </a:rPr>
              <a:t>Many people value both; the question is the balance.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people 本身是复数;should + 动词原形;被动 are paid。讨论争议话题时要平衡,先说好处再说担忧。</a:t>
            </a:r>
          </a:p>
        </p:txBody>
      </p:sp>
    </p:spTree>
  </p:cSld>
  <p:clrMapOvr>
    <a:masterClrMapping/>
  </p:clrMapOvr>
  <p:transition spd="med">
    <p:fade/>
  </p:transition>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85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pros and cons of gig work.</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obligation modals and passive voice.</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fairness without overgeneralising.</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people, should and passive forms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85 Clickworkers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people (plural), obligation modals, and passive voice.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9 · Lesson 86 Salaries and Side Hustles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164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Salaries and Side Hustles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薪资和副业</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salaries, extra income and side businesses: negotiating pay, comparing jobs, managing two jobs and tax/permission issues.</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feel about talking about salary?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have, or would you like to have, a side hustle?</a:t>
            </a:r>
          </a:p>
        </p:txBody>
      </p:sp>
      <p:sp>
        <p:nvSpPr>
          <p:cNvPr id="15" name="Oval 14"/>
          <p:cNvSpPr/>
          <p:nvPr/>
        </p:nvSpPr>
        <p:spPr>
          <a:xfrm>
            <a:off x="548640" y="319125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benefits and risks of having a second source of income?</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should you check before starting a side business?</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compare two job offers beyond salary?</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side hustle = 副业(口语);moonlighting = 兼职干活(常指未告知主业)。第 5 题:benefits, bonus, 发展机会。</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Discuss how to compare job offers and whether to start a side business.</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salary and benefits</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growth</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balance</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side income</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risk</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Beyond salary, I’d consider…   💬 A side hustle can…, but…   💬 Before starting one, check…</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Beyond salary = 除工资外。check + whether/that…。A side hustle can… 说明作用。</a:t>
            </a:r>
          </a:p>
        </p:txBody>
      </p:sp>
    </p:spTree>
  </p:cSld>
  <p:clrMapOvr>
    <a:masterClrMapping/>
  </p:clrMapOvr>
  <p:transition spd="med">
    <p:fade/>
  </p:transition>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More Than a Paycheck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139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Salary matters, but it is only one part of the picture when comparing jobs. Benefits such as pension contributions, health cover, holiday, training and flexible hours can add up to a lot. Opportunities to learn and progress, and a manager you respect, also shape long-term satisfaction. Many people also earn extra income from a side hustle, whether it is freelancing, selling crafts online or teaching. A second income can provide security and let you try out a business idea. However, there are things to check. Your employment contract may restrict outside work, and conflicts of interest must be avoided. Additional income is usually taxable. And there is the risk of exhaustion: two jobs can mean little rest. A sensible approach is to start small, be transparent with your employer when needed and review the effect on your health regularly.</a:t>
            </a:r>
          </a:p>
        </p:txBody>
      </p:sp>
    </p:spTree>
  </p:cSld>
  <p:clrMapOvr>
    <a:masterClrMapping/>
  </p:clrMapOvr>
  <p:transition spd="med">
    <p:fade/>
  </p:transition>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else should you consider besides salary?</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Benefits, learning and progression opportunities, and your manager.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can a side hustle provide?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Security and a chance to try out a business idea.</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you check before starting one?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Your contract, conflicts of interest, tax and the effect on your health.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Pay and benefits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薪资与福利</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salary</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薪水</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“His salary is £45,000.”</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bonus</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奖金</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received a bonus.”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benefits package</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福利待遇</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benefits package is generous.”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pension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养老金</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company contributes to my pension.”</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overtime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加班</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“Overtime is paid at 1.5 times.”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take-home pay</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税后收入</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take-home pay is lower than I expected.”</a:t>
            </a:r>
          </a:p>
        </p:txBody>
      </p:sp>
    </p:spTree>
  </p:cSld>
  <p:clrMapOvr>
    <a:masterClrMapping/>
  </p:clrMapOvr>
  <p:transition spd="med">
    <p:fade/>
  </p:transition>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Extra income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额外收入</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side hustle</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副业</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run a side hustle selling prints.”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moonlight</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兼职(业余)</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moonlights as a tutor.”</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supplement your income</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补贴收入</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“Teaching helps supplement my income.”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conflict of interest</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利益冲突</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“Check for conflicts of interest.”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burn out</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精疲力竭</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“Working two jobs can burn you out.”</a:t>
            </a:r>
          </a:p>
        </p:txBody>
      </p:sp>
      <p:sp>
        <p:nvSpPr>
          <p:cNvPr id="34" name="Rounded Rectangle 33"/>
          <p:cNvSpPr/>
          <p:nvPr/>
        </p:nvSpPr>
        <p:spPr>
          <a:xfrm>
            <a:off x="548640" y="52400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2400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2857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nest egg</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52857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积蓄</a:t>
            </a:r>
          </a:p>
        </p:txBody>
      </p:sp>
      <p:sp>
        <p:nvSpPr>
          <p:cNvPr id="38" name="TextBox 37"/>
          <p:cNvSpPr txBox="1"/>
          <p:nvPr/>
        </p:nvSpPr>
        <p:spPr>
          <a:xfrm>
            <a:off x="6675120" y="52857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built up a nest egg.”</a:t>
            </a:r>
          </a:p>
        </p:txBody>
      </p:sp>
    </p:spTree>
  </p:cSld>
  <p:clrMapOvr>
    <a:masterClrMapping/>
  </p:clrMapOvr>
  <p:transition spd="med">
    <p:fade/>
  </p:transition>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积蓄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nest egg</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薪水</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salary</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补贴收入</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supplement your income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利益冲突</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conflict of interest</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福利待遇</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benefits package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精疲力竭</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burn out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副业</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side hustle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奖金</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bonus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salary</a:t>
            </a:r>
          </a:p>
        </p:txBody>
      </p:sp>
      <p:sp>
        <p:nvSpPr>
          <p:cNvPr id="10" name="Rounded Rectangle 9"/>
          <p:cNvSpPr/>
          <p:nvPr/>
        </p:nvSpPr>
        <p:spPr>
          <a:xfrm>
            <a:off x="3127248"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bonus</a:t>
            </a:r>
          </a:p>
        </p:txBody>
      </p:sp>
      <p:sp>
        <p:nvSpPr>
          <p:cNvPr id="11" name="Rounded Rectangle 10"/>
          <p:cNvSpPr/>
          <p:nvPr/>
        </p:nvSpPr>
        <p:spPr>
          <a:xfrm>
            <a:off x="4133088" y="987552"/>
            <a:ext cx="212140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benefits package</a:t>
            </a:r>
          </a:p>
        </p:txBody>
      </p:sp>
      <p:sp>
        <p:nvSpPr>
          <p:cNvPr id="12" name="Rounded Rectangle 11"/>
          <p:cNvSpPr/>
          <p:nvPr/>
        </p:nvSpPr>
        <p:spPr>
          <a:xfrm>
            <a:off x="6345936" y="987552"/>
            <a:ext cx="1133856"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pension</a:t>
            </a:r>
          </a:p>
        </p:txBody>
      </p:sp>
      <p:sp>
        <p:nvSpPr>
          <p:cNvPr id="13" name="Rounded Rectangle 12"/>
          <p:cNvSpPr/>
          <p:nvPr/>
        </p:nvSpPr>
        <p:spPr>
          <a:xfrm>
            <a:off x="7571232"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overtime</a:t>
            </a:r>
          </a:p>
        </p:txBody>
      </p:sp>
      <p:sp>
        <p:nvSpPr>
          <p:cNvPr id="14" name="Rounded Rectangle 13"/>
          <p:cNvSpPr/>
          <p:nvPr/>
        </p:nvSpPr>
        <p:spPr>
          <a:xfrm>
            <a:off x="8906256" y="987552"/>
            <a:ext cx="1572767"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side hustle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Her annual _______ is £45,000 before tax.</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salary</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received a _______ for finishing the project early.</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bonus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The _______ includes health cover and extra holiday.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benefits package</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company contributes 5% to my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pension</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He earns extra money from _______ at weekends.</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overtime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 run a _______ selling handmade cards.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side hustle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salary (monthly/annual), wage (hourly/weekly), income (total money). Earn a salary, get paid, be on a salary of £, take-home pay. Per annum / a year. Negotiate a raise. Pay rise (UK), raise (US). Overtime (uncountable). Benefit (singular) vs benefits (package).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Comparing two job offers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比较两个工作机会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discuss two job offers with a friend and a possible side hustle.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Jin Park, job seeker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Ada Moss, friend</a:t>
            </a:r>
          </a:p>
        </p:txBody>
      </p:sp>
    </p:spTree>
  </p:cSld>
  <p:clrMapOvr>
    <a:masterClrMapping/>
  </p:clrMapOvr>
  <p:transition spd="med">
    <p:fade/>
  </p:transition>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Comparing two job offers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Jin</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Ada, I have two offers. Company A pays £48,000, and Company B pays £44,000.</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Ada</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looks better, but what about the benefits?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 offers a larger pension contribution, flexible hours and a training budget.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Beyond salary, I’d consider growth. Which job would teach you more?</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Probably B. The manager seems supportive, and the role has more variety.</a:t>
            </a:r>
          </a:p>
        </p:txBody>
      </p:sp>
      <p:sp>
        <p:nvSpPr>
          <p:cNvPr id="23" name="Rounded Rectangle 22"/>
          <p:cNvSpPr/>
          <p:nvPr/>
        </p:nvSpPr>
        <p:spPr>
          <a:xfrm>
            <a:off x="10911535" y="510540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54431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510540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the gap in pay could be worth it.</a:t>
            </a:r>
          </a:p>
        </p:txBody>
      </p:sp>
    </p:spTree>
  </p:cSld>
  <p:clrMapOvr>
    <a:masterClrMapping/>
  </p:clrMapOvr>
  <p:transition spd="med">
    <p:fade/>
  </p:transition>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Comparing two job offers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Possibly. I also want to keep my weekend side hustle, designing logos.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Does either contract allow that?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Company A says outside work needs approval. B has no objection if there’s no conflict of interest.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an important factor. And the tax?</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declare the extra income and keep records.</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Sensible. Just watch your energy, so you don’t burn out.</a:t>
            </a:r>
          </a:p>
        </p:txBody>
      </p:sp>
      <p:sp>
        <p:nvSpPr>
          <p:cNvPr id="26" name="Rounded Rectangle 25"/>
          <p:cNvSpPr/>
          <p:nvPr/>
        </p:nvSpPr>
        <p:spPr>
          <a:xfrm>
            <a:off x="548640" y="53980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3980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point. I’ll go with B and keep my side work small.</a:t>
            </a:r>
          </a:p>
        </p:txBody>
      </p:sp>
    </p:spTree>
  </p:cSld>
  <p:clrMapOvr>
    <a:masterClrMapping/>
  </p:clrMapOvr>
  <p:transition spd="med">
    <p:fade/>
  </p:transition>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Comparing two job offers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compare job offers and a side hustle.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Job seeker. Offers: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 Ask about benefits and risks.</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beyond salary · benefits · growth · conflict of interest · declare · burn out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Compare two offers and decide with reasons.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Ada asks: “Would you accept less pay for more flexibility?” Answer.</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HR whether you can run a side business.</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the difference between salary and take-home pay.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salary the most important factor in choosing a job?</a:t>
            </a:r>
          </a:p>
          <a:p>
            <a:pPr algn="l">
              <a:lnSpc>
                <a:spcPct val="115000"/>
              </a:lnSpc>
              <a:spcAft>
                <a:spcPts val="800"/>
              </a:spcAft>
            </a:pPr>
            <a:r>
              <a:rPr sz="1400" b="0">
                <a:solidFill>
                  <a:srgbClr val="5F677A"/>
                </a:solidFill>
                <a:latin typeface="Arial"/>
                <a:ea typeface="Microsoft YaHei"/>
              </a:rPr>
              <a:t>💬 “Not the only factor. I also consider…”</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you think side hustles are a good idea?</a:t>
            </a:r>
          </a:p>
          <a:p>
            <a:pPr algn="l">
              <a:lnSpc>
                <a:spcPct val="115000"/>
              </a:lnSpc>
              <a:spcAft>
                <a:spcPts val="800"/>
              </a:spcAft>
            </a:pPr>
            <a:r>
              <a:rPr sz="1400" b="0">
                <a:solidFill>
                  <a:srgbClr val="5F677A"/>
                </a:solidFill>
                <a:latin typeface="Arial"/>
                <a:ea typeface="Microsoft YaHei"/>
              </a:rPr>
              <a:t>💬 “They can be… if…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employers allow staff to have second jobs?</a:t>
            </a:r>
          </a:p>
          <a:p>
            <a:pPr algn="l">
              <a:lnSpc>
                <a:spcPct val="115000"/>
              </a:lnSpc>
              <a:spcAft>
                <a:spcPts val="800"/>
              </a:spcAft>
            </a:pPr>
            <a:r>
              <a:rPr sz="1400" b="0">
                <a:solidFill>
                  <a:srgbClr val="5F677A"/>
                </a:solidFill>
                <a:latin typeface="Arial"/>
                <a:ea typeface="Microsoft YaHei"/>
              </a:rPr>
              <a:t>💬 “It depends on whether…”</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comfortable are you discussing pay with colleagues?</a:t>
            </a:r>
          </a:p>
          <a:p>
            <a:pPr algn="l">
              <a:lnSpc>
                <a:spcPct val="115000"/>
              </a:lnSpc>
              <a:spcAft>
                <a:spcPts val="800"/>
              </a:spcAft>
            </a:pPr>
            <a:r>
              <a:rPr sz="1400" b="0">
                <a:solidFill>
                  <a:srgbClr val="5F677A"/>
                </a:solidFill>
                <a:latin typeface="Arial"/>
                <a:ea typeface="Microsoft YaHei"/>
              </a:rPr>
              <a:t>💬 “I’m fairly comfortable… / I prefer not to…”</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3)</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employers should generally allow second jobs, provided there is no conflict of interest and the employee’s performance doesn’t suffer. People have the right to earn extra income, particularly when living costs are high. However, the employer has a legitimate interest in confidentiality and in ensuring employees are rested and focused. A fair policy is to ask staff to inform the employer and to agree clear rules.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provided = 只要。legitimate = 正当的。confidentiality = 保密。”inform the employer” = 告知雇主。</a:t>
            </a:r>
          </a:p>
        </p:txBody>
      </p:sp>
    </p:spTree>
  </p:cSld>
  <p:clrMapOvr>
    <a:masterClrMapping/>
  </p:clrMapOvr>
  <p:transition spd="med">
    <p:fade/>
  </p:transition>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My salary is low.</a:t>
                      </a:r>
                    </a:p>
                  </a:txBody>
                  <a:tcPr anchor="ctr">
                    <a:solidFill>
                      <a:srgbClr val="FFFFFF"/>
                    </a:solidFill>
                  </a:tcPr>
                </a:tc>
                <a:tc>
                  <a:txBody>
                    <a:bodyPr wrap="square"/>
                    <a:lstStyle/>
                    <a:p>
                      <a:r>
                        <a:rPr sz="1600" b="0">
                          <a:solidFill>
                            <a:srgbClr val="1F2A44"/>
                          </a:solidFill>
                          <a:latin typeface="Arial"/>
                          <a:ea typeface="Microsoft YaHei"/>
                        </a:rPr>
                        <a:t>I feel my pay doesn’t reflect my responsibilities.</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I want more money.</a:t>
                      </a:r>
                    </a:p>
                  </a:txBody>
                  <a:tcPr anchor="ctr">
                    <a:solidFill>
                      <a:srgbClr val="FFEFD9"/>
                    </a:solidFill>
                  </a:tcPr>
                </a:tc>
                <a:tc>
                  <a:txBody>
                    <a:bodyPr wrap="square"/>
                    <a:lstStyle/>
                    <a:p>
                      <a:r>
                        <a:rPr sz="1600" b="0">
                          <a:solidFill>
                            <a:srgbClr val="1F2A44"/>
                          </a:solidFill>
                          <a:latin typeface="Arial"/>
                          <a:ea typeface="Microsoft YaHei"/>
                        </a:rPr>
                        <a:t>I’d like to discuss my compensation.</a:t>
                      </a:r>
                    </a:p>
                  </a:txBody>
                  <a:tcPr anchor="ctr">
                    <a:solidFill>
                      <a:srgbClr val="FFEFD9"/>
                    </a:solidFill>
                  </a:tcPr>
                </a:tc>
                <a:tc>
                  <a:txBody>
                    <a:bodyPr wrap="square"/>
                    <a:lstStyle/>
                    <a:p>
                      <a:r>
                        <a:rPr sz="1600" b="0">
                          <a:solidFill>
                            <a:srgbClr val="FF6B5B"/>
                          </a:solidFill>
                          <a:latin typeface="Arial"/>
                          <a:ea typeface="Microsoft YaHei"/>
                        </a:rPr>
                        <a:t>礼貌</a:t>
                      </a:r>
                    </a:p>
                  </a:txBody>
                  <a:tcPr anchor="ctr">
                    <a:solidFill>
                      <a:srgbClr val="FFEFD9"/>
                    </a:solidFill>
                  </a:tcPr>
                </a:tc>
              </a:tr>
              <a:tr h="652272">
                <a:tc>
                  <a:txBody>
                    <a:bodyPr wrap="square"/>
                    <a:lstStyle/>
                    <a:p>
                      <a:r>
                        <a:rPr sz="1600" b="1">
                          <a:solidFill>
                            <a:srgbClr val="1F2A44"/>
                          </a:solidFill>
                          <a:latin typeface="Arial"/>
                          <a:ea typeface="Microsoft YaHei"/>
                        </a:rPr>
                        <a:t>I do other work.</a:t>
                      </a:r>
                    </a:p>
                  </a:txBody>
                  <a:tcPr anchor="ctr">
                    <a:solidFill>
                      <a:srgbClr val="FFFFFF"/>
                    </a:solidFill>
                  </a:tcPr>
                </a:tc>
                <a:tc>
                  <a:txBody>
                    <a:bodyPr wrap="square"/>
                    <a:lstStyle/>
                    <a:p>
                      <a:r>
                        <a:rPr sz="1600" b="0">
                          <a:solidFill>
                            <a:srgbClr val="1F2A44"/>
                          </a:solidFill>
                          <a:latin typeface="Arial"/>
                          <a:ea typeface="Microsoft YaHei"/>
                        </a:rPr>
                        <a:t>I have a side project on the weekends.</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It’s not allowed.</a:t>
                      </a:r>
                    </a:p>
                  </a:txBody>
                  <a:tcPr anchor="ctr">
                    <a:solidFill>
                      <a:srgbClr val="FFEFD9"/>
                    </a:solidFill>
                  </a:tcPr>
                </a:tc>
                <a:tc>
                  <a:txBody>
                    <a:bodyPr wrap="square"/>
                    <a:lstStyle/>
                    <a:p>
                      <a:r>
                        <a:rPr sz="1600" b="0">
                          <a:solidFill>
                            <a:srgbClr val="1F2A44"/>
                          </a:solidFill>
                          <a:latin typeface="Arial"/>
                          <a:ea typeface="Microsoft YaHei"/>
                        </a:rPr>
                        <a:t>It would need approval from my employer.</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408432">
                <a:tc>
                  <a:txBody>
                    <a:bodyPr wrap="square"/>
                    <a:lstStyle/>
                    <a:p>
                      <a:r>
                        <a:rPr sz="1600" b="1">
                          <a:solidFill>
                            <a:srgbClr val="1F2A44"/>
                          </a:solidFill>
                          <a:latin typeface="Arial"/>
                          <a:ea typeface="Microsoft YaHei"/>
                        </a:rPr>
                        <a:t>I’m earning two ways.</a:t>
                      </a:r>
                    </a:p>
                  </a:txBody>
                  <a:tcPr anchor="ctr">
                    <a:solidFill>
                      <a:srgbClr val="FFFFFF"/>
                    </a:solidFill>
                  </a:tcPr>
                </a:tc>
                <a:tc>
                  <a:txBody>
                    <a:bodyPr wrap="square"/>
                    <a:lstStyle/>
                    <a:p>
                      <a:r>
                        <a:rPr sz="1600" b="0">
                          <a:solidFill>
                            <a:srgbClr val="1F2A44"/>
                          </a:solidFill>
                          <a:latin typeface="Arial"/>
                          <a:ea typeface="Microsoft YaHei"/>
                        </a:rPr>
                        <a:t>I have two sources of income.</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bl>
          </a:graphicData>
        </a:graphic>
      </p:graphicFrame>
    </p:spTree>
  </p:cSld>
  <p:clrMapOvr>
    <a:masterClrMapping/>
  </p:clrMapOvr>
  <p:transition spd="med">
    <p:fade/>
  </p:transition>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Talking about money: </a:t>
            </a:r>
            <a:r>
              <a:rPr sz="1700" b="0">
                <a:solidFill>
                  <a:srgbClr val="1F2A44"/>
                </a:solidFill>
                <a:latin typeface="Arial"/>
                <a:ea typeface="Microsoft YaHei"/>
              </a:rPr>
              <a:t>I earn £48,000 a year. / It pays well. / The package includes…</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Comparisons: </a:t>
            </a:r>
            <a:r>
              <a:rPr sz="1700" b="0">
                <a:solidFill>
                  <a:srgbClr val="1F2A44"/>
                </a:solidFill>
                <a:latin typeface="Arial"/>
                <a:ea typeface="Microsoft YaHei"/>
              </a:rPr>
              <a:t>higher than, less flexible than, the more … the more…</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Conditionals: </a:t>
            </a:r>
            <a:r>
              <a:rPr sz="1700" b="0">
                <a:solidFill>
                  <a:srgbClr val="1F2A44"/>
                </a:solidFill>
                <a:latin typeface="Arial"/>
                <a:ea typeface="Microsoft YaHei"/>
              </a:rPr>
              <a:t>If I took the job, I’d… / Provided that … I’d…</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Present perfect: </a:t>
            </a:r>
            <a:r>
              <a:rPr sz="1700" b="0">
                <a:solidFill>
                  <a:srgbClr val="1F2A44"/>
                </a:solidFill>
                <a:latin typeface="Arial"/>
                <a:ea typeface="Microsoft YaHei"/>
              </a:rPr>
              <a:t>“I’ve been offered two jobs.” (passive present perfect)</a:t>
            </a:r>
          </a:p>
        </p:txBody>
      </p:sp>
    </p:spTree>
  </p:cSld>
  <p:clrMapOvr>
    <a:masterClrMapping/>
  </p:clrMapOvr>
  <p:transition spd="med">
    <p:fade/>
  </p:transition>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earn 3000 per month.</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earn £3,000 a month.</a:t>
            </a:r>
          </a:p>
          <a:p>
            <a:pPr algn="l">
              <a:spcAft>
                <a:spcPts val="200"/>
              </a:spcAft>
            </a:pPr>
            <a:r>
              <a:rPr sz="1200" b="0">
                <a:solidFill>
                  <a:srgbClr val="FFFFFF"/>
                </a:solidFill>
                <a:latin typeface="Arial"/>
                <a:ea typeface="Microsoft YaHei"/>
              </a:rPr>
              <a:t>货币写法</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wage is 40,000 per year.</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salary is £40,000 a year.</a:t>
            </a:r>
          </a:p>
          <a:p>
            <a:pPr algn="l">
              <a:spcAft>
                <a:spcPts val="200"/>
              </a:spcAft>
            </a:pPr>
            <a:r>
              <a:rPr sz="1200" b="0">
                <a:solidFill>
                  <a:srgbClr val="FFFFFF"/>
                </a:solidFill>
                <a:latin typeface="Arial"/>
                <a:ea typeface="Microsoft YaHei"/>
              </a:rPr>
              <a:t>salary</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two offer.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two offers.</a:t>
            </a:r>
          </a:p>
          <a:p>
            <a:pPr algn="l">
              <a:spcAft>
                <a:spcPts val="200"/>
              </a:spcAft>
            </a:pPr>
            <a:r>
              <a:rPr sz="1200" b="0">
                <a:solidFill>
                  <a:srgbClr val="FFFFFF"/>
                </a:solidFill>
                <a:latin typeface="Arial"/>
                <a:ea typeface="Microsoft YaHei"/>
              </a:rPr>
              <a:t>复数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in debt of the bank.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owe the bank money.</a:t>
            </a:r>
          </a:p>
          <a:p>
            <a:pPr algn="l">
              <a:spcAft>
                <a:spcPts val="200"/>
              </a:spcAft>
            </a:pPr>
            <a:r>
              <a:rPr sz="1200" b="0">
                <a:solidFill>
                  <a:srgbClr val="FFFFFF"/>
                </a:solidFill>
                <a:latin typeface="Arial"/>
                <a:ea typeface="Microsoft YaHei"/>
              </a:rPr>
              <a:t>owe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salary of Company A is more high.</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Company A’s salary is higher.</a:t>
            </a:r>
          </a:p>
          <a:p>
            <a:pPr algn="l">
              <a:spcAft>
                <a:spcPts val="200"/>
              </a:spcAft>
            </a:pPr>
            <a:r>
              <a:rPr sz="1200" b="0">
                <a:solidFill>
                  <a:srgbClr val="FFFFFF"/>
                </a:solidFill>
                <a:latin typeface="Arial"/>
                <a:ea typeface="Microsoft YaHei"/>
              </a:rPr>
              <a:t>比较级</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do a side job for earn more.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do a side job to earn more.</a:t>
            </a:r>
          </a:p>
          <a:p>
            <a:pPr algn="l">
              <a:spcAft>
                <a:spcPts val="200"/>
              </a:spcAft>
            </a:pPr>
            <a:r>
              <a:rPr sz="1200" b="0">
                <a:solidFill>
                  <a:srgbClr val="FFFFFF"/>
                </a:solidFill>
                <a:latin typeface="Arial"/>
                <a:ea typeface="Microsoft YaHei"/>
              </a:rPr>
              <a:t>to earn</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money formats, salary / wage, and purpose infinitive.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1">
                <a:solidFill>
                  <a:srgbClr val="FF6B5B"/>
                </a:solidFill>
                <a:latin typeface="Arial"/>
                <a:ea typeface="Microsoft YaHei"/>
              </a:rPr>
              <a:t>Pay talk: </a:t>
            </a:r>
            <a:r>
              <a:rPr sz="1700" b="0">
                <a:solidFill>
                  <a:srgbClr val="1F2A44"/>
                </a:solidFill>
                <a:latin typeface="Arial"/>
                <a:ea typeface="Microsoft YaHei"/>
              </a:rPr>
              <a:t>In many countries, salary is private. In some (e.g. parts of Europe) pay transparency is increasing.</a:t>
            </a:r>
          </a:p>
        </p:txBody>
      </p:sp>
      <p:sp>
        <p:nvSpPr>
          <p:cNvPr id="12" name="Rounded Rectangle 11"/>
          <p:cNvSpPr/>
          <p:nvPr/>
        </p:nvSpPr>
        <p:spPr>
          <a:xfrm>
            <a:off x="548640" y="220979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220979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2209799"/>
            <a:ext cx="10728655" cy="441959"/>
          </a:xfrm>
          <a:prstGeom prst="rect">
            <a:avLst/>
          </a:prstGeom>
          <a:noFill/>
        </p:spPr>
        <p:txBody>
          <a:bodyPr wrap="square" anchor="ctr">
            <a:spAutoFit/>
          </a:bodyPr>
          <a:lstStyle/>
          <a:p>
            <a:r>
              <a:rPr sz="1700" b="1">
                <a:solidFill>
                  <a:srgbClr val="4A90E2"/>
                </a:solidFill>
                <a:latin typeface="Arial"/>
                <a:ea typeface="Microsoft YaHei"/>
              </a:rPr>
              <a:t>Tax: </a:t>
            </a:r>
            <a:r>
              <a:rPr sz="1700" b="0">
                <a:solidFill>
                  <a:srgbClr val="1F2A44"/>
                </a:solidFill>
                <a:latin typeface="Arial"/>
                <a:ea typeface="Microsoft YaHei"/>
              </a:rPr>
              <a:t>Side income is usually taxable. Keep records and check local rules.</a:t>
            </a:r>
          </a:p>
        </p:txBody>
      </p:sp>
      <p:sp>
        <p:nvSpPr>
          <p:cNvPr id="15" name="Rounded Rectangle 14"/>
          <p:cNvSpPr/>
          <p:nvPr/>
        </p:nvSpPr>
        <p:spPr>
          <a:xfrm>
            <a:off x="548640" y="2743198"/>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743198"/>
            <a:ext cx="91440" cy="70103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743198"/>
            <a:ext cx="10728655" cy="701039"/>
          </a:xfrm>
          <a:prstGeom prst="rect">
            <a:avLst/>
          </a:prstGeom>
          <a:noFill/>
        </p:spPr>
        <p:txBody>
          <a:bodyPr wrap="square" anchor="ctr">
            <a:spAutoFit/>
          </a:bodyPr>
          <a:lstStyle/>
          <a:p>
            <a:r>
              <a:rPr sz="1700" b="1">
                <a:solidFill>
                  <a:srgbClr val="3CC49A"/>
                </a:solidFill>
                <a:latin typeface="Arial"/>
                <a:ea typeface="Microsoft YaHei"/>
              </a:rPr>
              <a:t>Contract clauses: </a:t>
            </a:r>
            <a:r>
              <a:rPr sz="1700" b="0">
                <a:solidFill>
                  <a:srgbClr val="1F2A44"/>
                </a:solidFill>
                <a:latin typeface="Arial"/>
                <a:ea typeface="Microsoft YaHei"/>
              </a:rPr>
              <a:t>Some contracts have exclusivity clauses; read them before starting a second job.</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salary(月/年薪)与 wage(时薪/周薪)区分;£3,000 a month;目的用 to + 动词。做副业前要检查合同并注意税务。</a:t>
            </a:r>
          </a:p>
        </p:txBody>
      </p:sp>
    </p:spTree>
  </p:cSld>
  <p:clrMapOvr>
    <a:masterClrMapping/>
  </p:clrMapOvr>
  <p:transition spd="med">
    <p:fade/>
  </p:transition>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compare job offers beyond salary.</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side hustles, tax and conflicts of interest.</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money and number formats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salary / wage and purpose infinitive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86 Salaries and Side Hustles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money expressions, salary / wage, and comparatives.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9 · Lesson 87 Time Banks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186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Time Banks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时间银行</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time banks and alternative exchange systems: sharing skills, community value, how they work and their limits as a business model.</a:t>
            </a:r>
          </a:p>
        </p:txBody>
      </p:sp>
      <p:sp>
        <p:nvSpPr>
          <p:cNvPr id="10" name="Rounded Rectangle 9"/>
          <p:cNvSpPr/>
          <p:nvPr/>
        </p:nvSpPr>
        <p:spPr>
          <a:xfrm>
            <a:off x="822960"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78307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swapped skills or favours with someone instead of paying?</a:t>
            </a:r>
          </a:p>
        </p:txBody>
      </p:sp>
      <p:sp>
        <p:nvSpPr>
          <p:cNvPr id="12" name="Oval 11"/>
          <p:cNvSpPr/>
          <p:nvPr/>
        </p:nvSpPr>
        <p:spPr>
          <a:xfrm>
            <a:off x="548640" y="267004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62432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62432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could be the benefits of exchanging time rather than money?</a:t>
            </a:r>
          </a:p>
        </p:txBody>
      </p:sp>
      <p:sp>
        <p:nvSpPr>
          <p:cNvPr id="15" name="Oval 14"/>
          <p:cNvSpPr/>
          <p:nvPr/>
        </p:nvSpPr>
        <p:spPr>
          <a:xfrm>
            <a:off x="548640" y="337413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32841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32841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skills could you offer?</a:t>
            </a:r>
          </a:p>
        </p:txBody>
      </p:sp>
      <p:sp>
        <p:nvSpPr>
          <p:cNvPr id="18" name="Oval 17"/>
          <p:cNvSpPr/>
          <p:nvPr/>
        </p:nvSpPr>
        <p:spPr>
          <a:xfrm>
            <a:off x="548640" y="407822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403250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403250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problems might arise in a skill-swapping system?</a:t>
            </a:r>
          </a:p>
        </p:txBody>
      </p:sp>
      <p:sp>
        <p:nvSpPr>
          <p:cNvPr id="21" name="Oval 20"/>
          <p:cNvSpPr/>
          <p:nvPr/>
        </p:nvSpPr>
        <p:spPr>
          <a:xfrm>
            <a:off x="548640" y="478230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73658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73658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Could this model work in business? How?</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time bank = 时间银行:一小时服务换一小时服务。barter = 以物易物。community = 社区。第 3 题可用 “I could offer… in exchange for…”。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a time bank works and evaluate it.</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concept</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example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benefits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limits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A time bank works by…   💬 For example, someone might…   💬 One limitation is…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works by + -ing。in exchange for… = 作为交换。One limitation is… 指出局限。</a:t>
            </a:r>
          </a:p>
        </p:txBody>
      </p:sp>
    </p:spTree>
  </p:cSld>
  <p:clrMapOvr>
    <a:masterClrMapping/>
  </p:clrMapOvr>
  <p:transition spd="med">
    <p:fade/>
  </p:transition>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An Hour for an Hour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In a time bank, members exchange services using time as the currency. One hour of help is worth one hour, whatever the task. Someone who teaches a language for an hour earns a time credit, which they can spend on, say, help with gardening or computer repairs. The idea is that everyone has something valuable to offer, and that skills of all kinds are treated equally. Supporters say that time banks strengthen communities, reduce loneliness and give people who may have little money a way to contribute. Critics point out that popular skills can be hard to match with demand, that the schemes need careful organisation and that they work best at small scale. Some businesses and charities use similar ideas, such as volunteering days or skill swaps, to build relationships and goodwill.</a:t>
            </a:r>
          </a:p>
        </p:txBody>
      </p:sp>
    </p:spTree>
  </p:cSld>
  <p:clrMapOvr>
    <a:masterClrMapping/>
  </p:clrMapOvr>
  <p:transition spd="med">
    <p:fade/>
  </p:transition>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does a time bank work?</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Members exchange services using time credits; one hour of help equals one hour.</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benefits do supporters mention?</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Stronger communities, less loneliness and a way for people with little money to contribute.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limitations are mentioned?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Matching skills with demand, the need for organisation and working best at small scale.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Exchange and community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交换与社区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time bank</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时间银行</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joined a time bank.”</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time credit</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时间积分</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earned two time credits.”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barter</a:t>
            </a:r>
          </a:p>
          <a:p>
            <a:pPr algn="l">
              <a:lnSpc>
                <a:spcPct val="115000"/>
              </a:lnSpc>
              <a:spcAft>
                <a:spcPts val="800"/>
              </a:spcAft>
            </a:pPr>
            <a:r>
              <a:rPr sz="1300" b="0">
                <a:solidFill>
                  <a:srgbClr val="5F677A"/>
                </a:solidFill>
                <a:latin typeface="Arial"/>
                <a:ea typeface="Microsoft YaHei"/>
              </a:rPr>
              <a:t>verb / 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以物易物</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bartered services.”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swap</a:t>
            </a:r>
          </a:p>
          <a:p>
            <a:pPr algn="l">
              <a:lnSpc>
                <a:spcPct val="115000"/>
              </a:lnSpc>
              <a:spcAft>
                <a:spcPts val="800"/>
              </a:spcAft>
            </a:pPr>
            <a:r>
              <a:rPr sz="1300" b="0">
                <a:solidFill>
                  <a:srgbClr val="5F677A"/>
                </a:solidFill>
                <a:latin typeface="Arial"/>
                <a:ea typeface="Microsoft YaHei"/>
              </a:rPr>
              <a:t>verb / 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交换</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swapped skills.”</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volunteer</a:t>
            </a:r>
          </a:p>
          <a:p>
            <a:pPr algn="l">
              <a:lnSpc>
                <a:spcPct val="115000"/>
              </a:lnSpc>
              <a:spcAft>
                <a:spcPts val="800"/>
              </a:spcAft>
            </a:pPr>
            <a:r>
              <a:rPr sz="1300" b="0">
                <a:solidFill>
                  <a:srgbClr val="5F677A"/>
                </a:solidFill>
                <a:latin typeface="Arial"/>
                <a:ea typeface="Microsoft YaHei"/>
              </a:rPr>
              <a:t>verb / 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志愿者 / 志愿服务</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volunteers at weekends.”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community</a:t>
            </a:r>
          </a:p>
          <a:p>
            <a:pPr algn="l">
              <a:lnSpc>
                <a:spcPct val="115000"/>
              </a:lnSpc>
              <a:spcAft>
                <a:spcPts val="800"/>
              </a:spcAft>
            </a:pPr>
            <a:r>
              <a:rPr sz="1300" b="0">
                <a:solidFill>
                  <a:srgbClr val="5F677A"/>
                </a:solidFill>
                <a:latin typeface="Arial"/>
                <a:ea typeface="Microsoft YaHei"/>
              </a:rPr>
              <a:t>noun</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社区</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community benefits.”</a:t>
            </a:r>
          </a:p>
        </p:txBody>
      </p:sp>
    </p:spTree>
  </p:cSld>
  <p:clrMapOvr>
    <a:masterClrMapping/>
  </p:clrMapOvr>
  <p:transition spd="med">
    <p:fade/>
  </p:transition>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Value and trust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价值与信任</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in exchange for</a:t>
            </a:r>
          </a:p>
          <a:p>
            <a:pPr algn="l">
              <a:lnSpc>
                <a:spcPct val="115000"/>
              </a:lnSpc>
              <a:spcAft>
                <a:spcPts val="800"/>
              </a:spcAft>
            </a:pPr>
            <a:r>
              <a:rPr sz="1300" b="0">
                <a:solidFill>
                  <a:srgbClr val="5F677A"/>
                </a:solidFill>
                <a:latin typeface="Arial"/>
                <a:ea typeface="Microsoft YaHei"/>
              </a:rPr>
              <a:t>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作为交换</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offered help in exchange for lessons.”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pay it forward</a:t>
            </a:r>
          </a:p>
          <a:p>
            <a:pPr algn="l">
              <a:lnSpc>
                <a:spcPct val="115000"/>
              </a:lnSpc>
              <a:spcAft>
                <a:spcPts val="800"/>
              </a:spcAft>
            </a:pPr>
            <a:r>
              <a:rPr sz="1300" b="0">
                <a:solidFill>
                  <a:srgbClr val="5F677A"/>
                </a:solidFill>
                <a:latin typeface="Arial"/>
                <a:ea typeface="Microsoft YaHei"/>
              </a:rPr>
              <a:t>idiom</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把善意传递下去</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“Pay it forward by helping someone else.”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give back</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回馈</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want to give back to the community.”</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sense of belonging</a:t>
            </a:r>
          </a:p>
          <a:p>
            <a:pPr algn="l">
              <a:lnSpc>
                <a:spcPct val="115000"/>
              </a:lnSpc>
              <a:spcAft>
                <a:spcPts val="800"/>
              </a:spcAft>
            </a:pPr>
            <a:r>
              <a:rPr sz="1300" b="0">
                <a:solidFill>
                  <a:srgbClr val="5F677A"/>
                </a:solidFill>
                <a:latin typeface="Arial"/>
                <a:ea typeface="Microsoft YaHei"/>
              </a:rPr>
              <a:t>noun phrase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归属感</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“Time banks give a sense of belonging.”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mutual benefit</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互惠互利</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works for mutual benefit.”</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social capital</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社会资本</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“Time banks build social capital.”</a:t>
            </a:r>
          </a:p>
        </p:txBody>
      </p:sp>
    </p:spTree>
  </p:cSld>
  <p:clrMapOvr>
    <a:masterClrMapping/>
  </p:clrMapOvr>
  <p:transition spd="med">
    <p:fade/>
  </p:transition>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时间银行</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time bank</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互惠互利</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mutual benefit</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作为交换</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 exchange for</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社会资本</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social capital</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志愿者 / 志愿服务</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volunteer</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时间积分</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time credit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社区</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community</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以物易物</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barter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time bank</a:t>
            </a:r>
          </a:p>
        </p:txBody>
      </p:sp>
      <p:sp>
        <p:nvSpPr>
          <p:cNvPr id="10" name="Rounded Rectangle 9"/>
          <p:cNvSpPr/>
          <p:nvPr/>
        </p:nvSpPr>
        <p:spPr>
          <a:xfrm>
            <a:off x="3456432" y="987552"/>
            <a:ext cx="1572767"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time credit</a:t>
            </a:r>
          </a:p>
        </p:txBody>
      </p:sp>
      <p:sp>
        <p:nvSpPr>
          <p:cNvPr id="11" name="Rounded Rectangle 10"/>
          <p:cNvSpPr/>
          <p:nvPr/>
        </p:nvSpPr>
        <p:spPr>
          <a:xfrm>
            <a:off x="5120639" y="987552"/>
            <a:ext cx="1024128"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barter</a:t>
            </a:r>
          </a:p>
        </p:txBody>
      </p:sp>
      <p:sp>
        <p:nvSpPr>
          <p:cNvPr id="12" name="Rounded Rectangle 11"/>
          <p:cNvSpPr/>
          <p:nvPr/>
        </p:nvSpPr>
        <p:spPr>
          <a:xfrm>
            <a:off x="6236207" y="987552"/>
            <a:ext cx="80467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swap</a:t>
            </a:r>
          </a:p>
        </p:txBody>
      </p:sp>
      <p:sp>
        <p:nvSpPr>
          <p:cNvPr id="13" name="Rounded Rectangle 12"/>
          <p:cNvSpPr/>
          <p:nvPr/>
        </p:nvSpPr>
        <p:spPr>
          <a:xfrm>
            <a:off x="7132319"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give back</a:t>
            </a:r>
          </a:p>
        </p:txBody>
      </p:sp>
      <p:sp>
        <p:nvSpPr>
          <p:cNvPr id="14" name="Rounded Rectangle 13"/>
          <p:cNvSpPr/>
          <p:nvPr/>
        </p:nvSpPr>
        <p:spPr>
          <a:xfrm>
            <a:off x="8577071" y="987552"/>
            <a:ext cx="190195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mutual benefit</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1.  Members of a _______ exchange services using hours rather than money.</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time bank</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2.  She earned a _______ for teaching English for an hour.</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time credit</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3.  Before money existed, people used to _______ goods.</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barter</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4.  Do you want to _______ your design skills for help with accounts?</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swap</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5.  Many retirees want to _______ to the community.</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give back</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1800" b="0">
                <a:solidFill>
                  <a:srgbClr val="1F2A44"/>
                </a:solidFill>
                <a:latin typeface="Arial"/>
                <a:ea typeface="Microsoft YaHei"/>
              </a:rPr>
              <a:t>6.  A good partnership works for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mutual benefit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Explaining a time bank to a friend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向朋友介绍时间银行</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explain how a local time bank works to a friend who might join.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Lena Dou, member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Mark Oates, friend</a:t>
            </a:r>
          </a:p>
        </p:txBody>
      </p:sp>
    </p:spTree>
  </p:cSld>
  <p:clrMapOvr>
    <a:masterClrMapping/>
  </p:clrMapOvr>
  <p:transition spd="med">
    <p:fade/>
  </p:transition>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a time bank to a friend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Lena</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Mark, have you heard of a time bank? I joined one last month.</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Mark</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 What is it?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time bank works by exchanging services using hours instead of money. One hour of help is worth one hour.</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an hour of gardening equals an hour of teaching?</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Exactly. For example, I spent an hour helping a neighbour with her website, and I earned a credit.</a:t>
            </a:r>
          </a:p>
        </p:txBody>
      </p:sp>
      <p:sp>
        <p:nvSpPr>
          <p:cNvPr id="23" name="Rounded Rectangle 22"/>
          <p:cNvSpPr/>
          <p:nvPr/>
        </p:nvSpPr>
        <p:spPr>
          <a:xfrm>
            <a:off x="10911535" y="481584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81584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then?</a:t>
            </a:r>
          </a:p>
        </p:txBody>
      </p:sp>
      <p:sp>
        <p:nvSpPr>
          <p:cNvPr id="26" name="Rounded Rectangle 25"/>
          <p:cNvSpPr/>
          <p:nvPr/>
        </p:nvSpPr>
        <p:spPr>
          <a:xfrm>
            <a:off x="548640" y="539800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539800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used it to get help with my bike. A member fixed it for an hour.</a:t>
            </a:r>
          </a:p>
        </p:txBody>
      </p:sp>
    </p:spTree>
  </p:cSld>
  <p:clrMapOvr>
    <a:masterClrMapping/>
  </p:clrMapOvr>
  <p:transition spd="med">
    <p:fade/>
  </p:transition>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a time bank to a friend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Interesting. What’s the benefit?</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meet people, use skills and get help without paying. It builds a sense of community.</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Any downsides?</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limitation is that popular skills can be hard to match. Not everyone needs web design.</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could offer cooking lessons in exchange for help with DIY.</a:t>
            </a:r>
          </a:p>
        </p:txBody>
      </p:sp>
      <p:sp>
        <p:nvSpPr>
          <p:cNvPr id="23" name="Rounded Rectangle 22"/>
          <p:cNvSpPr/>
          <p:nvPr/>
        </p:nvSpPr>
        <p:spPr>
          <a:xfrm>
            <a:off x="548640" y="481584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4" name="TextBox 23"/>
          <p:cNvSpPr txBox="1"/>
          <p:nvPr/>
        </p:nvSpPr>
        <p:spPr>
          <a:xfrm>
            <a:off x="274320" y="525475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1463040" y="481584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work well. I’ll introduce you to the coordinator.</a:t>
            </a:r>
          </a:p>
        </p:txBody>
      </p:sp>
      <p:sp>
        <p:nvSpPr>
          <p:cNvPr id="26" name="Rounded Rectangle 25"/>
          <p:cNvSpPr/>
          <p:nvPr/>
        </p:nvSpPr>
        <p:spPr>
          <a:xfrm>
            <a:off x="10911535" y="53980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7" name="TextBox 26"/>
          <p:cNvSpPr txBox="1"/>
          <p:nvPr/>
        </p:nvSpPr>
        <p:spPr>
          <a:xfrm>
            <a:off x="10637215" y="58369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2133295" y="53980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Sign me up.</a:t>
            </a:r>
          </a:p>
        </p:txBody>
      </p:sp>
    </p:spTree>
  </p:cSld>
  <p:clrMapOvr>
    <a:masterClrMapping/>
  </p:clrMapOvr>
  <p:transition spd="med">
    <p:fade/>
  </p:transition>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Explaining a time bank to a friend</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a time bank.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Member. Skill you offered: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Friend. Ask how it works and about limits.</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works by · for example · in exchange for · sense of community · limitation · sign up</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simply with an example and one limit.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Mark says: “Why not just pay for it?” Respond.</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how a company could use a time-bank idea with staff.</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Write a short invitation for a community skill-swap event.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Would you join a time bank?</a:t>
            </a:r>
          </a:p>
          <a:p>
            <a:pPr algn="l">
              <a:lnSpc>
                <a:spcPct val="115000"/>
              </a:lnSpc>
              <a:spcAft>
                <a:spcPts val="800"/>
              </a:spcAft>
            </a:pPr>
            <a:r>
              <a:rPr sz="1400" b="0">
                <a:solidFill>
                  <a:srgbClr val="5F677A"/>
                </a:solidFill>
                <a:latin typeface="Arial"/>
                <a:ea typeface="Microsoft YaHei"/>
              </a:rPr>
              <a:t>💬 “I think I would, because… / I’m not sure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skills could you offer?</a:t>
            </a:r>
          </a:p>
          <a:p>
            <a:pPr algn="l">
              <a:lnSpc>
                <a:spcPct val="115000"/>
              </a:lnSpc>
              <a:spcAft>
                <a:spcPts val="800"/>
              </a:spcAft>
            </a:pPr>
            <a:r>
              <a:rPr sz="1400" b="0">
                <a:solidFill>
                  <a:srgbClr val="5F677A"/>
                </a:solidFill>
                <a:latin typeface="Arial"/>
                <a:ea typeface="Microsoft YaHei"/>
              </a:rPr>
              <a:t>💬 “I could offer… / I’d be happy to help with…”</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Can the time-bank idea work in a company?</a:t>
            </a:r>
          </a:p>
          <a:p>
            <a:pPr algn="l">
              <a:lnSpc>
                <a:spcPct val="115000"/>
              </a:lnSpc>
              <a:spcAft>
                <a:spcPts val="800"/>
              </a:spcAft>
            </a:pPr>
            <a:r>
              <a:rPr sz="1400" b="0">
                <a:solidFill>
                  <a:srgbClr val="5F677A"/>
                </a:solidFill>
                <a:latin typeface="Arial"/>
                <a:ea typeface="Microsoft YaHei"/>
              </a:rPr>
              <a:t>💬 “It could work for… e.g. mentoring swaps.”</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money the best way to value work?</a:t>
            </a:r>
          </a:p>
          <a:p>
            <a:pPr algn="l">
              <a:lnSpc>
                <a:spcPct val="115000"/>
              </a:lnSpc>
              <a:spcAft>
                <a:spcPts val="800"/>
              </a:spcAft>
            </a:pPr>
            <a:r>
              <a:rPr sz="1400" b="0">
                <a:solidFill>
                  <a:srgbClr val="5F677A"/>
                </a:solidFill>
                <a:latin typeface="Arial"/>
                <a:ea typeface="Microsoft YaHei"/>
              </a:rPr>
              <a:t>💬 “Money is convenient, but it doesn’t capture…”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Money is convenient and flexible, but it doesn’t capture everything of value. Care work, community support and mentoring are valuable but often underpaid or unpaid. Systems like time banks recognise this by valuing every hour equally. Still, money has advantages: it’s widely accepted, easy to store and lets people choose what to spend on. So I’d say money works well for markets, while other systems can complement it.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capture = 体现。”underpaid” = 报酬过低。complement = 补充。”easy to store” = 便于储存。</a:t>
            </a:r>
          </a:p>
        </p:txBody>
      </p:sp>
    </p:spTree>
  </p:cSld>
  <p:clrMapOvr>
    <a:masterClrMapping/>
  </p:clrMapOvr>
  <p:transition spd="med">
    <p:fade/>
  </p:transition>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293827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Everyone helps everyone.</a:t>
                      </a:r>
                    </a:p>
                  </a:txBody>
                  <a:tcPr anchor="ctr">
                    <a:solidFill>
                      <a:srgbClr val="FFFFFF"/>
                    </a:solidFill>
                  </a:tcPr>
                </a:tc>
                <a:tc>
                  <a:txBody>
                    <a:bodyPr wrap="square"/>
                    <a:lstStyle/>
                    <a:p>
                      <a:r>
                        <a:rPr sz="1600" b="0">
                          <a:solidFill>
                            <a:srgbClr val="1F2A44"/>
                          </a:solidFill>
                          <a:latin typeface="Arial"/>
                          <a:ea typeface="Microsoft YaHei"/>
                        </a:rPr>
                        <a:t>Members help each other on a reciprocal basis.</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r h="408432">
                <a:tc>
                  <a:txBody>
                    <a:bodyPr wrap="square"/>
                    <a:lstStyle/>
                    <a:p>
                      <a:r>
                        <a:rPr sz="1600" b="1">
                          <a:solidFill>
                            <a:srgbClr val="1F2A44"/>
                          </a:solidFill>
                          <a:latin typeface="Arial"/>
                          <a:ea typeface="Microsoft YaHei"/>
                        </a:rPr>
                        <a:t>No money.</a:t>
                      </a:r>
                    </a:p>
                  </a:txBody>
                  <a:tcPr anchor="ctr">
                    <a:solidFill>
                      <a:srgbClr val="FFEFD9"/>
                    </a:solidFill>
                  </a:tcPr>
                </a:tc>
                <a:tc>
                  <a:txBody>
                    <a:bodyPr wrap="square"/>
                    <a:lstStyle/>
                    <a:p>
                      <a:r>
                        <a:rPr sz="1600" b="0">
                          <a:solidFill>
                            <a:srgbClr val="1F2A44"/>
                          </a:solidFill>
                          <a:latin typeface="Arial"/>
                          <a:ea typeface="Microsoft YaHei"/>
                        </a:rPr>
                        <a:t>Without exchanging money.</a:t>
                      </a:r>
                    </a:p>
                  </a:txBody>
                  <a:tcPr anchor="ctr">
                    <a:solidFill>
                      <a:srgbClr val="FFEFD9"/>
                    </a:solidFill>
                  </a:tcPr>
                </a:tc>
                <a:tc>
                  <a:txBody>
                    <a:bodyPr wrap="square"/>
                    <a:lstStyle/>
                    <a:p>
                      <a:r>
                        <a:rPr sz="1600" b="0">
                          <a:solidFill>
                            <a:srgbClr val="FF6B5B"/>
                          </a:solidFill>
                          <a:latin typeface="Arial"/>
                          <a:ea typeface="Microsoft YaHei"/>
                        </a:rPr>
                        <a:t>完整</a:t>
                      </a:r>
                    </a:p>
                  </a:txBody>
                  <a:tcPr anchor="ctr">
                    <a:solidFill>
                      <a:srgbClr val="FFEFD9"/>
                    </a:solidFill>
                  </a:tcPr>
                </a:tc>
              </a:tr>
              <a:tr h="408432">
                <a:tc>
                  <a:txBody>
                    <a:bodyPr wrap="square"/>
                    <a:lstStyle/>
                    <a:p>
                      <a:r>
                        <a:rPr sz="1600" b="1">
                          <a:solidFill>
                            <a:srgbClr val="1F2A44"/>
                          </a:solidFill>
                          <a:latin typeface="Arial"/>
                          <a:ea typeface="Microsoft YaHei"/>
                        </a:rPr>
                        <a:t>I give you, you give me.</a:t>
                      </a:r>
                    </a:p>
                  </a:txBody>
                  <a:tcPr anchor="ctr">
                    <a:solidFill>
                      <a:srgbClr val="FFFFFF"/>
                    </a:solidFill>
                  </a:tcPr>
                </a:tc>
                <a:tc>
                  <a:txBody>
                    <a:bodyPr wrap="square"/>
                    <a:lstStyle/>
                    <a:p>
                      <a:r>
                        <a:rPr sz="1600" b="0">
                          <a:solidFill>
                            <a:srgbClr val="1F2A44"/>
                          </a:solidFill>
                          <a:latin typeface="Arial"/>
                          <a:ea typeface="Microsoft YaHei"/>
                        </a:rPr>
                        <a:t>We swap skills.</a:t>
                      </a:r>
                    </a:p>
                  </a:txBody>
                  <a:tcPr anchor="ctr">
                    <a:solidFill>
                      <a:srgbClr val="FFFFFF"/>
                    </a:solidFill>
                  </a:tcPr>
                </a:tc>
                <a:tc>
                  <a:txBody>
                    <a:bodyPr wrap="square"/>
                    <a:lstStyle/>
                    <a:p>
                      <a:r>
                        <a:rPr sz="1600" b="0">
                          <a:solidFill>
                            <a:srgbClr val="FF6B5B"/>
                          </a:solidFill>
                          <a:latin typeface="Arial"/>
                          <a:ea typeface="Microsoft YaHei"/>
                        </a:rPr>
                        <a:t>动词</a:t>
                      </a:r>
                    </a:p>
                  </a:txBody>
                  <a:tcPr anchor="ctr">
                    <a:solidFill>
                      <a:srgbClr val="FFFFFF"/>
                    </a:solidFill>
                  </a:tcPr>
                </a:tc>
              </a:tr>
              <a:tr h="652272">
                <a:tc>
                  <a:txBody>
                    <a:bodyPr wrap="square"/>
                    <a:lstStyle/>
                    <a:p>
                      <a:r>
                        <a:rPr sz="1600" b="1">
                          <a:solidFill>
                            <a:srgbClr val="1F2A44"/>
                          </a:solidFill>
                          <a:latin typeface="Arial"/>
                          <a:ea typeface="Microsoft YaHei"/>
                        </a:rPr>
                        <a:t>The group lives together.</a:t>
                      </a:r>
                    </a:p>
                  </a:txBody>
                  <a:tcPr anchor="ctr">
                    <a:solidFill>
                      <a:srgbClr val="FFEFD9"/>
                    </a:solidFill>
                  </a:tcPr>
                </a:tc>
                <a:tc>
                  <a:txBody>
                    <a:bodyPr wrap="square"/>
                    <a:lstStyle/>
                    <a:p>
                      <a:r>
                        <a:rPr sz="1600" b="0">
                          <a:solidFill>
                            <a:srgbClr val="1F2A44"/>
                          </a:solidFill>
                          <a:latin typeface="Arial"/>
                          <a:ea typeface="Microsoft YaHei"/>
                        </a:rPr>
                        <a:t>It strengthens the local community.</a:t>
                      </a:r>
                    </a:p>
                  </a:txBody>
                  <a:tcPr anchor="ctr">
                    <a:solidFill>
                      <a:srgbClr val="FFEFD9"/>
                    </a:solidFill>
                  </a:tcPr>
                </a:tc>
                <a:tc>
                  <a:txBody>
                    <a:bodyPr wrap="square"/>
                    <a:lstStyle/>
                    <a:p>
                      <a:r>
                        <a:rPr sz="1600" b="0">
                          <a:solidFill>
                            <a:srgbClr val="FF6B5B"/>
                          </a:solidFill>
                          <a:latin typeface="Arial"/>
                          <a:ea typeface="Microsoft YaHei"/>
                        </a:rPr>
                        <a:t>搭配</a:t>
                      </a:r>
                    </a:p>
                  </a:txBody>
                  <a:tcPr anchor="ctr">
                    <a:solidFill>
                      <a:srgbClr val="FFEFD9"/>
                    </a:solidFill>
                  </a:tcPr>
                </a:tc>
              </a:tr>
              <a:tr h="408432">
                <a:tc>
                  <a:txBody>
                    <a:bodyPr wrap="square"/>
                    <a:lstStyle/>
                    <a:p>
                      <a:r>
                        <a:rPr sz="1600" b="1">
                          <a:solidFill>
                            <a:srgbClr val="1F2A44"/>
                          </a:solidFill>
                          <a:latin typeface="Arial"/>
                          <a:ea typeface="Microsoft YaHei"/>
                        </a:rPr>
                        <a:t>It’s not for business.</a:t>
                      </a:r>
                    </a:p>
                  </a:txBody>
                  <a:tcPr anchor="ctr">
                    <a:solidFill>
                      <a:srgbClr val="FFFFFF"/>
                    </a:solidFill>
                  </a:tcPr>
                </a:tc>
                <a:tc>
                  <a:txBody>
                    <a:bodyPr wrap="square"/>
                    <a:lstStyle/>
                    <a:p>
                      <a:r>
                        <a:rPr sz="1600" b="0">
                          <a:solidFill>
                            <a:srgbClr val="1F2A44"/>
                          </a:solidFill>
                          <a:latin typeface="Arial"/>
                          <a:ea typeface="Microsoft YaHei"/>
                        </a:rPr>
                        <a:t>It is a non-profit scheme.</a:t>
                      </a:r>
                    </a:p>
                  </a:txBody>
                  <a:tcPr anchor="ctr">
                    <a:solidFill>
                      <a:srgbClr val="FFFFFF"/>
                    </a:solidFill>
                  </a:tcPr>
                </a:tc>
                <a:tc>
                  <a:txBody>
                    <a:bodyPr wrap="square"/>
                    <a:lstStyle/>
                    <a:p>
                      <a:r>
                        <a:rPr sz="1600" b="0">
                          <a:solidFill>
                            <a:srgbClr val="FF6B5B"/>
                          </a:solidFill>
                          <a:latin typeface="Arial"/>
                          <a:ea typeface="Microsoft YaHei"/>
                        </a:rPr>
                        <a:t>术语</a:t>
                      </a:r>
                    </a:p>
                  </a:txBody>
                  <a:tcPr anchor="ctr">
                    <a:solidFill>
                      <a:srgbClr val="FFFFFF"/>
                    </a:solidFill>
                  </a:tcPr>
                </a:tc>
              </a:tr>
            </a:tbl>
          </a:graphicData>
        </a:graphic>
      </p:graphicFrame>
    </p:spTree>
  </p:cSld>
  <p:clrMapOvr>
    <a:masterClrMapping/>
  </p:clrMapOvr>
  <p:transition spd="med">
    <p:fade/>
  </p:transition>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Explaining a process: </a:t>
            </a:r>
            <a:r>
              <a:rPr sz="1700" b="0">
                <a:solidFill>
                  <a:srgbClr val="1F2A44"/>
                </a:solidFill>
                <a:latin typeface="Arial"/>
                <a:ea typeface="Microsoft YaHei"/>
              </a:rPr>
              <a:t>works by -ing, is based on, involves.</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Examples: </a:t>
            </a:r>
            <a:r>
              <a:rPr sz="1700" b="0">
                <a:solidFill>
                  <a:srgbClr val="1F2A44"/>
                </a:solidFill>
                <a:latin typeface="Arial"/>
                <a:ea typeface="Microsoft YaHei"/>
              </a:rPr>
              <a:t>for example, such as, like, e.g.</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Offers: </a:t>
            </a:r>
            <a:r>
              <a:rPr sz="1700" b="0">
                <a:solidFill>
                  <a:srgbClr val="1F2A44"/>
                </a:solidFill>
                <a:latin typeface="Arial"/>
                <a:ea typeface="Microsoft YaHei"/>
              </a:rPr>
              <a:t>I could offer…, I’d be happy to…, How about…?</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Present simple for processes; passive: </a:t>
            </a:r>
            <a:r>
              <a:rPr sz="1700" b="0">
                <a:solidFill>
                  <a:srgbClr val="1F2A44"/>
                </a:solidFill>
                <a:latin typeface="Arial"/>
                <a:ea typeface="Microsoft YaHei"/>
              </a:rPr>
              <a:t>“Credits are earned and spent.”</a:t>
            </a:r>
          </a:p>
        </p:txBody>
      </p:sp>
    </p:spTree>
  </p:cSld>
  <p:clrMapOvr>
    <a:masterClrMapping/>
  </p:clrMapOvr>
  <p:transition spd="med">
    <p:fade/>
  </p:transition>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 time bank work by exchange hours.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 time bank works by exchanging hours.</a:t>
            </a:r>
          </a:p>
          <a:p>
            <a:pPr algn="l">
              <a:spcAft>
                <a:spcPts val="200"/>
              </a:spcAft>
            </a:pPr>
            <a:r>
              <a:rPr sz="1200" b="0">
                <a:solidFill>
                  <a:srgbClr val="FFFFFF"/>
                </a:solidFill>
                <a:latin typeface="Arial"/>
                <a:ea typeface="Microsoft YaHei"/>
              </a:rPr>
              <a:t>by + -ing</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give you teaching for you give me help.</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teach you in exchange for your help.</a:t>
            </a:r>
          </a:p>
          <a:p>
            <a:pPr algn="l">
              <a:spcAft>
                <a:spcPts val="200"/>
              </a:spcAft>
            </a:pPr>
            <a:r>
              <a:rPr sz="1200" b="0">
                <a:solidFill>
                  <a:srgbClr val="FFFFFF"/>
                </a:solidFill>
                <a:latin typeface="Arial"/>
                <a:ea typeface="Microsoft YaHei"/>
              </a:rPr>
              <a:t>in exchange for</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Volunteer is good.</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Volunteering is good.</a:t>
            </a:r>
          </a:p>
          <a:p>
            <a:pPr algn="l">
              <a:spcAft>
                <a:spcPts val="200"/>
              </a:spcAft>
            </a:pPr>
            <a:r>
              <a:rPr sz="1200" b="0">
                <a:solidFill>
                  <a:srgbClr val="FFFFFF"/>
                </a:solidFill>
                <a:latin typeface="Arial"/>
                <a:ea typeface="Microsoft YaHei"/>
              </a:rPr>
              <a:t>动名词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volunteer in a charity.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volunteer for a charity.</a:t>
            </a:r>
          </a:p>
          <a:p>
            <a:pPr algn="l">
              <a:spcAft>
                <a:spcPts val="200"/>
              </a:spcAft>
            </a:pPr>
            <a:r>
              <a:rPr sz="1200" b="0">
                <a:solidFill>
                  <a:srgbClr val="FFFFFF"/>
                </a:solidFill>
                <a:latin typeface="Arial"/>
                <a:ea typeface="Microsoft YaHei"/>
              </a:rPr>
              <a:t>动词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benefits to the community.</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benefits the community.</a:t>
            </a:r>
          </a:p>
          <a:p>
            <a:pPr algn="l">
              <a:spcAft>
                <a:spcPts val="200"/>
              </a:spcAft>
            </a:pPr>
            <a:r>
              <a:rPr sz="1200" b="0">
                <a:solidFill>
                  <a:srgbClr val="FFFFFF"/>
                </a:solidFill>
                <a:latin typeface="Arial"/>
                <a:ea typeface="Microsoft YaHei"/>
              </a:rPr>
              <a:t>benefit 及物</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They changed time for money.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They exchanged time for money.</a:t>
            </a:r>
          </a:p>
          <a:p>
            <a:pPr algn="l">
              <a:spcAft>
                <a:spcPts val="200"/>
              </a:spcAft>
            </a:pPr>
            <a:r>
              <a:rPr sz="1200" b="0">
                <a:solidFill>
                  <a:srgbClr val="FFFFFF"/>
                </a:solidFill>
                <a:latin typeface="Arial"/>
                <a:ea typeface="Microsoft YaHei"/>
              </a:rPr>
              <a:t>exchange</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by + -ing, benefit (transitive), and noun/verb forms (volunteer).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Volunteering culture: </a:t>
            </a:r>
            <a:r>
              <a:rPr sz="1700" b="0">
                <a:solidFill>
                  <a:srgbClr val="1F2A44"/>
                </a:solidFill>
                <a:latin typeface="Arial"/>
                <a:ea typeface="Microsoft YaHei"/>
              </a:rPr>
              <a:t>In UK/US, volunteering is common and often listed on CVs.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Tax: </a:t>
            </a:r>
            <a:r>
              <a:rPr sz="1700" b="0">
                <a:solidFill>
                  <a:srgbClr val="1F2A44"/>
                </a:solidFill>
                <a:latin typeface="Arial"/>
                <a:ea typeface="Microsoft YaHei"/>
              </a:rPr>
              <a:t>Exchanging services can have tax implications in some countries.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Safety: </a:t>
            </a:r>
            <a:r>
              <a:rPr sz="1700" b="0">
                <a:solidFill>
                  <a:srgbClr val="1F2A44"/>
                </a:solidFill>
                <a:latin typeface="Arial"/>
                <a:ea typeface="Microsoft YaHei"/>
              </a:rPr>
              <a:t>Reputable schemes check and support members.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by + -ing;benefit 是及物动词;exchange A for B。介绍机制时先概念、再例子、最后局限。</a:t>
            </a:r>
          </a:p>
        </p:txBody>
      </p:sp>
    </p:spTree>
  </p:cSld>
  <p:clrMapOvr>
    <a:masterClrMapping/>
  </p:clrMapOvr>
  <p:transition spd="med">
    <p:fade/>
  </p:transition>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how a time bank works.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evaluate the idea with pros and cons.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by + -ing and in exchange for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benefit (transitive) and volunteer forms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87 Time Banks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by + -ing, exchange / swap for, and transitive benefit.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9 · Lesson 88 The Horror Business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208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Horror Business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恐怖产业</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the horror entertainment business: why scary stories sell, budgets and returns, genres, audiences and what other industries can learn.</a:t>
            </a:r>
          </a:p>
        </p:txBody>
      </p:sp>
      <p:sp>
        <p:nvSpPr>
          <p:cNvPr id="10" name="Rounded Rectangle 9"/>
          <p:cNvSpPr/>
          <p:nvPr/>
        </p:nvSpPr>
        <p:spPr>
          <a:xfrm>
            <a:off x="822960"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enjoy horror films or stories? Why or why not?</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people pay to be scared?</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are horror films often profitable?</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risks of making horror content?</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can businesses learn from the horror genre?</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genre = 体裁/类型。low-budget = 低成本。franchise = 系列作品。第 3 题思考:budget vs box office。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why a genre can be a good business and discuss its risks.</a:t>
            </a:r>
          </a:p>
        </p:txBody>
      </p:sp>
      <p:sp>
        <p:nvSpPr>
          <p:cNvPr id="10" name="Rounded Rectangle 9"/>
          <p:cNvSpPr/>
          <p:nvPr/>
        </p:nvSpPr>
        <p:spPr>
          <a:xfrm>
            <a:off x="548640" y="3017520"/>
            <a:ext cx="1901952"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audience</a:t>
            </a:r>
          </a:p>
        </p:txBody>
      </p:sp>
      <p:sp>
        <p:nvSpPr>
          <p:cNvPr id="11" name="Rounded Rectangle 10"/>
          <p:cNvSpPr/>
          <p:nvPr/>
        </p:nvSpPr>
        <p:spPr>
          <a:xfrm>
            <a:off x="2587752" y="3017520"/>
            <a:ext cx="1901952"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costs</a:t>
            </a:r>
          </a:p>
        </p:txBody>
      </p:sp>
      <p:sp>
        <p:nvSpPr>
          <p:cNvPr id="12" name="Rounded Rectangle 11"/>
          <p:cNvSpPr/>
          <p:nvPr/>
        </p:nvSpPr>
        <p:spPr>
          <a:xfrm>
            <a:off x="4626864" y="3017520"/>
            <a:ext cx="1901952"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revenue</a:t>
            </a:r>
          </a:p>
        </p:txBody>
      </p:sp>
      <p:sp>
        <p:nvSpPr>
          <p:cNvPr id="13" name="Rounded Rectangle 12"/>
          <p:cNvSpPr/>
          <p:nvPr/>
        </p:nvSpPr>
        <p:spPr>
          <a:xfrm>
            <a:off x="6665976" y="3017520"/>
            <a:ext cx="1901952"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risk</a:t>
            </a:r>
          </a:p>
        </p:txBody>
      </p:sp>
      <p:sp>
        <p:nvSpPr>
          <p:cNvPr id="14" name="Rounded Rectangle 13"/>
          <p:cNvSpPr/>
          <p:nvPr/>
        </p:nvSpPr>
        <p:spPr>
          <a:xfrm>
            <a:off x="8705088" y="3017520"/>
            <a:ext cx="1901952" cy="86868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 lesson</a:t>
            </a:r>
          </a:p>
        </p:txBody>
      </p:sp>
      <p:sp>
        <p:nvSpPr>
          <p:cNvPr id="15" name="TextBox 14"/>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6" name="TextBox 15"/>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One reason it’s profitable is…   💬 It tends to appeal to…   💬 The downside is that…</a:t>
            </a:r>
          </a:p>
        </p:txBody>
      </p:sp>
      <p:sp>
        <p:nvSpPr>
          <p:cNvPr id="17" name="Rounded Rectangle 16"/>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appeal to = 吸引。tends to 表示倾向。the downside is that… 说明风险。</a:t>
            </a:r>
          </a:p>
        </p:txBody>
      </p:sp>
    </p:spTree>
  </p:cSld>
  <p:clrMapOvr>
    <a:masterClrMapping/>
  </p:clrMapOvr>
  <p:transition spd="med">
    <p:fade/>
  </p:transition>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Selling Fear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Horror has long been a reliable genre for film, books and games. One reason is cost: a successful horror film does not always need famous actors or expensive effects, so budgets can be modest while returns can be strong. Another is the audience. Horror tends to attract younger viewers who enjoy shared, intense experiences, and it travels well across languages because fear needs little translation. Successful titles often become franchises, creating sequels, merchandise and streaming rights. However, the model has risks. Audiences quickly tire of repeated formulas, and a poorly made film can fail. Studios therefore look for fresh ideas within the genre, test early versions with audiences and watch reactions on social media. For other businesses, the lesson is that a clear niche, a modest budget and strong word of mouth can be powerful.</a:t>
            </a:r>
          </a:p>
        </p:txBody>
      </p:sp>
    </p:spTree>
  </p:cSld>
  <p:clrMapOvr>
    <a:masterClrMapping/>
  </p:clrMapOvr>
  <p:transition spd="med">
    <p:fade/>
  </p:transition>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can horror films be profitable?</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Budgets can be modest, and returns can be strong.</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does horror travel well?</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Fear needs little translation, so it works across languages.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risks does the genre face?</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Audiences tire of repeated formulas, and poorly made films can fail.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Chunk 1: Entertainment business terms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娱乐产业术语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budget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预算</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film had a small budget.”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box office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票房</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film did well at the box office.”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return on investment</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投资回报</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return on investment was high.”</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franchise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系列作品 / 特许经营</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became a franchise.”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sequel</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续集</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sequel earned more.”</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merchandise</a:t>
            </a:r>
          </a:p>
          <a:p>
            <a:pPr algn="l">
              <a:lnSpc>
                <a:spcPct val="115000"/>
              </a:lnSpc>
              <a:spcAft>
                <a:spcPts val="800"/>
              </a:spcAft>
            </a:pPr>
            <a:r>
              <a:rPr sz="1300" b="0">
                <a:solidFill>
                  <a:srgbClr val="5F677A"/>
                </a:solidFill>
                <a:latin typeface="Arial"/>
                <a:ea typeface="Microsoft YaHei"/>
              </a:rPr>
              <a:t>noun (uncountable)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周边商品</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“Merchandise adds revenue.”</a:t>
            </a:r>
          </a:p>
        </p:txBody>
      </p:sp>
    </p:spTree>
  </p:cSld>
  <p:clrMapOvr>
    <a:masterClrMapping/>
  </p:clrMapOvr>
  <p:transition spd="med">
    <p:fade/>
  </p:transition>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Genre and audience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类型与观众</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niche audience</a:t>
            </a:r>
          </a:p>
          <a:p>
            <a:pPr algn="l">
              <a:lnSpc>
                <a:spcPct val="115000"/>
              </a:lnSpc>
              <a:spcAft>
                <a:spcPts val="800"/>
              </a:spcAft>
            </a:pPr>
            <a:r>
              <a:rPr sz="1300" b="0">
                <a:solidFill>
                  <a:srgbClr val="5F677A"/>
                </a:solidFill>
                <a:latin typeface="Arial"/>
                <a:ea typeface="Microsoft YaHei"/>
              </a:rPr>
              <a:t>noun phrase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小众观众</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film has a niche audience.”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sleeper hit</a:t>
            </a:r>
          </a:p>
          <a:p>
            <a:pPr algn="l">
              <a:lnSpc>
                <a:spcPct val="115000"/>
              </a:lnSpc>
              <a:spcAft>
                <a:spcPts val="800"/>
              </a:spcAft>
            </a:pPr>
            <a:r>
              <a:rPr sz="1300" b="0">
                <a:solidFill>
                  <a:srgbClr val="5F677A"/>
                </a:solidFill>
                <a:latin typeface="Arial"/>
                <a:ea typeface="Microsoft YaHei"/>
              </a:rPr>
              <a:t>noun phrase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意外热门</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film was a sleeper hit.”</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cash in on</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借机赚钱</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“Studios cash in on trends.”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run out of steam</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失去动力</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series ran out of steam.”</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word-of-mouth success</a:t>
            </a:r>
          </a:p>
          <a:p>
            <a:pPr algn="l">
              <a:lnSpc>
                <a:spcPct val="115000"/>
              </a:lnSpc>
              <a:spcAft>
                <a:spcPts val="800"/>
              </a:spcAft>
            </a:pPr>
            <a:r>
              <a:rPr sz="1300" b="0">
                <a:solidFill>
                  <a:srgbClr val="5F677A"/>
                </a:solidFill>
                <a:latin typeface="Arial"/>
                <a:ea typeface="Microsoft YaHei"/>
              </a:rPr>
              <a:t>noun phrase</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口碑成功</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 was a word-of-mouth success.”</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safe bet</a:t>
            </a:r>
          </a:p>
          <a:p>
            <a:pPr algn="l">
              <a:lnSpc>
                <a:spcPct val="115000"/>
              </a:lnSpc>
              <a:spcAft>
                <a:spcPts val="800"/>
              </a:spcAft>
            </a:pPr>
            <a:r>
              <a:rPr sz="1300" b="0">
                <a:solidFill>
                  <a:srgbClr val="5F677A"/>
                </a:solidFill>
                <a:latin typeface="Arial"/>
                <a:ea typeface="Microsoft YaHei"/>
              </a:rPr>
              <a:t>idiom</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稳妥选择</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“Horror is considered a safe bet.”</a:t>
            </a:r>
          </a:p>
        </p:txBody>
      </p:sp>
    </p:spTree>
  </p:cSld>
  <p:clrMapOvr>
    <a:masterClrMapping/>
  </p:clrMapOvr>
  <p:transition spd="med">
    <p:fade/>
  </p:transition>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失去动力</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run out of steam</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周边商品</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merchandise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口碑成功</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word-of-mouth success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系列作品 / 特许经营</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franchise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预算</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budget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小众观众</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niche audience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意外热门</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sleeper hit</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投资回报</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return on investment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budget</a:t>
            </a:r>
          </a:p>
        </p:txBody>
      </p:sp>
      <p:sp>
        <p:nvSpPr>
          <p:cNvPr id="10" name="Rounded Rectangle 9"/>
          <p:cNvSpPr/>
          <p:nvPr/>
        </p:nvSpPr>
        <p:spPr>
          <a:xfrm>
            <a:off x="3127248"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box office</a:t>
            </a:r>
          </a:p>
        </p:txBody>
      </p:sp>
      <p:sp>
        <p:nvSpPr>
          <p:cNvPr id="11" name="Rounded Rectangle 10"/>
          <p:cNvSpPr/>
          <p:nvPr/>
        </p:nvSpPr>
        <p:spPr>
          <a:xfrm>
            <a:off x="4681728" y="987552"/>
            <a:ext cx="256032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return on investment</a:t>
            </a:r>
          </a:p>
        </p:txBody>
      </p:sp>
      <p:sp>
        <p:nvSpPr>
          <p:cNvPr id="12" name="Rounded Rectangle 11"/>
          <p:cNvSpPr/>
          <p:nvPr/>
        </p:nvSpPr>
        <p:spPr>
          <a:xfrm>
            <a:off x="7333488"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franchise</a:t>
            </a:r>
          </a:p>
        </p:txBody>
      </p:sp>
      <p:sp>
        <p:nvSpPr>
          <p:cNvPr id="13" name="Rounded Rectangle 12"/>
          <p:cNvSpPr/>
          <p:nvPr/>
        </p:nvSpPr>
        <p:spPr>
          <a:xfrm>
            <a:off x="8778240" y="987552"/>
            <a:ext cx="1572767"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merchandise</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film was made on a small _______.</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budget</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It did very well at the _______.</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box office</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Investors want a good _______.</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return on investment</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popular series became a global _______.</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franchise</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Toys and clothing are examples of _______.</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merchandise</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The low-budget film became a _______.</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sleeper hit</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horror (not “horrer”), genre /ˈʒɒnrə/, franchise. Do well at the box office (not “in”). On a small budget. Release a film, release date. Gross (earnings), net. Audience is a collective noun (the audience is / are). Frightening (adj) vs frightened (feel).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Role Play · Discussing why horror sells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讨论恐怖题材为何畅销</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Two colleagues at a media company discuss whether to invest in a horror project.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Cleo Ng, producer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Mr Nash, finance director</a:t>
            </a:r>
          </a:p>
        </p:txBody>
      </p:sp>
    </p:spTree>
  </p:cSld>
  <p:clrMapOvr>
    <a:masterClrMapping/>
  </p:clrMapOvr>
  <p:transition spd="med">
    <p:fade/>
  </p:transition>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Discussing why horror sells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Cleo</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Mr Nash, I’d like to propose investing in a low-budget horror film.</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Mr Nash</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Why horror?</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One reason it’s profitable is cost. We can make it with a small cast and a modest budget.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the revenue?</a:t>
            </a:r>
          </a:p>
        </p:txBody>
      </p:sp>
      <p:sp>
        <p:nvSpPr>
          <p:cNvPr id="20" name="Rounded Rectangle 19"/>
          <p:cNvSpPr/>
          <p:nvPr/>
        </p:nvSpPr>
        <p:spPr>
          <a:xfrm>
            <a:off x="548640" y="394411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38302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944112"/>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Horror tends to appeal to younger audiences, who go to the cinema in groups. It also works internationally.</a:t>
            </a:r>
          </a:p>
        </p:txBody>
      </p:sp>
    </p:spTree>
  </p:cSld>
  <p:clrMapOvr>
    <a:masterClrMapping/>
  </p:clrMapOvr>
  <p:transition spd="med">
    <p:fade/>
  </p:transition>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why horror sells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are the risks?</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downside is that audiences get tired of formulas. We need a fresh idea.</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What’s different about this one?</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new setting and a strong script. We’d test it with a small audience first.</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would success look like?</a:t>
            </a:r>
          </a:p>
        </p:txBody>
      </p:sp>
    </p:spTree>
  </p:cSld>
  <p:clrMapOvr>
    <a:masterClrMapping/>
  </p:clrMapOvr>
  <p:transition spd="med">
    <p:fade/>
  </p:transition>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Discussing why horror sells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Covering costs through the box office and earning more from streaming rights.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if it fails?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The loss would be limited because the budget is small.</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All right. Please send a detailed plan.</a:t>
            </a:r>
          </a:p>
        </p:txBody>
      </p:sp>
    </p:spTree>
  </p:cSld>
  <p:clrMapOvr>
    <a:masterClrMapping/>
  </p:clrMapOvr>
  <p:transition spd="med">
    <p:fade/>
  </p:transition>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Your Turn · Discussing why horror sells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pitch a creative project to finance.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Producer. Project: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Finance director. Ask about risk and return.</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one reason · tends to appeal · the downside is · budget · return · test</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Present reasons, risks and a limited-risk plan.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Mr Nash says: “Horror is out of fashion.” Respond.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Explain why niche audiences can be valuable.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how another industry can use “low budget, high impact”.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people enjoy being scared?</a:t>
            </a:r>
          </a:p>
          <a:p>
            <a:pPr algn="l">
              <a:lnSpc>
                <a:spcPct val="115000"/>
              </a:lnSpc>
              <a:spcAft>
                <a:spcPts val="800"/>
              </a:spcAft>
            </a:pPr>
            <a:r>
              <a:rPr sz="1400" b="0">
                <a:solidFill>
                  <a:srgbClr val="5F677A"/>
                </a:solidFill>
                <a:latin typeface="Arial"/>
                <a:ea typeface="Microsoft YaHei"/>
              </a:rPr>
              <a:t>💬 “Because it gives a safe thrill…”</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horror a safe business bet?</a:t>
            </a:r>
          </a:p>
          <a:p>
            <a:pPr algn="l">
              <a:lnSpc>
                <a:spcPct val="115000"/>
              </a:lnSpc>
              <a:spcAft>
                <a:spcPts val="800"/>
              </a:spcAft>
            </a:pPr>
            <a:r>
              <a:rPr sz="1400" b="0">
                <a:solidFill>
                  <a:srgbClr val="5F677A"/>
                </a:solidFill>
                <a:latin typeface="Arial"/>
                <a:ea typeface="Microsoft YaHei"/>
              </a:rPr>
              <a:t>💬 “It’s relatively safe because…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there be limits on scary content?</a:t>
            </a:r>
          </a:p>
          <a:p>
            <a:pPr algn="l">
              <a:lnSpc>
                <a:spcPct val="115000"/>
              </a:lnSpc>
              <a:spcAft>
                <a:spcPts val="800"/>
              </a:spcAft>
            </a:pPr>
            <a:r>
              <a:rPr sz="1400" b="0">
                <a:solidFill>
                  <a:srgbClr val="5F677A"/>
                </a:solidFill>
                <a:latin typeface="Arial"/>
                <a:ea typeface="Microsoft YaHei"/>
              </a:rPr>
              <a:t>💬 “Age ratings help… / Content should be…”</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can other industries learn from the horror business?</a:t>
            </a:r>
          </a:p>
          <a:p>
            <a:pPr algn="l">
              <a:lnSpc>
                <a:spcPct val="115000"/>
              </a:lnSpc>
              <a:spcAft>
                <a:spcPts val="800"/>
              </a:spcAft>
            </a:pPr>
            <a:r>
              <a:rPr sz="1400" b="0">
                <a:solidFill>
                  <a:srgbClr val="5F677A"/>
                </a:solidFill>
                <a:latin typeface="Arial"/>
                <a:ea typeface="Microsoft YaHei"/>
              </a:rPr>
              <a:t>💬 “They can learn to… / Focus on a niche…”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Other industries can learn that a clear niche, tight cost control and word of mouth can work better than a big budget. Horror producers often succeed by focusing on a story that resonates with a specific audience rather than trying to please everyone. They also test ideas early and listen to audience reactions. The same approach can help start-ups in food, fashion or software.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resonate with = 引起共鸣。tight = 严格的。”please everyone” = 讨好所有人。niche = 利基。</a:t>
            </a:r>
          </a:p>
        </p:txBody>
      </p:sp>
    </p:spTree>
  </p:cSld>
  <p:clrMapOvr>
    <a:masterClrMapping/>
  </p:clrMapOvr>
  <p:transition spd="med">
    <p:fade/>
  </p:transition>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42595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652272">
                <a:tc>
                  <a:txBody>
                    <a:bodyPr wrap="square"/>
                    <a:lstStyle/>
                    <a:p>
                      <a:r>
                        <a:rPr sz="1600" b="1">
                          <a:solidFill>
                            <a:srgbClr val="1F2A44"/>
                          </a:solidFill>
                          <a:latin typeface="Arial"/>
                          <a:ea typeface="Microsoft YaHei"/>
                        </a:rPr>
                        <a:t>Horror makes money.</a:t>
                      </a:r>
                    </a:p>
                  </a:txBody>
                  <a:tcPr anchor="ctr">
                    <a:solidFill>
                      <a:srgbClr val="FFFFFF"/>
                    </a:solidFill>
                  </a:tcPr>
                </a:tc>
                <a:tc>
                  <a:txBody>
                    <a:bodyPr wrap="square"/>
                    <a:lstStyle/>
                    <a:p>
                      <a:r>
                        <a:rPr sz="1600" b="0">
                          <a:solidFill>
                            <a:srgbClr val="1F2A44"/>
                          </a:solidFill>
                          <a:latin typeface="Arial"/>
                          <a:ea typeface="Microsoft YaHei"/>
                        </a:rPr>
                        <a:t>Horror films can generate healthy returns.</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People like fear.</a:t>
                      </a:r>
                    </a:p>
                  </a:txBody>
                  <a:tcPr anchor="ctr">
                    <a:solidFill>
                      <a:srgbClr val="FFEFD9"/>
                    </a:solidFill>
                  </a:tcPr>
                </a:tc>
                <a:tc>
                  <a:txBody>
                    <a:bodyPr wrap="square"/>
                    <a:lstStyle/>
                    <a:p>
                      <a:r>
                        <a:rPr sz="1600" b="0">
                          <a:solidFill>
                            <a:srgbClr val="1F2A44"/>
                          </a:solidFill>
                          <a:latin typeface="Arial"/>
                          <a:ea typeface="Microsoft YaHei"/>
                        </a:rPr>
                        <a:t>Audiences enjoy the thrill of being scared.</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652272">
                <a:tc>
                  <a:txBody>
                    <a:bodyPr wrap="square"/>
                    <a:lstStyle/>
                    <a:p>
                      <a:r>
                        <a:rPr sz="1600" b="1">
                          <a:solidFill>
                            <a:srgbClr val="1F2A44"/>
                          </a:solidFill>
                          <a:latin typeface="Arial"/>
                          <a:ea typeface="Microsoft YaHei"/>
                        </a:rPr>
                        <a:t>It had no money.</a:t>
                      </a:r>
                    </a:p>
                  </a:txBody>
                  <a:tcPr anchor="ctr">
                    <a:solidFill>
                      <a:srgbClr val="FFFFFF"/>
                    </a:solidFill>
                  </a:tcPr>
                </a:tc>
                <a:tc>
                  <a:txBody>
                    <a:bodyPr wrap="square"/>
                    <a:lstStyle/>
                    <a:p>
                      <a:r>
                        <a:rPr sz="1600" b="0">
                          <a:solidFill>
                            <a:srgbClr val="1F2A44"/>
                          </a:solidFill>
                          <a:latin typeface="Arial"/>
                          <a:ea typeface="Microsoft YaHei"/>
                        </a:rPr>
                        <a:t>It was made on a shoestring budget.</a:t>
                      </a:r>
                    </a:p>
                  </a:txBody>
                  <a:tcPr anchor="ctr">
                    <a:solidFill>
                      <a:srgbClr val="FFFFFF"/>
                    </a:solidFill>
                  </a:tcPr>
                </a:tc>
                <a:tc>
                  <a:txBody>
                    <a:bodyPr wrap="square"/>
                    <a:lstStyle/>
                    <a:p>
                      <a:r>
                        <a:rPr sz="1600" b="0">
                          <a:solidFill>
                            <a:srgbClr val="FF6B5B"/>
                          </a:solidFill>
                          <a:latin typeface="Arial"/>
                          <a:ea typeface="Microsoft YaHei"/>
                        </a:rPr>
                        <a:t>习语</a:t>
                      </a:r>
                    </a:p>
                  </a:txBody>
                  <a:tcPr anchor="ctr">
                    <a:solidFill>
                      <a:srgbClr val="FFFFFF"/>
                    </a:solidFill>
                  </a:tcPr>
                </a:tc>
              </a:tr>
              <a:tr h="652272">
                <a:tc>
                  <a:txBody>
                    <a:bodyPr wrap="square"/>
                    <a:lstStyle/>
                    <a:p>
                      <a:r>
                        <a:rPr sz="1600" b="1">
                          <a:solidFill>
                            <a:srgbClr val="1F2A44"/>
                          </a:solidFill>
                          <a:latin typeface="Arial"/>
                          <a:ea typeface="Microsoft YaHei"/>
                        </a:rPr>
                        <a:t>Everybody watched it.</a:t>
                      </a:r>
                    </a:p>
                  </a:txBody>
                  <a:tcPr anchor="ctr">
                    <a:solidFill>
                      <a:srgbClr val="FFEFD9"/>
                    </a:solidFill>
                  </a:tcPr>
                </a:tc>
                <a:tc>
                  <a:txBody>
                    <a:bodyPr wrap="square"/>
                    <a:lstStyle/>
                    <a:p>
                      <a:r>
                        <a:rPr sz="1600" b="0">
                          <a:solidFill>
                            <a:srgbClr val="1F2A44"/>
                          </a:solidFill>
                          <a:latin typeface="Arial"/>
                          <a:ea typeface="Microsoft YaHei"/>
                        </a:rPr>
                        <a:t>It became a word-of-mouth success.</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408432">
                <a:tc>
                  <a:txBody>
                    <a:bodyPr wrap="square"/>
                    <a:lstStyle/>
                    <a:p>
                      <a:r>
                        <a:rPr sz="1600" b="1">
                          <a:solidFill>
                            <a:srgbClr val="1F2A44"/>
                          </a:solidFill>
                          <a:latin typeface="Arial"/>
                          <a:ea typeface="Microsoft YaHei"/>
                        </a:rPr>
                        <a:t>The story is weak.</a:t>
                      </a:r>
                    </a:p>
                  </a:txBody>
                  <a:tcPr anchor="ctr">
                    <a:solidFill>
                      <a:srgbClr val="FFFFFF"/>
                    </a:solidFill>
                  </a:tcPr>
                </a:tc>
                <a:tc>
                  <a:txBody>
                    <a:bodyPr wrap="square"/>
                    <a:lstStyle/>
                    <a:p>
                      <a:r>
                        <a:rPr sz="1600" b="0">
                          <a:solidFill>
                            <a:srgbClr val="1F2A44"/>
                          </a:solidFill>
                          <a:latin typeface="Arial"/>
                          <a:ea typeface="Microsoft YaHei"/>
                        </a:rPr>
                        <a:t>The plot feels predictable.</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bl>
          </a:graphicData>
        </a:graphic>
      </p:graphicFrame>
    </p:spTree>
  </p:cSld>
  <p:clrMapOvr>
    <a:masterClrMapping/>
  </p:clrMapOvr>
  <p:transition spd="med">
    <p:fade/>
  </p:transition>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Giving reasons: </a:t>
            </a:r>
            <a:r>
              <a:rPr sz="1700" b="0">
                <a:solidFill>
                  <a:srgbClr val="1F2A44"/>
                </a:solidFill>
                <a:latin typeface="Arial"/>
                <a:ea typeface="Microsoft YaHei"/>
              </a:rPr>
              <a:t>One reason is…, Another factor is…, This is partly because…</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Contrasting risk and reward: </a:t>
            </a:r>
            <a:r>
              <a:rPr sz="1700" b="0">
                <a:solidFill>
                  <a:srgbClr val="1F2A44"/>
                </a:solidFill>
                <a:latin typeface="Arial"/>
                <a:ea typeface="Microsoft YaHei"/>
              </a:rPr>
              <a:t>On the one hand… On the other hand…</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Adjectives -ed / -ing: </a:t>
            </a:r>
            <a:r>
              <a:rPr sz="1700" b="0">
                <a:solidFill>
                  <a:srgbClr val="1F2A44"/>
                </a:solidFill>
                <a:latin typeface="Arial"/>
                <a:ea typeface="Microsoft YaHei"/>
              </a:rPr>
              <a:t>frightening film / frightened viewers; terrifying / terrified.</a:t>
            </a:r>
          </a:p>
        </p:txBody>
      </p:sp>
      <p:sp>
        <p:nvSpPr>
          <p:cNvPr id="17" name="Rounded Rectangle 16"/>
          <p:cNvSpPr/>
          <p:nvPr/>
        </p:nvSpPr>
        <p:spPr>
          <a:xfrm>
            <a:off x="548640" y="3017517"/>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70103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701039"/>
          </a:xfrm>
          <a:prstGeom prst="rect">
            <a:avLst/>
          </a:prstGeom>
          <a:noFill/>
        </p:spPr>
        <p:txBody>
          <a:bodyPr wrap="square" anchor="ctr">
            <a:spAutoFit/>
          </a:bodyPr>
          <a:lstStyle/>
          <a:p>
            <a:r>
              <a:rPr sz="1700" b="1">
                <a:solidFill>
                  <a:srgbClr val="FFC857"/>
                </a:solidFill>
                <a:latin typeface="Arial"/>
                <a:ea typeface="Microsoft YaHei"/>
              </a:rPr>
              <a:t>Collective nouns: </a:t>
            </a:r>
            <a:r>
              <a:rPr sz="1700" b="0">
                <a:solidFill>
                  <a:srgbClr val="1F2A44"/>
                </a:solidFill>
                <a:latin typeface="Arial"/>
                <a:ea typeface="Microsoft YaHei"/>
              </a:rPr>
              <a:t>“The audience is growing” (as one group) / “The audience are arriving” (individuals; UK).</a:t>
            </a:r>
          </a:p>
        </p:txBody>
      </p:sp>
    </p:spTree>
  </p:cSld>
  <p:clrMapOvr>
    <a:masterClrMapping/>
  </p:clrMapOvr>
  <p:transition spd="med">
    <p:fade/>
  </p:transition>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film is very frighten.</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film is very frightening.</a:t>
            </a:r>
          </a:p>
          <a:p>
            <a:pPr algn="l">
              <a:spcAft>
                <a:spcPts val="200"/>
              </a:spcAft>
            </a:pPr>
            <a:r>
              <a:rPr sz="1200" b="0">
                <a:solidFill>
                  <a:srgbClr val="FFFFFF"/>
                </a:solidFill>
                <a:latin typeface="Arial"/>
                <a:ea typeface="Microsoft YaHei"/>
              </a:rPr>
              <a:t>-ing</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was frightening.</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was frightened.</a:t>
            </a:r>
          </a:p>
          <a:p>
            <a:pPr algn="l">
              <a:spcAft>
                <a:spcPts val="200"/>
              </a:spcAft>
            </a:pPr>
            <a:r>
              <a:rPr sz="1200" b="0">
                <a:solidFill>
                  <a:srgbClr val="FFFFFF"/>
                </a:solidFill>
                <a:latin typeface="Arial"/>
                <a:ea typeface="Microsoft YaHei"/>
              </a:rPr>
              <a:t>-ed</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audiences is big.</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audience is big.</a:t>
            </a:r>
          </a:p>
          <a:p>
            <a:pPr algn="l">
              <a:spcAft>
                <a:spcPts val="200"/>
              </a:spcAft>
            </a:pPr>
            <a:r>
              <a:rPr sz="1200" b="0">
                <a:solidFill>
                  <a:srgbClr val="FFFFFF"/>
                </a:solidFill>
                <a:latin typeface="Arial"/>
                <a:ea typeface="Microsoft YaHei"/>
              </a:rPr>
              <a:t>audience 单数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earned a big money.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earned a lot of money.</a:t>
            </a:r>
          </a:p>
          <a:p>
            <a:pPr algn="l">
              <a:spcAft>
                <a:spcPts val="200"/>
              </a:spcAft>
            </a:pPr>
            <a:r>
              <a:rPr sz="1200" b="0">
                <a:solidFill>
                  <a:srgbClr val="FFFFFF"/>
                </a:solidFill>
                <a:latin typeface="Arial"/>
                <a:ea typeface="Microsoft YaHei"/>
              </a:rPr>
              <a:t>money 不可数</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movie did good.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movie did well.</a:t>
            </a:r>
          </a:p>
          <a:p>
            <a:pPr algn="l">
              <a:spcAft>
                <a:spcPts val="200"/>
              </a:spcAft>
            </a:pPr>
            <a:r>
              <a:rPr sz="1200" b="0">
                <a:solidFill>
                  <a:srgbClr val="FFFFFF"/>
                </a:solidFill>
                <a:latin typeface="Arial"/>
                <a:ea typeface="Microsoft YaHei"/>
              </a:rPr>
              <a:t>adverb</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profit was high in the box office.</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did well at the box office.</a:t>
            </a:r>
          </a:p>
          <a:p>
            <a:pPr algn="l">
              <a:spcAft>
                <a:spcPts val="200"/>
              </a:spcAft>
            </a:pPr>
            <a:r>
              <a:rPr sz="1200" b="0">
                <a:solidFill>
                  <a:srgbClr val="FFFFFF"/>
                </a:solidFill>
                <a:latin typeface="Arial"/>
                <a:ea typeface="Microsoft YaHei"/>
              </a:rPr>
              <a:t>at</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-ed / -ing adjectives, do well, and uncountable money.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Age ratings: </a:t>
            </a:r>
            <a:r>
              <a:rPr sz="1700" b="0">
                <a:solidFill>
                  <a:srgbClr val="1F2A44"/>
                </a:solidFill>
                <a:latin typeface="Arial"/>
                <a:ea typeface="Microsoft YaHei"/>
              </a:rPr>
              <a:t>Content is classified differently by country. Be careful with content for minors.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Cultural fears: </a:t>
            </a:r>
            <a:r>
              <a:rPr sz="1700" b="0">
                <a:solidFill>
                  <a:srgbClr val="1F2A44"/>
                </a:solidFill>
                <a:latin typeface="Arial"/>
                <a:ea typeface="Microsoft YaHei"/>
              </a:rPr>
              <a:t>What frightens people varies by culture, so adaptation matters.</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Taste: </a:t>
            </a:r>
            <a:r>
              <a:rPr sz="1700" b="0">
                <a:solidFill>
                  <a:srgbClr val="1F2A44"/>
                </a:solidFill>
                <a:latin typeface="Arial"/>
                <a:ea typeface="Microsoft YaHei"/>
              </a:rPr>
              <a:t>Avoid assuming everyone enjoys violent content; consider audience sensitivity.</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frightening(令人害怕的)/ frightened(感到害怕的);do well;money 不可数。商业角度分析时看成本、观众、风险与回报。</a:t>
            </a:r>
          </a:p>
        </p:txBody>
      </p:sp>
    </p:spTree>
  </p:cSld>
  <p:clrMapOvr>
    <a:masterClrMapping/>
  </p:clrMapOvr>
  <p:transition spd="med">
    <p:fade/>
  </p:transition>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why a genre can be profitable.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risks and audiences.</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-ed / -ing adjectives correctly.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do well and uncountable money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88 The Horror Business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-ed / -ing adjectives, do well, and collective nouns.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9 · Lesson 89 The Business of Gaming</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Business of Gaming</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游戏行业</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the games industry as a business: revenue models, platforms, marketing, communities, competition and trends.</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play video games? What kind?</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game companies make money?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some games become hugely popular?</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are the concerns about gaming?</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might the industry change in the next few years?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1F2A44"/>
                </a:solidFill>
                <a:latin typeface="Arial"/>
                <a:ea typeface="Microsoft YaHei"/>
              </a:rPr>
              <a:t>💡 free-to-play = 免费游玩;in-app purchase = 应用内购买;subscription = 订阅;monetise = 变现。第 2 题是重点:商业模式。</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how a game company makes money and what challenges it faces.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revenue models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audience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competition</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challenges</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main revenue models are…   💬 Players can…   💬 The industry faces challenges such as…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such as 举例。revenue model = 收入模式。 faces challenges 表示面临。</a:t>
            </a:r>
          </a:p>
        </p:txBody>
      </p:sp>
    </p:spTree>
  </p:cSld>
  <p:clrMapOvr>
    <a:masterClrMapping/>
  </p:clrMapOvr>
  <p:transition spd="med">
    <p:fade/>
  </p:transition>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Play as a Business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125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The games industry is large and competitive. Companies earn money in several ways: selling games at a fixed price, offering free-to-play titles with optional purchases, charging subscriptions or earning from advertising. Online communities are crucial, because active players recommend games, create content and stay loyal. Development can be expensive and risky; teams may work for years on a title that does not find an audience. Marketing, therefore, often starts early, with trailers, demos and conversations with players. Competition is intense, as thousands of new games appear each year, and keeping players engaged requires updates and events. Critics raise concerns about excessive spending, addictive design and working conditions in studios. Many companies are now trying to be more transparent, protect younger players and treat staff fairly.</a:t>
            </a:r>
          </a:p>
        </p:txBody>
      </p:sp>
    </p:spTree>
  </p:cSld>
  <p:clrMapOvr>
    <a:masterClrMapping/>
  </p:clrMapOvr>
  <p:transition spd="med">
    <p:fade/>
  </p:transition>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How do game companies earn money?</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Fixed-price sales, free-to-play with optional purchases, subscriptions and advertising.</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are online communities important?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Active players recommend games, create content and stay loyal.</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concerns are raised?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Excessive spending, addictive design and working conditions in studios.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Games business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游戏商业</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free-to-play</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免费游玩的</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game is free-to-play.”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in-app purchase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应用内购买</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“In-app purchases make up most revenue.”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subscription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订阅</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monthly subscription gives access.”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player base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玩家群体</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player base is growing.”</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publisher / developer</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发行商 / 开发商</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developer works with a publisher.”</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monetise</a:t>
            </a:r>
          </a:p>
          <a:p>
            <a:pPr algn="l">
              <a:lnSpc>
                <a:spcPct val="115000"/>
              </a:lnSpc>
              <a:spcAft>
                <a:spcPts val="800"/>
              </a:spcAft>
            </a:pPr>
            <a:r>
              <a:rPr sz="1300" b="0">
                <a:solidFill>
                  <a:srgbClr val="5F677A"/>
                </a:solidFill>
                <a:latin typeface="Arial"/>
                <a:ea typeface="Microsoft YaHei"/>
              </a:rPr>
              <a:t>verb</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变现</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“How do you monetise a free game?”</a:t>
            </a:r>
          </a:p>
        </p:txBody>
      </p:sp>
    </p:spTree>
  </p:cSld>
  <p:clrMapOvr>
    <a:masterClrMapping/>
  </p:clrMapOvr>
  <p:transition spd="med">
    <p:fade/>
  </p:transition>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Players and markets ★</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玩家与市场</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engagement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用户粘性</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“Engagement is key.”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retention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留存</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“Player retention drives revenue.”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go viral</a:t>
            </a:r>
          </a:p>
          <a:p>
            <a:pPr algn="l">
              <a:lnSpc>
                <a:spcPct val="115000"/>
              </a:lnSpc>
              <a:spcAft>
                <a:spcPts val="800"/>
              </a:spcAft>
            </a:pPr>
            <a:r>
              <a:rPr sz="1300" b="0">
                <a:solidFill>
                  <a:srgbClr val="5F677A"/>
                </a:solidFill>
                <a:latin typeface="Arial"/>
                <a:ea typeface="Microsoft YaHei"/>
              </a:rPr>
              <a:t>verb phrase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迅速走红</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trailer went viral.”</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cross-platform</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跨平台的</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cross-platform game.”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crunch</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赶工(加班)</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“Studios face crunch before launch.”</a:t>
            </a:r>
          </a:p>
        </p:txBody>
      </p:sp>
      <p:sp>
        <p:nvSpPr>
          <p:cNvPr id="34" name="Rounded Rectangle 33"/>
          <p:cNvSpPr/>
          <p:nvPr/>
        </p:nvSpPr>
        <p:spPr>
          <a:xfrm>
            <a:off x="548640" y="49352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493522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98094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live service</a:t>
            </a:r>
          </a:p>
          <a:p>
            <a:pPr algn="l">
              <a:lnSpc>
                <a:spcPct val="115000"/>
              </a:lnSpc>
              <a:spcAft>
                <a:spcPts val="800"/>
              </a:spcAft>
            </a:pPr>
            <a:r>
              <a:rPr sz="1300" b="0">
                <a:solidFill>
                  <a:srgbClr val="5F677A"/>
                </a:solidFill>
                <a:latin typeface="Arial"/>
                <a:ea typeface="Microsoft YaHei"/>
              </a:rPr>
              <a:t>noun phrase</a:t>
            </a:r>
          </a:p>
        </p:txBody>
      </p:sp>
      <p:sp>
        <p:nvSpPr>
          <p:cNvPr id="37" name="TextBox 36"/>
          <p:cNvSpPr txBox="1"/>
          <p:nvPr/>
        </p:nvSpPr>
        <p:spPr>
          <a:xfrm>
            <a:off x="4206240" y="49809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持续运营服务型游戏</a:t>
            </a:r>
          </a:p>
        </p:txBody>
      </p:sp>
      <p:sp>
        <p:nvSpPr>
          <p:cNvPr id="38" name="TextBox 37"/>
          <p:cNvSpPr txBox="1"/>
          <p:nvPr/>
        </p:nvSpPr>
        <p:spPr>
          <a:xfrm>
            <a:off x="6675120" y="49809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live service game with regular updates.”</a:t>
            </a:r>
          </a:p>
        </p:txBody>
      </p:sp>
    </p:spTree>
  </p:cSld>
  <p:clrMapOvr>
    <a:masterClrMapping/>
  </p:clrMapOvr>
  <p:transition spd="med">
    <p:fade/>
  </p:transition>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免费游玩的</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free-to-play</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订阅</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subscription</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应用内购买</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in-app purchase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持续运营服务型游戏</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live service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发行商 / 开发商</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publisher / developer</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变现</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monetise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跨平台的</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cross-platform</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留存</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retention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682495"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free-to-play</a:t>
            </a:r>
          </a:p>
        </p:txBody>
      </p:sp>
      <p:sp>
        <p:nvSpPr>
          <p:cNvPr id="10" name="Rounded Rectangle 9"/>
          <p:cNvSpPr/>
          <p:nvPr/>
        </p:nvSpPr>
        <p:spPr>
          <a:xfrm>
            <a:off x="3785615" y="987552"/>
            <a:ext cx="2011679"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in-app purchase</a:t>
            </a:r>
          </a:p>
        </p:txBody>
      </p:sp>
      <p:sp>
        <p:nvSpPr>
          <p:cNvPr id="11" name="Rounded Rectangle 10"/>
          <p:cNvSpPr/>
          <p:nvPr/>
        </p:nvSpPr>
        <p:spPr>
          <a:xfrm>
            <a:off x="5888734" y="987552"/>
            <a:ext cx="1682495"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subscription</a:t>
            </a:r>
          </a:p>
        </p:txBody>
      </p:sp>
      <p:sp>
        <p:nvSpPr>
          <p:cNvPr id="12" name="Rounded Rectangle 11"/>
          <p:cNvSpPr/>
          <p:nvPr/>
        </p:nvSpPr>
        <p:spPr>
          <a:xfrm>
            <a:off x="7662669" y="987552"/>
            <a:ext cx="1572767"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player base</a:t>
            </a:r>
          </a:p>
        </p:txBody>
      </p:sp>
      <p:sp>
        <p:nvSpPr>
          <p:cNvPr id="13" name="Rounded Rectangle 12"/>
          <p:cNvSpPr/>
          <p:nvPr/>
        </p:nvSpPr>
        <p:spPr>
          <a:xfrm>
            <a:off x="9326876" y="987552"/>
            <a:ext cx="1243584"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monetise</a:t>
            </a:r>
          </a:p>
        </p:txBody>
      </p:sp>
      <p:sp>
        <p:nvSpPr>
          <p:cNvPr id="14" name="Rounded Rectangle 13"/>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Many mobile games are _______ but earn money from extras.</a:t>
            </a:r>
          </a:p>
        </p:txBody>
      </p:sp>
      <p:sp>
        <p:nvSpPr>
          <p:cNvPr id="16" name="Rounded Rectangle 15"/>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free-to-play</a:t>
            </a:r>
          </a:p>
        </p:txBody>
      </p:sp>
      <p:sp>
        <p:nvSpPr>
          <p:cNvPr id="17" name="Rounded Rectangle 16"/>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A skin costs £2 as an _______.</a:t>
            </a:r>
          </a:p>
        </p:txBody>
      </p:sp>
      <p:sp>
        <p:nvSpPr>
          <p:cNvPr id="19" name="Rounded Rectangle 18"/>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in-app purchase</a:t>
            </a:r>
          </a:p>
        </p:txBody>
      </p:sp>
      <p:sp>
        <p:nvSpPr>
          <p:cNvPr id="20" name="Rounded Rectangle 19"/>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A monthly _______ gives access to many games.</a:t>
            </a:r>
          </a:p>
        </p:txBody>
      </p:sp>
      <p:sp>
        <p:nvSpPr>
          <p:cNvPr id="22" name="Rounded Rectangle 21"/>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subscription</a:t>
            </a:r>
          </a:p>
        </p:txBody>
      </p:sp>
      <p:sp>
        <p:nvSpPr>
          <p:cNvPr id="23" name="Rounded Rectangle 22"/>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The game has built a loyal _______ over five years.</a:t>
            </a:r>
          </a:p>
        </p:txBody>
      </p:sp>
      <p:sp>
        <p:nvSpPr>
          <p:cNvPr id="25" name="Rounded Rectangle 24"/>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player base</a:t>
            </a:r>
          </a:p>
        </p:txBody>
      </p:sp>
      <p:sp>
        <p:nvSpPr>
          <p:cNvPr id="26" name="Rounded Rectangle 25"/>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It’s hard to _______ a game without annoying players.</a:t>
            </a:r>
          </a:p>
        </p:txBody>
      </p:sp>
      <p:sp>
        <p:nvSpPr>
          <p:cNvPr id="28" name="Rounded Rectangle 27"/>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monetise</a:t>
            </a:r>
          </a:p>
        </p:txBody>
      </p:sp>
      <p:sp>
        <p:nvSpPr>
          <p:cNvPr id="29" name="Rounded Rectangle 28"/>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Good updates improve player _______.</a:t>
            </a:r>
          </a:p>
        </p:txBody>
      </p:sp>
      <p:sp>
        <p:nvSpPr>
          <p:cNvPr id="31" name="Rounded Rectangle 30"/>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retention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拼写与搭配): gaming (the activity), video game, developer (not “developper”), subscription. Play a game, a computer game. Release / launch a game, update, patch. Players (not “gamers” in all contexts). Publisher / studio. Revenue from, spend on. Monetise (UK) / monetize (US).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6"/>
                                        </p:tgtEl>
                                        <p:attrNameLst>
                                          <p:attrName>style.visibility</p:attrName>
                                        </p:attrNameLst>
                                      </p:cBhvr>
                                      <p:to>
                                        <p:strVal val="visible"/>
                                      </p:to>
                                    </p:set>
                                    <p:animEffect transition="in" filter="fade">
                                      <p:cBhvr>
                                        <p:cTn id="4" dur="4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9"/>
                                        </p:tgtEl>
                                        <p:attrNameLst>
                                          <p:attrName>style.visibility</p:attrName>
                                        </p:attrNameLst>
                                      </p:cBhvr>
                                      <p:to>
                                        <p:strVal val="visible"/>
                                      </p:to>
                                    </p:set>
                                    <p:animEffect transition="in" filter="fade">
                                      <p:cBhvr>
                                        <p:cTn id="9" dur="400"/>
                                        <p:tgtEl>
                                          <p:spTgt spid="19"/>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2"/>
                                        </p:tgtEl>
                                        <p:attrNameLst>
                                          <p:attrName>style.visibility</p:attrName>
                                        </p:attrNameLst>
                                      </p:cBhvr>
                                      <p:to>
                                        <p:strVal val="visible"/>
                                      </p:to>
                                    </p:set>
                                    <p:animEffect transition="in" filter="fade">
                                      <p:cBhvr>
                                        <p:cTn id="14" dur="4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8"/>
                                        </p:tgtEl>
                                        <p:attrNameLst>
                                          <p:attrName>style.visibility</p:attrName>
                                        </p:attrNameLst>
                                      </p:cBhvr>
                                      <p:to>
                                        <p:strVal val="visible"/>
                                      </p:to>
                                    </p:set>
                                    <p:animEffect transition="in" filter="fade">
                                      <p:cBhvr>
                                        <p:cTn id="24" dur="400"/>
                                        <p:tgtEl>
                                          <p:spTgt spid="28"/>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Role Play · Explaining a game’s business model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讲解游戏的商业模式</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explain to a new investor how your mobile game earns money.</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Ray Xie, game studio founder (you)</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Ms Carr, investor</a:t>
            </a:r>
          </a:p>
        </p:txBody>
      </p:sp>
    </p:spTree>
  </p:cSld>
  <p:clrMapOvr>
    <a:masterClrMapping/>
  </p:clrMapOvr>
  <p:transition spd="med">
    <p:fade/>
  </p:transition>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a game’s business model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Ray</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Ms Carr, thanks for meeting. I’d like to explain how our game makes money.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Ms Carr</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Please. Is it paid or free?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free-to-play. Players can download it for free and buy optional items.</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percentage of players spend money?</a:t>
            </a:r>
          </a:p>
        </p:txBody>
      </p:sp>
      <p:sp>
        <p:nvSpPr>
          <p:cNvPr id="20" name="Rounded Rectangle 19"/>
          <p:cNvSpPr/>
          <p:nvPr/>
        </p:nvSpPr>
        <p:spPr>
          <a:xfrm>
            <a:off x="548640" y="423367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423367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 small percentage, but they account for most of the revenue.</a:t>
            </a:r>
          </a:p>
        </p:txBody>
      </p:sp>
    </p:spTree>
  </p:cSld>
  <p:clrMapOvr>
    <a:masterClrMapping/>
  </p:clrMapOvr>
  <p:transition spd="med">
    <p:fade/>
  </p:transition>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a game’s business model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10911535" y="132588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9" name="TextBox 8"/>
          <p:cNvSpPr txBox="1"/>
          <p:nvPr/>
        </p:nvSpPr>
        <p:spPr>
          <a:xfrm>
            <a:off x="10637215"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2133295" y="132588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risky.</a:t>
            </a:r>
          </a:p>
        </p:txBody>
      </p:sp>
      <p:sp>
        <p:nvSpPr>
          <p:cNvPr id="11" name="Rounded Rectangle 10"/>
          <p:cNvSpPr/>
          <p:nvPr/>
        </p:nvSpPr>
        <p:spPr>
          <a:xfrm>
            <a:off x="548640" y="190804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2" name="TextBox 11"/>
          <p:cNvSpPr txBox="1"/>
          <p:nvPr/>
        </p:nvSpPr>
        <p:spPr>
          <a:xfrm>
            <a:off x="274320"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1463040" y="1908048"/>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is, so retention is crucial. We release regular updates and events to keep players engaged.</a:t>
            </a:r>
          </a:p>
        </p:txBody>
      </p:sp>
      <p:sp>
        <p:nvSpPr>
          <p:cNvPr id="14" name="Rounded Rectangle 13"/>
          <p:cNvSpPr/>
          <p:nvPr/>
        </p:nvSpPr>
        <p:spPr>
          <a:xfrm>
            <a:off x="10911535" y="277977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5" name="TextBox 14"/>
          <p:cNvSpPr txBox="1"/>
          <p:nvPr/>
        </p:nvSpPr>
        <p:spPr>
          <a:xfrm>
            <a:off x="10637215"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2133295" y="277977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about competition?</a:t>
            </a:r>
          </a:p>
        </p:txBody>
      </p:sp>
      <p:sp>
        <p:nvSpPr>
          <p:cNvPr id="17" name="Rounded Rectangle 16"/>
          <p:cNvSpPr/>
          <p:nvPr/>
        </p:nvSpPr>
        <p:spPr>
          <a:xfrm>
            <a:off x="548640" y="3361944"/>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8" name="TextBox 17"/>
          <p:cNvSpPr txBox="1"/>
          <p:nvPr/>
        </p:nvSpPr>
        <p:spPr>
          <a:xfrm>
            <a:off x="274320"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1463040" y="3361944"/>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intense. Thousands of games appear each year, so we focus on a niche community and word of mouth.</a:t>
            </a:r>
          </a:p>
        </p:txBody>
      </p:sp>
      <p:sp>
        <p:nvSpPr>
          <p:cNvPr id="20" name="Rounded Rectangle 19"/>
          <p:cNvSpPr/>
          <p:nvPr/>
        </p:nvSpPr>
        <p:spPr>
          <a:xfrm>
            <a:off x="10911535" y="4233672"/>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1" name="TextBox 20"/>
          <p:cNvSpPr txBox="1"/>
          <p:nvPr/>
        </p:nvSpPr>
        <p:spPr>
          <a:xfrm>
            <a:off x="10637215" y="467258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2133295" y="4233672"/>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are the main challenges?</a:t>
            </a:r>
          </a:p>
        </p:txBody>
      </p:sp>
    </p:spTree>
  </p:cSld>
  <p:clrMapOvr>
    <a:masterClrMapping/>
  </p:clrMapOvr>
  <p:transition spd="med">
    <p:fade/>
  </p:transition>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a game’s business model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3/3</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Keeping costs under control and treating players fairly. We avoid pressuring them to spend.</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And how will you use the funding?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Mostly marketing and a new development team.</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Send me the numbers, and we’ll talk again.</a:t>
            </a:r>
          </a:p>
        </p:txBody>
      </p:sp>
    </p:spTree>
  </p:cSld>
  <p:clrMapOvr>
    <a:masterClrMapping/>
  </p:clrMapOvr>
  <p:transition spd="med">
    <p:fade/>
  </p:transition>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400" b="1">
                <a:solidFill>
                  <a:srgbClr val="1F2A44"/>
                </a:solidFill>
                <a:latin typeface="Arial"/>
                <a:ea typeface="Microsoft YaHei"/>
              </a:rPr>
              <a:t>🎯 Your Turn · Explaining a game’s business model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a game business model.</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Founder. Game: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Investor. Ask about revenue, risk and competition.</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(4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revenue model · free-to-play · retention · engagement · challenges · fairly</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income sources and one challenge.</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Ms Carr asks: “Is the model ethical?” Respond.</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Describe your favourite game’s business model.</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ways to keep players engaged without pressure.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gaming a good business to be in?</a:t>
            </a:r>
          </a:p>
          <a:p>
            <a:pPr algn="l">
              <a:lnSpc>
                <a:spcPct val="115000"/>
              </a:lnSpc>
              <a:spcAft>
                <a:spcPts val="800"/>
              </a:spcAft>
            </a:pPr>
            <a:r>
              <a:rPr sz="1400" b="0">
                <a:solidFill>
                  <a:srgbClr val="5F677A"/>
                </a:solidFill>
                <a:latin typeface="Arial"/>
                <a:ea typeface="Microsoft YaHei"/>
              </a:rPr>
              <a:t>💬 “It can be… but it’s also risky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should game companies treat young players?</a:t>
            </a:r>
          </a:p>
          <a:p>
            <a:pPr algn="l">
              <a:lnSpc>
                <a:spcPct val="115000"/>
              </a:lnSpc>
              <a:spcAft>
                <a:spcPts val="800"/>
              </a:spcAft>
            </a:pPr>
            <a:r>
              <a:rPr sz="1400" b="0">
                <a:solidFill>
                  <a:srgbClr val="5F677A"/>
                </a:solidFill>
                <a:latin typeface="Arial"/>
                <a:ea typeface="Microsoft YaHei"/>
              </a:rPr>
              <a:t>💬 “They should protect… by…”</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makes a game succeed commercially?</a:t>
            </a:r>
          </a:p>
          <a:p>
            <a:pPr algn="l">
              <a:lnSpc>
                <a:spcPct val="115000"/>
              </a:lnSpc>
              <a:spcAft>
                <a:spcPts val="800"/>
              </a:spcAft>
            </a:pPr>
            <a:r>
              <a:rPr sz="1400" b="0">
                <a:solidFill>
                  <a:srgbClr val="5F677A"/>
                </a:solidFill>
                <a:latin typeface="Arial"/>
                <a:ea typeface="Microsoft YaHei"/>
              </a:rPr>
              <a:t>💬 “A strong community, quality and…”</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Will gaming keep growing?</a:t>
            </a:r>
          </a:p>
          <a:p>
            <a:pPr algn="l">
              <a:lnSpc>
                <a:spcPct val="115000"/>
              </a:lnSpc>
              <a:spcAft>
                <a:spcPts val="800"/>
              </a:spcAft>
            </a:pPr>
            <a:r>
              <a:rPr sz="1400" b="0">
                <a:solidFill>
                  <a:srgbClr val="5F677A"/>
                </a:solidFill>
                <a:latin typeface="Arial"/>
                <a:ea typeface="Microsoft YaHei"/>
              </a:rPr>
              <a:t>💬 “It will probably… but competition…”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Game companies have a duty to protect younger players, who may not understand the cost of in-game purchases. That means clear pricing, spending limits, age checks and avoiding design tricks that pressure children to spend. Parents also have a role, but companies should not rely on that alone. Being responsible is not just ethical; it also protects the company’s reputation and avoids stricter regulation.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duty = 义务。age checks = 年龄验证。”design tricks” = 设计技巧(诱导)。regulation = 监管。</a:t>
            </a:r>
          </a:p>
        </p:txBody>
      </p:sp>
    </p:spTree>
  </p:cSld>
  <p:clrMapOvr>
    <a:masterClrMapping/>
  </p:clrMapOvr>
  <p:transition spd="med">
    <p:fade/>
  </p:transition>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Register ladder: everyday → more professional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语体对比</a:t>
            </a:r>
          </a:p>
        </p:txBody>
      </p:sp>
      <p:graphicFrame>
        <p:nvGraphicFramePr>
          <p:cNvPr id="9" name="Table 8"/>
          <p:cNvGraphicFramePr>
            <a:graphicFrameLocks noGrp="1"/>
          </p:cNvGraphicFramePr>
          <p:nvPr/>
        </p:nvGraphicFramePr>
        <p:xfrm>
          <a:off x="548640" y="1417320"/>
          <a:ext cx="11094415" cy="3182112"/>
        </p:xfrm>
        <a:graphic>
          <a:graphicData uri="http://schemas.openxmlformats.org/drawingml/2006/table">
            <a:tbl>
              <a:tblPr firstRow="1" bandRow="1">
                <a:tableStyleId>{5C22544A-7EE6-4342-B048-85BDC9FD1C3A}</a:tableStyleId>
              </a:tblPr>
              <a:tblGrid>
                <a:gridCol w="3698138"/>
                <a:gridCol w="3698138"/>
                <a:gridCol w="3698139"/>
              </a:tblGrid>
              <a:tr h="408432">
                <a:tc>
                  <a:txBody>
                    <a:bodyPr wrap="square"/>
                    <a:lstStyle/>
                    <a:p>
                      <a:r>
                        <a:rPr sz="1600" b="1">
                          <a:solidFill>
                            <a:srgbClr val="FFFFFF"/>
                          </a:solidFill>
                          <a:latin typeface="Arial"/>
                          <a:ea typeface="Microsoft YaHei"/>
                        </a:rPr>
                        <a:t>Everyday / neutral</a:t>
                      </a:r>
                    </a:p>
                  </a:txBody>
                  <a:tcPr anchor="ctr">
                    <a:solidFill>
                      <a:srgbClr val="3CC49A"/>
                    </a:solidFill>
                  </a:tcPr>
                </a:tc>
                <a:tc>
                  <a:txBody>
                    <a:bodyPr wrap="square"/>
                    <a:lstStyle/>
                    <a:p>
                      <a:r>
                        <a:rPr sz="1600" b="1">
                          <a:solidFill>
                            <a:srgbClr val="FFFFFF"/>
                          </a:solidFill>
                          <a:latin typeface="Arial"/>
                          <a:ea typeface="Microsoft YaHei"/>
                        </a:rPr>
                        <a:t>More professional (B2)</a:t>
                      </a:r>
                    </a:p>
                  </a:txBody>
                  <a:tcPr anchor="ctr">
                    <a:solidFill>
                      <a:srgbClr val="3CC49A"/>
                    </a:solidFill>
                  </a:tcPr>
                </a:tc>
                <a:tc>
                  <a:txBody>
                    <a:bodyPr wrap="square"/>
                    <a:lstStyle/>
                    <a:p>
                      <a:r>
                        <a:rPr sz="1600" b="1">
                          <a:solidFill>
                            <a:srgbClr val="FFFFFF"/>
                          </a:solidFill>
                          <a:latin typeface="Arial"/>
                          <a:ea typeface="Microsoft YaHei"/>
                        </a:rPr>
                        <a:t>中文</a:t>
                      </a:r>
                    </a:p>
                  </a:txBody>
                  <a:tcPr anchor="ctr">
                    <a:solidFill>
                      <a:srgbClr val="3CC49A"/>
                    </a:solidFill>
                  </a:tcPr>
                </a:tc>
              </a:tr>
              <a:tr h="408432">
                <a:tc>
                  <a:txBody>
                    <a:bodyPr wrap="square"/>
                    <a:lstStyle/>
                    <a:p>
                      <a:r>
                        <a:rPr sz="1600" b="1">
                          <a:solidFill>
                            <a:srgbClr val="1F2A44"/>
                          </a:solidFill>
                          <a:latin typeface="Arial"/>
                          <a:ea typeface="Microsoft YaHei"/>
                        </a:rPr>
                        <a:t>Game is free.</a:t>
                      </a:r>
                    </a:p>
                  </a:txBody>
                  <a:tcPr anchor="ctr">
                    <a:solidFill>
                      <a:srgbClr val="FFFFFF"/>
                    </a:solidFill>
                  </a:tcPr>
                </a:tc>
                <a:tc>
                  <a:txBody>
                    <a:bodyPr wrap="square"/>
                    <a:lstStyle/>
                    <a:p>
                      <a:r>
                        <a:rPr sz="1600" b="0">
                          <a:solidFill>
                            <a:srgbClr val="1F2A44"/>
                          </a:solidFill>
                          <a:latin typeface="Arial"/>
                          <a:ea typeface="Microsoft YaHei"/>
                        </a:rPr>
                        <a:t>The game is free to download.</a:t>
                      </a:r>
                    </a:p>
                  </a:txBody>
                  <a:tcPr anchor="ctr">
                    <a:solidFill>
                      <a:srgbClr val="FFFFFF"/>
                    </a:solidFill>
                  </a:tcPr>
                </a:tc>
                <a:tc>
                  <a:txBody>
                    <a:bodyPr wrap="square"/>
                    <a:lstStyle/>
                    <a:p>
                      <a:r>
                        <a:rPr sz="1600" b="0">
                          <a:solidFill>
                            <a:srgbClr val="FF6B5B"/>
                          </a:solidFill>
                          <a:latin typeface="Arial"/>
                          <a:ea typeface="Microsoft YaHei"/>
                        </a:rPr>
                        <a:t>完整</a:t>
                      </a:r>
                    </a:p>
                  </a:txBody>
                  <a:tcPr anchor="ctr">
                    <a:solidFill>
                      <a:srgbClr val="FFFFFF"/>
                    </a:solidFill>
                  </a:tcPr>
                </a:tc>
              </a:tr>
              <a:tr h="408432">
                <a:tc>
                  <a:txBody>
                    <a:bodyPr wrap="square"/>
                    <a:lstStyle/>
                    <a:p>
                      <a:r>
                        <a:rPr sz="1600" b="1">
                          <a:solidFill>
                            <a:srgbClr val="1F2A44"/>
                          </a:solidFill>
                          <a:latin typeface="Arial"/>
                          <a:ea typeface="Microsoft YaHei"/>
                        </a:rPr>
                        <a:t>People pay for items.</a:t>
                      </a:r>
                    </a:p>
                  </a:txBody>
                  <a:tcPr anchor="ctr">
                    <a:solidFill>
                      <a:srgbClr val="FFEFD9"/>
                    </a:solidFill>
                  </a:tcPr>
                </a:tc>
                <a:tc>
                  <a:txBody>
                    <a:bodyPr wrap="square"/>
                    <a:lstStyle/>
                    <a:p>
                      <a:r>
                        <a:rPr sz="1600" b="0">
                          <a:solidFill>
                            <a:srgbClr val="1F2A44"/>
                          </a:solidFill>
                          <a:latin typeface="Arial"/>
                          <a:ea typeface="Microsoft YaHei"/>
                        </a:rPr>
                        <a:t>Players can buy optional items.</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652272">
                <a:tc>
                  <a:txBody>
                    <a:bodyPr wrap="square"/>
                    <a:lstStyle/>
                    <a:p>
                      <a:r>
                        <a:rPr sz="1600" b="1">
                          <a:solidFill>
                            <a:srgbClr val="1F2A44"/>
                          </a:solidFill>
                          <a:latin typeface="Arial"/>
                          <a:ea typeface="Microsoft YaHei"/>
                        </a:rPr>
                        <a:t>It’s popular.</a:t>
                      </a:r>
                    </a:p>
                  </a:txBody>
                  <a:tcPr anchor="ctr">
                    <a:solidFill>
                      <a:srgbClr val="FFFFFF"/>
                    </a:solidFill>
                  </a:tcPr>
                </a:tc>
                <a:tc>
                  <a:txBody>
                    <a:bodyPr wrap="square"/>
                    <a:lstStyle/>
                    <a:p>
                      <a:r>
                        <a:rPr sz="1600" b="0">
                          <a:solidFill>
                            <a:srgbClr val="1F2A44"/>
                          </a:solidFill>
                          <a:latin typeface="Arial"/>
                          <a:ea typeface="Microsoft YaHei"/>
                        </a:rPr>
                        <a:t>It has a large and active player base.</a:t>
                      </a:r>
                    </a:p>
                  </a:txBody>
                  <a:tcPr anchor="ctr">
                    <a:solidFill>
                      <a:srgbClr val="FFFFFF"/>
                    </a:solidFill>
                  </a:tcPr>
                </a:tc>
                <a:tc>
                  <a:txBody>
                    <a:bodyPr wrap="square"/>
                    <a:lstStyle/>
                    <a:p>
                      <a:r>
                        <a:rPr sz="1600" b="0">
                          <a:solidFill>
                            <a:srgbClr val="FF6B5B"/>
                          </a:solidFill>
                          <a:latin typeface="Arial"/>
                          <a:ea typeface="Microsoft YaHei"/>
                        </a:rPr>
                        <a:t>具体</a:t>
                      </a:r>
                    </a:p>
                  </a:txBody>
                  <a:tcPr anchor="ctr">
                    <a:solidFill>
                      <a:srgbClr val="FFFFFF"/>
                    </a:solidFill>
                  </a:tcPr>
                </a:tc>
              </a:tr>
              <a:tr h="652272">
                <a:tc>
                  <a:txBody>
                    <a:bodyPr wrap="square"/>
                    <a:lstStyle/>
                    <a:p>
                      <a:r>
                        <a:rPr sz="1600" b="1">
                          <a:solidFill>
                            <a:srgbClr val="1F2A44"/>
                          </a:solidFill>
                          <a:latin typeface="Arial"/>
                          <a:ea typeface="Microsoft YaHei"/>
                        </a:rPr>
                        <a:t>Game makers earn.</a:t>
                      </a:r>
                    </a:p>
                  </a:txBody>
                  <a:tcPr anchor="ctr">
                    <a:solidFill>
                      <a:srgbClr val="FFEFD9"/>
                    </a:solidFill>
                  </a:tcPr>
                </a:tc>
                <a:tc>
                  <a:txBody>
                    <a:bodyPr wrap="square"/>
                    <a:lstStyle/>
                    <a:p>
                      <a:r>
                        <a:rPr sz="1600" b="0">
                          <a:solidFill>
                            <a:srgbClr val="1F2A44"/>
                          </a:solidFill>
                          <a:latin typeface="Arial"/>
                          <a:ea typeface="Microsoft YaHei"/>
                        </a:rPr>
                        <a:t>Developers earn revenue through sales and in-app purchases.</a:t>
                      </a:r>
                    </a:p>
                  </a:txBody>
                  <a:tcPr anchor="ctr">
                    <a:solidFill>
                      <a:srgbClr val="FFEFD9"/>
                    </a:solidFill>
                  </a:tcPr>
                </a:tc>
                <a:tc>
                  <a:txBody>
                    <a:bodyPr wrap="square"/>
                    <a:lstStyle/>
                    <a:p>
                      <a:r>
                        <a:rPr sz="1600" b="0">
                          <a:solidFill>
                            <a:srgbClr val="FF6B5B"/>
                          </a:solidFill>
                          <a:latin typeface="Arial"/>
                          <a:ea typeface="Microsoft YaHei"/>
                        </a:rPr>
                        <a:t>具体</a:t>
                      </a:r>
                    </a:p>
                  </a:txBody>
                  <a:tcPr anchor="ctr">
                    <a:solidFill>
                      <a:srgbClr val="FFEFD9"/>
                    </a:solidFill>
                  </a:tcPr>
                </a:tc>
              </a:tr>
              <a:tr h="652272">
                <a:tc>
                  <a:txBody>
                    <a:bodyPr wrap="square"/>
                    <a:lstStyle/>
                    <a:p>
                      <a:r>
                        <a:rPr sz="1600" b="1">
                          <a:solidFill>
                            <a:srgbClr val="1F2A44"/>
                          </a:solidFill>
                          <a:latin typeface="Arial"/>
                          <a:ea typeface="Microsoft YaHei"/>
                        </a:rPr>
                        <a:t>The game is too hard to quit.</a:t>
                      </a:r>
                    </a:p>
                  </a:txBody>
                  <a:tcPr anchor="ctr">
                    <a:solidFill>
                      <a:srgbClr val="FFFFFF"/>
                    </a:solidFill>
                  </a:tcPr>
                </a:tc>
                <a:tc>
                  <a:txBody>
                    <a:bodyPr wrap="square"/>
                    <a:lstStyle/>
                    <a:p>
                      <a:r>
                        <a:rPr sz="1600" b="0">
                          <a:solidFill>
                            <a:srgbClr val="1F2A44"/>
                          </a:solidFill>
                          <a:latin typeface="Arial"/>
                          <a:ea typeface="Microsoft YaHei"/>
                        </a:rPr>
                        <a:t>The game is designed to keep players engaged.</a:t>
                      </a:r>
                    </a:p>
                  </a:txBody>
                  <a:tcPr anchor="ctr">
                    <a:solidFill>
                      <a:srgbClr val="FFFFFF"/>
                    </a:solidFill>
                  </a:tcPr>
                </a:tc>
                <a:tc>
                  <a:txBody>
                    <a:bodyPr wrap="square"/>
                    <a:lstStyle/>
                    <a:p>
                      <a:r>
                        <a:rPr sz="1600" b="0">
                          <a:solidFill>
                            <a:srgbClr val="FF6B5B"/>
                          </a:solidFill>
                          <a:latin typeface="Arial"/>
                          <a:ea typeface="Microsoft YaHei"/>
                        </a:rPr>
                        <a:t>中性</a:t>
                      </a:r>
                    </a:p>
                  </a:txBody>
                  <a:tcPr anchor="ctr">
                    <a:solidFill>
                      <a:srgbClr val="FFFFFF"/>
                    </a:solidFill>
                  </a:tcPr>
                </a:tc>
              </a:tr>
            </a:tbl>
          </a:graphicData>
        </a:graphic>
      </p:graphicFrame>
    </p:spTree>
  </p:cSld>
  <p:clrMapOvr>
    <a:masterClrMapping/>
  </p:clrMapOvr>
  <p:transition spd="med">
    <p:fade/>
  </p:transition>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Useful points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Explaining business models: </a:t>
            </a:r>
            <a:r>
              <a:rPr sz="1700" b="0">
                <a:solidFill>
                  <a:srgbClr val="1F2A44"/>
                </a:solidFill>
                <a:latin typeface="Arial"/>
                <a:ea typeface="Microsoft YaHei"/>
              </a:rPr>
              <a:t>We make money by -ing, Revenue comes from…, Players can…</a:t>
            </a:r>
          </a:p>
        </p:txBody>
      </p:sp>
      <p:sp>
        <p:nvSpPr>
          <p:cNvPr id="11" name="Rounded Rectangle 10"/>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Passive for features: </a:t>
            </a:r>
            <a:r>
              <a:rPr sz="1700" b="0">
                <a:solidFill>
                  <a:srgbClr val="1F2A44"/>
                </a:solidFill>
                <a:latin typeface="Arial"/>
                <a:ea typeface="Microsoft YaHei"/>
              </a:rPr>
              <a:t>“Updates are released monthly.”</a:t>
            </a:r>
          </a:p>
        </p:txBody>
      </p:sp>
      <p:sp>
        <p:nvSpPr>
          <p:cNvPr id="14" name="Rounded Rectangle 13"/>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Frequency and quantity: </a:t>
            </a:r>
            <a:r>
              <a:rPr sz="1700" b="0">
                <a:solidFill>
                  <a:srgbClr val="1F2A44"/>
                </a:solidFill>
                <a:latin typeface="Arial"/>
                <a:ea typeface="Microsoft YaHei"/>
              </a:rPr>
              <a:t>a small percentage, the majority, most, a minority.</a:t>
            </a:r>
          </a:p>
        </p:txBody>
      </p:sp>
      <p:sp>
        <p:nvSpPr>
          <p:cNvPr id="17" name="Rounded Rectangle 16"/>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3017517"/>
            <a:ext cx="10728655" cy="441959"/>
          </a:xfrm>
          <a:prstGeom prst="rect">
            <a:avLst/>
          </a:prstGeom>
          <a:noFill/>
        </p:spPr>
        <p:txBody>
          <a:bodyPr wrap="square" anchor="ctr">
            <a:spAutoFit/>
          </a:bodyPr>
          <a:lstStyle/>
          <a:p>
            <a:r>
              <a:rPr sz="1700" b="1">
                <a:solidFill>
                  <a:srgbClr val="FFC857"/>
                </a:solidFill>
                <a:latin typeface="Arial"/>
                <a:ea typeface="Microsoft YaHei"/>
              </a:rPr>
              <a:t>Responsibility: </a:t>
            </a:r>
            <a:r>
              <a:rPr sz="1700" b="0">
                <a:solidFill>
                  <a:srgbClr val="1F2A44"/>
                </a:solidFill>
                <a:latin typeface="Arial"/>
                <a:ea typeface="Microsoft YaHei"/>
              </a:rPr>
              <a:t>should, ought to, have a duty to, are required to.</a:t>
            </a:r>
          </a:p>
        </p:txBody>
      </p:sp>
    </p:spTree>
  </p:cSld>
  <p:clrMapOvr>
    <a:masterClrMapping/>
  </p:clrMapOvr>
  <p:transition spd="med">
    <p:fade/>
  </p:transition>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game is playing by millions.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game is played by millions.</a:t>
            </a:r>
          </a:p>
          <a:p>
            <a:pPr algn="l">
              <a:spcAft>
                <a:spcPts val="200"/>
              </a:spcAft>
            </a:pPr>
            <a:r>
              <a:rPr sz="1200" b="0">
                <a:solidFill>
                  <a:srgbClr val="FFFFFF"/>
                </a:solidFill>
                <a:latin typeface="Arial"/>
                <a:ea typeface="Microsoft YaHei"/>
              </a:rPr>
              <a:t>被动</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Gamers spends a lot.</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Gamers spend a lot.</a:t>
            </a:r>
          </a:p>
          <a:p>
            <a:pPr algn="l">
              <a:spcAft>
                <a:spcPts val="200"/>
              </a:spcAft>
            </a:pPr>
            <a:r>
              <a:rPr sz="1200" b="0">
                <a:solidFill>
                  <a:srgbClr val="FFFFFF"/>
                </a:solidFill>
                <a:latin typeface="Arial"/>
                <a:ea typeface="Microsoft YaHei"/>
              </a:rPr>
              <a:t>主谓一致</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like play games.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like playing games.</a:t>
            </a:r>
          </a:p>
          <a:p>
            <a:pPr algn="l">
              <a:spcAft>
                <a:spcPts val="200"/>
              </a:spcAft>
            </a:pPr>
            <a:r>
              <a:rPr sz="1200" b="0">
                <a:solidFill>
                  <a:srgbClr val="FFFFFF"/>
                </a:solidFill>
                <a:latin typeface="Arial"/>
                <a:ea typeface="Microsoft YaHei"/>
              </a:rPr>
              <a:t>like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A big percent of players pay.</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A large percentage of players pay.</a:t>
            </a:r>
          </a:p>
          <a:p>
            <a:pPr algn="l">
              <a:spcAft>
                <a:spcPts val="200"/>
              </a:spcAft>
            </a:pPr>
            <a:r>
              <a:rPr sz="1200" b="0">
                <a:solidFill>
                  <a:srgbClr val="FFFFFF"/>
                </a:solidFill>
                <a:latin typeface="Arial"/>
                <a:ea typeface="Microsoft YaHei"/>
              </a:rPr>
              <a:t>percentage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It’s free to play game.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It’s a free-to-play game.</a:t>
            </a:r>
          </a:p>
          <a:p>
            <a:pPr algn="l">
              <a:spcAft>
                <a:spcPts val="200"/>
              </a:spcAft>
            </a:pPr>
            <a:r>
              <a:rPr sz="1200" b="0">
                <a:solidFill>
                  <a:srgbClr val="FFFFFF"/>
                </a:solidFill>
                <a:latin typeface="Arial"/>
                <a:ea typeface="Microsoft YaHei"/>
              </a:rPr>
              <a:t>连字符</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company earns money from sell items.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company earns money from selling items.</a:t>
            </a:r>
          </a:p>
          <a:p>
            <a:pPr algn="l">
              <a:spcAft>
                <a:spcPts val="200"/>
              </a:spcAft>
            </a:pPr>
            <a:r>
              <a:rPr sz="1200" b="0">
                <a:solidFill>
                  <a:srgbClr val="FFFFFF"/>
                </a:solidFill>
                <a:latin typeface="Arial"/>
                <a:ea typeface="Microsoft YaHei"/>
              </a:rPr>
              <a:t>from + -ing</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passive forms, hyphenated compounds and from + -ing.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Regulation: </a:t>
            </a:r>
            <a:r>
              <a:rPr sz="1700" b="0">
                <a:solidFill>
                  <a:srgbClr val="1F2A44"/>
                </a:solidFill>
                <a:latin typeface="Arial"/>
                <a:ea typeface="Microsoft YaHei"/>
              </a:rPr>
              <a:t>Rules on loot boxes and children’s spending vary across countries.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1">
                <a:solidFill>
                  <a:srgbClr val="4A90E2"/>
                </a:solidFill>
                <a:latin typeface="Arial"/>
                <a:ea typeface="Microsoft YaHei"/>
              </a:rPr>
              <a:t>Language: </a:t>
            </a:r>
            <a:r>
              <a:rPr sz="1700" b="0">
                <a:solidFill>
                  <a:srgbClr val="1F2A44"/>
                </a:solidFill>
                <a:latin typeface="Arial"/>
                <a:ea typeface="Microsoft YaHei"/>
              </a:rPr>
              <a:t>“Gamer” culture has its own jargon; avoid assuming everyone knows it.</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1">
                <a:solidFill>
                  <a:srgbClr val="3CC49A"/>
                </a:solidFill>
                <a:latin typeface="Arial"/>
                <a:ea typeface="Microsoft YaHei"/>
              </a:rPr>
              <a:t>Ethics: </a:t>
            </a:r>
            <a:r>
              <a:rPr sz="1700" b="0">
                <a:solidFill>
                  <a:srgbClr val="1F2A44"/>
                </a:solidFill>
                <a:latin typeface="Arial"/>
                <a:ea typeface="Microsoft YaHei"/>
              </a:rPr>
              <a:t>Responsible design and clear pricing are becoming business priorities.</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300" b="1">
                <a:solidFill>
                  <a:srgbClr val="1F2A44"/>
                </a:solidFill>
                <a:latin typeface="Arial"/>
                <a:ea typeface="Microsoft YaHei"/>
              </a:rPr>
              <a:t>💡 free-to-play 作形容词连字符;from + -ing;percentage 才对(percent 是数字后的词)。讲商业模式要说明谁付钱、为什么付、如何持续。</a:t>
            </a:r>
          </a:p>
        </p:txBody>
      </p:sp>
    </p:spTree>
  </p:cSld>
  <p:clrMapOvr>
    <a:masterClrMapping/>
  </p:clrMapOvr>
  <p:transition spd="med">
    <p:fade/>
  </p:transition>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a game company’s business model.</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responsibility and regulation.</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passive voice and hyphenated compounds.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from + -ing and percentage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five of the 12 expressions (two of them ★) without looking, and I can avoid the mistakes in the table.</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 · Lesson 89 The Business of Gaming</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12 expressions aloud. Cover the English and say it from the Chinese. Start with the ★ items.</a:t>
            </a:r>
          </a:p>
        </p:txBody>
      </p:sp>
      <p:sp>
        <p:nvSpPr>
          <p:cNvPr id="10" name="Rounded Rectangle 9"/>
          <p:cNvSpPr/>
          <p:nvPr/>
        </p:nvSpPr>
        <p:spPr>
          <a:xfrm>
            <a:off x="548640" y="2112264"/>
            <a:ext cx="1554480" cy="71323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Reading / Listening focus with the text covered. Answer the 3 questions, then read and check.</a:t>
            </a:r>
          </a:p>
        </p:txBody>
      </p:sp>
      <p:sp>
        <p:nvSpPr>
          <p:cNvPr id="12" name="Rounded Rectangle 11"/>
          <p:cNvSpPr/>
          <p:nvPr/>
        </p:nvSpPr>
        <p:spPr>
          <a:xfrm>
            <a:off x="548640" y="2898648"/>
            <a:ext cx="1554480" cy="71323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4–7</a:t>
            </a:r>
          </a:p>
        </p:txBody>
      </p:sp>
      <p:sp>
        <p:nvSpPr>
          <p:cNvPr id="13" name="Rounded Rectangle 12"/>
          <p:cNvSpPr/>
          <p:nvPr/>
        </p:nvSpPr>
        <p:spPr>
          <a:xfrm>
            <a:off x="2240280" y="2898648"/>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(same rhythm and intonation), then play A with the blank role card. Record yourself.</a:t>
            </a:r>
          </a:p>
        </p:txBody>
      </p:sp>
      <p:sp>
        <p:nvSpPr>
          <p:cNvPr id="14" name="Rounded Rectangle 13"/>
          <p:cNvSpPr/>
          <p:nvPr/>
        </p:nvSpPr>
        <p:spPr>
          <a:xfrm>
            <a:off x="548640" y="368503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7–10</a:t>
            </a:r>
          </a:p>
        </p:txBody>
      </p:sp>
      <p:sp>
        <p:nvSpPr>
          <p:cNvPr id="15" name="Rounded Rectangle 14"/>
          <p:cNvSpPr/>
          <p:nvPr/>
        </p:nvSpPr>
        <p:spPr>
          <a:xfrm>
            <a:off x="2240280" y="368503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the recording. Check: passive voice, hyphenated compounds, and percentage. Write 3 corrections.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vocabulary + reading · Wed–Thu role play · Fri level-up variation + discussion answers · Weekend: record the 1-minute speaking prompt again and compare with Monday.</a:t>
            </a:r>
          </a:p>
        </p:txBody>
      </p:sp>
    </p:spTree>
  </p:cSld>
  <p:clrMapOvr>
    <a:masterClrMapping/>
  </p:clrMapOvr>
  <p:transition spd="med">
    <p:fade/>
  </p:transition>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25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255</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因……而旺盛</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thrive on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收支平衡</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break even</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257</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5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find a niche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They found a niche in pet food.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work ethic</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He has a strong work ethic.</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260</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6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261</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26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起步</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get off the ground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263</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We need to economy the cost.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We need to reduce costs.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9-10 · Unit 9</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“感到孤立”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feel isolated</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“稳妥选择”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 safe bet</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“客户”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client</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They changed time for money.</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They exchanged time for money.</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I have few money.</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 have little money.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9</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265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9-10 · Unit 9</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266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9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