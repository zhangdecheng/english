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Mid-to-Advanced Level 9-10</a:t>
            </a:r>
          </a:p>
          <a:p>
            <a:r>
              <a:t>Unit 3: Personal Effectiveness and Career Growth — Self-Study Workbook (Lessons 15–23)</a:t>
            </a:r>
          </a:p>
          <a:p/>
          <a:p>
            <a:r>
              <a:t>开场：简单介绍本单元的主题和要完成的 9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15 · The Career Ladder 职业阶梯</a:t>
            </a:r>
          </a:p>
          <a:p>
            <a:r>
              <a:t>Goal: talk about career paths, promotion, and how to climb (or step off) the career ladder, using the right vocabulary and a confident tone.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 will / be going to 谈未来:In five years, I’ll probably be… 第 3 题用现在完成时或过去式。climb the ladder = 晋升。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Present your career plan for the next five years.</a:t>
            </a:r>
          </a:p>
          <a:p>
            <a:r>
              <a:t>Say: where you are now → your next step → what you need to learn → where you want to be</a:t>
            </a:r>
          </a:p>
          <a:p>
            <a:r>
              <a:t>Useful starters: “In the short term, I’m aiming to…” / “To get there, I’ll need to…” / “Ideally, in five years I’d like to be…”</a:t>
            </a:r>
          </a:p>
          <a:p>
            <a:r>
              <a:t>aim to + 动词原形 / aim for + 名词。”Ideally” 是表达理想目标的副词,很适合 B2 说话。</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For decades, the career ladder was the standard image of professional success: you started at the bottom and moved up one rung at a time. Today many careers look more like a climbing frame. People move sideways to gain new skills, step back to start a different line of work, or take a project role that carries more influence than a title. A promotion still matters, but employers increasingly look at what you can do, not simply how long you have waited. If you want to progress, make your ambition visible. Ask your manager which skills you need for the next level, volunteer for stretch assignments and find a mentor who has done the job you want. Remember that progress is not always upward: a sideways move that teaches you something valuable can be the best step you take.</a:t>
            </a:r>
          </a:p>
          <a:p>
            <a:r>
              <a:t>rung = 梯级。climbing frame = 攀爬架(比喻多方向发展)。stretch assignment = 有挑战性的任务。”not simply…” 强调“不仅仅是…”。</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does the writer compare modern careers with a ladder?</a:t>
            </a:r>
          </a:p>
          <a:p>
            <a:r>
              <a:t>A: They look more like a climbing frame, with sideways and different moves.</a:t>
            </a:r>
          </a:p>
          <a:p>
            <a:r>
              <a:t>Q2. What do employers increasingly look at?</a:t>
            </a:r>
          </a:p>
          <a:p>
            <a:r>
              <a:t>A: What you can do, not simply how long you have waited.</a:t>
            </a:r>
          </a:p>
          <a:p>
            <a:r>
              <a:t>Q3. What advice is given to people who want to progress?</a:t>
            </a:r>
          </a:p>
          <a:p>
            <a:r>
              <a:t>A: Make your ambition visible: ask what skills you need, volunteer for stretch assignments and find a mentor.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Career paths 职业路径</a:t>
            </a:r>
          </a:p>
          <a:p>
            <a:r>
              <a:t>领读 → 学员跟读 → 请学员用表达造一个和自己工作相关的句子。</a:t>
            </a:r>
          </a:p>
          <a:p>
            <a:r>
              <a:t>promotion (noun) 晋升 — “She got a promotion after only two years.”</a:t>
            </a:r>
          </a:p>
          <a:p>
            <a:r>
              <a:t>career path (noun) 职业路径 — “The company offers a clear career path for graduates.”</a:t>
            </a:r>
          </a:p>
          <a:p>
            <a:r>
              <a:t>be promoted to (verb phrase) 被提升为 — “He was promoted to regional manager.”</a:t>
            </a:r>
          </a:p>
          <a:p>
            <a:r>
              <a:t>performance review / appraisal (noun) 绩效评估 — “My performance review is next month.”</a:t>
            </a:r>
          </a:p>
          <a:p>
            <a:r>
              <a:t>mentor (noun) 导师 — “A good mentor can open doors for you.”</a:t>
            </a:r>
          </a:p>
          <a:p>
            <a:r>
              <a:t>seniority (noun (uncountable)) 资历,职级 — “Seniority still matters in many large firms.”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Moving up (and sideways) ★ 向上与横向发展</a:t>
            </a:r>
          </a:p>
          <a:p>
            <a:r>
              <a:t>领读 → 学员跟读 → 请学员用表达造一个和自己工作相关的句子。</a:t>
            </a:r>
          </a:p>
          <a:p>
            <a:r>
              <a:t>★ climb the corporate ladder (collocation) 在公司里晋升 — “She climbed the corporate ladder quickly.”</a:t>
            </a:r>
          </a:p>
          <a:p>
            <a:r>
              <a:t>★ a stepping stone (noun phrase) 垫脚石 — “This role is a stepping stone to management.”</a:t>
            </a:r>
          </a:p>
          <a:p>
            <a:r>
              <a:t>★ fast-track (verb) 使快速晋升 — “He was fast-tracked into a leadership programme.”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Moving up (and sideways) ★ 向上与横向发展</a:t>
            </a:r>
          </a:p>
          <a:p>
            <a:r>
              <a:t>领读 → 学员跟读 → 请学员用表达造一个和自己工作相关的句子。</a:t>
            </a:r>
          </a:p>
          <a:p>
            <a:r>
              <a:t>★ plateau (verb) 进入平台期 — “My career plateaued after I turned forty.”</a:t>
            </a:r>
          </a:p>
          <a:p>
            <a:r>
              <a:t>★ take on more responsibility (collocation) 承担更多责任 — “If you want to progress, take on more responsibility.”</a:t>
            </a:r>
          </a:p>
          <a:p>
            <a:r>
              <a:t>★ be passed over for promotion (phrase) 在晋升中被忽略 — “He was passed over for promotion twice.”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promoted / career path / mentor / stepping stone / plateaued / passed over</a:t>
            </a:r>
          </a:p>
          <a:p>
            <a:r>
              <a:t>1. She was _______ to regional manager last year. → promoted</a:t>
            </a:r>
          </a:p>
          <a:p>
            <a:r>
              <a:t>2. The company offers a clear _______ for new graduates. → career path</a:t>
            </a:r>
          </a:p>
          <a:p>
            <a:r>
              <a:t>3. A good _______ can help you understand how the company works. → mentor</a:t>
            </a:r>
          </a:p>
          <a:p>
            <a:r>
              <a:t>4. This role is a _______ to a senior position. → stepping stone</a:t>
            </a:r>
          </a:p>
          <a:p>
            <a:r>
              <a:t>5. After ten years in the same job, my career had _______. → plateaued</a:t>
            </a:r>
          </a:p>
          <a:p>
            <a:r>
              <a:t>6. He was _______ for promotion twice, so he left. → passed over</a:t>
            </a:r>
          </a:p>
          <a:p>
            <a:r>
              <a:t>Mistake Watch (拼写与词形): promotion (not “promation”), responsibility (not “responsability”), mentor (not “mentour”). Say be promoted (passive). Progress and advice are uncountable.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your manager about promotion 与上司谈晋升</a:t>
            </a:r>
          </a:p>
          <a:p>
            <a:r>
              <a:t>情景：You have been in your role for two years and want to move up. You ask your manager, Jason, how to prepare.</a:t>
            </a:r>
          </a:p>
          <a:p>
            <a:r>
              <a:t>Role A: Yan Li, senior executive (you) Role B: Jason Wu,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(Yan): Jason, do you have a few minutes? I wanted to talk about my development.</a:t>
            </a:r>
          </a:p>
          <a:p>
            <a:r>
              <a:t>B (Jason): Of course, Yan. What’s on your mind?</a:t>
            </a:r>
          </a:p>
          <a:p>
            <a:r>
              <a:t>A: I’ve been in this role for two years now, and I’m keen to progress. I’d like to understand what it would take to be considered for team leader.</a:t>
            </a:r>
          </a:p>
          <a:p>
            <a:r>
              <a:t>B: That’s great to hear. You’ve delivered good results and you’re reliable, which is a strong foundation.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 you. Is there anything I should work on?</a:t>
            </a:r>
          </a:p>
          <a:p>
            <a:r>
              <a:t>B: Visibility, mainly. You do excellent work, but senior people don’t always see it. I’d suggest taking the lead on a cross-team project.</a:t>
            </a:r>
          </a:p>
          <a:p>
            <a:r>
              <a:t>A: That makes sense. I could volunteer for the new onboarding project.</a:t>
            </a:r>
          </a:p>
          <a:p>
            <a:r>
              <a:t>B: Perfect. Also, try to find a mentor outside our team who can give you another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Good idea. Realistically, how long might it take?</a:t>
            </a:r>
          </a:p>
          <a:p>
            <a:r>
              <a:t>B: It depends on openings, but if you take on that project and the review goes well, you could be ready within twelve to eighteen months.</a:t>
            </a:r>
          </a:p>
          <a:p>
            <a:r>
              <a:t>A: That’s helpful. Could we review my progress every quarter?</a:t>
            </a:r>
          </a:p>
          <a:p>
            <a:r>
              <a:t>B: Absolutely. Let’s put it in the diary.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15 | </a:t>
            </a:r>
          </a:p>
          <a:p>
            <a:r>
              <a:t>Situation | An employee discusses promotion with their manager.</a:t>
            </a:r>
          </a:p>
          <a:p>
            <a:r>
              <a:t>Your role (A) | Employee. Your role and the role you want next: ______________</a:t>
            </a:r>
          </a:p>
          <a:p>
            <a:r>
              <a:t>Partner’s role (B) | Manager. Supportive, but realistic about timing.</a:t>
            </a:r>
          </a:p>
          <a:p>
            <a:r>
              <a:t>Must use (4 or more) | be promoted · career path · mentor · take on more responsibility · stepping stone · visibility</a:t>
            </a:r>
          </a:p>
          <a:p>
            <a:r>
              <a:t>Goal | Ask what is needed, agree one concrete action and set a review date.</a:t>
            </a:r>
          </a:p>
          <a:p>
            <a:r>
              <a:t>My notes | ____________________________________________</a:t>
            </a:r>
          </a:p>
          <a:p>
            <a:r>
              <a:t>Jason says: “There’s no budget for promotions this year.” Respond constructively and ask about non-financial development.</a:t>
            </a:r>
          </a:p>
          <a:p>
            <a:r>
              <a:t>A colleague you trained was promoted before you. Talk to your manager calmly, without sounding jealous.</a:t>
            </a:r>
          </a:p>
          <a:p>
            <a:r>
              <a:t>Pitch yourself for promotion in 45 seconds, using one clear achievement.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matters most for promotion: results, relationships or visibility? | “I’d say results matter, but without visibility…” / “In my experience, relationships are…”</a:t>
            </a:r>
          </a:p>
          <a:p>
            <a:r>
              <a:t>2. Is it better to stay with one company or to move between companies in order to progress? | “Staying has the advantage of… but moving may…”</a:t>
            </a:r>
          </a:p>
          <a:p>
            <a:r>
              <a:t>3. Should promotion be based on seniority or performance? | “I believe it should be based on… because…”</a:t>
            </a:r>
          </a:p>
          <a:p>
            <a:r>
              <a:t>4. What would you do if you were passed over for promotion? | “I’d probably ask for feedback and then…” / “If that happened to me, I would…”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“If I were passed over, I’d first take a breath before reacting. Then I’d ask my manager for specific feedback: what was missing, and what I can do about it. If the answer is clear and fair, I’d make a plan and ask for a review date. If it seems unfair or vague, I’d start looking at other options, inside or outside the company. Being passed over is disappointing, but it can also be useful information.”</a:t>
            </a:r>
          </a:p>
          <a:p>
            <a:r>
              <a:t>be passed over 是被动。”take a breath” = 冷静一下。”If I were…, I’d…” 是第二类条件句。disappointing(令人失望的事)/ disappointed(感到失望的人)要区分。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want to be a manager. | I’m aiming to move into a management role. | aim to / aim for</a:t>
            </a:r>
          </a:p>
          <a:p>
            <a:r>
              <a:t>Can I get a raise? | I’d like to discuss my compensation in light of my new responsibilities. | 正式、有理由</a:t>
            </a:r>
          </a:p>
          <a:p>
            <a:r>
              <a:t>Why didn’t I get the job? | Could you give me some feedback on what I could have done differently? | 请求具体反馈</a:t>
            </a:r>
          </a:p>
          <a:p>
            <a:r>
              <a:t>I’m doing well. | I’ve consistently met or exceeded my targets. | 用事实说话</a:t>
            </a:r>
          </a:p>
          <a:p>
            <a:r>
              <a:t>I’m bored at this level. | I feel ready for a new challenge. | 积极表述</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Passive for career events: be promoted, be transferred, be made redundant, be passed over, be fast-tracked.</a:t>
            </a:r>
          </a:p>
          <a:p>
            <a:r>
              <a:t>Future plans: I’m going to… (decided) · I’m aiming to… · By then, I’ll have + past participle (future perfect).</a:t>
            </a:r>
          </a:p>
          <a:p>
            <a:r>
              <a:t>Collocations: get / receive a promotion · apply for a promotion · be in line for a promotion · climb the career ladder.</a:t>
            </a:r>
          </a:p>
          <a:p>
            <a:r>
              <a:t>Advice: you should / you ought to / it would be a good idea to / why don’t you…?</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got a promote last year.  →  ✓ I got a promotion last year. / I was promoted last year.  (promotion 是名词)</a:t>
            </a:r>
          </a:p>
          <a:p>
            <a:r>
              <a:t>✗ I want to become a manager in five years later.  →  ✓ I want to become a manager in five years.  (in five years / five years later 不同时用)</a:t>
            </a:r>
          </a:p>
          <a:p>
            <a:r>
              <a:t>✗ I’ll try my best to get promotion.  →  ✓ I’ll do my best to get a promotion.  (promotion 可数,要加 a)</a:t>
            </a:r>
          </a:p>
          <a:p>
            <a:r>
              <a:t>Mistake Watch: Check a promotion (countable), in five years, and no / any (never together).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no any chance.  →  ✓ I have no chance. / I don’t have any chance.  (no 与 any 不连用)</a:t>
            </a:r>
          </a:p>
          <a:p>
            <a:r>
              <a:t>✗ He is better than me at the work.  →  ✓ He is better at the job than I am.  (比较结构)</a:t>
            </a:r>
          </a:p>
          <a:p>
            <a:r>
              <a:t>✗ She was the youngest manager in our company ever.  →  ✓ She was the youngest manager our company has ever had.  (最高级 + ever 的位置)</a:t>
            </a:r>
          </a:p>
          <a:p>
            <a:r>
              <a:t>Mistake Watch: Check a promotion (countable), in five years, and no / any (never together).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Titles vs responsibilities: In many Western companies, titles are flexible: “Senior” or “Lead” may come before a full “Manager” title. Ask what the role actually includes.</a:t>
            </a:r>
          </a:p>
          <a:p>
            <a:r>
              <a:t>Self-advocacy: It is acceptable, and often expected, to ask for development opportunities in English-speaking companies. Do it politely and with evidence.</a:t>
            </a:r>
          </a:p>
          <a:p>
            <a:r>
              <a:t>Mentors and sponsors: A mentor gives advice; a sponsor is a senior person who speaks up for you in promotion discussions. Both help.</a:t>
            </a:r>
          </a:p>
          <a:p>
            <a:r>
              <a:t>在英语职场,主动谈晋升是正常的,关键是用事实证明(results)。mentor 提供建议,sponsor 在高层讨论时为你说话。</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my five-year career plan in English.</a:t>
            </a:r>
          </a:p>
          <a:p>
            <a:r>
              <a:t>I can ask my manager what is needed for promotion.</a:t>
            </a:r>
          </a:p>
          <a:p>
            <a:r>
              <a:t>I can talk about being passed over without sounding bitter.</a:t>
            </a:r>
          </a:p>
          <a:p>
            <a:r>
              <a:t>I can use passive forms such as be promoted and be passed over.</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countable a promotion, the passive, and no / any with negatives.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16 · When You Feel Stuck in Your Job 工作陷入瓶颈时</a:t>
            </a:r>
          </a:p>
          <a:p>
            <a:r>
              <a:t>Goal: describe feeling stuck at work, work out the cause, and suggest practical ways to get unstuck.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题用现在完成时 Have you ever…? 回答可以用过去式描述。第 3 题用 would。bad patch = 低谷期(英式口语)。</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 friend advice on how to get unstuck in their job.</a:t>
            </a:r>
          </a:p>
          <a:p>
            <a:r>
              <a:t>Say: name the problem → ask questions → suggest two or three actions → encourage</a:t>
            </a:r>
          </a:p>
          <a:p>
            <a:r>
              <a:t>Useful starters: “It sounds like you’re…” / “Have you thought about…?” / “One thing that might help is…”</a:t>
            </a:r>
          </a:p>
          <a:p>
            <a:r>
              <a:t>先共情再建议:It sounds like…(听起来你…)。建议用 might / could,不要太强势:One thing that might help is…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Almost everyone hits a flat patch in their career. The tasks feel repetitive, the days seem identical and you cannot see what comes next. Before you make a big decision, it helps to work out what kind of stuck you are. If you have stopped learning, the answer may be a new project or a course. If you feel unappreciated, a candid conversation with your manager could change a lot. If the culture itself drains you, a move to another team or company may be the only remedy. Whatever the cause, avoid doing nothing. Small, deliberate actions break the spell: updating your resume, having coffee with someone in another department or setting one learning goal for the quarter. These actions don’t solve everything, but they restore a sense of control, and that alone often changes how the job feels.</a:t>
            </a:r>
          </a:p>
          <a:p>
            <a:r>
              <a:t>flat patch = 平淡期。drain = 消耗精力。remedy = 补救办法。”break the spell” = 打破僵局。”that alone” 指“仅此一点”。</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first step before making a big decision?</a:t>
            </a:r>
          </a:p>
          <a:p>
            <a:r>
              <a:t>A: Work out what kind of stuck you are.</a:t>
            </a:r>
          </a:p>
          <a:p>
            <a:r>
              <a:t>Q2. What might help if you have stopped learning?</a:t>
            </a:r>
          </a:p>
          <a:p>
            <a:r>
              <a:t>A: A new project or a course.</a:t>
            </a:r>
          </a:p>
          <a:p>
            <a:r>
              <a:t>Q3. Why are small actions useful?</a:t>
            </a:r>
          </a:p>
          <a:p>
            <a:r>
              <a:t>A: They restore a sense of control, which often changes how the job feels.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Describing the problem 描述问题</a:t>
            </a:r>
          </a:p>
          <a:p>
            <a:r>
              <a:t>领读 → 学员跟读 → 请学员用表达造一个和自己工作相关的句子。</a:t>
            </a:r>
          </a:p>
          <a:p>
            <a:r>
              <a:t>feel stuck (phrase) 感到停滞 — “I feel stuck in a job with no future.”</a:t>
            </a:r>
          </a:p>
          <a:p>
            <a:r>
              <a:t>burnout (noun) 职业倦怠 — “Long hours led to burnout.”</a:t>
            </a:r>
          </a:p>
          <a:p>
            <a:r>
              <a:t>repetitive (adjective) 重复乏味的 — “The work has become repetitive.”</a:t>
            </a:r>
          </a:p>
          <a:p>
            <a:r>
              <a:t>motivation (noun (uncountable)) 动力 — “I’ve lost my motivation recently.”</a:t>
            </a:r>
          </a:p>
          <a:p>
            <a:r>
              <a:t>dead-end job (noun phrase) 没有前途的工作 — “I don’t want to end up in a dead-end job.”</a:t>
            </a:r>
          </a:p>
          <a:p>
            <a:r>
              <a:t>feedback (noun (uncountable)) 反馈 — “I haven’t had any feedback in months.”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Getting unstuck ★ 打破瓶颈</a:t>
            </a:r>
          </a:p>
          <a:p>
            <a:r>
              <a:t>领读 → 学员跟读 → 请学员用表达造一个和自己工作相关的句子。</a:t>
            </a:r>
          </a:p>
          <a:p>
            <a:r>
              <a:t>★ in a rut (idiom) 一成不变、陷入常规 — “I’ve been in a rut for months.”</a:t>
            </a:r>
          </a:p>
          <a:p>
            <a:r>
              <a:t>★ shake things up (phrasal verb) 做出改变、打破常规 — “I decided to shake things up by changing teams.”</a:t>
            </a:r>
          </a:p>
          <a:p>
            <a:r>
              <a:t>★ take stock (of) (idiom) 反思评估现状 — “It’s worth taking stock of what you want.”</a:t>
            </a:r>
          </a:p>
          <a:p>
            <a:r>
              <a:t>★ reinvent yourself (collocation) 重塑自我 — “She reinvented herself as a data analyst.”</a:t>
            </a:r>
          </a:p>
          <a:p>
            <a:r>
              <a:t>★ step out of your comfort zone (idiom) 走出舒适区 — “Stepping out of your comfort zone can reignite your interest.”</a:t>
            </a:r>
          </a:p>
          <a:p>
            <a:r>
              <a:t>★ ask for a fresh challenge (phrase) 要求新的挑战 — “I asked for a fresh challenge and got a new project.”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stuck / burnout / motivation / rut / stock / comfort</a:t>
            </a:r>
          </a:p>
          <a:p>
            <a:r>
              <a:t>1. I feel _______ in a job with no future. → stuck</a:t>
            </a:r>
          </a:p>
          <a:p>
            <a:r>
              <a:t>2. Long hours and no breaks led to _______. → burnout</a:t>
            </a:r>
          </a:p>
          <a:p>
            <a:r>
              <a:t>3. I’ve lost my _______ because I do the same thing every day. → motivation</a:t>
            </a:r>
          </a:p>
          <a:p>
            <a:r>
              <a:t>4. I’ve been in a _______ for months. → rut</a:t>
            </a:r>
          </a:p>
          <a:p>
            <a:r>
              <a:t>5. It’s worth taking _______ of what you really want. → stock</a:t>
            </a:r>
          </a:p>
          <a:p>
            <a:r>
              <a:t>6. Sometimes you need to step out of your _______ zone. → comfort</a:t>
            </a:r>
          </a:p>
          <a:p>
            <a:r>
              <a:t>Mistake Watch (拼写与搭配): burnout (one word as a noun; “burn out” as a verb), motivation (not “motivition”), repetitive (not “repetative”). Say take stock of (no “the”). Motivation and feedback are uncountable.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Helping a friend who feels stuck 帮助感到停滞的朋友</a:t>
            </a:r>
          </a:p>
          <a:p>
            <a:r>
              <a:t>情景：Your friend and colleague Ming has been in the same role for six years and tells you over coffee that he feels stuck.</a:t>
            </a:r>
          </a:p>
          <a:p>
            <a:r>
              <a:t>Role A: Hui, Ming’s friend and colleague (you) Role B: Ming, who feels stuck</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(Hui): You seem a bit down today, Ming. Is everything okay?</a:t>
            </a:r>
          </a:p>
          <a:p>
            <a:r>
              <a:t>B (Ming): Honestly, I feel stuck. The work is repetitive, and I can’t see where I’m going.</a:t>
            </a:r>
          </a:p>
          <a:p>
            <a:r>
              <a:t>A: That sounds frustrating. How long have you felt like this?</a:t>
            </a:r>
          </a:p>
          <a:p>
            <a:r>
              <a:t>B: About a year. I used to love it, but now I’m just going through the motions.</a:t>
            </a:r>
          </a:p>
          <a:p>
            <a:r>
              <a:t>A: It sounds like you’re in a rut. Have you thought about what’s missing: learning, recognition or something else?</a:t>
            </a:r>
          </a:p>
          <a:p>
            <a:r>
              <a:t>B: Probably learning. I haven’t learned anything new in ages.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One thing that might help is to ask for a fresh challenge, perhaps a project outside your usual area.</a:t>
            </a:r>
          </a:p>
          <a:p>
            <a:r>
              <a:t>B: I could, but I’m worried that my manager will think I’m unhappy.</a:t>
            </a:r>
          </a:p>
          <a:p>
            <a:r>
              <a:t>A: You could present it as a way to add more value. Something like: “I’d like to take on a new challenge to use my skills better.”</a:t>
            </a:r>
          </a:p>
          <a:p>
            <a:r>
              <a:t>B: That’s a good way to put it. What if there’s nothing available?</a:t>
            </a:r>
          </a:p>
          <a:p>
            <a:r>
              <a:t>A: Then maybe it’s time to take stock and look at other teams, or even other companies. But start small.</a:t>
            </a:r>
          </a:p>
          <a:p>
            <a:r>
              <a:t>B: Thanks, Hui. It helps just to talk about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16 | </a:t>
            </a:r>
          </a:p>
          <a:p>
            <a:r>
              <a:t>Situation | You help a friend who feels stuck at work.</a:t>
            </a:r>
          </a:p>
          <a:p>
            <a:r>
              <a:t>Your role (A) | Friend giving advice. Your own experience of feeling stuck: ______________</a:t>
            </a:r>
          </a:p>
          <a:p>
            <a:r>
              <a:t>Partner’s role (B) | Friend who feels stuck and worried.</a:t>
            </a:r>
          </a:p>
          <a:p>
            <a:r>
              <a:t>Must use (4 or more) | feel stuck · in a rut · take stock · shake things up · fresh challenge · comfort zone</a:t>
            </a:r>
          </a:p>
          <a:p>
            <a:r>
              <a:t>Goal | Listen first, show empathy, then offer two practical suggestions.</a:t>
            </a:r>
          </a:p>
          <a:p>
            <a:r>
              <a:t>My notes | ____________________________________________</a:t>
            </a:r>
          </a:p>
          <a:p>
            <a:r>
              <a:t>The friend rejects every suggestion with “Yes, but…”. Stay patient and ask a question instead of advising.</a:t>
            </a:r>
          </a:p>
          <a:p>
            <a:r>
              <a:t>The friend says: “Maybe I’m just lazy.” Reassure them and reframe the problem.</a:t>
            </a:r>
          </a:p>
          <a:p>
            <a:r>
              <a:t>Swap roles. You are the one who feels stuck. Explain what you need from your friend.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first signs that someone is stuck in their job? | “A typical sign is when…” / “People may start to…”</a:t>
            </a:r>
          </a:p>
          <a:p>
            <a:r>
              <a:t>2. Is feeling stuck the employee’s problem or the company’s responsibility? | “Both sides share responsibility, but…” / “I’d say it’s mainly…”</a:t>
            </a:r>
          </a:p>
          <a:p>
            <a:r>
              <a:t>3. Which is better for getting unstuck: a new job or a new role in the same company? | “A new role in the same company has the advantage of… whereas a new job…”</a:t>
            </a:r>
          </a:p>
          <a:p>
            <a:r>
              <a:t>4. What small actions can help when you are stuck? | “Something simple like… could help.” / “It might be worth…”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new role in the same company has the advantage of being lower risk. You already know the people and how things work, so you can try something new without starting from zero. A new job, on the other hand, can bring a bigger change and a fresh start, but it also means a new culture and new relationships. If the main problem is the work itself, an internal move can solve it. If the problem is the company or the boss, I’d probably leave.”</a:t>
            </a:r>
          </a:p>
          <a:p>
            <a:r>
              <a:t>lower risk = 风险较低。starting from zero = 从零开始。whereas / on the other hand 表示对比。If the main problem is…, … 条件句结构清楚。</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I’m bored. | I feel I’ve stopped growing in this role. | 把情绪变成原因</a:t>
            </a:r>
          </a:p>
          <a:p>
            <a:r>
              <a:t>My boss never listens. | I’d welcome more regular feedback and dialogue with my manager. | 建设性</a:t>
            </a:r>
          </a:p>
          <a:p>
            <a:r>
              <a:t>I’m tired of this job. | I’m ready for a change of direction. | 积极</a:t>
            </a:r>
          </a:p>
          <a:p>
            <a:r>
              <a:t>I don’t know what to do. | I’m weighing up my options. | 权衡选项</a:t>
            </a:r>
          </a:p>
          <a:p>
            <a:r>
              <a:t>Help me. | I’d really appreciate your advice on this. | 请求建议</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Advice structures: If I were you, I’d… · Have you thought about…? · Why don’t you…? · It might be worth + -ing.</a:t>
            </a:r>
          </a:p>
          <a:p>
            <a:r>
              <a:t>Empathy phrases: That sounds frustrating. / I can see why you feel that way. / That must be hard.</a:t>
            </a:r>
          </a:p>
          <a:p>
            <a:r>
              <a:t>Used to vs be used to: I used to love it (past, no longer) vs I’m used to the routine (accustomed to).</a:t>
            </a:r>
          </a:p>
          <a:p>
            <a:r>
              <a:t>Present perfect with duration: I’ve felt stuck for a year. / I haven’t learned anything new in ages.</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feel very bored in my work.  →  ✓ I feel bored with my work. / I’m bored with my job.  (bored with)</a:t>
            </a:r>
          </a:p>
          <a:p>
            <a:r>
              <a:t>✗ My job has no any future.  →  ✓ My job has no future.  (no / any 不连用)</a:t>
            </a:r>
          </a:p>
          <a:p>
            <a:r>
              <a:t>✗ I’m tired for the same work every day.  →  ✓ I’m tired of the same work every day.  (tired of)</a:t>
            </a:r>
          </a:p>
          <a:p>
            <a:r>
              <a:t>Mistake Watch: Check bored with, tired of, make + object + bare verb, and If I were you, I’d…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If I am you, I will ask my boss.  →  ✓ If I were you, I’d ask my boss.  (假设用 were + would)</a:t>
            </a:r>
          </a:p>
          <a:p>
            <a:r>
              <a:t>✗ It makes me losing motivation.  →  ✓ It makes me lose motivation.  (make + 宾语 + 动词原形)</a:t>
            </a:r>
          </a:p>
          <a:p>
            <a:r>
              <a:t>✗ I feel stressed by the situation of this job.  →  ✓ I feel stressed about this job.  (stressed about)</a:t>
            </a:r>
          </a:p>
          <a:p>
            <a:r>
              <a:t>Mistake Watch: Check bored with, tired of, make + object + bare verb, and If I were you, I’d…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Talking about feelings: English speakers often use light, indirect language (“I’m a bit stuck”) before opening up. Matching this tone helps.</a:t>
            </a:r>
          </a:p>
          <a:p>
            <a:r>
              <a:t>Career coaching: Hiring a coach is common in the UK and US for mid-career professionals. It is not a sign of weakness.</a:t>
            </a:r>
          </a:p>
          <a:p>
            <a:r>
              <a:t>Job changes: Moving jobs when you are stuck is normal. Explain it as a search for growth, not as an escape.</a:t>
            </a:r>
          </a:p>
          <a:p>
            <a:r>
              <a:t>英语里常用 a bit(有点)缓和语气:I’m feeling a bit stuck。给建议时先共情,再建议。注意 bored with / tired of 的介词。</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feeling stuck and explain the causes.</a:t>
            </a:r>
          </a:p>
          <a:p>
            <a:r>
              <a:t>I can offer advice using If I were you… and Have you thought about…?</a:t>
            </a:r>
          </a:p>
          <a:p>
            <a:r>
              <a:t>I can show empathy and ask open questions.</a:t>
            </a:r>
          </a:p>
          <a:p>
            <a:r>
              <a:t>I can use at least four ★ idioms or collocations.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prepositions (bored with, tired of), make + object + verb and If I were you.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17 · Kicking Your Productivity up a Gear 大幅提升你的工作效率</a:t>
            </a:r>
          </a:p>
          <a:p>
            <a:r>
              <a:t>Goal: share and explain practical ways to boost productivity: planning, prioritising, focus, tools and habits.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 time-waster 指浪费时间的事。第 3 题可以说 “I’m a morning person / a night owl”。prioritise = 排优先级(英式拼写)。</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your top three productivity tips to a new colleague.</a:t>
            </a:r>
          </a:p>
          <a:p>
            <a:r>
              <a:t>Say: tip 1 + reason → tip 2 + reason → tip 3 + result</a:t>
            </a:r>
          </a:p>
          <a:p>
            <a:r>
              <a:t>Useful starters: “My top tip is to…” / “The reason is that…” / “As a result, I’m able to…”</a:t>
            </a:r>
          </a:p>
          <a:p>
            <a:r>
              <a:t>讲建议用祈使句或 “I’d recommend + -ing”。因果连接词:because, so, as a result, that’s why。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Productivity is not about doing more things; it is about doing the right things well. The most effective people start the day by deciding their top priority and protecting time to work on it. They avoid constant notifications, because a single interruption can cost many minutes of concentration. Many also divide their work into short, focused blocks followed by brief breaks, a method that helps to avoid fatigue. Tools can help, but only if they are simple: a to-do list you actually check beats a complicated app you forget. Productive people also say no more often. They decline meetings with no clear purpose and delegate whenever someone else can do the job. Finally, they look after themselves. Sleep, exercise and breaks are not luxuries; they are what keep the mind sharp enough to do good work.</a:t>
            </a:r>
          </a:p>
          <a:p>
            <a:r>
              <a:t>notification = 通知提示。”beats” = 胜过。delegate = 委派。”sharp” = 敏锐的。注意 “is not about…; it is about…” 这种对比结构。</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does the writer say productivity is really about?</a:t>
            </a:r>
          </a:p>
          <a:p>
            <a:r>
              <a:t>A: Doing the right things well, not doing more things.</a:t>
            </a:r>
          </a:p>
          <a:p>
            <a:r>
              <a:t>Q2. Why should you avoid constant notifications?</a:t>
            </a:r>
          </a:p>
          <a:p>
            <a:r>
              <a:t>A: A single interruption can cost many minutes of concentration.</a:t>
            </a:r>
          </a:p>
          <a:p>
            <a:r>
              <a:t>Q3. Which three habits does the writer list under “looking after yourself”?</a:t>
            </a:r>
          </a:p>
          <a:p>
            <a:r>
              <a:t>A: Sleep, exercise and breaks.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Planning your day 规划一天</a:t>
            </a:r>
          </a:p>
          <a:p>
            <a:r>
              <a:t>领读 → 学员跟读 → 请学员用表达造一个和自己工作相关的句子。</a:t>
            </a:r>
          </a:p>
          <a:p>
            <a:r>
              <a:t>prioritise (verb) 排优先级 — “I prioritise my tasks every morning.”</a:t>
            </a:r>
          </a:p>
          <a:p>
            <a:r>
              <a:t>deadline (noun) 截止日期 — “I’ve got three deadlines this week.”</a:t>
            </a:r>
          </a:p>
          <a:p>
            <a:r>
              <a:t>to-do list (noun) 待办清单 — “Check your to-do list before you leave.”</a:t>
            </a:r>
          </a:p>
          <a:p>
            <a:r>
              <a:t>multitask (verb) 同时处理多项任务 — “Trying to multitask often lowers quality.”</a:t>
            </a:r>
          </a:p>
          <a:p>
            <a:r>
              <a:t>delegate (verb) 委派 — “I delegated the routine tasks to my assistant.”</a:t>
            </a:r>
          </a:p>
          <a:p>
            <a:r>
              <a:t>time management (noun (uncountable)) 时间管理 — “Good time management reduces stress.”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Boosting your focus ★ 提升专注</a:t>
            </a:r>
          </a:p>
          <a:p>
            <a:r>
              <a:t>领读 → 学员跟读 → 请学员用表达造一个和自己工作相关的句子。</a:t>
            </a:r>
          </a:p>
          <a:p>
            <a:r>
              <a:t>★ eliminate distractions (collocation) 排除干扰 — “I turn off notifications to eliminate distractions.”</a:t>
            </a:r>
          </a:p>
          <a:p>
            <a:r>
              <a:t>★ tackle (a task) (verb) 着手处理 — “I tackle the hardest task first thing in the morning.”</a:t>
            </a:r>
          </a:p>
          <a:p>
            <a:r>
              <a:t>★ get through (phrasal verb) 完成(大量工作) — “I got through my inbox before lunch.”</a:t>
            </a:r>
          </a:p>
          <a:p>
            <a:r>
              <a:t>★ procrastinate (verb) 拖延 — “I tend to procrastinate when a task looks big.”</a:t>
            </a:r>
          </a:p>
          <a:p>
            <a:r>
              <a:t>★ batch (similar tasks) (verb) 集中批量处理 — “I batch my emails and check them twice a day.”</a:t>
            </a:r>
          </a:p>
          <a:p>
            <a:r>
              <a:t>★ get into the flow (idiom) 进入状态 — “After an hour, I got into the flow and wrote the report.”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prioritise / delegate / multitask / distractions / procrastinate / flow</a:t>
            </a:r>
          </a:p>
          <a:p>
            <a:r>
              <a:t>1. I _______ my tasks every morning. → prioritise</a:t>
            </a:r>
          </a:p>
          <a:p>
            <a:r>
              <a:t>2. I _______ routine tasks to my assistant. → delegate</a:t>
            </a:r>
          </a:p>
          <a:p>
            <a:r>
              <a:t>3. Trying to _______ usually lowers the quality of work. → multitask</a:t>
            </a:r>
          </a:p>
          <a:p>
            <a:r>
              <a:t>4. Turn off notifications to remove _______. → distractions</a:t>
            </a:r>
          </a:p>
          <a:p>
            <a:r>
              <a:t>5. I tend to _______ when a task looks big. → procrastinate</a:t>
            </a:r>
          </a:p>
          <a:p>
            <a:r>
              <a:t>6. After an hour, I got into the _______ and finished the report. → flow</a:t>
            </a:r>
          </a:p>
          <a:p>
            <a:r>
              <a:t>Mistake Watch (拼写): prioritise / prioritize (UK / US), procrastinate (not “procrastinte”), distraction (not “destraction”). Time management is uncountable, and so is advice: “some advice”.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Sharing productivity tips with a colleague 向同事分享高效技巧</a:t>
            </a:r>
          </a:p>
          <a:p>
            <a:r>
              <a:t>情景：A new colleague, Jo, feels overwhelmed. You share your productivity routine.</a:t>
            </a:r>
          </a:p>
          <a:p>
            <a:r>
              <a:t>Role A: Rui Wang, experienced colleague (you) Role B: Jo Harris, new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(Rui): You look a bit overwhelmed, Jo. Anything I can help with?</a:t>
            </a:r>
          </a:p>
          <a:p>
            <a:r>
              <a:t>B (Jo): Yes, honestly. I’ve got so many tasks that I don’t know where to start.</a:t>
            </a:r>
          </a:p>
          <a:p>
            <a:r>
              <a:t>A: I’ve been there. Do you have a to-do list?</a:t>
            </a:r>
          </a:p>
          <a:p>
            <a:r>
              <a:t>B: I do, but it’s three pages long.</a:t>
            </a:r>
          </a:p>
          <a:p>
            <a:r>
              <a:t>A: Okay. My tip is to pick just three priorities for the day. Everything else can wait.</a:t>
            </a:r>
          </a:p>
          <a:p>
            <a:r>
              <a:t>B: How do you decide which three?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ask myself which tasks have a deadline, which affect other people, and which move my goals forward.</a:t>
            </a:r>
          </a:p>
          <a:p>
            <a:r>
              <a:t>B: That’s helpful. What about emails? I’m constantly interrupted.</a:t>
            </a:r>
          </a:p>
          <a:p>
            <a:r>
              <a:t>A: I batch them. I check my inbox twice a day, at eleven and at four, and I turn off notifications the rest of the time.</a:t>
            </a:r>
          </a:p>
          <a:p>
            <a:r>
              <a:t>B: Don’t people expect an immediate reply?</a:t>
            </a:r>
          </a:p>
          <a:p>
            <a:r>
              <a:t>A: For urgent matters, they phone or message. For everything else, a few hours is fine. I also block out time in my calendar for focused work.</a:t>
            </a:r>
          </a:p>
          <a:p>
            <a:r>
              <a:t>B: I’ll give it a try. Thanks, Rui.</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17 | </a:t>
            </a:r>
          </a:p>
          <a:p>
            <a:r>
              <a:t>Situation | You share productivity tips with a colleague.</a:t>
            </a:r>
          </a:p>
          <a:p>
            <a:r>
              <a:t>Your role (A) | Experienced colleague. Your best tip: ______________</a:t>
            </a:r>
          </a:p>
          <a:p>
            <a:r>
              <a:t>Partner’s role (B) | Overwhelmed colleague who asks questions.</a:t>
            </a:r>
          </a:p>
          <a:p>
            <a:r>
              <a:t>Must use (4 or more) | prioritise · deadline · distractions · batch · delegate · get into the flow</a:t>
            </a:r>
          </a:p>
          <a:p>
            <a:r>
              <a:t>Goal | Give three practical tips and explain why each works.</a:t>
            </a:r>
          </a:p>
          <a:p>
            <a:r>
              <a:t>My notes | ____________________________________________</a:t>
            </a:r>
          </a:p>
          <a:p>
            <a:r>
              <a:t>Jo says: “Those tips won’t work in my job, I’m always interrupted.” Offer adapted advice.</a:t>
            </a:r>
          </a:p>
          <a:p>
            <a:r>
              <a:t>You are the one who is overwhelmed. Ask a colleague for help in a clear and polite way.</a:t>
            </a:r>
          </a:p>
          <a:p>
            <a:r>
              <a:t>Present your “top three tips” as a one-minute talk with a clear ending.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multitasking a skill or a myth? | “In my experience, it’s a myth because…” / “It works for simple tasks, but…”</a:t>
            </a:r>
          </a:p>
          <a:p>
            <a:r>
              <a:t>2. How do you protect time for deep work in an open-plan office? | “I try to… / It helps to…”</a:t>
            </a:r>
          </a:p>
          <a:p>
            <a:r>
              <a:t>3. Do productivity apps really help, or do they become a distraction? | “They can help if…, but they can also…”</a:t>
            </a:r>
          </a:p>
          <a:p>
            <a:r>
              <a:t>4. Does working longer hours mean you are more productive? | “Not necessarily, because…” / “Up to a point, yes, but after that…”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“Not necessarily. Up to a point, extra hours may produce more output, but after a while people get tired and make more mistakes. In my experience, I do my best work in the first four hours of the day. After that, my concentration drops, and I need much longer to finish the same tasks. I think it’s better to work focused hours and finish on time than to stay late without really achieving anything.”</a:t>
            </a:r>
          </a:p>
          <a:p>
            <a:r>
              <a:t>not necessarily = 未必。up to a point = 在一定程度上。output = 产出(不可数)。”the first four hours of the day” 注意 the。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have too much work. | I’m snowed under at the moment. | 习语:被工作淹没</a:t>
            </a:r>
          </a:p>
          <a:p>
            <a:r>
              <a:t>I’ll do it later. | I’ll get to it this afternoon. | get to 抽空处理</a:t>
            </a:r>
          </a:p>
          <a:p>
            <a:r>
              <a:t>I can’t focus. | I’m finding it hard to concentrate. | find it hard to</a:t>
            </a:r>
          </a:p>
          <a:p>
            <a:r>
              <a:t>I do many things at once. | I’m juggling several projects. | juggle 同时应付</a:t>
            </a:r>
          </a:p>
          <a:p>
            <a:r>
              <a:t>This is the most important. | This is my top priority. | priority 单数</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Prioritising language: first and foremost · most importantly · after that · last but not least.</a:t>
            </a:r>
          </a:p>
          <a:p>
            <a:r>
              <a:t>Present continuous for current projects: “I’m working on three projects at the moment.”</a:t>
            </a:r>
          </a:p>
          <a:p>
            <a:r>
              <a:t>Collocations: meet a deadline · miss a deadline · set priorities · stay on top of things · fall behind schedule.</a:t>
            </a:r>
          </a:p>
          <a:p>
            <a:r>
              <a:t>Countable / uncountable: a task, tasks, but work, time, progress, advice are uncountable. Work has no plural.</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many works to do.  →  ✓ I have a lot of work to do.  (work 不可数)</a:t>
            </a:r>
          </a:p>
          <a:p>
            <a:r>
              <a:t>✗ I’m not good at manage my time.  →  ✓ I’m not good at managing my time.  (at + -ing)</a:t>
            </a:r>
          </a:p>
          <a:p>
            <a:r>
              <a:t>✗ I use the time very efficient.  →  ✓ I use my time very efficiently.  (副词修饰动词)</a:t>
            </a:r>
          </a:p>
          <a:p>
            <a:r>
              <a:t>Mistake Watch: Check uncountable work / advice, adverbs (efficiently) and must / should + bare verb.</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must to finish this today.  →  ✓ I must finish this today.  (must + 动词原形)</a:t>
            </a:r>
          </a:p>
          <a:p>
            <a:r>
              <a:t>✗ The deadline is closing.  →  ✓ The deadline is approaching.  (deadline 用 approach)</a:t>
            </a:r>
          </a:p>
          <a:p>
            <a:r>
              <a:t>✗ I waste time on social media and I can’t concentrate on.  →  ✓ I waste time on social media and can’t concentrate.  (concentrate on 后面要有宾语)</a:t>
            </a:r>
          </a:p>
          <a:p>
            <a:r>
              <a:t>Mistake Watch: Check uncountable work / advice, adverbs (efficiently) and must / should + bare verb.</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“Work smarter”: English-speaking managers often talk about results, not hours. Leaving on time is not a sign of low commitment.</a:t>
            </a:r>
          </a:p>
          <a:p>
            <a:r>
              <a:t>Email etiquette: Many people no longer expect an instant reply. Say clearly when you will respond: “I’ll get back to you by Thursday.”</a:t>
            </a:r>
          </a:p>
          <a:p>
            <a:r>
              <a:t>Saying no: It is acceptable to decline tasks politely: “I’d love to help, but I’m at capacity this week. Could we look at next Monday?”</a:t>
            </a:r>
          </a:p>
          <a:p>
            <a:r>
              <a:t>欧美职场更强调“结果”而非“加班时长”。说“不”要礼貌:I’d love to help, but… 并给出替代方案。work 不可数,不说 works。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three productivity tips and their reasons.</a:t>
            </a:r>
          </a:p>
          <a:p>
            <a:r>
              <a:t>I can talk about priorities using first and foremost and after that.</a:t>
            </a:r>
          </a:p>
          <a:p>
            <a:r>
              <a:t>I can decline a request politely.</a:t>
            </a:r>
          </a:p>
          <a:p>
            <a:r>
              <a:t>I can use uncountable nouns (work, advice, progress)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work, adverbs vs adjectives, and -ing after prepositions.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18 · Measuring Productivity 衡量生产力</a:t>
            </a:r>
          </a:p>
          <a:p>
            <a:r>
              <a:t>Goal: discuss how to measure productivity at individual, team and company levels, and weigh the pros and cons of different metrics.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3 题用现在完成时 Have you ever…。第 5 题可以用 “It depends on…” 来分情况。KPI = 关键绩效指标。</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Choose a job and explain how you would measure productivity in it.</a:t>
            </a:r>
          </a:p>
          <a:p>
            <a:r>
              <a:t>Say: the job → what you would measure → the risk of that measure → a better alternative</a:t>
            </a:r>
          </a:p>
          <a:p>
            <a:r>
              <a:t>Useful starters: “I would measure… because…” / “The danger of this is that…” / “A fairer way might be to…”</a:t>
            </a:r>
          </a:p>
          <a:p>
            <a:r>
              <a:t>谈指标要同时谈利弊:The advantage is… but the risk is… 。data 在商务英语中常作单数使用(the data is…)。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Managers like numbers because numbers seem objective. Output per hour, sales per employee and tickets resolved per day are easy to track and compare. But a single figure rarely tells the whole story. A call-centre worker who ends calls quickly may meet the target, yet leave customers unhappy. A programmer who writes many lines of code may create more bugs than one who writes fewer. Researchers suggest combining a few simple measures: output, quality and customer or colleague feedback. It also helps to measure over a longer period and compare results with a clear goal rather than with other people. Finally, involve the people who do the job. They usually know which metrics make sense and which will cause bad behaviour. A measure should help people improve, not just make them feel watched.</a:t>
            </a:r>
          </a:p>
          <a:p>
            <a:r>
              <a:t>objective = 客观的。ticket = 工单。metric = 衡量指标。”rather than” 表示“而不是”。”make them feel watched” = 让人觉得被监视。</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managers like numbers?</a:t>
            </a:r>
          </a:p>
          <a:p>
            <a:r>
              <a:t>A: Because numbers seem objective and are easy to track and compare.</a:t>
            </a:r>
          </a:p>
          <a:p>
            <a:r>
              <a:t>Q2. Give one example of a measure that could cause problems.</a:t>
            </a:r>
          </a:p>
          <a:p>
            <a:r>
              <a:t>A: Quick calls in a call centre might meet the target but leave customers unhappy (or many lines of code could mean more bugs).</a:t>
            </a:r>
          </a:p>
          <a:p>
            <a:r>
              <a:t>Q3. What does the writer suggest for better measurement?</a:t>
            </a:r>
          </a:p>
          <a:p>
            <a:r>
              <a:t>A: Combine output, quality and feedback, measure over a longer period, compare with a clear goal and involve the people doing the job.</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Metrics and targets 指标与目标</a:t>
            </a:r>
          </a:p>
          <a:p>
            <a:r>
              <a:t>领读 → 学员跟读 → 请学员用表达造一个和自己工作相关的句子。</a:t>
            </a:r>
          </a:p>
          <a:p>
            <a:r>
              <a:t>KPI (key performance indicator) (noun) 关键绩效指标 — “Our main KPI is customer retention.”</a:t>
            </a:r>
          </a:p>
          <a:p>
            <a:r>
              <a:t>target (noun) 目标 — “We hit our sales target in the third quarter.”</a:t>
            </a:r>
          </a:p>
          <a:p>
            <a:r>
              <a:t>output (noun (uncountable)) 产出 — “Output per employee rose by 8%.”</a:t>
            </a:r>
          </a:p>
          <a:p>
            <a:r>
              <a:t>benchmark (noun / verb) 基准 — “We use last year as a benchmark.”</a:t>
            </a:r>
          </a:p>
          <a:p>
            <a:r>
              <a:t>efficiency (noun) 效率 — “The new system improved efficiency.”</a:t>
            </a:r>
          </a:p>
          <a:p>
            <a:r>
              <a:t>track (verb) 跟踪 — “We track progress on a weekly dashboard.”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Analysing results ★ 分析结果</a:t>
            </a:r>
          </a:p>
          <a:p>
            <a:r>
              <a:t>领读 → 学员跟读 → 请学员用表达造一个和自己工作相关的句子。</a:t>
            </a:r>
          </a:p>
          <a:p>
            <a:r>
              <a:t>★ exceed expectations (collocation) 超出预期 — “She consistently exceeds expectations.”</a:t>
            </a:r>
          </a:p>
          <a:p>
            <a:r>
              <a:t>★ fall short of (phrasal) 未达到 — “We fell short of our target by 5%.”</a:t>
            </a:r>
          </a:p>
          <a:p>
            <a:r>
              <a:t>★ a vanity metric (noun phrase) 虚荣指标(好看但没用) — “Page views can be a vanity metric if no one buys.”</a:t>
            </a:r>
          </a:p>
          <a:p>
            <a:r>
              <a:t>★ drive results (collocation) 推动成果 — “Clear goals help to drive results.”</a:t>
            </a:r>
          </a:p>
          <a:p>
            <a:r>
              <a:t>★ measurable (adjective) 可衡量的 — “Set measurable goals, such as reducing returns by 10%.”</a:t>
            </a:r>
          </a:p>
          <a:p>
            <a:r>
              <a:t>★ game the system (idiom) 钻制度的空子 — “If you reward speed alone, people will game the system.”</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KPI / Output / benchmark / fell short of / vanity metric / game the system</a:t>
            </a:r>
          </a:p>
          <a:p>
            <a:r>
              <a:t>1. Our main _______ is customer retention. → KPI</a:t>
            </a:r>
          </a:p>
          <a:p>
            <a:r>
              <a:t>2. _______ per employee rose by 8% this year. → Output</a:t>
            </a:r>
          </a:p>
          <a:p>
            <a:r>
              <a:t>3. We use last year’s figures as a _______. → benchmark</a:t>
            </a:r>
          </a:p>
          <a:p>
            <a:r>
              <a:t>4. We _______ our target by 5%. → fell short of</a:t>
            </a:r>
          </a:p>
          <a:p>
            <a:r>
              <a:t>5. Page views alone are a _______ if no one buys. → vanity metric</a:t>
            </a:r>
          </a:p>
          <a:p>
            <a:r>
              <a:t>6. If you reward speed alone, people will _______. → game the system</a:t>
            </a:r>
          </a:p>
          <a:p>
            <a:r>
              <a:t>Mistake Watch (拼写与搭配): efficiency (not “effeciency”), benchmark (one word), output (uncountable). Say fall short of (not “fall short to”).</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targets with a manager 与经理讨论考核指标</a:t>
            </a:r>
          </a:p>
          <a:p>
            <a:r>
              <a:t>情景：You and your manager review whether the team’s KPI for call handling time is fair.</a:t>
            </a:r>
          </a:p>
          <a:p>
            <a:r>
              <a:t>Role A: Hana Park, team leader (you) Role B: Mr Collins, operations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(Hana): Thanks for meeting me. I’d like to discuss the call handling time target.</a:t>
            </a:r>
          </a:p>
          <a:p>
            <a:r>
              <a:t>B (Mr Collins): Of course. We’ve set it at five minutes. Is there a problem?</a:t>
            </a:r>
          </a:p>
          <a:p>
            <a:r>
              <a:t>A: The numbers are good, but I’m worried that agents rush calls to meet it, so quality may be suffering.</a:t>
            </a:r>
          </a:p>
          <a:p>
            <a:r>
              <a:t>B: Do you have any evidence?</a:t>
            </a:r>
          </a:p>
          <a:p>
            <a:r>
              <a:t>A: Customer satisfaction scores have dropped by two points this quarter, while handling time has improved.</a:t>
            </a:r>
          </a:p>
          <a:p>
            <a:r>
              <a:t>B: That’s a fair point. What would you suggest instead?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keep handling time as one measure, but add first-call resolution and customer feedback.</a:t>
            </a:r>
          </a:p>
          <a:p>
            <a:r>
              <a:t>B: But won’t that make reporting more complicated?</a:t>
            </a:r>
          </a:p>
          <a:p>
            <a:r>
              <a:t>A: Slightly. However, I think it would give us a more balanced picture, and agents wouldn’t feel pushed to game the system.</a:t>
            </a:r>
          </a:p>
          <a:p>
            <a:r>
              <a:t>B: I see. Could you put together a short proposal with a one-month pilot?</a:t>
            </a:r>
          </a:p>
          <a:p>
            <a:r>
              <a:t>A: Certainly. I’ll have it ready by Friday.</a:t>
            </a:r>
          </a:p>
          <a:p>
            <a:r>
              <a:t>B: Good. If the results look positive, we’ll roll it out to the other teams.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18 | </a:t>
            </a:r>
          </a:p>
          <a:p>
            <a:r>
              <a:t>Situation | You discuss a KPI with a manager.</a:t>
            </a:r>
          </a:p>
          <a:p>
            <a:r>
              <a:t>Your role (A) | Team leader. A KPI in your team that you want to improve: ______________</a:t>
            </a:r>
          </a:p>
          <a:p>
            <a:r>
              <a:t>Partner’s role (B) | Manager. Cautious about complexity.</a:t>
            </a:r>
          </a:p>
          <a:p>
            <a:r>
              <a:t>Must use (4 or more) | KPI · target · benchmark · fall short of · measurable · game the system</a:t>
            </a:r>
          </a:p>
          <a:p>
            <a:r>
              <a:t>Goal | Explain the problem with the current measure, propose a better one, and agree a pilot.</a:t>
            </a:r>
          </a:p>
          <a:p>
            <a:r>
              <a:t>My notes | ____________________________________________</a:t>
            </a:r>
          </a:p>
          <a:p>
            <a:r>
              <a:t>The manager says: “Numbers don’t lie.” Answer politely, using an example.</a:t>
            </a:r>
          </a:p>
          <a:p>
            <a:r>
              <a:t>You must explain a missed target to a senior manager. Take responsibility and give a plan.</a:t>
            </a:r>
          </a:p>
          <a:p>
            <a:r>
              <a:t>Explain a “vanity metric” to someone who has never heard the term.</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matters more when measuring performance: quantity or quality? | “Both matter, but I’d say… is more important because…”</a:t>
            </a:r>
          </a:p>
          <a:p>
            <a:r>
              <a:t>2. Is it fair to compare employees using the same metrics? | “It’s only fair if…” / “Different jobs need different…”</a:t>
            </a:r>
          </a:p>
          <a:p>
            <a:r>
              <a:t>3. Are KPIs motivating or stressful? | “Targets motivate me when… but they stress me when…”</a:t>
            </a:r>
          </a:p>
          <a:p>
            <a:r>
              <a:t>4. Where should the line be drawn on monitoring employees’ activity? | “Monitoring is acceptable if…, but not when…”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“Monitoring is acceptable if it is transparent and related to security or quality, for example tracking whether customer tickets are answered on time. But it is not acceptable when it records every keystroke or takes screenshots without telling employees. That kind of control destroys trust, and people stop taking the initiative. I think companies should tell employees what they monitor and why, and focus on results rather than on watching people.”</a:t>
            </a:r>
          </a:p>
          <a:p>
            <a:r>
              <a:t>transparent = 透明的。keystroke = 键盘敲击。take the initiative = 主动行动。”That kind of…” 用来概括前面所说的内容。</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We didn’t reach the goal. | We fell short of our target by 5%. | 具体、负责</a:t>
            </a:r>
          </a:p>
          <a:p>
            <a:r>
              <a:t>The team is doing well. | The team is consistently meeting its targets. | 更专业</a:t>
            </a:r>
          </a:p>
          <a:p>
            <a:r>
              <a:t>This number doesn’t mean much. | That figure doesn’t tell the whole story. | 委婉质疑</a:t>
            </a:r>
          </a:p>
          <a:p>
            <a:r>
              <a:t>Let’s use these numbers. | Let’s use these figures as a benchmark. | 数据用法</a:t>
            </a:r>
          </a:p>
          <a:p>
            <a:r>
              <a:t>People will cheat. | People may find ways to game the system. | 委婉</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Changes in numbers: increase by 8% · rise from 10% to 18% · a 5% fall · twice as much as…</a:t>
            </a:r>
          </a:p>
          <a:p>
            <a:r>
              <a:t>Comparison words: more than, less than, as… as, compared with, in contrast to.</a:t>
            </a:r>
          </a:p>
          <a:p>
            <a:r>
              <a:t>Cause and effect: as a result, therefore, this led to, which means that.</a:t>
            </a:r>
          </a:p>
          <a:p>
            <a:r>
              <a:t>Data: “the data shows” and “the data show” are both used; in business English the singular is very common.</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Sales increased to 20%. (growth)  →  ✓ Sales increased by 20%.  (by = 增长的幅度)</a:t>
            </a:r>
          </a:p>
          <a:p>
            <a:r>
              <a:t>✗ The sales of this year is more than last year.  →  ✓ This year’s sales are higher than last year’s.  (sales 用复数动词)</a:t>
            </a:r>
          </a:p>
          <a:p>
            <a:r>
              <a:t>✗ We have reached the target by 5%.  →  ✓ We have exceeded the target by 5%.  (exceed 才表示“超过”)</a:t>
            </a:r>
          </a:p>
          <a:p>
            <a:r>
              <a:t>Mistake Watch: Check by / to / from with numbers, comparative forms (no more better), and subject–verb agreement (results show).</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This KPI is more better than that one.  →  ✓ This KPI is better than that one.  (better 已是比较级)</a:t>
            </a:r>
          </a:p>
          <a:p>
            <a:r>
              <a:t>✗ The results shows that...  →  ✓ The results show that…  (results 是复数)</a:t>
            </a:r>
          </a:p>
          <a:p>
            <a:r>
              <a:t>✗ It’s depend on the situation.  →  ✓ It depends on the situation.  (depend 是实义动词)</a:t>
            </a:r>
          </a:p>
          <a:p>
            <a:r>
              <a:t>Mistake Watch: Check by / to / from with numbers, comparative forms (no more better), and subject–verb agreement (results show).</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Measurement culture: US companies often use detailed dashboards and formal performance reviews. UK teams may be more cautious about linking pay directly to numbers.</a:t>
            </a:r>
          </a:p>
          <a:p>
            <a:r>
              <a:t>Privacy: In the EU, employee monitoring is regulated by data protection law (GDPR). In the US, rules vary by state and by company.</a:t>
            </a:r>
          </a:p>
          <a:p>
            <a:r>
              <a:t>Honest reporting: In English-speaking business cultures, reporting a miss early and with a plan is respected more than hiding it.</a:t>
            </a:r>
          </a:p>
          <a:p>
            <a:r>
              <a:t>数据变化注意介词:increase by 20%(增加了 20%),increase to 20%(增加到 20%)。讨论 KPI 时要说“利与弊”:The advantage is… but the risk is…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how to measure productivity in a job.</a:t>
            </a:r>
          </a:p>
          <a:p>
            <a:r>
              <a:t>I can describe trends in numbers with the correct prepositions.</a:t>
            </a:r>
          </a:p>
          <a:p>
            <a:r>
              <a:t>I can discuss the pros and cons of a KPI.</a:t>
            </a:r>
          </a:p>
          <a:p>
            <a:r>
              <a:t>I can explain a missed target honestly and offer a plan.</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prepositions with numbers (increase by, rise to), comparatives and subject–verb agreement.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19 · Staying Motivated 保持动力</a:t>
            </a:r>
          </a:p>
          <a:p>
            <a:r>
              <a:t>Goal: talk about what motivates people at work, how to keep your energy up when things are hard, and how to motivate others.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题用过去式。第 3 题用一般现在时讲习惯。”get yourself going” = 让自己行动起来(口语)。</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Share how you stay motivated when a project is long and difficult.</a:t>
            </a:r>
          </a:p>
          <a:p>
            <a:r>
              <a:t>Say: the challenge → a habit that helps → a small reward → a person who supports you</a:t>
            </a:r>
          </a:p>
          <a:p>
            <a:r>
              <a:t>Useful starters: “What keeps me going is…” / “When I feel low, I…” / “It helps to break the project down into…”</a:t>
            </a:r>
          </a:p>
          <a:p>
            <a:r>
              <a:t>keep going 坚持下去;break it down into small steps 拆分成小步骤。”What keeps me going is…” 是很自然的开头。</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Money matters, but it rarely explains why some people throw themselves into their work while others merely go through the motions. Psychologists often distinguish between extrinsic motivation, such as pay, bonuses and praise, and intrinsic motivation, which comes from interest in the work itself. Both are useful, though the second tends to last longer. People feel more driven when they have a say in how they work, when they can improve their skills, and when their effort connects to something they value. Setbacks are unavoidable, so it helps to build routines that survive a bad week: small daily targets, regular progress checks and some form of celebration, even a modest one. Managers can help by giving honest recognition and by explaining why the work matters. A sincere “thank you” costs nothing and can lift a team for days.</a:t>
            </a:r>
          </a:p>
          <a:p>
            <a:r>
              <a:t>extrinsic / intrinsic 外在的 / 内在的。”go through the motions” 敷衍了事。”have a say” 有发言权。”costs nothing” = 不花钱。</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difference between extrinsic and intrinsic motivation?</a:t>
            </a:r>
          </a:p>
          <a:p>
            <a:r>
              <a:t>A: Extrinsic comes from outside (pay, bonuses, praise); intrinsic comes from interest in the work itself.</a:t>
            </a:r>
          </a:p>
          <a:p>
            <a:r>
              <a:t>Q2. Which kind tends to last longer?</a:t>
            </a:r>
          </a:p>
          <a:p>
            <a:r>
              <a:t>A: Intrinsic motivation.</a:t>
            </a:r>
          </a:p>
          <a:p>
            <a:r>
              <a:t>Q3. What can managers do cheaply to motivate people?</a:t>
            </a:r>
          </a:p>
          <a:p>
            <a:r>
              <a:t>A: Give honest recognition, explain why the work matters, and say a sincere thank you.</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What drives people 动力来源</a:t>
            </a:r>
          </a:p>
          <a:p>
            <a:r>
              <a:t>领读 → 学员跟读 → 请学员用表达造一个和自己工作相关的句子。</a:t>
            </a:r>
          </a:p>
          <a:p>
            <a:r>
              <a:t>motivation (noun (uncountable)) 动力 — “Recognition is a strong source of motivation.”</a:t>
            </a:r>
          </a:p>
          <a:p>
            <a:r>
              <a:t>incentive (noun) 激励措施 — “The bonus is a good incentive.”</a:t>
            </a:r>
          </a:p>
          <a:p>
            <a:r>
              <a:t>recognition (noun (uncountable)) 认可,表扬 — “Staff want recognition for their effort.”</a:t>
            </a:r>
          </a:p>
          <a:p>
            <a:r>
              <a:t>a sense of purpose (noun phrase) 使命感 — “A sense of purpose keeps me going.”</a:t>
            </a:r>
          </a:p>
          <a:p>
            <a:r>
              <a:t>set a goal (collocation) 设定目标 — “Set a goal for each week.”</a:t>
            </a:r>
          </a:p>
          <a:p>
            <a:r>
              <a:t>reward (noun / verb) 奖励 — “Give yourself a small reward when you finish.”</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Keeping the energy up ★ 保持干劲</a:t>
            </a:r>
          </a:p>
          <a:p>
            <a:r>
              <a:t>领读 → 学员跟读 → 请学员用表达造一个和自己工作相关的句子。</a:t>
            </a:r>
          </a:p>
          <a:p>
            <a:r>
              <a:t>★ keep going (phrase) 坚持下去 — “When things get hard, I keep going by taking small steps.”</a:t>
            </a:r>
          </a:p>
          <a:p>
            <a:r>
              <a:t>★ break (it) down into (phrasal verb) 拆分成 — “Break the project down into small tasks.”</a:t>
            </a:r>
          </a:p>
          <a:p>
            <a:r>
              <a:t>★ lose steam (idiom) 失去动力 — “The project lost steam after the first month.”</a:t>
            </a:r>
          </a:p>
          <a:p>
            <a:r>
              <a:t>★ recharge your batteries (idiom) 恢复精力 — “A weekend away helped me recharge my batteries.”</a:t>
            </a:r>
          </a:p>
          <a:p>
            <a:r>
              <a:t>★ go the extra mile (idiom) 额外努力 — “Our team always goes the extra mile for clients.”</a:t>
            </a:r>
          </a:p>
          <a:p>
            <a:r>
              <a:t>★ pick yourself up (phrasal verb) 重新振作 — “After the setback, she picked herself up and tried again.”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incentive / purpose / break down / steam / recharge / extra</a:t>
            </a:r>
          </a:p>
          <a:p>
            <a:r>
              <a:t>1. A bonus is a good _______ for sales staff. → incentive</a:t>
            </a:r>
          </a:p>
          <a:p>
            <a:r>
              <a:t>2. A sense of _______ keeps me going on difficult days. → purpose</a:t>
            </a:r>
          </a:p>
          <a:p>
            <a:r>
              <a:t>3. Try to _______ the project into small tasks. → break down</a:t>
            </a:r>
          </a:p>
          <a:p>
            <a:r>
              <a:t>4. The project lost _______ after the first month. → steam</a:t>
            </a:r>
          </a:p>
          <a:p>
            <a:r>
              <a:t>5. A weekend away helped me _______ my batteries. → recharge</a:t>
            </a:r>
          </a:p>
          <a:p>
            <a:r>
              <a:t>6. Our team always goes the _______ mile for clients. → extra</a:t>
            </a:r>
          </a:p>
          <a:p>
            <a:r>
              <a:t>Mistake Watch (拼写): motivation (not “motivition”), incentive (not “incentif”), recognition (not “recogintion”). Motivated describes a person, motivating describes a thing: “I’m motivated” / “The talk was motivating.”</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Motivating a team member 激励团队成员</a:t>
            </a:r>
          </a:p>
          <a:p>
            <a:r>
              <a:t>情景：A usually enthusiastic team member, Leo, has lost energy on a long project. His team leader talks to him.</a:t>
            </a:r>
          </a:p>
          <a:p>
            <a:r>
              <a:t>Role A: Nina Chen, team leader (you) Role B: Leo Martin,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(Nina): Leo, got a minute? I’ve noticed you’ve seemed a bit flat recently. Is everything okay?</a:t>
            </a:r>
          </a:p>
          <a:p>
            <a:r>
              <a:t>B (Leo): Honestly, I think the project has lost steam for me. It feels like it’s never going to finish.</a:t>
            </a:r>
          </a:p>
          <a:p>
            <a:r>
              <a:t>A: I understand. It’s been a long haul. What’s the hardest part for you?</a:t>
            </a:r>
          </a:p>
          <a:p>
            <a:r>
              <a:t>B: Probably not seeing any progress. I keep doing the same tasks.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makes sense. Let’s break the project into smaller milestones, so you can see the progress and celebrate small wins.</a:t>
            </a:r>
          </a:p>
          <a:p>
            <a:r>
              <a:t>B: That would help. I’d also like more feedback. I don’t know if I’m doing a good job.</a:t>
            </a:r>
          </a:p>
          <a:p>
            <a:r>
              <a:t>A: Fair enough. Let me tell you now: your work has been excellent. The client specifically mentioned your report last week.</a:t>
            </a:r>
          </a:p>
          <a:p>
            <a:r>
              <a:t>B: Really? I didn’t know that. Thank you.</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And if you’d like a change, you could lead the next presentation. Would that interest you?</a:t>
            </a:r>
          </a:p>
          <a:p>
            <a:r>
              <a:t>B: Yes, I’d like that. It would be a good challenge.</a:t>
            </a:r>
          </a:p>
          <a:p>
            <a:r>
              <a:t>A: Great. Let’s catch up every Friday for 15 minutes, just to keep you on track.</a:t>
            </a:r>
          </a:p>
          <a:p>
            <a:r>
              <a:t>B: Sounds good. Thanks for noticing, Nina.</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19 | </a:t>
            </a:r>
          </a:p>
          <a:p>
            <a:r>
              <a:t>Situation | A team leader talks to a demotivated colleague.</a:t>
            </a:r>
          </a:p>
          <a:p>
            <a:r>
              <a:t>Your role (A) | Team leader. Your listening and coaching style: ______________</a:t>
            </a:r>
          </a:p>
          <a:p>
            <a:r>
              <a:t>Partner’s role (B) | Team member who has lost steam.</a:t>
            </a:r>
          </a:p>
          <a:p>
            <a:r>
              <a:t>Must use (4 or more) | motivation · lose steam · break down · recognition · go the extra mile · recharge</a:t>
            </a:r>
          </a:p>
          <a:p>
            <a:r>
              <a:t>Goal | Ask open questions, give recognition, and agree on one change.</a:t>
            </a:r>
          </a:p>
          <a:p>
            <a:r>
              <a:t>My notes | ____________________________________________</a:t>
            </a:r>
          </a:p>
          <a:p>
            <a:r>
              <a:t>Leo says: “I’m thinking of leaving.” Stay calm, ask why, and don’t make promises you can’t keep.</a:t>
            </a:r>
          </a:p>
          <a:p>
            <a:r>
              <a:t>Give a 30-second pep talk to a team before a difficult deadline.</a:t>
            </a:r>
          </a:p>
          <a:p>
            <a:r>
              <a:t>Use the “break it down” technique with a real goal of your own.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motivates you more: a bonus or recognition? | “For me, recognition is more important because…” / “A bonus is nice, but…”</a:t>
            </a:r>
          </a:p>
          <a:p>
            <a:r>
              <a:t>2. How can a manager keep motivation high in a long project? | “A manager can… by…” / “It helps to celebrate small wins.”</a:t>
            </a:r>
          </a:p>
          <a:p>
            <a:r>
              <a:t>3. Which matters more, motivation or discipline? | “Motivation gets you started, but discipline keeps you going.”</a:t>
            </a:r>
          </a:p>
          <a:p>
            <a:r>
              <a:t>4. What do you do when you have a bad day? | “On a bad day, I try to…” / “I remind myself that…”</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“Motivation gets you started, but discipline keeps you going. Motivation comes and goes, so you can’t rely on it every day. On low-energy days, habits and routines carry you through. For example, I write for twenty minutes every morning even if I don’t feel like it. After a while, the habit itself creates motivation, because I can see my progress. So I think both matter, but discipline is more reliable in the long run.”</a:t>
            </a:r>
          </a:p>
          <a:p>
            <a:r>
              <a:t>carry you through = 帮助你度过。even if I don’t feel like it = 即使不想做。reliable = 可靠的。in the long run = 从长远来看。</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I’m not in the mood. | I’m struggling to find the motivation today. | 具体描述</a:t>
            </a:r>
          </a:p>
          <a:p>
            <a:r>
              <a:t>I want praise. | I’d appreciate more recognition for my work. | 礼貌表达需求</a:t>
            </a:r>
          </a:p>
          <a:p>
            <a:r>
              <a:t>I’m tired. | I need to recharge my batteries. | 习语</a:t>
            </a:r>
          </a:p>
          <a:p>
            <a:r>
              <a:t>Good job! | That was excellent work. The client was really impressed. | 具体表扬</a:t>
            </a:r>
          </a:p>
          <a:p>
            <a:r>
              <a:t>Don’t give up! | Hang in there. It’ll get easier. | 鼓励</a:t>
            </a:r>
          </a:p>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Praise with detail: “Good job” is fine, but “Your report was clear and the client loved it” is stronger.</a:t>
            </a:r>
          </a:p>
          <a:p>
            <a:r>
              <a:t>Feeling adjectives: -ed for people (motivated, bored, excited) and -ing for things (motivating, boring, exciting).</a:t>
            </a:r>
          </a:p>
          <a:p>
            <a:r>
              <a:t>Soft check-ins: “You’ve been a bit quiet lately, haven’t you?” or “Is everything okay?” sound caring.</a:t>
            </a:r>
          </a:p>
          <a:p>
            <a:r>
              <a:t>Encouraging phrases: Hang in there. / You’re doing great. / One step at a time. / It’ll get easier.</a:t>
            </a:r>
          </a:p>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very motivating.  →  ✓ I’m very motivated.  (-ed 形容词形容人的感受)</a:t>
            </a:r>
          </a:p>
          <a:p>
            <a:r>
              <a:t>✗ The work is very bored.  →  ✓ The work is very boring.  (形容事物用 -ing)</a:t>
            </a:r>
          </a:p>
          <a:p>
            <a:r>
              <a:t>✗ She gave me a big encourage.  →  ✓ She gave me a lot of encouragement.  (encourage 是动词)</a:t>
            </a:r>
          </a:p>
          <a:p>
            <a:r>
              <a:t>Mistake Watch: Check -ed / -ing adjectives, noun vs verb forms (encouragement / encourage), and lack as a verb.</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lost my interesting in the job.  →  ✓ I lost my interest in the job.  (interest 是名词)</a:t>
            </a:r>
          </a:p>
          <a:p>
            <a:r>
              <a:t>✗ I am lack of motivation.  →  ✓ I lack motivation. / I’m lacking in motivation.  (lack 是及物动词)</a:t>
            </a:r>
          </a:p>
          <a:p>
            <a:r>
              <a:t>✗ This project makes me feel pressured very much.  →  ✓ This project puts me under a lot of pressure.  (put sb under pressure)</a:t>
            </a:r>
          </a:p>
          <a:p>
            <a:r>
              <a:t>Mistake Watch: Check -ed / -ing adjectives, noun vs verb forms (encouragement / encourage), and lack as a verb.</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Recognition culture: In US companies, praise is frequent and enthusiastic (“Great job!”). British managers may be more understated (“That was rather good”). Both can be sincere.</a:t>
            </a:r>
          </a:p>
          <a:p>
            <a:r>
              <a:t>Public vs private praise: Public thanks is common in English-speaking teams, but some people prefer private. Ask what they prefer.</a:t>
            </a:r>
          </a:p>
          <a:p>
            <a:r>
              <a:t>Feedback: Specific, sincere feedback motivates more than general compliments. Say what they did and what effect it had.</a:t>
            </a:r>
          </a:p>
          <a:p>
            <a:r>
              <a:t>-ed 形容词描述人的感受(I’m motivated),-ing 描述引起感受的事物(motivating)。表扬要具体:说清楚做了什么、有什么效果。</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what motivates me, with examples.</a:t>
            </a:r>
          </a:p>
          <a:p>
            <a:r>
              <a:t>I can motivate a colleague with specific praise and encouragement.</a:t>
            </a:r>
          </a:p>
          <a:p>
            <a:r>
              <a:t>I can use -ed / -ing adjectives correctly.</a:t>
            </a:r>
          </a:p>
          <a:p>
            <a:r>
              <a:t>I can use at least four ★ idioms in a short talk.</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-ed / -ing adjectives, noun vs verb forms and the verb lack.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20 · Why Training? 为什么培训</a:t>
            </a:r>
          </a:p>
          <a:p>
            <a:r>
              <a:t>Goal: explain why training matters for companies and employees, and argue for (or against) a training investment.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题用现在完成时 What training have you had…。第 5 题用第二条件句。training 不可数。</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Persuade a manager to invest in a training programme for your team.</a:t>
            </a:r>
          </a:p>
          <a:p>
            <a:r>
              <a:t>Say: the problem → the training → the benefits → the cost and return</a:t>
            </a:r>
          </a:p>
          <a:p>
            <a:r>
              <a:t>Useful starters: “I’d like to propose…” / “The main benefit would be…” / “In the long run, it would pay for itself.”</a:t>
            </a:r>
          </a:p>
          <a:p>
            <a:r>
              <a:t>pay for itself = 投入会自己赚回。提案句型:I’d like to propose + -ing / that we + 动词原形。</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money is tight, training budgets are often the first to be cut. They look like a cost today with benefits that will only appear later. Yet research and common sense point in the same direction: companies that develop their people keep them longer, adapt faster and recruit more easily. Replacing an employee can cost far more than teaching a current one a new skill. Training also changes how people feel. Staff who are offered chances to grow tend to feel valued, and that feeling shows in the way they treat customers. Of course, not all training is equally useful. A one-day lecture with no follow-up rarely changes behaviour. The best programmes link learning to real tasks, give people time to practise and measure results afterwards. In that case, a training budget is better seen as an investment than as an expense.</a:t>
            </a:r>
          </a:p>
          <a:p>
            <a:r>
              <a:t>“money is tight” = 资金紧张。adapt = 适应。follow-up = 后续跟进。”better seen as… than…” 是被动比较结构。</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are training budgets often cut first?</a:t>
            </a:r>
          </a:p>
          <a:p>
            <a:r>
              <a:t>A: They look like a cost today with benefits that appear only later.</a:t>
            </a:r>
          </a:p>
          <a:p>
            <a:r>
              <a:t>Q2. Give one reason why training can save money.</a:t>
            </a:r>
          </a:p>
          <a:p>
            <a:r>
              <a:t>A: Replacing an employee can cost far more than training a current one.</a:t>
            </a:r>
          </a:p>
          <a:p>
            <a:r>
              <a:t>Q3. What makes a training programme effective?</a:t>
            </a:r>
          </a:p>
          <a:p>
            <a:r>
              <a:t>A: Linking learning to real tasks, giving time to practise and measuring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Training and development 培训与发展</a:t>
            </a:r>
          </a:p>
          <a:p>
            <a:r>
              <a:t>领读 → 学员跟读 → 请学员用表达造一个和自己工作相关的句子。</a:t>
            </a:r>
          </a:p>
          <a:p>
            <a:r>
              <a:t>training (noun (uncountable)) 培训 — “The company provides free training for all staff.”</a:t>
            </a:r>
          </a:p>
          <a:p>
            <a:r>
              <a:t>skills gap (noun phrase) 技能缺口 — “We need to close the skills gap in data analysis.”</a:t>
            </a:r>
          </a:p>
          <a:p>
            <a:r>
              <a:t>induction (noun) 入职培训 — “New staff attend a two-day induction.”</a:t>
            </a:r>
          </a:p>
          <a:p>
            <a:r>
              <a:t>workshop (noun) 工作坊 — “I attended a workshop on negotiation.”</a:t>
            </a:r>
          </a:p>
          <a:p>
            <a:r>
              <a:t>on-the-job training (noun phrase) 在职培训 — “Most of my learning was on-the-job training.”</a:t>
            </a:r>
          </a:p>
          <a:p>
            <a:r>
              <a:t>certificate (noun) 证书 — “I received a certificate after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Making the case ★ 论证投入</a:t>
            </a:r>
          </a:p>
          <a:p>
            <a:r>
              <a:t>领读 → 学员跟读 → 请学员用表达造一个和自己工作相关的句子。</a:t>
            </a:r>
          </a:p>
          <a:p>
            <a:r>
              <a:t>★ invest in (phrasal verb) 投资于 — “We should invest in developing our people.”</a:t>
            </a:r>
          </a:p>
          <a:p>
            <a:r>
              <a:t>★ return on investment (ROI) (noun phrase) 投资回报 — “The ROI on training was clear within a year.”</a:t>
            </a:r>
          </a:p>
          <a:p>
            <a:r>
              <a:t>★ upskill / reskill (verb) 提升技能 / 转岗培训 — “We plan to upskill our sales team.”</a:t>
            </a:r>
          </a:p>
          <a:p>
            <a:r>
              <a:t>★ retain talent (collocation) 留住人才 — “Training helps us retain talent.”</a:t>
            </a:r>
          </a:p>
          <a:p>
            <a:r>
              <a:t>★ pay for itself (idiom) 回本 — “The course will pay for itself within six months.”</a:t>
            </a:r>
          </a:p>
          <a:p>
            <a:r>
              <a:t>★ keep up with (phrasal verb) 跟上 — “Technology changes fast, so we must keep up with it.”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induction / skills gap / on-the-job / invest in / ROI / pay for itself</a:t>
            </a:r>
          </a:p>
          <a:p>
            <a:r>
              <a:t>1. New staff attend a two-day _______ before they start. → induction</a:t>
            </a:r>
          </a:p>
          <a:p>
            <a:r>
              <a:t>2. We need to close the _______ in data analysis. → skills gap</a:t>
            </a:r>
          </a:p>
          <a:p>
            <a:r>
              <a:t>3. Most of my learning was _______ training. → on-the-job</a:t>
            </a:r>
          </a:p>
          <a:p>
            <a:r>
              <a:t>4. We should _______ developing our people. → invest in</a:t>
            </a:r>
          </a:p>
          <a:p>
            <a:r>
              <a:t>5. The _______ on the course was clear within a year. → ROI</a:t>
            </a:r>
          </a:p>
          <a:p>
            <a:r>
              <a:t>6. I’m sure this course will _______ within six months. → pay for itself</a:t>
            </a:r>
          </a:p>
          <a:p>
            <a:r>
              <a:t>Mistake Watch (拼写与搭配): training is uncountable (some training; “a training” is not standard). Spelling: induction (not “indution”), certificate (not “certifcate”). Say invest in (not “invest on”).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Making the case for a training budget 争取培训预算</a:t>
            </a:r>
          </a:p>
          <a:p>
            <a:r>
              <a:t>情景：You ask your director, Mr Hall, to approve a data-skills training programme for your team.</a:t>
            </a:r>
          </a:p>
          <a:p>
            <a:r>
              <a:t>Role A: Zoe Lin, team leader (you) Role B: Mr Hall, finance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(Zoe): Thank you for seeing me, Mr Hall. I’d like to propose a training programme for my team.</a:t>
            </a:r>
          </a:p>
          <a:p>
            <a:r>
              <a:t>B (Mr Hall): Go on. What did you have in mind?</a:t>
            </a:r>
          </a:p>
          <a:p>
            <a:r>
              <a:t>A: A six-week course on data analysis. At the moment, we depend too much on one person for reports, and that’s a risk.</a:t>
            </a:r>
          </a:p>
          <a:p>
            <a:r>
              <a:t>B: How much would it cost?</a:t>
            </a:r>
          </a:p>
          <a:p>
            <a:r>
              <a:t>A: Around 8,000 dollars for the team of eight.</a:t>
            </a:r>
          </a:p>
          <a:p>
            <a:r>
              <a:t>B: That’s a significant amount. What’s the return?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We’d save about ten hours a week on manual reporting. At current salary costs, the course would pay for itself in about five months.</a:t>
            </a:r>
          </a:p>
          <a:p>
            <a:r>
              <a:t>B: And what if people take the training and then leave?</a:t>
            </a:r>
          </a:p>
          <a:p>
            <a:r>
              <a:t>A: That’s a fair concern. I think training actually helps us retain talent, because people feel invested in. We could also add a retention agreement.</a:t>
            </a:r>
          </a:p>
          <a:p>
            <a:r>
              <a:t>B: Hmm. Can you put together a one-page proposal with the figures?</a:t>
            </a:r>
          </a:p>
          <a:p>
            <a:r>
              <a:t>A: Of course. I’ll send it by Wednesday.</a:t>
            </a:r>
          </a:p>
          <a:p>
            <a:r>
              <a:t>B: Good. If the numbers add up, I’ll support it.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20 | </a:t>
            </a:r>
          </a:p>
          <a:p>
            <a:r>
              <a:t>Situation | You persuade a director to fund training.</a:t>
            </a:r>
          </a:p>
          <a:p>
            <a:r>
              <a:t>Your role (A) | Team leader. The skill and the training you propose: ______________</a:t>
            </a:r>
          </a:p>
          <a:p>
            <a:r>
              <a:t>Partner’s role (B) | Director. Cost-conscious but fair.</a:t>
            </a:r>
          </a:p>
          <a:p>
            <a:r>
              <a:t>Must use (4 or more) | invest in · skills gap · return on investment · retain talent · pay for itself · keep up with</a:t>
            </a:r>
          </a:p>
          <a:p>
            <a:r>
              <a:t>Goal | Present the need, cost and benefit, answer one objection, and agree the next step.</a:t>
            </a:r>
          </a:p>
          <a:p>
            <a:r>
              <a:t>My notes | ____________________________________________</a:t>
            </a:r>
          </a:p>
          <a:p>
            <a:r>
              <a:t>The director says: “We’ll just hire someone with the skills.” Explain why training may be better.</a:t>
            </a:r>
          </a:p>
          <a:p>
            <a:r>
              <a:t>He says: “We can’t afford it.” Propose a cheaper option (for example online or in-house training).</a:t>
            </a:r>
          </a:p>
          <a:p>
            <a:r>
              <a:t>Present the proposal in 45 seconds as a pitch.</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Who should pay for training: the company or the employee? | “In my view, the company should pay if…” / “Employees should contribute when…”</a:t>
            </a:r>
          </a:p>
          <a:p>
            <a:r>
              <a:t>2. What is the best way to learn: classroom, online or on the job? | “I learn best by… because…”</a:t>
            </a:r>
          </a:p>
          <a:p>
            <a:r>
              <a:t>3. How do you measure whether training has worked? | “You could look at…” / “A good indicator is…”</a:t>
            </a:r>
          </a:p>
          <a:p>
            <a:r>
              <a:t>4. What are the risks of not training staff? | “Without training, staff may… and the company could…”</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“Without training, staff may fall behind as technology changes, and mistakes become more common. The company could lose its best people, because ambitious employees want to grow. It may also depend too heavily on a few experts, which is risky if one of them leaves. Training costs money, but not training can cost more in lost customers, errors and recruitment.”</a:t>
            </a:r>
          </a:p>
          <a:p>
            <a:r>
              <a:t>fall behind = 落后。depend on = 依赖。”not training can cost more” 中 not training 是动名词短语作主语。</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We need training. | I’d like to propose a development programme for the team. | 提案语气</a:t>
            </a:r>
          </a:p>
          <a:p>
            <a:r>
              <a:t>It will cost a lot. | The upfront investment would be around 8,000 dollars. | 具体</a:t>
            </a:r>
          </a:p>
          <a:p>
            <a:r>
              <a:t>It’s useful. | It would bring clear benefits in terms of efficiency. | in terms of</a:t>
            </a:r>
          </a:p>
          <a:p>
            <a:r>
              <a:t>People will leave. | There’s a risk that some staff may leave afterwards. | 风险表达</a:t>
            </a:r>
          </a:p>
          <a:p>
            <a:r>
              <a:t>Please agree. | I’d be grateful for your support. | 礼貌</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Proposal structure: problem → solution → benefit → cost → next step.</a:t>
            </a:r>
          </a:p>
          <a:p>
            <a:r>
              <a:t>Linking benefits: as a result, consequently, which means, in turn.</a:t>
            </a:r>
          </a:p>
          <a:p>
            <a:r>
              <a:t>Uncountable: training, equipment, information, research. Use a training course / a training session for a single event.</a:t>
            </a:r>
          </a:p>
          <a:p>
            <a:r>
              <a:t>Gerund as subject: “Investing in training pays off.” “Not training staff can be costly.”</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should hold a training.  →  ✓ We should hold a training session. / We should run a training course.  (training 不可数)</a:t>
            </a:r>
          </a:p>
          <a:p>
            <a:r>
              <a:t>✗ The company provide many trainings.  →  ✓ The company provides a lot of training.  (training 不可数;company 用 provides)</a:t>
            </a:r>
          </a:p>
          <a:p>
            <a:r>
              <a:t>✗ I joined a training last month.  →  ✓ I attended a training course last month.  (说清楚 course / session)</a:t>
            </a:r>
          </a:p>
          <a:p>
            <a:r>
              <a:t>Mistake Watch: Check uncountable training, singular verbs after singular subjects (provides), and spend … on / -ing.</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Training is helpful to improve skills.  →  ✓ Training helps to improve skills.  (简洁自然)</a:t>
            </a:r>
          </a:p>
          <a:p>
            <a:r>
              <a:t>✗ We will spend 8,000 dollars to train them.  →  ✓ We will spend 8,000 dollars on training them. / training them.  (spend + 金额 + on / -ing)</a:t>
            </a:r>
          </a:p>
          <a:p>
            <a:r>
              <a:t>✗ Staff need to be trained for to be good.  →  ✓ Staff need to be trained to do the job well.  (目的用 to + 动词原形)</a:t>
            </a:r>
          </a:p>
          <a:p>
            <a:r>
              <a:t>Mistake Watch: Check uncountable training, singular verbs after singular subjects (provides), and spend … on / -ing.</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Training culture: Many UK and US firms offer a personal development budget per employee. It is normal to ask about it in interviews.</a:t>
            </a:r>
          </a:p>
          <a:p>
            <a:r>
              <a:t>Certifications: Industry certificates (for example PMP or CFA) are valued, but employers also like proof that you have applied what you learned.</a:t>
            </a:r>
          </a:p>
          <a:p>
            <a:r>
              <a:t>Return on investment: Managers like numbers. Include savings, time or customer impact in a proposal, not only “it’s good for morale”.</a:t>
            </a:r>
          </a:p>
          <a:p>
            <a:r>
              <a:t>training 不可数,说 a training course 或 a training session。提案时用数据(成本、回报)比空泛地说“有用”更有说服力。</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why training matters using two reasons.</a:t>
            </a:r>
          </a:p>
          <a:p>
            <a:r>
              <a:t>I can make a proposal for training with costs and benefits.</a:t>
            </a:r>
          </a:p>
          <a:p>
            <a:r>
              <a:t>I can answer an objection politely.</a:t>
            </a:r>
          </a:p>
          <a:p>
            <a:r>
              <a:t>I can use training as an uncountable noun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training, singular/plural verb agreement and purpose clauses with to.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21 · Getting Training 接受培训</a:t>
            </a:r>
          </a:p>
          <a:p>
            <a:r>
              <a:t>Goal: talk about your own learning: what to learn, how to choose a course, how to learn effectively and how to apply it at work.</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题用现在完成时和过去式。第 2 题用 prefer + -ing / to。apply … to = 把…应用于。</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training course you took (or would like to take) and what you gained from it.</a:t>
            </a:r>
          </a:p>
          <a:p>
            <a:r>
              <a:t>Say: course and reason → what it involved → what you gained → how you used it</a:t>
            </a:r>
          </a:p>
          <a:p>
            <a:r>
              <a:t>Useful starters: “I took a course in… because…” / “What I found most useful was…” / “As a result, I’m now able to…”</a:t>
            </a:r>
          </a:p>
          <a:p>
            <a:r>
              <a:t>gain = 获得;”As a result, I’m now able to…” 说明学习成果。take a course in + 科目。</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people finish a course with a certificate and a notebook full of ideas, then return to work and forget most of it within weeks. The problem is not usually the course; it is what happens afterwards. Studies of learning suggest that three habits help: review soon, apply quickly and teach someone else. A short summary written within 24 hours helps the brain to store new information. Using the new skill in a real task, even a small one, makes it stick. And explaining it to a colleague forces you to organise your thoughts. Before you choose a course, ask yourself what problem it will help you solve. After it, tell your manager one thing you intend to change. Training that leads to a specific action has a far better chance of paying off than training that simply fills a calendar.</a:t>
            </a:r>
          </a:p>
          <a:p>
            <a:r>
              <a:t>stick = 记住、留下。”organise your thoughts” = 理清思路。pay off = 见效。”fills a calendar” = 只是占日程。</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goes wrong after many courses?</a:t>
            </a:r>
          </a:p>
          <a:p>
            <a:r>
              <a:t>A: People return to work and forget most of what they learned within weeks.</a:t>
            </a:r>
          </a:p>
          <a:p>
            <a:r>
              <a:t>Q2. What three habits help learning stick?</a:t>
            </a:r>
          </a:p>
          <a:p>
            <a:r>
              <a:t>A: Review soon, apply quickly and teach someone else.</a:t>
            </a:r>
          </a:p>
          <a:p>
            <a:r>
              <a:t>Q3. What should you ask yourself before choosing a course?</a:t>
            </a:r>
          </a:p>
          <a:p>
            <a:r>
              <a:t>A: What problem it will help you solve.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Choosing and taking a course 选课与学习</a:t>
            </a:r>
          </a:p>
          <a:p>
            <a:r>
              <a:t>领读 → 学员跟读 → 请学员用表达造一个和自己工作相关的句子。</a:t>
            </a:r>
          </a:p>
          <a:p>
            <a:r>
              <a:t>sign up for a course (phrasal verb) 报名参加课程 — “I signed up for a course in project management.”</a:t>
            </a:r>
          </a:p>
          <a:p>
            <a:r>
              <a:t>attend (verb) 参加 — “I attended a three-day workshop.”</a:t>
            </a:r>
          </a:p>
          <a:p>
            <a:r>
              <a:t>assignment (noun) 课程作业 — “The assignment takes about five hours a week.”</a:t>
            </a:r>
          </a:p>
          <a:p>
            <a:r>
              <a:t>submit (verb) 提交 — “The deadline for submitting the assignment is Friday.”</a:t>
            </a:r>
          </a:p>
          <a:p>
            <a:r>
              <a:t>certificate / qualification (noun) 证书;资格 — “I earned a certificate in digital marketing.”</a:t>
            </a:r>
          </a:p>
          <a:p>
            <a:r>
              <a:t>e-learning / online course (noun) 在线学习 — “I prefer e-learning because I can study at my own pace.”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Learning effectively ★ 高效学习</a:t>
            </a:r>
          </a:p>
          <a:p>
            <a:r>
              <a:t>领读 → 学员跟读 → 请学员用表达造一个和自己工作相关的句子。</a:t>
            </a:r>
          </a:p>
          <a:p>
            <a:r>
              <a:t>★ pick up (a skill) (phrasal verb) 学会、掌握 — “I picked up basic Python from online videos.”</a:t>
            </a:r>
          </a:p>
          <a:p>
            <a:r>
              <a:t>★ brush up on (phrasal verb) 复习、温习 — “I need to brush up on my English before the meeting.”</a:t>
            </a:r>
          </a:p>
          <a:p>
            <a:r>
              <a:t>★ get the hang of (idiom) 掌握窍门 — “After a few weeks, I got the hang of the software.”</a:t>
            </a:r>
          </a:p>
          <a:p>
            <a:r>
              <a:t>★ put into practice (collocation) 付诸实践 — “I put the new methods into practice immediately.”</a:t>
            </a:r>
          </a:p>
          <a:p>
            <a:r>
              <a:t>★ learn from scratch (phrase) 从零开始学 — “She learned coding from scratch.”</a:t>
            </a:r>
          </a:p>
          <a:p>
            <a:r>
              <a:t>★ at your own pace (phrase) 按自己的节奏 — “The course lets you study at your own pace.”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signed up / attended / assignment / pick up / brush up / hang</a:t>
            </a:r>
          </a:p>
          <a:p>
            <a:r>
              <a:t>1. I _______ for a course in project management last month. → signed up</a:t>
            </a:r>
          </a:p>
          <a:p>
            <a:r>
              <a:t>2. I _______ a three-day workshop in Hong Kong. → attended</a:t>
            </a:r>
          </a:p>
          <a:p>
            <a:r>
              <a:t>3. The _______ takes about five hours a week. → assignment</a:t>
            </a:r>
          </a:p>
          <a:p>
            <a:r>
              <a:t>4. I’d like to _______ some basic data skills this year. → pick up</a:t>
            </a:r>
          </a:p>
          <a:p>
            <a:r>
              <a:t>5. I need to _______ on my Excel before the new job. → brush up</a:t>
            </a:r>
          </a:p>
          <a:p>
            <a:r>
              <a:t>6. After a few weeks, I got the _______ of the software. → hang</a:t>
            </a:r>
          </a:p>
          <a:p>
            <a:r>
              <a:t>Mistake Watch (拼写与搭配): attend takes no preposition (“attend a course”, not “attend to a course”), assignment (not “asignment”), certificate (not “certifcate”). Pick up and brush up on are phrasal verbs, so keep the particle.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Telling your manager what you learned 向经理汇报培训收获</a:t>
            </a:r>
          </a:p>
          <a:p>
            <a:r>
              <a:t>情景：You have just attended a two-day workshop on presentation skills. You tell your manager how you will use it.</a:t>
            </a:r>
          </a:p>
          <a:p>
            <a:r>
              <a:t>Role A: Olivia Sun, marketing executive (you) Role B: Mr Garcia,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(Olivia): Hi Mr Garcia. Do you have five minutes? I wanted to tell you about the presentation workshop.</a:t>
            </a:r>
          </a:p>
          <a:p>
            <a:r>
              <a:t>B (Mr Garcia): Of course. How was it?</a:t>
            </a:r>
          </a:p>
          <a:p>
            <a:r>
              <a:t>A: Really useful. We practised structuring a talk and handling difficult questions.</a:t>
            </a:r>
          </a:p>
          <a:p>
            <a:r>
              <a:t>B: That sounds relevant. What was the most valuable thing you picked up?</a:t>
            </a:r>
          </a:p>
          <a:p>
            <a:r>
              <a:t>A: Probably the “problem, solution, benefit” structure. I used to start with too much background.</a:t>
            </a:r>
          </a:p>
          <a:p>
            <a:r>
              <a:t>B: And how do you plan to use it?</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try it at next week’s client presentation. I could also share a short summary with the team.</a:t>
            </a:r>
          </a:p>
          <a:p>
            <a:r>
              <a:t>B: That would be great. Is there anything you need from me?</a:t>
            </a:r>
          </a:p>
          <a:p>
            <a:r>
              <a:t>A: Perhaps a bit of feedback afterwards. I want to make sure I put it into practice.</a:t>
            </a:r>
          </a:p>
          <a:p>
            <a:r>
              <a:t>B: Happy to. I’ll sit in and give you notes.</a:t>
            </a:r>
          </a:p>
          <a:p>
            <a:r>
              <a:t>A: Thank you. I’ll also brush up on my slides this weekend.</a:t>
            </a:r>
          </a:p>
          <a:p>
            <a:r>
              <a:t>B: Good. Keep me posted on how it goes.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21 | </a:t>
            </a:r>
          </a:p>
          <a:p>
            <a:r>
              <a:t>Situation | You report on a training course to your manager.</a:t>
            </a:r>
          </a:p>
          <a:p>
            <a:r>
              <a:t>Your role (A) | Employee. The course you took: ______________</a:t>
            </a:r>
          </a:p>
          <a:p>
            <a:r>
              <a:t>Partner’s role (B) | Manager. Interested, asks about practical use.</a:t>
            </a:r>
          </a:p>
          <a:p>
            <a:r>
              <a:t>Must use (4 or more) | attend · pick up · put into practice · brush up · at your own pace · from scratch</a:t>
            </a:r>
          </a:p>
          <a:p>
            <a:r>
              <a:t>Goal | Summarise the course, name one takeaway and agree how you will apply it.</a:t>
            </a:r>
          </a:p>
          <a:p>
            <a:r>
              <a:t>My notes | ____________________________________________</a:t>
            </a:r>
          </a:p>
          <a:p>
            <a:r>
              <a:t>The manager asks: “Was it worth the money?” Give an honest answer with evidence.</a:t>
            </a:r>
          </a:p>
          <a:p>
            <a:r>
              <a:t>Persuade a colleague to take a course you enjoyed.</a:t>
            </a:r>
          </a:p>
          <a:p>
            <a:r>
              <a:t>Describe one thing you learned and teach it in 45 seconds.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best way to learn a new skill at work? | “For me, the most effective way is…” / “I learn best when…”</a:t>
            </a:r>
          </a:p>
          <a:p>
            <a:r>
              <a:t>2. Are online courses as good as classroom courses? | “Online courses are convenient, but classroom courses offer…”</a:t>
            </a:r>
          </a:p>
          <a:p>
            <a:r>
              <a:t>3. How can employers help staff to find time to learn? | “They could set aside time such as…” / “Managers should…”</a:t>
            </a:r>
          </a:p>
          <a:p>
            <a:r>
              <a:t>4. Which is more valuable, a certificate or real experience? | “Experience shows… while a certificate proves…”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“Online courses are convenient and often cheaper, and you can study at your own pace. But classroom courses offer something different: live discussion, immediate feedback and the chance to network. I think the best choice depends on the skill. For technical subjects, I’m happy to learn online. For communication or leadership, I’d prefer face-to-face, because you need to practise with real people.”</a:t>
            </a:r>
          </a:p>
          <a:p>
            <a:r>
              <a:t>at your own pace = 按自己的节奏。”offer something different” = 提供不同的价值。network 在此作动词:拓展人脉。</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learned some things. | I picked up some useful techniques. | pick up 学到</a:t>
            </a:r>
          </a:p>
          <a:p>
            <a:r>
              <a:t>I’ll try the new method. | I’ll put the new method into practice. | 付诸实践</a:t>
            </a:r>
          </a:p>
          <a:p>
            <a:r>
              <a:t>I forgot a lot. | I need to brush up on some of the details. | 复习</a:t>
            </a:r>
          </a:p>
          <a:p>
            <a:r>
              <a:t>It was good. | It was relevant to my work and well organised. | 具体评价</a:t>
            </a:r>
          </a:p>
          <a:p>
            <a:r>
              <a:t>Thank you for paying. | I really appreciate the company’s support. | 感谢支持</a:t>
            </a:r>
          </a:p>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perfect vs past: “I’ve attended three workshops this year.” (this year isn’t over) vs “I attended a workshop last week.” (finished time)</a:t>
            </a:r>
          </a:p>
          <a:p>
            <a:r>
              <a:t>Phrasal verbs with objects: pick up a skill / pick it up, brush up on your English / brush up on it.</a:t>
            </a:r>
          </a:p>
          <a:p>
            <a:r>
              <a:t>Reporting back: What I learned was… · The key takeaway for me was… · I’d like to apply this by…</a:t>
            </a:r>
          </a:p>
          <a:p>
            <a:r>
              <a:t>Prefer + -ing / to: I prefer learning online. / I prefer to learn online. / I’d rather learn online.</a:t>
            </a:r>
          </a:p>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attended to the workshop.  →  ✓ I attended the workshop.  (attend 是及物动词)</a:t>
            </a:r>
          </a:p>
          <a:p>
            <a:r>
              <a:t>✗ I learnt many knowledge.  →  ✓ I learnt a lot. / I gained a lot of knowledge.  (knowledge 不可数)</a:t>
            </a:r>
          </a:p>
          <a:p>
            <a:r>
              <a:t>✗ I want to get a training.  →  ✓ I want to get some training. / I want to take a course.  (training 不可数)</a:t>
            </a:r>
          </a:p>
          <a:p>
            <a:r>
              <a:t>Mistake Watch: Check attend (no to), uncountable knowledge / training, and for / since with the present perfect.</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learn English since three years.  →  ✓ I’ve been learning English for three years.  (for + 时间段;现在完成进行时)</a:t>
            </a:r>
          </a:p>
          <a:p>
            <a:r>
              <a:t>✗ This course is useful for improve my skills.  →  ✓ This course is useful for improving my skills.  (for + -ing)</a:t>
            </a:r>
          </a:p>
          <a:p>
            <a:r>
              <a:t>✗ Can you teach me how to using this?  →  ✓ Can you show me how to use this?  (how to + 动词原形)</a:t>
            </a:r>
          </a:p>
          <a:p>
            <a:r>
              <a:t>Mistake Watch: Check attend (no to), uncountable knowledge / training, and for / since with the present perfect.</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Learning at work: In many English-speaking companies, learning time is part of the job. Block time in your calendar and tell your manager.</a:t>
            </a:r>
          </a:p>
          <a:p>
            <a:r>
              <a:t>Sharing what you learn: A short “lunch and learn” talk to colleagues is common and builds your reputation.</a:t>
            </a:r>
          </a:p>
          <a:p>
            <a:r>
              <a:t>Certificates and LinkedIn: People often post certificates online. Sharing achievements is normal, but add what you learned, not only the logo.</a:t>
            </a:r>
          </a:p>
          <a:p>
            <a:r>
              <a:t>attend 后面直接接名词(attend a course)。knowledge 与 training 不可数。学习后一定要“落地”:告诉经理你准备做哪一件具体的事。</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course I took and what I gained.</a:t>
            </a:r>
          </a:p>
          <a:p>
            <a:r>
              <a:t>I can say how I will apply what I learned.</a:t>
            </a:r>
          </a:p>
          <a:p>
            <a:r>
              <a:t>I can compare online and classroom learning.</a:t>
            </a:r>
          </a:p>
          <a:p>
            <a:r>
              <a:t>I can use phrasal verbs such as pick up and brush up on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attend (no preposition), uncountable knowledge / training, and for / since.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22 · Stress Relief 缓解压力</a:t>
            </a:r>
          </a:p>
          <a:p>
            <a:r>
              <a:t>Goal: talk about sources of stress at work, healthy ways to relieve it, and how to support a stressed colleague.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 “How do you know when…?” 后接陈述句语序。stress 作名词不可数;stressed 是形容词。</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three tips for dealing with stress at work.</a:t>
            </a:r>
          </a:p>
          <a:p>
            <a:r>
              <a:t>Say: tip 1 + why it works → tip 2 + why → tip 3 + encouragement</a:t>
            </a:r>
          </a:p>
          <a:p>
            <a:r>
              <a:t>Useful starters: “One thing that works for me is…” / “It’s worth trying to…” / “If things get too much, …”</a:t>
            </a:r>
          </a:p>
          <a:p>
            <a:r>
              <a:t>“get too much” = 让人承受不住。建议可以用 “It might be worth + -ing”。</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little pressure can sharpen the mind, but too much for too long damages both health and work. Common signs of excessive stress include poor sleep, irritability, headaches and difficulty concentrating. At work, the causes range from unrealistic deadlines and unclear roles to constant availability. Fortunately, there are practical ways to release the pressure. Short breaks, a walk outside or a few minutes of slow breathing can calm the nervous system. Regular exercise and enough sleep are the foundation. Talking to a colleague, a friend or a professional can reduce the feeling of carrying everything alone. Some people find that putting their tasks into a clear list cuts the sense of overload. If stress is linked to the job itself, it is reasonable to raise it with your manager. Looking after yourself is not a weakness; it is what lets you keep performing well.</a:t>
            </a:r>
          </a:p>
          <a:p>
            <a:r>
              <a:t>irritability = 易怒。overload = 负荷过重。nervous system = 神经系统。”range from… to…” = 范围从…到…。</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Give two common signs of excessive stress.</a:t>
            </a:r>
          </a:p>
          <a:p>
            <a:r>
              <a:t>A: For example, poor sleep, irritability, headaches or difficulty concentrating.</a:t>
            </a:r>
          </a:p>
          <a:p>
            <a:r>
              <a:t>Q2. Name two quick ways to calm yourself.</a:t>
            </a:r>
          </a:p>
          <a:p>
            <a:r>
              <a:t>A: A short break, a walk outside or slow breathing.</a:t>
            </a:r>
          </a:p>
          <a:p>
            <a:r>
              <a:t>Q3. What does the writer say about looking after yourself?</a:t>
            </a:r>
          </a:p>
          <a:p>
            <a:r>
              <a:t>A: It is not a weakness; it lets you keep performing well.</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Stress and pressure 压力</a:t>
            </a:r>
          </a:p>
          <a:p>
            <a:r>
              <a:t>领读 → 学员跟读 → 请学员用表达造一个和自己工作相关的句子。</a:t>
            </a:r>
          </a:p>
          <a:p>
            <a:r>
              <a:t>stress (noun (uncountable) / verb) 压力;使紧张 — “Work stress can affect your sleep.”</a:t>
            </a:r>
          </a:p>
          <a:p>
            <a:r>
              <a:t>under pressure (phrase) 处于压力之下 — “I work well under pressure.”</a:t>
            </a:r>
          </a:p>
          <a:p>
            <a:r>
              <a:t>overwhelmed (adjective) 不堪重负的 — “I felt overwhelmed by the workload.”</a:t>
            </a:r>
          </a:p>
          <a:p>
            <a:r>
              <a:t>anxiety (noun (uncountable)) 焦虑 — “Anxiety about deadlines kept me awake.”</a:t>
            </a:r>
          </a:p>
          <a:p>
            <a:r>
              <a:t>unwind (verb) 放松 — “I unwind by going for a run.”</a:t>
            </a:r>
          </a:p>
          <a:p>
            <a:r>
              <a:t>take a break (collocation) 休息一下 — “Take a break every hour.”</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Coping strategies ★ 应对策略</a:t>
            </a:r>
          </a:p>
          <a:p>
            <a:r>
              <a:t>领读 → 学员跟读 → 请学员用表达造一个和自己工作相关的句子。</a:t>
            </a:r>
          </a:p>
          <a:p>
            <a:r>
              <a:t>★ let off steam (idiom) 发泄情绪 — “I let off steam at the gym after work.”</a:t>
            </a:r>
          </a:p>
          <a:p>
            <a:r>
              <a:t>★ switch off (phrasal verb) 放松、不再想工作 — “It’s hard to switch off when you check emails at night.”</a:t>
            </a:r>
          </a:p>
          <a:p>
            <a:r>
              <a:t>★ cope with (phrasal verb) 应对 — “How do you cope with so many deadlines?”</a:t>
            </a:r>
          </a:p>
          <a:p>
            <a:r>
              <a:t>★ at the end of your tether (idiom) 忍无可忍、精疲力竭 — “By Friday I was at the end of my tether.”</a:t>
            </a:r>
          </a:p>
          <a:p>
            <a:r>
              <a:t>★ put things into perspective (idiom) 客观看待 — “A walk helps me put things into perspective.”</a:t>
            </a:r>
          </a:p>
          <a:p>
            <a:r>
              <a:t>★ get on top of someone (idiom) 压得某人喘不过气 — “It’s all getting on top of me this month.”</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overwhelmed / under pressure / unwind / let off steam / switch off / perspective</a:t>
            </a:r>
          </a:p>
          <a:p>
            <a:r>
              <a:t>1. I felt _______ by the amount of work. → overwhelmed</a:t>
            </a:r>
          </a:p>
          <a:p>
            <a:r>
              <a:t>2. Some people work well _______. → under pressure</a:t>
            </a:r>
          </a:p>
          <a:p>
            <a:r>
              <a:t>3. I _______ by listening to music after work. → unwind</a:t>
            </a:r>
          </a:p>
          <a:p>
            <a:r>
              <a:t>4. I _______ at the gym after a difficult day. → let off steam</a:t>
            </a:r>
          </a:p>
          <a:p>
            <a:r>
              <a:t>5. It’s hard to _______ when you check emails at night. → switch off</a:t>
            </a:r>
          </a:p>
          <a:p>
            <a:r>
              <a:t>6. A walk helps me put things into _______. → perspective</a:t>
            </a:r>
          </a:p>
          <a:p>
            <a:r>
              <a:t>Mistake Watch (拼写与搭配): stress (noun and verb), stressed (adjective, “I’m stressed”), stressful (adjective, “a stressful job”), not “I am stress”. Say cope with (not “cope to”), and spell anxiety correctly (not “anxity”).</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Supporting a stressed colleague 支持压力大的同事</a:t>
            </a:r>
          </a:p>
          <a:p>
            <a:r>
              <a:t>情景：Your colleague Jin has been working late for weeks and looks exhausted. You check in on him.</a:t>
            </a:r>
          </a:p>
          <a:p>
            <a:r>
              <a:t>Role A: Mei Wang, colleague (you) Role B: Jin Park, stressed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(Mei): Hey Jin, you’ve been here late all week. Are you okay?</a:t>
            </a:r>
          </a:p>
          <a:p>
            <a:r>
              <a:t>B (Jin): Not really, to be honest. It’s all getting on top of me.</a:t>
            </a:r>
          </a:p>
          <a:p>
            <a:r>
              <a:t>A: I’m sorry to hear that. Do you want to talk about it?</a:t>
            </a:r>
          </a:p>
          <a:p>
            <a:r>
              <a:t>B: There’s just too much to do, and everything is urgent. I’m at the end of my tether.</a:t>
            </a:r>
          </a:p>
          <a:p>
            <a:r>
              <a:t>A: That sounds exhausting. Have you spoken to Mr Lee about the workload?</a:t>
            </a:r>
          </a:p>
          <a:p>
            <a:r>
              <a:t>B: Not yet. I don’t want to look like I can’t cope.</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Asking for help doesn’t make you look weak. It makes you look sensible. Maybe we can list your tasks and see what can wait.</a:t>
            </a:r>
          </a:p>
          <a:p>
            <a:r>
              <a:t>B: That might help. I think I need to switch off a bit too. I haven’t had a proper lunch in days.</a:t>
            </a:r>
          </a:p>
          <a:p>
            <a:r>
              <a:t>A: Why don’t we go for a walk right now? Fifteen minutes will do you good.</a:t>
            </a:r>
          </a:p>
          <a:p>
            <a:r>
              <a:t>B: Okay. That sounds nice, actually.</a:t>
            </a:r>
          </a:p>
          <a:p>
            <a:r>
              <a:t>A: And if you want, I can come with you to talk to Mr Lee.</a:t>
            </a:r>
          </a:p>
          <a:p>
            <a:r>
              <a:t>B: Thanks, Mei. You’re a lifesaver.</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22 | </a:t>
            </a:r>
          </a:p>
          <a:p>
            <a:r>
              <a:t>Situation | You support a stressed colleague.</a:t>
            </a:r>
          </a:p>
          <a:p>
            <a:r>
              <a:t>Your role (A) | Caring colleague. How you know your colleague is stressed: ______________</a:t>
            </a:r>
          </a:p>
          <a:p>
            <a:r>
              <a:t>Partner’s role (B) | Stressed colleague who doesn’t want to ask for help.</a:t>
            </a:r>
          </a:p>
          <a:p>
            <a:r>
              <a:t>Must use (4 or more) | overwhelmed · under pressure · let off steam · switch off · cope with · put things into perspective</a:t>
            </a:r>
          </a:p>
          <a:p>
            <a:r>
              <a:t>Goal | Ask gently, listen, offer two practical suggestions, and offer to help.</a:t>
            </a:r>
          </a:p>
          <a:p>
            <a:r>
              <a:t>My notes | ____________________________________________</a:t>
            </a:r>
          </a:p>
          <a:p>
            <a:r>
              <a:t>Jin says: “I’m fine, really.” You don’t believe him. Show you care without pushing.</a:t>
            </a:r>
          </a:p>
          <a:p>
            <a:r>
              <a:t>You are Jin and you feel angry with your manager. Practise stating the problem calmly.</a:t>
            </a:r>
          </a:p>
          <a:p>
            <a:r>
              <a:t>Give a 45-second “stress tips” talk for a team meeting.</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main cause of stress in your workplace? | “In my workplace, the main cause is… because…”</a:t>
            </a:r>
          </a:p>
          <a:p>
            <a:r>
              <a:t>2. Should managers be trained to spot signs of stress? | “I believe so, because…” / “It would help if managers could…”</a:t>
            </a:r>
          </a:p>
          <a:p>
            <a:r>
              <a:t>3. Is it possible to switch off from work when you work from home? | “It’s difficult because the boundaries… but it helps to…”</a:t>
            </a:r>
          </a:p>
          <a:p>
            <a:r>
              <a:t>4. Can some stress be a good thing? | “A little stress can… but too much…”</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“It’s difficult because the boundaries disappear when your home is also your office. A few small rules can help: finishing at a set time, closing the laptop and going for a walk. I also keep my work phone in a drawer after six. It sounds simple, but a physical signal helps my brain understand that the day is over. Without those boundaries, I find I keep checking messages and never really relax.”</a:t>
            </a:r>
          </a:p>
          <a:p>
            <a:r>
              <a:t>boundaries = 界限。”a set time” = 固定的时间。signal = 信号。”never really relax” 中副词的位置要注意。”It sounds simple, but…” 是让步表达。</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I’m very tired and nervous. | I’m feeling quite overwhelmed at the moment. | 更得体</a:t>
            </a:r>
          </a:p>
          <a:p>
            <a:r>
              <a:t>I can’t do anything. | I’m struggling to keep up with the workload. | 更具体</a:t>
            </a:r>
          </a:p>
          <a:p>
            <a:r>
              <a:t>You look bad. | You look a bit tired. Is everything okay? | 关心而不冒犯</a:t>
            </a:r>
          </a:p>
          <a:p>
            <a:r>
              <a:t>Go away, I’m busy. | I’m up against a deadline. Can we talk later? | 解释原因</a:t>
            </a:r>
          </a:p>
          <a:p>
            <a:r>
              <a:t>I need to relax. | I need to switch off and recharge. | 习语</a:t>
            </a:r>
          </a:p>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Gentle check-ins: Are you okay? / You seem a bit down. / Do you want to talk? Avoid “What’s wrong with you?”</a:t>
            </a:r>
          </a:p>
          <a:p>
            <a:r>
              <a:t>Suggestions: Why don’t we…? / How about + -ing? / Maybe we could…</a:t>
            </a:r>
          </a:p>
          <a:p>
            <a:r>
              <a:t>Present perfect continuous: “You’ve been working late all week” focuses on the activity.</a:t>
            </a:r>
          </a:p>
          <a:p>
            <a:r>
              <a:t>Adjectives: stressed (person), stressful (situation); tired, tiring; worried, worrying.</a:t>
            </a:r>
          </a:p>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very stress.  →  ✓ I’m very stressed.  (stress 是名词;stressed 是形容词)</a:t>
            </a:r>
          </a:p>
          <a:p>
            <a:r>
              <a:t>✗ This job is stressed.  →  ✓ This job is stressful.  (形容事物用 stressful)</a:t>
            </a:r>
          </a:p>
          <a:p>
            <a:r>
              <a:t>✗ I can’t bear with the pressure.  →  ✓ I can’t bear the pressure. / I can’t cope with the pressure.  (bear 是及物动词)</a:t>
            </a:r>
          </a:p>
          <a:p>
            <a:r>
              <a:t>Mistake Watch: Check stressed / stressful, under pressure, and the -ing form after stay up….</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much pressure.  →  ✓ I’m under a lot of pressure.  (under pressure)</a:t>
            </a:r>
          </a:p>
          <a:p>
            <a:r>
              <a:t>✗ I stay up late worry about work.  →  ✓ I stay up late worrying about work.  (动名词/分词)</a:t>
            </a:r>
          </a:p>
          <a:p>
            <a:r>
              <a:t>✗ How do you relax yourself?  →  ✓ How do you relax?  (relax 本身即可)</a:t>
            </a:r>
          </a:p>
          <a:p>
            <a:r>
              <a:t>Mistake Watch: Check stressed / stressful, under pressure, and the -ing form after stay up….</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Mental health at work: In the UK and US, talking about stress is increasingly acceptable. Many companies offer an Employee Assistance Programme (EAP) with free confidential counselling.</a:t>
            </a:r>
          </a:p>
          <a:p>
            <a:r>
              <a:t>Time off for stress: In the UK, stress-related absence is recognised by doctors. You can say “I’m taking time off because of stress.”</a:t>
            </a:r>
          </a:p>
          <a:p>
            <a:r>
              <a:t>Colleague support: A short, sincere “How are you really?” is appreciated, but respect privacy if the person does not want to talk.</a:t>
            </a:r>
          </a:p>
          <a:p>
            <a:r>
              <a:t>stressed 形容人,stressful 形容事物。同事压力大时,先倾听,再提供一两个具体选项(一起散步、帮忙梳理任务),不要急着评判。</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the causes and signs of stress.</a:t>
            </a:r>
          </a:p>
          <a:p>
            <a:r>
              <a:t>I can suggest coping strategies using Why don’t we…? and How about…?</a:t>
            </a:r>
          </a:p>
          <a:p>
            <a:r>
              <a:t>I can check on a stressed colleague kindly.</a:t>
            </a:r>
          </a:p>
          <a:p>
            <a:r>
              <a:t>I can use stressed / stressful and similar adjectives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-ed / -ing adjectives (stressed / stressful), prepositions (cope with, under pressure) and the -ing form after worry about.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23 · Workaholics Anonymous 工作狂互助会</a:t>
            </a:r>
          </a:p>
          <a:p>
            <a:r>
              <a:t>Goal: discuss overwork, workaholism and work-life balance, and set healthy boundaries without losing ambition.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题用 would 谈假设。workaholic 来自 work + alcoholic。”Anonymous” 取自 “Alcoholics Anonymous”(嗜酒者互助会)的玩笑说法。</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to a workaholic friend why they should slow down, and how.</a:t>
            </a:r>
          </a:p>
          <a:p>
            <a:r>
              <a:t>Say: show concern → give a reason → suggest a small change → offer support</a:t>
            </a:r>
          </a:p>
          <a:p>
            <a:r>
              <a:t>Useful starters: “I’m a bit worried about you because…” / “Have you considered…?” / “I’d be happy to…”</a:t>
            </a:r>
          </a:p>
          <a:p>
            <a:r>
              <a:t>劝人时先表达关心。”Have you considered + -ing?” 比 “You should” 更委婉。</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Being dedicated to your job is admirable. Being unable to stop is something else. Workaholics tend to feel anxious when they are not working, check messages late at night and cancel plans to finish just one more task. From the outside, they often look like ideal employees, which is why the habit can go unnoticed for years. The costs, however, add up: broken sleep, strained relationships and, eventually, burnout. Studies suggest that long hours often reduce quality and creativity rather than increase them. Fortunately, changing the pattern does not require drastic steps. Setting a fixed finishing time, taking real holidays and spending time on interests outside work are good starting points. Managers have a role too. If they reward late-night emails, they are encouraging the very behaviour that harms their staff.</a:t>
            </a:r>
          </a:p>
          <a:p>
            <a:r>
              <a:t>dedicated = 敬业的。strained relationships = 紧张的关系。drastic = 激烈的。”the very behaviour” = 正是那种行为。</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can a workaholic look to others?</a:t>
            </a:r>
          </a:p>
          <a:p>
            <a:r>
              <a:t>A: Like an ideal employee, so the habit can go unnoticed for years.</a:t>
            </a:r>
          </a:p>
          <a:p>
            <a:r>
              <a:t>Q2. What are some costs of workaholism?</a:t>
            </a:r>
          </a:p>
          <a:p>
            <a:r>
              <a:t>A: Broken sleep, strained relationships and burnout.</a:t>
            </a:r>
          </a:p>
          <a:p>
            <a:r>
              <a:t>Q3. How can managers make the problem worse?</a:t>
            </a:r>
          </a:p>
          <a:p>
            <a:r>
              <a:t>A: By rewarding late-night emails.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Overwork and balance 过度工作与平衡</a:t>
            </a:r>
          </a:p>
          <a:p>
            <a:r>
              <a:t>领读 → 学员跟读 → 请学员用表达造一个和自己工作相关的句子。</a:t>
            </a:r>
          </a:p>
          <a:p>
            <a:r>
              <a:t>workaholic (noun) 工作狂 — “He’s a workaholic who answers emails at midnight.”</a:t>
            </a:r>
          </a:p>
          <a:p>
            <a:r>
              <a:t>work-life balance (noun) 工作与生活的平衡 — “A good work-life balance is important to me.”</a:t>
            </a:r>
          </a:p>
          <a:p>
            <a:r>
              <a:t>overtime (noun (uncountable)) 加班 — “I did a lot of overtime last month.”</a:t>
            </a:r>
          </a:p>
          <a:p>
            <a:r>
              <a:t>burn out (phrasal verb) 精疲力竭 — “She burned out after two years of nonstop work.”</a:t>
            </a:r>
          </a:p>
          <a:p>
            <a:r>
              <a:t>boundaries (noun (plural)) 界限 — “Set clear boundaries between work and home.”</a:t>
            </a:r>
          </a:p>
          <a:p>
            <a:r>
              <a:t>dedicated (adjective) 敬业的 — “She’s a dedicated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Healthy habits ★ 健康习惯</a:t>
            </a:r>
          </a:p>
          <a:p>
            <a:r>
              <a:t>领读 → 学员跟读 → 请学员用表达造一个和自己工作相关的句子。</a:t>
            </a:r>
          </a:p>
          <a:p>
            <a:r>
              <a:t>★ work around the clock (idiom) 夜以继日地工作 — “The team worked around the clock to finish the project.”</a:t>
            </a:r>
          </a:p>
          <a:p>
            <a:r>
              <a:t>★ burn the candle at both ends (idiom) 过度透支精力 — “He’s burning the candle at both ends with two jobs.”</a:t>
            </a:r>
          </a:p>
          <a:p>
            <a:r>
              <a:t>★ draw a line (collocation) 划清界限 — “You need to draw a line between work and rest.”</a:t>
            </a:r>
          </a:p>
          <a:p>
            <a:r>
              <a:t>★ unplug (verb) 断开联系 — “I unplug completely on holiday.”</a:t>
            </a:r>
          </a:p>
          <a:p>
            <a:r>
              <a:t>★ be glued to (your phone) (idiom) 离不开(手机) — “He’s glued to his phone, even at dinner.”</a:t>
            </a:r>
          </a:p>
          <a:p>
            <a:r>
              <a:t>★ take time off (collocation) 休假 — “You should take time off when you’re ill.”</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workaholic / overtime / boundaries / burn out / draw a line / unplug</a:t>
            </a:r>
          </a:p>
          <a:p>
            <a:r>
              <a:t>1. He’s a _______ who answers emails at midnight. → workaholic</a:t>
            </a:r>
          </a:p>
          <a:p>
            <a:r>
              <a:t>2. I did a lot of _______ last month. → overtime</a:t>
            </a:r>
          </a:p>
          <a:p>
            <a:r>
              <a:t>3. Set clear _______ between work and home. → boundaries</a:t>
            </a:r>
          </a:p>
          <a:p>
            <a:r>
              <a:t>4. If you keep working like this, you’ll _______. → burn out</a:t>
            </a:r>
          </a:p>
          <a:p>
            <a:r>
              <a:t>5. You need to _______ between work and rest. → draw a line</a:t>
            </a:r>
          </a:p>
          <a:p>
            <a:r>
              <a:t>6. I _______ completely when I’m on holiday. → unplug</a:t>
            </a:r>
          </a:p>
          <a:p>
            <a:r>
              <a:t>Mistake Watch (拼写与搭配): workaholic (one word), boundaries (not “boundries”), overtime is uncountable (not “an overtime”). Burn out is the verb and burnout the noun. Work-life balance needs hyphens.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to a friend who works too much 劝说工作狂朋友</a:t>
            </a:r>
          </a:p>
          <a:p>
            <a:r>
              <a:t>情景：Your friend Alan, a manager, works until midnight every day. You are worried and talk to him at lunch.</a:t>
            </a:r>
          </a:p>
          <a:p>
            <a:r>
              <a:t>Role A: Sophie Liu, friend (you) Role B: Alan Chen, workaholic friend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(Sophie): Alan, can I be honest with you? I’m a bit worried about you.</a:t>
            </a:r>
          </a:p>
          <a:p>
            <a:r>
              <a:t>B (Alan): Me? I’m fine. I’m just busy.</a:t>
            </a:r>
          </a:p>
          <a:p>
            <a:r>
              <a:t>A: You’ve been saying that for months. Last week you replied to my message at 1 a.m.</a:t>
            </a:r>
          </a:p>
          <a:p>
            <a:r>
              <a:t>B: That’s when I get my best work done.</a:t>
            </a:r>
          </a:p>
          <a:p>
            <a:r>
              <a:t>A: Maybe, but you look exhausted. Have you considered setting a fixed finishing time?</a:t>
            </a:r>
          </a:p>
          <a:p>
            <a:r>
              <a:t>B: I can’t. If I stop, things pile up.</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get that. But do you think working all hours is really making you more effective?</a:t>
            </a:r>
          </a:p>
          <a:p>
            <a:r>
              <a:t>B: Hmm. Honestly, I make more mistakes lately.</a:t>
            </a:r>
          </a:p>
          <a:p>
            <a:r>
              <a:t>A: Exactly. Why don’t you try finishing at seven for two weeks and see what happens?</a:t>
            </a:r>
          </a:p>
          <a:p>
            <a:r>
              <a:t>B: Two weeks... That’s a challenge. What would I do with the time?</a:t>
            </a:r>
          </a:p>
          <a:p>
            <a:r>
              <a:t>A: Go for a walk, cook, see friends. Anything that isn’t work. I’d be happy to join you on Fridays.</a:t>
            </a:r>
          </a:p>
          <a:p>
            <a:r>
              <a:t>B: Okay, Sophie. I’ll give it a try. Thanks for saying something.</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23 | </a:t>
            </a:r>
          </a:p>
          <a:p>
            <a:r>
              <a:t>Situation | You talk to a friend who overworks.</a:t>
            </a:r>
          </a:p>
          <a:p>
            <a:r>
              <a:t>Your role (A) | Concerned friend. What you have noticed: ______________</a:t>
            </a:r>
          </a:p>
          <a:p>
            <a:r>
              <a:t>Partner’s role (B) | Workaholic who resists.</a:t>
            </a:r>
          </a:p>
          <a:p>
            <a:r>
              <a:t>Must use (4 or more) | workaholic · burn out · draw a line · boundaries · take time off · unplug</a:t>
            </a:r>
          </a:p>
          <a:p>
            <a:r>
              <a:t>Goal | Show concern, give one reason and suggest a small change.</a:t>
            </a:r>
          </a:p>
          <a:p>
            <a:r>
              <a:t>My notes | ____________________________________________</a:t>
            </a:r>
          </a:p>
          <a:p>
            <a:r>
              <a:t>Alan says: “My boss expects me to be available.” Suggest how he could talk to his boss.</a:t>
            </a:r>
          </a:p>
          <a:p>
            <a:r>
              <a:t>Alan gets angry. Stay calm and repeat your concern gently.</a:t>
            </a:r>
          </a:p>
          <a:p>
            <a:r>
              <a:t>You are Alan. Defend your working style, then admit one problem.</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some people become workaholics? | “Some people feel their value depends on…” / “It might be because…”</a:t>
            </a:r>
          </a:p>
          <a:p>
            <a:r>
              <a:t>2. Should companies discourage overwork? How? | “They could… by…” / “Leaders should set an example by…”</a:t>
            </a:r>
          </a:p>
          <a:p>
            <a:r>
              <a:t>3. Is “hustle culture” healthy? | “It can inspire…, but it also leads to…”</a:t>
            </a:r>
          </a:p>
          <a:p>
            <a:r>
              <a:t>4. What is a realistic work-life balance for you? | “For me, a realistic balance is…”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“Hustle culture can inspire people to work hard and chase big goals, but it also leads to burnout and a feeling that you are never doing enough. Resting is seen as lazy, which is unhelpful. I think sustainable success comes from steady effort and recovery, not from constantly pushing yourself. The most productive people I know work hard, but they also protect their sleep and their weekends.”</a:t>
            </a:r>
          </a:p>
          <a:p>
            <a:r>
              <a:t>hustle culture = 拼命文化。sustainable = 可持续的。”seen as lazy” = 被看作懒惰。chase goals = 追逐目标。</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He works too much. | He tends to overwork and struggles to switch off. | 描述行为</a:t>
            </a:r>
          </a:p>
          <a:p>
            <a:r>
              <a:t>You should stop. | Have you considered cutting back on your hours? | 委婉建议</a:t>
            </a:r>
          </a:p>
          <a:p>
            <a:r>
              <a:t>I have no time. | I’m stretched very thin at the moment. | 习语:精力被摊得太薄</a:t>
            </a:r>
          </a:p>
          <a:p>
            <a:r>
              <a:t>I never rest. | I haven’t had a proper break in months. | 现在完成时</a:t>
            </a:r>
          </a:p>
          <a:p>
            <a:r>
              <a:t>My boss wants me always online. | There’s an expectation that we’re always reachable. | 描述期望</a:t>
            </a:r>
          </a:p>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perfect continuous for duration and results: “I’ve been working late all month and I’m exhausted.”</a:t>
            </a:r>
          </a:p>
          <a:p>
            <a:r>
              <a:t>Suggestions: Have you considered + -ing? / Why not + verb? / It might be worth + -ing.</a:t>
            </a:r>
          </a:p>
          <a:p>
            <a:r>
              <a:t>Cut back on / cut down on: “I’m trying to cut back on overtime.”</a:t>
            </a:r>
          </a:p>
          <a:p>
            <a:r>
              <a:t>Uncountable nouns: overtime, rest, stress, advice, pressure. Say a lot of overtime.</a:t>
            </a:r>
          </a:p>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used to work late every day.  →  ✓ I’m used to working late every day.  (be used to + -ing)</a:t>
            </a:r>
          </a:p>
          <a:p>
            <a:r>
              <a:t>✗ He is a workaholic person.  →  ✓ He is a workaholic.  (workaholic 本身是名词)</a:t>
            </a:r>
          </a:p>
          <a:p>
            <a:r>
              <a:t>✗ I work overtime every days.  →  ✓ I work overtime every day.  (every day 用单数)</a:t>
            </a:r>
          </a:p>
          <a:p>
            <a:r>
              <a:t>Mistake Watch: Check used to + -ing, -ing as subject, and every day (singular).</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Work too much is bad for health.  →  ✓ Working too much is bad for your health.  (动名词作主语)</a:t>
            </a:r>
          </a:p>
          <a:p>
            <a:r>
              <a:t>✗ I don’t have enough time for my family and rest.  →  ✓ I don’t have enough time for my family or for rest.  (否定句用 or)</a:t>
            </a:r>
          </a:p>
          <a:p>
            <a:r>
              <a:t>✗ I get burnout.  →  ✓ I’m suffering from burnout. / I’m burnt out.  (固定搭配)</a:t>
            </a:r>
          </a:p>
          <a:p>
            <a:r>
              <a:t>Mistake Watch: Check used to + -ing, -ing as subject, and every day (singular).</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Long hours: In the UK, the US and Germany, excessive overtime is increasingly seen as a management failure, not a badge of honour. In some Asian countries, long hours are still linked with commitment.</a:t>
            </a:r>
          </a:p>
          <a:p>
            <a:r>
              <a:t>Right to disconnect: France and some other countries have rules about not answering work messages outside working hours. Companies elsewhere are experimenting with “no-email evenings”.</a:t>
            </a:r>
          </a:p>
          <a:p>
            <a:r>
              <a:t>Talking about it: Admitting that you need rest is increasingly accepted. A phrase like “I’m at capacity” helps.</a:t>
            </a:r>
          </a:p>
          <a:p>
            <a:r>
              <a:t>workaholic 本身是名词,不能说 workaholic person。劝人别太拼时,用 Have you considered…? 比 You should… 柔和。一些国家有“断联权”的规定。</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signs of overwork and its costs.</a:t>
            </a:r>
          </a:p>
          <a:p>
            <a:r>
              <a:t>I can talk to a friend kindly about overwork.</a:t>
            </a:r>
          </a:p>
          <a:p>
            <a:r>
              <a:t>I can talk about work-life balance and set boundaries.</a:t>
            </a:r>
          </a:p>
          <a:p>
            <a:r>
              <a:t>I can use be used to + -ing and -ing subjects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be used to + -ing, gerund subjects, and uncountable nouns (overtime, advice).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“基准” in English? → benchmark</a:t>
            </a:r>
          </a:p>
          <a:p>
            <a:r>
              <a:t>“绩效评估” in English? → performance review / appraisal</a:t>
            </a:r>
          </a:p>
          <a:p>
            <a:r>
              <a:t>“承担更多责任” in English? → take on more responsibility</a:t>
            </a:r>
          </a:p>
          <a:p>
            <a:r>
              <a:t>Fix it: This job is stressed. → This job is stressful.</a:t>
            </a:r>
          </a:p>
          <a:p>
            <a:r>
              <a:t>Fix it: I don’t have enough time for my family and rest. → I don’t have enough time for my family or for rest.</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8.xml"/><Relationship Id="rId5" Type="http://schemas.openxmlformats.org/officeDocument/2006/relationships/slide" Target="slide50.xml"/><Relationship Id="rId6" Type="http://schemas.openxmlformats.org/officeDocument/2006/relationships/slide" Target="slide72.xml"/><Relationship Id="rId7" Type="http://schemas.openxmlformats.org/officeDocument/2006/relationships/slide" Target="slide94.xml"/><Relationship Id="rId8" Type="http://schemas.openxmlformats.org/officeDocument/2006/relationships/slide" Target="slide117.xml"/><Relationship Id="rId9" Type="http://schemas.openxmlformats.org/officeDocument/2006/relationships/slide" Target="slide139.xml"/><Relationship Id="rId10" Type="http://schemas.openxmlformats.org/officeDocument/2006/relationships/slide" Target="slide161.xml"/><Relationship Id="rId11" Type="http://schemas.openxmlformats.org/officeDocument/2006/relationships/slide" Target="slide18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 Id="rId4" Type="http://schemas.openxmlformats.org/officeDocument/2006/relationships/slide" Target="slide206.xml"/><Relationship Id="rId5" Type="http://schemas.openxmlformats.org/officeDocument/2006/relationships/slide" Target="slide207.xml"/><Relationship Id="rId6" Type="http://schemas.openxmlformats.org/officeDocument/2006/relationships/slide" Target="slide208.xml"/><Relationship Id="rId7" Type="http://schemas.openxmlformats.org/officeDocument/2006/relationships/slide" Target="slide209.xml"/><Relationship Id="rId8" Type="http://schemas.openxmlformats.org/officeDocument/2006/relationships/slide" Target="slide210.xml"/><Relationship Id="rId9" Type="http://schemas.openxmlformats.org/officeDocument/2006/relationships/slide" Target="slide211.xml"/><Relationship Id="rId10" Type="http://schemas.openxmlformats.org/officeDocument/2006/relationships/slide" Target="slide212.xml"/><Relationship Id="rId11" Type="http://schemas.openxmlformats.org/officeDocument/2006/relationships/slide" Target="slide213.xml"/><Relationship Id="rId12" Type="http://schemas.openxmlformats.org/officeDocument/2006/relationships/slide" Target="slide214.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5.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5.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5.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5.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5.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5.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9-10 · UNIT 3</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Personal Effectiveness and Career Growth</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9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L15 The Career Ladder · L16 When You Feel Stuck in Your Job · L17 Kicking Your Productivity up a Gear · L18 Measuring Productivity · L19 Staying Motivated · L20 Why Training? · L21 Getting Training · L22 Stress Relief  +1 more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15</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Career Ladder</a:t>
            </a:r>
          </a:p>
          <a:p>
            <a:pPr algn="l">
              <a:lnSpc>
                <a:spcPct val="100000"/>
              </a:lnSpc>
              <a:spcAft>
                <a:spcPts val="800"/>
              </a:spcAft>
            </a:pPr>
            <a:r>
              <a:rPr sz="1400" b="0">
                <a:solidFill>
                  <a:srgbClr val="5F677A"/>
                </a:solidFill>
                <a:latin typeface="Arial"/>
                <a:ea typeface="Microsoft YaHei"/>
              </a:rPr>
              <a:t>职业阶梯</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16</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When You Feel Stuck in Your Job</a:t>
            </a:r>
          </a:p>
          <a:p>
            <a:pPr algn="l">
              <a:lnSpc>
                <a:spcPct val="100000"/>
              </a:lnSpc>
              <a:spcAft>
                <a:spcPts val="800"/>
              </a:spcAft>
            </a:pPr>
            <a:r>
              <a:rPr sz="1400" b="0">
                <a:solidFill>
                  <a:srgbClr val="5F677A"/>
                </a:solidFill>
                <a:latin typeface="Arial"/>
                <a:ea typeface="Microsoft YaHei"/>
              </a:rPr>
              <a:t>工作陷入瓶颈时</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17</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Kicking Your Productivity up a Gear</a:t>
            </a:r>
          </a:p>
          <a:p>
            <a:pPr algn="l">
              <a:lnSpc>
                <a:spcPct val="100000"/>
              </a:lnSpc>
              <a:spcAft>
                <a:spcPts val="800"/>
              </a:spcAft>
            </a:pPr>
            <a:r>
              <a:rPr sz="1400" b="0">
                <a:solidFill>
                  <a:srgbClr val="5F677A"/>
                </a:solidFill>
                <a:latin typeface="Arial"/>
                <a:ea typeface="Microsoft YaHei"/>
              </a:rPr>
              <a:t>大幅提升你的工作效率</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18</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Measuring Productivity</a:t>
            </a:r>
          </a:p>
          <a:p>
            <a:pPr algn="l">
              <a:lnSpc>
                <a:spcPct val="100000"/>
              </a:lnSpc>
              <a:spcAft>
                <a:spcPts val="800"/>
              </a:spcAft>
            </a:pPr>
            <a:r>
              <a:rPr sz="1400" b="0">
                <a:solidFill>
                  <a:srgbClr val="5F677A"/>
                </a:solidFill>
                <a:latin typeface="Arial"/>
                <a:ea typeface="Microsoft YaHei"/>
              </a:rPr>
              <a:t>衡量生产力</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19</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Staying Motivated</a:t>
            </a:r>
          </a:p>
          <a:p>
            <a:pPr algn="l">
              <a:lnSpc>
                <a:spcPct val="100000"/>
              </a:lnSpc>
              <a:spcAft>
                <a:spcPts val="800"/>
              </a:spcAft>
            </a:pPr>
            <a:r>
              <a:rPr sz="1400" b="0">
                <a:solidFill>
                  <a:srgbClr val="5F677A"/>
                </a:solidFill>
                <a:latin typeface="Arial"/>
                <a:ea typeface="Microsoft YaHei"/>
              </a:rPr>
              <a:t>保持动力</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20</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Why Training?</a:t>
            </a:r>
          </a:p>
          <a:p>
            <a:pPr algn="l">
              <a:lnSpc>
                <a:spcPct val="100000"/>
              </a:lnSpc>
              <a:spcAft>
                <a:spcPts val="800"/>
              </a:spcAft>
            </a:pPr>
            <a:r>
              <a:rPr sz="1400" b="0">
                <a:solidFill>
                  <a:srgbClr val="5F677A"/>
                </a:solidFill>
                <a:latin typeface="Arial"/>
                <a:ea typeface="Microsoft YaHei"/>
              </a:rPr>
              <a:t>为什么培训</a:t>
            </a:r>
          </a:p>
        </p:txBody>
      </p:sp>
      <p:sp>
        <p:nvSpPr>
          <p:cNvPr id="25" name="Rounded Rectangle 24">
            <a:hlinkClick action="ppaction://hlinksldjump" r:id="rId9"/>
          </p:cNvPr>
          <p:cNvSpPr/>
          <p:nvPr/>
        </p:nvSpPr>
        <p:spPr>
          <a:xfrm>
            <a:off x="548640" y="438912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68630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21</a:t>
            </a:r>
          </a:p>
        </p:txBody>
      </p:sp>
      <p:sp>
        <p:nvSpPr>
          <p:cNvPr id="27" name="TextBox 26"/>
          <p:cNvSpPr txBox="1"/>
          <p:nvPr/>
        </p:nvSpPr>
        <p:spPr>
          <a:xfrm>
            <a:off x="1645920"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Getting Training</a:t>
            </a:r>
          </a:p>
          <a:p>
            <a:pPr algn="l">
              <a:lnSpc>
                <a:spcPct val="100000"/>
              </a:lnSpc>
              <a:spcAft>
                <a:spcPts val="800"/>
              </a:spcAft>
            </a:pPr>
            <a:r>
              <a:rPr sz="1400" b="0">
                <a:solidFill>
                  <a:srgbClr val="5F677A"/>
                </a:solidFill>
                <a:latin typeface="Arial"/>
                <a:ea typeface="Microsoft YaHei"/>
              </a:rPr>
              <a:t>接受培训</a:t>
            </a:r>
          </a:p>
        </p:txBody>
      </p:sp>
      <p:sp>
        <p:nvSpPr>
          <p:cNvPr id="28" name="Rounded Rectangle 27">
            <a:hlinkClick action="ppaction://hlinksldjump" r:id="rId10"/>
          </p:cNvPr>
          <p:cNvSpPr/>
          <p:nvPr/>
        </p:nvSpPr>
        <p:spPr>
          <a:xfrm>
            <a:off x="4307738" y="438912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17466" y="468630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22</a:t>
            </a:r>
          </a:p>
        </p:txBody>
      </p:sp>
      <p:sp>
        <p:nvSpPr>
          <p:cNvPr id="30" name="TextBox 29"/>
          <p:cNvSpPr txBox="1"/>
          <p:nvPr/>
        </p:nvSpPr>
        <p:spPr>
          <a:xfrm>
            <a:off x="5405018"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Stress Relief</a:t>
            </a:r>
          </a:p>
          <a:p>
            <a:pPr algn="l">
              <a:lnSpc>
                <a:spcPct val="100000"/>
              </a:lnSpc>
              <a:spcAft>
                <a:spcPts val="800"/>
              </a:spcAft>
            </a:pPr>
            <a:r>
              <a:rPr sz="1400" b="0">
                <a:solidFill>
                  <a:srgbClr val="5F677A"/>
                </a:solidFill>
                <a:latin typeface="Arial"/>
                <a:ea typeface="Microsoft YaHei"/>
              </a:rPr>
              <a:t>缓解压力</a:t>
            </a:r>
          </a:p>
        </p:txBody>
      </p:sp>
      <p:sp>
        <p:nvSpPr>
          <p:cNvPr id="31" name="Rounded Rectangle 30">
            <a:hlinkClick action="ppaction://hlinksldjump" r:id="rId11"/>
          </p:cNvPr>
          <p:cNvSpPr/>
          <p:nvPr/>
        </p:nvSpPr>
        <p:spPr>
          <a:xfrm>
            <a:off x="8066836" y="438912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76564" y="468630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23</a:t>
            </a:r>
          </a:p>
        </p:txBody>
      </p:sp>
      <p:sp>
        <p:nvSpPr>
          <p:cNvPr id="33" name="TextBox 32"/>
          <p:cNvSpPr txBox="1"/>
          <p:nvPr/>
        </p:nvSpPr>
        <p:spPr>
          <a:xfrm>
            <a:off x="9164116"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Workaholics Anonymous</a:t>
            </a:r>
          </a:p>
          <a:p>
            <a:pPr algn="l">
              <a:lnSpc>
                <a:spcPct val="100000"/>
              </a:lnSpc>
              <a:spcAft>
                <a:spcPts val="800"/>
              </a:spcAft>
            </a:pPr>
            <a:r>
              <a:rPr sz="1400" b="0">
                <a:solidFill>
                  <a:srgbClr val="5F677A"/>
                </a:solidFill>
                <a:latin typeface="Arial"/>
                <a:ea typeface="Microsoft YaHei"/>
              </a:rPr>
              <a:t>工作狂互助会</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 · Lesson 15 The Career Ladder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Career Ladder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职业阶梯</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career paths, promotion, and how to climb (or step off) the career ladder, using the right vocabulary and a confident tone.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Where do you see yourself in five years? Be specific.</a:t>
            </a:r>
          </a:p>
        </p:txBody>
      </p:sp>
      <p:sp>
        <p:nvSpPr>
          <p:cNvPr id="12" name="Oval 11"/>
          <p:cNvSpPr/>
          <p:nvPr/>
        </p:nvSpPr>
        <p:spPr>
          <a:xfrm>
            <a:off x="548640" y="242620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does a “successful career” mean to you: salary, title, freedom or something else?</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been promoted before? What made it happen?</a:t>
            </a:r>
          </a:p>
        </p:txBody>
      </p:sp>
      <p:sp>
        <p:nvSpPr>
          <p:cNvPr id="18" name="Oval 17"/>
          <p:cNvSpPr/>
          <p:nvPr/>
        </p:nvSpPr>
        <p:spPr>
          <a:xfrm>
            <a:off x="548640" y="394106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Is the idea of a career “ladder” still realistic today? Why or why not?</a:t>
            </a:r>
          </a:p>
        </p:txBody>
      </p:sp>
      <p:sp>
        <p:nvSpPr>
          <p:cNvPr id="21" name="Oval 20"/>
          <p:cNvSpPr/>
          <p:nvPr/>
        </p:nvSpPr>
        <p:spPr>
          <a:xfrm>
            <a:off x="548640" y="478231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matters most for getting promoted: talent, hard work, networking or luck?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第 1 题用 will / be going to 谈未来:In five years, I’ll probably be… 第 3 题用现在完成时或过去式。climb the ladder = 晋升。</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Present your career plan for the next five years.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where you are now</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your next step</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you need to learn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where you want to be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the short term, I’m aiming to…   💬 To get there, I’ll need to…   💬 Ideally, in five years I’d like to be…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aim to + 动词原形 / aim for + 名词。”Ideally” 是表达理想目标的副词,很适合 B2 说话。</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Ladders, Lattices and Leaps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For decades, the career ladder was the standard image of professional success: you started at the bottom and moved up one rung at a time. Today many careers look more like a climbing frame. People move sideways to gain new skills, step back to start a different line of work, or take a project role that carries more influence than a title. A promotion still matters, but employers increasingly look at what you can do, not simply how long you have waited. If you want to progress, make your ambition visible. Ask your manager which skills you need for the next level, volunteer for stretch assignments and find a mentor who has done the job you want. Remember that progress is not always upward: a sideways move that teaches you something valuable can be the best step you take.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does the writer compare modern careers with a ladder?</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look more like a climbing frame, with sideways and different moves.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employers increasingly look at?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you can do, not simply how long you have waited.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advice is given to people who want to progress?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Make your ambition visible: ask what skills you need, volunteer for stretch assignments and find a mentor.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Career paths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职业路径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promotion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晋升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got a promotion after only two years.”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career path</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职业路径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offers a clear career path for graduates.”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promoted to</a:t>
            </a:r>
          </a:p>
          <a:p>
            <a:pPr algn="l">
              <a:lnSpc>
                <a:spcPct val="115000"/>
              </a:lnSpc>
              <a:spcAft>
                <a:spcPts val="800"/>
              </a:spcAft>
            </a:pPr>
            <a:r>
              <a:rPr sz="1300" b="0">
                <a:solidFill>
                  <a:srgbClr val="5F677A"/>
                </a:solidFill>
                <a:latin typeface="Arial"/>
                <a:ea typeface="Microsoft YaHei"/>
              </a:rPr>
              <a:t>verb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被提升为</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was promoted to regional manager.”</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performance review / appraisal</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绩效评估</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performance review is next month.”</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mentor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导师</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good mentor can open doors for you.”</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seniority</a:t>
            </a:r>
          </a:p>
          <a:p>
            <a:pPr algn="l">
              <a:lnSpc>
                <a:spcPct val="115000"/>
              </a:lnSpc>
              <a:spcAft>
                <a:spcPts val="800"/>
              </a:spcAft>
            </a:pPr>
            <a:r>
              <a:rPr sz="1300" b="0">
                <a:solidFill>
                  <a:srgbClr val="5F677A"/>
                </a:solidFill>
                <a:latin typeface="Arial"/>
                <a:ea typeface="Microsoft YaHei"/>
              </a:rPr>
              <a:t>noun (uncountable)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资历,职级</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“Seniority still matters in many large firms.”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2: Moving up (and sideways)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向上与横向发展</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climb the corporate ladder</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在公司里晋升</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climbed the corporate ladder quickly.”</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stepping stone</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垫脚石</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role is a stepping stone to management.”</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fast-track</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使快速晋升</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was fast-tracked into a leadership programme.”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Chunk 2: Moving up (and sideways) ★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向上与横向发展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plateau</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进入平台期</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career plateaued after I turned forty.”</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on more responsibility</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承担更多责任</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you want to progress, take on more responsibility.”</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passed over for promotion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在晋升中被忽略</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was passed over for promotion twice.”</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在公司里晋升</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climb the corporate ladder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承担更多责任</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on more responsibility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导师</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mentor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进入平台期</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plateau</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被提升为</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promoted to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职业路径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career path</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在晋升中被忽略</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passed over for promotion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使快速晋升</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fast-track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promoted</a:t>
            </a:r>
          </a:p>
        </p:txBody>
      </p:sp>
      <p:sp>
        <p:nvSpPr>
          <p:cNvPr id="10" name="Rounded Rectangle 9"/>
          <p:cNvSpPr/>
          <p:nvPr/>
        </p:nvSpPr>
        <p:spPr>
          <a:xfrm>
            <a:off x="3346704" y="987552"/>
            <a:ext cx="1572767"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career path</a:t>
            </a:r>
          </a:p>
        </p:txBody>
      </p:sp>
      <p:sp>
        <p:nvSpPr>
          <p:cNvPr id="11" name="Rounded Rectangle 10"/>
          <p:cNvSpPr/>
          <p:nvPr/>
        </p:nvSpPr>
        <p:spPr>
          <a:xfrm>
            <a:off x="5010911"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mentor</a:t>
            </a:r>
          </a:p>
        </p:txBody>
      </p:sp>
      <p:sp>
        <p:nvSpPr>
          <p:cNvPr id="12" name="Rounded Rectangle 11"/>
          <p:cNvSpPr/>
          <p:nvPr/>
        </p:nvSpPr>
        <p:spPr>
          <a:xfrm>
            <a:off x="6126479" y="987552"/>
            <a:ext cx="190195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stepping stone</a:t>
            </a:r>
          </a:p>
        </p:txBody>
      </p:sp>
      <p:sp>
        <p:nvSpPr>
          <p:cNvPr id="13" name="Rounded Rectangle 12"/>
          <p:cNvSpPr/>
          <p:nvPr/>
        </p:nvSpPr>
        <p:spPr>
          <a:xfrm>
            <a:off x="8119871"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plateaued</a:t>
            </a:r>
          </a:p>
        </p:txBody>
      </p:sp>
      <p:sp>
        <p:nvSpPr>
          <p:cNvPr id="14" name="Rounded Rectangle 13"/>
          <p:cNvSpPr/>
          <p:nvPr/>
        </p:nvSpPr>
        <p:spPr>
          <a:xfrm>
            <a:off x="9564623"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passed over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was _______ to regional manager last year.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promoted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company offers a clear _______ for new graduates.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career path</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 good _______ can help you understand how the company works.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mentor</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This role is a _______ to a senior position.</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stepping stone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After ten years in the same job, my career had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plateaued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He was _______ for promotion twice, so he left.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passed over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拼写与词形): promotion (not “promation”), responsibility (not “responsability”), mentor (not “mentour”). Say be promoted (passive). Progress and advice are uncountable.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Asking your manager about promotion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与上司谈晋升</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have been in your role for two years and want to move up. You ask your manager, Jason, how to prepare.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Yan Li, senior executive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Jason Wu, manager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your manager about promotion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Yan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Jason, do you have a few minutes? I wanted to talk about my development.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Jason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Yan. What’s on your mind?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been in this role for two years now, and I’m keen to progress. I’d like to understand what it would take to be considered for team leader.</a:t>
            </a:r>
          </a:p>
        </p:txBody>
      </p:sp>
      <p:sp>
        <p:nvSpPr>
          <p:cNvPr id="17" name="Rounded Rectangle 16"/>
          <p:cNvSpPr/>
          <p:nvPr/>
        </p:nvSpPr>
        <p:spPr>
          <a:xfrm>
            <a:off x="10911535" y="394106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3"/>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great to hear. You’ve delivered good results and you’re reliable, which is a strong foundation.</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your manager about promotion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Is there anything I should work on?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Visibility, mainly. You do excellent work, but senior people don’t always see it. I’d suggest taking the lead on a cross-team project.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makes sense. I could volunteer for the new onboarding project.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Also, try to find a mentor outside our team who can give you another perspective.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your manager about promotion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Realistically, how long might it take?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depends on openings, but if you take on that project and the review goes well, you could be ready within twelve to eighteen months.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helpful. Could we review my progress every quarter?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Absolutely. Let’s put it in the diary.</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Asking your manager about promotion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 employee discusses promotion with their manager.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Your role and the role you want next: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Supportive, but realistic about timing.</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be promoted · career path · mentor · take on more responsibility · stepping stone · visibility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what is needed, agree one concrete action and set a review date.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Jason says: “There’s no budget for promotions this year.” Respond constructively and ask about non-financial development.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colleague you trained was promoted before you. Talk to your manager calmly, without sounding jealous.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Pitch yourself for promotion in 45 seconds, using one clear achievement.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matters most for promotion: results, relationships or visibility?</a:t>
            </a:r>
          </a:p>
          <a:p>
            <a:pPr algn="l">
              <a:lnSpc>
                <a:spcPct val="115000"/>
              </a:lnSpc>
              <a:spcAft>
                <a:spcPts val="800"/>
              </a:spcAft>
            </a:pPr>
            <a:r>
              <a:rPr sz="1400" b="0">
                <a:solidFill>
                  <a:srgbClr val="5F677A"/>
                </a:solidFill>
                <a:latin typeface="Arial"/>
                <a:ea typeface="Microsoft YaHei"/>
              </a:rPr>
              <a:t>💬 “I’d say results matter, but without visibility…” / “In my experience, relationships are…”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stay with one company or to move between companies in order to progress?</a:t>
            </a:r>
          </a:p>
          <a:p>
            <a:pPr algn="l">
              <a:lnSpc>
                <a:spcPct val="115000"/>
              </a:lnSpc>
              <a:spcAft>
                <a:spcPts val="800"/>
              </a:spcAft>
            </a:pPr>
            <a:r>
              <a:rPr sz="1400" b="0">
                <a:solidFill>
                  <a:srgbClr val="5F677A"/>
                </a:solidFill>
                <a:latin typeface="Arial"/>
                <a:ea typeface="Microsoft YaHei"/>
              </a:rPr>
              <a:t>💬 “Staying has the advantage of… but moving may…”</a:t>
            </a:r>
          </a:p>
        </p:txBody>
      </p:sp>
      <p:sp>
        <p:nvSpPr>
          <p:cNvPr id="15" name="Oval 14"/>
          <p:cNvSpPr/>
          <p:nvPr/>
        </p:nvSpPr>
        <p:spPr>
          <a:xfrm>
            <a:off x="548640" y="339852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528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985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promotion be based on seniority or performance?</a:t>
            </a:r>
          </a:p>
          <a:p>
            <a:pPr algn="l">
              <a:lnSpc>
                <a:spcPct val="115000"/>
              </a:lnSpc>
              <a:spcAft>
                <a:spcPts val="800"/>
              </a:spcAft>
            </a:pPr>
            <a:r>
              <a:rPr sz="1400" b="0">
                <a:solidFill>
                  <a:srgbClr val="5F677A"/>
                </a:solidFill>
                <a:latin typeface="Arial"/>
                <a:ea typeface="Microsoft YaHei"/>
              </a:rPr>
              <a:t>💬 “I believe it should be based on… because…”</a:t>
            </a:r>
          </a:p>
        </p:txBody>
      </p:sp>
      <p:sp>
        <p:nvSpPr>
          <p:cNvPr id="18" name="Oval 17"/>
          <p:cNvSpPr/>
          <p:nvPr/>
        </p:nvSpPr>
        <p:spPr>
          <a:xfrm>
            <a:off x="548640" y="41757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300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757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you were passed over for promotion?</a:t>
            </a:r>
          </a:p>
          <a:p>
            <a:pPr algn="l">
              <a:lnSpc>
                <a:spcPct val="115000"/>
              </a:lnSpc>
              <a:spcAft>
                <a:spcPts val="800"/>
              </a:spcAft>
            </a:pPr>
            <a:r>
              <a:rPr sz="1400" b="0">
                <a:solidFill>
                  <a:srgbClr val="5F677A"/>
                </a:solidFill>
                <a:latin typeface="Arial"/>
                <a:ea typeface="Microsoft YaHei"/>
              </a:rPr>
              <a:t>💬 “I’d probably ask for feedback and then…” / “If that happened to me, I would…”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If I were passed over, I’d first take a breath before reacting. Then I’d ask my manager for specific feedback: what was missing, and what I can do about it. If the answer is clear and fair, I’d make a plan and ask for a review date. If it seems unfair or vague, I’d start looking at other options, inside or outside the company. Being passed over is disappointing, but it can also be useful information.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be passed over 是被动。”take a breath” = 冷静一下。”If I were…, I’d…” 是第二类条件句。disappointing(令人失望的事)/ disappointed(感到失望的人)要区分。</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4157470"/>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want to be a manager.</a:t>
                      </a:r>
                    </a:p>
                  </a:txBody>
                  <a:tcPr anchor="ctr">
                    <a:solidFill>
                      <a:srgbClr val="FFFFFF"/>
                    </a:solidFill>
                  </a:tcPr>
                </a:tc>
                <a:tc>
                  <a:txBody>
                    <a:bodyPr wrap="square"/>
                    <a:lstStyle/>
                    <a:p>
                      <a:r>
                        <a:rPr sz="1600" b="0">
                          <a:solidFill>
                            <a:srgbClr val="1F2A44"/>
                          </a:solidFill>
                          <a:latin typeface="Arial"/>
                          <a:ea typeface="Microsoft YaHei"/>
                        </a:rPr>
                        <a:t>I’m aiming to move into a management role.</a:t>
                      </a:r>
                    </a:p>
                  </a:txBody>
                  <a:tcPr anchor="ctr">
                    <a:solidFill>
                      <a:srgbClr val="FFFFFF"/>
                    </a:solidFill>
                  </a:tcPr>
                </a:tc>
                <a:tc>
                  <a:txBody>
                    <a:bodyPr wrap="square"/>
                    <a:lstStyle/>
                    <a:p>
                      <a:r>
                        <a:rPr sz="1600" b="0">
                          <a:solidFill>
                            <a:srgbClr val="1F2A44"/>
                          </a:solidFill>
                          <a:latin typeface="Arial"/>
                          <a:ea typeface="Microsoft YaHei"/>
                        </a:rPr>
                        <a:t>aim to / aim for</a:t>
                      </a:r>
                    </a:p>
                  </a:txBody>
                  <a:tcPr anchor="ctr">
                    <a:solidFill>
                      <a:srgbClr val="FFFFFF"/>
                    </a:solidFill>
                  </a:tcPr>
                </a:tc>
              </a:tr>
              <a:tr h="896111">
                <a:tc>
                  <a:txBody>
                    <a:bodyPr wrap="square"/>
                    <a:lstStyle/>
                    <a:p>
                      <a:r>
                        <a:rPr sz="1600" b="1">
                          <a:solidFill>
                            <a:srgbClr val="1F2A44"/>
                          </a:solidFill>
                          <a:latin typeface="Arial"/>
                          <a:ea typeface="Microsoft YaHei"/>
                        </a:rPr>
                        <a:t>Can I get a raise?</a:t>
                      </a:r>
                    </a:p>
                  </a:txBody>
                  <a:tcPr anchor="ctr">
                    <a:solidFill>
                      <a:srgbClr val="FFEFD9"/>
                    </a:solidFill>
                  </a:tcPr>
                </a:tc>
                <a:tc>
                  <a:txBody>
                    <a:bodyPr wrap="square"/>
                    <a:lstStyle/>
                    <a:p>
                      <a:r>
                        <a:rPr sz="1600" b="0">
                          <a:solidFill>
                            <a:srgbClr val="1F2A44"/>
                          </a:solidFill>
                          <a:latin typeface="Arial"/>
                          <a:ea typeface="Microsoft YaHei"/>
                        </a:rPr>
                        <a:t>I’d like to discuss my compensation in light of my new responsibilities.</a:t>
                      </a:r>
                    </a:p>
                  </a:txBody>
                  <a:tcPr anchor="ctr">
                    <a:solidFill>
                      <a:srgbClr val="FFEFD9"/>
                    </a:solidFill>
                  </a:tcPr>
                </a:tc>
                <a:tc>
                  <a:txBody>
                    <a:bodyPr wrap="square"/>
                    <a:lstStyle/>
                    <a:p>
                      <a:r>
                        <a:rPr sz="1600" b="0">
                          <a:solidFill>
                            <a:srgbClr val="FF6B5B"/>
                          </a:solidFill>
                          <a:latin typeface="Arial"/>
                          <a:ea typeface="Microsoft YaHei"/>
                        </a:rPr>
                        <a:t>正式、有理由</a:t>
                      </a:r>
                    </a:p>
                  </a:txBody>
                  <a:tcPr anchor="ctr">
                    <a:solidFill>
                      <a:srgbClr val="FFEFD9"/>
                    </a:solidFill>
                  </a:tcPr>
                </a:tc>
              </a:tr>
              <a:tr h="896111">
                <a:tc>
                  <a:txBody>
                    <a:bodyPr wrap="square"/>
                    <a:lstStyle/>
                    <a:p>
                      <a:r>
                        <a:rPr sz="1600" b="1">
                          <a:solidFill>
                            <a:srgbClr val="1F2A44"/>
                          </a:solidFill>
                          <a:latin typeface="Arial"/>
                          <a:ea typeface="Microsoft YaHei"/>
                        </a:rPr>
                        <a:t>Why didn’t I get the job?</a:t>
                      </a:r>
                    </a:p>
                  </a:txBody>
                  <a:tcPr anchor="ctr">
                    <a:solidFill>
                      <a:srgbClr val="FFFFFF"/>
                    </a:solidFill>
                  </a:tcPr>
                </a:tc>
                <a:tc>
                  <a:txBody>
                    <a:bodyPr wrap="square"/>
                    <a:lstStyle/>
                    <a:p>
                      <a:r>
                        <a:rPr sz="1600" b="0">
                          <a:solidFill>
                            <a:srgbClr val="1F2A44"/>
                          </a:solidFill>
                          <a:latin typeface="Arial"/>
                          <a:ea typeface="Microsoft YaHei"/>
                        </a:rPr>
                        <a:t>Could you give me some feedback on what I could have done differently?</a:t>
                      </a:r>
                    </a:p>
                  </a:txBody>
                  <a:tcPr anchor="ctr">
                    <a:solidFill>
                      <a:srgbClr val="FFFFFF"/>
                    </a:solidFill>
                  </a:tcPr>
                </a:tc>
                <a:tc>
                  <a:txBody>
                    <a:bodyPr wrap="square"/>
                    <a:lstStyle/>
                    <a:p>
                      <a:r>
                        <a:rPr sz="1600" b="0">
                          <a:solidFill>
                            <a:srgbClr val="FF6B5B"/>
                          </a:solidFill>
                          <a:latin typeface="Arial"/>
                          <a:ea typeface="Microsoft YaHei"/>
                        </a:rPr>
                        <a:t>请求具体反馈</a:t>
                      </a:r>
                    </a:p>
                  </a:txBody>
                  <a:tcPr anchor="ctr">
                    <a:solidFill>
                      <a:srgbClr val="FFFFFF"/>
                    </a:solidFill>
                  </a:tcPr>
                </a:tc>
              </a:tr>
              <a:tr h="652272">
                <a:tc>
                  <a:txBody>
                    <a:bodyPr wrap="square"/>
                    <a:lstStyle/>
                    <a:p>
                      <a:r>
                        <a:rPr sz="1600" b="1">
                          <a:solidFill>
                            <a:srgbClr val="1F2A44"/>
                          </a:solidFill>
                          <a:latin typeface="Arial"/>
                          <a:ea typeface="Microsoft YaHei"/>
                        </a:rPr>
                        <a:t>I’m doing well.</a:t>
                      </a:r>
                    </a:p>
                  </a:txBody>
                  <a:tcPr anchor="ctr">
                    <a:solidFill>
                      <a:srgbClr val="FFEFD9"/>
                    </a:solidFill>
                  </a:tcPr>
                </a:tc>
                <a:tc>
                  <a:txBody>
                    <a:bodyPr wrap="square"/>
                    <a:lstStyle/>
                    <a:p>
                      <a:r>
                        <a:rPr sz="1600" b="0">
                          <a:solidFill>
                            <a:srgbClr val="1F2A44"/>
                          </a:solidFill>
                          <a:latin typeface="Arial"/>
                          <a:ea typeface="Microsoft YaHei"/>
                        </a:rPr>
                        <a:t>I’ve consistently met or exceeded my targets.</a:t>
                      </a:r>
                    </a:p>
                  </a:txBody>
                  <a:tcPr anchor="ctr">
                    <a:solidFill>
                      <a:srgbClr val="FFEFD9"/>
                    </a:solidFill>
                  </a:tcPr>
                </a:tc>
                <a:tc>
                  <a:txBody>
                    <a:bodyPr wrap="square"/>
                    <a:lstStyle/>
                    <a:p>
                      <a:r>
                        <a:rPr sz="1600" b="0">
                          <a:solidFill>
                            <a:srgbClr val="FF6B5B"/>
                          </a:solidFill>
                          <a:latin typeface="Arial"/>
                          <a:ea typeface="Microsoft YaHei"/>
                        </a:rPr>
                        <a:t>用事实说话</a:t>
                      </a:r>
                    </a:p>
                  </a:txBody>
                  <a:tcPr anchor="ctr">
                    <a:solidFill>
                      <a:srgbClr val="FFEFD9"/>
                    </a:solidFill>
                  </a:tcPr>
                </a:tc>
              </a:tr>
              <a:tr h="652272">
                <a:tc>
                  <a:txBody>
                    <a:bodyPr wrap="square"/>
                    <a:lstStyle/>
                    <a:p>
                      <a:r>
                        <a:rPr sz="1600" b="1">
                          <a:solidFill>
                            <a:srgbClr val="1F2A44"/>
                          </a:solidFill>
                          <a:latin typeface="Arial"/>
                          <a:ea typeface="Microsoft YaHei"/>
                        </a:rPr>
                        <a:t>I’m bored at this level.</a:t>
                      </a:r>
                    </a:p>
                  </a:txBody>
                  <a:tcPr anchor="ctr">
                    <a:solidFill>
                      <a:srgbClr val="FFFFFF"/>
                    </a:solidFill>
                  </a:tcPr>
                </a:tc>
                <a:tc>
                  <a:txBody>
                    <a:bodyPr wrap="square"/>
                    <a:lstStyle/>
                    <a:p>
                      <a:r>
                        <a:rPr sz="1600" b="0">
                          <a:solidFill>
                            <a:srgbClr val="1F2A44"/>
                          </a:solidFill>
                          <a:latin typeface="Arial"/>
                          <a:ea typeface="Microsoft YaHei"/>
                        </a:rPr>
                        <a:t>I feel ready for a new challenge.</a:t>
                      </a:r>
                    </a:p>
                  </a:txBody>
                  <a:tcPr anchor="ctr">
                    <a:solidFill>
                      <a:srgbClr val="FFFFFF"/>
                    </a:solidFill>
                  </a:tcPr>
                </a:tc>
                <a:tc>
                  <a:txBody>
                    <a:bodyPr wrap="square"/>
                    <a:lstStyle/>
                    <a:p>
                      <a:r>
                        <a:rPr sz="1600" b="0">
                          <a:solidFill>
                            <a:srgbClr val="FF6B5B"/>
                          </a:solidFill>
                          <a:latin typeface="Arial"/>
                          <a:ea typeface="Microsoft YaHei"/>
                        </a:rPr>
                        <a:t>积极表述</a:t>
                      </a:r>
                    </a:p>
                  </a:txBody>
                  <a:tcPr anchor="ctr">
                    <a:solidFill>
                      <a:srgbClr val="FFFFFF"/>
                    </a:solidFill>
                  </a:tcPr>
                </a:tc>
              </a:tr>
            </a:tbl>
          </a:graphicData>
        </a:graphic>
      </p:graphicFrame>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Passive for career events: </a:t>
            </a:r>
            <a:r>
              <a:rPr sz="1700" b="0">
                <a:solidFill>
                  <a:srgbClr val="1F2A44"/>
                </a:solidFill>
                <a:latin typeface="Arial"/>
                <a:ea typeface="Microsoft YaHei"/>
              </a:rPr>
              <a:t>be promoted, be transferred, be made redundant, be passed over, be fast-tracked.</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Future plans: </a:t>
            </a:r>
            <a:r>
              <a:rPr sz="1700" b="0">
                <a:solidFill>
                  <a:srgbClr val="1F2A44"/>
                </a:solidFill>
                <a:latin typeface="Arial"/>
                <a:ea typeface="Microsoft YaHei"/>
              </a:rPr>
              <a:t>I’m going to… (decided) · I’m aiming to… · By then, I’ll have + past participle (future perfect).</a:t>
            </a:r>
          </a:p>
        </p:txBody>
      </p:sp>
      <p:sp>
        <p:nvSpPr>
          <p:cNvPr id="14" name="Rounded Rectangle 13"/>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Collocations: </a:t>
            </a:r>
            <a:r>
              <a:rPr sz="1700" b="0">
                <a:solidFill>
                  <a:srgbClr val="1F2A44"/>
                </a:solidFill>
                <a:latin typeface="Arial"/>
                <a:ea typeface="Microsoft YaHei"/>
              </a:rPr>
              <a:t>get / receive a promotion · apply for a promotion · be in line for a promotion · climb the career ladder.</a:t>
            </a:r>
          </a:p>
        </p:txBody>
      </p:sp>
      <p:sp>
        <p:nvSpPr>
          <p:cNvPr id="17" name="Rounded Rectangle 16"/>
          <p:cNvSpPr/>
          <p:nvPr/>
        </p:nvSpPr>
        <p:spPr>
          <a:xfrm>
            <a:off x="548640" y="379475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9475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94757"/>
            <a:ext cx="10728655" cy="441959"/>
          </a:xfrm>
          <a:prstGeom prst="rect">
            <a:avLst/>
          </a:prstGeom>
          <a:noFill/>
        </p:spPr>
        <p:txBody>
          <a:bodyPr wrap="square" anchor="ctr">
            <a:spAutoFit/>
          </a:bodyPr>
          <a:lstStyle/>
          <a:p>
            <a:r>
              <a:rPr sz="1700" b="1">
                <a:solidFill>
                  <a:srgbClr val="FFC857"/>
                </a:solidFill>
                <a:latin typeface="Arial"/>
                <a:ea typeface="Microsoft YaHei"/>
              </a:rPr>
              <a:t>Advice: </a:t>
            </a:r>
            <a:r>
              <a:rPr sz="1700" b="0">
                <a:solidFill>
                  <a:srgbClr val="1F2A44"/>
                </a:solidFill>
                <a:latin typeface="Arial"/>
                <a:ea typeface="Microsoft YaHei"/>
              </a:rPr>
              <a:t>you should / you ought to / it would be a good idea to / why don’t you…?</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got a promote last year.</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got a promotion last year. / I was promoted last year.</a:t>
            </a:r>
          </a:p>
          <a:p>
            <a:pPr algn="l">
              <a:spcAft>
                <a:spcPts val="200"/>
              </a:spcAft>
            </a:pPr>
            <a:r>
              <a:rPr sz="1200" b="0">
                <a:solidFill>
                  <a:srgbClr val="FFFFFF"/>
                </a:solidFill>
                <a:latin typeface="Arial"/>
                <a:ea typeface="Microsoft YaHei"/>
              </a:rPr>
              <a:t>promotion 是名词</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become a manager in five years later.</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become a manager in five years.</a:t>
            </a:r>
          </a:p>
          <a:p>
            <a:pPr algn="l">
              <a:spcAft>
                <a:spcPts val="200"/>
              </a:spcAft>
            </a:pPr>
            <a:r>
              <a:rPr sz="1200" b="0">
                <a:solidFill>
                  <a:srgbClr val="FFFFFF"/>
                </a:solidFill>
                <a:latin typeface="Arial"/>
                <a:ea typeface="Microsoft YaHei"/>
              </a:rPr>
              <a:t>in five years / five years later 不同时用</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try my best to get promotion.</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do my best to get a promotion.</a:t>
            </a:r>
          </a:p>
          <a:p>
            <a:pPr algn="l">
              <a:spcAft>
                <a:spcPts val="200"/>
              </a:spcAft>
            </a:pPr>
            <a:r>
              <a:rPr sz="1200" b="0">
                <a:solidFill>
                  <a:srgbClr val="FFFFFF"/>
                </a:solidFill>
                <a:latin typeface="Arial"/>
                <a:ea typeface="Microsoft YaHei"/>
              </a:rPr>
              <a:t>promotion 可数,要加 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no any chance.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no chance. / I don’t have any chance.</a:t>
            </a:r>
          </a:p>
          <a:p>
            <a:pPr algn="l">
              <a:spcAft>
                <a:spcPts val="200"/>
              </a:spcAft>
            </a:pPr>
            <a:r>
              <a:rPr sz="1200" b="0">
                <a:solidFill>
                  <a:srgbClr val="FFFFFF"/>
                </a:solidFill>
                <a:latin typeface="Arial"/>
                <a:ea typeface="Microsoft YaHei"/>
              </a:rPr>
              <a:t>no 与 any 不连用</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better than me at the work.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better at the job than I am.</a:t>
            </a:r>
          </a:p>
          <a:p>
            <a:pPr algn="l">
              <a:spcAft>
                <a:spcPts val="200"/>
              </a:spcAft>
            </a:pPr>
            <a:r>
              <a:rPr sz="1200" b="0">
                <a:solidFill>
                  <a:srgbClr val="FFFFFF"/>
                </a:solidFill>
                <a:latin typeface="Arial"/>
                <a:ea typeface="Microsoft YaHei"/>
              </a:rPr>
              <a:t>比较结构</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was the youngest manager in our company ever.</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was the youngest manager our company has ever had.</a:t>
            </a:r>
          </a:p>
          <a:p>
            <a:pPr algn="l">
              <a:spcAft>
                <a:spcPts val="200"/>
              </a:spcAft>
            </a:pPr>
            <a:r>
              <a:rPr sz="1200" b="0">
                <a:solidFill>
                  <a:srgbClr val="FFFFFF"/>
                </a:solidFill>
                <a:latin typeface="Arial"/>
                <a:ea typeface="Microsoft YaHei"/>
              </a:rPr>
              <a:t>最高级 + ever 的位置</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 promotion (countable), in five years, and no / any (never together).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Titles vs responsibilities: </a:t>
            </a:r>
            <a:r>
              <a:rPr sz="1700" b="0">
                <a:solidFill>
                  <a:srgbClr val="1F2A44"/>
                </a:solidFill>
                <a:latin typeface="Arial"/>
                <a:ea typeface="Microsoft YaHei"/>
              </a:rPr>
              <a:t>In many Western companies, titles are flexible: “Senior” or “Lead” may come before a full “Manager” title. Ask what the role actually includes.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Self-advocacy: </a:t>
            </a:r>
            <a:r>
              <a:rPr sz="1700" b="0">
                <a:solidFill>
                  <a:srgbClr val="1F2A44"/>
                </a:solidFill>
                <a:latin typeface="Arial"/>
                <a:ea typeface="Microsoft YaHei"/>
              </a:rPr>
              <a:t>It is acceptable, and often expected, to ask for development opportunities in English-speaking companies. Do it politely and with evidence.</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Mentors and sponsors: </a:t>
            </a:r>
            <a:r>
              <a:rPr sz="1700" b="0">
                <a:solidFill>
                  <a:srgbClr val="1F2A44"/>
                </a:solidFill>
                <a:latin typeface="Arial"/>
                <a:ea typeface="Microsoft YaHei"/>
              </a:rPr>
              <a:t>A mentor gives advice; a sponsor is a senior person who speaks up for you in promotion discussions. Both help.</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在英语职场,主动谈晋升是正常的,关键是用事实证明(results)。mentor 提供建议,sponsor 在高层讨论时为你说话。</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my five-year career plan in English.</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my manager what is needed for promotion.</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being passed over without sounding bitter.</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passive forms such as be promoted and be passed over.</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15 The Career Ladder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countable a promotion, the passive, and no / any with negatives.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 · Lesson 16 When You Feel Stuck in Your Job</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800" b="1">
                <a:solidFill>
                  <a:srgbClr val="FFFFFF"/>
                </a:solidFill>
                <a:latin typeface="Arial"/>
                <a:ea typeface="Microsoft YaHei"/>
              </a:rPr>
              <a:t>When You Feel Stuck in Your Job</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工作陷入瓶颈时</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describe feeling stuck at work, work out the cause, and suggest practical ways to get unstuck.</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felt stuck in your job? What did it feel like?</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main causes of feeling stuck: boredom, lack of growth, a difficult boss or something else?</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do first if you felt stuck?</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could you talk to about this, at work or outside work?</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a bad patch and a real problem?</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题用现在完成时 Have you ever…? 回答可以用过去式描述。第 3 题用 would。bad patch = 低谷期(英式口语)。</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a friend advice on how to get unstuck in their job.</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name the problem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ask questions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suggest two or three actions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encourage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It sounds like you’re…   💬 Have you thought about…?   💬 One thing that might help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先共情再建议:It sounds like…(听起来你…)。建议用 might / could,不要太强势:One thing that might help is…</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Stuck, or Just Tired?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Almost everyone hits a flat patch in their career. The tasks feel repetitive, the days seem identical and you cannot see what comes next. Before you make a big decision, it helps to work out what kind of stuck you are. If you have stopped learning, the answer may be a new project or a course. If you feel unappreciated, a candid conversation with your manager could change a lot. If the culture itself drains you, a move to another team or company may be the only remedy. Whatever the cause, avoid doing nothing. Small, deliberate actions break the spell: updating your resume, having coffee with someone in another department or setting one learning goal for the quarter. These actions don’t solve everything, but they restore a sense of control, and that alone often changes how the job feels.</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first step before making a big decision?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Work out what kind of stuck you are.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might help if you have stopped learning?</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new project or a course.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are small actions useful?</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restore a sense of control, which often changes how the job feels.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Describing the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feel stuck</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感到停滞</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feel stuck in a job with no future.”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burnout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职业倦怠</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“Long hours led to burnout.”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repetitive</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重复乏味的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work has become repetitive.”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motivation</a:t>
            </a:r>
          </a:p>
          <a:p>
            <a:pPr algn="l">
              <a:lnSpc>
                <a:spcPct val="115000"/>
              </a:lnSpc>
              <a:spcAft>
                <a:spcPts val="800"/>
              </a:spcAft>
            </a:pPr>
            <a:r>
              <a:rPr sz="1300" b="0">
                <a:solidFill>
                  <a:srgbClr val="5F677A"/>
                </a:solidFill>
                <a:latin typeface="Arial"/>
                <a:ea typeface="Microsoft YaHei"/>
              </a:rPr>
              <a:t>noun (uncountable)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动力</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lost my motivation recently.”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dead-end job</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没有前途的工作</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don’t want to end up in a dead-end job.”</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feedback</a:t>
            </a:r>
          </a:p>
          <a:p>
            <a:pPr algn="l">
              <a:lnSpc>
                <a:spcPct val="115000"/>
              </a:lnSpc>
              <a:spcAft>
                <a:spcPts val="800"/>
              </a:spcAft>
            </a:pPr>
            <a:r>
              <a:rPr sz="1300" b="0">
                <a:solidFill>
                  <a:srgbClr val="5F677A"/>
                </a:solidFill>
                <a:latin typeface="Arial"/>
                <a:ea typeface="Microsoft YaHei"/>
              </a:rPr>
              <a:t>noun (uncountable)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反馈</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haven’t had any feedback in months.”</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Getting unstuck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打破瓶颈</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a rut</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一成不变、陷入常规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been in a rut for months.”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shake things up</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做出改变、打破常规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decided to shake things up by changing teams.”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stock (of)</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反思评估现状</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worth taking stock of what you want.”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reinvent yourself</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重塑自我</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reinvented herself as a data analyst.”</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step out of your comfort zone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走出舒适区</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“Stepping out of your comfort zone can reignite your interest.”</a:t>
            </a:r>
          </a:p>
        </p:txBody>
      </p:sp>
      <p:sp>
        <p:nvSpPr>
          <p:cNvPr id="34" name="Rounded Rectangle 33"/>
          <p:cNvSpPr/>
          <p:nvPr/>
        </p:nvSpPr>
        <p:spPr>
          <a:xfrm>
            <a:off x="548640" y="52400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ask for a fresh challenge</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52857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要求新的挑战</a:t>
            </a:r>
          </a:p>
        </p:txBody>
      </p:sp>
      <p:sp>
        <p:nvSpPr>
          <p:cNvPr id="38" name="TextBox 37"/>
          <p:cNvSpPr txBox="1"/>
          <p:nvPr/>
        </p:nvSpPr>
        <p:spPr>
          <a:xfrm>
            <a:off x="6675120" y="52857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asked for a fresh challenge and got a new project.”</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做出改变、打破常规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shake things up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走出舒适区</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 out of your comfort zone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没有前途的工作</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dead-end job</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动力</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motivation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反思评估现状</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stock (of)</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职业倦怠</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burnout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反馈</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feedback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重复乏味的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repetitive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stuck</a:t>
            </a:r>
          </a:p>
        </p:txBody>
      </p:sp>
      <p:sp>
        <p:nvSpPr>
          <p:cNvPr id="10" name="Rounded Rectangle 9"/>
          <p:cNvSpPr/>
          <p:nvPr/>
        </p:nvSpPr>
        <p:spPr>
          <a:xfrm>
            <a:off x="3017520"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burnout</a:t>
            </a:r>
          </a:p>
        </p:txBody>
      </p:sp>
      <p:sp>
        <p:nvSpPr>
          <p:cNvPr id="11" name="Rounded Rectangle 10"/>
          <p:cNvSpPr/>
          <p:nvPr/>
        </p:nvSpPr>
        <p:spPr>
          <a:xfrm>
            <a:off x="4242816"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motivation</a:t>
            </a:r>
          </a:p>
        </p:txBody>
      </p:sp>
      <p:sp>
        <p:nvSpPr>
          <p:cNvPr id="12" name="Rounded Rectangle 11"/>
          <p:cNvSpPr/>
          <p:nvPr/>
        </p:nvSpPr>
        <p:spPr>
          <a:xfrm>
            <a:off x="5797296" y="987552"/>
            <a:ext cx="69494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rut</a:t>
            </a:r>
          </a:p>
        </p:txBody>
      </p:sp>
      <p:sp>
        <p:nvSpPr>
          <p:cNvPr id="13" name="Rounded Rectangle 12"/>
          <p:cNvSpPr/>
          <p:nvPr/>
        </p:nvSpPr>
        <p:spPr>
          <a:xfrm>
            <a:off x="6583680"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stock</a:t>
            </a:r>
          </a:p>
        </p:txBody>
      </p:sp>
      <p:sp>
        <p:nvSpPr>
          <p:cNvPr id="14" name="Rounded Rectangle 13"/>
          <p:cNvSpPr/>
          <p:nvPr/>
        </p:nvSpPr>
        <p:spPr>
          <a:xfrm>
            <a:off x="758952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comfort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feel _______ in a job with no future.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stuck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Long hours and no breaks led to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burnout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I’ve lost my _______ because I do the same thing every day.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motivation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I’ve been in a _______ for months.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rut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It’s worth taking _______ of what you really want.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stock</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Sometimes you need to step out of your _______ zone.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comfort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burnout (one word as a noun; “burn out” as a verb), motivation (not “motivition”), repetitive (not “repetative”). Say take stock of (no “the”). Motivation and feedback are uncountable.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Helping a friend who feels stuck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帮助感到停滞的朋友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friend and colleague Ming has been in the same role for six years and tells you over coffee that he feels stuck.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Hui, Ming’s friend and colleague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Ming, who feels stuck</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Helping a friend who feels stuck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Hui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seem a bit down today, Ming. Is everything okay?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Ming</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Honestly, I feel stuck. The work is repetitive, and I can’t see where I’m going.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frustrating. How long have you felt like this?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About a year. I used to love it, but now I’m just going through the motions.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sounds like you’re in a rut. Have you thought about what’s missing: learning, recognition or something else?</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Probably learning. I haven’t learned anything new in ages.</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Helping a friend who feels stuck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thing that might help is to ask for a fresh challenge, perhaps a project outside your usual area.</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could, but I’m worried that my manager will think I’m unhappy.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could present it as a way to add more value. Something like: “I’d like to take on a new challenge to use my skills better.”</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good way to put it. What if there’s nothing available?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maybe it’s time to take stock and look at other teams, or even other companies. But start small.</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Hui. It helps just to talk about it.</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Helping a friend who feels stuck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help a friend who feels stuck at work.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giving advice. Your own experience of feeling stuck: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who feels stuck and worried.</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feel stuck · in a rut · take stock · shake things up · fresh challenge · comfort zone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 first, show empathy, then offer two practical suggestions.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friend rejects every suggestion with “Yes, but…”. Stay patient and ask a question instead of advising.</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friend says: “Maybe I’m just lazy.” Reassure them and reframe the problem.</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Swap roles. You are the one who feels stuck. Explain what you need from your friend.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first signs that someone is stuck in their job?</a:t>
            </a:r>
          </a:p>
          <a:p>
            <a:pPr algn="l">
              <a:lnSpc>
                <a:spcPct val="115000"/>
              </a:lnSpc>
              <a:spcAft>
                <a:spcPts val="800"/>
              </a:spcAft>
            </a:pPr>
            <a:r>
              <a:rPr sz="1400" b="0">
                <a:solidFill>
                  <a:srgbClr val="5F677A"/>
                </a:solidFill>
                <a:latin typeface="Arial"/>
                <a:ea typeface="Microsoft YaHei"/>
              </a:rPr>
              <a:t>💬 “A typical sign is when…” / “People may start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feeling stuck the employee’s problem or the company’s responsibility?</a:t>
            </a:r>
          </a:p>
          <a:p>
            <a:pPr algn="l">
              <a:lnSpc>
                <a:spcPct val="115000"/>
              </a:lnSpc>
              <a:spcAft>
                <a:spcPts val="800"/>
              </a:spcAft>
            </a:pPr>
            <a:r>
              <a:rPr sz="1400" b="0">
                <a:solidFill>
                  <a:srgbClr val="5F677A"/>
                </a:solidFill>
                <a:latin typeface="Arial"/>
                <a:ea typeface="Microsoft YaHei"/>
              </a:rPr>
              <a:t>💬 “Both sides share responsibility, but…” / “I’d say it’s mainly…”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is better for getting unstuck: a new job or a new role in the same company?</a:t>
            </a:r>
          </a:p>
          <a:p>
            <a:pPr algn="l">
              <a:lnSpc>
                <a:spcPct val="115000"/>
              </a:lnSpc>
              <a:spcAft>
                <a:spcPts val="800"/>
              </a:spcAft>
            </a:pPr>
            <a:r>
              <a:rPr sz="1400" b="0">
                <a:solidFill>
                  <a:srgbClr val="5F677A"/>
                </a:solidFill>
                <a:latin typeface="Arial"/>
                <a:ea typeface="Microsoft YaHei"/>
              </a:rPr>
              <a:t>💬 “A new role in the same company has the advantage of… whereas a new job…”</a:t>
            </a:r>
          </a:p>
        </p:txBody>
      </p:sp>
      <p:sp>
        <p:nvSpPr>
          <p:cNvPr id="18" name="Oval 17"/>
          <p:cNvSpPr/>
          <p:nvPr/>
        </p:nvSpPr>
        <p:spPr>
          <a:xfrm>
            <a:off x="548640" y="41757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300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757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small actions can help when you are stuck?</a:t>
            </a:r>
          </a:p>
          <a:p>
            <a:pPr algn="l">
              <a:lnSpc>
                <a:spcPct val="115000"/>
              </a:lnSpc>
              <a:spcAft>
                <a:spcPts val="800"/>
              </a:spcAft>
            </a:pPr>
            <a:r>
              <a:rPr sz="1400" b="0">
                <a:solidFill>
                  <a:srgbClr val="5F677A"/>
                </a:solidFill>
                <a:latin typeface="Arial"/>
                <a:ea typeface="Microsoft YaHei"/>
              </a:rPr>
              <a:t>💬 “Something simple like… could help.” / “It might be worth…”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new role in the same company has the advantage of being lower risk. You already know the people and how things work, so you can try something new without starting from zero. A new job, on the other hand, can bring a bigger change and a fresh start, but it also means a new culture and new relationships. If the main problem is the work itself, an internal move can solve it. If the problem is the company or the boss, I’d probably leave.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lower risk = 风险较低。starting from zero = 从零开始。whereas / on the other hand 表示对比。If the main problem is…, … 条件句结构清楚。</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I’m bored.</a:t>
                      </a:r>
                    </a:p>
                  </a:txBody>
                  <a:tcPr anchor="ctr">
                    <a:solidFill>
                      <a:srgbClr val="FFFFFF"/>
                    </a:solidFill>
                  </a:tcPr>
                </a:tc>
                <a:tc>
                  <a:txBody>
                    <a:bodyPr wrap="square"/>
                    <a:lstStyle/>
                    <a:p>
                      <a:r>
                        <a:rPr sz="1600" b="0">
                          <a:solidFill>
                            <a:srgbClr val="1F2A44"/>
                          </a:solidFill>
                          <a:latin typeface="Arial"/>
                          <a:ea typeface="Microsoft YaHei"/>
                        </a:rPr>
                        <a:t>I feel I’ve stopped growing in this role.</a:t>
                      </a:r>
                    </a:p>
                  </a:txBody>
                  <a:tcPr anchor="ctr">
                    <a:solidFill>
                      <a:srgbClr val="FFFFFF"/>
                    </a:solidFill>
                  </a:tcPr>
                </a:tc>
                <a:tc>
                  <a:txBody>
                    <a:bodyPr wrap="square"/>
                    <a:lstStyle/>
                    <a:p>
                      <a:r>
                        <a:rPr sz="1600" b="0">
                          <a:solidFill>
                            <a:srgbClr val="FF6B5B"/>
                          </a:solidFill>
                          <a:latin typeface="Arial"/>
                          <a:ea typeface="Microsoft YaHei"/>
                        </a:rPr>
                        <a:t>把情绪变成原因</a:t>
                      </a:r>
                    </a:p>
                  </a:txBody>
                  <a:tcPr anchor="ctr">
                    <a:solidFill>
                      <a:srgbClr val="FFFFFF"/>
                    </a:solidFill>
                  </a:tcPr>
                </a:tc>
              </a:tr>
              <a:tr h="652272">
                <a:tc>
                  <a:txBody>
                    <a:bodyPr wrap="square"/>
                    <a:lstStyle/>
                    <a:p>
                      <a:r>
                        <a:rPr sz="1600" b="1">
                          <a:solidFill>
                            <a:srgbClr val="1F2A44"/>
                          </a:solidFill>
                          <a:latin typeface="Arial"/>
                          <a:ea typeface="Microsoft YaHei"/>
                        </a:rPr>
                        <a:t>My boss never listens.</a:t>
                      </a:r>
                    </a:p>
                  </a:txBody>
                  <a:tcPr anchor="ctr">
                    <a:solidFill>
                      <a:srgbClr val="FFEFD9"/>
                    </a:solidFill>
                  </a:tcPr>
                </a:tc>
                <a:tc>
                  <a:txBody>
                    <a:bodyPr wrap="square"/>
                    <a:lstStyle/>
                    <a:p>
                      <a:r>
                        <a:rPr sz="1600" b="0">
                          <a:solidFill>
                            <a:srgbClr val="1F2A44"/>
                          </a:solidFill>
                          <a:latin typeface="Arial"/>
                          <a:ea typeface="Microsoft YaHei"/>
                        </a:rPr>
                        <a:t>I’d welcome more regular feedback and dialogue with my manager.</a:t>
                      </a:r>
                    </a:p>
                  </a:txBody>
                  <a:tcPr anchor="ctr">
                    <a:solidFill>
                      <a:srgbClr val="FFEFD9"/>
                    </a:solidFill>
                  </a:tcPr>
                </a:tc>
                <a:tc>
                  <a:txBody>
                    <a:bodyPr wrap="square"/>
                    <a:lstStyle/>
                    <a:p>
                      <a:r>
                        <a:rPr sz="1600" b="0">
                          <a:solidFill>
                            <a:srgbClr val="FF6B5B"/>
                          </a:solidFill>
                          <a:latin typeface="Arial"/>
                          <a:ea typeface="Microsoft YaHei"/>
                        </a:rPr>
                        <a:t>建设性</a:t>
                      </a:r>
                    </a:p>
                  </a:txBody>
                  <a:tcPr anchor="ctr">
                    <a:solidFill>
                      <a:srgbClr val="FFEFD9"/>
                    </a:solidFill>
                  </a:tcPr>
                </a:tc>
              </a:tr>
              <a:tr h="652272">
                <a:tc>
                  <a:txBody>
                    <a:bodyPr wrap="square"/>
                    <a:lstStyle/>
                    <a:p>
                      <a:r>
                        <a:rPr sz="1600" b="1">
                          <a:solidFill>
                            <a:srgbClr val="1F2A44"/>
                          </a:solidFill>
                          <a:latin typeface="Arial"/>
                          <a:ea typeface="Microsoft YaHei"/>
                        </a:rPr>
                        <a:t>I’m tired of this job.</a:t>
                      </a:r>
                    </a:p>
                  </a:txBody>
                  <a:tcPr anchor="ctr">
                    <a:solidFill>
                      <a:srgbClr val="FFFFFF"/>
                    </a:solidFill>
                  </a:tcPr>
                </a:tc>
                <a:tc>
                  <a:txBody>
                    <a:bodyPr wrap="square"/>
                    <a:lstStyle/>
                    <a:p>
                      <a:r>
                        <a:rPr sz="1600" b="0">
                          <a:solidFill>
                            <a:srgbClr val="1F2A44"/>
                          </a:solidFill>
                          <a:latin typeface="Arial"/>
                          <a:ea typeface="Microsoft YaHei"/>
                        </a:rPr>
                        <a:t>I’m ready for a change of direction.</a:t>
                      </a:r>
                    </a:p>
                  </a:txBody>
                  <a:tcPr anchor="ctr">
                    <a:solidFill>
                      <a:srgbClr val="FFFFFF"/>
                    </a:solidFill>
                  </a:tcPr>
                </a:tc>
                <a:tc>
                  <a:txBody>
                    <a:bodyPr wrap="square"/>
                    <a:lstStyle/>
                    <a:p>
                      <a:r>
                        <a:rPr sz="1600" b="0">
                          <a:solidFill>
                            <a:srgbClr val="FF6B5B"/>
                          </a:solidFill>
                          <a:latin typeface="Arial"/>
                          <a:ea typeface="Microsoft YaHei"/>
                        </a:rPr>
                        <a:t>积极</a:t>
                      </a:r>
                    </a:p>
                  </a:txBody>
                  <a:tcPr anchor="ctr">
                    <a:solidFill>
                      <a:srgbClr val="FFFFFF"/>
                    </a:solidFill>
                  </a:tcPr>
                </a:tc>
              </a:tr>
              <a:tr h="408432">
                <a:tc>
                  <a:txBody>
                    <a:bodyPr wrap="square"/>
                    <a:lstStyle/>
                    <a:p>
                      <a:r>
                        <a:rPr sz="1600" b="1">
                          <a:solidFill>
                            <a:srgbClr val="1F2A44"/>
                          </a:solidFill>
                          <a:latin typeface="Arial"/>
                          <a:ea typeface="Microsoft YaHei"/>
                        </a:rPr>
                        <a:t>I don’t know what to do.</a:t>
                      </a:r>
                    </a:p>
                  </a:txBody>
                  <a:tcPr anchor="ctr">
                    <a:solidFill>
                      <a:srgbClr val="FFEFD9"/>
                    </a:solidFill>
                  </a:tcPr>
                </a:tc>
                <a:tc>
                  <a:txBody>
                    <a:bodyPr wrap="square"/>
                    <a:lstStyle/>
                    <a:p>
                      <a:r>
                        <a:rPr sz="1600" b="0">
                          <a:solidFill>
                            <a:srgbClr val="1F2A44"/>
                          </a:solidFill>
                          <a:latin typeface="Arial"/>
                          <a:ea typeface="Microsoft YaHei"/>
                        </a:rPr>
                        <a:t>I’m weighing up my options.</a:t>
                      </a:r>
                    </a:p>
                  </a:txBody>
                  <a:tcPr anchor="ctr">
                    <a:solidFill>
                      <a:srgbClr val="FFEFD9"/>
                    </a:solidFill>
                  </a:tcPr>
                </a:tc>
                <a:tc>
                  <a:txBody>
                    <a:bodyPr wrap="square"/>
                    <a:lstStyle/>
                    <a:p>
                      <a:r>
                        <a:rPr sz="1600" b="0">
                          <a:solidFill>
                            <a:srgbClr val="FF6B5B"/>
                          </a:solidFill>
                          <a:latin typeface="Arial"/>
                          <a:ea typeface="Microsoft YaHei"/>
                        </a:rPr>
                        <a:t>权衡选项</a:t>
                      </a:r>
                    </a:p>
                  </a:txBody>
                  <a:tcPr anchor="ctr">
                    <a:solidFill>
                      <a:srgbClr val="FFEFD9"/>
                    </a:solidFill>
                  </a:tcPr>
                </a:tc>
              </a:tr>
              <a:tr h="652272">
                <a:tc>
                  <a:txBody>
                    <a:bodyPr wrap="square"/>
                    <a:lstStyle/>
                    <a:p>
                      <a:r>
                        <a:rPr sz="1600" b="1">
                          <a:solidFill>
                            <a:srgbClr val="1F2A44"/>
                          </a:solidFill>
                          <a:latin typeface="Arial"/>
                          <a:ea typeface="Microsoft YaHei"/>
                        </a:rPr>
                        <a:t>Help me.</a:t>
                      </a:r>
                    </a:p>
                  </a:txBody>
                  <a:tcPr anchor="ctr">
                    <a:solidFill>
                      <a:srgbClr val="FFFFFF"/>
                    </a:solidFill>
                  </a:tcPr>
                </a:tc>
                <a:tc>
                  <a:txBody>
                    <a:bodyPr wrap="square"/>
                    <a:lstStyle/>
                    <a:p>
                      <a:r>
                        <a:rPr sz="1600" b="0">
                          <a:solidFill>
                            <a:srgbClr val="1F2A44"/>
                          </a:solidFill>
                          <a:latin typeface="Arial"/>
                          <a:ea typeface="Microsoft YaHei"/>
                        </a:rPr>
                        <a:t>I’d really appreciate your advice on this.</a:t>
                      </a:r>
                    </a:p>
                  </a:txBody>
                  <a:tcPr anchor="ctr">
                    <a:solidFill>
                      <a:srgbClr val="FFFFFF"/>
                    </a:solidFill>
                  </a:tcPr>
                </a:tc>
                <a:tc>
                  <a:txBody>
                    <a:bodyPr wrap="square"/>
                    <a:lstStyle/>
                    <a:p>
                      <a:r>
                        <a:rPr sz="1600" b="0">
                          <a:solidFill>
                            <a:srgbClr val="FF6B5B"/>
                          </a:solidFill>
                          <a:latin typeface="Arial"/>
                          <a:ea typeface="Microsoft YaHei"/>
                        </a:rPr>
                        <a:t>请求建议</a:t>
                      </a:r>
                    </a:p>
                  </a:txBody>
                  <a:tcPr anchor="ctr">
                    <a:solidFill>
                      <a:srgbClr val="FFFFFF"/>
                    </a:solidFill>
                  </a:tcPr>
                </a:tc>
              </a:tr>
            </a:tbl>
          </a:graphicData>
        </a:graphic>
      </p:graphicFrame>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Advice structures: </a:t>
            </a:r>
            <a:r>
              <a:rPr sz="1700" b="0">
                <a:solidFill>
                  <a:srgbClr val="1F2A44"/>
                </a:solidFill>
                <a:latin typeface="Arial"/>
                <a:ea typeface="Microsoft YaHei"/>
              </a:rPr>
              <a:t>If I were you, I’d… · Have you thought about…? · Why don’t you…? · It might be worth + -ing.</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Empathy phrases: </a:t>
            </a:r>
            <a:r>
              <a:rPr sz="1700" b="0">
                <a:solidFill>
                  <a:srgbClr val="1F2A44"/>
                </a:solidFill>
                <a:latin typeface="Arial"/>
                <a:ea typeface="Microsoft YaHei"/>
              </a:rPr>
              <a:t>That sounds frustrating. / I can see why you feel that way. / That must be hard.</a:t>
            </a:r>
          </a:p>
        </p:txBody>
      </p:sp>
      <p:sp>
        <p:nvSpPr>
          <p:cNvPr id="14" name="Rounded Rectangle 13"/>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Used to vs be used to: </a:t>
            </a:r>
            <a:r>
              <a:rPr sz="1700" b="0">
                <a:solidFill>
                  <a:srgbClr val="1F2A44"/>
                </a:solidFill>
                <a:latin typeface="Arial"/>
                <a:ea typeface="Microsoft YaHei"/>
              </a:rPr>
              <a:t>I used to love it (past, no longer) vs I’m used to the routine (accustomed to).</a:t>
            </a:r>
          </a:p>
        </p:txBody>
      </p:sp>
      <p:sp>
        <p:nvSpPr>
          <p:cNvPr id="17" name="Rounded Rectangle 16"/>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35677"/>
            <a:ext cx="10728655" cy="701039"/>
          </a:xfrm>
          <a:prstGeom prst="rect">
            <a:avLst/>
          </a:prstGeom>
          <a:noFill/>
        </p:spPr>
        <p:txBody>
          <a:bodyPr wrap="square" anchor="ctr">
            <a:spAutoFit/>
          </a:bodyPr>
          <a:lstStyle/>
          <a:p>
            <a:r>
              <a:rPr sz="1700" b="1">
                <a:solidFill>
                  <a:srgbClr val="FFC857"/>
                </a:solidFill>
                <a:latin typeface="Arial"/>
                <a:ea typeface="Microsoft YaHei"/>
              </a:rPr>
              <a:t>Present perfect with duration: </a:t>
            </a:r>
            <a:r>
              <a:rPr sz="1700" b="0">
                <a:solidFill>
                  <a:srgbClr val="1F2A44"/>
                </a:solidFill>
                <a:latin typeface="Arial"/>
                <a:ea typeface="Microsoft YaHei"/>
              </a:rPr>
              <a:t>I’ve felt stuck for a year. / I haven’t learned anything new in ages.</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feel very bored in my work.</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feel bored with my work. / I’m bored with my job.</a:t>
            </a:r>
          </a:p>
          <a:p>
            <a:pPr algn="l">
              <a:spcAft>
                <a:spcPts val="200"/>
              </a:spcAft>
            </a:pPr>
            <a:r>
              <a:rPr sz="1200" b="0">
                <a:solidFill>
                  <a:srgbClr val="FFFFFF"/>
                </a:solidFill>
                <a:latin typeface="Arial"/>
                <a:ea typeface="Microsoft YaHei"/>
              </a:rPr>
              <a:t>bored with</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job has no any future.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job has no future.</a:t>
            </a:r>
          </a:p>
          <a:p>
            <a:pPr algn="l">
              <a:spcAft>
                <a:spcPts val="200"/>
              </a:spcAft>
            </a:pPr>
            <a:r>
              <a:rPr sz="1200" b="0">
                <a:solidFill>
                  <a:srgbClr val="FFFFFF"/>
                </a:solidFill>
                <a:latin typeface="Arial"/>
                <a:ea typeface="Microsoft YaHei"/>
              </a:rPr>
              <a:t>no / any 不连用</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tired for the same work every day.</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tired of the same work every day.</a:t>
            </a:r>
          </a:p>
          <a:p>
            <a:pPr algn="l">
              <a:spcAft>
                <a:spcPts val="200"/>
              </a:spcAft>
            </a:pPr>
            <a:r>
              <a:rPr sz="1200" b="0">
                <a:solidFill>
                  <a:srgbClr val="FFFFFF"/>
                </a:solidFill>
                <a:latin typeface="Arial"/>
                <a:ea typeface="Microsoft YaHei"/>
              </a:rPr>
              <a:t>tired of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I am you, I will ask my boss.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I were you, I’d ask my boss.</a:t>
            </a:r>
          </a:p>
          <a:p>
            <a:pPr algn="l">
              <a:spcAft>
                <a:spcPts val="200"/>
              </a:spcAft>
            </a:pPr>
            <a:r>
              <a:rPr sz="1200" b="0">
                <a:solidFill>
                  <a:srgbClr val="FFFFFF"/>
                </a:solidFill>
                <a:latin typeface="Arial"/>
                <a:ea typeface="Microsoft YaHei"/>
              </a:rPr>
              <a:t>假设用 were + would</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makes me losing motivation.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makes me lose motivation.</a:t>
            </a:r>
          </a:p>
          <a:p>
            <a:pPr algn="l">
              <a:spcAft>
                <a:spcPts val="200"/>
              </a:spcAft>
            </a:pPr>
            <a:r>
              <a:rPr sz="1200" b="0">
                <a:solidFill>
                  <a:srgbClr val="FFFFFF"/>
                </a:solidFill>
                <a:latin typeface="Arial"/>
                <a:ea typeface="Microsoft YaHei"/>
              </a:rPr>
              <a:t>make + 宾语 + 动词原形</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feel stressed by the situation of this job.</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feel stressed about this job.</a:t>
            </a:r>
          </a:p>
          <a:p>
            <a:pPr algn="l">
              <a:spcAft>
                <a:spcPts val="200"/>
              </a:spcAft>
            </a:pPr>
            <a:r>
              <a:rPr sz="1200" b="0">
                <a:solidFill>
                  <a:srgbClr val="FFFFFF"/>
                </a:solidFill>
                <a:latin typeface="Arial"/>
                <a:ea typeface="Microsoft YaHei"/>
              </a:rPr>
              <a:t>stressed about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bored with, tired of, make + object + bare verb, and If I were you, I’d…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Talking about feelings: </a:t>
            </a:r>
            <a:r>
              <a:rPr sz="1700" b="0">
                <a:solidFill>
                  <a:srgbClr val="1F2A44"/>
                </a:solidFill>
                <a:latin typeface="Arial"/>
                <a:ea typeface="Microsoft YaHei"/>
              </a:rPr>
              <a:t>English speakers often use light, indirect language (“I’m a bit stuck”) before opening up. Matching this tone helps.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Career coaching: </a:t>
            </a:r>
            <a:r>
              <a:rPr sz="1700" b="0">
                <a:solidFill>
                  <a:srgbClr val="1F2A44"/>
                </a:solidFill>
                <a:latin typeface="Arial"/>
                <a:ea typeface="Microsoft YaHei"/>
              </a:rPr>
              <a:t>Hiring a coach is common in the UK and US for mid-career professionals. It is not a sign of weakness.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Job changes: </a:t>
            </a:r>
            <a:r>
              <a:rPr sz="1700" b="0">
                <a:solidFill>
                  <a:srgbClr val="1F2A44"/>
                </a:solidFill>
                <a:latin typeface="Arial"/>
                <a:ea typeface="Microsoft YaHei"/>
              </a:rPr>
              <a:t>Moving jobs when you are stuck is normal. Explain it as a search for growth, not as an escape.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英语里常用 a bit(有点)缓和语气:I’m feeling a bit stuck。给建议时先共情,再建议。注意 bored with / tired of 的介词。</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feeling stuck and explain the causes.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offer advice using If I were you… and Have you thought about…?</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show empathy and ask open questions.</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four ★ idioms or collocations.</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16 When You Feel Stuck in Your Job</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prepositions (bored with, tired of), make + object + verb and If I were you.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 · Lesson 17 Kicking Your Productivity up a Gear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300" b="1">
                <a:solidFill>
                  <a:srgbClr val="FFFFFF"/>
                </a:solidFill>
                <a:latin typeface="Arial"/>
                <a:ea typeface="Microsoft YaHei"/>
              </a:rPr>
              <a:t>Kicking Your Productivity up a Gear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大幅提升你的工作效率</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share and explain practical ways to boost productivity: planning, prioritising, focus, tools and habits.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decide what to do first each day?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your biggest time-waster at work?</a:t>
            </a:r>
          </a:p>
        </p:txBody>
      </p:sp>
      <p:sp>
        <p:nvSpPr>
          <p:cNvPr id="15" name="Oval 14"/>
          <p:cNvSpPr/>
          <p:nvPr/>
        </p:nvSpPr>
        <p:spPr>
          <a:xfrm>
            <a:off x="548640" y="319125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work better in the morning or the afternoon? How do you organise your day around that?</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productivity tools or apps do you use?</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stay focused when you are tired or distracted?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第 2 题 time-waster 指浪费时间的事。第 3 题可以说 “I’m a morning person / a night owl”。prioritise = 排优先级(英式拼写)。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your top three productivity tips to a new colleague.</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tip 1 + reason</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tip 2 + reason</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tip 3 + result</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My top tip is to…   💬 The reason is that…   💬 As a result, I’m able to…</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讲建议用祈使句或 “I’d recommend + -ing”。因果连接词:because, so, as a result, that’s why。</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Working Smarter, Not Longer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Productivity is not about doing more things; it is about doing the right things well. The most effective people start the day by deciding their top priority and protecting time to work on it. They avoid constant notifications, because a single interruption can cost many minutes of concentration. Many also divide their work into short, focused blocks followed by brief breaks, a method that helps to avoid fatigue. Tools can help, but only if they are simple: a to-do list you actually check beats a complicated app you forget. Productive people also say no more often. They decline meetings with no clear purpose and delegate whenever someone else can do the job. Finally, they look after themselves. Sleep, exercise and breaks are not luxuries; they are what keep the mind sharp enough to do good work.</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does the writer say productivity is really about?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Doing the right things well, not doing more things.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should you avoid constant notifications?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single interruption can cost many minutes of concentration.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Which three habits does the writer list under “looking after yourself”?</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Sleep, exercise and breaks.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Planning your day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规划一天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prioritise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排优先级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prioritise my tasks every morning.”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deadline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截止日期</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got three deadlines this week.”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to-do list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待办清单</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“Check your to-do list before you leave.”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multitask</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同时处理多项任务</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“Trying to multitask often lowers quality.”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delegate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委派</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delegated the routine tasks to my assistant.”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 management</a:t>
            </a:r>
          </a:p>
          <a:p>
            <a:pPr algn="l">
              <a:lnSpc>
                <a:spcPct val="115000"/>
              </a:lnSpc>
              <a:spcAft>
                <a:spcPts val="800"/>
              </a:spcAft>
            </a:pPr>
            <a:r>
              <a:rPr sz="1300" b="0">
                <a:solidFill>
                  <a:srgbClr val="5F677A"/>
                </a:solidFill>
                <a:latin typeface="Arial"/>
                <a:ea typeface="Microsoft YaHei"/>
              </a:rPr>
              <a:t>noun (uncountable)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时间管理</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time management reduces stress.”</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Boosting your focus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提升专注</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eliminate distractions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排除干扰</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turn off notifications to eliminate distractions.”</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tackle (a task)</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着手处理</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tackle the hardest task first thing in the morning.”</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through</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完成(大量工作)</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got through my inbox before lunch.”</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procrastinate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拖延</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tend to procrastinate when a task looks big.”</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batch (similar tasks)</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集中批量处理</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batch my emails and check them twice a day.”</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into the flow</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进入状态</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“After an hour, I got into the flow and wrote the report.”</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拖延</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procrastinate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时间管理</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 management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待办清单</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to-do list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同时处理多项任务</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multitask</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进入状态</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into the flow</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委派</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排优先级</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prioritise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截止日期</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deadline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prioritise</a:t>
            </a:r>
          </a:p>
        </p:txBody>
      </p:sp>
      <p:sp>
        <p:nvSpPr>
          <p:cNvPr id="10" name="Rounded Rectangle 9"/>
          <p:cNvSpPr/>
          <p:nvPr/>
        </p:nvSpPr>
        <p:spPr>
          <a:xfrm>
            <a:off x="3566160"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delegate</a:t>
            </a:r>
          </a:p>
        </p:txBody>
      </p:sp>
      <p:sp>
        <p:nvSpPr>
          <p:cNvPr id="11" name="Rounded Rectangle 10"/>
          <p:cNvSpPr/>
          <p:nvPr/>
        </p:nvSpPr>
        <p:spPr>
          <a:xfrm>
            <a:off x="4901184"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multitask</a:t>
            </a:r>
          </a:p>
        </p:txBody>
      </p:sp>
      <p:sp>
        <p:nvSpPr>
          <p:cNvPr id="12" name="Rounded Rectangle 11"/>
          <p:cNvSpPr/>
          <p:nvPr/>
        </p:nvSpPr>
        <p:spPr>
          <a:xfrm>
            <a:off x="6345936"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distractions</a:t>
            </a:r>
          </a:p>
        </p:txBody>
      </p:sp>
      <p:sp>
        <p:nvSpPr>
          <p:cNvPr id="13" name="Rounded Rectangle 12"/>
          <p:cNvSpPr/>
          <p:nvPr/>
        </p:nvSpPr>
        <p:spPr>
          <a:xfrm>
            <a:off x="8119871"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procrastinate</a:t>
            </a:r>
          </a:p>
        </p:txBody>
      </p:sp>
      <p:sp>
        <p:nvSpPr>
          <p:cNvPr id="14" name="Rounded Rectangle 13"/>
          <p:cNvSpPr/>
          <p:nvPr/>
        </p:nvSpPr>
        <p:spPr>
          <a:xfrm>
            <a:off x="10003535"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flow</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_______ my tasks every morning.</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prioritise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_______ routine tasks to my assistant.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Trying to _______ usually lowers the quality of work.</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multitask</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Turn off notifications to remove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distractions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 tend to _______ when a task looks big.</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procrastinate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After an hour, I got into the _______ and finished the report.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flow</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 prioritise / prioritize (UK / US), procrastinate (not “procrastinte”), distraction (not “destraction”). Time management is uncountable, and so is advice: “some advice”.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Sharing productivity tips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向同事分享高效技巧</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new colleague, Jo, feels overwhelmed. You share your productivity routine.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Rui Wang, experienced colleague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Jo Harris, new colleague</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Sharing productivity tips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Rui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look a bit overwhelmed, Jo. Anything I can help with?</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Jo</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honestly. I’ve got so many tasks that I don’t know where to start.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been there. Do you have a to-do list?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 but it’s three pages long.</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Okay. My tip is to pick just three priorities for the day. Everything else can wait.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do you decide which three?</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Sharing productivity tips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ask myself which tasks have a deadline, which affect other people, and which move my goals forward.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helpful. What about emails? I’m constantly interrupted.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batch them. I check my inbox twice a day, at eleven and at four, and I turn off notifications the rest of the time.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Don’t people expect an immediate reply?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For urgent matters, they phone or message. For everything else, a few hours is fine. I also block out time in my calendar for focused work.</a:t>
            </a:r>
          </a:p>
        </p:txBody>
      </p:sp>
      <p:sp>
        <p:nvSpPr>
          <p:cNvPr id="23" name="Rounded Rectangle 22"/>
          <p:cNvSpPr/>
          <p:nvPr/>
        </p:nvSpPr>
        <p:spPr>
          <a:xfrm>
            <a:off x="10911535" y="5394959"/>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59"/>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give it a try. Thanks, Rui.</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Sharing productivity tips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share productivity tips with a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Experienced colleague. Your best tip: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Overwhelmed colleague who asks questions.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prioritise · deadline · distractions · batch · delegate · get into the flow</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three practical tips and explain why each works.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Jo says: “Those tips won’t work in my job, I’m always interrupted.” Offer adapted advice.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the one who is overwhelmed. Ask a colleague for help in a clear and polite way.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Present your “top three tips” as a one-minute talk with a clear ending.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multitasking a skill or a myth?</a:t>
            </a:r>
          </a:p>
          <a:p>
            <a:pPr algn="l">
              <a:lnSpc>
                <a:spcPct val="115000"/>
              </a:lnSpc>
              <a:spcAft>
                <a:spcPts val="800"/>
              </a:spcAft>
            </a:pPr>
            <a:r>
              <a:rPr sz="1400" b="0">
                <a:solidFill>
                  <a:srgbClr val="5F677A"/>
                </a:solidFill>
                <a:latin typeface="Arial"/>
                <a:ea typeface="Microsoft YaHei"/>
              </a:rPr>
              <a:t>💬 “In my experience, it’s a myth because…” / “It works for simple tasks,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protect time for deep work in an open-plan office?</a:t>
            </a:r>
          </a:p>
          <a:p>
            <a:pPr algn="l">
              <a:lnSpc>
                <a:spcPct val="115000"/>
              </a:lnSpc>
              <a:spcAft>
                <a:spcPts val="800"/>
              </a:spcAft>
            </a:pPr>
            <a:r>
              <a:rPr sz="1400" b="0">
                <a:solidFill>
                  <a:srgbClr val="5F677A"/>
                </a:solidFill>
                <a:latin typeface="Arial"/>
                <a:ea typeface="Microsoft YaHei"/>
              </a:rPr>
              <a:t>💬 “I try to… / It helps to…”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productivity apps really help, or do they become a distraction?</a:t>
            </a:r>
          </a:p>
          <a:p>
            <a:pPr algn="l">
              <a:lnSpc>
                <a:spcPct val="115000"/>
              </a:lnSpc>
              <a:spcAft>
                <a:spcPts val="800"/>
              </a:spcAft>
            </a:pPr>
            <a:r>
              <a:rPr sz="1400" b="0">
                <a:solidFill>
                  <a:srgbClr val="5F677A"/>
                </a:solidFill>
                <a:latin typeface="Arial"/>
                <a:ea typeface="Microsoft YaHei"/>
              </a:rPr>
              <a:t>💬 “They can help if…, but they can also…”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Does working longer hours mean you are more productive?</a:t>
            </a:r>
          </a:p>
          <a:p>
            <a:pPr algn="l">
              <a:lnSpc>
                <a:spcPct val="115000"/>
              </a:lnSpc>
              <a:spcAft>
                <a:spcPts val="800"/>
              </a:spcAft>
            </a:pPr>
            <a:r>
              <a:rPr sz="1400" b="0">
                <a:solidFill>
                  <a:srgbClr val="5F677A"/>
                </a:solidFill>
                <a:latin typeface="Arial"/>
                <a:ea typeface="Microsoft YaHei"/>
              </a:rPr>
              <a:t>💬 “Not necessarily, because…” / “Up to a point, yes, but after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Not necessarily. Up to a point, extra hours may produce more output, but after a while people get tired and make more mistakes. In my experience, I do my best work in the first four hours of the day. After that, my concentration drops, and I need much longer to finish the same tasks. I think it’s better to work focused hours and finish on time than to stay late without really achieving anything.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not necessarily = 未必。up to a point = 在一定程度上。output = 产出(不可数)。”the first four hours of the day” 注意 the。</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69443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I have too much work.</a:t>
                      </a:r>
                    </a:p>
                  </a:txBody>
                  <a:tcPr anchor="ctr">
                    <a:solidFill>
                      <a:srgbClr val="FFFFFF"/>
                    </a:solidFill>
                  </a:tcPr>
                </a:tc>
                <a:tc>
                  <a:txBody>
                    <a:bodyPr wrap="square"/>
                    <a:lstStyle/>
                    <a:p>
                      <a:r>
                        <a:rPr sz="1600" b="0">
                          <a:solidFill>
                            <a:srgbClr val="1F2A44"/>
                          </a:solidFill>
                          <a:latin typeface="Arial"/>
                          <a:ea typeface="Microsoft YaHei"/>
                        </a:rPr>
                        <a:t>I’m snowed under at the moment.</a:t>
                      </a:r>
                    </a:p>
                  </a:txBody>
                  <a:tcPr anchor="ctr">
                    <a:solidFill>
                      <a:srgbClr val="FFFFFF"/>
                    </a:solidFill>
                  </a:tcPr>
                </a:tc>
                <a:tc>
                  <a:txBody>
                    <a:bodyPr wrap="square"/>
                    <a:lstStyle/>
                    <a:p>
                      <a:r>
                        <a:rPr sz="1600" b="0">
                          <a:solidFill>
                            <a:srgbClr val="FF6B5B"/>
                          </a:solidFill>
                          <a:latin typeface="Arial"/>
                          <a:ea typeface="Microsoft YaHei"/>
                        </a:rPr>
                        <a:t>习语:被工作淹没</a:t>
                      </a:r>
                    </a:p>
                  </a:txBody>
                  <a:tcPr anchor="ctr">
                    <a:solidFill>
                      <a:srgbClr val="FFFFFF"/>
                    </a:solidFill>
                  </a:tcPr>
                </a:tc>
              </a:tr>
              <a:tr h="408432">
                <a:tc>
                  <a:txBody>
                    <a:bodyPr wrap="square"/>
                    <a:lstStyle/>
                    <a:p>
                      <a:r>
                        <a:rPr sz="1600" b="1">
                          <a:solidFill>
                            <a:srgbClr val="1F2A44"/>
                          </a:solidFill>
                          <a:latin typeface="Arial"/>
                          <a:ea typeface="Microsoft YaHei"/>
                        </a:rPr>
                        <a:t>I’ll do it later.</a:t>
                      </a:r>
                    </a:p>
                  </a:txBody>
                  <a:tcPr anchor="ctr">
                    <a:solidFill>
                      <a:srgbClr val="FFEFD9"/>
                    </a:solidFill>
                  </a:tcPr>
                </a:tc>
                <a:tc>
                  <a:txBody>
                    <a:bodyPr wrap="square"/>
                    <a:lstStyle/>
                    <a:p>
                      <a:r>
                        <a:rPr sz="1600" b="0">
                          <a:solidFill>
                            <a:srgbClr val="1F2A44"/>
                          </a:solidFill>
                          <a:latin typeface="Arial"/>
                          <a:ea typeface="Microsoft YaHei"/>
                        </a:rPr>
                        <a:t>I’ll get to it this afternoon.</a:t>
                      </a:r>
                    </a:p>
                  </a:txBody>
                  <a:tcPr anchor="ctr">
                    <a:solidFill>
                      <a:srgbClr val="FFEFD9"/>
                    </a:solidFill>
                  </a:tcPr>
                </a:tc>
                <a:tc>
                  <a:txBody>
                    <a:bodyPr wrap="square"/>
                    <a:lstStyle/>
                    <a:p>
                      <a:r>
                        <a:rPr sz="1600" b="0">
                          <a:solidFill>
                            <a:srgbClr val="FF6B5B"/>
                          </a:solidFill>
                          <a:latin typeface="Arial"/>
                          <a:ea typeface="Microsoft YaHei"/>
                        </a:rPr>
                        <a:t>get to 抽空处理</a:t>
                      </a:r>
                    </a:p>
                  </a:txBody>
                  <a:tcPr anchor="ctr">
                    <a:solidFill>
                      <a:srgbClr val="FFEFD9"/>
                    </a:solidFill>
                  </a:tcPr>
                </a:tc>
              </a:tr>
              <a:tr h="652272">
                <a:tc>
                  <a:txBody>
                    <a:bodyPr wrap="square"/>
                    <a:lstStyle/>
                    <a:p>
                      <a:r>
                        <a:rPr sz="1600" b="1">
                          <a:solidFill>
                            <a:srgbClr val="1F2A44"/>
                          </a:solidFill>
                          <a:latin typeface="Arial"/>
                          <a:ea typeface="Microsoft YaHei"/>
                        </a:rPr>
                        <a:t>I can’t focus.</a:t>
                      </a:r>
                    </a:p>
                  </a:txBody>
                  <a:tcPr anchor="ctr">
                    <a:solidFill>
                      <a:srgbClr val="FFFFFF"/>
                    </a:solidFill>
                  </a:tcPr>
                </a:tc>
                <a:tc>
                  <a:txBody>
                    <a:bodyPr wrap="square"/>
                    <a:lstStyle/>
                    <a:p>
                      <a:r>
                        <a:rPr sz="1600" b="0">
                          <a:solidFill>
                            <a:srgbClr val="1F2A44"/>
                          </a:solidFill>
                          <a:latin typeface="Arial"/>
                          <a:ea typeface="Microsoft YaHei"/>
                        </a:rPr>
                        <a:t>I’m finding it hard to concentrate.</a:t>
                      </a:r>
                    </a:p>
                  </a:txBody>
                  <a:tcPr anchor="ctr">
                    <a:solidFill>
                      <a:srgbClr val="FFFFFF"/>
                    </a:solidFill>
                  </a:tcPr>
                </a:tc>
                <a:tc>
                  <a:txBody>
                    <a:bodyPr wrap="square"/>
                    <a:lstStyle/>
                    <a:p>
                      <a:r>
                        <a:rPr sz="1600" b="0">
                          <a:solidFill>
                            <a:srgbClr val="1F2A44"/>
                          </a:solidFill>
                          <a:latin typeface="Arial"/>
                          <a:ea typeface="Microsoft YaHei"/>
                        </a:rPr>
                        <a:t>find it hard to</a:t>
                      </a:r>
                    </a:p>
                  </a:txBody>
                  <a:tcPr anchor="ctr">
                    <a:solidFill>
                      <a:srgbClr val="FFFFFF"/>
                    </a:solidFill>
                  </a:tcPr>
                </a:tc>
              </a:tr>
              <a:tr h="408432">
                <a:tc>
                  <a:txBody>
                    <a:bodyPr wrap="square"/>
                    <a:lstStyle/>
                    <a:p>
                      <a:r>
                        <a:rPr sz="1600" b="1">
                          <a:solidFill>
                            <a:srgbClr val="1F2A44"/>
                          </a:solidFill>
                          <a:latin typeface="Arial"/>
                          <a:ea typeface="Microsoft YaHei"/>
                        </a:rPr>
                        <a:t>I do many things at once.</a:t>
                      </a:r>
                    </a:p>
                  </a:txBody>
                  <a:tcPr anchor="ctr">
                    <a:solidFill>
                      <a:srgbClr val="FFEFD9"/>
                    </a:solidFill>
                  </a:tcPr>
                </a:tc>
                <a:tc>
                  <a:txBody>
                    <a:bodyPr wrap="square"/>
                    <a:lstStyle/>
                    <a:p>
                      <a:r>
                        <a:rPr sz="1600" b="0">
                          <a:solidFill>
                            <a:srgbClr val="1F2A44"/>
                          </a:solidFill>
                          <a:latin typeface="Arial"/>
                          <a:ea typeface="Microsoft YaHei"/>
                        </a:rPr>
                        <a:t>I’m juggling several projects.</a:t>
                      </a:r>
                    </a:p>
                  </a:txBody>
                  <a:tcPr anchor="ctr">
                    <a:solidFill>
                      <a:srgbClr val="FFEFD9"/>
                    </a:solidFill>
                  </a:tcPr>
                </a:tc>
                <a:tc>
                  <a:txBody>
                    <a:bodyPr wrap="square"/>
                    <a:lstStyle/>
                    <a:p>
                      <a:r>
                        <a:rPr sz="1600" b="0">
                          <a:solidFill>
                            <a:srgbClr val="FF6B5B"/>
                          </a:solidFill>
                          <a:latin typeface="Arial"/>
                          <a:ea typeface="Microsoft YaHei"/>
                        </a:rPr>
                        <a:t>juggle 同时应付</a:t>
                      </a:r>
                    </a:p>
                  </a:txBody>
                  <a:tcPr anchor="ctr">
                    <a:solidFill>
                      <a:srgbClr val="FFEFD9"/>
                    </a:solidFill>
                  </a:tcPr>
                </a:tc>
              </a:tr>
              <a:tr h="408432">
                <a:tc>
                  <a:txBody>
                    <a:bodyPr wrap="square"/>
                    <a:lstStyle/>
                    <a:p>
                      <a:r>
                        <a:rPr sz="1600" b="1">
                          <a:solidFill>
                            <a:srgbClr val="1F2A44"/>
                          </a:solidFill>
                          <a:latin typeface="Arial"/>
                          <a:ea typeface="Microsoft YaHei"/>
                        </a:rPr>
                        <a:t>This is the most important.</a:t>
                      </a:r>
                    </a:p>
                  </a:txBody>
                  <a:tcPr anchor="ctr">
                    <a:solidFill>
                      <a:srgbClr val="FFFFFF"/>
                    </a:solidFill>
                  </a:tcPr>
                </a:tc>
                <a:tc>
                  <a:txBody>
                    <a:bodyPr wrap="square"/>
                    <a:lstStyle/>
                    <a:p>
                      <a:r>
                        <a:rPr sz="1600" b="0">
                          <a:solidFill>
                            <a:srgbClr val="1F2A44"/>
                          </a:solidFill>
                          <a:latin typeface="Arial"/>
                          <a:ea typeface="Microsoft YaHei"/>
                        </a:rPr>
                        <a:t>This is my top priority.</a:t>
                      </a:r>
                    </a:p>
                  </a:txBody>
                  <a:tcPr anchor="ctr">
                    <a:solidFill>
                      <a:srgbClr val="FFFFFF"/>
                    </a:solidFill>
                  </a:tcPr>
                </a:tc>
                <a:tc>
                  <a:txBody>
                    <a:bodyPr wrap="square"/>
                    <a:lstStyle/>
                    <a:p>
                      <a:r>
                        <a:rPr sz="1600" b="0">
                          <a:solidFill>
                            <a:srgbClr val="FF6B5B"/>
                          </a:solidFill>
                          <a:latin typeface="Arial"/>
                          <a:ea typeface="Microsoft YaHei"/>
                        </a:rPr>
                        <a:t>priority 单数</a:t>
                      </a:r>
                    </a:p>
                  </a:txBody>
                  <a:tcPr anchor="ctr">
                    <a:solidFill>
                      <a:srgbClr val="FFFFFF"/>
                    </a:solidFill>
                  </a:tcPr>
                </a:tc>
              </a:tr>
            </a:tbl>
          </a:graphicData>
        </a:graphic>
      </p:graphicFrame>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Prioritising language: </a:t>
            </a:r>
            <a:r>
              <a:rPr sz="1700" b="0">
                <a:solidFill>
                  <a:srgbClr val="1F2A44"/>
                </a:solidFill>
                <a:latin typeface="Arial"/>
                <a:ea typeface="Microsoft YaHei"/>
              </a:rPr>
              <a:t>first and foremost · most importantly · after that · last but not least.</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Present continuous for current projects: </a:t>
            </a:r>
            <a:r>
              <a:rPr sz="1700" b="0">
                <a:solidFill>
                  <a:srgbClr val="1F2A44"/>
                </a:solidFill>
                <a:latin typeface="Arial"/>
                <a:ea typeface="Microsoft YaHei"/>
              </a:rPr>
              <a:t>“I’m working on three projects at the moment.”</a:t>
            </a:r>
          </a:p>
        </p:txBody>
      </p:sp>
      <p:sp>
        <p:nvSpPr>
          <p:cNvPr id="14" name="Rounded Rectangle 13"/>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Collocations: </a:t>
            </a:r>
            <a:r>
              <a:rPr sz="1700" b="0">
                <a:solidFill>
                  <a:srgbClr val="1F2A44"/>
                </a:solidFill>
                <a:latin typeface="Arial"/>
                <a:ea typeface="Microsoft YaHei"/>
              </a:rPr>
              <a:t>meet a deadline · miss a deadline · set priorities · stay on top of things · fall behind schedule.</a:t>
            </a:r>
          </a:p>
        </p:txBody>
      </p:sp>
      <p:sp>
        <p:nvSpPr>
          <p:cNvPr id="17" name="Rounded Rectangle 16"/>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701039"/>
          </a:xfrm>
          <a:prstGeom prst="rect">
            <a:avLst/>
          </a:prstGeom>
          <a:noFill/>
        </p:spPr>
        <p:txBody>
          <a:bodyPr wrap="square" anchor="ctr">
            <a:spAutoFit/>
          </a:bodyPr>
          <a:lstStyle/>
          <a:p>
            <a:r>
              <a:rPr sz="1700" b="1">
                <a:solidFill>
                  <a:srgbClr val="FFC857"/>
                </a:solidFill>
                <a:latin typeface="Arial"/>
                <a:ea typeface="Microsoft YaHei"/>
              </a:rPr>
              <a:t>Countable / uncountable: </a:t>
            </a:r>
            <a:r>
              <a:rPr sz="1700" b="0">
                <a:solidFill>
                  <a:srgbClr val="1F2A44"/>
                </a:solidFill>
                <a:latin typeface="Arial"/>
                <a:ea typeface="Microsoft YaHei"/>
              </a:rPr>
              <a:t>a task, tasks, but work, time, progress, advice are uncountable. Work has no plural.</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many works to do.</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lot of work to do.</a:t>
            </a:r>
          </a:p>
          <a:p>
            <a:pPr algn="l">
              <a:spcAft>
                <a:spcPts val="200"/>
              </a:spcAft>
            </a:pPr>
            <a:r>
              <a:rPr sz="1200" b="0">
                <a:solidFill>
                  <a:srgbClr val="FFFFFF"/>
                </a:solidFill>
                <a:latin typeface="Arial"/>
                <a:ea typeface="Microsoft YaHei"/>
              </a:rPr>
              <a:t>work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not good at manage my time.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not good at managing my time.</a:t>
            </a:r>
          </a:p>
          <a:p>
            <a:pPr algn="l">
              <a:spcAft>
                <a:spcPts val="200"/>
              </a:spcAft>
            </a:pPr>
            <a:r>
              <a:rPr sz="1200" b="0">
                <a:solidFill>
                  <a:srgbClr val="FFFFFF"/>
                </a:solidFill>
                <a:latin typeface="Arial"/>
                <a:ea typeface="Microsoft YaHei"/>
              </a:rPr>
              <a:t>at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use the time very efficient.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use my time very efficiently.</a:t>
            </a:r>
          </a:p>
          <a:p>
            <a:pPr algn="l">
              <a:spcAft>
                <a:spcPts val="200"/>
              </a:spcAft>
            </a:pPr>
            <a:r>
              <a:rPr sz="1200" b="0">
                <a:solidFill>
                  <a:srgbClr val="FFFFFF"/>
                </a:solidFill>
                <a:latin typeface="Arial"/>
                <a:ea typeface="Microsoft YaHei"/>
              </a:rPr>
              <a:t>副词修饰动词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must to finish this today.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must finish this today.</a:t>
            </a:r>
          </a:p>
          <a:p>
            <a:pPr algn="l">
              <a:spcAft>
                <a:spcPts val="200"/>
              </a:spcAft>
            </a:pPr>
            <a:r>
              <a:rPr sz="1200" b="0">
                <a:solidFill>
                  <a:srgbClr val="FFFFFF"/>
                </a:solidFill>
                <a:latin typeface="Arial"/>
                <a:ea typeface="Microsoft YaHei"/>
              </a:rPr>
              <a:t>must + 动词原形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deadline is closing.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deadline is approaching.</a:t>
            </a:r>
          </a:p>
          <a:p>
            <a:pPr algn="l">
              <a:spcAft>
                <a:spcPts val="200"/>
              </a:spcAft>
            </a:pPr>
            <a:r>
              <a:rPr sz="1200" b="0">
                <a:solidFill>
                  <a:srgbClr val="FFFFFF"/>
                </a:solidFill>
                <a:latin typeface="Arial"/>
                <a:ea typeface="Microsoft YaHei"/>
              </a:rPr>
              <a:t>deadline 用 approach</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waste time on social media and I can’t concentrate on.</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waste time on social media and can’t concentrate.</a:t>
            </a:r>
          </a:p>
          <a:p>
            <a:pPr algn="l">
              <a:spcAft>
                <a:spcPts val="200"/>
              </a:spcAft>
            </a:pPr>
            <a:r>
              <a:rPr sz="1200" b="0">
                <a:solidFill>
                  <a:srgbClr val="FFFFFF"/>
                </a:solidFill>
                <a:latin typeface="Arial"/>
                <a:ea typeface="Microsoft YaHei"/>
              </a:rPr>
              <a:t>concentrate on 后面要有宾语</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work / advice, adverbs (efficiently) and must / should + bare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“Work smarter”: English-speaking managers often talk about results, not hours. Leaving on time is not a sign of low commitment.</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Email etiquette: </a:t>
            </a:r>
            <a:r>
              <a:rPr sz="1700" b="0">
                <a:solidFill>
                  <a:srgbClr val="1F2A44"/>
                </a:solidFill>
                <a:latin typeface="Arial"/>
                <a:ea typeface="Microsoft YaHei"/>
              </a:rPr>
              <a:t>Many people no longer expect an instant reply. Say clearly when you will respond: “I’ll get back to you by Thursday.”</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Saying no: </a:t>
            </a:r>
            <a:r>
              <a:rPr sz="1700" b="0">
                <a:solidFill>
                  <a:srgbClr val="1F2A44"/>
                </a:solidFill>
                <a:latin typeface="Arial"/>
                <a:ea typeface="Microsoft YaHei"/>
              </a:rPr>
              <a:t>It is acceptable to decline tasks politely: “I’d love to help, but I’m at capacity this week. Could we look at next Monday?”</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欧美职场更强调“结果”而非“加班时长”。说“不”要礼貌:I’d love to help, but… 并给出替代方案。work 不可数,不说 works。</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three productivity tips and their reasons.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priorities using first and foremost and after that.</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decline a request politely.</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uncountable nouns (work, advice, progress) correctly.</a:t>
            </a:r>
          </a:p>
        </p:txBody>
      </p:sp>
      <p:sp>
        <p:nvSpPr>
          <p:cNvPr id="24" name="TextBox 23"/>
          <p:cNvSpPr txBox="1"/>
          <p:nvPr/>
        </p:nvSpPr>
        <p:spPr>
          <a:xfrm>
            <a:off x="9539935" y="36057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17 Kicking Your Productivity up a Gear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work, adverbs vs adjectives, and -ing after prepositions.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 · Lesson 18 Measuring Productivity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Measuring Productivity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衡量生产力</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how to measure productivity at individual, team and company levels, and weigh the pros and cons of different metrics.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is productivity measured in your job?</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Is it possible to measure creative work fairly? Why or why not?</a:t>
            </a:r>
          </a:p>
        </p:txBody>
      </p:sp>
      <p:sp>
        <p:nvSpPr>
          <p:cNvPr id="15" name="Oval 14"/>
          <p:cNvSpPr/>
          <p:nvPr/>
        </p:nvSpPr>
        <p:spPr>
          <a:xfrm>
            <a:off x="548640" y="29702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Have you ever been judged against a target that you felt was unfair?</a:t>
            </a:r>
          </a:p>
        </p:txBody>
      </p:sp>
      <p:sp>
        <p:nvSpPr>
          <p:cNvPr id="18" name="Oval 17"/>
          <p:cNvSpPr/>
          <p:nvPr/>
        </p:nvSpPr>
        <p:spPr>
          <a:xfrm>
            <a:off x="548640" y="36591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2102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2102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data would you collect to know whether a team is doing well?</a:t>
            </a:r>
          </a:p>
        </p:txBody>
      </p:sp>
      <p:sp>
        <p:nvSpPr>
          <p:cNvPr id="21" name="Oval 20"/>
          <p:cNvSpPr/>
          <p:nvPr/>
        </p:nvSpPr>
        <p:spPr>
          <a:xfrm>
            <a:off x="548640" y="43479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0987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0987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Do you think monitoring employees’ computer activity is acceptable?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3 题用现在完成时 Have you ever…。第 5 题可以用 “It depends on…” 来分情况。KPI = 关键绩效指标。</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Choose a job and explain how you would measure productivity in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job</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you would measure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risk of that measure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 better alternative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would measure… because…   💬 The danger of this is that…   💬 A fairer way might be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谈指标要同时谈利弊:The advantage is… but the risk is… 。data 在商务英语中常作单数使用(the data is…)。</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Reading · Not Everything That Counts Can Be Counted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Managers like numbers because numbers seem objective. Output per hour, sales per employee and tickets resolved per day are easy to track and compare. But a single figure rarely tells the whole story. A call-centre worker who ends calls quickly may meet the target, yet leave customers unhappy. A programmer who writes many lines of code may create more bugs than one who writes fewer. Researchers suggest combining a few simple measures: output, quality and customer or colleague feedback. It also helps to measure over a longer period and compare results with a clear goal rather than with other people. Finally, involve the people who do the job. They usually know which metrics make sense and which will cause bad behaviour. A measure should help people improve, not just make them feel watched.</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managers like numbers?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numbers seem objective and are easy to track and compare.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Give one example of a measure that could cause problems.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Quick calls in a call centre might meet the target but leave customers unhappy (or many lines of code could mean more bugs).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the writer suggest for better measurement?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Combine output, quality and feedback, measure over a longer period, compare with a clear goal and involve the people doing the job.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Metrics and targets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指标与目标</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KPI (key performance indicator)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关键绩效指标</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main KPI is customer retention.”</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target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目标</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hit our sales target in the third quarter.”</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output</a:t>
            </a:r>
          </a:p>
          <a:p>
            <a:pPr algn="l">
              <a:lnSpc>
                <a:spcPct val="115000"/>
              </a:lnSpc>
              <a:spcAft>
                <a:spcPts val="800"/>
              </a:spcAft>
            </a:pPr>
            <a:r>
              <a:rPr sz="1300" b="0">
                <a:solidFill>
                  <a:srgbClr val="5F677A"/>
                </a:solidFill>
                <a:latin typeface="Arial"/>
                <a:ea typeface="Microsoft YaHei"/>
              </a:rPr>
              <a:t>noun (uncountable)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产出</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“Output per employee rose by 8%.”</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benchmark</a:t>
            </a:r>
          </a:p>
          <a:p>
            <a:pPr algn="l">
              <a:lnSpc>
                <a:spcPct val="115000"/>
              </a:lnSpc>
              <a:spcAft>
                <a:spcPts val="800"/>
              </a:spcAft>
            </a:pPr>
            <a:r>
              <a:rPr sz="1300" b="0">
                <a:solidFill>
                  <a:srgbClr val="5F677A"/>
                </a:solidFill>
                <a:latin typeface="Arial"/>
                <a:ea typeface="Microsoft YaHei"/>
              </a:rPr>
              <a:t>noun / 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基准</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use last year as a benchmark.”</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efficiency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效率</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new system improved efficiency.”</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track</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跟踪</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track progress on a weekly dashboard.”</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Analysing results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分析结果</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exceed expectations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超出预期</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consistently exceeds expectations.”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 short of</a:t>
            </a:r>
          </a:p>
          <a:p>
            <a:pPr algn="l">
              <a:lnSpc>
                <a:spcPct val="115000"/>
              </a:lnSpc>
              <a:spcAft>
                <a:spcPts val="800"/>
              </a:spcAft>
            </a:pPr>
            <a:r>
              <a:rPr sz="1300" b="0">
                <a:solidFill>
                  <a:srgbClr val="5F677A"/>
                </a:solidFill>
                <a:latin typeface="Arial"/>
                <a:ea typeface="Microsoft YaHei"/>
              </a:rPr>
              <a:t>phrasal</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未达到</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fell short of our target by 5%.”</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vanity metric</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虚荣指标(好看但没用)</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“Page views can be a vanity metric if no one buys.”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drive results</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推动成果</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“Clear goals help to drive results.”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measurable</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可衡量的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“Set measurable goals, such as reducing returns by 10%.”</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game the system</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钻制度的空子</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you reward speed alone, people will game the system.”</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推动成果</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drive results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超出预期</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exceed expectations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跟踪</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track</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虚荣指标(好看但没用)</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vanity metric</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钻制度的空子</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game the system</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未达到</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short of</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基准</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benchmark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可衡量的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measurable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KPI</a:t>
            </a:r>
          </a:p>
        </p:txBody>
      </p:sp>
      <p:sp>
        <p:nvSpPr>
          <p:cNvPr id="10" name="Rounded Rectangle 9"/>
          <p:cNvSpPr/>
          <p:nvPr/>
        </p:nvSpPr>
        <p:spPr>
          <a:xfrm>
            <a:off x="2798064"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Output</a:t>
            </a:r>
          </a:p>
        </p:txBody>
      </p:sp>
      <p:sp>
        <p:nvSpPr>
          <p:cNvPr id="11" name="Rounded Rectangle 10"/>
          <p:cNvSpPr/>
          <p:nvPr/>
        </p:nvSpPr>
        <p:spPr>
          <a:xfrm>
            <a:off x="3913632"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benchmark</a:t>
            </a:r>
          </a:p>
        </p:txBody>
      </p:sp>
      <p:sp>
        <p:nvSpPr>
          <p:cNvPr id="12" name="Rounded Rectangle 11"/>
          <p:cNvSpPr/>
          <p:nvPr/>
        </p:nvSpPr>
        <p:spPr>
          <a:xfrm>
            <a:off x="5358384" y="987552"/>
            <a:ext cx="179222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fell short of</a:t>
            </a:r>
          </a:p>
        </p:txBody>
      </p:sp>
      <p:sp>
        <p:nvSpPr>
          <p:cNvPr id="13" name="Rounded Rectangle 12"/>
          <p:cNvSpPr/>
          <p:nvPr/>
        </p:nvSpPr>
        <p:spPr>
          <a:xfrm>
            <a:off x="7242048"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vanity metric</a:t>
            </a:r>
          </a:p>
        </p:txBody>
      </p:sp>
      <p:sp>
        <p:nvSpPr>
          <p:cNvPr id="14" name="Rounded Rectangle 13"/>
          <p:cNvSpPr/>
          <p:nvPr/>
        </p:nvSpPr>
        <p:spPr>
          <a:xfrm>
            <a:off x="9125712" y="987552"/>
            <a:ext cx="2011679"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game the system</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Our main _______ is customer retention.</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KPI</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_______ per employee rose by 8% this year.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Output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use last year’s figures as a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benchmark</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_______ our target by 5%.</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fell short of</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Page views alone are a _______ if no one buys.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vanity metric</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If you reward speed alone, people will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game the system</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efficiency (not “effeciency”), benchmark (one word), output (uncountable). Say fall short of (not “fall short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Discussing targets with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与经理讨论考核指标</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and your manager review whether the team’s KPI for call handling time is fair.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Hana Park, team leader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Collins, operations manager</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targets with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Hana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meeting me. I’d like to discuss the call handling time target.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Collins</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We’ve set it at five minutes. Is there a problem?</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numbers are good, but I’m worried that agents rush calls to meet it, so quality may be suffering.</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have any evidence?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Customer satisfaction scores have dropped by two points this quarter, while handling time has improved.</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What would you suggest instead?</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targets with a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keep handling time as one measure, but add first-call resolution and customer feedback.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won’t that make reporting more complicated?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Slightly. However, I think it would give us a more balanced picture, and agents wouldn’t feel pushed to game the system.</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Could you put together a short proposal with a one-month pilot?</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Certainly. I’ll have it ready by Friday.</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If the results look positive, we’ll roll it out to the other teams.</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Discussing targets with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 KPI with a manager.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leader. A KPI in your team that you want to improve: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Cautious about complexity.</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KPI · target · benchmark · fall short of · measurable · game the system</a:t>
            </a:r>
          </a:p>
        </p:txBody>
      </p:sp>
      <p:sp>
        <p:nvSpPr>
          <p:cNvPr id="16" name="Rounded Rectangle 15"/>
          <p:cNvSpPr/>
          <p:nvPr/>
        </p:nvSpPr>
        <p:spPr>
          <a:xfrm>
            <a:off x="548640" y="325221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problem with the current measure, propose a better one, and agree a pilot.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manager says: “Numbers don’t lie.” Answer politely, using an example.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must explain a missed target to a senior manager. Take responsibility and give a plan.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a “vanity metric” to someone who has never heard the term.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matters more when measuring performance: quantity or quality?</a:t>
            </a:r>
          </a:p>
          <a:p>
            <a:pPr algn="l">
              <a:lnSpc>
                <a:spcPct val="115000"/>
              </a:lnSpc>
              <a:spcAft>
                <a:spcPts val="800"/>
              </a:spcAft>
            </a:pPr>
            <a:r>
              <a:rPr sz="1400" b="0">
                <a:solidFill>
                  <a:srgbClr val="5F677A"/>
                </a:solidFill>
                <a:latin typeface="Arial"/>
                <a:ea typeface="Microsoft YaHei"/>
              </a:rPr>
              <a:t>💬 “Both matter, but I’d say… is more important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fair to compare employees using the same metrics?</a:t>
            </a:r>
          </a:p>
          <a:p>
            <a:pPr algn="l">
              <a:lnSpc>
                <a:spcPct val="115000"/>
              </a:lnSpc>
              <a:spcAft>
                <a:spcPts val="800"/>
              </a:spcAft>
            </a:pPr>
            <a:r>
              <a:rPr sz="1400" b="0">
                <a:solidFill>
                  <a:srgbClr val="5F677A"/>
                </a:solidFill>
                <a:latin typeface="Arial"/>
                <a:ea typeface="Microsoft YaHei"/>
              </a:rPr>
              <a:t>💬 “It’s only fair if…” / “Different jobs need different…”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KPIs motivating or stressful?</a:t>
            </a:r>
          </a:p>
          <a:p>
            <a:pPr algn="l">
              <a:lnSpc>
                <a:spcPct val="115000"/>
              </a:lnSpc>
              <a:spcAft>
                <a:spcPts val="800"/>
              </a:spcAft>
            </a:pPr>
            <a:r>
              <a:rPr sz="1400" b="0">
                <a:solidFill>
                  <a:srgbClr val="5F677A"/>
                </a:solidFill>
                <a:latin typeface="Arial"/>
                <a:ea typeface="Microsoft YaHei"/>
              </a:rPr>
              <a:t>💬 “Targets motivate me when… but they stress me when…”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Where should the line be drawn on monitoring employees’ activity?</a:t>
            </a:r>
          </a:p>
          <a:p>
            <a:pPr algn="l">
              <a:lnSpc>
                <a:spcPct val="115000"/>
              </a:lnSpc>
              <a:spcAft>
                <a:spcPts val="800"/>
              </a:spcAft>
            </a:pPr>
            <a:r>
              <a:rPr sz="1400" b="0">
                <a:solidFill>
                  <a:srgbClr val="5F677A"/>
                </a:solidFill>
                <a:latin typeface="Arial"/>
                <a:ea typeface="Microsoft YaHei"/>
              </a:rPr>
              <a:t>💬 “Monitoring is acceptable if…, but not when…”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Monitoring is acceptable if it is transparent and related to security or quality, for example tracking whether customer tickets are answered on time. But it is not acceptable when it records every keystroke or takes screenshots without telling employees. That kind of control destroys trust, and people stop taking the initiative. I think companies should tell employees what they monitor and why, and focus on results rather than on watching people.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transparent = 透明的。keystroke = 键盘敲击。take the initiative = 主动行动。”That kind of…” 用来概括前面所说的内容。</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We didn’t reach the goal.</a:t>
                      </a:r>
                    </a:p>
                  </a:txBody>
                  <a:tcPr anchor="ctr">
                    <a:solidFill>
                      <a:srgbClr val="FFFFFF"/>
                    </a:solidFill>
                  </a:tcPr>
                </a:tc>
                <a:tc>
                  <a:txBody>
                    <a:bodyPr wrap="square"/>
                    <a:lstStyle/>
                    <a:p>
                      <a:r>
                        <a:rPr sz="1600" b="0">
                          <a:solidFill>
                            <a:srgbClr val="1F2A44"/>
                          </a:solidFill>
                          <a:latin typeface="Arial"/>
                          <a:ea typeface="Microsoft YaHei"/>
                        </a:rPr>
                        <a:t>We fell short of our target by 5%.</a:t>
                      </a:r>
                    </a:p>
                  </a:txBody>
                  <a:tcPr anchor="ctr">
                    <a:solidFill>
                      <a:srgbClr val="FFFFFF"/>
                    </a:solidFill>
                  </a:tcPr>
                </a:tc>
                <a:tc>
                  <a:txBody>
                    <a:bodyPr wrap="square"/>
                    <a:lstStyle/>
                    <a:p>
                      <a:r>
                        <a:rPr sz="1600" b="0">
                          <a:solidFill>
                            <a:srgbClr val="FF6B5B"/>
                          </a:solidFill>
                          <a:latin typeface="Arial"/>
                          <a:ea typeface="Microsoft YaHei"/>
                        </a:rPr>
                        <a:t>具体、负责</a:t>
                      </a:r>
                    </a:p>
                  </a:txBody>
                  <a:tcPr anchor="ctr">
                    <a:solidFill>
                      <a:srgbClr val="FFFFFF"/>
                    </a:solidFill>
                  </a:tcPr>
                </a:tc>
              </a:tr>
              <a:tr h="652272">
                <a:tc>
                  <a:txBody>
                    <a:bodyPr wrap="square"/>
                    <a:lstStyle/>
                    <a:p>
                      <a:r>
                        <a:rPr sz="1600" b="1">
                          <a:solidFill>
                            <a:srgbClr val="1F2A44"/>
                          </a:solidFill>
                          <a:latin typeface="Arial"/>
                          <a:ea typeface="Microsoft YaHei"/>
                        </a:rPr>
                        <a:t>The team is doing well.</a:t>
                      </a:r>
                    </a:p>
                  </a:txBody>
                  <a:tcPr anchor="ctr">
                    <a:solidFill>
                      <a:srgbClr val="FFEFD9"/>
                    </a:solidFill>
                  </a:tcPr>
                </a:tc>
                <a:tc>
                  <a:txBody>
                    <a:bodyPr wrap="square"/>
                    <a:lstStyle/>
                    <a:p>
                      <a:r>
                        <a:rPr sz="1600" b="0">
                          <a:solidFill>
                            <a:srgbClr val="1F2A44"/>
                          </a:solidFill>
                          <a:latin typeface="Arial"/>
                          <a:ea typeface="Microsoft YaHei"/>
                        </a:rPr>
                        <a:t>The team is consistently meeting its targets.</a:t>
                      </a:r>
                    </a:p>
                  </a:txBody>
                  <a:tcPr anchor="ctr">
                    <a:solidFill>
                      <a:srgbClr val="FFEFD9"/>
                    </a:solidFill>
                  </a:tcPr>
                </a:tc>
                <a:tc>
                  <a:txBody>
                    <a:bodyPr wrap="square"/>
                    <a:lstStyle/>
                    <a:p>
                      <a:r>
                        <a:rPr sz="1600" b="0">
                          <a:solidFill>
                            <a:srgbClr val="FF6B5B"/>
                          </a:solidFill>
                          <a:latin typeface="Arial"/>
                          <a:ea typeface="Microsoft YaHei"/>
                        </a:rPr>
                        <a:t>更专业</a:t>
                      </a:r>
                    </a:p>
                  </a:txBody>
                  <a:tcPr anchor="ctr">
                    <a:solidFill>
                      <a:srgbClr val="FFEFD9"/>
                    </a:solidFill>
                  </a:tcPr>
                </a:tc>
              </a:tr>
              <a:tr h="652272">
                <a:tc>
                  <a:txBody>
                    <a:bodyPr wrap="square"/>
                    <a:lstStyle/>
                    <a:p>
                      <a:r>
                        <a:rPr sz="1600" b="1">
                          <a:solidFill>
                            <a:srgbClr val="1F2A44"/>
                          </a:solidFill>
                          <a:latin typeface="Arial"/>
                          <a:ea typeface="Microsoft YaHei"/>
                        </a:rPr>
                        <a:t>This number doesn’t mean much.</a:t>
                      </a:r>
                    </a:p>
                  </a:txBody>
                  <a:tcPr anchor="ctr">
                    <a:solidFill>
                      <a:srgbClr val="FFFFFF"/>
                    </a:solidFill>
                  </a:tcPr>
                </a:tc>
                <a:tc>
                  <a:txBody>
                    <a:bodyPr wrap="square"/>
                    <a:lstStyle/>
                    <a:p>
                      <a:r>
                        <a:rPr sz="1600" b="0">
                          <a:solidFill>
                            <a:srgbClr val="1F2A44"/>
                          </a:solidFill>
                          <a:latin typeface="Arial"/>
                          <a:ea typeface="Microsoft YaHei"/>
                        </a:rPr>
                        <a:t>That figure doesn’t tell the whole story.</a:t>
                      </a:r>
                    </a:p>
                  </a:txBody>
                  <a:tcPr anchor="ctr">
                    <a:solidFill>
                      <a:srgbClr val="FFFFFF"/>
                    </a:solidFill>
                  </a:tcPr>
                </a:tc>
                <a:tc>
                  <a:txBody>
                    <a:bodyPr wrap="square"/>
                    <a:lstStyle/>
                    <a:p>
                      <a:r>
                        <a:rPr sz="1600" b="0">
                          <a:solidFill>
                            <a:srgbClr val="FF6B5B"/>
                          </a:solidFill>
                          <a:latin typeface="Arial"/>
                          <a:ea typeface="Microsoft YaHei"/>
                        </a:rPr>
                        <a:t>委婉质疑</a:t>
                      </a:r>
                    </a:p>
                  </a:txBody>
                  <a:tcPr anchor="ctr">
                    <a:solidFill>
                      <a:srgbClr val="FFFFFF"/>
                    </a:solidFill>
                  </a:tcPr>
                </a:tc>
              </a:tr>
              <a:tr h="652272">
                <a:tc>
                  <a:txBody>
                    <a:bodyPr wrap="square"/>
                    <a:lstStyle/>
                    <a:p>
                      <a:r>
                        <a:rPr sz="1600" b="1">
                          <a:solidFill>
                            <a:srgbClr val="1F2A44"/>
                          </a:solidFill>
                          <a:latin typeface="Arial"/>
                          <a:ea typeface="Microsoft YaHei"/>
                        </a:rPr>
                        <a:t>Let’s use these numbers.</a:t>
                      </a:r>
                    </a:p>
                  </a:txBody>
                  <a:tcPr anchor="ctr">
                    <a:solidFill>
                      <a:srgbClr val="FFEFD9"/>
                    </a:solidFill>
                  </a:tcPr>
                </a:tc>
                <a:tc>
                  <a:txBody>
                    <a:bodyPr wrap="square"/>
                    <a:lstStyle/>
                    <a:p>
                      <a:r>
                        <a:rPr sz="1600" b="0">
                          <a:solidFill>
                            <a:srgbClr val="1F2A44"/>
                          </a:solidFill>
                          <a:latin typeface="Arial"/>
                          <a:ea typeface="Microsoft YaHei"/>
                        </a:rPr>
                        <a:t>Let’s use these figures as a benchmark.</a:t>
                      </a:r>
                    </a:p>
                  </a:txBody>
                  <a:tcPr anchor="ctr">
                    <a:solidFill>
                      <a:srgbClr val="FFEFD9"/>
                    </a:solidFill>
                  </a:tcPr>
                </a:tc>
                <a:tc>
                  <a:txBody>
                    <a:bodyPr wrap="square"/>
                    <a:lstStyle/>
                    <a:p>
                      <a:r>
                        <a:rPr sz="1600" b="0">
                          <a:solidFill>
                            <a:srgbClr val="FF6B5B"/>
                          </a:solidFill>
                          <a:latin typeface="Arial"/>
                          <a:ea typeface="Microsoft YaHei"/>
                        </a:rPr>
                        <a:t>数据用法</a:t>
                      </a:r>
                    </a:p>
                  </a:txBody>
                  <a:tcPr anchor="ctr">
                    <a:solidFill>
                      <a:srgbClr val="FFEFD9"/>
                    </a:solidFill>
                  </a:tcPr>
                </a:tc>
              </a:tr>
              <a:tr h="652272">
                <a:tc>
                  <a:txBody>
                    <a:bodyPr wrap="square"/>
                    <a:lstStyle/>
                    <a:p>
                      <a:r>
                        <a:rPr sz="1600" b="1">
                          <a:solidFill>
                            <a:srgbClr val="1F2A44"/>
                          </a:solidFill>
                          <a:latin typeface="Arial"/>
                          <a:ea typeface="Microsoft YaHei"/>
                        </a:rPr>
                        <a:t>People will cheat.</a:t>
                      </a:r>
                    </a:p>
                  </a:txBody>
                  <a:tcPr anchor="ctr">
                    <a:solidFill>
                      <a:srgbClr val="FFFFFF"/>
                    </a:solidFill>
                  </a:tcPr>
                </a:tc>
                <a:tc>
                  <a:txBody>
                    <a:bodyPr wrap="square"/>
                    <a:lstStyle/>
                    <a:p>
                      <a:r>
                        <a:rPr sz="1600" b="0">
                          <a:solidFill>
                            <a:srgbClr val="1F2A44"/>
                          </a:solidFill>
                          <a:latin typeface="Arial"/>
                          <a:ea typeface="Microsoft YaHei"/>
                        </a:rPr>
                        <a:t>People may find ways to game the system.</a:t>
                      </a:r>
                    </a:p>
                  </a:txBody>
                  <a:tcPr anchor="ctr">
                    <a:solidFill>
                      <a:srgbClr val="FFFFFF"/>
                    </a:solidFill>
                  </a:tcPr>
                </a:tc>
                <a:tc>
                  <a:txBody>
                    <a:bodyPr wrap="square"/>
                    <a:lstStyle/>
                    <a:p>
                      <a:r>
                        <a:rPr sz="1600" b="0">
                          <a:solidFill>
                            <a:srgbClr val="FF6B5B"/>
                          </a:solidFill>
                          <a:latin typeface="Arial"/>
                          <a:ea typeface="Microsoft YaHei"/>
                        </a:rPr>
                        <a:t>委婉</a:t>
                      </a:r>
                    </a:p>
                  </a:txBody>
                  <a:tcPr anchor="ctr">
                    <a:solidFill>
                      <a:srgbClr val="FFFFFF"/>
                    </a:solidFill>
                  </a:tcPr>
                </a:tc>
              </a:tr>
            </a:tbl>
          </a:graphicData>
        </a:graphic>
      </p:graphicFrame>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Changes in numbers: </a:t>
            </a:r>
            <a:r>
              <a:rPr sz="1700" b="0">
                <a:solidFill>
                  <a:srgbClr val="1F2A44"/>
                </a:solidFill>
                <a:latin typeface="Arial"/>
                <a:ea typeface="Microsoft YaHei"/>
              </a:rPr>
              <a:t>increase by 8% · rise from 10% to 18% · a 5% fall · twice as much as…</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Comparison words: </a:t>
            </a:r>
            <a:r>
              <a:rPr sz="1700" b="0">
                <a:solidFill>
                  <a:srgbClr val="1F2A44"/>
                </a:solidFill>
                <a:latin typeface="Arial"/>
                <a:ea typeface="Microsoft YaHei"/>
              </a:rPr>
              <a:t>more than, less than, as… as, compared with, in contrast to.</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Cause and effect: </a:t>
            </a:r>
            <a:r>
              <a:rPr sz="1700" b="0">
                <a:solidFill>
                  <a:srgbClr val="1F2A44"/>
                </a:solidFill>
                <a:latin typeface="Arial"/>
                <a:ea typeface="Microsoft YaHei"/>
              </a:rPr>
              <a:t>as a result, therefore, this led to, which means that.</a:t>
            </a:r>
          </a:p>
        </p:txBody>
      </p:sp>
      <p:sp>
        <p:nvSpPr>
          <p:cNvPr id="17" name="Rounded Rectangle 16"/>
          <p:cNvSpPr/>
          <p:nvPr/>
        </p:nvSpPr>
        <p:spPr>
          <a:xfrm>
            <a:off x="548640" y="301751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701039"/>
          </a:xfrm>
          <a:prstGeom prst="rect">
            <a:avLst/>
          </a:prstGeom>
          <a:noFill/>
        </p:spPr>
        <p:txBody>
          <a:bodyPr wrap="square" anchor="ctr">
            <a:spAutoFit/>
          </a:bodyPr>
          <a:lstStyle/>
          <a:p>
            <a:r>
              <a:rPr sz="1700" b="1">
                <a:solidFill>
                  <a:srgbClr val="FFC857"/>
                </a:solidFill>
                <a:latin typeface="Arial"/>
                <a:ea typeface="Microsoft YaHei"/>
              </a:rPr>
              <a:t>Data: </a:t>
            </a:r>
            <a:r>
              <a:rPr sz="1700" b="0">
                <a:solidFill>
                  <a:srgbClr val="1F2A44"/>
                </a:solidFill>
                <a:latin typeface="Arial"/>
                <a:ea typeface="Microsoft YaHei"/>
              </a:rPr>
              <a:t>“the data shows” and “the data show” are both used; in business English the singular is very common.</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Sales increased to 20%. (growth)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increased by 20%.</a:t>
            </a:r>
          </a:p>
          <a:p>
            <a:pPr algn="l">
              <a:spcAft>
                <a:spcPts val="200"/>
              </a:spcAft>
            </a:pPr>
            <a:r>
              <a:rPr sz="1200" b="0">
                <a:solidFill>
                  <a:srgbClr val="FFFFFF"/>
                </a:solidFill>
                <a:latin typeface="Arial"/>
                <a:ea typeface="Microsoft YaHei"/>
              </a:rPr>
              <a:t>by = 增长的幅度</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sales of this year is more than last year.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year’s sales are higher than last year’s.</a:t>
            </a:r>
          </a:p>
          <a:p>
            <a:pPr algn="l">
              <a:spcAft>
                <a:spcPts val="200"/>
              </a:spcAft>
            </a:pPr>
            <a:r>
              <a:rPr sz="1200" b="0">
                <a:solidFill>
                  <a:srgbClr val="FFFFFF"/>
                </a:solidFill>
                <a:latin typeface="Arial"/>
                <a:ea typeface="Microsoft YaHei"/>
              </a:rPr>
              <a:t>sales 用复数动词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reached the target by 5%.</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exceeded the target by 5%.</a:t>
            </a:r>
          </a:p>
          <a:p>
            <a:pPr algn="l">
              <a:spcAft>
                <a:spcPts val="200"/>
              </a:spcAft>
            </a:pPr>
            <a:r>
              <a:rPr sz="1200" b="0">
                <a:solidFill>
                  <a:srgbClr val="FFFFFF"/>
                </a:solidFill>
                <a:latin typeface="Arial"/>
                <a:ea typeface="Microsoft YaHei"/>
              </a:rPr>
              <a:t>exceed 才表示“超过”</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KPI is more better than that one.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KPI is better than that one.</a:t>
            </a:r>
          </a:p>
          <a:p>
            <a:pPr algn="l">
              <a:spcAft>
                <a:spcPts val="200"/>
              </a:spcAft>
            </a:pPr>
            <a:r>
              <a:rPr sz="1200" b="0">
                <a:solidFill>
                  <a:srgbClr val="FFFFFF"/>
                </a:solidFill>
                <a:latin typeface="Arial"/>
                <a:ea typeface="Microsoft YaHei"/>
              </a:rPr>
              <a:t>better 已是比较级</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results shows that...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results show that…</a:t>
            </a:r>
          </a:p>
          <a:p>
            <a:pPr algn="l">
              <a:spcAft>
                <a:spcPts val="200"/>
              </a:spcAft>
            </a:pPr>
            <a:r>
              <a:rPr sz="1200" b="0">
                <a:solidFill>
                  <a:srgbClr val="FFFFFF"/>
                </a:solidFill>
                <a:latin typeface="Arial"/>
                <a:ea typeface="Microsoft YaHei"/>
              </a:rPr>
              <a:t>results 是复数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depend on the situation.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depends on the situation.</a:t>
            </a:r>
          </a:p>
          <a:p>
            <a:pPr algn="l">
              <a:spcAft>
                <a:spcPts val="200"/>
              </a:spcAft>
            </a:pPr>
            <a:r>
              <a:rPr sz="1200" b="0">
                <a:solidFill>
                  <a:srgbClr val="FFFFFF"/>
                </a:solidFill>
                <a:latin typeface="Arial"/>
                <a:ea typeface="Microsoft YaHei"/>
              </a:rPr>
              <a:t>depend 是实义动词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Check by / to / from with numbers, comparative forms (no more better), and subject–verb agreement (results show).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Measurement culture: </a:t>
            </a:r>
            <a:r>
              <a:rPr sz="1700" b="0">
                <a:solidFill>
                  <a:srgbClr val="1F2A44"/>
                </a:solidFill>
                <a:latin typeface="Arial"/>
                <a:ea typeface="Microsoft YaHei"/>
              </a:rPr>
              <a:t>US companies often use detailed dashboards and formal performance reviews. UK teams may be more cautious about linking pay directly to numbers.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Privacy: </a:t>
            </a:r>
            <a:r>
              <a:rPr sz="1700" b="0">
                <a:solidFill>
                  <a:srgbClr val="1F2A44"/>
                </a:solidFill>
                <a:latin typeface="Arial"/>
                <a:ea typeface="Microsoft YaHei"/>
              </a:rPr>
              <a:t>In the EU, employee monitoring is regulated by data protection law (GDPR). In the US, rules vary by state and by company.</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Honest reporting: </a:t>
            </a:r>
            <a:r>
              <a:rPr sz="1700" b="0">
                <a:solidFill>
                  <a:srgbClr val="1F2A44"/>
                </a:solidFill>
                <a:latin typeface="Arial"/>
                <a:ea typeface="Microsoft YaHei"/>
              </a:rPr>
              <a:t>In English-speaking business cultures, reporting a miss early and with a plan is respected more than hiding it.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数据变化注意介词:increase by 20%(增加了 20%),increase to 20%(增加到 20%)。讨论 KPI 时要说“利与弊”:The advantage is… but the risk is…</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how to measure productivity in a job.</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trends in numbers with the correct prepositions.</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the pros and cons of a KPI.</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missed target honestly and offer a plan.</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18 Measuring Productivity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prepositions with numbers (increase by, rise to), comparatives and subject–verb agreement.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 · Lesson 19 Staying Motivated</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Staying Motivated</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保持动力</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what motivates people at work, how to keep your energy up when things are hard, and how to motivate others.</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motivates you most at work: money, recognition, learning or something else?</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Describe a time when you lost motivation. What happened?</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to get yourself going on a bad day?</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manager motivate a team without using money?</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motivation something you have, or something you create?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 题用过去式。第 3 题用一般现在时讲习惯。”get yourself going” = 让自己行动起来(口语)。</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Share how you stay motivated when a project is long and difficult.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challenge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 habit that helps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 small reward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 person who supports you</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What keeps me going is…   💬 When I feel low, I…   💬 It helps to break the project down into…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keep going 坚持下去;break it down into small steps 拆分成小步骤。”What keeps me going is…” 是很自然的开头。</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Fuel Inside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Money matters, but it rarely explains why some people throw themselves into their work while others merely go through the motions. Psychologists often distinguish between extrinsic motivation, such as pay, bonuses and praise, and intrinsic motivation, which comes from interest in the work itself. Both are useful, though the second tends to last longer. People feel more driven when they have a say in how they work, when they can improve their skills, and when their effort connects to something they value. Setbacks are unavoidable, so it helps to build routines that survive a bad week: small daily targets, regular progress checks and some form of celebration, even a modest one. Managers can help by giving honest recognition and by explaining why the work matters. A sincere “thank you” costs nothing and can lift a team for days.</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difference between extrinsic and intrinsic motivation?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Extrinsic comes from outside (pay, bonuses, praise); intrinsic comes from interest in the work itself.</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Which kind tends to last longer?</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Intrinsic motivation.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can managers do cheaply to motivate people?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Give honest recognition, explain why the work matters, and say a sincere thank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What drives people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动力来源</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motivation</a:t>
            </a:r>
          </a:p>
          <a:p>
            <a:pPr algn="l">
              <a:lnSpc>
                <a:spcPct val="115000"/>
              </a:lnSpc>
              <a:spcAft>
                <a:spcPts val="800"/>
              </a:spcAft>
            </a:pPr>
            <a:r>
              <a:rPr sz="1300" b="0">
                <a:solidFill>
                  <a:srgbClr val="5F677A"/>
                </a:solidFill>
                <a:latin typeface="Arial"/>
                <a:ea typeface="Microsoft YaHei"/>
              </a:rPr>
              <a:t>noun (uncountable)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动力</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“Recognition is a strong source of motivation.”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incentive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激励措施</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bonus is a good incentive.”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recognition</a:t>
            </a:r>
          </a:p>
          <a:p>
            <a:pPr algn="l">
              <a:lnSpc>
                <a:spcPct val="115000"/>
              </a:lnSpc>
              <a:spcAft>
                <a:spcPts val="800"/>
              </a:spcAft>
            </a:pPr>
            <a:r>
              <a:rPr sz="1300" b="0">
                <a:solidFill>
                  <a:srgbClr val="5F677A"/>
                </a:solidFill>
                <a:latin typeface="Arial"/>
                <a:ea typeface="Microsoft YaHei"/>
              </a:rPr>
              <a:t>noun (uncountable)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认可,表扬</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“Staff want recognition for their effort.”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 sense of purpose</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使命感</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sense of purpose keeps me going.”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 a goal</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设定目标</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“Set a goal for each week.”</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reward</a:t>
            </a:r>
          </a:p>
          <a:p>
            <a:pPr algn="l">
              <a:lnSpc>
                <a:spcPct val="115000"/>
              </a:lnSpc>
              <a:spcAft>
                <a:spcPts val="800"/>
              </a:spcAft>
            </a:pPr>
            <a:r>
              <a:rPr sz="1300" b="0">
                <a:solidFill>
                  <a:srgbClr val="5F677A"/>
                </a:solidFill>
                <a:latin typeface="Arial"/>
                <a:ea typeface="Microsoft YaHei"/>
              </a:rPr>
              <a:t>noun /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奖励</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“Give yourself a small reward when you finish.”</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Keeping the energy up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保持干劲</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going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坚持下去</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“When things get hard, I keep going by taking small steps.”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break (it) down into</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拆分成</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“Break the project down into small tasks.”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lose steam</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失去动力</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project lost steam after the first month.”</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recharge your batteries</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恢复精力</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weekend away helped me recharge my batteries.”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the extra mile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额外努力</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team always goes the extra mile for clients.”</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pick yourself up</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重新振作</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“After the setback, she picked herself up and tried again.”</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设定目标</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a goal</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额外努力</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the extra mile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认可,表扬</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recognition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失去动力</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lose steam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奖励</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reward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坚持下去</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going</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激励措施</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incentive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使命感</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sense of purpose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incentive</a:t>
            </a:r>
          </a:p>
        </p:txBody>
      </p:sp>
      <p:sp>
        <p:nvSpPr>
          <p:cNvPr id="10" name="Rounded Rectangle 9"/>
          <p:cNvSpPr/>
          <p:nvPr/>
        </p:nvSpPr>
        <p:spPr>
          <a:xfrm>
            <a:off x="3456432"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purpose</a:t>
            </a:r>
          </a:p>
        </p:txBody>
      </p:sp>
      <p:sp>
        <p:nvSpPr>
          <p:cNvPr id="11" name="Rounded Rectangle 10"/>
          <p:cNvSpPr/>
          <p:nvPr/>
        </p:nvSpPr>
        <p:spPr>
          <a:xfrm>
            <a:off x="4681728"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 down</a:t>
            </a:r>
          </a:p>
        </p:txBody>
      </p:sp>
      <p:sp>
        <p:nvSpPr>
          <p:cNvPr id="12" name="Rounded Rectangle 11"/>
          <p:cNvSpPr/>
          <p:nvPr/>
        </p:nvSpPr>
        <p:spPr>
          <a:xfrm>
            <a:off x="6236208"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steam</a:t>
            </a:r>
          </a:p>
        </p:txBody>
      </p:sp>
      <p:sp>
        <p:nvSpPr>
          <p:cNvPr id="13" name="Rounded Rectangle 12"/>
          <p:cNvSpPr/>
          <p:nvPr/>
        </p:nvSpPr>
        <p:spPr>
          <a:xfrm>
            <a:off x="7242048"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recharge</a:t>
            </a:r>
          </a:p>
        </p:txBody>
      </p:sp>
      <p:sp>
        <p:nvSpPr>
          <p:cNvPr id="14" name="Rounded Rectangle 13"/>
          <p:cNvSpPr/>
          <p:nvPr/>
        </p:nvSpPr>
        <p:spPr>
          <a:xfrm>
            <a:off x="8577072"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extra</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 bonus is a good _______ for sales staff.</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incentive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 sense of _______ keeps me going on difficult days.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purpose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Try to _______ the project into small tasks.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 down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project lost _______ after the first month.</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steam</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 weekend away helped me _______ my batteries.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recharge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Our team always goes the _______ mile for clients.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extra</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 motivation (not “motivition”), incentive (not “incentif”), recognition (not “recogintion”). Motivated describes a person, motivating describes a thing: “I’m motivated” / “The talk was motivating.”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Motivating a team member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激励团队成员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usually enthusiastic team member, Leo, has lost energy on a long project. His team leader talks to him.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Nina Chen, team leader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Leo Martin, team member</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Motivating a team member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Nina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Leo, got a minute? I’ve noticed you’ve seemed a bit flat recently. Is everything okay?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Leo</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Honestly, I think the project has lost steam for me. It feels like it’s never going to finish.</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It’s been a long haul. What’s the hardest part for you?</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Probably not seeing any progress. I keep doing the same tasks.</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Motivating a team member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makes sense. Let’s break the project into smaller milestones, so you can see the progress and celebrate small wins.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help. I’d also like more feedback. I don’t know if I’m doing a good job.</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enough. Let me tell you now: your work has been excellent. The client specifically mentioned your report last week.</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Really? I didn’t know that. Thank you.</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Motivating a team member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if you’d like a change, you could lead the next presentation. Would that interest you?</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I’d like that. It would be a good challenge.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Let’s catch up every Friday for 15 minutes, just to keep you on track.</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good. Thanks for noticing, Nina.</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Motivating a team member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team leader talks to a demotivated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leader. Your listening and coaching style: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who has lost steam.</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motivation · lose steam · break down · recognition · go the extra mile · recharge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open questions, give recognition, and agree on one change.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Leo says: “I’m thinking of leaving.” Stay calm, ask why, and don’t make promises you can’t keep.</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 30-second pep talk to a team before a difficult deadline.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the “break it down” technique with a real goal of your own.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motivates you more: a bonus or recognition?</a:t>
            </a:r>
          </a:p>
          <a:p>
            <a:pPr algn="l">
              <a:lnSpc>
                <a:spcPct val="115000"/>
              </a:lnSpc>
              <a:spcAft>
                <a:spcPts val="800"/>
              </a:spcAft>
            </a:pPr>
            <a:r>
              <a:rPr sz="1400" b="0">
                <a:solidFill>
                  <a:srgbClr val="5F677A"/>
                </a:solidFill>
                <a:latin typeface="Arial"/>
                <a:ea typeface="Microsoft YaHei"/>
              </a:rPr>
              <a:t>💬 “For me, recognition is more important because…” / “A bonus is nice,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manager keep motivation high in a long project?</a:t>
            </a:r>
          </a:p>
          <a:p>
            <a:pPr algn="l">
              <a:lnSpc>
                <a:spcPct val="115000"/>
              </a:lnSpc>
              <a:spcAft>
                <a:spcPts val="800"/>
              </a:spcAft>
            </a:pPr>
            <a:r>
              <a:rPr sz="1400" b="0">
                <a:solidFill>
                  <a:srgbClr val="5F677A"/>
                </a:solidFill>
                <a:latin typeface="Arial"/>
                <a:ea typeface="Microsoft YaHei"/>
              </a:rPr>
              <a:t>💬 “A manager can… by…” / “It helps to celebrate small wins.”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matters more, motivation or discipline?</a:t>
            </a:r>
          </a:p>
          <a:p>
            <a:pPr algn="l">
              <a:lnSpc>
                <a:spcPct val="115000"/>
              </a:lnSpc>
              <a:spcAft>
                <a:spcPts val="800"/>
              </a:spcAft>
            </a:pPr>
            <a:r>
              <a:rPr sz="1400" b="0">
                <a:solidFill>
                  <a:srgbClr val="5F677A"/>
                </a:solidFill>
                <a:latin typeface="Arial"/>
                <a:ea typeface="Microsoft YaHei"/>
              </a:rPr>
              <a:t>💬 “Motivation gets you started, but discipline keeps you going.”</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when you have a bad day?</a:t>
            </a:r>
          </a:p>
          <a:p>
            <a:pPr algn="l">
              <a:lnSpc>
                <a:spcPct val="115000"/>
              </a:lnSpc>
              <a:spcAft>
                <a:spcPts val="800"/>
              </a:spcAft>
            </a:pPr>
            <a:r>
              <a:rPr sz="1400" b="0">
                <a:solidFill>
                  <a:srgbClr val="5F677A"/>
                </a:solidFill>
                <a:latin typeface="Arial"/>
                <a:ea typeface="Microsoft YaHei"/>
              </a:rPr>
              <a:t>💬 “On a bad day, I try to…” / “I remind myself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Motivation gets you started, but discipline keeps you going. Motivation comes and goes, so you can’t rely on it every day. On low-energy days, habits and routines carry you through. For example, I write for twenty minutes every morning even if I don’t feel like it. After a while, the habit itself creates motivation, because I can see my progress. So I think both matter, but discipline is more reliable in the long run.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carry you through = 帮助你度过。even if I don’t feel like it = 即使不想做。reliable = 可靠的。in the long run = 从长远来看。</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I’m not in the mood.</a:t>
                      </a:r>
                    </a:p>
                  </a:txBody>
                  <a:tcPr anchor="ctr">
                    <a:solidFill>
                      <a:srgbClr val="FFFFFF"/>
                    </a:solidFill>
                  </a:tcPr>
                </a:tc>
                <a:tc>
                  <a:txBody>
                    <a:bodyPr wrap="square"/>
                    <a:lstStyle/>
                    <a:p>
                      <a:r>
                        <a:rPr sz="1600" b="0">
                          <a:solidFill>
                            <a:srgbClr val="1F2A44"/>
                          </a:solidFill>
                          <a:latin typeface="Arial"/>
                          <a:ea typeface="Microsoft YaHei"/>
                        </a:rPr>
                        <a:t>I’m struggling to find the motivation today.</a:t>
                      </a:r>
                    </a:p>
                  </a:txBody>
                  <a:tcPr anchor="ctr">
                    <a:solidFill>
                      <a:srgbClr val="FFFFFF"/>
                    </a:solidFill>
                  </a:tcPr>
                </a:tc>
                <a:tc>
                  <a:txBody>
                    <a:bodyPr wrap="square"/>
                    <a:lstStyle/>
                    <a:p>
                      <a:r>
                        <a:rPr sz="1600" b="0">
                          <a:solidFill>
                            <a:srgbClr val="FF6B5B"/>
                          </a:solidFill>
                          <a:latin typeface="Arial"/>
                          <a:ea typeface="Microsoft YaHei"/>
                        </a:rPr>
                        <a:t>具体描述</a:t>
                      </a:r>
                    </a:p>
                  </a:txBody>
                  <a:tcPr anchor="ctr">
                    <a:solidFill>
                      <a:srgbClr val="FFFFFF"/>
                    </a:solidFill>
                  </a:tcPr>
                </a:tc>
              </a:tr>
              <a:tr h="652272">
                <a:tc>
                  <a:txBody>
                    <a:bodyPr wrap="square"/>
                    <a:lstStyle/>
                    <a:p>
                      <a:r>
                        <a:rPr sz="1600" b="1">
                          <a:solidFill>
                            <a:srgbClr val="1F2A44"/>
                          </a:solidFill>
                          <a:latin typeface="Arial"/>
                          <a:ea typeface="Microsoft YaHei"/>
                        </a:rPr>
                        <a:t>I want praise.</a:t>
                      </a:r>
                    </a:p>
                  </a:txBody>
                  <a:tcPr anchor="ctr">
                    <a:solidFill>
                      <a:srgbClr val="FFEFD9"/>
                    </a:solidFill>
                  </a:tcPr>
                </a:tc>
                <a:tc>
                  <a:txBody>
                    <a:bodyPr wrap="square"/>
                    <a:lstStyle/>
                    <a:p>
                      <a:r>
                        <a:rPr sz="1600" b="0">
                          <a:solidFill>
                            <a:srgbClr val="1F2A44"/>
                          </a:solidFill>
                          <a:latin typeface="Arial"/>
                          <a:ea typeface="Microsoft YaHei"/>
                        </a:rPr>
                        <a:t>I’d appreciate more recognition for my work.</a:t>
                      </a:r>
                    </a:p>
                  </a:txBody>
                  <a:tcPr anchor="ctr">
                    <a:solidFill>
                      <a:srgbClr val="FFEFD9"/>
                    </a:solidFill>
                  </a:tcPr>
                </a:tc>
                <a:tc>
                  <a:txBody>
                    <a:bodyPr wrap="square"/>
                    <a:lstStyle/>
                    <a:p>
                      <a:r>
                        <a:rPr sz="1600" b="0">
                          <a:solidFill>
                            <a:srgbClr val="FF6B5B"/>
                          </a:solidFill>
                          <a:latin typeface="Arial"/>
                          <a:ea typeface="Microsoft YaHei"/>
                        </a:rPr>
                        <a:t>礼貌表达需求</a:t>
                      </a:r>
                    </a:p>
                  </a:txBody>
                  <a:tcPr anchor="ctr">
                    <a:solidFill>
                      <a:srgbClr val="FFEFD9"/>
                    </a:solidFill>
                  </a:tcPr>
                </a:tc>
              </a:tr>
              <a:tr h="408432">
                <a:tc>
                  <a:txBody>
                    <a:bodyPr wrap="square"/>
                    <a:lstStyle/>
                    <a:p>
                      <a:r>
                        <a:rPr sz="1600" b="1">
                          <a:solidFill>
                            <a:srgbClr val="1F2A44"/>
                          </a:solidFill>
                          <a:latin typeface="Arial"/>
                          <a:ea typeface="Microsoft YaHei"/>
                        </a:rPr>
                        <a:t>I’m tired.</a:t>
                      </a:r>
                    </a:p>
                  </a:txBody>
                  <a:tcPr anchor="ctr">
                    <a:solidFill>
                      <a:srgbClr val="FFFFFF"/>
                    </a:solidFill>
                  </a:tcPr>
                </a:tc>
                <a:tc>
                  <a:txBody>
                    <a:bodyPr wrap="square"/>
                    <a:lstStyle/>
                    <a:p>
                      <a:r>
                        <a:rPr sz="1600" b="0">
                          <a:solidFill>
                            <a:srgbClr val="1F2A44"/>
                          </a:solidFill>
                          <a:latin typeface="Arial"/>
                          <a:ea typeface="Microsoft YaHei"/>
                        </a:rPr>
                        <a:t>I need to recharge my batteries.</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r h="652272">
                <a:tc>
                  <a:txBody>
                    <a:bodyPr wrap="square"/>
                    <a:lstStyle/>
                    <a:p>
                      <a:r>
                        <a:rPr sz="1600" b="1">
                          <a:solidFill>
                            <a:srgbClr val="1F2A44"/>
                          </a:solidFill>
                          <a:latin typeface="Arial"/>
                          <a:ea typeface="Microsoft YaHei"/>
                        </a:rPr>
                        <a:t>Good job!</a:t>
                      </a:r>
                    </a:p>
                  </a:txBody>
                  <a:tcPr anchor="ctr">
                    <a:solidFill>
                      <a:srgbClr val="FFEFD9"/>
                    </a:solidFill>
                  </a:tcPr>
                </a:tc>
                <a:tc>
                  <a:txBody>
                    <a:bodyPr wrap="square"/>
                    <a:lstStyle/>
                    <a:p>
                      <a:r>
                        <a:rPr sz="1600" b="0">
                          <a:solidFill>
                            <a:srgbClr val="1F2A44"/>
                          </a:solidFill>
                          <a:latin typeface="Arial"/>
                          <a:ea typeface="Microsoft YaHei"/>
                        </a:rPr>
                        <a:t>That was excellent work. The client was really impressed.</a:t>
                      </a:r>
                    </a:p>
                  </a:txBody>
                  <a:tcPr anchor="ctr">
                    <a:solidFill>
                      <a:srgbClr val="FFEFD9"/>
                    </a:solidFill>
                  </a:tcPr>
                </a:tc>
                <a:tc>
                  <a:txBody>
                    <a:bodyPr wrap="square"/>
                    <a:lstStyle/>
                    <a:p>
                      <a:r>
                        <a:rPr sz="1600" b="0">
                          <a:solidFill>
                            <a:srgbClr val="FF6B5B"/>
                          </a:solidFill>
                          <a:latin typeface="Arial"/>
                          <a:ea typeface="Microsoft YaHei"/>
                        </a:rPr>
                        <a:t>具体表扬</a:t>
                      </a:r>
                    </a:p>
                  </a:txBody>
                  <a:tcPr anchor="ctr">
                    <a:solidFill>
                      <a:srgbClr val="FFEFD9"/>
                    </a:solidFill>
                  </a:tcPr>
                </a:tc>
              </a:tr>
              <a:tr h="408432">
                <a:tc>
                  <a:txBody>
                    <a:bodyPr wrap="square"/>
                    <a:lstStyle/>
                    <a:p>
                      <a:r>
                        <a:rPr sz="1600" b="1">
                          <a:solidFill>
                            <a:srgbClr val="1F2A44"/>
                          </a:solidFill>
                          <a:latin typeface="Arial"/>
                          <a:ea typeface="Microsoft YaHei"/>
                        </a:rPr>
                        <a:t>Don’t give up!</a:t>
                      </a:r>
                    </a:p>
                  </a:txBody>
                  <a:tcPr anchor="ctr">
                    <a:solidFill>
                      <a:srgbClr val="FFFFFF"/>
                    </a:solidFill>
                  </a:tcPr>
                </a:tc>
                <a:tc>
                  <a:txBody>
                    <a:bodyPr wrap="square"/>
                    <a:lstStyle/>
                    <a:p>
                      <a:r>
                        <a:rPr sz="1600" b="0">
                          <a:solidFill>
                            <a:srgbClr val="1F2A44"/>
                          </a:solidFill>
                          <a:latin typeface="Arial"/>
                          <a:ea typeface="Microsoft YaHei"/>
                        </a:rPr>
                        <a:t>Hang in there. It’ll get easier.</a:t>
                      </a:r>
                    </a:p>
                  </a:txBody>
                  <a:tcPr anchor="ctr">
                    <a:solidFill>
                      <a:srgbClr val="FFFFFF"/>
                    </a:solidFill>
                  </a:tcPr>
                </a:tc>
                <a:tc>
                  <a:txBody>
                    <a:bodyPr wrap="square"/>
                    <a:lstStyle/>
                    <a:p>
                      <a:r>
                        <a:rPr sz="1600" b="0">
                          <a:solidFill>
                            <a:srgbClr val="FF6B5B"/>
                          </a:solidFill>
                          <a:latin typeface="Arial"/>
                          <a:ea typeface="Microsoft YaHei"/>
                        </a:rPr>
                        <a:t>鼓励</a:t>
                      </a:r>
                    </a:p>
                  </a:txBody>
                  <a:tcPr anchor="ctr">
                    <a:solidFill>
                      <a:srgbClr val="FFFFFF"/>
                    </a:solidFill>
                  </a:tcPr>
                </a:tc>
              </a:tr>
            </a:tbl>
          </a:graphicData>
        </a:graphic>
      </p:graphicFrame>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Praise with detail: </a:t>
            </a:r>
            <a:r>
              <a:rPr sz="1700" b="0">
                <a:solidFill>
                  <a:srgbClr val="1F2A44"/>
                </a:solidFill>
                <a:latin typeface="Arial"/>
                <a:ea typeface="Microsoft YaHei"/>
              </a:rPr>
              <a:t>“Good job” is fine, but “Your report was clear and the client loved it” is stronger.</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Feeling adjectives: </a:t>
            </a:r>
            <a:r>
              <a:rPr sz="1700" b="0">
                <a:solidFill>
                  <a:srgbClr val="1F2A44"/>
                </a:solidFill>
                <a:latin typeface="Arial"/>
                <a:ea typeface="Microsoft YaHei"/>
              </a:rPr>
              <a:t>-ed for people (motivated, bored, excited) and -ing for things (motivating, boring, exciting).</a:t>
            </a:r>
          </a:p>
        </p:txBody>
      </p:sp>
      <p:sp>
        <p:nvSpPr>
          <p:cNvPr id="14" name="Rounded Rectangle 13"/>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Soft check-ins: </a:t>
            </a:r>
            <a:r>
              <a:rPr sz="1700" b="0">
                <a:solidFill>
                  <a:srgbClr val="1F2A44"/>
                </a:solidFill>
                <a:latin typeface="Arial"/>
                <a:ea typeface="Microsoft YaHei"/>
              </a:rPr>
              <a:t>“You’ve been a bit quiet lately, haven’t you?” or “Is everything okay?” sound caring.</a:t>
            </a:r>
          </a:p>
        </p:txBody>
      </p:sp>
      <p:sp>
        <p:nvSpPr>
          <p:cNvPr id="17" name="Rounded Rectangle 16"/>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Encouraging phrases: </a:t>
            </a:r>
            <a:r>
              <a:rPr sz="1700" b="0">
                <a:solidFill>
                  <a:srgbClr val="1F2A44"/>
                </a:solidFill>
                <a:latin typeface="Arial"/>
                <a:ea typeface="Microsoft YaHei"/>
              </a:rPr>
              <a:t>Hang in there. / You’re doing great. / One step at a time. / It’ll get easier.</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very motivating.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very motivated.</a:t>
            </a:r>
          </a:p>
          <a:p>
            <a:pPr algn="l">
              <a:spcAft>
                <a:spcPts val="200"/>
              </a:spcAft>
            </a:pPr>
            <a:r>
              <a:rPr sz="1200" b="0">
                <a:solidFill>
                  <a:srgbClr val="FFFFFF"/>
                </a:solidFill>
                <a:latin typeface="Arial"/>
                <a:ea typeface="Microsoft YaHei"/>
              </a:rPr>
              <a:t>-ed 形容词形容人的感受</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work is very bored.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work is very boring.</a:t>
            </a:r>
          </a:p>
          <a:p>
            <a:pPr algn="l">
              <a:spcAft>
                <a:spcPts val="200"/>
              </a:spcAft>
            </a:pPr>
            <a:r>
              <a:rPr sz="1200" b="0">
                <a:solidFill>
                  <a:srgbClr val="FFFFFF"/>
                </a:solidFill>
                <a:latin typeface="Arial"/>
                <a:ea typeface="Microsoft YaHei"/>
              </a:rPr>
              <a:t>形容事物用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gave me a big encourage.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gave me a lot of encouragement.</a:t>
            </a:r>
          </a:p>
          <a:p>
            <a:pPr algn="l">
              <a:spcAft>
                <a:spcPts val="200"/>
              </a:spcAft>
            </a:pPr>
            <a:r>
              <a:rPr sz="1200" b="0">
                <a:solidFill>
                  <a:srgbClr val="FFFFFF"/>
                </a:solidFill>
                <a:latin typeface="Arial"/>
                <a:ea typeface="Microsoft YaHei"/>
              </a:rPr>
              <a:t>encourage 是动词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lost my interesting in the job.</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lost my interest in the job.</a:t>
            </a:r>
          </a:p>
          <a:p>
            <a:pPr algn="l">
              <a:spcAft>
                <a:spcPts val="200"/>
              </a:spcAft>
            </a:pPr>
            <a:r>
              <a:rPr sz="1200" b="0">
                <a:solidFill>
                  <a:srgbClr val="FFFFFF"/>
                </a:solidFill>
                <a:latin typeface="Arial"/>
                <a:ea typeface="Microsoft YaHei"/>
              </a:rPr>
              <a:t>interest 是名词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lack of motivation.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lack motivation. / I’m lacking in motivation.</a:t>
            </a:r>
          </a:p>
          <a:p>
            <a:pPr algn="l">
              <a:spcAft>
                <a:spcPts val="200"/>
              </a:spcAft>
            </a:pPr>
            <a:r>
              <a:rPr sz="1200" b="0">
                <a:solidFill>
                  <a:srgbClr val="FFFFFF"/>
                </a:solidFill>
                <a:latin typeface="Arial"/>
                <a:ea typeface="Microsoft YaHei"/>
              </a:rPr>
              <a:t>lack 是及物动词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project makes me feel pressured very much.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project puts me under a lot of pressure.</a:t>
            </a:r>
          </a:p>
          <a:p>
            <a:pPr algn="l">
              <a:spcAft>
                <a:spcPts val="200"/>
              </a:spcAft>
            </a:pPr>
            <a:r>
              <a:rPr sz="1200" b="0">
                <a:solidFill>
                  <a:srgbClr val="FFFFFF"/>
                </a:solidFill>
                <a:latin typeface="Arial"/>
                <a:ea typeface="Microsoft YaHei"/>
              </a:rPr>
              <a:t>put sb under pressure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-ed / -ing adjectives, noun vs verb forms (encouragement / encourage), and lack as a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Recognition culture: </a:t>
            </a:r>
            <a:r>
              <a:rPr sz="1700" b="0">
                <a:solidFill>
                  <a:srgbClr val="1F2A44"/>
                </a:solidFill>
                <a:latin typeface="Arial"/>
                <a:ea typeface="Microsoft YaHei"/>
              </a:rPr>
              <a:t>In US companies, praise is frequent and enthusiastic (“Great job!”). British managers may be more understated (“That was rather good”). Both can be sincere.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Public vs private praise: </a:t>
            </a:r>
            <a:r>
              <a:rPr sz="1700" b="0">
                <a:solidFill>
                  <a:srgbClr val="1F2A44"/>
                </a:solidFill>
                <a:latin typeface="Arial"/>
                <a:ea typeface="Microsoft YaHei"/>
              </a:rPr>
              <a:t>Public thanks is common in English-speaking teams, but some people prefer private. Ask what they prefer.</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Feedback: </a:t>
            </a:r>
            <a:r>
              <a:rPr sz="1700" b="0">
                <a:solidFill>
                  <a:srgbClr val="1F2A44"/>
                </a:solidFill>
                <a:latin typeface="Arial"/>
                <a:ea typeface="Microsoft YaHei"/>
              </a:rPr>
              <a:t>Specific, sincere feedback motivates more than general compliments. Say what they did and what effect it had.</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-ed 形容词描述人的感受(I’m motivated),-ing 描述引起感受的事物(motivating)。表扬要具体:说清楚做了什么、有什么效果。</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what motivates me, with examples.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motivate a colleague with specific praise and encouragement.</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-ed / -ing adjectives correctly.</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four ★ idioms in a short talk.</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19 Staying Motivated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-ed / -ing adjectives, noun vs verb forms and the verb lack.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 · Lesson 20 Why Training?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Why Training?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为什么培训</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explain why training matters for companies and employees, and argue for (or against) a training investment.</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training have you had at work? Was it useful?</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training and experience?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skills would you like to learn in the next year?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some companies spend very little on training?</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If you ran a company, how much would you spend on staff training?</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题用现在完成时 What training have you had…。第 5 题用第二条件句。training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Persuade a manager to invest in a training programme for your team.</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problem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training</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benefits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the cost and return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to propose…   💬 The main benefit would be…   💬 In the long run, it would pay for itself.</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pay for itself = 投入会自己赚回。提案句型:I’d like to propose + -ing / that we + 动词原形。</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Training Is Not a Cost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When money is tight, training budgets are often the first to be cut. They look like a cost today with benefits that will only appear later. Yet research and common sense point in the same direction: companies that develop their people keep them longer, adapt faster and recruit more easily. Replacing an employee can cost far more than teaching a current one a new skill. Training also changes how people feel. Staff who are offered chances to grow tend to feel valued, and that feeling shows in the way they treat customers. Of course, not all training is equally useful. A one-day lecture with no follow-up rarely changes behaviour. The best programmes link learning to real tasks, give people time to practise and measure results afterwards. In that case, a training budget is better seen as an investment than as an expense.</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are training budgets often cut first?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look like a cost today with benefits that appear only later.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Give one reason why training can save money.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Replacing an employee can cost far more than training a current one.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makes a training programme effective?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Linking learning to real tasks, giving time to practise and measuring the results.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Training and development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培训与发展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training</a:t>
            </a:r>
          </a:p>
          <a:p>
            <a:pPr algn="l">
              <a:lnSpc>
                <a:spcPct val="115000"/>
              </a:lnSpc>
              <a:spcAft>
                <a:spcPts val="800"/>
              </a:spcAft>
            </a:pPr>
            <a:r>
              <a:rPr sz="1300" b="0">
                <a:solidFill>
                  <a:srgbClr val="5F677A"/>
                </a:solidFill>
                <a:latin typeface="Arial"/>
                <a:ea typeface="Microsoft YaHei"/>
              </a:rPr>
              <a:t>noun (uncountable)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培训</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provides free training for all staff.”</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skills gap</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技能缺口</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close the skills gap in data analysis.”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induction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入职培训</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“New staff attend a two-day induction.”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workshop</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工作坊</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attended a workshop on negotiation.”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on-the-job training</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在职培训</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“Most of my learning was on-the-job training.”</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certificate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证书</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received a certificate after the course.”</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Making the case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论证投入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invest in</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投资于</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should invest in developing our people.”</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return on investment (ROI)</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投资回报</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ROI on training was clear within a year.”</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upskill / reskill</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提升技能 / 转岗培训</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plan to upskill our sales team.”</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retain talent</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留住人才</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“Training helps us retain talent.”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pay for itself</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回本</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course will pay for itself within six months.”</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up with</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跟上</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“Technology changes fast, so we must keep up with it.”</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证书</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certificate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技能缺口</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skills gap</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入职培训</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induction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在职培训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on-the-job training</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投资于</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invest in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回本</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 for itself</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跟上</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up with</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投资回报</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 on investment (ROI)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induction</a:t>
            </a:r>
          </a:p>
        </p:txBody>
      </p:sp>
      <p:sp>
        <p:nvSpPr>
          <p:cNvPr id="10" name="Rounded Rectangle 9"/>
          <p:cNvSpPr/>
          <p:nvPr/>
        </p:nvSpPr>
        <p:spPr>
          <a:xfrm>
            <a:off x="3456432"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skills gap</a:t>
            </a:r>
          </a:p>
        </p:txBody>
      </p:sp>
      <p:sp>
        <p:nvSpPr>
          <p:cNvPr id="11" name="Rounded Rectangle 10"/>
          <p:cNvSpPr/>
          <p:nvPr/>
        </p:nvSpPr>
        <p:spPr>
          <a:xfrm>
            <a:off x="5010912"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on-the-job</a:t>
            </a:r>
          </a:p>
        </p:txBody>
      </p:sp>
      <p:sp>
        <p:nvSpPr>
          <p:cNvPr id="12" name="Rounded Rectangle 11"/>
          <p:cNvSpPr/>
          <p:nvPr/>
        </p:nvSpPr>
        <p:spPr>
          <a:xfrm>
            <a:off x="6565392"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invest in</a:t>
            </a:r>
          </a:p>
        </p:txBody>
      </p:sp>
      <p:sp>
        <p:nvSpPr>
          <p:cNvPr id="13" name="Rounded Rectangle 12"/>
          <p:cNvSpPr/>
          <p:nvPr/>
        </p:nvSpPr>
        <p:spPr>
          <a:xfrm>
            <a:off x="8010144" y="987552"/>
            <a:ext cx="69494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ROI</a:t>
            </a:r>
          </a:p>
        </p:txBody>
      </p:sp>
      <p:sp>
        <p:nvSpPr>
          <p:cNvPr id="14" name="Rounded Rectangle 13"/>
          <p:cNvSpPr/>
          <p:nvPr/>
        </p:nvSpPr>
        <p:spPr>
          <a:xfrm>
            <a:off x="8796528" y="987552"/>
            <a:ext cx="190195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pay for itself</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New staff attend a two-day _______ before they start.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induction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need to close the _______ in data analysis.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skills gap</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Most of my learning was _______ training.</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on-the-job</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should _______ developing our people.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invest in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_______ on the course was clear within a year.</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ROI</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I’m sure this course will _______ within six months.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 for itself</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training is uncountable (some training; “a training” is not standard). Spelling: induction (not “indution”), certificate (not “certifcate”). Say invest in (not “invest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Making the case for a training budget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争取培训预算</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ask your director, Mr Hall, to approve a data-skills training programme for your team.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Zoe Lin, team leader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Hall, finance director</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Making the case for a training budget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Zoe</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seeing me, Mr Hall. I’d like to propose a training programme for my team.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Hall</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 on. What did you have in mind?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six-week course on data analysis. At the moment, we depend too much on one person for reports, and that’s a risk.</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much would it cost?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Around 8,000 dollars for the team of eight.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significant amount. What’s the return?</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Making the case for a training budget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We’d save about ten hours a week on manual reporting. At current salary costs, the course would pay for itself in about five months.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if people take the training and then leave?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concern. I think training actually helps us retain talent, because people feel invested in. We could also add a retention agreement.</a:t>
            </a:r>
          </a:p>
        </p:txBody>
      </p:sp>
      <p:sp>
        <p:nvSpPr>
          <p:cNvPr id="17" name="Rounded Rectangle 16"/>
          <p:cNvSpPr/>
          <p:nvPr/>
        </p:nvSpPr>
        <p:spPr>
          <a:xfrm>
            <a:off x="10911535" y="394106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3"/>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Can you put together a one-page proposal with the figures?</a:t>
            </a:r>
          </a:p>
        </p:txBody>
      </p:sp>
      <p:sp>
        <p:nvSpPr>
          <p:cNvPr id="20" name="Rounded Rectangle 19"/>
          <p:cNvSpPr/>
          <p:nvPr/>
        </p:nvSpPr>
        <p:spPr>
          <a:xfrm>
            <a:off x="548640" y="452323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1"/>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send it by Wednesday.</a:t>
            </a:r>
          </a:p>
        </p:txBody>
      </p:sp>
      <p:sp>
        <p:nvSpPr>
          <p:cNvPr id="23" name="Rounded Rectangle 22"/>
          <p:cNvSpPr/>
          <p:nvPr/>
        </p:nvSpPr>
        <p:spPr>
          <a:xfrm>
            <a:off x="10911535" y="5105399"/>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399"/>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If the numbers add up, I’ll support it.</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Making the case for a training budget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persuade a director to fund training.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leader. The skill and the training you propose: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 Cost-conscious but fair.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invest in · skills gap · return on investment · retain talent · pay for itself · keep up with</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the need, cost and benefit, answer one objection, and agree the next step.</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The director says: “We’ll just hire someone with the skills.” Explain why training may be better.</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He says: “We can’t afford it.” Propose a cheaper option (for example online or in-house training).</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Present the proposal in 45 seconds as a pitch.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pay for training: the company or the employee?</a:t>
            </a:r>
          </a:p>
          <a:p>
            <a:pPr algn="l">
              <a:lnSpc>
                <a:spcPct val="115000"/>
              </a:lnSpc>
              <a:spcAft>
                <a:spcPts val="800"/>
              </a:spcAft>
            </a:pPr>
            <a:r>
              <a:rPr sz="1400" b="0">
                <a:solidFill>
                  <a:srgbClr val="5F677A"/>
                </a:solidFill>
                <a:latin typeface="Arial"/>
                <a:ea typeface="Microsoft YaHei"/>
              </a:rPr>
              <a:t>💬 “In my view, the company should pay if…” / “Employees should contribute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learn: classroom, online or on the job?</a:t>
            </a:r>
          </a:p>
          <a:p>
            <a:pPr algn="l">
              <a:lnSpc>
                <a:spcPct val="115000"/>
              </a:lnSpc>
              <a:spcAft>
                <a:spcPts val="800"/>
              </a:spcAft>
            </a:pPr>
            <a:r>
              <a:rPr sz="1400" b="0">
                <a:solidFill>
                  <a:srgbClr val="5F677A"/>
                </a:solidFill>
                <a:latin typeface="Arial"/>
                <a:ea typeface="Microsoft YaHei"/>
              </a:rPr>
              <a:t>💬 “I learn best by…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measure whether training has worked?</a:t>
            </a:r>
          </a:p>
          <a:p>
            <a:pPr algn="l">
              <a:lnSpc>
                <a:spcPct val="115000"/>
              </a:lnSpc>
              <a:spcAft>
                <a:spcPts val="800"/>
              </a:spcAft>
            </a:pPr>
            <a:r>
              <a:rPr sz="1400" b="0">
                <a:solidFill>
                  <a:srgbClr val="5F677A"/>
                </a:solidFill>
                <a:latin typeface="Arial"/>
                <a:ea typeface="Microsoft YaHei"/>
              </a:rPr>
              <a:t>💬 “You could look at…” / “A good indicator is…”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of not training staff?</a:t>
            </a:r>
          </a:p>
          <a:p>
            <a:pPr algn="l">
              <a:lnSpc>
                <a:spcPct val="115000"/>
              </a:lnSpc>
              <a:spcAft>
                <a:spcPts val="800"/>
              </a:spcAft>
            </a:pPr>
            <a:r>
              <a:rPr sz="1400" b="0">
                <a:solidFill>
                  <a:srgbClr val="5F677A"/>
                </a:solidFill>
                <a:latin typeface="Arial"/>
                <a:ea typeface="Microsoft YaHei"/>
              </a:rPr>
              <a:t>💬 “Without training, staff may… and the company could…”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Without training, staff may fall behind as technology changes, and mistakes become more common. The company could lose its best people, because ambitious employees want to grow. It may also depend too heavily on a few experts, which is risky if one of them leaves. Training costs money, but not training can cost more in lost customers, errors and recruitment.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fall behind = 落后。depend on = 依赖。”not training can cost more” 中 not training 是动名词短语作主语。</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We need training.</a:t>
                      </a:r>
                    </a:p>
                  </a:txBody>
                  <a:tcPr anchor="ctr">
                    <a:solidFill>
                      <a:srgbClr val="FFFFFF"/>
                    </a:solidFill>
                  </a:tcPr>
                </a:tc>
                <a:tc>
                  <a:txBody>
                    <a:bodyPr wrap="square"/>
                    <a:lstStyle/>
                    <a:p>
                      <a:r>
                        <a:rPr sz="1600" b="0">
                          <a:solidFill>
                            <a:srgbClr val="1F2A44"/>
                          </a:solidFill>
                          <a:latin typeface="Arial"/>
                          <a:ea typeface="Microsoft YaHei"/>
                        </a:rPr>
                        <a:t>I’d like to propose a development programme for the team.</a:t>
                      </a:r>
                    </a:p>
                  </a:txBody>
                  <a:tcPr anchor="ctr">
                    <a:solidFill>
                      <a:srgbClr val="FFFFFF"/>
                    </a:solidFill>
                  </a:tcPr>
                </a:tc>
                <a:tc>
                  <a:txBody>
                    <a:bodyPr wrap="square"/>
                    <a:lstStyle/>
                    <a:p>
                      <a:r>
                        <a:rPr sz="1600" b="0">
                          <a:solidFill>
                            <a:srgbClr val="FF6B5B"/>
                          </a:solidFill>
                          <a:latin typeface="Arial"/>
                          <a:ea typeface="Microsoft YaHei"/>
                        </a:rPr>
                        <a:t>提案语气</a:t>
                      </a:r>
                    </a:p>
                  </a:txBody>
                  <a:tcPr anchor="ctr">
                    <a:solidFill>
                      <a:srgbClr val="FFFFFF"/>
                    </a:solidFill>
                  </a:tcPr>
                </a:tc>
              </a:tr>
              <a:tr h="652272">
                <a:tc>
                  <a:txBody>
                    <a:bodyPr wrap="square"/>
                    <a:lstStyle/>
                    <a:p>
                      <a:r>
                        <a:rPr sz="1600" b="1">
                          <a:solidFill>
                            <a:srgbClr val="1F2A44"/>
                          </a:solidFill>
                          <a:latin typeface="Arial"/>
                          <a:ea typeface="Microsoft YaHei"/>
                        </a:rPr>
                        <a:t>It will cost a lot.</a:t>
                      </a:r>
                    </a:p>
                  </a:txBody>
                  <a:tcPr anchor="ctr">
                    <a:solidFill>
                      <a:srgbClr val="FFEFD9"/>
                    </a:solidFill>
                  </a:tcPr>
                </a:tc>
                <a:tc>
                  <a:txBody>
                    <a:bodyPr wrap="square"/>
                    <a:lstStyle/>
                    <a:p>
                      <a:r>
                        <a:rPr sz="1600" b="0">
                          <a:solidFill>
                            <a:srgbClr val="1F2A44"/>
                          </a:solidFill>
                          <a:latin typeface="Arial"/>
                          <a:ea typeface="Microsoft YaHei"/>
                        </a:rPr>
                        <a:t>The upfront investment would be around 8,000 dollars.</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It’s useful.</a:t>
                      </a:r>
                    </a:p>
                  </a:txBody>
                  <a:tcPr anchor="ctr">
                    <a:solidFill>
                      <a:srgbClr val="FFFFFF"/>
                    </a:solidFill>
                  </a:tcPr>
                </a:tc>
                <a:tc>
                  <a:txBody>
                    <a:bodyPr wrap="square"/>
                    <a:lstStyle/>
                    <a:p>
                      <a:r>
                        <a:rPr sz="1600" b="0">
                          <a:solidFill>
                            <a:srgbClr val="1F2A44"/>
                          </a:solidFill>
                          <a:latin typeface="Arial"/>
                          <a:ea typeface="Microsoft YaHei"/>
                        </a:rPr>
                        <a:t>It would bring clear benefits in terms of efficiency.</a:t>
                      </a:r>
                    </a:p>
                  </a:txBody>
                  <a:tcPr anchor="ctr">
                    <a:solidFill>
                      <a:srgbClr val="FFFFFF"/>
                    </a:solidFill>
                  </a:tcPr>
                </a:tc>
                <a:tc>
                  <a:txBody>
                    <a:bodyPr wrap="square"/>
                    <a:lstStyle/>
                    <a:p>
                      <a:r>
                        <a:rPr sz="1600" b="0">
                          <a:solidFill>
                            <a:srgbClr val="1F2A44"/>
                          </a:solidFill>
                          <a:latin typeface="Arial"/>
                          <a:ea typeface="Microsoft YaHei"/>
                        </a:rPr>
                        <a:t>in terms of</a:t>
                      </a:r>
                    </a:p>
                  </a:txBody>
                  <a:tcPr anchor="ctr">
                    <a:solidFill>
                      <a:srgbClr val="FFFFFF"/>
                    </a:solidFill>
                  </a:tcPr>
                </a:tc>
              </a:tr>
              <a:tr h="652272">
                <a:tc>
                  <a:txBody>
                    <a:bodyPr wrap="square"/>
                    <a:lstStyle/>
                    <a:p>
                      <a:r>
                        <a:rPr sz="1600" b="1">
                          <a:solidFill>
                            <a:srgbClr val="1F2A44"/>
                          </a:solidFill>
                          <a:latin typeface="Arial"/>
                          <a:ea typeface="Microsoft YaHei"/>
                        </a:rPr>
                        <a:t>People will leave.</a:t>
                      </a:r>
                    </a:p>
                  </a:txBody>
                  <a:tcPr anchor="ctr">
                    <a:solidFill>
                      <a:srgbClr val="FFEFD9"/>
                    </a:solidFill>
                  </a:tcPr>
                </a:tc>
                <a:tc>
                  <a:txBody>
                    <a:bodyPr wrap="square"/>
                    <a:lstStyle/>
                    <a:p>
                      <a:r>
                        <a:rPr sz="1600" b="0">
                          <a:solidFill>
                            <a:srgbClr val="1F2A44"/>
                          </a:solidFill>
                          <a:latin typeface="Arial"/>
                          <a:ea typeface="Microsoft YaHei"/>
                        </a:rPr>
                        <a:t>There’s a risk that some staff may leave afterwards.</a:t>
                      </a:r>
                    </a:p>
                  </a:txBody>
                  <a:tcPr anchor="ctr">
                    <a:solidFill>
                      <a:srgbClr val="FFEFD9"/>
                    </a:solidFill>
                  </a:tcPr>
                </a:tc>
                <a:tc>
                  <a:txBody>
                    <a:bodyPr wrap="square"/>
                    <a:lstStyle/>
                    <a:p>
                      <a:r>
                        <a:rPr sz="1600" b="0">
                          <a:solidFill>
                            <a:srgbClr val="FF6B5B"/>
                          </a:solidFill>
                          <a:latin typeface="Arial"/>
                          <a:ea typeface="Microsoft YaHei"/>
                        </a:rPr>
                        <a:t>风险表达</a:t>
                      </a:r>
                    </a:p>
                  </a:txBody>
                  <a:tcPr anchor="ctr">
                    <a:solidFill>
                      <a:srgbClr val="FFEFD9"/>
                    </a:solidFill>
                  </a:tcPr>
                </a:tc>
              </a:tr>
              <a:tr h="652272">
                <a:tc>
                  <a:txBody>
                    <a:bodyPr wrap="square"/>
                    <a:lstStyle/>
                    <a:p>
                      <a:r>
                        <a:rPr sz="1600" b="1">
                          <a:solidFill>
                            <a:srgbClr val="1F2A44"/>
                          </a:solidFill>
                          <a:latin typeface="Arial"/>
                          <a:ea typeface="Microsoft YaHei"/>
                        </a:rPr>
                        <a:t>Please agree.</a:t>
                      </a:r>
                    </a:p>
                  </a:txBody>
                  <a:tcPr anchor="ctr">
                    <a:solidFill>
                      <a:srgbClr val="FFFFFF"/>
                    </a:solidFill>
                  </a:tcPr>
                </a:tc>
                <a:tc>
                  <a:txBody>
                    <a:bodyPr wrap="square"/>
                    <a:lstStyle/>
                    <a:p>
                      <a:r>
                        <a:rPr sz="1600" b="0">
                          <a:solidFill>
                            <a:srgbClr val="1F2A44"/>
                          </a:solidFill>
                          <a:latin typeface="Arial"/>
                          <a:ea typeface="Microsoft YaHei"/>
                        </a:rPr>
                        <a:t>I’d be grateful for your support.</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bl>
          </a:graphicData>
        </a:graphic>
      </p:graphicFrame>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Proposal structure: </a:t>
            </a:r>
            <a:r>
              <a:rPr sz="1700" b="0">
                <a:solidFill>
                  <a:srgbClr val="1F2A44"/>
                </a:solidFill>
                <a:latin typeface="Arial"/>
                <a:ea typeface="Microsoft YaHei"/>
              </a:rPr>
              <a:t>problem → solution → benefit → cost → next step.</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Linking benefits: </a:t>
            </a:r>
            <a:r>
              <a:rPr sz="1700" b="0">
                <a:solidFill>
                  <a:srgbClr val="1F2A44"/>
                </a:solidFill>
                <a:latin typeface="Arial"/>
                <a:ea typeface="Microsoft YaHei"/>
              </a:rPr>
              <a:t>as a result, consequently, which means, in turn.</a:t>
            </a:r>
          </a:p>
        </p:txBody>
      </p:sp>
      <p:sp>
        <p:nvSpPr>
          <p:cNvPr id="14" name="Rounded Rectangle 13"/>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Uncountable: </a:t>
            </a:r>
            <a:r>
              <a:rPr sz="1700" b="0">
                <a:solidFill>
                  <a:srgbClr val="1F2A44"/>
                </a:solidFill>
                <a:latin typeface="Arial"/>
                <a:ea typeface="Microsoft YaHei"/>
              </a:rPr>
              <a:t>training, equipment, information, research. Use a training course / a training session for a single event.</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Gerund as subject: </a:t>
            </a:r>
            <a:r>
              <a:rPr sz="1700" b="0">
                <a:solidFill>
                  <a:srgbClr val="1F2A44"/>
                </a:solidFill>
                <a:latin typeface="Arial"/>
                <a:ea typeface="Microsoft YaHei"/>
              </a:rPr>
              <a:t>“Investing in training pays off.” “Not training staff can be costly.”</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hold a training.</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hold a training session. / We should run a training course.</a:t>
            </a:r>
          </a:p>
          <a:p>
            <a:pPr algn="l">
              <a:spcAft>
                <a:spcPts val="200"/>
              </a:spcAft>
            </a:pPr>
            <a:r>
              <a:rPr sz="1200" b="0">
                <a:solidFill>
                  <a:srgbClr val="FFFFFF"/>
                </a:solidFill>
                <a:latin typeface="Arial"/>
                <a:ea typeface="Microsoft YaHei"/>
              </a:rPr>
              <a:t>training 不可数</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provide many trainings.</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provides a lot of training.</a:t>
            </a:r>
          </a:p>
          <a:p>
            <a:pPr algn="l">
              <a:spcAft>
                <a:spcPts val="200"/>
              </a:spcAft>
            </a:pPr>
            <a:r>
              <a:rPr sz="1200" b="0">
                <a:solidFill>
                  <a:srgbClr val="FFFFFF"/>
                </a:solidFill>
                <a:latin typeface="Arial"/>
                <a:ea typeface="Microsoft YaHei"/>
              </a:rPr>
              <a:t>training 不可数;company 用 provides</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joined a training last month.</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attended a training course last month.</a:t>
            </a:r>
          </a:p>
          <a:p>
            <a:pPr algn="l">
              <a:spcAft>
                <a:spcPts val="200"/>
              </a:spcAft>
            </a:pPr>
            <a:r>
              <a:rPr sz="1200" b="0">
                <a:solidFill>
                  <a:srgbClr val="FFFFFF"/>
                </a:solidFill>
                <a:latin typeface="Arial"/>
                <a:ea typeface="Microsoft YaHei"/>
              </a:rPr>
              <a:t>说清楚 course / session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Training is helpful to improve skills.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Training helps to improve skills.</a:t>
            </a:r>
          </a:p>
          <a:p>
            <a:pPr algn="l">
              <a:spcAft>
                <a:spcPts val="200"/>
              </a:spcAft>
            </a:pPr>
            <a:r>
              <a:rPr sz="1200" b="0">
                <a:solidFill>
                  <a:srgbClr val="FFFFFF"/>
                </a:solidFill>
                <a:latin typeface="Arial"/>
                <a:ea typeface="Microsoft YaHei"/>
              </a:rPr>
              <a:t>简洁自然</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spend 8,000 dollars to train them.</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spend 8,000 dollars on training them. / training them.</a:t>
            </a:r>
          </a:p>
          <a:p>
            <a:pPr algn="l">
              <a:spcAft>
                <a:spcPts val="200"/>
              </a:spcAft>
            </a:pPr>
            <a:r>
              <a:rPr sz="1200" b="0">
                <a:solidFill>
                  <a:srgbClr val="FFFFFF"/>
                </a:solidFill>
                <a:latin typeface="Arial"/>
                <a:ea typeface="Microsoft YaHei"/>
              </a:rPr>
              <a:t>spend + 金额 + on / -ing</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Staff need to be trained for to be good.</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Staff need to be trained to do the job well.</a:t>
            </a:r>
          </a:p>
          <a:p>
            <a:pPr algn="l">
              <a:spcAft>
                <a:spcPts val="200"/>
              </a:spcAft>
            </a:pPr>
            <a:r>
              <a:rPr sz="1200" b="0">
                <a:solidFill>
                  <a:srgbClr val="FFFFFF"/>
                </a:solidFill>
                <a:latin typeface="Arial"/>
                <a:ea typeface="Microsoft YaHei"/>
              </a:rPr>
              <a:t>目的用 to + 动词原形</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training, singular verbs after singular subjects (provides), and spend … on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Training culture: </a:t>
            </a:r>
            <a:r>
              <a:rPr sz="1700" b="0">
                <a:solidFill>
                  <a:srgbClr val="1F2A44"/>
                </a:solidFill>
                <a:latin typeface="Arial"/>
                <a:ea typeface="Microsoft YaHei"/>
              </a:rPr>
              <a:t>Many UK and US firms offer a personal development budget per employee. It is normal to ask about it in interviews.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Certifications: </a:t>
            </a:r>
            <a:r>
              <a:rPr sz="1700" b="0">
                <a:solidFill>
                  <a:srgbClr val="1F2A44"/>
                </a:solidFill>
                <a:latin typeface="Arial"/>
                <a:ea typeface="Microsoft YaHei"/>
              </a:rPr>
              <a:t>Industry certificates (for example PMP or CFA) are valued, but employers also like proof that you have applied what you learned.</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Return on investment: </a:t>
            </a:r>
            <a:r>
              <a:rPr sz="1700" b="0">
                <a:solidFill>
                  <a:srgbClr val="1F2A44"/>
                </a:solidFill>
                <a:latin typeface="Arial"/>
                <a:ea typeface="Microsoft YaHei"/>
              </a:rPr>
              <a:t>Managers like numbers. Include savings, time or customer impact in a proposal, not only “it’s good for morale”.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training 不可数,说 a training course 或 a training session。提案时用数据(成本、回报)比空泛地说“有用”更有说服力。</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why training matters using two reasons.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a proposal for training with costs and benefits.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answer an objection politely.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training as an uncountable noun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20 Why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training, singular/plural verb agreement and purpose clauses with to.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 · Lesson 21 Getting Training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Getting Training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接受培训</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your own learning: what to learn, how to choose a course, how to learn effectively and how to apply it at work.</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is the most useful course or training you have attended? Why?</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 you prefer to learn: reading, watching, doing or discussing?</a:t>
            </a:r>
          </a:p>
        </p:txBody>
      </p:sp>
      <p:sp>
        <p:nvSpPr>
          <p:cNvPr id="15" name="Oval 14"/>
          <p:cNvSpPr/>
          <p:nvPr/>
        </p:nvSpPr>
        <p:spPr>
          <a:xfrm>
            <a:off x="548640" y="29702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 you find time to study when you are busy?</a:t>
            </a:r>
          </a:p>
        </p:txBody>
      </p:sp>
      <p:sp>
        <p:nvSpPr>
          <p:cNvPr id="18" name="Oval 17"/>
          <p:cNvSpPr/>
          <p:nvPr/>
        </p:nvSpPr>
        <p:spPr>
          <a:xfrm>
            <a:off x="548640" y="36591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2102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2102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do you do to remember what you learn?</a:t>
            </a:r>
          </a:p>
        </p:txBody>
      </p:sp>
      <p:sp>
        <p:nvSpPr>
          <p:cNvPr id="21" name="Oval 20"/>
          <p:cNvSpPr/>
          <p:nvPr/>
        </p:nvSpPr>
        <p:spPr>
          <a:xfrm>
            <a:off x="548640" y="43479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0987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0987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can you apply what you learn to your job?</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题用现在完成时和过去式。第 2 题用 prefer + -ing / to。apply … to = 把…应用于。</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800" b="1">
                <a:solidFill>
                  <a:srgbClr val="1F2A44"/>
                </a:solidFill>
                <a:latin typeface="Arial"/>
                <a:ea typeface="Microsoft YaHei"/>
              </a:rPr>
              <a:t>Describe a training course you took (or would like to take) and what you gained from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course and reason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it involved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you gained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you used it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took a course in… because…   💬 What I found most useful was…   💬 As a result, I’m now able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gain = 获得;”As a result, I’m now able to…” 说明学习成果。take a course in + 科目。</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From Classroom to Desk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people finish a course with a certificate and a notebook full of ideas, then return to work and forget most of it within weeks. The problem is not usually the course; it is what happens afterwards. Studies of learning suggest that three habits help: review soon, apply quickly and teach someone else. A short summary written within 24 hours helps the brain to store new information. Using the new skill in a real task, even a small one, makes it stick. And explaining it to a colleague forces you to organise your thoughts. Before you choose a course, ask yourself what problem it will help you solve. After it, tell your manager one thing you intend to change. Training that leads to a specific action has a far better chance of paying off than training that simply fills a calendar.</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goes wrong after many courses?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People return to work and forget most of what they learned within weeks.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three habits help learning stick?</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Review soon, apply quickly and teach someone else.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you ask yourself before choosing a course?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problem it will help you solve.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1: Choosing and taking a course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选课与学习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sign up for a course</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报名参加课程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signed up for a course in project management.”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attend</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参加</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attended a three-day workshop.”</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assignment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课程作业</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assignment takes about five hours a week.”</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submit</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提交</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deadline for submitting the assignment is Friday.”</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certificate / qualification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证书;资格</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earned a certificate in digital marketing.”</a:t>
            </a:r>
          </a:p>
        </p:txBody>
      </p:sp>
      <p:sp>
        <p:nvSpPr>
          <p:cNvPr id="34" name="Rounded Rectangle 33"/>
          <p:cNvSpPr/>
          <p:nvPr/>
        </p:nvSpPr>
        <p:spPr>
          <a:xfrm>
            <a:off x="548640" y="52400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e-learning / online course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52857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在线学习</a:t>
            </a:r>
          </a:p>
        </p:txBody>
      </p:sp>
      <p:sp>
        <p:nvSpPr>
          <p:cNvPr id="38" name="TextBox 37"/>
          <p:cNvSpPr txBox="1"/>
          <p:nvPr/>
        </p:nvSpPr>
        <p:spPr>
          <a:xfrm>
            <a:off x="6675120" y="52857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prefer e-learning because I can study at my own pace.”</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Learning effectively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高效学习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pick up (a skill)</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学会、掌握</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picked up basic Python from online videos.”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brush up on</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复习、温习</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need to brush up on my English before the meeting.”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the hang of</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掌握窍门</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“After a few weeks, I got the hang of the software.”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into practice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付诸实践</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put the new methods into practice immediately.”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learn from scratch</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从零开始学</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learned coding from scratch.”</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at your own pace</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按自己的节奏</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course lets you study at your own pace.”</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报名参加课程</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sign up for a course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提交</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submit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从零开始学</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learn from scratch</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参加</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attend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掌握窍门</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the hang of</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证书;资格</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certificate / qualification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付诸实践</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into practice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按自己的节奏</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 your own pace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signed up</a:t>
            </a:r>
          </a:p>
        </p:txBody>
      </p:sp>
      <p:sp>
        <p:nvSpPr>
          <p:cNvPr id="10" name="Rounded Rectangle 9"/>
          <p:cNvSpPr/>
          <p:nvPr/>
        </p:nvSpPr>
        <p:spPr>
          <a:xfrm>
            <a:off x="3456432"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attended</a:t>
            </a:r>
          </a:p>
        </p:txBody>
      </p:sp>
      <p:sp>
        <p:nvSpPr>
          <p:cNvPr id="11" name="Rounded Rectangle 10"/>
          <p:cNvSpPr/>
          <p:nvPr/>
        </p:nvSpPr>
        <p:spPr>
          <a:xfrm>
            <a:off x="4791456"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assignment</a:t>
            </a:r>
          </a:p>
        </p:txBody>
      </p:sp>
      <p:sp>
        <p:nvSpPr>
          <p:cNvPr id="12" name="Rounded Rectangle 11"/>
          <p:cNvSpPr/>
          <p:nvPr/>
        </p:nvSpPr>
        <p:spPr>
          <a:xfrm>
            <a:off x="6345936"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pick up</a:t>
            </a:r>
          </a:p>
        </p:txBody>
      </p:sp>
      <p:sp>
        <p:nvSpPr>
          <p:cNvPr id="13" name="Rounded Rectangle 12"/>
          <p:cNvSpPr/>
          <p:nvPr/>
        </p:nvSpPr>
        <p:spPr>
          <a:xfrm>
            <a:off x="7571232"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brush up</a:t>
            </a:r>
          </a:p>
        </p:txBody>
      </p:sp>
      <p:sp>
        <p:nvSpPr>
          <p:cNvPr id="14" name="Rounded Rectangle 13"/>
          <p:cNvSpPr/>
          <p:nvPr/>
        </p:nvSpPr>
        <p:spPr>
          <a:xfrm>
            <a:off x="8906256"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hang</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_______ for a course in project management last month.</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signed up</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_______ a three-day workshop in Hong Kong.</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attended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_______ takes about five hours a week.</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assignment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I’d like to _______ some basic data skills this year.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pick up</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 need to _______ on my Excel before the new job.</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brush up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After a few weeks, I got the _______ of the software.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hang</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attend takes no preposition (“attend a course”, not “attend to a course”), assignment (not “asignment”), certificate (not “certifcate”). Pick up and brush up on are phrasal verbs, so keep the particle.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Telling your manager what you learned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向经理汇报培训收获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have just attended a two-day workshop on presentation skills. You tell your manager how you will use it.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Olivia Sun, marketing executive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Garcia, manager</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your manager what you learned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Olivia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Mr Garcia. Do you have five minutes? I wanted to tell you about the presentation workshop.</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Garcia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How was 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Really useful. We practised structuring a talk and handling difficult questions.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relevant. What was the most valuable thing you picked up?</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Probably the “problem, solution, benefit” structure. I used to start with too much background.</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how do you plan to use it?</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your manager what you learned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try it at next week’s client presentation. I could also share a short summary with the team.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great. Is there anything you need from me?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Perhaps a bit of feedback afterwards. I want to make sure I put it into practice.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Happy to. I’ll sit in and give you notes.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I’ll also brush up on my slides this weekend.</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Keep me posted on how it goes.</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Telling your manager what you learned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report on a training course to your manager.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The course you took: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Interested, asks about practical use.</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attend · pick up · put into practice · brush up · at your own pace · from scratch</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Summarise the course, name one takeaway and agree how you will apply it.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manager asks: “Was it worth the money?” Give an honest answer with evidence.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Persuade a colleague to take a course you enjoyed.</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one thing you learned and teach it in 45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learn a new skill at work?</a:t>
            </a:r>
          </a:p>
          <a:p>
            <a:pPr algn="l">
              <a:lnSpc>
                <a:spcPct val="115000"/>
              </a:lnSpc>
              <a:spcAft>
                <a:spcPts val="800"/>
              </a:spcAft>
            </a:pPr>
            <a:r>
              <a:rPr sz="1400" b="0">
                <a:solidFill>
                  <a:srgbClr val="5F677A"/>
                </a:solidFill>
                <a:latin typeface="Arial"/>
                <a:ea typeface="Microsoft YaHei"/>
              </a:rPr>
              <a:t>💬 “For me, the most effective way is…” / “I learn best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online courses as good as classroom courses?</a:t>
            </a:r>
          </a:p>
          <a:p>
            <a:pPr algn="l">
              <a:lnSpc>
                <a:spcPct val="115000"/>
              </a:lnSpc>
              <a:spcAft>
                <a:spcPts val="800"/>
              </a:spcAft>
            </a:pPr>
            <a:r>
              <a:rPr sz="1400" b="0">
                <a:solidFill>
                  <a:srgbClr val="5F677A"/>
                </a:solidFill>
                <a:latin typeface="Arial"/>
                <a:ea typeface="Microsoft YaHei"/>
              </a:rPr>
              <a:t>💬 “Online courses are convenient, but classroom courses offer…”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employers help staff to find time to learn?</a:t>
            </a:r>
          </a:p>
          <a:p>
            <a:pPr algn="l">
              <a:lnSpc>
                <a:spcPct val="115000"/>
              </a:lnSpc>
              <a:spcAft>
                <a:spcPts val="800"/>
              </a:spcAft>
            </a:pPr>
            <a:r>
              <a:rPr sz="1400" b="0">
                <a:solidFill>
                  <a:srgbClr val="5F677A"/>
                </a:solidFill>
                <a:latin typeface="Arial"/>
                <a:ea typeface="Microsoft YaHei"/>
              </a:rPr>
              <a:t>💬 “They could set aside time such as…” / “Managers should…”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is more valuable, a certificate or real experience?</a:t>
            </a:r>
          </a:p>
          <a:p>
            <a:pPr algn="l">
              <a:lnSpc>
                <a:spcPct val="115000"/>
              </a:lnSpc>
              <a:spcAft>
                <a:spcPts val="800"/>
              </a:spcAft>
            </a:pPr>
            <a:r>
              <a:rPr sz="1400" b="0">
                <a:solidFill>
                  <a:srgbClr val="5F677A"/>
                </a:solidFill>
                <a:latin typeface="Arial"/>
                <a:ea typeface="Microsoft YaHei"/>
              </a:rPr>
              <a:t>💬 “Experience shows… while a certificate proves…”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Online courses are convenient and often cheaper, and you can study at your own pace. But classroom courses offer something different: live discussion, immediate feedback and the chance to network. I think the best choice depends on the skill. For technical subjects, I’m happy to learn online. For communication or leadership, I’d prefer face-to-face, because you need to practise with real people.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at your own pace = 按自己的节奏。”offer something different” = 提供不同的价值。network 在此作动词:拓展人脉。</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learned some things.</a:t>
                      </a:r>
                    </a:p>
                  </a:txBody>
                  <a:tcPr anchor="ctr">
                    <a:solidFill>
                      <a:srgbClr val="FFFFFF"/>
                    </a:solidFill>
                  </a:tcPr>
                </a:tc>
                <a:tc>
                  <a:txBody>
                    <a:bodyPr wrap="square"/>
                    <a:lstStyle/>
                    <a:p>
                      <a:r>
                        <a:rPr sz="1600" b="0">
                          <a:solidFill>
                            <a:srgbClr val="1F2A44"/>
                          </a:solidFill>
                          <a:latin typeface="Arial"/>
                          <a:ea typeface="Microsoft YaHei"/>
                        </a:rPr>
                        <a:t>I picked up some useful techniques.</a:t>
                      </a:r>
                    </a:p>
                  </a:txBody>
                  <a:tcPr anchor="ctr">
                    <a:solidFill>
                      <a:srgbClr val="FFFFFF"/>
                    </a:solidFill>
                  </a:tcPr>
                </a:tc>
                <a:tc>
                  <a:txBody>
                    <a:bodyPr wrap="square"/>
                    <a:lstStyle/>
                    <a:p>
                      <a:r>
                        <a:rPr sz="1600" b="0">
                          <a:solidFill>
                            <a:srgbClr val="FF6B5B"/>
                          </a:solidFill>
                          <a:latin typeface="Arial"/>
                          <a:ea typeface="Microsoft YaHei"/>
                        </a:rPr>
                        <a:t>pick up 学到</a:t>
                      </a:r>
                    </a:p>
                  </a:txBody>
                  <a:tcPr anchor="ctr">
                    <a:solidFill>
                      <a:srgbClr val="FFFFFF"/>
                    </a:solidFill>
                  </a:tcPr>
                </a:tc>
              </a:tr>
              <a:tr h="652272">
                <a:tc>
                  <a:txBody>
                    <a:bodyPr wrap="square"/>
                    <a:lstStyle/>
                    <a:p>
                      <a:r>
                        <a:rPr sz="1600" b="1">
                          <a:solidFill>
                            <a:srgbClr val="1F2A44"/>
                          </a:solidFill>
                          <a:latin typeface="Arial"/>
                          <a:ea typeface="Microsoft YaHei"/>
                        </a:rPr>
                        <a:t>I’ll try the new method.</a:t>
                      </a:r>
                    </a:p>
                  </a:txBody>
                  <a:tcPr anchor="ctr">
                    <a:solidFill>
                      <a:srgbClr val="FFEFD9"/>
                    </a:solidFill>
                  </a:tcPr>
                </a:tc>
                <a:tc>
                  <a:txBody>
                    <a:bodyPr wrap="square"/>
                    <a:lstStyle/>
                    <a:p>
                      <a:r>
                        <a:rPr sz="1600" b="0">
                          <a:solidFill>
                            <a:srgbClr val="1F2A44"/>
                          </a:solidFill>
                          <a:latin typeface="Arial"/>
                          <a:ea typeface="Microsoft YaHei"/>
                        </a:rPr>
                        <a:t>I’ll put the new method into practice.</a:t>
                      </a:r>
                    </a:p>
                  </a:txBody>
                  <a:tcPr anchor="ctr">
                    <a:solidFill>
                      <a:srgbClr val="FFEFD9"/>
                    </a:solidFill>
                  </a:tcPr>
                </a:tc>
                <a:tc>
                  <a:txBody>
                    <a:bodyPr wrap="square"/>
                    <a:lstStyle/>
                    <a:p>
                      <a:r>
                        <a:rPr sz="1600" b="0">
                          <a:solidFill>
                            <a:srgbClr val="FF6B5B"/>
                          </a:solidFill>
                          <a:latin typeface="Arial"/>
                          <a:ea typeface="Microsoft YaHei"/>
                        </a:rPr>
                        <a:t>付诸实践</a:t>
                      </a:r>
                    </a:p>
                  </a:txBody>
                  <a:tcPr anchor="ctr">
                    <a:solidFill>
                      <a:srgbClr val="FFEFD9"/>
                    </a:solidFill>
                  </a:tcPr>
                </a:tc>
              </a:tr>
              <a:tr h="652272">
                <a:tc>
                  <a:txBody>
                    <a:bodyPr wrap="square"/>
                    <a:lstStyle/>
                    <a:p>
                      <a:r>
                        <a:rPr sz="1600" b="1">
                          <a:solidFill>
                            <a:srgbClr val="1F2A44"/>
                          </a:solidFill>
                          <a:latin typeface="Arial"/>
                          <a:ea typeface="Microsoft YaHei"/>
                        </a:rPr>
                        <a:t>I forgot a lot.</a:t>
                      </a:r>
                    </a:p>
                  </a:txBody>
                  <a:tcPr anchor="ctr">
                    <a:solidFill>
                      <a:srgbClr val="FFFFFF"/>
                    </a:solidFill>
                  </a:tcPr>
                </a:tc>
                <a:tc>
                  <a:txBody>
                    <a:bodyPr wrap="square"/>
                    <a:lstStyle/>
                    <a:p>
                      <a:r>
                        <a:rPr sz="1600" b="0">
                          <a:solidFill>
                            <a:srgbClr val="1F2A44"/>
                          </a:solidFill>
                          <a:latin typeface="Arial"/>
                          <a:ea typeface="Microsoft YaHei"/>
                        </a:rPr>
                        <a:t>I need to brush up on some of the details.</a:t>
                      </a:r>
                    </a:p>
                  </a:txBody>
                  <a:tcPr anchor="ctr">
                    <a:solidFill>
                      <a:srgbClr val="FFFFFF"/>
                    </a:solidFill>
                  </a:tcPr>
                </a:tc>
                <a:tc>
                  <a:txBody>
                    <a:bodyPr wrap="square"/>
                    <a:lstStyle/>
                    <a:p>
                      <a:r>
                        <a:rPr sz="1600" b="0">
                          <a:solidFill>
                            <a:srgbClr val="FF6B5B"/>
                          </a:solidFill>
                          <a:latin typeface="Arial"/>
                          <a:ea typeface="Microsoft YaHei"/>
                        </a:rPr>
                        <a:t>复习</a:t>
                      </a:r>
                    </a:p>
                  </a:txBody>
                  <a:tcPr anchor="ctr">
                    <a:solidFill>
                      <a:srgbClr val="FFFFFF"/>
                    </a:solidFill>
                  </a:tcPr>
                </a:tc>
              </a:tr>
              <a:tr h="652272">
                <a:tc>
                  <a:txBody>
                    <a:bodyPr wrap="square"/>
                    <a:lstStyle/>
                    <a:p>
                      <a:r>
                        <a:rPr sz="1600" b="1">
                          <a:solidFill>
                            <a:srgbClr val="1F2A44"/>
                          </a:solidFill>
                          <a:latin typeface="Arial"/>
                          <a:ea typeface="Microsoft YaHei"/>
                        </a:rPr>
                        <a:t>It was good.</a:t>
                      </a:r>
                    </a:p>
                  </a:txBody>
                  <a:tcPr anchor="ctr">
                    <a:solidFill>
                      <a:srgbClr val="FFEFD9"/>
                    </a:solidFill>
                  </a:tcPr>
                </a:tc>
                <a:tc>
                  <a:txBody>
                    <a:bodyPr wrap="square"/>
                    <a:lstStyle/>
                    <a:p>
                      <a:r>
                        <a:rPr sz="1600" b="0">
                          <a:solidFill>
                            <a:srgbClr val="1F2A44"/>
                          </a:solidFill>
                          <a:latin typeface="Arial"/>
                          <a:ea typeface="Microsoft YaHei"/>
                        </a:rPr>
                        <a:t>It was relevant to my work and well organised.</a:t>
                      </a:r>
                    </a:p>
                  </a:txBody>
                  <a:tcPr anchor="ctr">
                    <a:solidFill>
                      <a:srgbClr val="FFEFD9"/>
                    </a:solidFill>
                  </a:tcPr>
                </a:tc>
                <a:tc>
                  <a:txBody>
                    <a:bodyPr wrap="square"/>
                    <a:lstStyle/>
                    <a:p>
                      <a:r>
                        <a:rPr sz="1600" b="0">
                          <a:solidFill>
                            <a:srgbClr val="FF6B5B"/>
                          </a:solidFill>
                          <a:latin typeface="Arial"/>
                          <a:ea typeface="Microsoft YaHei"/>
                        </a:rPr>
                        <a:t>具体评价</a:t>
                      </a:r>
                    </a:p>
                  </a:txBody>
                  <a:tcPr anchor="ctr">
                    <a:solidFill>
                      <a:srgbClr val="FFEFD9"/>
                    </a:solidFill>
                  </a:tcPr>
                </a:tc>
              </a:tr>
              <a:tr h="652272">
                <a:tc>
                  <a:txBody>
                    <a:bodyPr wrap="square"/>
                    <a:lstStyle/>
                    <a:p>
                      <a:r>
                        <a:rPr sz="1600" b="1">
                          <a:solidFill>
                            <a:srgbClr val="1F2A44"/>
                          </a:solidFill>
                          <a:latin typeface="Arial"/>
                          <a:ea typeface="Microsoft YaHei"/>
                        </a:rPr>
                        <a:t>Thank you for paying.</a:t>
                      </a:r>
                    </a:p>
                  </a:txBody>
                  <a:tcPr anchor="ctr">
                    <a:solidFill>
                      <a:srgbClr val="FFFFFF"/>
                    </a:solidFill>
                  </a:tcPr>
                </a:tc>
                <a:tc>
                  <a:txBody>
                    <a:bodyPr wrap="square"/>
                    <a:lstStyle/>
                    <a:p>
                      <a:r>
                        <a:rPr sz="1600" b="0">
                          <a:solidFill>
                            <a:srgbClr val="1F2A44"/>
                          </a:solidFill>
                          <a:latin typeface="Arial"/>
                          <a:ea typeface="Microsoft YaHei"/>
                        </a:rPr>
                        <a:t>I really appreciate the company’s support.</a:t>
                      </a:r>
                    </a:p>
                  </a:txBody>
                  <a:tcPr anchor="ctr">
                    <a:solidFill>
                      <a:srgbClr val="FFFFFF"/>
                    </a:solidFill>
                  </a:tcPr>
                </a:tc>
                <a:tc>
                  <a:txBody>
                    <a:bodyPr wrap="square"/>
                    <a:lstStyle/>
                    <a:p>
                      <a:r>
                        <a:rPr sz="1600" b="0">
                          <a:solidFill>
                            <a:srgbClr val="FF6B5B"/>
                          </a:solidFill>
                          <a:latin typeface="Arial"/>
                          <a:ea typeface="Microsoft YaHei"/>
                        </a:rPr>
                        <a:t>感谢支持</a:t>
                      </a:r>
                    </a:p>
                  </a:txBody>
                  <a:tcPr anchor="ctr">
                    <a:solidFill>
                      <a:srgbClr val="FFFFFF"/>
                    </a:solidFill>
                  </a:tcPr>
                </a:tc>
              </a:tr>
            </a:tbl>
          </a:graphicData>
        </a:graphic>
      </p:graphicFrame>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Present perfect vs past: </a:t>
            </a:r>
            <a:r>
              <a:rPr sz="1700" b="0">
                <a:solidFill>
                  <a:srgbClr val="1F2A44"/>
                </a:solidFill>
                <a:latin typeface="Arial"/>
                <a:ea typeface="Microsoft YaHei"/>
              </a:rPr>
              <a:t>“I’ve attended three workshops this year.” (this year isn’t over) vs “I attended a workshop last week.” (finished time)</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Phrasal verbs with objects: </a:t>
            </a:r>
            <a:r>
              <a:rPr sz="1700" b="0">
                <a:solidFill>
                  <a:srgbClr val="1F2A44"/>
                </a:solidFill>
                <a:latin typeface="Arial"/>
                <a:ea typeface="Microsoft YaHei"/>
              </a:rPr>
              <a:t>pick up a skill / pick it up, brush up on your English / brush up on it.</a:t>
            </a:r>
          </a:p>
        </p:txBody>
      </p:sp>
      <p:sp>
        <p:nvSpPr>
          <p:cNvPr id="14" name="Rounded Rectangle 13"/>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Reporting back: </a:t>
            </a:r>
            <a:r>
              <a:rPr sz="1700" b="0">
                <a:solidFill>
                  <a:srgbClr val="1F2A44"/>
                </a:solidFill>
                <a:latin typeface="Arial"/>
                <a:ea typeface="Microsoft YaHei"/>
              </a:rPr>
              <a:t>What I learned was… · The key takeaway for me was… · I’d like to apply this by…</a:t>
            </a:r>
          </a:p>
        </p:txBody>
      </p:sp>
      <p:sp>
        <p:nvSpPr>
          <p:cNvPr id="17" name="Rounded Rectangle 16"/>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35677"/>
            <a:ext cx="10728655" cy="701039"/>
          </a:xfrm>
          <a:prstGeom prst="rect">
            <a:avLst/>
          </a:prstGeom>
          <a:noFill/>
        </p:spPr>
        <p:txBody>
          <a:bodyPr wrap="square" anchor="ctr">
            <a:spAutoFit/>
          </a:bodyPr>
          <a:lstStyle/>
          <a:p>
            <a:r>
              <a:rPr sz="1700" b="1">
                <a:solidFill>
                  <a:srgbClr val="FFC857"/>
                </a:solidFill>
                <a:latin typeface="Arial"/>
                <a:ea typeface="Microsoft YaHei"/>
              </a:rPr>
              <a:t>Prefer + -ing / to: </a:t>
            </a:r>
            <a:r>
              <a:rPr sz="1700" b="0">
                <a:solidFill>
                  <a:srgbClr val="1F2A44"/>
                </a:solidFill>
                <a:latin typeface="Arial"/>
                <a:ea typeface="Microsoft YaHei"/>
              </a:rPr>
              <a:t>I prefer learning online. / I prefer to learn online. / I’d rather learn online.</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attended to the workshop.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attended the workshop.</a:t>
            </a:r>
          </a:p>
          <a:p>
            <a:pPr algn="l">
              <a:spcAft>
                <a:spcPts val="200"/>
              </a:spcAft>
            </a:pPr>
            <a:r>
              <a:rPr sz="1200" b="0">
                <a:solidFill>
                  <a:srgbClr val="FFFFFF"/>
                </a:solidFill>
                <a:latin typeface="Arial"/>
                <a:ea typeface="Microsoft YaHei"/>
              </a:rPr>
              <a:t>attend 是及物动词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learnt many knowledge.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learnt a lot. / I gained a lot of knowledge.</a:t>
            </a:r>
          </a:p>
          <a:p>
            <a:pPr algn="l">
              <a:spcAft>
                <a:spcPts val="200"/>
              </a:spcAft>
            </a:pPr>
            <a:r>
              <a:rPr sz="1200" b="0">
                <a:solidFill>
                  <a:srgbClr val="FFFFFF"/>
                </a:solidFill>
                <a:latin typeface="Arial"/>
                <a:ea typeface="Microsoft YaHei"/>
              </a:rPr>
              <a:t>knowledge 不可数</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get a training.</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get some training. / I want to take a course.</a:t>
            </a:r>
          </a:p>
          <a:p>
            <a:pPr algn="l">
              <a:spcAft>
                <a:spcPts val="200"/>
              </a:spcAft>
            </a:pPr>
            <a:r>
              <a:rPr sz="1200" b="0">
                <a:solidFill>
                  <a:srgbClr val="FFFFFF"/>
                </a:solidFill>
                <a:latin typeface="Arial"/>
                <a:ea typeface="Microsoft YaHei"/>
              </a:rPr>
              <a:t>training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learn English since three years.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been learning English for three years.</a:t>
            </a:r>
          </a:p>
          <a:p>
            <a:pPr algn="l">
              <a:spcAft>
                <a:spcPts val="200"/>
              </a:spcAft>
            </a:pPr>
            <a:r>
              <a:rPr sz="1200" b="0">
                <a:solidFill>
                  <a:srgbClr val="FFFFFF"/>
                </a:solidFill>
                <a:latin typeface="Arial"/>
                <a:ea typeface="Microsoft YaHei"/>
              </a:rPr>
              <a:t>for + 时间段;现在完成进行时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course is useful for improve my skills.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course is useful for improving my skills.</a:t>
            </a:r>
          </a:p>
          <a:p>
            <a:pPr algn="l">
              <a:spcAft>
                <a:spcPts val="200"/>
              </a:spcAft>
            </a:pPr>
            <a:r>
              <a:rPr sz="1200" b="0">
                <a:solidFill>
                  <a:srgbClr val="FFFFFF"/>
                </a:solidFill>
                <a:latin typeface="Arial"/>
                <a:ea typeface="Microsoft YaHei"/>
              </a:rPr>
              <a:t>for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teach me how to using this?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you show me how to use this?</a:t>
            </a:r>
          </a:p>
          <a:p>
            <a:pPr algn="l">
              <a:spcAft>
                <a:spcPts val="200"/>
              </a:spcAft>
            </a:pPr>
            <a:r>
              <a:rPr sz="1200" b="0">
                <a:solidFill>
                  <a:srgbClr val="FFFFFF"/>
                </a:solidFill>
                <a:latin typeface="Arial"/>
                <a:ea typeface="Microsoft YaHei"/>
              </a:rPr>
              <a:t>how to + 动词原形</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attend (no to), uncountable knowledge / training, and for / since with the present perfect.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Learning at work: </a:t>
            </a:r>
            <a:r>
              <a:rPr sz="1700" b="0">
                <a:solidFill>
                  <a:srgbClr val="1F2A44"/>
                </a:solidFill>
                <a:latin typeface="Arial"/>
                <a:ea typeface="Microsoft YaHei"/>
              </a:rPr>
              <a:t>In many English-speaking companies, learning time is part of the job. Block time in your calendar and tell your manager.</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Sharing what you learn: </a:t>
            </a:r>
            <a:r>
              <a:rPr sz="1700" b="0">
                <a:solidFill>
                  <a:srgbClr val="1F2A44"/>
                </a:solidFill>
                <a:latin typeface="Arial"/>
                <a:ea typeface="Microsoft YaHei"/>
              </a:rPr>
              <a:t>A short “lunch and learn” talk to colleagues is common and builds your reputation.</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Certificates and LinkedIn: </a:t>
            </a:r>
            <a:r>
              <a:rPr sz="1700" b="0">
                <a:solidFill>
                  <a:srgbClr val="1F2A44"/>
                </a:solidFill>
                <a:latin typeface="Arial"/>
                <a:ea typeface="Microsoft YaHei"/>
              </a:rPr>
              <a:t>People often post certificates online. Sharing achievements is normal, but add what you learned, not only the logo.</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attend 后面直接接名词(attend a course)。knowledge 与 training 不可数。学习后一定要“落地”:告诉经理你准备做哪一件具体的事。</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course I took and what I gained.</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how I will apply what I learned.</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online and classroom learning.</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phrasal verbs such as pick up and brush up on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21 Getting Training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attend (no preposition), uncountable knowledge / training, and for / since.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 · Lesson 22 Stress Relief</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Stress Relief</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缓解压力</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sources of stress at work, healthy ways to relieve it, and how to support a stressed colleague.</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causes you the most stress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stress affect you, physically and mentally?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to relax after a difficult day?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know when a colleague is stressed? What can you do?</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some stress good for you? Why or why not?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 “How do you know when…?” 后接陈述句语序。stress 作名词不可数;stressed 是形容词。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three tips for dealing with stress at work.</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tip 1 + why it works</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tip 2 + why</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tip 3 + encouragement</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One thing that works for me is…   💬 It’s worth trying to…   💬 If things get too much, …</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“get too much” = 让人承受不住。建议可以用 “It might be worth + -ing”。</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Reading · Pressure and Pressure Valves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A little pressure can sharpen the mind, but too much for too long damages both health and work. Common signs of excessive stress include poor sleep, irritability, headaches and difficulty concentrating. At work, the causes range from unrealistic deadlines and unclear roles to constant availability. Fortunately, there are practical ways to release the pressure. Short breaks, a walk outside or a few minutes of slow breathing can calm the nervous system. Regular exercise and enough sleep are the foundation. Talking to a colleague, a friend or a professional can reduce the feeling of carrying everything alone. Some people find that putting their tasks into a clear list cuts the sense of overload. If stress is linked to the job itself, it is reasonable to raise it with your manager. Looking after yourself is not a weakness; it is what lets you keep performing well.</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Give two common signs of excessive stress.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For example, poor sleep, irritability, headaches or difficulty concentrating.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quick ways to calm yourself.</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short break, a walk outside or slow breathing.</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the writer say about looking after yourself?</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is not a weakness; it lets you keep performing well.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Stress and pressure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压力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stress</a:t>
            </a:r>
          </a:p>
          <a:p>
            <a:pPr algn="l">
              <a:lnSpc>
                <a:spcPct val="115000"/>
              </a:lnSpc>
              <a:spcAft>
                <a:spcPts val="800"/>
              </a:spcAft>
            </a:pPr>
            <a:r>
              <a:rPr sz="1300" b="0">
                <a:solidFill>
                  <a:srgbClr val="5F677A"/>
                </a:solidFill>
                <a:latin typeface="Arial"/>
                <a:ea typeface="Microsoft YaHei"/>
              </a:rPr>
              <a:t>noun (uncountable) /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压力;使紧张</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 stress can affect your sleep.”</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under pressure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处于压力之下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work well under pressure.”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overwhelmed</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不堪重负的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felt overwhelmed by the workload.”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anxiety</a:t>
            </a:r>
          </a:p>
          <a:p>
            <a:pPr algn="l">
              <a:lnSpc>
                <a:spcPct val="115000"/>
              </a:lnSpc>
              <a:spcAft>
                <a:spcPts val="800"/>
              </a:spcAft>
            </a:pPr>
            <a:r>
              <a:rPr sz="1300" b="0">
                <a:solidFill>
                  <a:srgbClr val="5F677A"/>
                </a:solidFill>
                <a:latin typeface="Arial"/>
                <a:ea typeface="Microsoft YaHei"/>
              </a:rPr>
              <a:t>noun (uncountable)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焦虑</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“Anxiety about deadlines kept me awake.”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unwind</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放松</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unwind by going for a run.”</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a break</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休息一下</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a break every hour.”</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Coping strategies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应对策略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off steam</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发泄情绪</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let off steam at the gym after work.”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switch off</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放松、不再想工作</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hard to switch off when you check emails at night.”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cope with</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应对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do you cope with so many deadlines?”</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at the end of your tether</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忍无可忍、精疲力竭</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“By Friday I was at the end of my tether.”</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things into perspective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客观看待</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walk helps me put things into perspective.”</a:t>
            </a:r>
          </a:p>
        </p:txBody>
      </p:sp>
      <p:sp>
        <p:nvSpPr>
          <p:cNvPr id="34" name="Rounded Rectangle 33"/>
          <p:cNvSpPr/>
          <p:nvPr/>
        </p:nvSpPr>
        <p:spPr>
          <a:xfrm>
            <a:off x="548640" y="55448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448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905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on top of someone</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55905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压得某人喘不过气</a:t>
            </a:r>
          </a:p>
        </p:txBody>
      </p:sp>
      <p:sp>
        <p:nvSpPr>
          <p:cNvPr id="38" name="TextBox 37"/>
          <p:cNvSpPr txBox="1"/>
          <p:nvPr/>
        </p:nvSpPr>
        <p:spPr>
          <a:xfrm>
            <a:off x="6675120" y="55905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all getting on top of me this month.”</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压得某人喘不过气</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on top of someone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发泄情绪</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 off steam</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忍无可忍、精疲力竭</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 the end of your tether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应对</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cope with</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焦虑</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anxiety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休息一下</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break</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压力;使紧张</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stress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不堪重负的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overwhelmed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overwhelmed</a:t>
            </a:r>
          </a:p>
        </p:txBody>
      </p:sp>
      <p:sp>
        <p:nvSpPr>
          <p:cNvPr id="10" name="Rounded Rectangle 9"/>
          <p:cNvSpPr/>
          <p:nvPr/>
        </p:nvSpPr>
        <p:spPr>
          <a:xfrm>
            <a:off x="3675887" y="987552"/>
            <a:ext cx="190195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under pressure</a:t>
            </a:r>
          </a:p>
        </p:txBody>
      </p:sp>
      <p:sp>
        <p:nvSpPr>
          <p:cNvPr id="11" name="Rounded Rectangle 10"/>
          <p:cNvSpPr/>
          <p:nvPr/>
        </p:nvSpPr>
        <p:spPr>
          <a:xfrm>
            <a:off x="5669279"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unwind</a:t>
            </a:r>
          </a:p>
        </p:txBody>
      </p:sp>
      <p:sp>
        <p:nvSpPr>
          <p:cNvPr id="12" name="Rounded Rectangle 11"/>
          <p:cNvSpPr/>
          <p:nvPr/>
        </p:nvSpPr>
        <p:spPr>
          <a:xfrm>
            <a:off x="6784847" y="987552"/>
            <a:ext cx="179222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let off steam</a:t>
            </a:r>
          </a:p>
        </p:txBody>
      </p:sp>
      <p:sp>
        <p:nvSpPr>
          <p:cNvPr id="13" name="Rounded Rectangle 12"/>
          <p:cNvSpPr/>
          <p:nvPr/>
        </p:nvSpPr>
        <p:spPr>
          <a:xfrm>
            <a:off x="8668511"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switch off</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felt _______ by the amount of work.</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overwhelmed</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Some people work well _______.</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 pressure</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_______ by listening to music after work.</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unwind</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_______ at the gym after a difficult day.</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 off steam</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It’s hard to _______ when you check emails at night.</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switch off</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 walk helps me put things into _______.</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perspective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stress (noun and verb), stressed (adjective, “I’m stressed”), stressful (adjective, “a stressful job”), not “I am stress”. Say cope with (not “cope to”), and spell anxiety correctly (not “anxity”).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Supporting a stressed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支持压力大的同事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colleague Jin has been working late for weeks and looks exhausted. You check in on him.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Mei Wang, colleague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Jin Park, stressed colleague</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Supporting a stressed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Hey Jin, you’ve been here late all week. Are you okay?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Jin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really, to be honest. It’s all getting on top of me.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to hear that. Do you want to talk about it?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There’s just too much to do, and everything is urgent. I’m at the end of my tether.</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exhausting. Have you spoken to Mr Lee about the workload?</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yet. I don’t want to look like I can’t cope.</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Supporting a stressed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Asking for help doesn’t make you look weak. It makes you look sensible. Maybe we can list your tasks and see what can wait.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might help. I think I need to switch off a bit too. I haven’t had a proper lunch in days.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don’t we go for a walk right now? Fifteen minutes will do you good.</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Okay. That sounds nice, actually.</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if you want, I can come with you to talk to Mr Lee.</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Mei. You’re a lifesaver.</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Supporting a stressed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support a stressed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Caring colleague. How you know your colleague is stressed: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Stressed colleague who doesn’t want to ask for help.</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overwhelmed · under pressure · let off steam · switch off · cope with · put things into perspective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gently, listen, offer two practical suggestions, and offer to help.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Jin says: “I’m fine, really.” You don’t believe him. Show you care without pushing.</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Jin and you feel angry with your manager. Practise stating the problem calmly.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 45-second “stress tips” talk for a team meeting.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main cause of stress in your workplace?</a:t>
            </a:r>
          </a:p>
          <a:p>
            <a:pPr algn="l">
              <a:lnSpc>
                <a:spcPct val="115000"/>
              </a:lnSpc>
              <a:spcAft>
                <a:spcPts val="800"/>
              </a:spcAft>
            </a:pPr>
            <a:r>
              <a:rPr sz="1400" b="0">
                <a:solidFill>
                  <a:srgbClr val="5F677A"/>
                </a:solidFill>
                <a:latin typeface="Arial"/>
                <a:ea typeface="Microsoft YaHei"/>
              </a:rPr>
              <a:t>💬 “In my workplace, the main cause is…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managers be trained to spot signs of stress?</a:t>
            </a:r>
          </a:p>
          <a:p>
            <a:pPr algn="l">
              <a:lnSpc>
                <a:spcPct val="115000"/>
              </a:lnSpc>
              <a:spcAft>
                <a:spcPts val="800"/>
              </a:spcAft>
            </a:pPr>
            <a:r>
              <a:rPr sz="1400" b="0">
                <a:solidFill>
                  <a:srgbClr val="5F677A"/>
                </a:solidFill>
                <a:latin typeface="Arial"/>
                <a:ea typeface="Microsoft YaHei"/>
              </a:rPr>
              <a:t>💬 “I believe so, because…” / “It would help if managers could…”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possible to switch off from work when you work from home?</a:t>
            </a:r>
          </a:p>
          <a:p>
            <a:pPr algn="l">
              <a:lnSpc>
                <a:spcPct val="115000"/>
              </a:lnSpc>
              <a:spcAft>
                <a:spcPts val="800"/>
              </a:spcAft>
            </a:pPr>
            <a:r>
              <a:rPr sz="1400" b="0">
                <a:solidFill>
                  <a:srgbClr val="5F677A"/>
                </a:solidFill>
                <a:latin typeface="Arial"/>
                <a:ea typeface="Microsoft YaHei"/>
              </a:rPr>
              <a:t>💬 “It’s difficult because the boundaries… but it helps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some stress be a good thing?</a:t>
            </a:r>
          </a:p>
          <a:p>
            <a:pPr algn="l">
              <a:lnSpc>
                <a:spcPct val="115000"/>
              </a:lnSpc>
              <a:spcAft>
                <a:spcPts val="800"/>
              </a:spcAft>
            </a:pPr>
            <a:r>
              <a:rPr sz="1400" b="0">
                <a:solidFill>
                  <a:srgbClr val="5F677A"/>
                </a:solidFill>
                <a:latin typeface="Arial"/>
                <a:ea typeface="Microsoft YaHei"/>
              </a:rPr>
              <a:t>💬 “A little stress can… but too much…”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It’s difficult because the boundaries disappear when your home is also your office. A few small rules can help: finishing at a set time, closing the laptop and going for a walk. I also keep my work phone in a drawer after six. It sounds simple, but a physical signal helps my brain understand that the day is over. Without those boundaries, I find I keep checking messages and never really relax.</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boundaries = 界限。”a set time” = 固定的时间。signal = 信号。”never really relax” 中副词的位置要注意。”It sounds simple, but…” 是让步表达。</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I’m very tired and nervous.</a:t>
                      </a:r>
                    </a:p>
                  </a:txBody>
                  <a:tcPr anchor="ctr">
                    <a:solidFill>
                      <a:srgbClr val="FFFFFF"/>
                    </a:solidFill>
                  </a:tcPr>
                </a:tc>
                <a:tc>
                  <a:txBody>
                    <a:bodyPr wrap="square"/>
                    <a:lstStyle/>
                    <a:p>
                      <a:r>
                        <a:rPr sz="1600" b="0">
                          <a:solidFill>
                            <a:srgbClr val="1F2A44"/>
                          </a:solidFill>
                          <a:latin typeface="Arial"/>
                          <a:ea typeface="Microsoft YaHei"/>
                        </a:rPr>
                        <a:t>I’m feeling quite overwhelmed at the moment.</a:t>
                      </a:r>
                    </a:p>
                  </a:txBody>
                  <a:tcPr anchor="ctr">
                    <a:solidFill>
                      <a:srgbClr val="FFFFFF"/>
                    </a:solidFill>
                  </a:tcPr>
                </a:tc>
                <a:tc>
                  <a:txBody>
                    <a:bodyPr wrap="square"/>
                    <a:lstStyle/>
                    <a:p>
                      <a:r>
                        <a:rPr sz="1600" b="0">
                          <a:solidFill>
                            <a:srgbClr val="FF6B5B"/>
                          </a:solidFill>
                          <a:latin typeface="Arial"/>
                          <a:ea typeface="Microsoft YaHei"/>
                        </a:rPr>
                        <a:t>更得体</a:t>
                      </a:r>
                    </a:p>
                  </a:txBody>
                  <a:tcPr anchor="ctr">
                    <a:solidFill>
                      <a:srgbClr val="FFFFFF"/>
                    </a:solidFill>
                  </a:tcPr>
                </a:tc>
              </a:tr>
              <a:tr h="652272">
                <a:tc>
                  <a:txBody>
                    <a:bodyPr wrap="square"/>
                    <a:lstStyle/>
                    <a:p>
                      <a:r>
                        <a:rPr sz="1600" b="1">
                          <a:solidFill>
                            <a:srgbClr val="1F2A44"/>
                          </a:solidFill>
                          <a:latin typeface="Arial"/>
                          <a:ea typeface="Microsoft YaHei"/>
                        </a:rPr>
                        <a:t>I can’t do anything.</a:t>
                      </a:r>
                    </a:p>
                  </a:txBody>
                  <a:tcPr anchor="ctr">
                    <a:solidFill>
                      <a:srgbClr val="FFEFD9"/>
                    </a:solidFill>
                  </a:tcPr>
                </a:tc>
                <a:tc>
                  <a:txBody>
                    <a:bodyPr wrap="square"/>
                    <a:lstStyle/>
                    <a:p>
                      <a:r>
                        <a:rPr sz="1600" b="0">
                          <a:solidFill>
                            <a:srgbClr val="1F2A44"/>
                          </a:solidFill>
                          <a:latin typeface="Arial"/>
                          <a:ea typeface="Microsoft YaHei"/>
                        </a:rPr>
                        <a:t>I’m struggling to keep up with the workload.</a:t>
                      </a:r>
                    </a:p>
                  </a:txBody>
                  <a:tcPr anchor="ctr">
                    <a:solidFill>
                      <a:srgbClr val="FFEFD9"/>
                    </a:solidFill>
                  </a:tcPr>
                </a:tc>
                <a:tc>
                  <a:txBody>
                    <a:bodyPr wrap="square"/>
                    <a:lstStyle/>
                    <a:p>
                      <a:r>
                        <a:rPr sz="1600" b="0">
                          <a:solidFill>
                            <a:srgbClr val="FF6B5B"/>
                          </a:solidFill>
                          <a:latin typeface="Arial"/>
                          <a:ea typeface="Microsoft YaHei"/>
                        </a:rPr>
                        <a:t>更具体</a:t>
                      </a:r>
                    </a:p>
                  </a:txBody>
                  <a:tcPr anchor="ctr">
                    <a:solidFill>
                      <a:srgbClr val="FFEFD9"/>
                    </a:solidFill>
                  </a:tcPr>
                </a:tc>
              </a:tr>
              <a:tr h="652272">
                <a:tc>
                  <a:txBody>
                    <a:bodyPr wrap="square"/>
                    <a:lstStyle/>
                    <a:p>
                      <a:r>
                        <a:rPr sz="1600" b="1">
                          <a:solidFill>
                            <a:srgbClr val="1F2A44"/>
                          </a:solidFill>
                          <a:latin typeface="Arial"/>
                          <a:ea typeface="Microsoft YaHei"/>
                        </a:rPr>
                        <a:t>You look bad.</a:t>
                      </a:r>
                    </a:p>
                  </a:txBody>
                  <a:tcPr anchor="ctr">
                    <a:solidFill>
                      <a:srgbClr val="FFFFFF"/>
                    </a:solidFill>
                  </a:tcPr>
                </a:tc>
                <a:tc>
                  <a:txBody>
                    <a:bodyPr wrap="square"/>
                    <a:lstStyle/>
                    <a:p>
                      <a:r>
                        <a:rPr sz="1600" b="0">
                          <a:solidFill>
                            <a:srgbClr val="1F2A44"/>
                          </a:solidFill>
                          <a:latin typeface="Arial"/>
                          <a:ea typeface="Microsoft YaHei"/>
                        </a:rPr>
                        <a:t>You look a bit tired. Is everything okay?</a:t>
                      </a:r>
                    </a:p>
                  </a:txBody>
                  <a:tcPr anchor="ctr">
                    <a:solidFill>
                      <a:srgbClr val="FFFFFF"/>
                    </a:solidFill>
                  </a:tcPr>
                </a:tc>
                <a:tc>
                  <a:txBody>
                    <a:bodyPr wrap="square"/>
                    <a:lstStyle/>
                    <a:p>
                      <a:r>
                        <a:rPr sz="1600" b="0">
                          <a:solidFill>
                            <a:srgbClr val="FF6B5B"/>
                          </a:solidFill>
                          <a:latin typeface="Arial"/>
                          <a:ea typeface="Microsoft YaHei"/>
                        </a:rPr>
                        <a:t>关心而不冒犯</a:t>
                      </a:r>
                    </a:p>
                  </a:txBody>
                  <a:tcPr anchor="ctr">
                    <a:solidFill>
                      <a:srgbClr val="FFFFFF"/>
                    </a:solidFill>
                  </a:tcPr>
                </a:tc>
              </a:tr>
              <a:tr h="652272">
                <a:tc>
                  <a:txBody>
                    <a:bodyPr wrap="square"/>
                    <a:lstStyle/>
                    <a:p>
                      <a:r>
                        <a:rPr sz="1600" b="1">
                          <a:solidFill>
                            <a:srgbClr val="1F2A44"/>
                          </a:solidFill>
                          <a:latin typeface="Arial"/>
                          <a:ea typeface="Microsoft YaHei"/>
                        </a:rPr>
                        <a:t>Go away, I’m busy.</a:t>
                      </a:r>
                    </a:p>
                  </a:txBody>
                  <a:tcPr anchor="ctr">
                    <a:solidFill>
                      <a:srgbClr val="FFEFD9"/>
                    </a:solidFill>
                  </a:tcPr>
                </a:tc>
                <a:tc>
                  <a:txBody>
                    <a:bodyPr wrap="square"/>
                    <a:lstStyle/>
                    <a:p>
                      <a:r>
                        <a:rPr sz="1600" b="0">
                          <a:solidFill>
                            <a:srgbClr val="1F2A44"/>
                          </a:solidFill>
                          <a:latin typeface="Arial"/>
                          <a:ea typeface="Microsoft YaHei"/>
                        </a:rPr>
                        <a:t>I’m up against a deadline. Can we talk later?</a:t>
                      </a:r>
                    </a:p>
                  </a:txBody>
                  <a:tcPr anchor="ctr">
                    <a:solidFill>
                      <a:srgbClr val="FFEFD9"/>
                    </a:solidFill>
                  </a:tcPr>
                </a:tc>
                <a:tc>
                  <a:txBody>
                    <a:bodyPr wrap="square"/>
                    <a:lstStyle/>
                    <a:p>
                      <a:r>
                        <a:rPr sz="1600" b="0">
                          <a:solidFill>
                            <a:srgbClr val="FF6B5B"/>
                          </a:solidFill>
                          <a:latin typeface="Arial"/>
                          <a:ea typeface="Microsoft YaHei"/>
                        </a:rPr>
                        <a:t>解释原因</a:t>
                      </a:r>
                    </a:p>
                  </a:txBody>
                  <a:tcPr anchor="ctr">
                    <a:solidFill>
                      <a:srgbClr val="FFEFD9"/>
                    </a:solidFill>
                  </a:tcPr>
                </a:tc>
              </a:tr>
              <a:tr h="652272">
                <a:tc>
                  <a:txBody>
                    <a:bodyPr wrap="square"/>
                    <a:lstStyle/>
                    <a:p>
                      <a:r>
                        <a:rPr sz="1600" b="1">
                          <a:solidFill>
                            <a:srgbClr val="1F2A44"/>
                          </a:solidFill>
                          <a:latin typeface="Arial"/>
                          <a:ea typeface="Microsoft YaHei"/>
                        </a:rPr>
                        <a:t>I need to relax.</a:t>
                      </a:r>
                    </a:p>
                  </a:txBody>
                  <a:tcPr anchor="ctr">
                    <a:solidFill>
                      <a:srgbClr val="FFFFFF"/>
                    </a:solidFill>
                  </a:tcPr>
                </a:tc>
                <a:tc>
                  <a:txBody>
                    <a:bodyPr wrap="square"/>
                    <a:lstStyle/>
                    <a:p>
                      <a:r>
                        <a:rPr sz="1600" b="0">
                          <a:solidFill>
                            <a:srgbClr val="1F2A44"/>
                          </a:solidFill>
                          <a:latin typeface="Arial"/>
                          <a:ea typeface="Microsoft YaHei"/>
                        </a:rPr>
                        <a:t>I need to switch off and recharge.</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bl>
          </a:graphicData>
        </a:graphic>
      </p:graphicFrame>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Gentle check-ins: </a:t>
            </a:r>
            <a:r>
              <a:rPr sz="1700" b="0">
                <a:solidFill>
                  <a:srgbClr val="1F2A44"/>
                </a:solidFill>
                <a:latin typeface="Arial"/>
                <a:ea typeface="Microsoft YaHei"/>
              </a:rPr>
              <a:t>Are you okay? / You seem a bit down. / Do you want to talk? Avoid “What’s wrong with you?”</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Suggestions: </a:t>
            </a:r>
            <a:r>
              <a:rPr sz="1700" b="0">
                <a:solidFill>
                  <a:srgbClr val="1F2A44"/>
                </a:solidFill>
                <a:latin typeface="Arial"/>
                <a:ea typeface="Microsoft YaHei"/>
              </a:rPr>
              <a:t>Why don’t we…? / How about + -ing? / Maybe we could…</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Present perfect continuous: </a:t>
            </a:r>
            <a:r>
              <a:rPr sz="1700" b="0">
                <a:solidFill>
                  <a:srgbClr val="1F2A44"/>
                </a:solidFill>
                <a:latin typeface="Arial"/>
                <a:ea typeface="Microsoft YaHei"/>
              </a:rPr>
              <a:t>“You’ve been working late all week” focuses on the activity.</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Adjectives: </a:t>
            </a:r>
            <a:r>
              <a:rPr sz="1700" b="0">
                <a:solidFill>
                  <a:srgbClr val="1F2A44"/>
                </a:solidFill>
                <a:latin typeface="Arial"/>
                <a:ea typeface="Microsoft YaHei"/>
              </a:rPr>
              <a:t>stressed (person), stressful (situation); tired, tiring; worried, worrying.</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very stress.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very stressed.</a:t>
            </a:r>
          </a:p>
          <a:p>
            <a:pPr algn="l">
              <a:spcAft>
                <a:spcPts val="200"/>
              </a:spcAft>
            </a:pPr>
            <a:r>
              <a:rPr sz="1200" b="0">
                <a:solidFill>
                  <a:srgbClr val="FFFFFF"/>
                </a:solidFill>
                <a:latin typeface="Arial"/>
                <a:ea typeface="Microsoft YaHei"/>
              </a:rPr>
              <a:t>stress 是名词;stressed 是形容词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job is stressed.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job is stressful.</a:t>
            </a:r>
          </a:p>
          <a:p>
            <a:pPr algn="l">
              <a:spcAft>
                <a:spcPts val="200"/>
              </a:spcAft>
            </a:pPr>
            <a:r>
              <a:rPr sz="1200" b="0">
                <a:solidFill>
                  <a:srgbClr val="FFFFFF"/>
                </a:solidFill>
                <a:latin typeface="Arial"/>
                <a:ea typeface="Microsoft YaHei"/>
              </a:rPr>
              <a:t>形容事物用 stressful</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bear with the pressure.</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can’t bear the pressure. / I can’t cope with the pressure.</a:t>
            </a:r>
          </a:p>
          <a:p>
            <a:pPr algn="l">
              <a:spcAft>
                <a:spcPts val="200"/>
              </a:spcAft>
            </a:pPr>
            <a:r>
              <a:rPr sz="1200" b="0">
                <a:solidFill>
                  <a:srgbClr val="FFFFFF"/>
                </a:solidFill>
                <a:latin typeface="Arial"/>
                <a:ea typeface="Microsoft YaHei"/>
              </a:rPr>
              <a:t>bear 是及物动词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much pressure.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under a lot of pressure.</a:t>
            </a:r>
          </a:p>
          <a:p>
            <a:pPr algn="l">
              <a:spcAft>
                <a:spcPts val="200"/>
              </a:spcAft>
            </a:pPr>
            <a:r>
              <a:rPr sz="1200" b="0">
                <a:solidFill>
                  <a:srgbClr val="FFFFFF"/>
                </a:solidFill>
                <a:latin typeface="Arial"/>
                <a:ea typeface="Microsoft YaHei"/>
              </a:rPr>
              <a:t>under pressure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stay up late worry about work.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stay up late worrying about work.</a:t>
            </a:r>
          </a:p>
          <a:p>
            <a:pPr algn="l">
              <a:spcAft>
                <a:spcPts val="200"/>
              </a:spcAft>
            </a:pPr>
            <a:r>
              <a:rPr sz="1200" b="0">
                <a:solidFill>
                  <a:srgbClr val="FFFFFF"/>
                </a:solidFill>
                <a:latin typeface="Arial"/>
                <a:ea typeface="Microsoft YaHei"/>
              </a:rPr>
              <a:t>动名词/分词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How do you relax yourself?</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do you relax?</a:t>
            </a:r>
          </a:p>
          <a:p>
            <a:pPr algn="l">
              <a:spcAft>
                <a:spcPts val="200"/>
              </a:spcAft>
            </a:pPr>
            <a:r>
              <a:rPr sz="1200" b="0">
                <a:solidFill>
                  <a:srgbClr val="FFFFFF"/>
                </a:solidFill>
                <a:latin typeface="Arial"/>
                <a:ea typeface="Microsoft YaHei"/>
              </a:rPr>
              <a:t>relax 本身即可</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stressed / stressful, under pressure, and the -ing form after stay 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Mental health at work: </a:t>
            </a:r>
            <a:r>
              <a:rPr sz="1700" b="0">
                <a:solidFill>
                  <a:srgbClr val="1F2A44"/>
                </a:solidFill>
                <a:latin typeface="Arial"/>
                <a:ea typeface="Microsoft YaHei"/>
              </a:rPr>
              <a:t>In the UK and US, talking about stress is increasingly acceptable. Many companies offer an Employee Assistance Programme (EAP) with free confidential counselling.</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Time off for stress: </a:t>
            </a:r>
            <a:r>
              <a:rPr sz="1700" b="0">
                <a:solidFill>
                  <a:srgbClr val="1F2A44"/>
                </a:solidFill>
                <a:latin typeface="Arial"/>
                <a:ea typeface="Microsoft YaHei"/>
              </a:rPr>
              <a:t>In the UK, stress-related absence is recognised by doctors. You can say “I’m taking time off because of stress.”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Colleague support: </a:t>
            </a:r>
            <a:r>
              <a:rPr sz="1700" b="0">
                <a:solidFill>
                  <a:srgbClr val="1F2A44"/>
                </a:solidFill>
                <a:latin typeface="Arial"/>
                <a:ea typeface="Microsoft YaHei"/>
              </a:rPr>
              <a:t>A short, sincere “How are you really?” is appreciated, but respect privacy if the person does not want to talk.</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stressed 形容人,stressful 形容事物。同事压力大时,先倾听,再提供一两个具体选项(一起散步、帮忙梳理任务),不要急着评判。</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the causes and signs of stress.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coping strategies using Why don’t we…? and How about…?</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check on a stressed colleague kindly.</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stressed / stressful and similar adjectives correctly.</a:t>
            </a:r>
          </a:p>
        </p:txBody>
      </p:sp>
      <p:sp>
        <p:nvSpPr>
          <p:cNvPr id="24" name="TextBox 23"/>
          <p:cNvSpPr txBox="1"/>
          <p:nvPr/>
        </p:nvSpPr>
        <p:spPr>
          <a:xfrm>
            <a:off x="9539935" y="36057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22 Stress Relief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98755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98755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-ed / -ing adjectives (stressed / stressful), prepositions (cope with, under pressure) and the -ing form after worry about.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 · Lesson 23 Workaholics Anonymous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183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Workaholics Anonymous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工作狂互助会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overwork, workaholism and work-life balance, and set healthy boundaries without losing ambition.</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know a workaholic? How can you tell?</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you work too much? What would you change?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some people find it hard to stop working?</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a hard worker and a workaholic?</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long working hours respected in your culture?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第 2 题用 would 谈假设。workaholic 来自 work + alcoholic。”Anonymous” 取自 “Alcoholics Anonymous”(嗜酒者互助会)的玩笑说法。</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to a workaholic friend why they should slow down, and how.</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show concern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give a reason</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suggest a small change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offer support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I’m a bit worried about you because…   💬 Have you considered…?   💬 I’d be happy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劝人时先表达关心。”Have you considered + -ing?” 比 “You should” 更委婉。</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Reading · When Work Becomes Everything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Being dedicated to your job is admirable. Being unable to stop is something else. Workaholics tend to feel anxious when they are not working, check messages late at night and cancel plans to finish just one more task. From the outside, they often look like ideal employees, which is why the habit can go unnoticed for years. The costs, however, add up: broken sleep, strained relationships and, eventually, burnout. Studies suggest that long hours often reduce quality and creativity rather than increase them. Fortunately, changing the pattern does not require drastic steps. Setting a fixed finishing time, taking real holidays and spending time on interests outside work are good starting points. Managers have a role too. If they reward late-night emails, they are encouraging the very behaviour that harms their staff.</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can a workaholic look to others?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Like an ideal employee, so the habit can go unnoticed for years.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are some costs of workaholism?</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Broken sleep, strained relationships and burnout.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can managers make the problem worse?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rewarding late-night emails.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Overwork and balance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过度工作与平衡</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workaholic</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工作狂</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a workaholic who answers emails at midnight.”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work-life balance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工作与生活的平衡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good work-life balance is important to me.”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overtime</a:t>
            </a:r>
          </a:p>
          <a:p>
            <a:pPr algn="l">
              <a:lnSpc>
                <a:spcPct val="115000"/>
              </a:lnSpc>
              <a:spcAft>
                <a:spcPts val="800"/>
              </a:spcAft>
            </a:pPr>
            <a:r>
              <a:rPr sz="1300" b="0">
                <a:solidFill>
                  <a:srgbClr val="5F677A"/>
                </a:solidFill>
                <a:latin typeface="Arial"/>
                <a:ea typeface="Microsoft YaHei"/>
              </a:rPr>
              <a:t>noun (uncountable)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加班</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did a lot of overtime last month.”</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burn out</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精疲力竭</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burned out after two years of nonstop work.”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boundaries</a:t>
            </a:r>
          </a:p>
          <a:p>
            <a:pPr algn="l">
              <a:lnSpc>
                <a:spcPct val="115000"/>
              </a:lnSpc>
              <a:spcAft>
                <a:spcPts val="800"/>
              </a:spcAft>
            </a:pPr>
            <a:r>
              <a:rPr sz="1300" b="0">
                <a:solidFill>
                  <a:srgbClr val="5F677A"/>
                </a:solidFill>
                <a:latin typeface="Arial"/>
                <a:ea typeface="Microsoft YaHei"/>
              </a:rPr>
              <a:t>noun (plural)</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界限</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“Set clear boundaries between work and home.”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dedicated</a:t>
            </a:r>
          </a:p>
          <a:p>
            <a:pPr algn="l">
              <a:lnSpc>
                <a:spcPct val="115000"/>
              </a:lnSpc>
              <a:spcAft>
                <a:spcPts val="800"/>
              </a:spcAft>
            </a:pPr>
            <a:r>
              <a:rPr sz="1300" b="0">
                <a:solidFill>
                  <a:srgbClr val="5F677A"/>
                </a:solidFill>
                <a:latin typeface="Arial"/>
                <a:ea typeface="Microsoft YaHei"/>
              </a:rPr>
              <a:t>adjective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敬业的</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a dedicated professional.”</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Healthy habits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健康习惯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work around the clock</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夜以继日地工作</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team worked around the clock to finish the project.”</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the candle at both ends</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过度透支精力</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burning the candle at both ends with two jobs.”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draw a line</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划清界限</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need to draw a line between work and rest.”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unplug</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断开联系</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unplug completely on holiday.”</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glued to (your phone)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离不开(手机)</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glued to his phone, even at dinner.”</a:t>
            </a:r>
          </a:p>
        </p:txBody>
      </p:sp>
      <p:sp>
        <p:nvSpPr>
          <p:cNvPr id="34" name="Rounded Rectangle 33"/>
          <p:cNvSpPr/>
          <p:nvPr/>
        </p:nvSpPr>
        <p:spPr>
          <a:xfrm>
            <a:off x="548640" y="55448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448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905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time off</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55905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休假</a:t>
            </a:r>
          </a:p>
        </p:txBody>
      </p:sp>
      <p:sp>
        <p:nvSpPr>
          <p:cNvPr id="38" name="TextBox 37"/>
          <p:cNvSpPr txBox="1"/>
          <p:nvPr/>
        </p:nvSpPr>
        <p:spPr>
          <a:xfrm>
            <a:off x="6675120" y="55905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should take time off when you’re ill.”</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过度透支精力</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the candle at both ends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夜以继日地工作</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 around the clock</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精疲力竭</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out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工作与生活的平衡</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work-life balance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加班</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overtime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敬业的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dedicated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工作狂</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workaholic</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离不开(手机)</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glued to (your phone)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workaholic</a:t>
            </a:r>
          </a:p>
        </p:txBody>
      </p:sp>
      <p:sp>
        <p:nvSpPr>
          <p:cNvPr id="10" name="Rounded Rectangle 9"/>
          <p:cNvSpPr/>
          <p:nvPr/>
        </p:nvSpPr>
        <p:spPr>
          <a:xfrm>
            <a:off x="3566160"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overtime</a:t>
            </a:r>
          </a:p>
        </p:txBody>
      </p:sp>
      <p:sp>
        <p:nvSpPr>
          <p:cNvPr id="11" name="Rounded Rectangle 10"/>
          <p:cNvSpPr/>
          <p:nvPr/>
        </p:nvSpPr>
        <p:spPr>
          <a:xfrm>
            <a:off x="4901184"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boundaries</a:t>
            </a:r>
          </a:p>
        </p:txBody>
      </p:sp>
      <p:sp>
        <p:nvSpPr>
          <p:cNvPr id="12" name="Rounded Rectangle 11"/>
          <p:cNvSpPr/>
          <p:nvPr/>
        </p:nvSpPr>
        <p:spPr>
          <a:xfrm>
            <a:off x="6455664"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burn out</a:t>
            </a:r>
          </a:p>
        </p:txBody>
      </p:sp>
      <p:sp>
        <p:nvSpPr>
          <p:cNvPr id="13" name="Rounded Rectangle 12"/>
          <p:cNvSpPr/>
          <p:nvPr/>
        </p:nvSpPr>
        <p:spPr>
          <a:xfrm>
            <a:off x="7790688"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draw a line</a:t>
            </a:r>
          </a:p>
        </p:txBody>
      </p:sp>
      <p:sp>
        <p:nvSpPr>
          <p:cNvPr id="14" name="Rounded Rectangle 13"/>
          <p:cNvSpPr/>
          <p:nvPr/>
        </p:nvSpPr>
        <p:spPr>
          <a:xfrm>
            <a:off x="9454895"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unplug</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He’s a _______ who answers emails at midnight.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workaholic</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did a lot of _______ last month.</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overtime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Set clear _______ between work and home.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boundaries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If you keep working like this, you’ll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out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You need to _______ between work and rest.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draw a line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_______ completely when I’m on holiday.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unplug</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workaholic (one word), boundaries (not “boundries”), overtime is uncountable (not “an overtime”). Burn out is the verb and burnout the noun. Work-life balance needs hyphens.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Talking to a friend who works too much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劝说工作狂朋友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friend Alan, a manager, works until midnight every day. You are worried and talk to him at lunch.</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Sophie Liu, friend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Alan Chen, workaholic friend</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to a friend who works too much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Alan, can I be honest with you? I’m a bit worried about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Alan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Me? I’m fine. I’m just busy.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You’ve been saying that for months. Last week you replied to my message at 1 a.m.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when I get my best work done.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Maybe, but you look exhausted. Have you considered setting a fixed finishing time?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can’t. If I stop, things pile up.</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to a friend who works too much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get that. But do you think working all hours is really making you more effective?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Honestly, I make more mistakes lately.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Why don’t you try finishing at seven for two weeks and see what happens?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Two weeks... That’s a challenge. What would I do with the time?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 for a walk, cook, see friends. Anything that isn’t work. I’d be happy to join you on Fridays.</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Okay, Sophie. I’ll give it a try. Thanks for saying something.</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Talking to a friend who works too much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talk to a friend who overworks.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Concerned friend. What you have noticed: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Workaholic who resists.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workaholic · burn out · draw a line · boundaries · take time off · unplug</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Show concern, give one reason and suggest a small change.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Alan says: “My boss expects me to be available.” Suggest how he could talk to his boss.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Alan gets angry. Stay calm and repeat your concern gently.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Alan. Defend your working style, then admit one problem.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some people become workaholics?</a:t>
            </a:r>
          </a:p>
          <a:p>
            <a:pPr algn="l">
              <a:lnSpc>
                <a:spcPct val="115000"/>
              </a:lnSpc>
              <a:spcAft>
                <a:spcPts val="800"/>
              </a:spcAft>
            </a:pPr>
            <a:r>
              <a:rPr sz="1400" b="0">
                <a:solidFill>
                  <a:srgbClr val="5F677A"/>
                </a:solidFill>
                <a:latin typeface="Arial"/>
                <a:ea typeface="Microsoft YaHei"/>
              </a:rPr>
              <a:t>💬 “Some people feel their value depends on…” / “It might be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discourage overwork? How?</a:t>
            </a:r>
          </a:p>
          <a:p>
            <a:pPr algn="l">
              <a:lnSpc>
                <a:spcPct val="115000"/>
              </a:lnSpc>
              <a:spcAft>
                <a:spcPts val="800"/>
              </a:spcAft>
            </a:pPr>
            <a:r>
              <a:rPr sz="1400" b="0">
                <a:solidFill>
                  <a:srgbClr val="5F677A"/>
                </a:solidFill>
                <a:latin typeface="Arial"/>
                <a:ea typeface="Microsoft YaHei"/>
              </a:rPr>
              <a:t>💬 “They could… by…” / “Leaders should set an example by…”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“hustle culture” healthy?</a:t>
            </a:r>
          </a:p>
          <a:p>
            <a:pPr algn="l">
              <a:lnSpc>
                <a:spcPct val="115000"/>
              </a:lnSpc>
              <a:spcAft>
                <a:spcPts val="800"/>
              </a:spcAft>
            </a:pPr>
            <a:r>
              <a:rPr sz="1400" b="0">
                <a:solidFill>
                  <a:srgbClr val="5F677A"/>
                </a:solidFill>
                <a:latin typeface="Arial"/>
                <a:ea typeface="Microsoft YaHei"/>
              </a:rPr>
              <a:t>💬 “It can inspire…, but it also leads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a realistic work-life balance for you?</a:t>
            </a:r>
          </a:p>
          <a:p>
            <a:pPr algn="l">
              <a:lnSpc>
                <a:spcPct val="115000"/>
              </a:lnSpc>
              <a:spcAft>
                <a:spcPts val="800"/>
              </a:spcAft>
            </a:pPr>
            <a:r>
              <a:rPr sz="1400" b="0">
                <a:solidFill>
                  <a:srgbClr val="5F677A"/>
                </a:solidFill>
                <a:latin typeface="Arial"/>
                <a:ea typeface="Microsoft YaHei"/>
              </a:rPr>
              <a:t>💬 “For me, a realistic balance 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Hustle culture can inspire people to work hard and chase big goals, but it also leads to burnout and a feeling that you are never doing enough. Resting is seen as lazy, which is unhelpful. I think sustainable success comes from steady effort and recovery, not from constantly pushing yourself. The most productive people I know work hard, but they also protect their sleep and their weekends.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hustle culture = 拼命文化。sustainable = 可持续的。”seen as lazy” = 被看作懒惰。chase goals = 追逐目标。</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He works too much.</a:t>
                      </a:r>
                    </a:p>
                  </a:txBody>
                  <a:tcPr anchor="ctr">
                    <a:solidFill>
                      <a:srgbClr val="FFFFFF"/>
                    </a:solidFill>
                  </a:tcPr>
                </a:tc>
                <a:tc>
                  <a:txBody>
                    <a:bodyPr wrap="square"/>
                    <a:lstStyle/>
                    <a:p>
                      <a:r>
                        <a:rPr sz="1600" b="0">
                          <a:solidFill>
                            <a:srgbClr val="1F2A44"/>
                          </a:solidFill>
                          <a:latin typeface="Arial"/>
                          <a:ea typeface="Microsoft YaHei"/>
                        </a:rPr>
                        <a:t>He tends to overwork and struggles to switch off.</a:t>
                      </a:r>
                    </a:p>
                  </a:txBody>
                  <a:tcPr anchor="ctr">
                    <a:solidFill>
                      <a:srgbClr val="FFFFFF"/>
                    </a:solidFill>
                  </a:tcPr>
                </a:tc>
                <a:tc>
                  <a:txBody>
                    <a:bodyPr wrap="square"/>
                    <a:lstStyle/>
                    <a:p>
                      <a:r>
                        <a:rPr sz="1600" b="0">
                          <a:solidFill>
                            <a:srgbClr val="FF6B5B"/>
                          </a:solidFill>
                          <a:latin typeface="Arial"/>
                          <a:ea typeface="Microsoft YaHei"/>
                        </a:rPr>
                        <a:t>描述行为</a:t>
                      </a:r>
                    </a:p>
                  </a:txBody>
                  <a:tcPr anchor="ctr">
                    <a:solidFill>
                      <a:srgbClr val="FFFFFF"/>
                    </a:solidFill>
                  </a:tcPr>
                </a:tc>
              </a:tr>
              <a:tr h="652272">
                <a:tc>
                  <a:txBody>
                    <a:bodyPr wrap="square"/>
                    <a:lstStyle/>
                    <a:p>
                      <a:r>
                        <a:rPr sz="1600" b="1">
                          <a:solidFill>
                            <a:srgbClr val="1F2A44"/>
                          </a:solidFill>
                          <a:latin typeface="Arial"/>
                          <a:ea typeface="Microsoft YaHei"/>
                        </a:rPr>
                        <a:t>You should stop.</a:t>
                      </a:r>
                    </a:p>
                  </a:txBody>
                  <a:tcPr anchor="ctr">
                    <a:solidFill>
                      <a:srgbClr val="FFEFD9"/>
                    </a:solidFill>
                  </a:tcPr>
                </a:tc>
                <a:tc>
                  <a:txBody>
                    <a:bodyPr wrap="square"/>
                    <a:lstStyle/>
                    <a:p>
                      <a:r>
                        <a:rPr sz="1600" b="0">
                          <a:solidFill>
                            <a:srgbClr val="1F2A44"/>
                          </a:solidFill>
                          <a:latin typeface="Arial"/>
                          <a:ea typeface="Microsoft YaHei"/>
                        </a:rPr>
                        <a:t>Have you considered cutting back on your hours?</a:t>
                      </a:r>
                    </a:p>
                  </a:txBody>
                  <a:tcPr anchor="ctr">
                    <a:solidFill>
                      <a:srgbClr val="FFEFD9"/>
                    </a:solidFill>
                  </a:tcPr>
                </a:tc>
                <a:tc>
                  <a:txBody>
                    <a:bodyPr wrap="square"/>
                    <a:lstStyle/>
                    <a:p>
                      <a:r>
                        <a:rPr sz="1600" b="0">
                          <a:solidFill>
                            <a:srgbClr val="FF6B5B"/>
                          </a:solidFill>
                          <a:latin typeface="Arial"/>
                          <a:ea typeface="Microsoft YaHei"/>
                        </a:rPr>
                        <a:t>委婉建议</a:t>
                      </a:r>
                    </a:p>
                  </a:txBody>
                  <a:tcPr anchor="ctr">
                    <a:solidFill>
                      <a:srgbClr val="FFEFD9"/>
                    </a:solidFill>
                  </a:tcPr>
                </a:tc>
              </a:tr>
              <a:tr h="652272">
                <a:tc>
                  <a:txBody>
                    <a:bodyPr wrap="square"/>
                    <a:lstStyle/>
                    <a:p>
                      <a:r>
                        <a:rPr sz="1600" b="1">
                          <a:solidFill>
                            <a:srgbClr val="1F2A44"/>
                          </a:solidFill>
                          <a:latin typeface="Arial"/>
                          <a:ea typeface="Microsoft YaHei"/>
                        </a:rPr>
                        <a:t>I have no time.</a:t>
                      </a:r>
                    </a:p>
                  </a:txBody>
                  <a:tcPr anchor="ctr">
                    <a:solidFill>
                      <a:srgbClr val="FFFFFF"/>
                    </a:solidFill>
                  </a:tcPr>
                </a:tc>
                <a:tc>
                  <a:txBody>
                    <a:bodyPr wrap="square"/>
                    <a:lstStyle/>
                    <a:p>
                      <a:r>
                        <a:rPr sz="1600" b="0">
                          <a:solidFill>
                            <a:srgbClr val="1F2A44"/>
                          </a:solidFill>
                          <a:latin typeface="Arial"/>
                          <a:ea typeface="Microsoft YaHei"/>
                        </a:rPr>
                        <a:t>I’m stretched very thin at the moment.</a:t>
                      </a:r>
                    </a:p>
                  </a:txBody>
                  <a:tcPr anchor="ctr">
                    <a:solidFill>
                      <a:srgbClr val="FFFFFF"/>
                    </a:solidFill>
                  </a:tcPr>
                </a:tc>
                <a:tc>
                  <a:txBody>
                    <a:bodyPr wrap="square"/>
                    <a:lstStyle/>
                    <a:p>
                      <a:r>
                        <a:rPr sz="1600" b="0">
                          <a:solidFill>
                            <a:srgbClr val="FF6B5B"/>
                          </a:solidFill>
                          <a:latin typeface="Arial"/>
                          <a:ea typeface="Microsoft YaHei"/>
                        </a:rPr>
                        <a:t>习语:精力被摊得太薄</a:t>
                      </a:r>
                    </a:p>
                  </a:txBody>
                  <a:tcPr anchor="ctr">
                    <a:solidFill>
                      <a:srgbClr val="FFFFFF"/>
                    </a:solidFill>
                  </a:tcPr>
                </a:tc>
              </a:tr>
              <a:tr h="652272">
                <a:tc>
                  <a:txBody>
                    <a:bodyPr wrap="square"/>
                    <a:lstStyle/>
                    <a:p>
                      <a:r>
                        <a:rPr sz="1600" b="1">
                          <a:solidFill>
                            <a:srgbClr val="1F2A44"/>
                          </a:solidFill>
                          <a:latin typeface="Arial"/>
                          <a:ea typeface="Microsoft YaHei"/>
                        </a:rPr>
                        <a:t>I never rest.</a:t>
                      </a:r>
                    </a:p>
                  </a:txBody>
                  <a:tcPr anchor="ctr">
                    <a:solidFill>
                      <a:srgbClr val="FFEFD9"/>
                    </a:solidFill>
                  </a:tcPr>
                </a:tc>
                <a:tc>
                  <a:txBody>
                    <a:bodyPr wrap="square"/>
                    <a:lstStyle/>
                    <a:p>
                      <a:r>
                        <a:rPr sz="1600" b="0">
                          <a:solidFill>
                            <a:srgbClr val="1F2A44"/>
                          </a:solidFill>
                          <a:latin typeface="Arial"/>
                          <a:ea typeface="Microsoft YaHei"/>
                        </a:rPr>
                        <a:t>I haven’t had a proper break in months.</a:t>
                      </a:r>
                    </a:p>
                  </a:txBody>
                  <a:tcPr anchor="ctr">
                    <a:solidFill>
                      <a:srgbClr val="FFEFD9"/>
                    </a:solidFill>
                  </a:tcPr>
                </a:tc>
                <a:tc>
                  <a:txBody>
                    <a:bodyPr wrap="square"/>
                    <a:lstStyle/>
                    <a:p>
                      <a:r>
                        <a:rPr sz="1600" b="0">
                          <a:solidFill>
                            <a:srgbClr val="FF6B5B"/>
                          </a:solidFill>
                          <a:latin typeface="Arial"/>
                          <a:ea typeface="Microsoft YaHei"/>
                        </a:rPr>
                        <a:t>现在完成时</a:t>
                      </a:r>
                    </a:p>
                  </a:txBody>
                  <a:tcPr anchor="ctr">
                    <a:solidFill>
                      <a:srgbClr val="FFEFD9"/>
                    </a:solidFill>
                  </a:tcPr>
                </a:tc>
              </a:tr>
              <a:tr h="652272">
                <a:tc>
                  <a:txBody>
                    <a:bodyPr wrap="square"/>
                    <a:lstStyle/>
                    <a:p>
                      <a:r>
                        <a:rPr sz="1600" b="1">
                          <a:solidFill>
                            <a:srgbClr val="1F2A44"/>
                          </a:solidFill>
                          <a:latin typeface="Arial"/>
                          <a:ea typeface="Microsoft YaHei"/>
                        </a:rPr>
                        <a:t>My boss wants me always online.</a:t>
                      </a:r>
                    </a:p>
                  </a:txBody>
                  <a:tcPr anchor="ctr">
                    <a:solidFill>
                      <a:srgbClr val="FFFFFF"/>
                    </a:solidFill>
                  </a:tcPr>
                </a:tc>
                <a:tc>
                  <a:txBody>
                    <a:bodyPr wrap="square"/>
                    <a:lstStyle/>
                    <a:p>
                      <a:r>
                        <a:rPr sz="1600" b="0">
                          <a:solidFill>
                            <a:srgbClr val="1F2A44"/>
                          </a:solidFill>
                          <a:latin typeface="Arial"/>
                          <a:ea typeface="Microsoft YaHei"/>
                        </a:rPr>
                        <a:t>There’s an expectation that we’re always reachable.</a:t>
                      </a:r>
                    </a:p>
                  </a:txBody>
                  <a:tcPr anchor="ctr">
                    <a:solidFill>
                      <a:srgbClr val="FFFFFF"/>
                    </a:solidFill>
                  </a:tcPr>
                </a:tc>
                <a:tc>
                  <a:txBody>
                    <a:bodyPr wrap="square"/>
                    <a:lstStyle/>
                    <a:p>
                      <a:r>
                        <a:rPr sz="1600" b="0">
                          <a:solidFill>
                            <a:srgbClr val="FF6B5B"/>
                          </a:solidFill>
                          <a:latin typeface="Arial"/>
                          <a:ea typeface="Microsoft YaHei"/>
                        </a:rPr>
                        <a:t>描述期望</a:t>
                      </a:r>
                    </a:p>
                  </a:txBody>
                  <a:tcPr anchor="ctr">
                    <a:solidFill>
                      <a:srgbClr val="FFFFFF"/>
                    </a:solidFill>
                  </a:tcPr>
                </a:tc>
              </a:tr>
            </a:tbl>
          </a:graphicData>
        </a:graphic>
      </p:graphicFrame>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Present perfect continuous for duration and results: “I’ve been working late all month and I’m exhausted.”</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Suggestions: </a:t>
            </a:r>
            <a:r>
              <a:rPr sz="1700" b="0">
                <a:solidFill>
                  <a:srgbClr val="1F2A44"/>
                </a:solidFill>
                <a:latin typeface="Arial"/>
                <a:ea typeface="Microsoft YaHei"/>
              </a:rPr>
              <a:t>Have you considered + -ing? / Why not + verb? / It might be worth + -ing.</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Cut back on / cut down on: </a:t>
            </a:r>
            <a:r>
              <a:rPr sz="1700" b="0">
                <a:solidFill>
                  <a:srgbClr val="1F2A44"/>
                </a:solidFill>
                <a:latin typeface="Arial"/>
                <a:ea typeface="Microsoft YaHei"/>
              </a:rPr>
              <a:t>“I’m trying to cut back on overtime.”</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Uncountable nouns: </a:t>
            </a:r>
            <a:r>
              <a:rPr sz="1700" b="0">
                <a:solidFill>
                  <a:srgbClr val="1F2A44"/>
                </a:solidFill>
                <a:latin typeface="Arial"/>
                <a:ea typeface="Microsoft YaHei"/>
              </a:rPr>
              <a:t>overtime, rest, stress, advice, pressure. Say a lot of overtime.</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used to work late every 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used to working late every day.</a:t>
            </a:r>
          </a:p>
          <a:p>
            <a:pPr algn="l">
              <a:spcAft>
                <a:spcPts val="200"/>
              </a:spcAft>
            </a:pPr>
            <a:r>
              <a:rPr sz="1200" b="0">
                <a:solidFill>
                  <a:srgbClr val="FFFFFF"/>
                </a:solidFill>
                <a:latin typeface="Arial"/>
                <a:ea typeface="Microsoft YaHei"/>
              </a:rPr>
              <a:t>be used to +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a workaholic person.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a workaholic.</a:t>
            </a:r>
          </a:p>
          <a:p>
            <a:pPr algn="l">
              <a:spcAft>
                <a:spcPts val="200"/>
              </a:spcAft>
            </a:pPr>
            <a:r>
              <a:rPr sz="1200" b="0">
                <a:solidFill>
                  <a:srgbClr val="FFFFFF"/>
                </a:solidFill>
                <a:latin typeface="Arial"/>
                <a:ea typeface="Microsoft YaHei"/>
              </a:rPr>
              <a:t>workaholic 本身是名词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work overtime every days.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work overtime every day.</a:t>
            </a:r>
          </a:p>
          <a:p>
            <a:pPr algn="l">
              <a:spcAft>
                <a:spcPts val="200"/>
              </a:spcAft>
            </a:pPr>
            <a:r>
              <a:rPr sz="1200" b="0">
                <a:solidFill>
                  <a:srgbClr val="FFFFFF"/>
                </a:solidFill>
                <a:latin typeface="Arial"/>
                <a:ea typeface="Microsoft YaHei"/>
              </a:rPr>
              <a:t>every day 用单数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Work too much is bad for health.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Working too much is bad for your health.</a:t>
            </a:r>
          </a:p>
          <a:p>
            <a:pPr algn="l">
              <a:spcAft>
                <a:spcPts val="200"/>
              </a:spcAft>
            </a:pPr>
            <a:r>
              <a:rPr sz="1200" b="0">
                <a:solidFill>
                  <a:srgbClr val="FFFFFF"/>
                </a:solidFill>
                <a:latin typeface="Arial"/>
                <a:ea typeface="Microsoft YaHei"/>
              </a:rPr>
              <a:t>动名词作主语</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have enough time for my family and rest.</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have enough time for my family or for rest.</a:t>
            </a:r>
          </a:p>
          <a:p>
            <a:pPr algn="l">
              <a:spcAft>
                <a:spcPts val="200"/>
              </a:spcAft>
            </a:pPr>
            <a:r>
              <a:rPr sz="1200" b="0">
                <a:solidFill>
                  <a:srgbClr val="FFFFFF"/>
                </a:solidFill>
                <a:latin typeface="Arial"/>
                <a:ea typeface="Microsoft YaHei"/>
              </a:rPr>
              <a:t>否定句用 or</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get burnout.</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suffering from burnout. / I’m burnt out.</a:t>
            </a:r>
          </a:p>
          <a:p>
            <a:pPr algn="l">
              <a:spcAft>
                <a:spcPts val="200"/>
              </a:spcAft>
            </a:pPr>
            <a:r>
              <a:rPr sz="1200" b="0">
                <a:solidFill>
                  <a:srgbClr val="FFFFFF"/>
                </a:solidFill>
                <a:latin typeface="Arial"/>
                <a:ea typeface="Microsoft YaHei"/>
              </a:rPr>
              <a:t>固定搭配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used to + -ing, -ing as subject, and every day (singular).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6012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960120"/>
          </a:xfrm>
          <a:prstGeom prst="rect">
            <a:avLst/>
          </a:prstGeom>
          <a:noFill/>
        </p:spPr>
        <p:txBody>
          <a:bodyPr wrap="square" anchor="ctr">
            <a:spAutoFit/>
          </a:bodyPr>
          <a:lstStyle/>
          <a:p>
            <a:r>
              <a:rPr sz="1700" b="1">
                <a:solidFill>
                  <a:srgbClr val="FF6B5B"/>
                </a:solidFill>
                <a:latin typeface="Arial"/>
                <a:ea typeface="Microsoft YaHei"/>
              </a:rPr>
              <a:t>Long hours: </a:t>
            </a:r>
            <a:r>
              <a:rPr sz="1700" b="0">
                <a:solidFill>
                  <a:srgbClr val="1F2A44"/>
                </a:solidFill>
                <a:latin typeface="Arial"/>
                <a:ea typeface="Microsoft YaHei"/>
              </a:rPr>
              <a:t>In the UK, the US and Germany, excessive overtime is increasingly seen as a management failure, not a badge of honour. In some Asian countries, long hours are still linked with commitment.</a:t>
            </a:r>
          </a:p>
        </p:txBody>
      </p:sp>
      <p:sp>
        <p:nvSpPr>
          <p:cNvPr id="12" name="Rounded Rectangle 11"/>
          <p:cNvSpPr/>
          <p:nvPr/>
        </p:nvSpPr>
        <p:spPr>
          <a:xfrm>
            <a:off x="548640" y="246888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468880"/>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68880"/>
            <a:ext cx="10728655" cy="701039"/>
          </a:xfrm>
          <a:prstGeom prst="rect">
            <a:avLst/>
          </a:prstGeom>
          <a:noFill/>
        </p:spPr>
        <p:txBody>
          <a:bodyPr wrap="square" anchor="ctr">
            <a:spAutoFit/>
          </a:bodyPr>
          <a:lstStyle/>
          <a:p>
            <a:r>
              <a:rPr sz="1700" b="1">
                <a:solidFill>
                  <a:srgbClr val="4A90E2"/>
                </a:solidFill>
                <a:latin typeface="Arial"/>
                <a:ea typeface="Microsoft YaHei"/>
              </a:rPr>
              <a:t>Right to disconnect: </a:t>
            </a:r>
            <a:r>
              <a:rPr sz="1700" b="0">
                <a:solidFill>
                  <a:srgbClr val="1F2A44"/>
                </a:solidFill>
                <a:latin typeface="Arial"/>
                <a:ea typeface="Microsoft YaHei"/>
              </a:rPr>
              <a:t>France and some other countries have rules about not answering work messages outside working hours. Companies elsewhere are experimenting with “no-email evenings”.</a:t>
            </a:r>
          </a:p>
        </p:txBody>
      </p:sp>
      <p:sp>
        <p:nvSpPr>
          <p:cNvPr id="15" name="Rounded Rectangle 14"/>
          <p:cNvSpPr/>
          <p:nvPr/>
        </p:nvSpPr>
        <p:spPr>
          <a:xfrm>
            <a:off x="548640" y="326135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61359"/>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261359"/>
            <a:ext cx="10728655" cy="701039"/>
          </a:xfrm>
          <a:prstGeom prst="rect">
            <a:avLst/>
          </a:prstGeom>
          <a:noFill/>
        </p:spPr>
        <p:txBody>
          <a:bodyPr wrap="square" anchor="ctr">
            <a:spAutoFit/>
          </a:bodyPr>
          <a:lstStyle/>
          <a:p>
            <a:r>
              <a:rPr sz="1700" b="1">
                <a:solidFill>
                  <a:srgbClr val="3CC49A"/>
                </a:solidFill>
                <a:latin typeface="Arial"/>
                <a:ea typeface="Microsoft YaHei"/>
              </a:rPr>
              <a:t>Talking about it: </a:t>
            </a:r>
            <a:r>
              <a:rPr sz="1700" b="0">
                <a:solidFill>
                  <a:srgbClr val="1F2A44"/>
                </a:solidFill>
                <a:latin typeface="Arial"/>
                <a:ea typeface="Microsoft YaHei"/>
              </a:rPr>
              <a:t>Admitting that you need rest is increasingly accepted. A phrase like “I’m at capacity” helps.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workaholic 本身是名词,不能说 workaholic person。劝人别太拼时,用 Have you considered…? 比 You should… 柔和。一些国家有“断联权”的规定。</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signs of overwork and its costs.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to a friend kindly about overwork.</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work-life balance and set boundaries.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be used to + -ing and -ing subjects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 · Lesson 23 Workaholics Anonymous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be used to + -ing, gerund subjects, and uncountable nouns (overtime, advice).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induction</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New staff attend a two-day induction.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资历,职级</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seniority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recharge your batteries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A weekend away helped me recharge my batteries.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处于压力之下</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under pressure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使快速晋升</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fast-track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 have many works to do.</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have a lot of work to do.</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“基准”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benchmark</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“绩效评估”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performance review / appraisal</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“承担更多责任”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on more responsibility</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This job is stressed.</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This job is stressful.</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don’t have enough time for my family and rest.</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don’t have enough time for my family or for rest.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216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3</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217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3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