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4: Workplace Culture and Teamwork — Self-Study Workbook (Lessons 24–36)</a:t>
            </a:r>
          </a:p>
          <a:p/>
          <a:p>
            <a:r>
              <a:t>开场：简单介绍本单元的主题和要完成的 13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24 · Managing Sickness 病假</a:t>
            </a:r>
          </a:p>
          <a:p>
            <a:r>
              <a:t>Goal: talk about sick leave and absence: calling in sick, returning to work, policies, and the problem of working while ill.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题用过去式(went, felt)。第 4 题 “should” 表示建议。sick leave = 病假;call in sick = 打电话请病假。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Role-play calling your manager to report that you are sick.</a:t>
            </a:r>
          </a:p>
          <a:p>
            <a:r>
              <a:t>Say: greet → say you can’t come in → symptoms briefly → what happens with your work → when you will update them</a:t>
            </a:r>
          </a:p>
          <a:p>
            <a:r>
              <a:t>Useful starters: “I’m afraid I won’t be able to come in today because…” / “I’ll keep you posted.” / “I’ve asked… to cover my meeting.”</a:t>
            </a:r>
          </a:p>
          <a:p>
            <a:r>
              <a:t>请假电话要简短,不必说太多症状。won’t be able to 比 can’t 更礼貌。keep sb posted = 随时告知进展。</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employees still feel guilty about taking a sick day. They worry about being seen as unreliable, or about the work that will pile up. As a result, some drag themselves to the office while ill, infect their colleagues and perform badly anyway. Researchers call this “presenteeism”, and they believe it can cost companies more than absence itself. Good employers make it easy to stay home. They have a clear policy, ask for a doctor’s note only after several days, and trust staff to be honest. Managers set the tone by taking their own sick days and by replying kindly: “Thanks for letting me know. Focus on getting better.” Employees can help by sending a short message early in the day and by writing a quick handover note so that colleagues know what is urgent.</a:t>
            </a:r>
          </a:p>
          <a:p>
            <a:r>
              <a:t>drag themselves = 勉强拖着身子。presenteeism = 带病上班。set the tone = 定下基调。”pile up” = 堆积。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presenteeism?</a:t>
            </a:r>
          </a:p>
          <a:p>
            <a:r>
              <a:t>A: Going to work while ill, which can cost companies more than absence.</a:t>
            </a:r>
          </a:p>
          <a:p>
            <a:r>
              <a:t>Q2. What do good employers do to make it easy to stay home?</a:t>
            </a:r>
          </a:p>
          <a:p>
            <a:r>
              <a:t>A: They have a clear policy, ask for a doctor’s note only after several days, and trust staff.</a:t>
            </a:r>
          </a:p>
          <a:p>
            <a:r>
              <a:t>Q3. What can employees do to help colleagues?</a:t>
            </a:r>
          </a:p>
          <a:p>
            <a:r>
              <a:t>A: Send an early message and write a quick handover note.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Absence and sick leave 缺勤与病假</a:t>
            </a:r>
          </a:p>
          <a:p>
            <a:r>
              <a:t>领读 → 学员跟读 → 请学员用表达造一个和自己工作相关的句子。</a:t>
            </a:r>
          </a:p>
          <a:p>
            <a:r>
              <a:t>sick leave / sick day (noun) 病假 — “I took two sick days last week.”</a:t>
            </a:r>
          </a:p>
          <a:p>
            <a:r>
              <a:t>call in sick (phrasal verb) 打电话请病假 — “He called in sick this morning.”</a:t>
            </a:r>
          </a:p>
          <a:p>
            <a:r>
              <a:t>doctor’s note / sick note (noun) 病假条 — “You need a doctor’s note after three days.”</a:t>
            </a:r>
          </a:p>
          <a:p>
            <a:r>
              <a:t>be off sick (phrase) 因病缺勤 — “Sarah has been off sick since Monday.”</a:t>
            </a:r>
          </a:p>
          <a:p>
            <a:r>
              <a:t>cover for someone (phrasal verb) 替某人代班 — “Can you cover for me on Thursday?”</a:t>
            </a:r>
          </a:p>
          <a:p>
            <a:r>
              <a:t>return to work (verb phrase) 复工 — “He returned to work after a week.”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Talking about health and policy ★ 健康与政策</a:t>
            </a:r>
          </a:p>
          <a:p>
            <a:r>
              <a:t>领读 → 学员跟读 → 请学员用表达造一个和自己工作相关的句子。</a:t>
            </a:r>
          </a:p>
          <a:p>
            <a:r>
              <a:t>★ under the weather (idiom) 身体不舒服 — “I’m a bit under the weather today.”</a:t>
            </a:r>
          </a:p>
          <a:p>
            <a:r>
              <a:t>★ come down with (phrasal verb) 患上(病) — “I think I’m coming down with the flu.”</a:t>
            </a:r>
          </a:p>
          <a:p>
            <a:r>
              <a:t>★ presenteeism (noun) 带病上班 — “Presenteeism hurts productivity.”</a:t>
            </a:r>
          </a:p>
          <a:p>
            <a:r>
              <a:t>★ phased return (noun phrase) 逐步复工 — “After surgery, she had a phased return over four weeks.”</a:t>
            </a:r>
          </a:p>
          <a:p>
            <a:r>
              <a:t>★ be entitled to (phrase) 有权享有 — “Employees are entitled to paid sick leave.”</a:t>
            </a:r>
          </a:p>
          <a:p>
            <a:r>
              <a:t>★ get over (an illness) (phrasal verb) 康复 — “It took me a week to get over the cold.”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sick leave / called in sick / note / cover / under the weather / entitled</a:t>
            </a:r>
          </a:p>
          <a:p>
            <a:r>
              <a:t>1. I took two days of _______ last week. → sick leave</a:t>
            </a:r>
          </a:p>
          <a:p>
            <a:r>
              <a:t>2. He _______ this morning, so he won’t be at the meeting. → called in sick</a:t>
            </a:r>
          </a:p>
          <a:p>
            <a:r>
              <a:t>3. You need a doctor’s _______ after three days of absence. → note</a:t>
            </a:r>
          </a:p>
          <a:p>
            <a:r>
              <a:t>4. Can you _______ for me at Thursday’s meeting? → cover</a:t>
            </a:r>
          </a:p>
          <a:p>
            <a:r>
              <a:t>5. I’m a bit _______ today, so I’ll work from home. → under the weather</a:t>
            </a:r>
          </a:p>
          <a:p>
            <a:r>
              <a:t>6. Employees are _______ to ten days of paid sick leave. → entitled</a:t>
            </a:r>
          </a:p>
          <a:p>
            <a:r>
              <a:t>Mistake Watch (拼写与搭配): absence (not “absense”), doctor’s note (apostrophe), colleague (not “collegue”). Be entitled to + noun (not “entitled for”). Sick vs ill: “She is ill / sick”, but only “a sick day”, “sick leave”.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Calling in sick 打电话请病假</a:t>
            </a:r>
          </a:p>
          <a:p>
            <a:r>
              <a:t>情景：You wake up with a high temperature and must call your manager, Ms Evans, before work.</a:t>
            </a:r>
          </a:p>
          <a:p>
            <a:r>
              <a:t>Role A: Tao Zhang, analyst (you) Role B: Ms Evans, line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(Tao): Good morning, Ms Evans. It’s Tao. I’m afraid I won’t be able to come in today.</a:t>
            </a:r>
          </a:p>
          <a:p>
            <a:r>
              <a:t>B (Ms Evans): Oh, I’m sorry to hear that. What’s the matter?</a:t>
            </a:r>
          </a:p>
          <a:p>
            <a:r>
              <a:t>A: I seem to have come down with the flu. I’ve got a high temperature and a sore throat.</a:t>
            </a:r>
          </a:p>
          <a:p>
            <a:r>
              <a:t>B: That sounds miserable. Have you seen a doctor?</a:t>
            </a:r>
          </a:p>
          <a:p>
            <a:r>
              <a:t>A: Not yet. I’m planning to go this afternoon, and I’ll send you a note if I need to be off for more than two days.</a:t>
            </a:r>
          </a:p>
          <a:p>
            <a:r>
              <a:t>B: Don’t worry about that for now. Is there anything urgent that needs covering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There’s the client call at eleven. I’ve asked Li to cover it, and I’ve sent her my notes.</a:t>
            </a:r>
          </a:p>
          <a:p>
            <a:r>
              <a:t>B: That’s very thoughtful, thank you. Take care of yourself, and don’t try to work from home.</a:t>
            </a:r>
          </a:p>
          <a:p>
            <a:r>
              <a:t>A: Thank you. I’ll keep you posted tomorrow morning.</a:t>
            </a:r>
          </a:p>
          <a:p>
            <a:r>
              <a:t>B: No rush. Get well soon, Tao.</a:t>
            </a:r>
          </a:p>
          <a:p>
            <a:r>
              <a:t>A: Thanks. Speak soon.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24 | </a:t>
            </a:r>
          </a:p>
          <a:p>
            <a:r>
              <a:t>Situation | You report sickness to your manager.</a:t>
            </a:r>
          </a:p>
          <a:p>
            <a:r>
              <a:t>Your role (A) | Employee who is ill. Your symptoms: ______________</a:t>
            </a:r>
          </a:p>
          <a:p>
            <a:r>
              <a:t>Partner’s role (B) | Manager. Kind but wants to know what is urgent.</a:t>
            </a:r>
          </a:p>
          <a:p>
            <a:r>
              <a:t>Must use (4 or more) | call in sick · won’t be able to · cover · keep you posted · doctor’s note · get well soon</a:t>
            </a:r>
          </a:p>
          <a:p>
            <a:r>
              <a:t>Goal | Say you can’t work, arrange cover and say when you will update them.</a:t>
            </a:r>
          </a:p>
          <a:p>
            <a:r>
              <a:t>My notes | ____________________________________________</a:t>
            </a:r>
          </a:p>
          <a:p>
            <a:r>
              <a:t>Your manager says: “We have a big deadline tomorrow.” Stay polite and explain what you can do.</a:t>
            </a:r>
          </a:p>
          <a:p>
            <a:r>
              <a:t>You come back after a week. Say thanks to the colleague who covered for you.</a:t>
            </a:r>
          </a:p>
          <a:p>
            <a:r>
              <a:t>You are the manager. Reply to an employee who says: “I feel guilty about being off.”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employees need a doctor’s note to take sick leave? | “I think a note should only be needed if…” / “Trust is important because…”</a:t>
            </a:r>
          </a:p>
          <a:p>
            <a:r>
              <a:t>2. Why do some people go to work when they are ill? | “They might be afraid that… / They may feel responsible for…”</a:t>
            </a:r>
          </a:p>
          <a:p>
            <a:r>
              <a:t>3. How can managers discourage presenteeism? | “They could… by… / Leading by example matters because…”</a:t>
            </a:r>
          </a:p>
          <a:p>
            <a:r>
              <a:t>4. Should employees be paid in full for sick days? | “In my opinion, they should be, since…” / “It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my opinion, they should be paid in full for a reasonable number of days, because otherwise people can’t afford to stay home. A sick employee who comes to work may infect others, which costs the company more in the end. Of course, it should be limited, and long-term illness needs a different system. But for short illnesses, full pay shows trust and keeps everyone healthier.”</a:t>
            </a:r>
          </a:p>
          <a:p>
            <a:r>
              <a:t>in the end = 最终。”since” 引导原因。”a different system” 用于对比。 “which costs the company more” 定语从句,which 指前面整句。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sick, so I don’t come. | I’m afraid I won’t be able to come in today. | 礼貌通知</a:t>
            </a:r>
          </a:p>
          <a:p>
            <a:r>
              <a:t>I have a cold. | I think I’ve come down with a cold. | 更自然</a:t>
            </a:r>
          </a:p>
          <a:p>
            <a:r>
              <a:t>Someone must do my work. | I’ve asked Li to cover for me. | 安排替班</a:t>
            </a:r>
          </a:p>
          <a:p>
            <a:r>
              <a:t>I’ll tell you later. | I’ll keep you posted. | 持续更新</a:t>
            </a:r>
          </a:p>
          <a:p>
            <a:r>
              <a:t>Are you better now? | Are you feeling better? / How are you feeling now? | 关心</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Won’t be able to is more polite than can’t for announcements: “I won’t be able to attend.”</a:t>
            </a:r>
          </a:p>
          <a:p>
            <a:r>
              <a:t>Present perfect for recent change: “I’ve come down with a cold.” / “I’ve been off since Monday.”</a:t>
            </a:r>
          </a:p>
          <a:p>
            <a:r>
              <a:t>Ill vs sick: In British English ill is the normal adjective (“I’m ill”); in American English sick is. Both are understood.</a:t>
            </a:r>
          </a:p>
          <a:p>
            <a:r>
              <a:t>Wishing well: Get well soon. / Take care. / I hope you feel better soon.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sick today.  →  ✓ I’m ill today. / I’m sick today.  (sick 是形容词)</a:t>
            </a:r>
          </a:p>
          <a:p>
            <a:r>
              <a:t>✗ I ask for leave because I am sick.  →  ✓ I’m taking a sick day because I’m ill.  (ask for leave 不自然)</a:t>
            </a:r>
          </a:p>
          <a:p>
            <a:r>
              <a:t>✗ Please give me a leave.  →  ✓ Could I take a day off?  (leave 不可数)</a:t>
            </a:r>
          </a:p>
          <a:p>
            <a:r>
              <a:t>Mistake Watch: Check leave (uncountable), not feeling well (word order), and take a day off.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I’ll go to hospital to see the doctor tomorrow.  →  ✓ I’ll see a doctor tomorrow.  (see a doctor 更自然)</a:t>
            </a:r>
          </a:p>
          <a:p>
            <a:r>
              <a:t>✗ I’m feeling not well.  →  ✓ I’m not feeling well.  (否定位置)</a:t>
            </a:r>
          </a:p>
          <a:p>
            <a:r>
              <a:t>✗ Thank you for your caring.  →  ✓ Thank you for your concern. / Thanks for asking.  (caring 不能作名词)</a:t>
            </a:r>
          </a:p>
          <a:p>
            <a:r>
              <a:t>Mistake Watch: Check leave (uncountable), not feeling well (word order), and take a day off.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Honesty vs detail: You don’t need to explain symptoms in detail. “I’m unwell” is enough, and managers generally avoid asking for medical details.</a:t>
            </a:r>
          </a:p>
          <a:p>
            <a:r>
              <a:t>Doctor’s notes: In the UK, a “fit note” is needed after seven days; many US companies require a note after three days. Check your policy.</a:t>
            </a:r>
          </a:p>
          <a:p>
            <a:r>
              <a:t>Working from home when ill: Some employers encourage rest instead; others accept light work. Ask rather than guess.</a:t>
            </a:r>
          </a:p>
          <a:p>
            <a:r>
              <a:t>leave 不可数,说 take a day off / take sick leave。请病假不用解释太多,简短说明 + 安排替班即可。won’t be able to 比 can’t 更礼貌。</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report sickness politely and briefly.</a:t>
            </a:r>
          </a:p>
          <a:p>
            <a:r>
              <a:t>I can arrange cover and say when I’ll update my manager.</a:t>
            </a:r>
          </a:p>
          <a:p>
            <a:r>
              <a:t>I can discuss sick-leave policy and presenteeism.</a:t>
            </a:r>
          </a:p>
          <a:p>
            <a:r>
              <a:t>I can use won’t be able to and keep you posted naturally.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leave, word order in negatives (I’m not feeling well), and polite phrases like won’t be able to.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25 · Happy at Work 职场幸福感</a:t>
            </a:r>
          </a:p>
          <a:p>
            <a:r>
              <a:t>Goal: talk about what makes people happy at work, why happiness matters for performance, and how teams and managers can create a positive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 “I’d say it’s a 7, because…”。happiness 与 satisfaction 不同:satisfaction 偏“满意”,happiness 偏“愉快”。</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ideal workplace and explain what makes it happy.</a:t>
            </a:r>
          </a:p>
          <a:p>
            <a:r>
              <a:t>Say: people → purpose → flexibility → recognition</a:t>
            </a:r>
          </a:p>
          <a:p>
            <a:r>
              <a:t>Useful starters: “For me, a happy workplace is one where…” / “What really matters is…” / “I’d feel much happier if…”</a:t>
            </a:r>
          </a:p>
          <a:p>
            <a:r>
              <a:t>第二类条件句 “I’d feel happier if…” 表达理想状态。”What really matters is…” 强调重点。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Is happiness at work a luxury or a business advantage? A growing body of research suggests it is the latter. Employees who feel positive tend to be more creative, take fewer sick days and stay with their employers longer. They also cooperate better, which improves the quality of teamwork. But what makes people happy at work? Surveys often point to the same ingredients: good relationships with colleagues, a sense of purpose, fair pay, some control over how work is done and regular recognition. Notably, perks like free snacks are less important than a manager who listens. Of course, nobody can be cheerful every day, and forced positivity can backfire. The goal is not constant joy but a workplace where people feel respected and have the energy to do work that matters to them.</a:t>
            </a:r>
          </a:p>
          <a:p>
            <a:r>
              <a:t>ingredient = 要素。perks = 额外福利。backfire = 适得其反。”the latter” 指后者(business advantage)。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some benefits of happiness at work, according to the text?</a:t>
            </a:r>
          </a:p>
          <a:p>
            <a:r>
              <a:t>A: More creativity, fewer sick days, longer stays and better cooperation.</a:t>
            </a:r>
          </a:p>
          <a:p>
            <a:r>
              <a:t>Q2. What ingredients of happiness do surveys mention?</a:t>
            </a:r>
          </a:p>
          <a:p>
            <a:r>
              <a:t>A: Good relationships, purpose, fair pay, some control and regular recognition.</a:t>
            </a:r>
          </a:p>
          <a:p>
            <a:r>
              <a:t>Q3. What does the writer say about forced positivity?</a:t>
            </a:r>
          </a:p>
          <a:p>
            <a:r>
              <a:t>A: It can backfire; the goal is respect and energy, not constant joy.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Satisfaction at work 工作满意度</a:t>
            </a:r>
          </a:p>
          <a:p>
            <a:r>
              <a:t>领读 → 学员跟读 → 请学员用表达造一个和自己工作相关的句子。</a:t>
            </a:r>
          </a:p>
          <a:p>
            <a:r>
              <a:t>job satisfaction (noun (uncountable)) 工作满意度 — “Job satisfaction is higher in smaller teams.”</a:t>
            </a:r>
          </a:p>
          <a:p>
            <a:r>
              <a:t>morale (noun (uncountable)) 士气 — “Morale dropped after the layoffs.”</a:t>
            </a:r>
          </a:p>
          <a:p>
            <a:r>
              <a:t>sense of belonging (noun phrase) 归属感 — “A sense of belonging helps people stay.”</a:t>
            </a:r>
          </a:p>
          <a:p>
            <a:r>
              <a:t>perk / benefit (noun) 福利 — “Free lunch is a nice perk.”</a:t>
            </a:r>
          </a:p>
          <a:p>
            <a:r>
              <a:t>flexibility (noun) 灵活性 — “Flexibility is a priority for me.”</a:t>
            </a:r>
          </a:p>
          <a:p>
            <a:r>
              <a:t>recognition (noun) 认可 — “Recognition boosts morale.”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 positive atmosphere ★ 积极的氛围</a:t>
            </a:r>
          </a:p>
          <a:p>
            <a:r>
              <a:t>领读 → 学员跟读 → 请学员用表达造一个和自己工作相关的句子。</a:t>
            </a:r>
          </a:p>
          <a:p>
            <a:r>
              <a:t>★ boost morale (collocation) 提振士气 — “A team lunch can boost morale.”</a:t>
            </a:r>
          </a:p>
          <a:p>
            <a:r>
              <a:t>★ a supportive environment (noun phrase) 互相支持的环境 — “We try to create a supportive environment.”</a:t>
            </a:r>
          </a:p>
          <a:p>
            <a:r>
              <a:t>★ feel valued (collocation) 感到被重视 — “People stay when they feel valued.”</a:t>
            </a:r>
          </a:p>
          <a:p>
            <a:r>
              <a:t>★ thrive (verb) 蓬勃发展 — “She thrives in a fast-paced environment.”</a:t>
            </a:r>
          </a:p>
          <a:p>
            <a:r>
              <a:t>★ get along (well) with (phrasal verb) 相处融洽 — “I get along well with my colleagues.”</a:t>
            </a:r>
          </a:p>
          <a:p>
            <a:r>
              <a:t>★ the best part of the job (phrase) 工作最棒的部分 — “The best part of the job is the team.”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satisfaction / Morale / belonging / boost / valued / thrive</a:t>
            </a:r>
          </a:p>
          <a:p>
            <a:r>
              <a:t>1. Job _______ is higher in smaller teams. → satisfaction</a:t>
            </a:r>
          </a:p>
          <a:p>
            <a:r>
              <a:t>2. _______ dropped after the layoffs. → Morale</a:t>
            </a:r>
          </a:p>
          <a:p>
            <a:r>
              <a:t>3. A sense of _______ helps people stay with a company. → belonging</a:t>
            </a:r>
          </a:p>
          <a:p>
            <a:r>
              <a:t>4. A team lunch can _______ morale. → boost</a:t>
            </a:r>
          </a:p>
          <a:p>
            <a:r>
              <a:t>5. People stay when they feel _______. → valued</a:t>
            </a:r>
          </a:p>
          <a:p>
            <a:r>
              <a:t>6. She seems to _______ in a fast-paced environment. → thrive</a:t>
            </a:r>
          </a:p>
          <a:p>
            <a:r>
              <a:t>Mistake Watch (拼写与搭配): satisfaction (not “satifaction”), morale (not “moral”, which means something different), thrive (not “trive”). Job satisfaction and morale are uncountable. Say get along with (not “get along together with”).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happiness check-in with a team leader 与团队负责人谈工作状态</a:t>
            </a:r>
          </a:p>
          <a:p>
            <a:r>
              <a:t>情景：In a one-to-one, the team leader, Grace, asks how you are enjoying the job after six months.</a:t>
            </a:r>
          </a:p>
          <a:p>
            <a:r>
              <a:t>Role A: Marco Li, team member (you) Role B: Grace Wong, team leader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(Marco): Hi Grace, thanks for setting this up.</a:t>
            </a:r>
          </a:p>
          <a:p>
            <a:r>
              <a:t>B (Grace): No problem, Marco. I like to check in with everyone after six months. How are you finding the job?</a:t>
            </a:r>
          </a:p>
          <a:p>
            <a:r>
              <a:t>A: Honestly, I’m really enjoying it. I get along well with the team, and I like the variety of projects.</a:t>
            </a:r>
          </a:p>
          <a:p>
            <a:r>
              <a:t>B: That’s great to hear. Is there anything that could be better?</a:t>
            </a:r>
          </a:p>
          <a:p>
            <a:r>
              <a:t>A: Perhaps more flexibility. Some days the commute is exhausting, and I could focus better from home.</a:t>
            </a:r>
          </a:p>
          <a:p>
            <a:r>
              <a:t>B: We can look at that. Would two days a week work?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be perfect. It would make a big difference to my energy.</a:t>
            </a:r>
          </a:p>
          <a:p>
            <a:r>
              <a:t>B: And what about recognition? Do you feel valued?</a:t>
            </a:r>
          </a:p>
          <a:p>
            <a:r>
              <a:t>A: Mostly, yes. It would help to get a bit more feedback on my work, though.</a:t>
            </a:r>
          </a:p>
          <a:p>
            <a:r>
              <a:t>B: Fair point. I’ll make sure we have a short feedback chat every month.</a:t>
            </a:r>
          </a:p>
          <a:p>
            <a:r>
              <a:t>A: Thank you. That would mean a lot.</a:t>
            </a:r>
          </a:p>
          <a:p>
            <a:r>
              <a:t>B: Thanks for being open, Marco. It really helps me to support the team.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25 | </a:t>
            </a:r>
          </a:p>
          <a:p>
            <a:r>
              <a:t>Situation | A team leader checks how you are finding your job.</a:t>
            </a:r>
          </a:p>
          <a:p>
            <a:r>
              <a:t>Your role (A) | Team member. What you like and one thing you would change: ______________</a:t>
            </a:r>
          </a:p>
          <a:p>
            <a:r>
              <a:t>Partner’s role (B) | Team leader. Warm, open to ideas.</a:t>
            </a:r>
          </a:p>
          <a:p>
            <a:r>
              <a:t>Must use (4 or more) | job satisfaction · flexibility · feel valued · get along well · boost morale · supportive</a:t>
            </a:r>
          </a:p>
          <a:p>
            <a:r>
              <a:t>Goal | Give two positive points, one suggestion and agree what happens next.</a:t>
            </a:r>
          </a:p>
          <a:p>
            <a:r>
              <a:t>My notes | ____________________________________________</a:t>
            </a:r>
          </a:p>
          <a:p>
            <a:r>
              <a:t>Grace asks: “Is there anything that makes you unhappy?” Raise a real concern tactfully.</a:t>
            </a:r>
          </a:p>
          <a:p>
            <a:r>
              <a:t>Grace says: “We can’t offer remote days.” Suggest an alternative.</a:t>
            </a:r>
          </a:p>
          <a:p>
            <a:r>
              <a:t>Describe your happiest day at work in 45 seconds.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important factors for happiness at work? | “For me, the top three are…” / “What really matters is…”</a:t>
            </a:r>
          </a:p>
          <a:p>
            <a:r>
              <a:t>2. Can a company really make employees happy? Or is it up to the individual? | “A company can create the conditions, but…”</a:t>
            </a:r>
          </a:p>
          <a:p>
            <a:r>
              <a:t>3. Are perks like free snacks and game rooms effective? | “They’re nice, but they don’t replace…”</a:t>
            </a:r>
          </a:p>
          <a:p>
            <a:r>
              <a:t>4. Is it OK to be unhappy at work sometimes? | “Of course. It’s normal to have ups and downs, but if it lasts…”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company can create the conditions for happiness, such as fair pay, reasonable workloads and respectful managers. But it can’t make people happy by itself. Individuals also need to take responsibility: setting boundaries, building good relationships and asking for what they need. So I’d say it’s a shared effort. When the company does its part, people are more likely to do theirs.”</a:t>
            </a:r>
          </a:p>
          <a:p>
            <a:r>
              <a:t>shared effort = 共同努力。”do its part” = 尽自己的责任。”take responsibility for” 固定搭配。 “conditions for” 条件。</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like my job. | I find my work genuinely rewarding. | 更丰富的积极表达</a:t>
            </a:r>
          </a:p>
          <a:p>
            <a:r>
              <a:t>The team is nice. | I get along really well with my colleagues. | 具体</a:t>
            </a:r>
          </a:p>
          <a:p>
            <a:r>
              <a:t>I want more freedom. | I’d value more flexibility in how I work. | 礼貌提要求</a:t>
            </a:r>
          </a:p>
          <a:p>
            <a:r>
              <a:t>I’m not happy. | I’ve been feeling a bit disengaged lately. | 具体、不刺耳</a:t>
            </a:r>
          </a:p>
          <a:p>
            <a:r>
              <a:t>The boss is good. | My manager is very supportive. | 描述</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Opinion phrases: In my view… / As far as I’m concerned… / I’d say that…</a:t>
            </a:r>
          </a:p>
          <a:p>
            <a:r>
              <a:t>Conditionals for ideals: “I’d feel happier if I had more flexibility.” (second conditional)</a:t>
            </a:r>
          </a:p>
          <a:p>
            <a:r>
              <a:t>Adjectives for feelings at work: engaged, fulfilled, motivated; stressed, disengaged, undervalued.</a:t>
            </a:r>
          </a:p>
          <a:p>
            <a:r>
              <a:t>Uncountable: morale, job satisfaction, feedback, flexibility. Use a lot of / some.</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satisfy with my job.  →  ✓ I’m satisfied with my job.  (satisfied with)</a:t>
            </a:r>
          </a:p>
          <a:p>
            <a:r>
              <a:t>✗ My colleagues are very kind to me. We are like family.  →  ✓ My colleagues are very supportive. We get on well.  (避免过度夸张)</a:t>
            </a:r>
          </a:p>
          <a:p>
            <a:r>
              <a:t>✗ The salary is high enough to live happy.  →  ✓ The salary is high enough to live comfortably.  (副词)</a:t>
            </a:r>
          </a:p>
          <a:p>
            <a:r>
              <a:t>Mistake Watch: Check satisfied / happy with, uncountable morale / achievement, and adjective forms (relaxed).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My work makes me feel very happy and relax.  →  ✓ My work makes me feel happy and relaxed.  (形容词词形)</a:t>
            </a:r>
          </a:p>
          <a:p>
            <a:r>
              <a:t>✗ I’m happy for my work.  →  ✓ I’m happy with my work.  (happy with)</a:t>
            </a:r>
          </a:p>
          <a:p>
            <a:r>
              <a:t>✗ This job gives me a sense of achievements.  →  ✓ This job gives me a sense of achievement.  (achievement 不可数)</a:t>
            </a:r>
          </a:p>
          <a:p>
            <a:r>
              <a:t>Mistake Watch: Check satisfied / happy with, uncountable morale / achievement, and adjective forms (relaxed).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Workplace small talk: “How are you?” at work is a greeting. The expected reply is “Fine, thanks. And you?” Give more detail only to people you know well.</a:t>
            </a:r>
          </a:p>
          <a:p>
            <a:r>
              <a:t>Perks vs culture: Many people leave because of managers and culture, not because of the lack of perks.</a:t>
            </a:r>
          </a:p>
          <a:p>
            <a:r>
              <a:t>Positive vs authentic: US workplaces often use enthusiastic language (“super excited!”). UK workplaces can be more understated. Both can be genuine.</a:t>
            </a:r>
          </a:p>
          <a:p>
            <a:r>
              <a:t>How are you? 在职场常是寒暄,回答 Fine, thanks 即可。happy with / satisfied with 的介词不要用 for。形容词 -ed / -ing 要区分。</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what makes me happy at work.</a:t>
            </a:r>
          </a:p>
          <a:p>
            <a:r>
              <a:t>I can talk to my manager about flexibility and recognition.</a:t>
            </a:r>
          </a:p>
          <a:p>
            <a:r>
              <a:t>I can use the second conditional for ideal situations.</a:t>
            </a:r>
          </a:p>
          <a:p>
            <a:r>
              <a:t>I can use satisfied with and happy with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happy / satisfied with, uncountable morale and achievement, and adjective forms.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26 · Kindness in the Workplace 职场善意</a:t>
            </a:r>
          </a:p>
          <a:p>
            <a:r>
              <a:t>Goal: talk about kindness at work: small acts, courtesy, supportive feedback, saying thank you, and the business case for being kind.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题用过去式。第 5 题 “kind but firm” 是很常见的组合。kindness 与 politeness 不同:前者强调关心,后者强调礼貌。</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small acts of kindness can improve a team.</a:t>
            </a:r>
          </a:p>
          <a:p>
            <a:r>
              <a:t>Say: example 1 → example 2 → the effect → your advice</a:t>
            </a:r>
          </a:p>
          <a:p>
            <a:r>
              <a:t>Useful starters: “A small thing like… can…” / “It makes people feel…” / “I’d suggest…”</a:t>
            </a:r>
          </a:p>
          <a:p>
            <a:r>
              <a:t>描述小事情的作用:A small thing like saying thank you can make someone’s day. 注意 “make someone’s day” 是习语。</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Some people believe that being kind at work is a luxury, or even a disadvantage in competitive industries. Evidence points the other way. Teams where members help each other, share credit and speak respectfully tend to solve problems faster. Kindness is not about avoiding hard conversations; it is about delivering them with care. A manager can be firm about a deadline and still ask how a colleague is coping. The most powerful acts are often small: making a coffee for a stressed teammate, introducing a newcomer to colleagues or sending a message to say that a presentation went well. These gestures cost almost nothing, but they build trust, and trust makes everything else easier. Over time, they also create a culture where it feels safe to ask for help, which is a real competitive advantage.</a:t>
            </a:r>
          </a:p>
          <a:p>
            <a:r>
              <a:t>“point the other way” = 证据相反。credit = 功劳。gesture = 举动。”safe to ask for help” 指心理安全。</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does the writer say about kind teams?</a:t>
            </a:r>
          </a:p>
          <a:p>
            <a:r>
              <a:t>A: They tend to solve problems faster.</a:t>
            </a:r>
          </a:p>
          <a:p>
            <a:r>
              <a:t>Q2. Is kindness the same as avoiding hard conversations?</a:t>
            </a:r>
          </a:p>
          <a:p>
            <a:r>
              <a:t>A: No, it’s about delivering hard conversations with care.</a:t>
            </a:r>
          </a:p>
          <a:p>
            <a:r>
              <a:t>Q3. Name two small acts of kindness mentioned.</a:t>
            </a:r>
          </a:p>
          <a:p>
            <a:r>
              <a:t>A: E.g. making a coffee for a stressed teammate, introducing a newcomer, or sending a message after a good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Acts of kindness 善意之举</a:t>
            </a:r>
          </a:p>
          <a:p>
            <a:r>
              <a:t>领读 → 学员跟读 → 请学员用表达造一个和自己工作相关的句子。</a:t>
            </a:r>
          </a:p>
          <a:p>
            <a:r>
              <a:t>kindness (noun) 善意 — “Kindness is contagious in a team.”</a:t>
            </a:r>
          </a:p>
          <a:p>
            <a:r>
              <a:t>thoughtful (adjective) 体贴的 — “It was thoughtful of you to bring lunch.”</a:t>
            </a:r>
          </a:p>
          <a:p>
            <a:r>
              <a:t>generous (adjective) 慷慨的 — “She is generous with her time.”</a:t>
            </a:r>
          </a:p>
          <a:p>
            <a:r>
              <a:t>support (verb / noun) 支持 — “My team supported me during a difficult time.”</a:t>
            </a:r>
          </a:p>
          <a:p>
            <a:r>
              <a:t>appreciate (verb) 感激 — “I really appreciate your help.”</a:t>
            </a:r>
          </a:p>
          <a:p>
            <a:r>
              <a:t>gratitude (noun (uncountable)) 感激之情 — “He expressed his gratitude to the team.”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Showing consideration ★ 体现体谅</a:t>
            </a:r>
          </a:p>
          <a:p>
            <a:r>
              <a:t>领读 → 学员跟读 → 请学员用表达造一个和自己工作相关的句子。</a:t>
            </a:r>
          </a:p>
          <a:p>
            <a:r>
              <a:t>★ go out of your way (idiom) 特意帮忙 — “She went out of her way to help me.”</a:t>
            </a:r>
          </a:p>
          <a:p>
            <a:r>
              <a:t>★ lend a hand (idiom) 帮一把 — “Can you lend a hand with the setup?”</a:t>
            </a:r>
          </a:p>
          <a:p>
            <a:r>
              <a:t>★ make someone’s day (idiom) 让某人一整天开心 — “Your note really made my day.”</a:t>
            </a:r>
          </a:p>
          <a:p>
            <a:r>
              <a:t>★ give credit to (collocation) 把功劳归于 — “Always give credit to the people who helped you.”</a:t>
            </a:r>
          </a:p>
          <a:p>
            <a:r>
              <a:t>★ look out for (phrasal verb) 关照 — “We look out for each other on this team.”</a:t>
            </a:r>
          </a:p>
          <a:p>
            <a:r>
              <a:t>★ pay it forward (idiom) 把善意传递下去 — “A mentor helped me, so now I pay it forward.”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thoughtful / generous / appreciate / out of her way / lend a hand / pay it forward</a:t>
            </a:r>
          </a:p>
          <a:p>
            <a:r>
              <a:t>1. It was very _______ of you to bring lunch for everyone. → thoughtful</a:t>
            </a:r>
          </a:p>
          <a:p>
            <a:r>
              <a:t>2. She is always _______ with her time. → generous</a:t>
            </a:r>
          </a:p>
          <a:p>
            <a:r>
              <a:t>3. I really _______ your help with the report. → appreciate</a:t>
            </a:r>
          </a:p>
          <a:p>
            <a:r>
              <a:t>4. She went _______ to help me with the visa form. → out of her way</a:t>
            </a:r>
          </a:p>
          <a:p>
            <a:r>
              <a:t>5. Can you _______ with the setup? → lend a hand</a:t>
            </a:r>
          </a:p>
          <a:p>
            <a:r>
              <a:t>6. A mentor helped me, so now I try to _______. → pay it forward</a:t>
            </a:r>
          </a:p>
          <a:p>
            <a:r>
              <a:t>Mistake Watch (拼写与搭配): kindness (not “kindeness”), gratitude (not “gratitute”), appreciate (not “apreciate”). Say grateful for / thank you for + noun or -ing. Help is uncountable (“some help”).</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Thanking a colleague who went out of their way 感谢特意帮忙的同事</a:t>
            </a:r>
          </a:p>
          <a:p>
            <a:r>
              <a:t>情景：A colleague, Anita, stayed late to help you finish an urgent report. The next morning you thank her and offer to return the favour.</a:t>
            </a:r>
          </a:p>
          <a:p>
            <a:r>
              <a:t>Role A: Kai Chen, grateful colleague (you) Role B: Anita Roy, helpful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(Kai): Morning, Anita. Do you have a minute? I wanted to thank you properly for last night.</a:t>
            </a:r>
          </a:p>
          <a:p>
            <a:r>
              <a:t>B (Anita): Oh, that’s all right, Kai. I was happy to help.</a:t>
            </a:r>
          </a:p>
          <a:p>
            <a:r>
              <a:t>A: Honestly, you went out of your way. You stayed until nine, and it wasn’t even your project.</a:t>
            </a:r>
          </a:p>
          <a:p>
            <a:r>
              <a:t>B: Don’t mention it. I know how stressful that deadline was.</a:t>
            </a:r>
          </a:p>
          <a:p>
            <a:r>
              <a:t>A: I really appreciate it. The report went out on time, and the client was pleased.</a:t>
            </a:r>
          </a:p>
          <a:p>
            <a:r>
              <a:t>B: That’s great news. I’m glad it worked out.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repay the favour. Would you like me to take over your Friday data task?</a:t>
            </a:r>
          </a:p>
          <a:p>
            <a:r>
              <a:t>B: That’s very kind, but I can manage. Maybe a coffee would be nice, though.</a:t>
            </a:r>
          </a:p>
          <a:p>
            <a:r>
              <a:t>A: Done. And I’ll tell Mr Park how much you helped.</a:t>
            </a:r>
          </a:p>
          <a:p>
            <a:r>
              <a:t>B: You don’t need to do that, but thank you. It means a lot.</a:t>
            </a:r>
          </a:p>
          <a:p>
            <a:r>
              <a:t>A: It’s the least I can do. Coffee at eleven?</a:t>
            </a:r>
          </a:p>
          <a:p>
            <a:r>
              <a:t>B: Sounds perfect.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26 | </a:t>
            </a:r>
          </a:p>
          <a:p>
            <a:r>
              <a:t>Situation | You thank a colleague who helped you.</a:t>
            </a:r>
          </a:p>
          <a:p>
            <a:r>
              <a:t>Your role (A) | Grateful colleague. What your colleague did: ______________</a:t>
            </a:r>
          </a:p>
          <a:p>
            <a:r>
              <a:t>Partner’s role (B) | Helpful colleague who is modest.</a:t>
            </a:r>
          </a:p>
          <a:p>
            <a:r>
              <a:t>Must use (4 or more) | went out of her way · appreciate · lend a hand · give credit · it means a lot · return the favour</a:t>
            </a:r>
          </a:p>
          <a:p>
            <a:r>
              <a:t>Goal | Say thank you specifically, say the result, and offer something in return.</a:t>
            </a:r>
          </a:p>
          <a:p>
            <a:r>
              <a:t>My notes | ____________________________________________</a:t>
            </a:r>
          </a:p>
          <a:p>
            <a:r>
              <a:t>Anita says: “No problem, but next time please give me more notice.” Respond graciously.</a:t>
            </a:r>
          </a:p>
          <a:p>
            <a:r>
              <a:t>Write a short thank-you message (two sentences) to send by chat.</a:t>
            </a:r>
          </a:p>
          <a:p>
            <a:r>
              <a:t>Thank a team in a one-minute speech at the end of a project.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kindness a strength or a weakness in business? | “I’d say it’s a strength because…” / “It can be seen as weakness if…”</a:t>
            </a:r>
          </a:p>
          <a:p>
            <a:r>
              <a:t>2. How can you be kind and still give honest feedback? | “The key is to… / I start with… before I…”</a:t>
            </a:r>
          </a:p>
          <a:p>
            <a:r>
              <a:t>3. Should companies encourage employees to help each other? How? | “They could… by… / Recognising helpful behaviour…”</a:t>
            </a:r>
          </a:p>
          <a:p>
            <a:r>
              <a:t>4. Have you ever done something kind that made a difference at work? | “Once, I… and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“The key is to separate the person from the problem. I start by saying what was good, and then I describe the issue clearly and without blame, for example: “The report was well researched, but I think the conclusion needs to be clearer.” Then I ask the person how I can help. Being honest and kind at the same time takes practice, but people usually appreciate feedback that is specific and respectful.”</a:t>
            </a:r>
          </a:p>
          <a:p>
            <a:r>
              <a:t>separate A from B = 把 A 和 B 区分开。”without blame” = 不指责。takes practice = 需要练习。specific and respectful 并列形容词。</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Thanks for your help. | I really appreciate your help. It made a big difference. | 说明影响</a:t>
            </a:r>
          </a:p>
          <a:p>
            <a:r>
              <a:t>You’re welcome. | Don’t mention it. / Happy to help. | 自然回应</a:t>
            </a:r>
          </a:p>
          <a:p>
            <a:r>
              <a:t>I owe you one. | I owe you one. (informal) | 口语:欠你一次</a:t>
            </a:r>
          </a:p>
          <a:p>
            <a:r>
              <a:t>You did well. | That was an excellent piece of work. | 具体表扬</a:t>
            </a:r>
          </a:p>
          <a:p>
            <a:r>
              <a:t>I’ll thank him. | I’d like to say a proper thank you. | 郑重感谢</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Thank + for: Thank you for + noun / -ing. “Thank you for your help.” / “Thank you for staying late.”</a:t>
            </a:r>
          </a:p>
          <a:p>
            <a:r>
              <a:t>Responding to thanks: Don’t mention it. / No problem. / My pleasure. / Anytime.</a:t>
            </a:r>
          </a:p>
          <a:p>
            <a:r>
              <a:t>Specific appreciation: action + result: “Because you stayed late, we met the deadline.”</a:t>
            </a:r>
          </a:p>
          <a:p>
            <a:r>
              <a:t>Modal of offer: Would you like me to…? / Shall I…? / Can I…?</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 you for your help me.  →  ✓ Thank you for helping me. / Thank you for your help.  (介词后接 -ing 或名词)</a:t>
            </a:r>
          </a:p>
          <a:p>
            <a:r>
              <a:t>✗ I am very grateful of you.  →  ✓ I’m very grateful to you. / I’m very grateful for your help.  (grateful to sb / for sth)</a:t>
            </a:r>
          </a:p>
          <a:p>
            <a:r>
              <a:t>✗ He is kind to help me.  →  ✓ It was kind of him to help me.  (It is kind of sb to do sth)</a:t>
            </a:r>
          </a:p>
          <a:p>
            <a:r>
              <a:t>Mistake Watch: Check thank you for + -ing, grateful to / for, and It was kind of him to….</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give you a little gift to thank.  →  ✓ I’d like to give you a small gift as a thank-you.  (thank-you 为名词)</a:t>
            </a:r>
          </a:p>
          <a:p>
            <a:r>
              <a:t>✗ She helps me many.  →  ✓ She helps me a lot.  (a lot 修饰动词)</a:t>
            </a:r>
          </a:p>
          <a:p>
            <a:r>
              <a:t>✗ You’re welcome for your thank.  →  ✓ Not at all. / My pleasure.  (应答)</a:t>
            </a:r>
          </a:p>
          <a:p>
            <a:r>
              <a:t>Mistake Watch: Check thank you for + -ing, grateful to / for, and It was kind of him to….</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Small politeness words: Please, thank you, sorry are used a lot in British English, even for small things. Using them is expected, not insincere.</a:t>
            </a:r>
          </a:p>
          <a:p>
            <a:r>
              <a:t>Gifts and cards: A thank-you card or a coffee is appropriate. Large gifts can be problematic for compliance reasons.</a:t>
            </a:r>
          </a:p>
          <a:p>
            <a:r>
              <a:t>Accepting thanks: Responding with “Happy to help” is more natural than denying (“It was nothing”).</a:t>
            </a:r>
          </a:p>
          <a:p>
            <a:r>
              <a:t>英语中谢谢要说明“谢什么”以及“有什么效果”。Thank you for + 名词/-ing。被感谢时说 Happy to help / My pleasure,比一味谦虚说“没什么”更自然。</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thank someone specifically for what they did.</a:t>
            </a:r>
          </a:p>
          <a:p>
            <a:r>
              <a:t>I can offer to return a favour politely.</a:t>
            </a:r>
          </a:p>
          <a:p>
            <a:r>
              <a:t>I can give kind but honest feedback.</a:t>
            </a:r>
          </a:p>
          <a:p>
            <a:r>
              <a:t>I can use thank you for + -ing and grateful to / for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thank you for + -ing, grateful to / for, and It was kind of X to….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27 · Office Annoyances 办公室烦心事</a:t>
            </a:r>
          </a:p>
          <a:p>
            <a:r>
              <a:t>Goal: talk about everyday irritations in the office and raise them politely, using softening language and diplomatic requests.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题答案用 “the most annoying thing is when someone…”。annoying = 令人烦的;annoyed = 感到烦恼的。unwritten rule = 不成文的规矩。</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Politely ask a colleague to stop doing something that annoys you.</a:t>
            </a:r>
          </a:p>
          <a:p>
            <a:r>
              <a:t>Say: start gently → describe the problem → say the effect on you → make a request → thank them</a:t>
            </a:r>
          </a:p>
          <a:p>
            <a:r>
              <a:t>Useful starters: “Sorry to bring this up, but…” / “I find it hard to concentrate when…” / “Would you mind… -ing?”</a:t>
            </a:r>
          </a:p>
          <a:p>
            <a:r>
              <a:t>Would you mind + -ing 是礼貌请求;Sorry to bring this up 先缓和气氛。避免直接说 “You are too noisy”。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Ask any group of employees what makes them unhappy at work and you will hear a long list of small things. Loud phone calls, strong-smelling lunches, a kitchen full of dirty cups, colleagues who read over your shoulder, people who reply to everyone in an email chain. None of these is a serious problem, but together they can wear you down. The difficulty is that complaining feels petty, so many people say nothing and become resentful. Experts suggest a better approach: talk early, in private and about the behaviour rather than the person. “I find it hard to concentrate when there are calls nearby” is much easier to hear than “You’re too loud”. Teams can also agree on simple shared rules, such as quiet zones, a rota for the dishwasher and a “no strong-smelling food” guideline.</a:t>
            </a:r>
          </a:p>
          <a:p>
            <a:r>
              <a:t>wear you down = 消磨你。petty = 小气/鸡毛蒜皮。resentful = 怨恨的。rota (英)= 轮值表。reply-all = 回复所有人。</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small annoyances does the text mention?</a:t>
            </a:r>
          </a:p>
          <a:p>
            <a:r>
              <a:t>A: E.g. loud calls, smelly lunches, dirty cups, people reading over your shoulder, reply-all emails.</a:t>
            </a:r>
          </a:p>
          <a:p>
            <a:r>
              <a:t>Q2. Why do many people say nothing?</a:t>
            </a:r>
          </a:p>
          <a:p>
            <a:r>
              <a:t>A: Complaining feels petty, so they stay silent and become resentful.</a:t>
            </a:r>
          </a:p>
          <a:p>
            <a:r>
              <a:t>Q3. What approach do experts suggest?</a:t>
            </a:r>
          </a:p>
          <a:p>
            <a:r>
              <a:t>A: Talk early, in private, and about the behaviour rather than the person; agree shared rules.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Common annoyances 常见烦心事</a:t>
            </a:r>
          </a:p>
          <a:p>
            <a:r>
              <a:t>领读 → 学员跟读 → 请学员用表达造一个和自己工作相关的句子。</a:t>
            </a:r>
          </a:p>
          <a:p>
            <a:r>
              <a:t>pet peeve (noun) 最讨厌的小事 — “One of my pet peeves is late meetings.”</a:t>
            </a:r>
          </a:p>
          <a:p>
            <a:r>
              <a:t>open-plan office (noun) 开放式办公室 — “Open-plan offices can be noisy.”</a:t>
            </a:r>
          </a:p>
          <a:p>
            <a:r>
              <a:t>background noise (noun) 背景噪音 — “The background noise makes it hard to focus.”</a:t>
            </a:r>
          </a:p>
          <a:p>
            <a:r>
              <a:t>interrupt (verb) 打断 — “Please don’t interrupt me while I’m speaking.”</a:t>
            </a:r>
          </a:p>
          <a:p>
            <a:r>
              <a:t>leave a mess (verb phrase) 弄得一团糟 — “Please don’t leave a mess in the kitchen.”</a:t>
            </a:r>
          </a:p>
          <a:p>
            <a:r>
              <a:t>take (someone’s) lunch (verb phrase) 拿走某人的午餐 — “Someone took my lunch from the fridge.”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Complaining diplomatically ★ 委婉地提意见</a:t>
            </a:r>
          </a:p>
          <a:p>
            <a:r>
              <a:t>领读 → 学员跟读 → 请学员用表达造一个和自己工作相关的句子。</a:t>
            </a:r>
          </a:p>
          <a:p>
            <a:r>
              <a:t>★ get on my nerves (idiom) 让我心烦 — “The constant clicking gets on my nerves.”</a:t>
            </a:r>
          </a:p>
          <a:p>
            <a:r>
              <a:t>★ bring something up (phrasal verb) 提起某事 — “I didn’t want to bring it up in the meeting.”</a:t>
            </a:r>
          </a:p>
          <a:p>
            <a:r>
              <a:t>★ I was wondering if you could… (polite phrase) 不知您能否…… — “I was wondering if you could keep it down.”</a:t>
            </a:r>
          </a:p>
          <a:p>
            <a:r>
              <a:t>★ keep it down (phrasal verb) 小声点 — “Could you keep it down a bit?”</a:t>
            </a:r>
          </a:p>
          <a:p>
            <a:r>
              <a:t>★ come across as (phrasal verb) 给人……的印象 — “I don’t want to come across as rude.”</a:t>
            </a:r>
          </a:p>
          <a:p>
            <a:r>
              <a:t>★ nip it in the bud (idiom) 防患于未然 — “It’s best to nip it in the bud.”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pet peeve / open-plan / interrupt / mess / keep it down / bring it up</a:t>
            </a:r>
          </a:p>
          <a:p>
            <a:r>
              <a:t>1. One of my biggest _______ is people who are late. → pet peeve</a:t>
            </a:r>
          </a:p>
          <a:p>
            <a:r>
              <a:t>2. The _______ office is noisy during the afternoons. → open-plan</a:t>
            </a:r>
          </a:p>
          <a:p>
            <a:r>
              <a:t>3. Please don’t _______ me while I’m explaining the plan. → interrupt</a:t>
            </a:r>
          </a:p>
          <a:p>
            <a:r>
              <a:t>4. Could you tidy up and not leave a _______ in the kitchen? → mess</a:t>
            </a:r>
          </a:p>
          <a:p>
            <a:r>
              <a:t>5. Could you _______ a bit? I am on a call. → keep it down</a:t>
            </a:r>
          </a:p>
          <a:p>
            <a:r>
              <a:t>6. I’m not sure whether to _______ with my manager. → bring it up</a:t>
            </a:r>
          </a:p>
          <a:p>
            <a:r>
              <a:t>Mistake Watch (拼写与搭配): annoyed (not “annoied”), noisy (not “noisey”), colleague. Make a mess, leave a mess, but make noise (not “do noise”). Annoying (thing) vs annoyed (person).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Raising an issue with a noisy desk neighbour 与吵闹的邻座沟通</a:t>
            </a:r>
          </a:p>
          <a:p>
            <a:r>
              <a:t>情景：Your desk neighbour, Dan, takes long, loud calls. You decide to talk to him calmly.</a:t>
            </a:r>
          </a:p>
          <a:p>
            <a:r>
              <a:t>Role A: Yan Li, colleague (you) Role B: Dan Brooks, desk neighbour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(Yan): Hi Dan, have you got a minute? Sorry to bring this up, but there’s something on my mind.</a:t>
            </a:r>
          </a:p>
          <a:p>
            <a:r>
              <a:t>B (Dan): Sure, what’s up?</a:t>
            </a:r>
          </a:p>
          <a:p>
            <a:r>
              <a:t>A: It’s about the phone calls. I find it hard to concentrate when they’re quite long and loud.</a:t>
            </a:r>
          </a:p>
          <a:p>
            <a:r>
              <a:t>B: Oh, I didn’t realise. Is it really that noticeable?</a:t>
            </a:r>
          </a:p>
          <a:p>
            <a:r>
              <a:t>A: Sometimes, yes, especially when I’m writing reports. I don’t want to come across as fussy.</a:t>
            </a:r>
          </a:p>
          <a:p>
            <a:r>
              <a:t>B: No, I’m glad you said something. What would help?</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was wondering if you could take longer calls in the meeting room, or use headphones?</a:t>
            </a:r>
          </a:p>
          <a:p>
            <a:r>
              <a:t>B: That’s fair. I’ll use the small room for anything over five minutes.</a:t>
            </a:r>
          </a:p>
          <a:p>
            <a:r>
              <a:t>A: Thank you. That would really help. And please tell me if I do anything that annoys you.</a:t>
            </a:r>
          </a:p>
          <a:p>
            <a:r>
              <a:t>B: Ha, will do. Actually, you tap your pen a lot.</a:t>
            </a:r>
          </a:p>
          <a:p>
            <a:r>
              <a:t>A: Oh no, really? I’ll stop that, I promise.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27 | </a:t>
            </a:r>
          </a:p>
          <a:p>
            <a:r>
              <a:t>Situation | You raise an annoying behaviour politely.</a:t>
            </a:r>
          </a:p>
          <a:p>
            <a:r>
              <a:t>Your role (A) | Colleague who is bothered by: ______________</a:t>
            </a:r>
          </a:p>
          <a:p>
            <a:r>
              <a:t>Partner’s role (B) | Colleague who is surprised but cooperative.</a:t>
            </a:r>
          </a:p>
          <a:p>
            <a:r>
              <a:t>Must use (4 or more) | bring this up · find it hard to concentrate · would you mind · come across as · keep it down · nip it in the bud</a:t>
            </a:r>
          </a:p>
          <a:p>
            <a:r>
              <a:t>Goal | Start gently, describe the effect on you, make a request and thank the partner.</a:t>
            </a:r>
          </a:p>
          <a:p>
            <a:r>
              <a:t>My notes | ____________________________________________</a:t>
            </a:r>
          </a:p>
          <a:p>
            <a:r>
              <a:t>Dan reacts defensively: “Everyone does it.” Stay calm and give a reason.</a:t>
            </a:r>
          </a:p>
          <a:p>
            <a:r>
              <a:t>Write a polite note to leave in the kitchen about dirty cups.</a:t>
            </a:r>
          </a:p>
          <a:p>
            <a:r>
              <a:t>The issue continues after two weeks. Speak to your manager.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your biggest pet peeve in the office? | “What bothers me most is when… / It really gets on my nerves when…”</a:t>
            </a:r>
          </a:p>
          <a:p>
            <a:r>
              <a:t>2. Should you speak to a colleague directly or tell your manager? | “I’d start by… because… / If that doesn’t work, I’d…”</a:t>
            </a:r>
          </a:p>
          <a:p>
            <a:r>
              <a:t>3. Do you think open-plan offices help or hurt productivity? | “They can help with… but they can also…”</a:t>
            </a:r>
          </a:p>
          <a:p>
            <a:r>
              <a:t>4. What shared rules would make an office more pleasant? | “I’d suggest… / It would help if everyone…”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talk to the colleague first, in private, because most people don’t realise they’re causing a problem. If I go straight to the manager, it can feel like I’m going behind their back, and that can damage the relationship. I’d explain what I’ve noticed and how it affects my work, and then ask for a change. If nothing improves, then I’d involve the manager, but only as a last resort.”</a:t>
            </a:r>
          </a:p>
          <a:p>
            <a:r>
              <a:t>go behind someone’s back = 背着某人做事。as a last resort = 作为最后手段。”straight to” = 直接去。”most people don’t realise” 概括。</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You are too loud. | I find it hard to concentrate when it’s loud. | 谈影响,不指责人</a:t>
            </a:r>
          </a:p>
          <a:p>
            <a:r>
              <a:t>Stop doing that! | Would you mind not doing that? | 委婉请求</a:t>
            </a:r>
          </a:p>
          <a:p>
            <a:r>
              <a:t>Your lunch smells bad. | The smell is a bit strong. Would you mind eating in the kitchen? | 委婉</a:t>
            </a:r>
          </a:p>
          <a:p>
            <a:r>
              <a:t>I hate it. | It really gets on my nerves. | 习语表达烦恼</a:t>
            </a:r>
          </a:p>
          <a:p>
            <a:r>
              <a:t>Do not leave a mess. | Please remember to clean up after yourself. | 礼貌提醒</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Would you mind + -ing? Reply “Not at all” to mean yes. “Would you mind opening the window?” “No, not at all.”</a:t>
            </a:r>
          </a:p>
          <a:p>
            <a:r>
              <a:t>Soften with a lead-in: Sorry to bring this up, but… / I hope you don’t mind my saying, but…</a:t>
            </a:r>
          </a:p>
          <a:p>
            <a:r>
              <a:t>Behaviour, not person: “When you… I feel/find…” instead of “You are…”.</a:t>
            </a:r>
          </a:p>
          <a:p>
            <a:r>
              <a:t>Annoyed vs annoying: The noise is annoying. I’m annoyed.</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Could you stop talk?  →  ✓ Could you stop talking?  (stop + -ing)</a:t>
            </a:r>
          </a:p>
          <a:p>
            <a:r>
              <a:t>✗ Would you mind to be quiet?  →  ✓ Would you mind keeping it down?  (mind + -ing)</a:t>
            </a:r>
          </a:p>
          <a:p>
            <a:r>
              <a:t>✗ Your behaviour is very annoyed.  →  ✓ Your behaviour is very annoying.  (-ing vs -ed)</a:t>
            </a:r>
          </a:p>
          <a:p>
            <a:r>
              <a:t>Mistake Watch: Check mind + -ing, annoyed / annoying, and stop + -ing.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feel angry for your noise.  →  ✓ I’m annoyed by the noise.  (annoyed by)</a:t>
            </a:r>
          </a:p>
          <a:p>
            <a:r>
              <a:t>✗ Please do not make me trouble.  →  ✓ Please don’t cause me any problems. / I’d appreciate it if you didn’t…  (搭配)</a:t>
            </a:r>
          </a:p>
          <a:p>
            <a:r>
              <a:t>✗ I don’t mind to wait.  →  ✓ I don’t mind waiting.  (mind + -ing)</a:t>
            </a:r>
          </a:p>
          <a:p>
            <a:r>
              <a:t>Mistake Watch: Check mind + -ing, annoyed / annoying, and stop + -ing.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Indirectness: In UK offices people often say “It’s a bit loud in here” to mean “please be quieter”. Listen for the hidden request.</a:t>
            </a:r>
          </a:p>
          <a:p>
            <a:r>
              <a:t>Don’t embarrass people: Speak in private. A public comment can sound like a criticism.</a:t>
            </a:r>
          </a:p>
          <a:p>
            <a:r>
              <a:t>Kitchen etiquette: “Wash your own cup” is a common unwritten rule; a rota or signs are normal in shared offices.</a:t>
            </a:r>
          </a:p>
          <a:p>
            <a:r>
              <a:t>提意见时说“对你有什么影响”,不要直接评价对方。would you mind + -ing 回答“不介意”用 Not at all。annoyed(人感到烦)和 annoying(事令人烦)要分清。</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raise an annoyance politely and privately.</a:t>
            </a:r>
          </a:p>
          <a:p>
            <a:r>
              <a:t>I can use Would you mind…-ing? and I was wondering if….</a:t>
            </a:r>
          </a:p>
          <a:p>
            <a:r>
              <a:t>I can suggest shared rules for an office.</a:t>
            </a:r>
          </a:p>
          <a:p>
            <a:r>
              <a:t>I can distinguish annoyed / annoying and use mind + -ing.</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mind + -ing, stop + -ing, and -ed / -ing adjectives.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28 · Work Relationships: Bridges and Boundaries 职场关系:连接与边界</a:t>
            </a:r>
          </a:p>
          <a:p>
            <a:r>
              <a:t>Goal: talk about building good working relationships while keeping healthy boundaries, such as friendship with colleagues, saying no and keeping work and private life separate.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题可用 “It depends on…”。boundaries = 界限。 socialise with = 与……交际。</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Politely say no to a colleague’s request without damaging the relationship.</a:t>
            </a:r>
          </a:p>
          <a:p>
            <a:r>
              <a:t>Say: show understanding → explain → say no clearly → offer an alternative</a:t>
            </a:r>
          </a:p>
          <a:p>
            <a:r>
              <a:t>Useful starters: “I’d love to help, but…” / “I’m afraid I can’t take that on right now.” / “What I can do is…”</a:t>
            </a:r>
          </a:p>
          <a:p>
            <a:r>
              <a:t>拒绝时先表示理解,再说明理由,最后给出替代方案。 “take on” = 承担。</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Good relationships at work make everything easier, from getting advice to surviving a bad week. Many people find their closest friends among colleagues. Yet the line between friendly and too friendly can be hard to see. Sharing a lunch is fine; sharing a manager’s confidential decisions is not. Friendships can also create awkward situations when one friend becomes the other’s boss, or when a colleague expects special treatment. Experts recommend building bridges widely, so that you know people across teams, but being clear about boundaries. That means saying no politely when you are overloaded, keeping private details private and avoiding gossip. A simple phrase like “I’d rather not discuss that” can protect you without sounding rude. Healthy boundaries are not walls; they are what let relationships last without resentment.</a:t>
            </a:r>
          </a:p>
          <a:p>
            <a:r>
              <a:t>confidential = 机密的。special treatment = 特殊照顾。”build bridges” = 建立联系。gossip = 闲话。</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can friendships at work be awkward?</a:t>
            </a:r>
          </a:p>
          <a:p>
            <a:r>
              <a:t>A: When one friend becomes the other’s boss or someone expects special treatment.</a:t>
            </a:r>
          </a:p>
          <a:p>
            <a:r>
              <a:t>Q2. What do experts recommend?</a:t>
            </a:r>
          </a:p>
          <a:p>
            <a:r>
              <a:t>A: Build relationships widely but be clear about boundaries.</a:t>
            </a:r>
          </a:p>
          <a:p>
            <a:r>
              <a:t>Q3. What phrase protects you without sounding rude?</a:t>
            </a:r>
          </a:p>
          <a:p>
            <a:r>
              <a:t>A: “I’d rather not discuss that.”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Relationships at work 职场关系</a:t>
            </a:r>
          </a:p>
          <a:p>
            <a:r>
              <a:t>领读 → 学员跟读 → 请学员用表达造一个和自己工作相关的句子。</a:t>
            </a:r>
          </a:p>
          <a:p>
            <a:r>
              <a:t>rapport (noun (uncountable)) 融洽关系 — “He quickly built rapport with the client.”</a:t>
            </a:r>
          </a:p>
          <a:p>
            <a:r>
              <a:t>colleague / co-worker (noun) 同事 — “A colleague recommended me.”</a:t>
            </a:r>
          </a:p>
          <a:p>
            <a:r>
              <a:t>network (verb / noun) 建立人脉 / 人脉 — “I network at industry events.”</a:t>
            </a:r>
          </a:p>
          <a:p>
            <a:r>
              <a:t>socialise (verb) 社交 — “We socialise after work on Fridays.”</a:t>
            </a:r>
          </a:p>
          <a:p>
            <a:r>
              <a:t>gossip (noun / verb) 闲话 — “I try to avoid office gossip.”</a:t>
            </a:r>
          </a:p>
          <a:p>
            <a:r>
              <a:t>boundary (noun) 界限 — “It’s important to set boundaries.”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Keeping boundaries ★ 保持界限</a:t>
            </a:r>
          </a:p>
          <a:p>
            <a:r>
              <a:t>领读 → 学员跟读 → 请学员用表达造一个和自己工作相关的句子。</a:t>
            </a:r>
          </a:p>
          <a:p>
            <a:r>
              <a:t>★ draw the line (idiom) 划清界限 — “I draw the line at working weekends.”</a:t>
            </a:r>
          </a:p>
          <a:p>
            <a:r>
              <a:t>★ keep (it) professional (phrase) 保持专业 — “We’re friends, but at work we keep it professional.”</a:t>
            </a:r>
          </a:p>
          <a:p>
            <a:r>
              <a:t>★ overstep (verb) 越界 — “I think I overstepped by asking about his salary.”</a:t>
            </a:r>
          </a:p>
          <a:p>
            <a:r>
              <a:t>★ take on (phrasal verb) 承担 — “I can’t take on any more projects.”</a:t>
            </a:r>
          </a:p>
          <a:p>
            <a:r>
              <a:t>★ push back (phrasal verb) 回绝/反对 — “She pushed back when asked to work late.”</a:t>
            </a:r>
          </a:p>
          <a:p>
            <a:r>
              <a:t>★ conflict of interest (noun phrase) 利益冲突 — “Dating your direct report is a conflict of interest.”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rapport / network / socialise / gossip / draw the line / take on</a:t>
            </a:r>
          </a:p>
          <a:p>
            <a:r>
              <a:t>1. She quickly built _______ with the new client. → rapport</a:t>
            </a:r>
          </a:p>
          <a:p>
            <a:r>
              <a:t>2. It’s useful to _______ at industry events. → network</a:t>
            </a:r>
          </a:p>
          <a:p>
            <a:r>
              <a:t>3. We _______ after work on Fridays. → socialise</a:t>
            </a:r>
          </a:p>
          <a:p>
            <a:r>
              <a:t>4. I try to avoid office _______. → gossip</a:t>
            </a:r>
          </a:p>
          <a:p>
            <a:r>
              <a:t>5. I’m happy to work late sometimes, but I _______ at weekends. → draw the line</a:t>
            </a:r>
          </a:p>
          <a:p>
            <a:r>
              <a:t>6. I’m afraid I can’t _______ any more projects this month. → take on</a:t>
            </a:r>
          </a:p>
          <a:p>
            <a:r>
              <a:t>Mistake Watch (拼写与搭配): colleague, relationship (not “relatioship”), boundary (not “boundry”). Build / develop rapport, set boundaries (not “make boundaries”). Gossip is uncountable when meaning talk (“a lot of gossip”).</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Saying no to a colleague 礼貌拒绝同事请求</a:t>
            </a:r>
          </a:p>
          <a:p>
            <a:r>
              <a:t>情景：A friendly colleague, Chris, asks you to cover his tasks for a week. You are already overloaded.</a:t>
            </a:r>
          </a:p>
          <a:p>
            <a:r>
              <a:t>Role A: Lena Zhou, busy colleague (you) Role B: Chris Hall, colleague who asks for help</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(Lena): Lena, you’re a lifesaver. Could you possibly take over my reports next week while I’m away?</a:t>
            </a:r>
          </a:p>
          <a:p>
            <a:r>
              <a:t>B (Chris): I’d love to help, Chris, but I’m afraid I can’t take that on right now.</a:t>
            </a:r>
          </a:p>
          <a:p>
            <a:r>
              <a:t>A: Oh. Is it a busy period for you?</a:t>
            </a:r>
          </a:p>
          <a:p>
            <a:r>
              <a:t>B: Very. I’m already working two evenings a week to meet the Friday deadline.</a:t>
            </a:r>
          </a:p>
          <a:p>
            <a:r>
              <a:t>A: I see. I just don’t know who else to ask.</a:t>
            </a:r>
          </a:p>
          <a:p>
            <a:r>
              <a:t>B: I understand. What I can do is look at your report template and give you a few tips before you go.</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be useful. And maybe you could ask Mia?</a:t>
            </a:r>
          </a:p>
          <a:p>
            <a:r>
              <a:t>B: Good idea. I’ll mention it to her, but I think it would be better if you asked her yourself.</a:t>
            </a:r>
          </a:p>
          <a:p>
            <a:r>
              <a:t>A: Fair enough. Thanks anyway, Lena.</a:t>
            </a:r>
          </a:p>
          <a:p>
            <a:r>
              <a:t>B: Sorry I can’t do more. I hope the trip goes well.</a:t>
            </a:r>
          </a:p>
          <a:p>
            <a:r>
              <a:t>A: Thanks. I owe you one for the tips.</a:t>
            </a:r>
          </a:p>
          <a:p>
            <a:r>
              <a:t>B: Anytime.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28 | </a:t>
            </a:r>
          </a:p>
          <a:p>
            <a:r>
              <a:t>Situation | You refuse a colleague’s request politely.</a:t>
            </a:r>
          </a:p>
          <a:p>
            <a:r>
              <a:t>Your role (A) | Colleague who is overloaded. Reason: ______________</a:t>
            </a:r>
          </a:p>
          <a:p>
            <a:r>
              <a:t>Partner’s role (B) | Colleague who asks for help. Disappointed but understanding.</a:t>
            </a:r>
          </a:p>
          <a:p>
            <a:r>
              <a:t>Must use (4 or more) | I’d love to · I’m afraid I can’t · take on · what I can do is · fair enough · I understand</a:t>
            </a:r>
          </a:p>
          <a:p>
            <a:r>
              <a:t>Goal | Say no clearly, give a short reason and offer an alternative.</a:t>
            </a:r>
          </a:p>
          <a:p>
            <a:r>
              <a:t>My notes | ____________________________________________</a:t>
            </a:r>
          </a:p>
          <a:p>
            <a:r>
              <a:t>Chris insists: “Just this once.” Hold your position politely.</a:t>
            </a:r>
          </a:p>
          <a:p>
            <a:r>
              <a:t>A friend at work asks you to share confidential information. Say no.</a:t>
            </a:r>
          </a:p>
          <a:p>
            <a:r>
              <a:t>A colleague you like asks you out. Decline kindly and keep things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a good idea to be friends with colleagues? | “I think it can be positive as long as… / The risk is that…”</a:t>
            </a:r>
          </a:p>
          <a:p>
            <a:r>
              <a:t>2. How do you say no without being rude? | “I try to… I usually say… and offer…”</a:t>
            </a:r>
          </a:p>
          <a:p>
            <a:r>
              <a:t>3. Where do you draw the line between work and private life? | “I draw the line at… / I’m happy to…, but not…”</a:t>
            </a:r>
          </a:p>
          <a:p>
            <a:r>
              <a:t>4. Should bosses and employees socialise outside work? | “It depends on… / It can build trust, but…”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depends on the situation. Occasional social events, such as a team dinner, can build trust and make it easier to work together. But a boss should be careful not to favour some people, and employees might feel pressure to attend even if they don’t want to. I think the best approach is to keep events optional and inclusive, and to remember that personal friendships between a manager and a team member can create conflicts of interest.”</a:t>
            </a:r>
          </a:p>
          <a:p>
            <a:r>
              <a:t>favour = 偏袒。”pressure to attend” 出席的压力。inclusive = 包容的。”optional” = 自愿的。</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can’t do it. | I’m afraid I can’t take that on right now. | 委婉拒绝</a:t>
            </a:r>
          </a:p>
          <a:p>
            <a:r>
              <a:t>No, I am busy. | I’d love to, but I’m tied up this week. | 先表示愿意</a:t>
            </a:r>
          </a:p>
          <a:p>
            <a:r>
              <a:t>Don’t ask me about that. | I’d rather not discuss that. | 保护隐私</a:t>
            </a:r>
          </a:p>
          <a:p>
            <a:r>
              <a:t>He’s my friend. | He’s a good friend as well as a colleague. | 描述</a:t>
            </a:r>
          </a:p>
          <a:p>
            <a:r>
              <a:t>We talk a lot. | We get along well and have good rapport. | 更专业</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Softening a refusal: I’m afraid… / Unfortunately… / I’d love to, but…</a:t>
            </a:r>
          </a:p>
          <a:p>
            <a:r>
              <a:t>Offer an alternative: What I can do is… / How about… / Maybe I could…</a:t>
            </a:r>
          </a:p>
          <a:p>
            <a:r>
              <a:t>Rather than “No!” Use “That doesn’t work for me” for firm refusals.</a:t>
            </a:r>
          </a:p>
          <a:p>
            <a:r>
              <a:t>Would rather: “I’d rather not talk about it.” (would rather + base verb)</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afraid I can not help you.  →  ✓ I’m afraid I can’t help you.  (can’t 一词)</a:t>
            </a:r>
          </a:p>
          <a:p>
            <a:r>
              <a:t>✗ I’d rather to stay.  →  ✓ I’d rather stay.  (would rather + 原形)</a:t>
            </a:r>
          </a:p>
          <a:p>
            <a:r>
              <a:t>✗ She makes friend with everyone.  →  ✓ She makes friends with everyone.  (make friends 复数)</a:t>
            </a:r>
          </a:p>
          <a:p>
            <a:r>
              <a:t>Mistake Watch: Check would rather + base verb, make friends (plural) and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good relation with my boss.  →  ✓ I have a good relationship with my boss.  (relationship)</a:t>
            </a:r>
          </a:p>
          <a:p>
            <a:r>
              <a:t>✗ He is too friendly with me.  →  ✓ He’s a little too familiar with me.  (暗示越界)</a:t>
            </a:r>
          </a:p>
          <a:p>
            <a:r>
              <a:t>✗ I want to keep distance.  →  ✓ I want to keep my distance.  (习惯搭配)</a:t>
            </a:r>
          </a:p>
          <a:p>
            <a:r>
              <a:t>Mistake Watch: Check would rather + base verb, make friends (plural) and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Direct “no”: Many cultures avoid a flat “no”. English speakers also soften it, but they expect a clear message eventually. A vague yes that means no causes confusion.</a:t>
            </a:r>
          </a:p>
          <a:p>
            <a:r>
              <a:t>Socialising: Pub and team-dinner culture is common in the UK; some colleagues prefer not to drink. It is acceptable to say “I’ll join for a bit but I won’t drink.”</a:t>
            </a:r>
          </a:p>
          <a:p>
            <a:r>
              <a:t>Dating at work: Many companies require you to tell HR if you date a colleague, especially someone in your reporting line.</a:t>
            </a:r>
          </a:p>
          <a:p>
            <a:r>
              <a:t>拒绝别人时,英文通常先给“理解”再说“不”,并附上替代方案。would rather + 动词原形。relationship(关系)不要写成 relation。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say no politely and offer an alternative.</a:t>
            </a:r>
          </a:p>
          <a:p>
            <a:r>
              <a:t>I can talk about boundaries between work and private life.</a:t>
            </a:r>
          </a:p>
          <a:p>
            <a:r>
              <a:t>I can use would rather and I’m afraid.</a:t>
            </a:r>
          </a:p>
          <a:p>
            <a:r>
              <a:t>I can use make friends and relationship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would rather + base verb, plural in make friends, and relationship vs relation.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29 · Health and Work 健康与工作</a:t>
            </a:r>
          </a:p>
          <a:p>
            <a:r>
              <a:t>Goal: talk about how work affects health and how employers and employees can support physical and mental well-being.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题可用 “My job is quite sedentary, so…”。well-being 是不可数名词。counselling(英)= counseling(美)= 心理咨询。</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Suggest ways to improve health at work.</a:t>
            </a:r>
          </a:p>
          <a:p>
            <a:r>
              <a:t>Say: problem → suggestions → benefits → your own habit</a:t>
            </a:r>
          </a:p>
          <a:p>
            <a:r>
              <a:t>Useful starters: “One thing that could help is…” / “It would be a good idea to…” / “Personally, I try to…”</a:t>
            </a:r>
          </a:p>
          <a:p>
            <a:r>
              <a:t>提建议用 could / would be a good idea to。Personally = 就我个人而言。</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phrase “sitting is the new smoking” is a slight exaggeration, but it points to a real problem. Many office workers spend most of the day at a desk and then sit again in the evening. Over time this can lead to back pain, poor sleep and low energy. Mental health matters just as much: long hours, constant messages and unclear expectations can cause stress, anxiety and burnout. Fortunately, small changes help. Standing up every hour, taking a proper lunch break, going for a short walk and switching off notifications after work can all make a difference. Employers have a role too. They can provide ergonomic chairs, encourage breaks and make it easy to talk about mental health without fear of stigma. A healthy team is simply a more productive team.</a:t>
            </a:r>
          </a:p>
          <a:p>
            <a:r>
              <a:t>exaggeration = 夸张。ergonomic = 符合人体工学的。stigma = 污名/羞耻感。switch off = 关闭。</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the phrase “sitting is the new smoking” described as a slight exaggeration?</a:t>
            </a:r>
          </a:p>
          <a:p>
            <a:r>
              <a:t>A: It overstates the problem, though sitting too much has real health risks.</a:t>
            </a:r>
          </a:p>
          <a:p>
            <a:r>
              <a:t>Q2. Name two small changes that help.</a:t>
            </a:r>
          </a:p>
          <a:p>
            <a:r>
              <a:t>A: E.g. standing up every hour, taking a proper lunch break, going for a walk, switching off notifications.</a:t>
            </a:r>
          </a:p>
          <a:p>
            <a:r>
              <a:t>Q3. What can employers do?</a:t>
            </a:r>
          </a:p>
          <a:p>
            <a:r>
              <a:t>A: Provide ergonomic chairs, encourage breaks and make it easy to talk about mental health.</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Physical and mental health 身心健康</a:t>
            </a:r>
          </a:p>
          <a:p>
            <a:r>
              <a:t>领读 → 学员跟读 → 请学员用表达造一个和自己工作相关的句子。</a:t>
            </a:r>
          </a:p>
          <a:p>
            <a:r>
              <a:t>well-being (noun (uncountable)) 身心健康 — “Employee well-being is a priority.”</a:t>
            </a:r>
          </a:p>
          <a:p>
            <a:r>
              <a:t>sedentary (adjective) 久坐的 — “A sedentary lifestyle is bad for your back.”</a:t>
            </a:r>
          </a:p>
          <a:p>
            <a:r>
              <a:t>ergonomic (adjective) 人体工学的 — “We have ergonomic chairs.”</a:t>
            </a:r>
          </a:p>
          <a:p>
            <a:r>
              <a:t>mental health (noun) 心理健康 — “Mental health days are now common.”</a:t>
            </a:r>
          </a:p>
          <a:p>
            <a:r>
              <a:t>take a break (verb phrase) 休息一下 — “Remember to take a break every hour.”</a:t>
            </a:r>
          </a:p>
          <a:p>
            <a:r>
              <a:t>eye strain (noun) 眼疲劳 — “Screens can cause eye strain.”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Staying healthy ★ 保持健康</a:t>
            </a:r>
          </a:p>
          <a:p>
            <a:r>
              <a:t>领读 → 学员跟读 → 请学员用表达造一个和自己工作相关的句子。</a:t>
            </a:r>
          </a:p>
          <a:p>
            <a:r>
              <a:t>★ burn out (phrasal verb) 精疲力竭 — “He burned out after two years of overtime.”</a:t>
            </a:r>
          </a:p>
          <a:p>
            <a:r>
              <a:t>★ recharge your batteries (idiom) 恢复精力 — “A weekend away helps me recharge my batteries.”</a:t>
            </a:r>
          </a:p>
          <a:p>
            <a:r>
              <a:t>★ switch off (phrasal verb) 放松/不再想工作 — “I find it hard to switch off after work.”</a:t>
            </a:r>
          </a:p>
          <a:p>
            <a:r>
              <a:t>★ take a toll on (collocation) 对……造成损害 — “Long hours can take a toll on your health.”</a:t>
            </a:r>
          </a:p>
          <a:p>
            <a:r>
              <a:t>★ work-life balance (noun phrase) 工作与生活平衡 — “A good work-life balance is important.”</a:t>
            </a:r>
          </a:p>
          <a:p>
            <a:r>
              <a:t>★ run-down (adjective) 疲惫不堪 — “I’ve been feeling run-down lately.”</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well-being / sedentary / ergonomic / eye strain / burn out / take a toll on</a:t>
            </a:r>
          </a:p>
          <a:p>
            <a:r>
              <a:t>1. Our company runs a programme to improve employee _______. → well-being</a:t>
            </a:r>
          </a:p>
          <a:p>
            <a:r>
              <a:t>2. A _______ job can cause back problems. → sedentary</a:t>
            </a:r>
          </a:p>
          <a:p>
            <a:r>
              <a:t>3. The new _______ chairs are much more comfortable. → ergonomic</a:t>
            </a:r>
          </a:p>
          <a:p>
            <a:r>
              <a:t>4. Looking at screens all day can cause _______. → eye strain</a:t>
            </a:r>
          </a:p>
          <a:p>
            <a:r>
              <a:t>5. If you never rest, you may _______. → burn out</a:t>
            </a:r>
          </a:p>
          <a:p>
            <a:r>
              <a:t>6. Long hours can _______ your health. → take a toll on</a:t>
            </a:r>
          </a:p>
          <a:p>
            <a:r>
              <a:t>Mistake Watch (拼写与搭配): well-being (hyphen), sedentary (not “sedentry”), ergonomic (not “ergonimic”). Well-being and advice are uncountable. Stress is uncountable in general, but “a lot of stress”, “many stresses” is rare.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Suggesting a wellness idea to a manager 向经理提出健康福利建议</a:t>
            </a:r>
          </a:p>
          <a:p>
            <a:r>
              <a:t>情景：You suggest a short daily stretch break to the HR manager, Hana, because many colleagues complain about back pain.</a:t>
            </a:r>
          </a:p>
          <a:p>
            <a:r>
              <a:t>Role A: Jun Wei, employee (you) Role B: Hana Kim, HR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(Jun): Hi Hana, thanks for seeing me. I’d like to suggest something for team well-being.</a:t>
            </a:r>
          </a:p>
          <a:p>
            <a:r>
              <a:t>B (Hana): Of course. What’s the idea?</a:t>
            </a:r>
          </a:p>
          <a:p>
            <a:r>
              <a:t>A: A lot of us are sitting for eight hours a day, and several people have back and neck pain.</a:t>
            </a:r>
          </a:p>
          <a:p>
            <a:r>
              <a:t>B: Yes, I’ve heard similar comments. What do you have in mind?</a:t>
            </a:r>
          </a:p>
          <a:p>
            <a:r>
              <a:t>A: A ten-minute stretch break at three o’clock. Even a short break can take the strain off our backs.</a:t>
            </a:r>
          </a:p>
          <a:p>
            <a:r>
              <a:t>B: That’s a nice idea. Would people actually use it?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think so, if managers join in. We could also book a physiotherapist to show us some exercises.</a:t>
            </a:r>
          </a:p>
          <a:p>
            <a:r>
              <a:t>B: Hmm, that might cost a bit. Could we start with a trial?</a:t>
            </a:r>
          </a:p>
          <a:p>
            <a:r>
              <a:t>A: Absolutely. A one-month trial, and then we ask people for feedback.</a:t>
            </a:r>
          </a:p>
          <a:p>
            <a:r>
              <a:t>B: Great. Could you write a short proposal for me?</a:t>
            </a:r>
          </a:p>
          <a:p>
            <a:r>
              <a:t>A: Sure. I’ll send it by Thursday.</a:t>
            </a:r>
          </a:p>
          <a:p>
            <a:r>
              <a:t>B: Thanks, Jun. It’s good to see people taking the initiative.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29 | </a:t>
            </a:r>
          </a:p>
          <a:p>
            <a:r>
              <a:t>Situation | You suggest a health initiative at work.</a:t>
            </a:r>
          </a:p>
          <a:p>
            <a:r>
              <a:t>Your role (A) | Employee. Your problem and idea: ______________</a:t>
            </a:r>
          </a:p>
          <a:p>
            <a:r>
              <a:t>Partner’s role (B) | HR manager. Interested but worried about cost and take-up.</a:t>
            </a:r>
          </a:p>
          <a:p>
            <a:r>
              <a:t>Must use (4 or more) | well-being · sedentary · take a toll on · burn out · trial · feedback</a:t>
            </a:r>
          </a:p>
          <a:p>
            <a:r>
              <a:t>Goal | Describe the problem, make a concrete suggestion and agree next steps.</a:t>
            </a:r>
          </a:p>
          <a:p>
            <a:r>
              <a:t>My notes | ____________________________________________</a:t>
            </a:r>
          </a:p>
          <a:p>
            <a:r>
              <a:t>Hana says: “We have no budget.” Suggest a low-cost option.</a:t>
            </a:r>
          </a:p>
          <a:p>
            <a:r>
              <a:t>A colleague tells you she feels burned out. Respond with empathy and advice.</a:t>
            </a:r>
          </a:p>
          <a:p>
            <a:r>
              <a:t>Describe your own routine for staying healthy at work.</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does your work affect your health? | “My job is quite… so I often… / One bad habit I have is…”</a:t>
            </a:r>
          </a:p>
          <a:p>
            <a:r>
              <a:t>2. Should employers be responsible for employees’ health? | “They have a role, but… / Employees also…”</a:t>
            </a:r>
          </a:p>
          <a:p>
            <a:r>
              <a:t>3. Is mental health taken seriously at work? | “In some places yes, but… / There is still stigma in…”</a:t>
            </a:r>
          </a:p>
          <a:p>
            <a:r>
              <a:t>4. What helps you switch off after work? | “I like to… / It helps me to…”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“Employers should certainly play a part, because working conditions and workload affect health. They can offer breaks, reasonable hours and support for mental health. But employees need to look after themselves too, for example by sleeping enough and speaking up when they’re struggling. I’d say responsibility is shared: the employer creates the conditions, and individuals take care of the rest.”</a:t>
            </a:r>
          </a:p>
          <a:p>
            <a:r>
              <a:t>play a part = 起作用。”look after” = 照顾。speak up = 说出来。struggling = 艰难应对。</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My back hurts. | I’ve been having back pain from sitting too long. | 更具体</a:t>
            </a:r>
          </a:p>
          <a:p>
            <a:r>
              <a:t>I am tired. | I’m feeling run-down. | 更地道</a:t>
            </a:r>
          </a:p>
          <a:p>
            <a:r>
              <a:t>I can’t stop thinking about work. | I find it hard to switch off. | 固定表达</a:t>
            </a:r>
          </a:p>
          <a:p>
            <a:r>
              <a:t>I need to rest. | I need to recharge my batteries. | 习语</a:t>
            </a:r>
          </a:p>
          <a:p>
            <a:r>
              <a:t>Work is bad for my health. | Work is taking a toll on my health. | 搭配</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Giving advice: You should… / You could… / It might help to… / Have you thought about…?</a:t>
            </a:r>
          </a:p>
          <a:p>
            <a:r>
              <a:t>Present perfect continuous: “I’ve been feeling run-down lately.” (recent period until now)</a:t>
            </a:r>
          </a:p>
          <a:p>
            <a:r>
              <a:t>Gerund as subject: “Sitting too long is bad for you.” / “Taking breaks helps.”</a:t>
            </a:r>
          </a:p>
          <a:p>
            <a:r>
              <a:t>Uncountable nouns: advice, well-being, stress, exercise (as a general activity).</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pain in my back for weeks.  →  ✓ I’ve had back pain for weeks.  (for + 现在完成时)</a:t>
            </a:r>
          </a:p>
          <a:p>
            <a:r>
              <a:t>✗ Doing exercises is good for health.  →  ✓ Exercise is good for your health.  (exercise 不可数)</a:t>
            </a:r>
          </a:p>
          <a:p>
            <a:r>
              <a:t>✗ He gave me an advice.  →  ✓ He gave me some advice.  (advice 不可数)</a:t>
            </a:r>
          </a:p>
          <a:p>
            <a:r>
              <a:t>Mistake Watch: Check advice (uncountable), stressed (adjective) and have had + for.</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stress.  →  ✓ I’m stressed.  (stressed 形容词)</a:t>
            </a:r>
          </a:p>
          <a:p>
            <a:r>
              <a:t>✗ I don’t have time to relax myself.  →  ✓ I don’t have time to relax.  (relax 不用反身代词)</a:t>
            </a:r>
          </a:p>
          <a:p>
            <a:r>
              <a:t>✗ My eyes are tired of the screen.  →  ✓ My eyes are strained from looking at the screen.  (tired of = 厌倦)</a:t>
            </a:r>
          </a:p>
          <a:p>
            <a:r>
              <a:t>Mistake Watch: Check advice (uncountable), stressed (adjective) and have had + for.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Mental health talk: More employers now offer counselling and “mental health days”, but some people still hesitate to ask. A simple “I’m struggling a bit” is a good way to start.</a:t>
            </a:r>
          </a:p>
          <a:p>
            <a:r>
              <a:t>Lunch break: In some countries many people eat at their desk. In others (e.g. France), a proper lunch break is expected.</a:t>
            </a:r>
          </a:p>
          <a:p>
            <a:r>
              <a:t>Health data is private: Employers generally should not ask for details of your illness; you decide what to share.</a:t>
            </a:r>
          </a:p>
          <a:p>
            <a:r>
              <a:t>advice / exercise / well-being 不可数。I’m stressed 用形容词。持续到现在的状态用现在完成时:I’ve had back pain for weeks。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how work affects health.</a:t>
            </a:r>
          </a:p>
          <a:p>
            <a:r>
              <a:t>I can suggest a well-being idea politely to a manager.</a:t>
            </a:r>
          </a:p>
          <a:p>
            <a:r>
              <a:t>I can give advice with should / could / might help to.</a:t>
            </a:r>
          </a:p>
          <a:p>
            <a:r>
              <a:t>I can use uncountable nouns such as advice and exercise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nouns (advice, exercise), the adjective stressed, and present perfect with for.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30 · Creating a Positive and Safe Workplace 营造积极安全的工作场所</a:t>
            </a:r>
          </a:p>
          <a:p>
            <a:r>
              <a:t>Goal: talk about psychological and physical safety at work: respect, speaking up, reporting concerns and preventing harassment.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题注意 harassment 发音 /ˈhærəsmənt/ 或 /həˈræsmənt/,两种都可以。speak up = 大胆说出来。psychological safety = 心理安全感。</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report a concern at work.</a:t>
            </a:r>
          </a:p>
          <a:p>
            <a:r>
              <a:t>Say: what you noticed → who you tell → what you hope will happen → what you need from them</a:t>
            </a:r>
          </a:p>
          <a:p>
            <a:r>
              <a:t>Useful starters: “I’d like to raise a concern about…” / “I’m not comfortable with…” / “Could we keep this confidential?”</a:t>
            </a:r>
          </a:p>
          <a:p>
            <a:r>
              <a:t>上报问题用 raise a concern。要求保密用 confidential。表达不适用 I’m not comfortable with…。</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safe workplace is more than hard hats and fire exits. It is also a place where people can ask questions, admit mistakes and disagree without fear. Researchers call this “psychological safety”, and teams with it tend to learn faster and make fewer serious errors, because problems come to light early. Building safety starts with managers. They should thank people who raise concerns, even when the news is uncomfortable, and avoid blaming individuals in public. Clear policies matter too: employees should know how to report bullying or harassment, whom to contact and what will happen next. Reports must be taken seriously and handled confidentially. If staff believe that nothing will change, they will stop speaking up, and small issues can quietly grow into major crises.</a:t>
            </a:r>
          </a:p>
          <a:p>
            <a:r>
              <a:t>hard hat = 安全帽。come to light = 被发现。bully = 欺凌。 confidentially = 保密地。</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“psychological safety”?</a:t>
            </a:r>
          </a:p>
          <a:p>
            <a:r>
              <a:t>A: A climate where people can ask questions, admit mistakes and disagree without fear.</a:t>
            </a:r>
          </a:p>
          <a:p>
            <a:r>
              <a:t>Q2. Why do teams with it learn faster?</a:t>
            </a:r>
          </a:p>
          <a:p>
            <a:r>
              <a:t>A: Problems come to light early, so fewer serious errors occur.</a:t>
            </a:r>
          </a:p>
          <a:p>
            <a:r>
              <a:t>Q3. What should clear policies tell employees?</a:t>
            </a:r>
          </a:p>
          <a:p>
            <a:r>
              <a:t>A: How to report bullying/harassment, who to contact and what happens next.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Safety and respect 安全与尊重</a:t>
            </a:r>
          </a:p>
          <a:p>
            <a:r>
              <a:t>领读 → 学员跟读 → 请学员用表达造一个和自己工作相关的句子。</a:t>
            </a:r>
          </a:p>
          <a:p>
            <a:r>
              <a:t>health and safety (noun phrase) 健康与安全 — “Health and safety training is mandatory.”</a:t>
            </a:r>
          </a:p>
          <a:p>
            <a:r>
              <a:t>harassment (noun (uncountable)) 骚扰 — “The company has a zero-tolerance policy on harassment.”</a:t>
            </a:r>
          </a:p>
          <a:p>
            <a:r>
              <a:t>bullying (noun (uncountable)) 欺凌 — “Bullying can happen online too.”</a:t>
            </a:r>
          </a:p>
          <a:p>
            <a:r>
              <a:t>report a concern (verb phrase) 反映问题 — “You can report a concern to HR.”</a:t>
            </a:r>
          </a:p>
          <a:p>
            <a:r>
              <a:t>confidential (adjective) 保密的 — “The process is strictly confidential.”</a:t>
            </a:r>
          </a:p>
          <a:p>
            <a:r>
              <a:t>grievance (noun) 申诉 — “She filed a formal grievance.”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Building a speak-up culture ★ 营造敢说话的文化</a:t>
            </a:r>
          </a:p>
          <a:p>
            <a:r>
              <a:t>领读 → 学员跟读 → 请学员用表达造一个和自己工作相关的句子。</a:t>
            </a:r>
          </a:p>
          <a:p>
            <a:r>
              <a:t>★ blow the whistle (idiom) 举报 — “He blew the whistle on unsafe practices.”</a:t>
            </a:r>
          </a:p>
          <a:p>
            <a:r>
              <a:t>★ zero tolerance (noun phrase) 零容忍 — “We have a zero tolerance policy.”</a:t>
            </a:r>
          </a:p>
          <a:p>
            <a:r>
              <a:t>★ speak up (phrasal verb) 大胆发声 — “I felt safe enough to speak up.”</a:t>
            </a:r>
          </a:p>
          <a:p>
            <a:r>
              <a:t>★ retaliation (noun) 报复 — “Employees are protected from retaliation.”</a:t>
            </a:r>
          </a:p>
          <a:p>
            <a:r>
              <a:t>★ escalate (verb) 上报升级 — “If it isn’t resolved, escalate it to senior management.”</a:t>
            </a:r>
          </a:p>
          <a:p>
            <a:r>
              <a:t>★ foster a culture of (collocation) 培育……文化 — “Leaders must foster a culture of respect.”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harassment / confidential / grievance / whistle / retaliation / escalate</a:t>
            </a:r>
          </a:p>
          <a:p>
            <a:r>
              <a:t>1. The company has a zero-tolerance policy on _______. → harassment</a:t>
            </a:r>
          </a:p>
          <a:p>
            <a:r>
              <a:t>2. Please keep this _______. Don’t share it with others. → confidential</a:t>
            </a:r>
          </a:p>
          <a:p>
            <a:r>
              <a:t>3. She filed a formal _______ against her manager. → grievance</a:t>
            </a:r>
          </a:p>
          <a:p>
            <a:r>
              <a:t>4. He decided to blow the _______ on the unsafe practices. → whistle</a:t>
            </a:r>
          </a:p>
          <a:p>
            <a:r>
              <a:t>5. Employees who report concerns are protected from _______. → retaliation</a:t>
            </a:r>
          </a:p>
          <a:p>
            <a:r>
              <a:t>6. If the problem isn’t solved, you can _______ it to senior management. → escalate</a:t>
            </a:r>
          </a:p>
          <a:p>
            <a:r>
              <a:t>Mistake Watch (拼写与搭配): harassment (one r, two s: ha-ras-s-ment), grievance (not “grievence”), confidential. Bullying and harassment are uncountable. Blow the whistle on sth / sb.</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 concern to HR 向人力资源部反映问题</a:t>
            </a:r>
          </a:p>
          <a:p>
            <a:r>
              <a:t>情景：You saw a manager speaking aggressively to an intern. You decide to talk to HR.</a:t>
            </a:r>
          </a:p>
          <a:p>
            <a:r>
              <a:t>Role A: Mei Tan, employee (you) Role B: Paul Reed, HR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(Mei): Thanks for seeing me, Paul. I’d like to raise a concern, if that’s all right.</a:t>
            </a:r>
          </a:p>
          <a:p>
            <a:r>
              <a:t>B (Paul): Of course. Please take your time. This is a confidential conversation.</a:t>
            </a:r>
          </a:p>
          <a:p>
            <a:r>
              <a:t>A: Yesterday I heard a manager raise his voice at an intern in front of the whole team.</a:t>
            </a:r>
          </a:p>
          <a:p>
            <a:r>
              <a:t>B: I’m sorry to hear that. Can you tell me what was said?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He called her work “useless” and told her to leave the meeting. She looked very upset.</a:t>
            </a:r>
          </a:p>
          <a:p>
            <a:r>
              <a:t>B: Thank you for telling me. That’s not acceptable. Have you spoken to anyone else?</a:t>
            </a:r>
          </a:p>
          <a:p>
            <a:r>
              <a:t>A: No. I wasn’t sure whether to speak up, because I worried about the consequences.</a:t>
            </a:r>
          </a:p>
          <a:p>
            <a:r>
              <a:t>B: I understand. We have a policy that protects people who report concerns, so you won’t face retaliation.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reassuring. Will the intern know I reported it?</a:t>
            </a:r>
          </a:p>
          <a:p>
            <a:r>
              <a:t>B: Not necessarily. We’ll speak to her first and ask how she is. Then we’ll decide what to do.</a:t>
            </a:r>
          </a:p>
          <a:p>
            <a:r>
              <a:t>A: Thank you. I just want her to feel safe.</a:t>
            </a:r>
          </a:p>
          <a:p>
            <a:r>
              <a:t>B: You did the right thing. I’ll update you by the end of the week.</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30 | </a:t>
            </a:r>
          </a:p>
          <a:p>
            <a:r>
              <a:t>Situation | You report a concern about unacceptable behaviour.</a:t>
            </a:r>
          </a:p>
          <a:p>
            <a:r>
              <a:t>Your role (A) | Employee who saw: ______________</a:t>
            </a:r>
          </a:p>
          <a:p>
            <a:r>
              <a:t>Partner’s role (B) | HR adviser. Calm, careful, protects confidentiality.</a:t>
            </a:r>
          </a:p>
          <a:p>
            <a:r>
              <a:t>Must use (4 or more) | raise a concern · confidential · speak up · retaliation · unacceptable · escalate</a:t>
            </a:r>
          </a:p>
          <a:p>
            <a:r>
              <a:t>Goal | Describe what happened factually, state your worry and ask what happens next.</a:t>
            </a:r>
          </a:p>
          <a:p>
            <a:r>
              <a:t>My notes | ____________________________________________</a:t>
            </a:r>
          </a:p>
          <a:p>
            <a:r>
              <a:t>Paul asks: “Would you be willing to give a formal statement?” Respond.</a:t>
            </a:r>
          </a:p>
          <a:p>
            <a:r>
              <a:t>You are the intern. Explain how you would like to be supported.</a:t>
            </a:r>
          </a:p>
          <a:p>
            <a:r>
              <a:t>You are the manager. Respond to feedback that your behaviour was inappropriate.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does a “safe workplace” mean to you? | “To me, a safe workplace is one where… / People should feel…”</a:t>
            </a:r>
          </a:p>
          <a:p>
            <a:r>
              <a:t>2. Why do some employees stay silent about problems? | “They may be afraid of… / They might think that…”</a:t>
            </a:r>
          </a:p>
          <a:p>
            <a:r>
              <a:t>3. How should companies handle complaints about bullying? | “They should… first, then… / It’s essential to…”</a:t>
            </a:r>
          </a:p>
          <a:p>
            <a:r>
              <a:t>4. Should managers be punished more severely than other employees? | “I think they should, because… / Power brings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“Some employees stay silent because they fear the consequences. They may worry about being labelled a troublemaker, losing their job or damaging relationships. Others simply believe that nothing will change, so they don’t see the point of speaking up. To change this, companies need to show that reports are taken seriously, protect people from retaliation and give feedback on what was done. When employees see real results, they speak up more.”</a:t>
            </a:r>
          </a:p>
          <a:p>
            <a:r>
              <a:t>label sb as = 给某人贴标签。troublemaker = 惹麻烦的人。”see the point of” = 看到……的意义。give feedback on = 就……反馈。</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to say something about my boss. | I’d like to raise a concern about a manager’s behaviour. | 正式</a:t>
            </a:r>
          </a:p>
          <a:p>
            <a:r>
              <a:t>He is bad. | His behaviour is unacceptable. | 评价行为,不是人</a:t>
            </a:r>
          </a:p>
          <a:p>
            <a:r>
              <a:t>Please don’t tell anyone. | Could we keep this confidential? | 要求保密</a:t>
            </a:r>
          </a:p>
          <a:p>
            <a:r>
              <a:t>I am scared to say. | I’m worried about speaking up. | 表达担忧</a:t>
            </a:r>
          </a:p>
          <a:p>
            <a:r>
              <a:t>What will happen? | What are the next steps? | 询问流程</a:t>
            </a:r>
          </a:p>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Facts first: Describe what you saw, heard or experienced, not your interpretation. “He raised his voice and said…” not “He is a bully.”</a:t>
            </a:r>
          </a:p>
          <a:p>
            <a:r>
              <a:t>Passive voice for policy: “Reports are handled confidentially.” / “All complaints will be investigated.”</a:t>
            </a:r>
          </a:p>
          <a:p>
            <a:r>
              <a:t>Formal register: raise a concern, file a complaint, take disciplinary action, follow the procedure.</a:t>
            </a:r>
          </a:p>
          <a:p>
            <a:r>
              <a:t>Hedging an accusation: It seemed to me that… / I felt that… / From what I observed…</a:t>
            </a:r>
          </a:p>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harassed to me.  →  ✓ He harassed me. / He sexually harassed me.  (harass 及物动词)</a:t>
            </a:r>
          </a:p>
          <a:p>
            <a:r>
              <a:t>✗ I want to report him to the HR.  →  ✓ I want to report him to HR.  (HR 前不加 the)</a:t>
            </a:r>
          </a:p>
          <a:p>
            <a:r>
              <a:t>✗ My boss bullies me every times.  →  ✓ My boss bullies me all the time.  (all the time)</a:t>
            </a:r>
          </a:p>
          <a:p>
            <a:r>
              <a:t>Mistake Watch: Check confidential vs confident, passive forms and to + verb for purpose.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is a confident matter.  →  ✓ It is a confidential matter.  (confident ≠ confidential)</a:t>
            </a:r>
          </a:p>
          <a:p>
            <a:r>
              <a:t>✗ The policy is protect employees.  →  ✓ The policy protects employees. / The policy is to protect employees.  (动词形式)</a:t>
            </a:r>
          </a:p>
          <a:p>
            <a:r>
              <a:t>✗ We should do something for stopping it.  →  ✓ We should do something to stop it.  (目的用不定式)</a:t>
            </a:r>
          </a:p>
          <a:p>
            <a:r>
              <a:t>Mistake Watch: Check confidential vs confident, passive forms and to + verb for purpose.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Zero tolerance: Many Western companies require annual training on harassment and bullying; reporting lines and anonymous hotlines are common.</a:t>
            </a:r>
          </a:p>
          <a:p>
            <a:r>
              <a:t>Whistleblowing: In the UK and US there are laws that protect whistleblowers. It is legal and formal, not seen as betrayal.</a:t>
            </a:r>
          </a:p>
          <a:p>
            <a:r>
              <a:t>Documenting: Keep a record of dates, times and what was said. It helps if a formal investigation is needed.</a:t>
            </a:r>
          </a:p>
          <a:p>
            <a:r>
              <a:t>confident(自信)与 confidential(保密)不同。举报时先陈述事实,不要主观评价。HR 前不加 the。目的用 to + 动词原形,不用 for + -ing。</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how to raise a concern politely and factually.</a:t>
            </a:r>
          </a:p>
          <a:p>
            <a:r>
              <a:t>I can describe what a safe workplace means.</a:t>
            </a:r>
          </a:p>
          <a:p>
            <a:r>
              <a:t>I can use passive voice for policies.</a:t>
            </a:r>
          </a:p>
          <a:p>
            <a:r>
              <a:t>I can distinguish confident and confidential.</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confident / confidential, passive voice for policies, and to + verb of purpose.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31 · Stereotypes and the Older Worker 刻板印象与老年劳动者</a:t>
            </a:r>
          </a:p>
          <a:p>
            <a:r>
              <a:t>Goal: talk about age stereotypes at work, the value of older workers and how to build age-diverse teams.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stereotype = 刻板印象。ageism = 年龄歧视。注意不要说 “old people”,职场上常用 older workers / experienced colleagues。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Challenge an age stereotype at work in a polite way.</a:t>
            </a:r>
          </a:p>
          <a:p>
            <a:r>
              <a:t>Say: acknowledge the view → give evidence → suggest a different approach</a:t>
            </a:r>
          </a:p>
          <a:p>
            <a:r>
              <a:t>Useful starters: “I can see why some people think that, but…” / “In my experience…” / “It might be worth considering…”</a:t>
            </a:r>
          </a:p>
          <a:p>
            <a:r>
              <a:t>反驳刻板印象时先承认再反驳:I can see why… but…。in my experience = 就我的经验。</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“Older workers can’t learn new technology.” “Young people are not loyal.” Stereotypes like these are common, and they shape decisions about hiring, promotion and training. Yet research often shows that differences within an age group are larger than differences between groups. Many older employees are keen to learn and bring valuable experience, such as calm judgement, a wide network and knowledge of how the company really works. Younger colleagues may offer fresh ideas and strong digital skills. The best teams mix both. Companies can reduce ageism by checking job adverts for biased wording, offering training to everyone and creating mentoring in both directions, where a younger employee helps with technology while a senior one shares industry knowledge. Seeing colleagues as individuals, not as a birth year, is good for people and for business.</a:t>
            </a:r>
          </a:p>
          <a:p>
            <a:r>
              <a:t>bias = 偏见。keen to = 渴望。”in both directions” = 双向。judgement 为英式拼写,美式 judgment。</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does research often show about age groups?</a:t>
            </a:r>
          </a:p>
          <a:p>
            <a:r>
              <a:t>A: Differences within an age group are larger than differences between groups.</a:t>
            </a:r>
          </a:p>
          <a:p>
            <a:r>
              <a:t>Q2. What strengths do older and younger workers bring?</a:t>
            </a:r>
          </a:p>
          <a:p>
            <a:r>
              <a:t>A: Older: judgement, network, company knowledge; younger: fresh ideas and digital skills.</a:t>
            </a:r>
          </a:p>
          <a:p>
            <a:r>
              <a:t>Q3. How can companies reduce ageism?</a:t>
            </a:r>
          </a:p>
          <a:p>
            <a:r>
              <a:t>A: Check job adverts, offer training to all, and use two-way mentoring.</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Age and diversity 年龄与多元化</a:t>
            </a:r>
          </a:p>
          <a:p>
            <a:r>
              <a:t>领读 → 学员跟读 → 请学员用表达造一个和自己工作相关的句子。</a:t>
            </a:r>
          </a:p>
          <a:p>
            <a:r>
              <a:t>ageism (noun (uncountable)) 年龄歧视 — “Ageism is illegal in many countries.”</a:t>
            </a:r>
          </a:p>
          <a:p>
            <a:r>
              <a:t>stereotype (noun / verb) 刻板印象 — “Don’t stereotype people by their age.”</a:t>
            </a:r>
          </a:p>
          <a:p>
            <a:r>
              <a:t>retire (verb) 退休 — “He plans to retire at 65.”</a:t>
            </a:r>
          </a:p>
          <a:p>
            <a:r>
              <a:t>mentor (noun / verb) 导师 / 指导 — “She mentors younger staff.”</a:t>
            </a:r>
          </a:p>
          <a:p>
            <a:r>
              <a:t>generation gap (noun) 代沟 — “There’s a generation gap in how we use technology.”</a:t>
            </a:r>
          </a:p>
          <a:p>
            <a:r>
              <a:t>workforce (noun) 劳动力 — “The workforce is getting older.”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Fair and open-minded ★ 公平与开放</a:t>
            </a:r>
          </a:p>
          <a:p>
            <a:r>
              <a:t>领读 → 学员跟读 → 请学员用表达造一个和自己工作相关的句子。</a:t>
            </a:r>
          </a:p>
          <a:p>
            <a:r>
              <a:t>★ age-diverse (adjective) 年龄多元的 — “We’re building an age-diverse team.”</a:t>
            </a:r>
          </a:p>
          <a:p>
            <a:r>
              <a:t>★ set in their ways (idiom) 墨守成规 — “Some people are set in their ways, regardless of age.”</a:t>
            </a:r>
          </a:p>
          <a:p>
            <a:r>
              <a:t>★ fresh perspective (collocation) 新视角 — “Young colleagues bring a fresh perspective.”</a:t>
            </a:r>
          </a:p>
          <a:p>
            <a:r>
              <a:t>★ pass on knowledge (collocation) 传承知识 — “Senior staff can pass on their knowledge.”</a:t>
            </a:r>
          </a:p>
          <a:p>
            <a:r>
              <a:t>★ make assumptions about (collocation) 对……作假设 — “Don’t make assumptions about older workers.”</a:t>
            </a:r>
          </a:p>
          <a:p>
            <a:r>
              <a:t>★ phase out (phrasal verb) 逐步淘汰 — “The role was phased out last year.”</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Ageism / stereotype / retire / mentor / set in their ways / assumptions</a:t>
            </a:r>
          </a:p>
          <a:p>
            <a:r>
              <a:t>1. _______ is illegal in many countries. → Ageism</a:t>
            </a:r>
          </a:p>
          <a:p>
            <a:r>
              <a:t>2. Don’t _______ colleagues based on their age. → stereotype</a:t>
            </a:r>
          </a:p>
          <a:p>
            <a:r>
              <a:t>3. He plans to _______ at the age of sixty-five. → retire</a:t>
            </a:r>
          </a:p>
          <a:p>
            <a:r>
              <a:t>4. A senior engineer will _______ the new graduates. → mentor</a:t>
            </a:r>
          </a:p>
          <a:p>
            <a:r>
              <a:t>5. It’s unfair to say all older workers are _______. → set in their ways</a:t>
            </a:r>
          </a:p>
          <a:p>
            <a:r>
              <a:t>6. Let’s not make _______ about what people can do. → assumptions</a:t>
            </a:r>
          </a:p>
          <a:p>
            <a:r>
              <a:t>Mistake Watch (拼写与搭配): ageism (not “agism”), stereotype, retire. Older workers (not “the old workers”), a mentor to sb. Age is used with at the age of 30 (not “in the age of 30”). Make assumptions (not “do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Challenging a stereotype in a meeting 在会议上委婉反驳刻板印象</a:t>
            </a:r>
          </a:p>
          <a:p>
            <a:r>
              <a:t>情景：In a hiring meeting, a colleague says an older candidate “probably won’t be good with technology.” You respond.</a:t>
            </a:r>
          </a:p>
          <a:p>
            <a:r>
              <a:t>Role A: Sophie Chen, hiring panel member (you) Role B: Mark Daly,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(Sophie): Mark, can I just come in here? I can see why you might think that, but I’m not sure we should assume it.</a:t>
            </a:r>
          </a:p>
          <a:p>
            <a:r>
              <a:t>B (Mark): Well, she has been in the industry for over thirty years. Things have changed a lot.</a:t>
            </a:r>
          </a:p>
          <a:p>
            <a:r>
              <a:t>A: True, but her CV mentions several digital projects, and she led a software migration in 2022.</a:t>
            </a:r>
          </a:p>
          <a:p>
            <a:r>
              <a:t>B: Did she? I must have missed that.</a:t>
            </a:r>
          </a:p>
          <a:p>
            <a:r>
              <a:t>A: It’s on page two. It might be worth asking her about it in the interview.</a:t>
            </a:r>
          </a:p>
          <a:p>
            <a:r>
              <a:t>B: Fair enough. I don’t want to be unfair.</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In my experience, the question isn’t age but willingness to learn. We can ask everyone the same question.</a:t>
            </a:r>
          </a:p>
          <a:p>
            <a:r>
              <a:t>B: Good point. I’ll add a question about how candidates keep their skills up to date.</a:t>
            </a:r>
          </a:p>
          <a:p>
            <a:r>
              <a:t>A: That sounds fair. And it will show us who is genuinely curious.</a:t>
            </a:r>
          </a:p>
          <a:p>
            <a:r>
              <a:t>B: Agreed. Thanks for stopping me. I wasn’t thinking.</a:t>
            </a:r>
          </a:p>
          <a:p>
            <a:r>
              <a:t>A: No problem. We all make assumptions sometimes.</a:t>
            </a:r>
          </a:p>
          <a:p>
            <a:r>
              <a:t>B: True. Let’s make sure we assess her on her record.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31 | </a:t>
            </a:r>
          </a:p>
          <a:p>
            <a:r>
              <a:t>Situation | You politely challenge a stereotype in a meeting.</a:t>
            </a:r>
          </a:p>
          <a:p>
            <a:r>
              <a:t>Your role (A) | Panel member. The stereotype you hear: ______________</a:t>
            </a:r>
          </a:p>
          <a:p>
            <a:r>
              <a:t>Partner’s role (B) | Colleague who makes assumptions but is open to correction.</a:t>
            </a:r>
          </a:p>
          <a:p>
            <a:r>
              <a:t>Must use (4 or more) | I can see why · in my experience · assumptions · it might be worth · fair enough · fresh perspective</a:t>
            </a:r>
          </a:p>
          <a:p>
            <a:r>
              <a:t>Goal | Acknowledge, give evidence and suggest a fair approach.</a:t>
            </a:r>
          </a:p>
          <a:p>
            <a:r>
              <a:t>My notes | ____________________________________________</a:t>
            </a:r>
          </a:p>
          <a:p>
            <a:r>
              <a:t>Mark says: “Younger people are more creative anyway.” Respond with a counterexample.</a:t>
            </a:r>
          </a:p>
          <a:p>
            <a:r>
              <a:t>Suggest a mentoring pair between a senior employee and a graduate.</a:t>
            </a:r>
          </a:p>
          <a:p>
            <a:r>
              <a:t>You hear a joke about age at work. Say something short and calm.</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age-related stereotypes do you know at work? | “People often say that… but in reality…”</a:t>
            </a:r>
          </a:p>
          <a:p>
            <a:r>
              <a:t>2. What can older and younger workers learn from each other? | “Younger staff can learn… from older colleagues, while…”</a:t>
            </a:r>
          </a:p>
          <a:p>
            <a:r>
              <a:t>3. Should there be a legal retirement age? | “I think… because… / It might be better if…”</a:t>
            </a:r>
          </a:p>
          <a:p>
            <a:r>
              <a:t>4. How can recruiters avoid age bias? | “They could… / It would help to…”</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“Older workers can pass on experience and judgement, for example how to handle difficult clients or when to push back. Younger colleagues often bring fresh ideas and digital skills, and are less afraid of challenging the status quo. If they work together, each group can fill gaps in the other’s knowledge. The key is mutual respect: listening without assuming that one’s own way is the only right way.”</a:t>
            </a:r>
          </a:p>
          <a:p>
            <a:r>
              <a:t>pass on = 传授。challenge the status quo = 挑战现状。”fill gaps” = 弥补空缺。mutual respect = 互相尊重。</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old workers are slow. | Some older colleagues need more time with new software, just like anyone. | 避免概括</a:t>
            </a:r>
          </a:p>
          <a:p>
            <a:r>
              <a:t>He is too young for this job. | He’s relatively new to this role, but he’s learning quickly. | 关注经验而非年龄</a:t>
            </a:r>
          </a:p>
          <a:p>
            <a:r>
              <a:t>Old people are conservative. | It’s unfair to assume older people are conservative. | 反驳</a:t>
            </a:r>
          </a:p>
          <a:p>
            <a:r>
              <a:t>She is old, so retire. | She has decided to retire after a long career. | 中性</a:t>
            </a:r>
          </a:p>
          <a:p>
            <a:r>
              <a:t>Young people don’t work hard. | Younger employees often have different expectations about work. | 避免贬低</a:t>
            </a:r>
          </a:p>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Respectful vocabulary: older workers, experienced colleagues, early-career staff; avoid old man/woman and kids.</a:t>
            </a:r>
          </a:p>
          <a:p>
            <a:r>
              <a:t>Generalising carefully: Some / Many / Most + noun, not “All older workers…”.</a:t>
            </a:r>
          </a:p>
          <a:p>
            <a:r>
              <a:t>Relative comparisons: older than, more experienced than, as … as.</a:t>
            </a:r>
          </a:p>
          <a:p>
            <a:r>
              <a:t>Concession: I can see why… but… / That may be true, but…</a:t>
            </a:r>
          </a:p>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old people are not good at computer.  →  ✓ Some older people find computers difficult.  (避免概括)</a:t>
            </a:r>
          </a:p>
          <a:p>
            <a:r>
              <a:t>✗ He is elder than me.  →  ✓ He is older than me.  (elder 不用于 than)</a:t>
            </a:r>
          </a:p>
          <a:p>
            <a:r>
              <a:t>✗ Young people are lazy in general.  →  ✓ It’s unfair to say young people are lazy.  (避免刻板)</a:t>
            </a:r>
          </a:p>
          <a:p>
            <a:r>
              <a:t>Mistake Watch: Check older than, be + age, and avoid absolute words (all, never, can’t).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Age doesn’t matter for the job.  →  ✓ Age shouldn’t matter when we assess candidates.  (更精确)</a:t>
            </a:r>
          </a:p>
          <a:p>
            <a:r>
              <a:t>✗ He has fifty years old.  →  ✓ He’s fifty (years old).  (be + 年龄)</a:t>
            </a:r>
          </a:p>
          <a:p>
            <a:r>
              <a:t>✗ People over 60 can not learn.  →  ✓ People over 60 can learn just as well.  (事实)</a:t>
            </a:r>
          </a:p>
          <a:p>
            <a:r>
              <a:t>Mistake Watch: Check older than, be + age, and avoid absolute words (all, never, can’t).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Asking age: In the US and UK it’s often considered inappropriate to ask a job candidate’s age. Adverts and interviews should focus on skills.</a:t>
            </a:r>
          </a:p>
          <a:p>
            <a:r>
              <a:t>Respect for seniority: In many Asian workplaces seniority is valued. In Western workplaces, titles matter less, and first names are common across ages.</a:t>
            </a:r>
          </a:p>
          <a:p>
            <a:r>
              <a:t>Language: “Oldest” and “youngest” in a team are better described as “most experienced” or “newest”.</a:t>
            </a:r>
          </a:p>
          <a:p>
            <a:r>
              <a:t>英语里“我 50 岁”说 I’m fifty,不说 I have fifty years。older than 而不是 elder than。谈年龄要避免用 all / never,以免以偏概全。</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challenge a stereotype politely with evidence.</a:t>
            </a:r>
          </a:p>
          <a:p>
            <a:r>
              <a:t>I can describe strengths of older and younger workers fairly.</a:t>
            </a:r>
          </a:p>
          <a:p>
            <a:r>
              <a:t>I can use concession (I can see why… but…).</a:t>
            </a:r>
          </a:p>
          <a:p>
            <a:r>
              <a:t>I can say age correctly (I’m fifty) and use older than.</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older than (not elder), be + age, and careful generalisations.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32 · Helping Employees with Disabilities Flourish 帮助残疾员工蓬勃发展</a:t>
            </a:r>
          </a:p>
          <a:p>
            <a:r>
              <a:t>Goal: talk about disability inclusion at work: respectful language, accessibility, adjustments and fair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题回答要尊重,不用 “handicapped” 等过时词。people with disabilities 为 people-first 说法;有些人也偏好 disabled people(英国常用)。</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reasonable adjustments with an employee respectfully.</a:t>
            </a:r>
          </a:p>
          <a:p>
            <a:r>
              <a:t>Say: ask what they need → offer options → agree next steps → check later</a:t>
            </a:r>
          </a:p>
          <a:p>
            <a:r>
              <a:t>Useful starters: “What would help you most?” / “We can look at…” / “Let’s review how it’s working in a month.”</a:t>
            </a:r>
          </a:p>
          <a:p>
            <a:r>
              <a:t>不要替对方决定需要什么,先问:What would help? 表示合作:We can look at…。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people with disabilities want the same things as everyone else: interesting work, fair pay and a chance to progress. Yet many face barriers that have nothing to do with their talent. These may be physical, such as stairs without a lift, or they may be less visible, such as unclear instructions or inflexible hours. Employers can help by making reasonable adjustments, which are changes to the workplace or to how a job is done. Examples include adjustable desks, screen-reader software, quiet spaces or flexible schedules. Many adjustments cost little. The most important step is simple: ask the employee what would help. Managers should focus on outcomes, not on how the work gets done, and avoid assumptions about what a person can or cannot do. When barriers fall, whole teams benefit.</a:t>
            </a:r>
          </a:p>
          <a:p>
            <a:r>
              <a:t>barrier = 障碍。screen-reader = 屏幕阅读器。”reasonable adjustments”(英)/ “accommodations”(美)= 合理便利。outcomes = 结果。</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kinds of barriers are mentioned?</a:t>
            </a:r>
          </a:p>
          <a:p>
            <a:r>
              <a:t>A: Physical ones such as stairs without a lift, and less visible ones such as unclear instructions or inflexible hours.</a:t>
            </a:r>
          </a:p>
          <a:p>
            <a:r>
              <a:t>Q2. What are “reasonable adjustments”?</a:t>
            </a:r>
          </a:p>
          <a:p>
            <a:r>
              <a:t>A: Changes to the workplace or to how a job is done.</a:t>
            </a:r>
          </a:p>
          <a:p>
            <a:r>
              <a:t>Q3. What is the most important step?</a:t>
            </a:r>
          </a:p>
          <a:p>
            <a:r>
              <a:t>A: Ask the employee what would help.</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Inclusive workplaces 包容的职场</a:t>
            </a:r>
          </a:p>
          <a:p>
            <a:r>
              <a:t>领读 → 学员跟读 → 请学员用表达造一个和自己工作相关的句子。</a:t>
            </a:r>
          </a:p>
          <a:p>
            <a:r>
              <a:t>disability (noun) 残障 — “The law protects people with a disability.”</a:t>
            </a:r>
          </a:p>
          <a:p>
            <a:r>
              <a:t>accessible (adjective) 无障碍的 — “Our offices are accessible by wheelchair.”</a:t>
            </a:r>
          </a:p>
          <a:p>
            <a:r>
              <a:t>reasonable adjustments (noun phrase) 合理便利 — “We made reasonable adjustments to her workstation.”</a:t>
            </a:r>
          </a:p>
          <a:p>
            <a:r>
              <a:t>assistive technology (noun phrase) 辅助技术 — “He uses assistive technology to read documents.”</a:t>
            </a:r>
          </a:p>
          <a:p>
            <a:r>
              <a:t>wheelchair user (noun) 轮椅使用者 — “The lift is wide enough for wheelchair users.”</a:t>
            </a:r>
          </a:p>
          <a:p>
            <a:r>
              <a:t>flexible hours (noun phrase) 弹性工时 — “Flexible hours can help people manage health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Support and respect ★ 支持与尊重</a:t>
            </a:r>
          </a:p>
          <a:p>
            <a:r>
              <a:t>领读 → 学员跟读 → 请学员用表达造一个和自己工作相关的句子。</a:t>
            </a:r>
          </a:p>
          <a:p>
            <a:r>
              <a:t>★ level playing field (idiom) 公平竞争环境 — “The aim is to create a level playing field.”</a:t>
            </a:r>
          </a:p>
          <a:p>
            <a:r>
              <a:t>★ accommodate (verb) 满足需求 — “We can accommodate most requests.”</a:t>
            </a:r>
          </a:p>
          <a:p>
            <a:r>
              <a:t>★ disclose (verb) 披露 — “She chose not to disclose her condition.”</a:t>
            </a:r>
          </a:p>
          <a:p>
            <a:r>
              <a:t>★ inclusive design (noun phrase) 包容性设计 — “Inclusive design benefits everyone.”</a:t>
            </a:r>
          </a:p>
          <a:p>
            <a:r>
              <a:t>★ tick-box exercise (idiom) 走形式 — “Training shouldn’t be a tick-box exercise.”</a:t>
            </a:r>
          </a:p>
          <a:p>
            <a:r>
              <a:t>★ flourish (verb) 蓬勃发展 — “Everyone should be able to flourish at work.”</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accessible / adjustments / assistive / level playing field / disclose / flourish</a:t>
            </a:r>
          </a:p>
          <a:p>
            <a:r>
              <a:t>1. The building is fully _______, with ramps and lifts. → accessible</a:t>
            </a:r>
          </a:p>
          <a:p>
            <a:r>
              <a:t>2. We made some reasonable _______ to her workstation. → adjustments</a:t>
            </a:r>
          </a:p>
          <a:p>
            <a:r>
              <a:t>3. He uses _______ technology to read documents on screen. → assistive</a:t>
            </a:r>
          </a:p>
          <a:p>
            <a:r>
              <a:t>4. Our goal is to create a _______ for all candidates. → level playing field</a:t>
            </a:r>
          </a:p>
          <a:p>
            <a:r>
              <a:t>5. Employees do not have to _______ their health conditions. → disclose</a:t>
            </a:r>
          </a:p>
          <a:p>
            <a:r>
              <a:t>6. With the right support, everyone can _______. → flourish</a:t>
            </a:r>
          </a:p>
          <a:p>
            <a:r>
              <a:t>Mistake Watch (拼写与搭配): disability, accessible (not “accesible”), accommodate (two c, two m). Say people with disabilities or disabled people (UK), not “handicapped” or “the disabled”. Make adjustments (not “do”).</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adjustments with a new employee 与新员工讨论合理便利</a:t>
            </a:r>
          </a:p>
          <a:p>
            <a:r>
              <a:t>情景：A new employee, Amir, uses a wheelchair. His manager meets him to talk about his workspace and what would help.</a:t>
            </a:r>
          </a:p>
          <a:p>
            <a:r>
              <a:t>Role A: Rachel Lin, manager (you) Role B: Amir Khan, new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(Rachel): Hi Amir, welcome to the team. I wanted to check how your first week is going, and ask what would make your workspace work better for you.</a:t>
            </a:r>
          </a:p>
          <a:p>
            <a:r>
              <a:t>B (Amir): Thanks, Rachel. It’s been good overall. The main issue is the desks in the open area. They’re a bit low for my chair.</a:t>
            </a:r>
          </a:p>
          <a:p>
            <a:r>
              <a:t>A: That’s useful to know. Would an adjustable desk help?</a:t>
            </a:r>
          </a:p>
          <a:p>
            <a:r>
              <a:t>B: Yes, definitely. And the meeting room on the second floor is difficult to reach when the lift is busy.</a:t>
            </a:r>
          </a:p>
          <a:p>
            <a:r>
              <a:t>A: We can look at moving key meetings to the ground floor. Does that sound sensible?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It does. Thank you. I’d also appreciate it if agendas could be sent in advance.</a:t>
            </a:r>
          </a:p>
          <a:p>
            <a:r>
              <a:t>A: Of course. Is that for preparation, or is it an accessibility need?</a:t>
            </a:r>
          </a:p>
          <a:p>
            <a:r>
              <a:t>B: Mostly preparation, to be honest. I like to read in advance.</a:t>
            </a:r>
          </a:p>
          <a:p>
            <a:r>
              <a:t>A: That’s easy to do. I’ll ask Facilities about the desk this week.</a:t>
            </a:r>
          </a:p>
          <a:p>
            <a:r>
              <a:t>B: Thanks. I really appreciate you asking, rather than assuming.</a:t>
            </a:r>
          </a:p>
          <a:p>
            <a:r>
              <a:t>A: It’s the best way to work. Let’s review it in a month and see how it’s going.</a:t>
            </a:r>
          </a:p>
          <a:p>
            <a:r>
              <a:t>B: Sounds good.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32 | </a:t>
            </a:r>
          </a:p>
          <a:p>
            <a:r>
              <a:t>Situation | A manager asks a new employee what support they need.</a:t>
            </a:r>
          </a:p>
          <a:p>
            <a:r>
              <a:t>Your role (A) | Manager. Be respectful and practical.</a:t>
            </a:r>
          </a:p>
          <a:p>
            <a:r>
              <a:t>Partner’s role (B) | New employee with one accessibility need: ______________</a:t>
            </a:r>
          </a:p>
          <a:p>
            <a:r>
              <a:t>Must use (4 or more) | what would help · reasonable adjustments · accessible · flexible · review · I appreciate you asking</a:t>
            </a:r>
          </a:p>
          <a:p>
            <a:r>
              <a:t>Goal | Ask, offer two options and agree how to review.</a:t>
            </a:r>
          </a:p>
          <a:p>
            <a:r>
              <a:t>My notes | ____________________________________________</a:t>
            </a:r>
          </a:p>
          <a:p>
            <a:r>
              <a:t>Amir says the desk cannot be fixed for two months. Suggest a temporary solution.</a:t>
            </a:r>
          </a:p>
          <a:p>
            <a:r>
              <a:t>A colleague asks you: “What’s wrong with him?” Respond calmly.</a:t>
            </a:r>
          </a:p>
          <a:p>
            <a:r>
              <a:t>Write a short note to the team about making meetings more accessible.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obstacles do people with disabilities face at work? | “One major barrier is… / Some people also face…”</a:t>
            </a:r>
          </a:p>
          <a:p>
            <a:r>
              <a:t>2. What can managers do to be more inclusive? | “They can start by asking… / It’s important to…”</a:t>
            </a:r>
          </a:p>
          <a:p>
            <a:r>
              <a:t>3. Should employers be required by law to hire people with disabilities? | “I think… because… / A quota may…”</a:t>
            </a:r>
          </a:p>
          <a:p>
            <a:r>
              <a:t>4. How can technology make work more accessible? | “Tools such as… can help people…”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“One major barrier is attitude: some employers assume that people with disabilities will be less productive or more expensive to employ, which is simply not true. There are also physical barriers, like buildings with stairs, and digital ones, like websites that don’t work with screen readers. Employers can remove many of these by asking employees what they need and by designing workplaces with everyone in mind.”</a:t>
            </a:r>
          </a:p>
          <a:p>
            <a:r>
              <a:t>simply not true = 完全不符合事实。with everyone in mind = 考虑到所有人。attitude = 态度。”digital ones” 中 ones 替代 barriers。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disabled people can’t work. | People with disabilities can work effectively with the right support. | 尊重</a:t>
            </a:r>
          </a:p>
          <a:p>
            <a:r>
              <a:t>He is handicapped. | He has a disability. / He’s a wheelchair user. | 避免过时词</a:t>
            </a:r>
          </a:p>
          <a:p>
            <a:r>
              <a:t>What is wrong with you? | Is there anything that would make this easier for you? | 避免冒犯</a:t>
            </a:r>
          </a:p>
          <a:p>
            <a:r>
              <a:t>We help the disabled. | We support employees with disabilities. | people-first</a:t>
            </a:r>
          </a:p>
          <a:p>
            <a:r>
              <a:t>Special treatment. | Reasonable adjustments. | 中性、正式</a:t>
            </a:r>
          </a:p>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People-first language: a person with a disability; some prefer disabled person (UK). Follow the person’s own preference.</a:t>
            </a:r>
          </a:p>
          <a:p>
            <a:r>
              <a:t>Avoid “suffer from”; use “has / lives with”: “She has dyslexia.”</a:t>
            </a:r>
          </a:p>
          <a:p>
            <a:r>
              <a:t>Offer, don’t assume: Would you like some help with that? — wait for the answer.</a:t>
            </a:r>
          </a:p>
          <a:p>
            <a:r>
              <a:t>Focus on the barrier: “The stairs are a barrier,” rather than “He can’t climb stairs.”</a:t>
            </a:r>
          </a:p>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handicapped person needs help.  →  ✓ The employee needs an adjustment.  (避免过时词)</a:t>
            </a:r>
          </a:p>
          <a:p>
            <a:r>
              <a:t>✗ He suffers from deafness.  →  ✓ He is deaf / He has a hearing impairment.  (避免 suffer)</a:t>
            </a:r>
          </a:p>
          <a:p>
            <a:r>
              <a:t>✗ We should take care of disabled.  →  ✓ We should support disabled people.  (the + adj 不适合)</a:t>
            </a:r>
          </a:p>
          <a:p>
            <a:r>
              <a:t>Mistake Watch: Avoid “the disabled”, “handicapped”, “suffers from”. Use neutral descriptions or ask the person.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Disabled people are very brave.  →  ✓ Disabled people are professionals like anyone else.  (避免居高临下)</a:t>
            </a:r>
          </a:p>
          <a:p>
            <a:r>
              <a:t>✗ We have a special room for the disabled.  →  ✓ We have an accessible room for staff who need it.  (避免 the disabled)</a:t>
            </a:r>
          </a:p>
          <a:p>
            <a:r>
              <a:t>✗ I’m sorry for your disability.  →  ✓ Let me know if there’s anything I can do to help.  (不需道歉)</a:t>
            </a:r>
          </a:p>
          <a:p>
            <a:r>
              <a:t>Mistake Watch: Avoid “the disabled”, “handicapped”, “suffers from”. Use neutral descriptions or ask the person.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Laws: In the UK, the Equality Act requires “reasonable adjustments”. In the US, the ADA requires “reasonable accommodations”. Terms differ but the idea is the same.</a:t>
            </a:r>
          </a:p>
          <a:p>
            <a:r>
              <a:t>Asking for help: Offer help but accept “no, thank you” without fuss. Don’t touch a wheelchair or mobility aid without asking.</a:t>
            </a:r>
          </a:p>
          <a:p>
            <a:r>
              <a:t>Invisible disabilities: Many conditions (e.g. dyslexia, chronic illness, mental health) are not visible. Never ask for proof.</a:t>
            </a:r>
          </a:p>
          <a:p>
            <a:r>
              <a:t>避免使用 handicapped、the disabled 等词;用 people with disabilities / disabled people。不要替对方决定需要什么,先问 What would help?。accessible = 无障碍的。</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accessibility and adjustments respectfully.</a:t>
            </a:r>
          </a:p>
          <a:p>
            <a:r>
              <a:t>I can use inclusive, people-first language.</a:t>
            </a:r>
          </a:p>
          <a:p>
            <a:r>
              <a:t>I can offer help without assuming.</a:t>
            </a:r>
          </a:p>
          <a:p>
            <a:r>
              <a:t>I can use words such as accessible, accommodate and level playing field.</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respectful vocabulary and avoiding “the + adjective” for groups of people.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33 · Reimagining the Workweek 重新想象工作周</a:t>
            </a:r>
          </a:p>
          <a:p>
            <a:r>
              <a:t>Goal: talk about new ways to organise the working week: four-day weeks, flexible hours, hybrid work and results-based schedules.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题用 “I’d prefer… because…”。nine-to-five = 朝九晚五。hybrid = 混合办公(部分在家)。outdated = 过时的。</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Propose a four-day week to your manager.</a:t>
            </a:r>
          </a:p>
          <a:p>
            <a:r>
              <a:t>Say: the idea → the benefits → how you will protect output → a trial</a:t>
            </a:r>
          </a:p>
          <a:p>
            <a:r>
              <a:t>Useful starters: “I’d like to propose a trial of…” / “The idea is that…” / “We could measure the results by…”</a:t>
            </a:r>
          </a:p>
          <a:p>
            <a:r>
              <a:t>propose a trial = 提议试行。measure results by = 以……衡量结果。出示数据能增强说服力。</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five-day week became standard more than a century ago, when factories ran on fixed hours. Today many jobs depend on ideas and teamwork, not on how long someone sits at a desk. This has led some companies to experiment with shorter weeks, flexible start times and hybrid schedules. Early trials often report higher morale and lower staff turnover, while productivity stays about the same or improves, perhaps because people waste less time in unnecessary meetings. However, the model does not suit everyone. Customer-facing teams need cover, and some employees miss the structure of the office. Successful companies tend to agree clear goals, protect core hours for collaboration and review the results regularly. The conversation is shifting from “How many hours do you work?” to “What do you achieve?”</a:t>
            </a:r>
          </a:p>
          <a:p>
            <a:r>
              <a:t>turnover = 人员流动率。customer-facing = 面向客户的。core hours = 核心工作时间。”shifting from… to…” = 从……转向……。</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the five-day week become standard?</a:t>
            </a:r>
          </a:p>
          <a:p>
            <a:r>
              <a:t>A: Because factories ran on fixed hours over a century ago.</a:t>
            </a:r>
          </a:p>
          <a:p>
            <a:r>
              <a:t>Q2. What do early trials of shorter weeks often report?</a:t>
            </a:r>
          </a:p>
          <a:p>
            <a:r>
              <a:t>A: Higher morale and lower staff turnover, with productivity about the same or better.</a:t>
            </a:r>
          </a:p>
          <a:p>
            <a:r>
              <a:t>Q3. What do successful companies do?</a:t>
            </a:r>
          </a:p>
          <a:p>
            <a:r>
              <a:t>A: Agree clear goals, protect core hours for collaboration and review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Work patterns 工作模式</a:t>
            </a:r>
          </a:p>
          <a:p>
            <a:r>
              <a:t>领读 → 学员跟读 → 请学员用表达造一个和自己工作相关的句子。</a:t>
            </a:r>
          </a:p>
          <a:p>
            <a:r>
              <a:t>four-day week (noun) 四天工作制 — “Our firm is trialling a four-day week.”</a:t>
            </a:r>
          </a:p>
          <a:p>
            <a:r>
              <a:t>flexitime (noun (uncountable)) 弹性工时 — “Flexitime lets me start early.”</a:t>
            </a:r>
          </a:p>
          <a:p>
            <a:r>
              <a:t>hybrid working (noun phrase) 混合办公 — “Hybrid working means two days in the office.”</a:t>
            </a:r>
          </a:p>
          <a:p>
            <a:r>
              <a:t>remote work (noun) 远程办公 — “Remote work saves me two hours of commuting.”</a:t>
            </a:r>
          </a:p>
          <a:p>
            <a:r>
              <a:t>core hours (noun phrase) 核心工作时间 — “Core hours are from ten to three.”</a:t>
            </a:r>
          </a:p>
          <a:p>
            <a:r>
              <a:t>compressed hours (noun phrase) 压缩工时 — “Compressed hours mean four long days.”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Productivity and balance ★ 效率与平衡</a:t>
            </a:r>
          </a:p>
          <a:p>
            <a:r>
              <a:t>领读 → 学员跟读 → 请学员用表达造一个和自己工作相关的句子。</a:t>
            </a:r>
          </a:p>
          <a:p>
            <a:r>
              <a:t>★ output (noun) 产出 — “Our output stayed the same.”</a:t>
            </a:r>
          </a:p>
          <a:p>
            <a:r>
              <a:t>★ staff turnover (noun phrase) 员工流失率 — “Staff turnover has fallen.”</a:t>
            </a:r>
          </a:p>
          <a:p>
            <a:r>
              <a:t>★ results-based (adjective) 以结果为导向 — “We have a results-based culture.”</a:t>
            </a:r>
          </a:p>
          <a:p>
            <a:r>
              <a:t>★ blur the line (idiom) 模糊界限 — “Remote work can blur the line between home and work.”</a:t>
            </a:r>
          </a:p>
          <a:p>
            <a:r>
              <a:t>★ burnout (noun) 倦怠 — “Shorter weeks may reduce burnout.”</a:t>
            </a:r>
          </a:p>
          <a:p>
            <a:r>
              <a:t>★ trial run (noun) 试行 — “We will do a six-month trial run.”</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four-day week / flexitime / hybrid / core hours / output / blur the line</a:t>
            </a:r>
          </a:p>
          <a:p>
            <a:r>
              <a:t>1. Our firm is trialling a _______ with no loss of pay. → four-day week</a:t>
            </a:r>
          </a:p>
          <a:p>
            <a:r>
              <a:t>2. With _______, I can start at 7 and finish at 3. → flexitime</a:t>
            </a:r>
          </a:p>
          <a:p>
            <a:r>
              <a:t>3. Under the _______ model, I work two days at the office. → hybrid</a:t>
            </a:r>
          </a:p>
          <a:p>
            <a:r>
              <a:t>4. Everyone must be online during _______, from ten to three. → core hours</a:t>
            </a:r>
          </a:p>
          <a:p>
            <a:r>
              <a:t>5. The team’s _______ stayed the same despite the shorter week. → output</a:t>
            </a:r>
          </a:p>
          <a:p>
            <a:r>
              <a:t>6. Working from home can _______ between work and private life. → blur the line</a:t>
            </a:r>
          </a:p>
          <a:p>
            <a:r>
              <a:t>Mistake Watch (拼写与搭配): flexitime (UK; US “flextime”), schedule (UK /ˈʃedjuːl/, US /ˈskedʒuːl/), colleague. Work from home (not “work at home”), a four-day week (singular “day”). On a trial basis.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Proposing a trial to a manager 向经理提议试行</a:t>
            </a:r>
          </a:p>
          <a:p>
            <a:r>
              <a:t>情景：You and a colleague want to propose a four-day-week trial to your manager, Ms Torres.</a:t>
            </a:r>
          </a:p>
          <a:p>
            <a:r>
              <a:t>Role A: Hao Wang, team member (you) Role B: Ms Torres, department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(Hao): Ms Torres, thanks for making time. I’d like to propose a trial of a four-day week for our team.</a:t>
            </a:r>
          </a:p>
          <a:p>
            <a:r>
              <a:t>B (Ms Torres): Interesting. What exactly are you suggesting?</a:t>
            </a:r>
          </a:p>
          <a:p>
            <a:r>
              <a:t>A: The same hours, compressed into four days, with Friday off. We’d keep core hours for meetings.</a:t>
            </a:r>
          </a:p>
          <a:p>
            <a:r>
              <a:t>B: And how would you protect output?</a:t>
            </a:r>
          </a:p>
          <a:p>
            <a:r>
              <a:t>A: We’d set weekly goals for each person, and measure results by deadlines met and customer feedback.</a:t>
            </a:r>
          </a:p>
          <a:p>
            <a:r>
              <a:t>B: What about customers who need us on Fridays?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could rotate so that one person is always available, with a day off in lieu.</a:t>
            </a:r>
          </a:p>
          <a:p>
            <a:r>
              <a:t>B: Hmm. I’m not sure the other departments would be happy with that.</a:t>
            </a:r>
          </a:p>
          <a:p>
            <a:r>
              <a:t>A: That’s a fair concern. We could run a three-month trial and share the data openly.</a:t>
            </a:r>
          </a:p>
          <a:p>
            <a:r>
              <a:t>B: All right, it might be worth trying. Put together a short plan and send it to me.</a:t>
            </a:r>
          </a:p>
          <a:p>
            <a:r>
              <a:t>A: I will. Thank you for being open to it.</a:t>
            </a:r>
          </a:p>
          <a:p>
            <a:r>
              <a:t>B: No promises, but I’ll bring it to the leadership team.</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33 | </a:t>
            </a:r>
          </a:p>
          <a:p>
            <a:r>
              <a:t>Situation | You propose a new working pattern to a manager.</a:t>
            </a:r>
          </a:p>
          <a:p>
            <a:r>
              <a:t>Your role (A) | Team member proposing: ______________</a:t>
            </a:r>
          </a:p>
          <a:p>
            <a:r>
              <a:t>Partner’s role (B) | Manager who is open but worried about customers and fairness.</a:t>
            </a:r>
          </a:p>
          <a:p>
            <a:r>
              <a:t>Must use (4 or more) | propose a trial · compressed hours · core hours · output · measure results · worth trying</a:t>
            </a:r>
          </a:p>
          <a:p>
            <a:r>
              <a:t>Goal | State the idea, answer one concern and agree next steps.</a:t>
            </a:r>
          </a:p>
          <a:p>
            <a:r>
              <a:t>My notes | ____________________________________________</a:t>
            </a:r>
          </a:p>
          <a:p>
            <a:r>
              <a:t>Ms Torres asks: “What if productivity drops?” Give a clear answer.</a:t>
            </a:r>
          </a:p>
          <a:p>
            <a:r>
              <a:t>A colleague worries they’ll feel lonely working from home. Suggest solutions.</a:t>
            </a:r>
          </a:p>
          <a:p>
            <a:r>
              <a:t>Present a hybrid schedule for a team in one minute.</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your ideal working week? | “In an ideal world, I’d work… / I’d rather…”</a:t>
            </a:r>
          </a:p>
          <a:p>
            <a:r>
              <a:t>2. Would a four-day week work in every industry? | “It might work well for… but not for…”</a:t>
            </a:r>
          </a:p>
          <a:p>
            <a:r>
              <a:t>3. How can managers measure productivity when people work remotely? | “They could focus on… rather than hours.”</a:t>
            </a:r>
          </a:p>
          <a:p>
            <a:r>
              <a:t>4. What are the risks of always-flexible work? | “One risk is that… / It can blur the line…”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a four-day week would suit roles where output is easy to measure, like software development or design. It would be harder in jobs with fixed opening hours, such as healthcare or retail, where people need to be on site. In those industries, other kinds of flexibility could work better, for example self-rostering or compressed shifts. So I don’t think there’s a single answer for every industry.”</a:t>
            </a:r>
          </a:p>
          <a:p>
            <a:r>
              <a:t>suit = 适合。on site = 在现场。self-rostering = 自主排班。”a single answer” 一个统一答案。</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to work less. | I’d like to explore a more flexible schedule. | 礼貌</a:t>
            </a:r>
          </a:p>
          <a:p>
            <a:r>
              <a:t>Work at home is good. | Working from home gives me more time and focus. | 说明理由</a:t>
            </a:r>
          </a:p>
          <a:p>
            <a:r>
              <a:t>My company allows me to go home early. | My company offers flexitime. | 术语</a:t>
            </a:r>
          </a:p>
          <a:p>
            <a:r>
              <a:t>People do not work enough. | Some people worry about productivity under a shorter week. | 中性</a:t>
            </a:r>
          </a:p>
          <a:p>
            <a:r>
              <a:t>We will test it. | We’d like to run a three-month trial. | 具体</a:t>
            </a:r>
          </a:p>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Gerund subject: “Working from home saves time.” / “Having a four-day week boosts morale.”</a:t>
            </a:r>
          </a:p>
          <a:p>
            <a:r>
              <a:t>Would for hypothesis: “It would reduce stress, but it might create problems for customers.”</a:t>
            </a:r>
          </a:p>
          <a:p>
            <a:r>
              <a:t>Hyphenated compound adjectives: a four-day week, a six-month trial, a full-time job — no plural s on the noun inside.</a:t>
            </a:r>
          </a:p>
          <a:p>
            <a:r>
              <a:t>Expressing preference: I’d prefer to… / I’d rather… / I prefer… to…</a:t>
            </a:r>
          </a:p>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work five days of a week.  →  ✓ We work five days a week.  (a week)</a:t>
            </a:r>
          </a:p>
          <a:p>
            <a:r>
              <a:t>✗ A four-days week  →  ✓ A four-day week  (复合形容词不加 s)</a:t>
            </a:r>
          </a:p>
          <a:p>
            <a:r>
              <a:t>✗ I work at home.  →  ✓ I work from home.  (work from home)</a:t>
            </a:r>
          </a:p>
          <a:p>
            <a:r>
              <a:t>Mistake Watch: Check hyphenated compounds (four-day week), work from home, and prefer A to B.</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I’d rather to work remotely.  →  ✓ I’d rather work remotely.  (would rather + 原形)</a:t>
            </a:r>
          </a:p>
          <a:p>
            <a:r>
              <a:t>✗ It is flexibility for me.  →  ✓ It gives me flexibility.  (动词)</a:t>
            </a:r>
          </a:p>
          <a:p>
            <a:r>
              <a:t>✗ I prefer work at home than in office.  →  ✓ I prefer working from home to working in the office.  (prefer A to B)</a:t>
            </a:r>
          </a:p>
          <a:p>
            <a:r>
              <a:t>Mistake Watch: Check hyphenated compounds (four-day week), work from home, and prefer A to B.</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Experiments: Trials of a four-day week have been run in several countries, but results vary by industry. Treat statistics as examples, not rules.</a:t>
            </a:r>
          </a:p>
          <a:p>
            <a:r>
              <a:t>Right to disconnect: Some countries have laws that let employees ignore work messages outside working hours.</a:t>
            </a:r>
          </a:p>
          <a:p>
            <a:r>
              <a:t>Presenteeism: Some managers still associate being visible with working hard. Results-based management tries to avoid that.</a:t>
            </a:r>
          </a:p>
          <a:p>
            <a:r>
              <a:t>复合形容词中的名词用单数:a four-day week, a ten-minute break。work from home,不是 work at home。prefer A to B,两个 A、B 用相同形式。</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propose a new working pattern persuasively.</a:t>
            </a:r>
          </a:p>
          <a:p>
            <a:r>
              <a:t>I can discuss advantages and risks of flexible work.</a:t>
            </a:r>
          </a:p>
          <a:p>
            <a:r>
              <a:t>I can use compound adjectives (a four-day week).</a:t>
            </a:r>
          </a:p>
          <a:p>
            <a:r>
              <a:t>I can use prefer A to B and work from home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hyphenated compound adjectives, work from home, and prefer A to B.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34 · Sharing Office Space 共享办公空间</a:t>
            </a:r>
          </a:p>
          <a:p>
            <a:r>
              <a:t>Goal: talk about shared workspaces: open-plan, hot-desking and co-working, and the etiquette of sharing space.</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题回答 “I have my own desk” 或 “I hot-desk”。hot-desking = 不固定座位。co-working space = 联合办公空间。</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Agree on shared-space rules with your team.</a:t>
            </a:r>
          </a:p>
          <a:p>
            <a:r>
              <a:t>Say: raise the problem → suggest rules → ask for opinions → agree</a:t>
            </a:r>
          </a:p>
          <a:p>
            <a:r>
              <a:t>Useful starters: “I think it would help if we agreed on…” / “How does everyone feel about…?” / “Let’s try it for a month.”</a:t>
            </a:r>
          </a:p>
          <a:p>
            <a:r>
              <a:t>it would help if + 过去式,表示建议,语气委婉。How does everyone feel about…? 征求意见。</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many offices, assigned desks have disappeared. Under hot-desking, employees pick a free workstation each morning, which saves space and money when many people work from home part of the week. Co-working spaces take the idea further by hosting freelancers and small companies in the same building. Supporters like the flexibility, the chance to meet new people and the lively atmosphere. Critics mention noise, lack of privacy and the daily hunt for a decent chair. Sharing space works best when everyone follows a few simple rules: clear your desk at the end of the day, book in advance, use quiet zones for calls and respect other people’s belongings. Companies can help by providing lockers, a booking app and a mix of spaces for focus, meetings and relaxation.</a:t>
            </a:r>
          </a:p>
          <a:p>
            <a:r>
              <a:t>assigned desks = 固定工位。locker = 储物柜。”the daily hunt for” = 每天找……。decent = 像样的。</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hot-desking?</a:t>
            </a:r>
          </a:p>
          <a:p>
            <a:r>
              <a:t>A: Employees choose a free workstation each day instead of having their own desk.</a:t>
            </a:r>
          </a:p>
          <a:p>
            <a:r>
              <a:t>Q2. What do critics complain about?</a:t>
            </a:r>
          </a:p>
          <a:p>
            <a:r>
              <a:t>A: Noise, lack of privacy and the daily hunt for a good chair.</a:t>
            </a:r>
          </a:p>
          <a:p>
            <a:r>
              <a:t>Q3. What simple rules does the text suggest?</a:t>
            </a:r>
          </a:p>
          <a:p>
            <a:r>
              <a:t>A: Clear your desk, book ahead, use quiet zones for calls and respect others’ belongings.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Shared workspaces 共享工作空间</a:t>
            </a:r>
          </a:p>
          <a:p>
            <a:r>
              <a:t>领读 → 学员跟读 → 请学员用表达造一个和自己工作相关的句子。</a:t>
            </a:r>
          </a:p>
          <a:p>
            <a:r>
              <a:t>hot-desking (noun) 不固定工位 — “Hot-desking cuts costs.”</a:t>
            </a:r>
          </a:p>
          <a:p>
            <a:r>
              <a:t>co-working space (noun) 联合办公空间 — “I rent a desk in a co-working space.”</a:t>
            </a:r>
          </a:p>
          <a:p>
            <a:r>
              <a:t>open-plan (adjective) 开放式的 — “The open-plan layout encourages collaboration.”</a:t>
            </a:r>
          </a:p>
          <a:p>
            <a:r>
              <a:t>quiet zone (noun phrase) 安静区 — “Please take calls outside the quiet zone.”</a:t>
            </a:r>
          </a:p>
          <a:p>
            <a:r>
              <a:t>locker (noun) 储物柜 — “You can leave your things in a locker.”</a:t>
            </a:r>
          </a:p>
          <a:p>
            <a:r>
              <a:t>booking system (noun phrase) 预订系统 — “We use a booking system for rooms.”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Etiquette and living together ★ 共处礼仪</a:t>
            </a:r>
          </a:p>
          <a:p>
            <a:r>
              <a:t>领读 → 学员跟读 → 请学员用表达造一个和自己工作相关的句子。</a:t>
            </a:r>
          </a:p>
          <a:p>
            <a:r>
              <a:t>★ clear your desk (collocation) 清理桌面 — “Please clear your desk at the end of the day.”</a:t>
            </a:r>
          </a:p>
          <a:p>
            <a:r>
              <a:t>★ respect personal space (collocation) 尊重个人空间 — “Respect people’s personal space.”</a:t>
            </a:r>
          </a:p>
          <a:p>
            <a:r>
              <a:t>★ keep to yourself (phrase) 不打扰他人 — “He mostly keeps to himself.”</a:t>
            </a:r>
          </a:p>
          <a:p>
            <a:r>
              <a:t>★ headphones on (phrase) 戴耳机(勿扰) — “Headphones on usually means “don’t disturb”.”</a:t>
            </a:r>
          </a:p>
          <a:p>
            <a:r>
              <a:t>★ pitch in (phrasal verb) 出力帮忙 — “Everyone pitches in to keep the kitchen clean.”</a:t>
            </a:r>
          </a:p>
          <a:p>
            <a:r>
              <a:t>★ hog (the space) (informal verb) 霸占 — “Please don’t hog the meeting room.”</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Hot-desking / co-working / quiet zone / locker / clear your desk / pitch in</a:t>
            </a:r>
          </a:p>
          <a:p>
            <a:r>
              <a:t>1. _______ means that nobody has a permanent seat. → Hot-desking</a:t>
            </a:r>
          </a:p>
          <a:p>
            <a:r>
              <a:t>2. She runs her start-up from a _______ space downtown. → co-working</a:t>
            </a:r>
          </a:p>
          <a:p>
            <a:r>
              <a:t>3. Please make calls outside the _______. → quiet zone</a:t>
            </a:r>
          </a:p>
          <a:p>
            <a:r>
              <a:t>4. Leave your coat in the _______ if you like. → locker</a:t>
            </a:r>
          </a:p>
          <a:p>
            <a:r>
              <a:t>5. At the end of the day, please _______ so the next person can use it. → clear your desk</a:t>
            </a:r>
          </a:p>
          <a:p>
            <a:r>
              <a:t>6. When the office is busy, everyone should _______ and help. → pitch in</a:t>
            </a:r>
          </a:p>
          <a:p>
            <a:r>
              <a:t>Mistake Watch (拼写与搭配): workspace / workstation (one word), co-working (hyphen), etiquette (not “etiquete”). In an open-plan office, at my desk, on the desk (surface). Share a desk (not “share with a desk”).</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Agreeing shared-space rules 商定共享空间规则</a:t>
            </a:r>
          </a:p>
          <a:p>
            <a:r>
              <a:t>情景：Your team has moved to hot-desking and people are complaining. At the team meeting, you suggest simple rules.</a:t>
            </a:r>
          </a:p>
          <a:p>
            <a:r>
              <a:t>Role A: Zoe Ma, team member (you) Role B: Ben Cole,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(Zoe): Before we finish, can I raise the desk situation? A few people are frustrated.</a:t>
            </a:r>
          </a:p>
          <a:p>
            <a:r>
              <a:t>B (Ben): Yes, honestly it’s getting messy. I found a half-eaten sandwich on my desk yesterday.</a:t>
            </a:r>
          </a:p>
          <a:p>
            <a:r>
              <a:t>A: Exactly. I think it would help if we agreed on a few basic rules.</a:t>
            </a:r>
          </a:p>
          <a:p>
            <a:r>
              <a:t>B: Such as?</a:t>
            </a:r>
          </a:p>
          <a:p>
            <a:r>
              <a:t>A: Clear your desk at the end of each day, and no strong-smelling food at the desks.</a:t>
            </a:r>
          </a:p>
          <a:p>
            <a:r>
              <a:t>B: Sounds reasonable. What about calls? Some people talk quite loudly.</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could mark one area as a quiet zone and take calls in the phone booths.</a:t>
            </a:r>
          </a:p>
          <a:p>
            <a:r>
              <a:t>B: Good idea. And we need a better booking system. I keep arriving to find no free seat.</a:t>
            </a:r>
          </a:p>
          <a:p>
            <a:r>
              <a:t>A: I’ll ask IT if we can add a desk-booking app. How does everyone feel about trying these for a month?</a:t>
            </a:r>
          </a:p>
          <a:p>
            <a:r>
              <a:t>B: I’m in. And we can review after four weeks.</a:t>
            </a:r>
          </a:p>
          <a:p>
            <a:r>
              <a:t>A: Perfect. I’ll write the rules up and post them on the team channel.</a:t>
            </a:r>
          </a:p>
          <a:p>
            <a:r>
              <a:t>B: Great. Thanks for organising this, Zoe.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34 | </a:t>
            </a:r>
          </a:p>
          <a:p>
            <a:r>
              <a:t>Situation | You agree shared-space rules with a colleague.</a:t>
            </a:r>
          </a:p>
          <a:p>
            <a:r>
              <a:t>Your role (A) | Team member proposing rules: ______________</a:t>
            </a:r>
          </a:p>
          <a:p>
            <a:r>
              <a:t>Partner’s role (B) | Colleague with one complaint of their own.</a:t>
            </a:r>
          </a:p>
          <a:p>
            <a:r>
              <a:t>Must use (4 or more) | it would help if · quiet zone · clear your desk · booking system · try it for a month · review</a:t>
            </a:r>
          </a:p>
          <a:p>
            <a:r>
              <a:t>Goal | Raise the issue, suggest three rules and agree a review date.</a:t>
            </a:r>
          </a:p>
          <a:p>
            <a:r>
              <a:t>My notes | ____________________________________________</a:t>
            </a:r>
          </a:p>
          <a:p>
            <a:r>
              <a:t>Ben says: “I don’t want to share my desk.” Respond.</a:t>
            </a:r>
          </a:p>
          <a:p>
            <a:r>
              <a:t>A colleague leaves rubbish on the desk. Write a friendly reminder message.</a:t>
            </a:r>
          </a:p>
          <a:p>
            <a:r>
              <a:t>Explain why you prefer an open-plan office or not.</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hot-desking or having your own desk? | “I’d prefer… because… / Having my own desk means…”</a:t>
            </a:r>
          </a:p>
          <a:p>
            <a:r>
              <a:t>2. How does an open-plan office affect your concentration? | “It makes it harder / easier to… because…”</a:t>
            </a:r>
          </a:p>
          <a:p>
            <a:r>
              <a:t>3. What rules should be in place for shared offices? | “There should be rules about… / Everyone ought to…”</a:t>
            </a:r>
          </a:p>
          <a:p>
            <a:r>
              <a:t>4. Will co-working spaces replace traditional offices? | “I doubt it, because… / They might become more common because…”</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there should be a few basic rules, mainly about noise, cleanliness and booking. For example, people should clear their desks at the end of each day, take calls in designated areas and not leave personal items in shared spaces. Rules are especially important when people don’t know each other well, since different people have different ideas of what’s acceptable. But the rules should be simple and agreed by the team, not imposed from above.”</a:t>
            </a:r>
          </a:p>
          <a:p>
            <a:r>
              <a:t>designated = 指定的。”imposed from above” = 自上而下强加。”different ideas of what’s acceptable” 对可接受的看法不同。</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There is no place. | There aren’t any free desks today. | 可数名词</a:t>
            </a:r>
          </a:p>
          <a:p>
            <a:r>
              <a:t>Your things are everywhere. | Could you tidy your things? I need the space. | 礼貌</a:t>
            </a:r>
          </a:p>
          <a:p>
            <a:r>
              <a:t>Too noisy. | It’s quite noisy here. Could we move to a quieter area? | 完整</a:t>
            </a:r>
          </a:p>
          <a:p>
            <a:r>
              <a:t>I don’t like open office. | I find open-plan offices distracting. | 具体</a:t>
            </a:r>
          </a:p>
          <a:p>
            <a:r>
              <a:t>Use the room. | You can book the room through the app. | 说明方法</a:t>
            </a:r>
          </a:p>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Making suggestions: It would help if we… / How about…-ing? / Why don’t we…?</a:t>
            </a:r>
          </a:p>
          <a:p>
            <a:r>
              <a:t>Used to / be used to: “I used to have my own desk” (past habit); “I’m used to the noise” (accustomed).</a:t>
            </a:r>
          </a:p>
          <a:p>
            <a:r>
              <a:t>Countable / uncountable: a desk, a seat, a room (countable) vs space, noise, furniture (uncountable).</a:t>
            </a:r>
          </a:p>
          <a:p>
            <a:r>
              <a:t>Polite imperatives: Please remember to… / Could you please…?</a:t>
            </a:r>
          </a:p>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There is no enough space.  →  ✓ There isn’t enough space.  (not enough)</a:t>
            </a:r>
          </a:p>
          <a:p>
            <a:r>
              <a:t>✗ I’m used to work in open office.  →  ✓ I’m used to working in an open-plan office.  (be used to + -ing)</a:t>
            </a:r>
          </a:p>
          <a:p>
            <a:r>
              <a:t>✗ Furnitures are old.  →  ✓ The furniture is old.  (furniture 不可数)</a:t>
            </a:r>
          </a:p>
          <a:p>
            <a:r>
              <a:t>Mistake Watch: Check uncountable furniture / space / noise, be used to + -ing, and enough word order.</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sit at the same place every day.  →  ✓ I sit in the same place every day.  (in the same place)</a:t>
            </a:r>
          </a:p>
          <a:p>
            <a:r>
              <a:t>✗ We share the table with others.  →  ✓ We share the desk with other people.  (具体)</a:t>
            </a:r>
          </a:p>
          <a:p>
            <a:r>
              <a:t>✗ The noise are loud.  →  ✓ The noise is loud.  (单数)</a:t>
            </a:r>
          </a:p>
          <a:p>
            <a:r>
              <a:t>Mistake Watch: Check uncountable furniture / space / noise, be used to + -ing, and enough word order.</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Headphones: In many open-plan offices, wearing headphones is a sign that someone doesn’t want to be interrupted.</a:t>
            </a:r>
          </a:p>
          <a:p>
            <a:r>
              <a:t>Food: In UK and US offices, strong-smelling food (e.g. fish) is often discouraged at desks. Rules vary.</a:t>
            </a:r>
          </a:p>
          <a:p>
            <a:r>
              <a:t>Cleaning up: Clear-desk policies are common, partly for security and confidentiality reasons.</a:t>
            </a:r>
          </a:p>
          <a:p>
            <a:r>
              <a:t>furniture / noise / space 不可数。be used to + -ing 表示习惯了;used to + 动词原形 表示过去习惯。open-plan 要连字符。</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suggest rules for shared space politely.</a:t>
            </a:r>
          </a:p>
          <a:p>
            <a:r>
              <a:t>I can describe pros and cons of different office layouts.</a:t>
            </a:r>
          </a:p>
          <a:p>
            <a:r>
              <a:t>I can use it would help if… and how about…-ing?.</a:t>
            </a:r>
          </a:p>
          <a:p>
            <a:r>
              <a:t>I can distinguish used to and be used to.</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furniture, used to vs be used to + -ing, and polite suggestions.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35 · Everyone’s Invited 人人都参与:包容与艰难对话</a:t>
            </a:r>
          </a:p>
          <a:p>
            <a:r>
              <a:t>Goal: talk about inclusion and having difficult conversations at work: making everyone feel welcome and dealing with sensitive topics.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left out = 被排除在外。inclusion 与 diversity 不同:diversity 指多元,inclusion 指让每个人都能参与。</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Start a difficult conversation with a colleague tactfully.</a:t>
            </a:r>
          </a:p>
          <a:p>
            <a:r>
              <a:t>Say: ask permission → state your purpose → describe the facts → ask for their view → agree a way forward</a:t>
            </a:r>
          </a:p>
          <a:p>
            <a:r>
              <a:t>Useful starters: “Can we talk about… when you have a moment?” / “I’d like to understand…” / “What’s your take on this?”</a:t>
            </a:r>
          </a:p>
          <a:p>
            <a:r>
              <a:t>开启艰难对话时先征得同意,再表明目的。What’s your take? = 你怎么看?</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Diversity is about who is in the room; inclusion is about whether they are heard. A team can have people of different ages, backgrounds and abilities and still be exclusive if the same voices dominate every meeting. Inclusive leaders notice who has not spoken and invite them in: “Sam, you’ve worked with that client. What do you think?” They share agendas in advance, rotate who leads discussions and say thank you for disagreement. Difficult conversations are part of inclusion, too. Avoiding them often causes more damage, because small problems grow. A good approach is to prepare, stay calm, describe specific behaviour and ask questions before drawing conclusions. The goal is not to win but to understand each other and find a way forward.</a:t>
            </a:r>
          </a:p>
          <a:p>
            <a:r>
              <a:t>dominate = 主导。rotate = 轮流。”draw conclusions” = 得出结论。exclusive 在此指“排他的”。</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difference between diversity and inclusion?</a:t>
            </a:r>
          </a:p>
          <a:p>
            <a:r>
              <a:t>A: Diversity is who is in the room; inclusion is whether they are heard.</a:t>
            </a:r>
          </a:p>
          <a:p>
            <a:r>
              <a:t>Q2. What can inclusive leaders do in meetings?</a:t>
            </a:r>
          </a:p>
          <a:p>
            <a:r>
              <a:t>A: Invite quiet people to speak, share agendas in advance, rotate leadership and welcome disagreement.</a:t>
            </a:r>
          </a:p>
          <a:p>
            <a:r>
              <a:t>Q3. What approach does the text suggest for difficult conversations?</a:t>
            </a:r>
          </a:p>
          <a:p>
            <a:r>
              <a:t>A: Prepare, stay calm, describe specific behaviour and ask questions before drawing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Inclusion 包容</a:t>
            </a:r>
          </a:p>
          <a:p>
            <a:r>
              <a:t>领读 → 学员跟读 → 请学员用表达造一个和自己工作相关的句子。</a:t>
            </a:r>
          </a:p>
          <a:p>
            <a:r>
              <a:t>inclusion (noun) 包容 — “Inclusion is about belonging.”</a:t>
            </a:r>
          </a:p>
          <a:p>
            <a:r>
              <a:t>diversity (noun) 多元化 — “We value diversity in our team.”</a:t>
            </a:r>
          </a:p>
          <a:p>
            <a:r>
              <a:t>welcome (verb) 欢迎 — “We want to welcome new ideas.”</a:t>
            </a:r>
          </a:p>
          <a:p>
            <a:r>
              <a:t>include / involve (verb) 包括 / 使参与 — “Please include everyone in the invite.”</a:t>
            </a:r>
          </a:p>
          <a:p>
            <a:r>
              <a:t>marginalised (adjective) 被边缘化的 — “Some voices feel marginalised.”</a:t>
            </a:r>
          </a:p>
          <a:p>
            <a:r>
              <a:t>sensitive topic (noun phrase) 敏感话题 — “Politics can be a sensitive topic.”</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Speaking honestly and kindly ★ 坦诚而友善地沟通</a:t>
            </a:r>
          </a:p>
          <a:p>
            <a:r>
              <a:t>领读 → 学员跟读 → 请学员用表达造一个和自己工作相关的句子。</a:t>
            </a:r>
          </a:p>
          <a:p>
            <a:r>
              <a:t>★ a difficult conversation (noun phrase) 艰难的对话 — “I need to have a difficult conversation with him.”</a:t>
            </a:r>
          </a:p>
          <a:p>
            <a:r>
              <a:t>★ draw someone out (phrasal verb) 引导某人开口 — “She draws out quieter team members.”</a:t>
            </a:r>
          </a:p>
          <a:p>
            <a:r>
              <a:t>★ tread carefully (idiom) 谨慎行事 — “We need to tread carefully on this issue.”</a:t>
            </a:r>
          </a:p>
          <a:p>
            <a:r>
              <a:t>★ get everyone on board (idiom) 让大家都支持 — “We need to get everyone on board.”</a:t>
            </a:r>
          </a:p>
          <a:p>
            <a:r>
              <a:t>★ clear the air (idiom) 消除误会 — “It’s better to clear the air.”</a:t>
            </a:r>
          </a:p>
          <a:p>
            <a:r>
              <a:t>★ common ground (noun phrase) 共同点 — “Let’s find some common ground.”</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Inclusion / diversity / marginalised / difficult conversation / clear the air / common ground</a:t>
            </a:r>
          </a:p>
          <a:p>
            <a:r>
              <a:t>1. _______ means making sure everyone can take part and be heard. → Inclusion</a:t>
            </a:r>
          </a:p>
          <a:p>
            <a:r>
              <a:t>2. We value _______ in our recruitment. → diversity</a:t>
            </a:r>
          </a:p>
          <a:p>
            <a:r>
              <a:t>3. Some team members felt _______ because their ideas were ignored. → marginalised</a:t>
            </a:r>
          </a:p>
          <a:p>
            <a:r>
              <a:t>4. I need to have a _______ with a colleague about the deadline. → difficult conversation</a:t>
            </a:r>
          </a:p>
          <a:p>
            <a:r>
              <a:t>5. A short chat helped to _______ after the argument. → clear the air</a:t>
            </a:r>
          </a:p>
          <a:p>
            <a:r>
              <a:t>6. Let’s find some _______ before we make a final decision. → common ground</a:t>
            </a:r>
          </a:p>
          <a:p>
            <a:r>
              <a:t>Mistake Watch (拼写与搭配): inclusion, diversity, marginalised (US marginalized). Have a conversation (not “make”), talk to / with someone, discuss + object (no “about”): “discuss the issue”. Feel included (not “feel inclusion”).</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a difficult conversation 一场艰难的对话</a:t>
            </a:r>
          </a:p>
          <a:p>
            <a:r>
              <a:t>情景：A teammate, Ravi, keeps interrupting you in meetings. You ask to talk privately.</a:t>
            </a:r>
          </a:p>
          <a:p>
            <a:r>
              <a:t>Role A: Elena Park, teammate (you) Role B: Ravi Shah,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(Elena): Ravi, do you have ten minutes this afternoon? I’d like to talk about something.</a:t>
            </a:r>
          </a:p>
          <a:p>
            <a:r>
              <a:t>B (Ravi): Sure. Is everything all right?</a:t>
            </a:r>
          </a:p>
          <a:p>
            <a:r>
              <a:t>A: Yes, nothing serious. I’d like to talk about how we work together in meetings.</a:t>
            </a:r>
          </a:p>
          <a:p>
            <a:r>
              <a:t>B: Okay, go ahead.</a:t>
            </a:r>
          </a:p>
          <a:p>
            <a:r>
              <a:t>A: In the last two meetings, I’ve been interrupted a few times before I finished my point. I found it hard to get my ideas across.</a:t>
            </a:r>
          </a:p>
          <a:p>
            <a:r>
              <a:t>B: Really? I didn’t realise. I get excited and jump in.</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understand, and I value your energy. It would help me if I could finish before you add your thoughts.</a:t>
            </a:r>
          </a:p>
          <a:p>
            <a:r>
              <a:t>B: That’s fair. I’ll try to wait. Thanks for telling me directly.</a:t>
            </a:r>
          </a:p>
          <a:p>
            <a:r>
              <a:t>A: Thanks for listening. What’s your take on how meetings are going?</a:t>
            </a:r>
          </a:p>
          <a:p>
            <a:r>
              <a:t>B: Honestly, I sometimes feel we don’t hear from Priya. Maybe we could invite her opinion more.</a:t>
            </a:r>
          </a:p>
          <a:p>
            <a:r>
              <a:t>A: Good point. Let’s do that together.</a:t>
            </a:r>
          </a:p>
          <a:p>
            <a:r>
              <a:t>B: Agreed. And please remind me if I jump in again.</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35 | </a:t>
            </a:r>
          </a:p>
          <a:p>
            <a:r>
              <a:t>Situation | You start a difficult conversation about a behaviour.</a:t>
            </a:r>
          </a:p>
          <a:p>
            <a:r>
              <a:t>Your role (A) | Colleague who raises an issue with you: ______________</a:t>
            </a:r>
          </a:p>
          <a:p>
            <a:r>
              <a:t>Partner’s role (B) | Colleague who is surprised but willing to listen.</a:t>
            </a:r>
          </a:p>
          <a:p>
            <a:r>
              <a:t>Must use (4 or more) | can we talk · I’d like to understand · what’s your take · it would help if · common ground · clear the air</a:t>
            </a:r>
          </a:p>
          <a:p>
            <a:r>
              <a:t>Goal | Ask permission, describe facts, listen and agree a change.</a:t>
            </a:r>
          </a:p>
          <a:p>
            <a:r>
              <a:t>My notes | ____________________________________________</a:t>
            </a:r>
          </a:p>
          <a:p>
            <a:r>
              <a:t>Ravi becomes defensive: “You’re being oversensitive.” Stay calm.</a:t>
            </a:r>
          </a:p>
          <a:p>
            <a:r>
              <a:t>Invite a quiet colleague to share an opinion in a meeting.</a:t>
            </a:r>
          </a:p>
          <a:p>
            <a:r>
              <a:t>Write a message to ask a colleague for a private chat.</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does inclusion mean in your workplace? | “In my team, inclusion means… / People feel included when…”</a:t>
            </a:r>
          </a:p>
          <a:p>
            <a:r>
              <a:t>2. Why do people avoid difficult conversations? | “They may fear… / It can be uncomfortable because…”</a:t>
            </a:r>
          </a:p>
          <a:p>
            <a:r>
              <a:t>3. How can you encourage quieter colleagues to contribute? | “I’d ask them directly… / I’d send the agenda in advance…”</a:t>
            </a:r>
          </a:p>
          <a:p>
            <a:r>
              <a:t>4. Which topics should be avoided at work? | “I think topics like… can be sensitive because… / It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encourage quieter colleagues, I’d start by sending the agenda in advance, so they have time to think. In the meeting I’d invite them by name, with a low-pressure question like “You’ve worked with that client; what’s your view?” I’d also make sure no one interrupts them and thank them for their input. Some people prefer to contribute in writing, so I’d leave space for comments after the meeting as well.”</a:t>
            </a:r>
          </a:p>
          <a:p>
            <a:r>
              <a:t>low-pressure = 低压力的。”by name” = 点名。”leave space for” = 留出机会。input = 意见/贡献。</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You always interrupt me. | I’ve noticed I was interrupted a few times in the meeting. | 描述事实</a:t>
            </a:r>
          </a:p>
          <a:p>
            <a:r>
              <a:t>I need to talk to you. | Do you have a few minutes to chat about something? | 缓和语气</a:t>
            </a:r>
          </a:p>
          <a:p>
            <a:r>
              <a:t>Why did you do that? | Could you help me understand what happened? | 提问不指责</a:t>
            </a:r>
          </a:p>
          <a:p>
            <a:r>
              <a:t>You’re wrong. | I see it a bit differently. | 委婉不同意</a:t>
            </a:r>
          </a:p>
          <a:p>
            <a:r>
              <a:t>Let’s forget it. | Let’s move forward from here. | 积极收尾</a:t>
            </a:r>
          </a:p>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I-statements: I feel… when… because… instead of You always….</a:t>
            </a:r>
          </a:p>
          <a:p>
            <a:r>
              <a:t>Softeners: a bit, a little, sort of, I wonder if… — use them to soften, not to hide the message.</a:t>
            </a:r>
          </a:p>
          <a:p>
            <a:r>
              <a:t>Open questions: What’s your take? How do you see it? — avoid “Why?” which can sound accusing.</a:t>
            </a:r>
          </a:p>
          <a:p>
            <a:r>
              <a:t>Past simple vs present perfect: “I’ve been interrupted twice this week.” (recent) vs “You interrupted me yesterday.” (specific time)</a:t>
            </a:r>
          </a:p>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discuss about the problem.  →  ✓ I want to discuss the problem.  (discuss 后无 about)</a:t>
            </a:r>
          </a:p>
          <a:p>
            <a:r>
              <a:t>✗ You are rude person.  →  ✓ You came across as rude. / That felt rude to me.  (评价行为)</a:t>
            </a:r>
          </a:p>
          <a:p>
            <a:r>
              <a:t>✗ I was marginalised by the team since I joined.  →  ✓ I’ve felt marginalised since I joined.  (since + 完成时)</a:t>
            </a:r>
          </a:p>
          <a:p>
            <a:r>
              <a:t>Mistake Watch: Check discuss (no about), everyone + singular verb, and take it personally.</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Everyone are invited.  →  ✓ Everyone is invited.  (everyone 为单数)</a:t>
            </a:r>
          </a:p>
          <a:p>
            <a:r>
              <a:t>✗ We have a conversation to make a decision.  →  ✓ We had a conversation and made a decision.  (have a conversation)</a:t>
            </a:r>
          </a:p>
          <a:p>
            <a:r>
              <a:t>✗ Please do not take it personal.  →  ✓ Please don’t take it personally.  (副词)</a:t>
            </a:r>
          </a:p>
          <a:p>
            <a:r>
              <a:t>Mistake Watch: Check discuss (no about), everyone + singular verb, and take it personally.</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Indirect or direct: Many English speakers soften criticism, but expect a clear message. Say what you mean, kindly.</a:t>
            </a:r>
          </a:p>
          <a:p>
            <a:r>
              <a:t>Politics and religion: In the US and UK, politics, religion and money are often avoided in casual work conversation.</a:t>
            </a:r>
          </a:p>
          <a:p>
            <a:r>
              <a:t>Name pronunciation: Learning how to say a colleague’s name correctly is a small but meaningful act of inclusion.</a:t>
            </a:r>
          </a:p>
          <a:p>
            <a:r>
              <a:t>discuss 后面不加 about。everyone 后接单数动词。“我觉得你很无礼”不如说“那让我觉得不被尊重”,用 I-statements 谈感受。</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start a difficult conversation tactfully.</a:t>
            </a:r>
          </a:p>
          <a:p>
            <a:r>
              <a:t>I can invite quieter colleagues to contribute.</a:t>
            </a:r>
          </a:p>
          <a:p>
            <a:r>
              <a:t>I can use I-statements and softeners.</a:t>
            </a:r>
          </a:p>
          <a:p>
            <a:r>
              <a:t>I can use discuss (without about) and everyone + singular verb.</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discuss without about, everyone + singular verb, and I-statements.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36 · The Benefits of Conflict 冲突的好处</a:t>
            </a:r>
          </a:p>
          <a:p>
            <a:r>
              <a:t>Goal: talk about healthy disagreement at work: why conflict can be useful, how to disagree constructively and how to resolve disputes.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conflict 不一定是吵架,也可以指意见分歧。healthy conflict = 良性冲突。第 4 题可用 “I see your point, but…”。</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Disagree with a colleague constructively and reach a compromise.</a:t>
            </a:r>
          </a:p>
          <a:p>
            <a:r>
              <a:t>Say: acknowledge → disagree politely → give reasons → propose a compromise</a:t>
            </a:r>
          </a:p>
          <a:p>
            <a:r>
              <a:t>Useful starters: “I see where you’re coming from, but…” / “My concern is that…” / “Could we meet halfway?”</a:t>
            </a:r>
          </a:p>
          <a:p>
            <a:r>
              <a:t>I see where you’re coming from = 我理解你的出发点。meet halfway = 各让一步。</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of us have been taught that conflict is bad. In fact, a team without disagreement may be a team without honest thinking. When people challenge each other’s assumptions, ideas improve and mistakes are caught early. The difference lies in how the disagreement is handled. Healthy conflict focuses on the problem, not on the person; it uses facts, listens carefully and ends with a decision that everyone can support, even if not everyone agrees with it. Unhealthy conflict becomes personal, involves sarcasm or silent resentment and leaves damage behind. Leaders can encourage the first kind by asking for dissenting views, thanking people who challenge them and setting simple ground rules. When two colleagues cannot resolve their dispute alone, a neutral third person can help them find common ground.</a:t>
            </a:r>
          </a:p>
          <a:p>
            <a:r>
              <a:t>dissenting = 持异议的。sarcasm = 讽刺。”ground rules” = 基本规则。neutral = 中立的。</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can a team without disagreement be a problem?</a:t>
            </a:r>
          </a:p>
          <a:p>
            <a:r>
              <a:t>A: It may be a team without honest thinking; no one challenges assumptions.</a:t>
            </a:r>
          </a:p>
          <a:p>
            <a:r>
              <a:t>Q2. How does healthy conflict differ from unhealthy conflict?</a:t>
            </a:r>
          </a:p>
          <a:p>
            <a:r>
              <a:t>A: Healthy focuses on the problem, uses facts, listens and ends with a supported decision; unhealthy is personal, sarcastic or resentful.</a:t>
            </a:r>
          </a:p>
          <a:p>
            <a:r>
              <a:t>Q3. What can leaders do to encourage healthy conflict?</a:t>
            </a:r>
          </a:p>
          <a:p>
            <a:r>
              <a:t>A: Ask for dissenting views, thank people who challenge them and set ground rules.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Conflict and disagreement 冲突与分歧</a:t>
            </a:r>
          </a:p>
          <a:p>
            <a:r>
              <a:t>领读 → 学员跟读 → 请学员用表达造一个和自己工作相关的句子。</a:t>
            </a:r>
          </a:p>
          <a:p>
            <a:r>
              <a:t>disagreement (noun) 意见分歧 — “We had a disagreement about the budget.”</a:t>
            </a:r>
          </a:p>
          <a:p>
            <a:r>
              <a:t>conflict (noun) 冲突 — “Conflicts happen in every team.”</a:t>
            </a:r>
          </a:p>
          <a:p>
            <a:r>
              <a:t>compromise (noun / verb) 妥协 — “We reached a compromise.”</a:t>
            </a:r>
          </a:p>
          <a:p>
            <a:r>
              <a:t>constructive (adjective) 建设性的 — “I welcome constructive criticism.”</a:t>
            </a:r>
          </a:p>
          <a:p>
            <a:r>
              <a:t>mediate (verb) 调解 — “HR mediated between the two teams.”</a:t>
            </a:r>
          </a:p>
          <a:p>
            <a:r>
              <a:t>resolve (verb) 解决 — “We resolved the issue quickly.”</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Handling disagreement ★ 处理分歧</a:t>
            </a:r>
          </a:p>
          <a:p>
            <a:r>
              <a:t>领读 → 学员跟读 → 请学员用表达造一个和自己工作相关的句子。</a:t>
            </a:r>
          </a:p>
          <a:p>
            <a:r>
              <a:t>★ agree to disagree (idiom) 求同存异 — “Let’s agree to disagree on this one.”</a:t>
            </a:r>
          </a:p>
          <a:p>
            <a:r>
              <a:t>★ meet halfway (idiom) 各让一步 — “Can we meet halfway?”</a:t>
            </a:r>
          </a:p>
          <a:p>
            <a:r>
              <a:t>★ see eye to eye (idiom) 看法一致 — “We don’t always see eye to eye.”</a:t>
            </a:r>
          </a:p>
          <a:p>
            <a:r>
              <a:t>★ play devil’s advocate (idiom) 唱反调(为讨论) — “Let me play devil’s advocate for a moment.”</a:t>
            </a:r>
          </a:p>
          <a:p>
            <a:r>
              <a:t>★ escalate / de-escalate (verb) 升级 / 缓和 — “We tried to de-escalate the situation.”</a:t>
            </a:r>
          </a:p>
          <a:p>
            <a:r>
              <a:t>★ take it personally (phrase) 往心里去 — “Please don’t take it personally.”</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disagreement / compromise / constructive / mediate / see eye to eye / take it personally</a:t>
            </a:r>
          </a:p>
          <a:p>
            <a:r>
              <a:t>1. We had a _______ about the budget. → disagreement</a:t>
            </a:r>
          </a:p>
          <a:p>
            <a:r>
              <a:t>2. After a long talk, we reached a _______. → compromise</a:t>
            </a:r>
          </a:p>
          <a:p>
            <a:r>
              <a:t>3. I welcome _______ criticism. → constructive</a:t>
            </a:r>
          </a:p>
          <a:p>
            <a:r>
              <a:t>4. HR was asked to _______ between the two teams. → mediate</a:t>
            </a:r>
          </a:p>
          <a:p>
            <a:r>
              <a:t>5. We don’t always _______ on strategy. → see eye to eye</a:t>
            </a:r>
          </a:p>
          <a:p>
            <a:r>
              <a:t>6. Please don’t _______. I’m just challenging the idea. → take it personally</a:t>
            </a:r>
          </a:p>
          <a:p>
            <a:r>
              <a:t>Mistake Watch (拼写与搭配): argument / argue (argue with sb, about / over sth), disagree with (not “disagree to”), compromise (not “compramise”). Reach a compromise (not “make”), have a disagreement. Agree with a person, agree to a plan.</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Disagreeing constructively with a colleague 建设性地表达不同意见</a:t>
            </a:r>
          </a:p>
          <a:p>
            <a:r>
              <a:t>情景：You and a colleague, Tom, disagree about whether to launch a product in March or June.</a:t>
            </a:r>
          </a:p>
          <a:p>
            <a:r>
              <a:t>Role A: Nina Shao, product manager (you) Role B: Tom Evans, marketing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(Nina): Tom, I see where you’re coming from, but I’m worried a March launch is too early.</a:t>
            </a:r>
          </a:p>
          <a:p>
            <a:r>
              <a:t>B (Tom): Why? We’ve already told two partners it’s March.</a:t>
            </a:r>
          </a:p>
          <a:p>
            <a:r>
              <a:t>A: My concern is that testing isn’t finished. If we launch with bugs, it could damage the brand.</a:t>
            </a:r>
          </a:p>
          <a:p>
            <a:r>
              <a:t>B: But waiting means we miss the spring season. That’s our best sales period.</a:t>
            </a:r>
          </a:p>
          <a:p>
            <a:r>
              <a:t>A: That’s a fair point. Could we meet halfway? A soft launch in April for key customers?</a:t>
            </a:r>
          </a:p>
          <a:p>
            <a:r>
              <a:t>B: Hmm. That could work. We’d still reach the spring market.</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we’d get feedback before the full launch in June.</a:t>
            </a:r>
          </a:p>
          <a:p>
            <a:r>
              <a:t>B: I like that. But I’d need the partners to be informed this week.</a:t>
            </a:r>
          </a:p>
          <a:p>
            <a:r>
              <a:t>A: I can draft the message today. Shall I send it to you first?</a:t>
            </a:r>
          </a:p>
          <a:p>
            <a:r>
              <a:t>B: Yes, please. Thanks for being open to a compromise.</a:t>
            </a:r>
          </a:p>
          <a:p>
            <a:r>
              <a:t>A: Likewise. I think the disagreement made the plan better.</a:t>
            </a:r>
          </a:p>
          <a:p>
            <a:r>
              <a:t>B: Agreed. Let’s not take it personally next time.</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36 | </a:t>
            </a:r>
          </a:p>
          <a:p>
            <a:r>
              <a:t>Situation | You disagree about a plan and find a compromise.</a:t>
            </a:r>
          </a:p>
          <a:p>
            <a:r>
              <a:t>Your role (A) | Colleague with preference: ______________</a:t>
            </a:r>
          </a:p>
          <a:p>
            <a:r>
              <a:t>Partner’s role (B) | Colleague with a different preference. Competent and willing to compromise.</a:t>
            </a:r>
          </a:p>
          <a:p>
            <a:r>
              <a:t>Must use (4 or more) | I see where you’re coming from · my concern is · meet halfway · compromise · agree to disagree · constructive</a:t>
            </a:r>
          </a:p>
          <a:p>
            <a:r>
              <a:t>Goal | Acknowledge, disagree politely, give a reason and propose a compromise.</a:t>
            </a:r>
          </a:p>
          <a:p>
            <a:r>
              <a:t>My notes | ____________________________________________</a:t>
            </a:r>
          </a:p>
          <a:p>
            <a:r>
              <a:t>Tom says: “You’re always negative.” React without escalating.</a:t>
            </a:r>
          </a:p>
          <a:p>
            <a:r>
              <a:t>You cannot reach a compromise. Use “agree to disagree” and decide how to proceed.</a:t>
            </a:r>
          </a:p>
          <a:p>
            <a:r>
              <a:t>You are the manager. Mediate between two colleagues who disagree.</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conflict at work always a bad thing? | “Not necessarily. It can be useful when… / It becomes a problem when…”</a:t>
            </a:r>
          </a:p>
          <a:p>
            <a:r>
              <a:t>2. How do you usually respond when someone disagrees with you? | “I try to… / My first reaction is…”</a:t>
            </a:r>
          </a:p>
          <a:p>
            <a:r>
              <a:t>3. Is it OK to disagree with your boss? How? | “Yes, as long as I… / I’d choose a private moment and…”</a:t>
            </a:r>
          </a:p>
          <a:p>
            <a:r>
              <a:t>4. What should a manager do when two employees are in conflict? | “They should first… then… / It’s important to stay neutral.”</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“First, a manager should talk to each person separately and listen without taking sides. Then, if appropriate, they can bring both together to focus on the problem rather than the personalities. It’s important to stay neutral, agree some ground rules and ask each person what a good outcome would look like. If they still can’t agree, the manager may need to make a decision and explain the reasons clearly.”</a:t>
            </a:r>
          </a:p>
          <a:p>
            <a:r>
              <a:t>take sides = 站队。”ground rules” = 基本规则。outcome = 结果。”focus on… rather than…” 重点在……而非……。</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disagree. | I see it a bit differently. | 委婉</a:t>
            </a:r>
          </a:p>
          <a:p>
            <a:r>
              <a:t>You are wrong. | I’m not sure that’s accurate. Could you show me the data? | 针对事实</a:t>
            </a:r>
          </a:p>
          <a:p>
            <a:r>
              <a:t>Why are you so negative? | I think we might be missing some benefits. | 避免攻击</a:t>
            </a:r>
          </a:p>
          <a:p>
            <a:r>
              <a:t>We have to stop this. | Let’s take a step back and look at the facts. | 缓和</a:t>
            </a:r>
          </a:p>
          <a:p>
            <a:r>
              <a:t>OK, I accept. | I’m happy to go along with that, although I still have a few concerns. | 说明保留</a:t>
            </a:r>
          </a:p>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Hedged disagreement: I’m not sure I agree. / I see it slightly differently. / That’s one way of looking at it.</a:t>
            </a:r>
          </a:p>
          <a:p>
            <a:r>
              <a:t>Prepositions: argue with sb about sth; disagree with sb on sth; a conflict between A and B.</a:t>
            </a:r>
          </a:p>
          <a:p>
            <a:r>
              <a:t>Reporting verbs: suggest, propose, recommend + -ing / that: “She suggested meeting halfway.”</a:t>
            </a:r>
          </a:p>
          <a:p>
            <a:r>
              <a:t>Question tags for softening: “That’s a fair point, isn’t it?” (checks agreement)</a:t>
            </a:r>
          </a:p>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not agree with you.  →  ✓ I don’t agree with you.  (agree 是动词)</a:t>
            </a:r>
          </a:p>
          <a:p>
            <a:r>
              <a:t>✗ We have an argue.  →  ✓ We had an argument.  (argue → argument)</a:t>
            </a:r>
          </a:p>
          <a:p>
            <a:r>
              <a:t>✗ He is conflict with me.  →  ✓ He’s in conflict with me.  (in conflict)</a:t>
            </a:r>
          </a:p>
          <a:p>
            <a:r>
              <a:t>Mistake Watch: Check agree (verb, not adjective), argue / argument, and disagree with.</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disagree to you.  →  ✓ I disagree with you.  (disagree with)</a:t>
            </a:r>
          </a:p>
          <a:p>
            <a:r>
              <a:t>✗ I think you are wrong.  →  ✓ I’m not sure that’s right.  (委婉)</a:t>
            </a:r>
          </a:p>
          <a:p>
            <a:r>
              <a:t>✗ We should compromise each other.  →  ✓ We should compromise with each other. / We should meet halfway.  (compromise with)</a:t>
            </a:r>
          </a:p>
          <a:p>
            <a:r>
              <a:t>Mistake Watch: Check agree (verb, not adjective), argue / argument, and disagree with.</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Direct disagreement: In the US, direct disagreement in meetings is often accepted. In the UK, it is usually softer (“I wonder if…”). Learn the local style.</a:t>
            </a:r>
          </a:p>
          <a:p>
            <a:r>
              <a:t>Not personal: Native speakers often say “No offence, but…” before disagreeing; treat it as a warning, not an insult.</a:t>
            </a:r>
          </a:p>
          <a:p>
            <a:r>
              <a:t>Face-saving: In many Asian workplaces it’s important to avoid public confrontation; try offering disagreement privately.</a:t>
            </a:r>
          </a:p>
          <a:p>
            <a:r>
              <a:t>agree 是动词,所以说 I don’t agree,不是 I am not agree。disagree with sb。要针对观点而不是人:I’m not sure that’s right. 比 You are wrong. 更得体。</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disagree politely and propose a compromise.</a:t>
            </a:r>
          </a:p>
          <a:p>
            <a:r>
              <a:t>I can explain the benefits of healthy conflict.</a:t>
            </a:r>
          </a:p>
          <a:p>
            <a:r>
              <a:t>I can use idioms such as meet halfway and see eye to eye.</a:t>
            </a:r>
          </a:p>
          <a:p>
            <a:r>
              <a:t>I can use agree / disagree with and argument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agree / disagree with, argue / argument, and hedged disagreement.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“刻板印象” in English? → stereotype</a:t>
            </a:r>
          </a:p>
          <a:p>
            <a:r>
              <a:t>“逐步复工” in English? → phased return</a:t>
            </a:r>
          </a:p>
          <a:p>
            <a:r>
              <a:t>“蓬勃发展” in English? → flourish</a:t>
            </a:r>
          </a:p>
          <a:p>
            <a:r>
              <a:t>Fix it: Disabled people are very brave. → Disabled people are professionals like anyone else.</a:t>
            </a:r>
          </a:p>
          <a:p>
            <a:r>
              <a:t>Fix it: I sit at the same place every day. → I sit in the same place every day.</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6.xml"/><Relationship Id="rId5" Type="http://schemas.openxmlformats.org/officeDocument/2006/relationships/slide" Target="slide48.xml"/><Relationship Id="rId6" Type="http://schemas.openxmlformats.org/officeDocument/2006/relationships/slide" Target="slide70.xml"/><Relationship Id="rId7" Type="http://schemas.openxmlformats.org/officeDocument/2006/relationships/slide" Target="slide92.xml"/><Relationship Id="rId8" Type="http://schemas.openxmlformats.org/officeDocument/2006/relationships/slide" Target="slide114.xml"/><Relationship Id="rId9" Type="http://schemas.openxmlformats.org/officeDocument/2006/relationships/slide" Target="slide136.xml"/><Relationship Id="rId10" Type="http://schemas.openxmlformats.org/officeDocument/2006/relationships/slide" Target="slide159.xml"/><Relationship Id="rId11" Type="http://schemas.openxmlformats.org/officeDocument/2006/relationships/slide" Target="slide181.xml"/><Relationship Id="rId12" Type="http://schemas.openxmlformats.org/officeDocument/2006/relationships/slide" Target="slide203.xml"/><Relationship Id="rId13" Type="http://schemas.openxmlformats.org/officeDocument/2006/relationships/slide" Target="slide225.xml"/><Relationship Id="rId14" Type="http://schemas.openxmlformats.org/officeDocument/2006/relationships/slide" Target="slide247.xml"/><Relationship Id="rId15" Type="http://schemas.openxmlformats.org/officeDocument/2006/relationships/slide" Target="slide26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1.xml"/><Relationship Id="rId4" Type="http://schemas.openxmlformats.org/officeDocument/2006/relationships/slide" Target="slide292.xml"/><Relationship Id="rId5" Type="http://schemas.openxmlformats.org/officeDocument/2006/relationships/slide" Target="slide293.xml"/><Relationship Id="rId6" Type="http://schemas.openxmlformats.org/officeDocument/2006/relationships/slide" Target="slide294.xml"/><Relationship Id="rId7" Type="http://schemas.openxmlformats.org/officeDocument/2006/relationships/slide" Target="slide295.xml"/><Relationship Id="rId8" Type="http://schemas.openxmlformats.org/officeDocument/2006/relationships/slide" Target="slide296.xml"/><Relationship Id="rId9" Type="http://schemas.openxmlformats.org/officeDocument/2006/relationships/slide" Target="slide297.xml"/><Relationship Id="rId10" Type="http://schemas.openxmlformats.org/officeDocument/2006/relationships/slide" Target="slide298.xml"/><Relationship Id="rId11" Type="http://schemas.openxmlformats.org/officeDocument/2006/relationships/slide" Target="slide299.xml"/><Relationship Id="rId12" Type="http://schemas.openxmlformats.org/officeDocument/2006/relationships/slide" Target="slide300.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1.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3.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4</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Workplace Culture and Teamwork</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645920"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13 Lessons</a:t>
            </a:r>
          </a:p>
        </p:txBody>
      </p:sp>
      <p:sp>
        <p:nvSpPr>
          <p:cNvPr id="12" name="Rounded Rectangle 11"/>
          <p:cNvSpPr/>
          <p:nvPr/>
        </p:nvSpPr>
        <p:spPr>
          <a:xfrm>
            <a:off x="4389120"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L24 Managing Sickness · L25 Happy at Work · L26 Kindness in the Workplace · L27 Office Annoyances · L28 Work Relationships: Bridges and Boundaries · L29 Health and Work · L30 Creating a Positive and Safe Workplace · L31 Stereotypes and the Older Worker  +5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2636443" cy="104013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754505"/>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24</a:t>
            </a:r>
          </a:p>
        </p:txBody>
      </p:sp>
      <p:sp>
        <p:nvSpPr>
          <p:cNvPr id="9" name="TextBox 8"/>
          <p:cNvSpPr txBox="1"/>
          <p:nvPr/>
        </p:nvSpPr>
        <p:spPr>
          <a:xfrm>
            <a:off x="1417320" y="158191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Managing Sickness</a:t>
            </a:r>
          </a:p>
          <a:p>
            <a:pPr algn="l">
              <a:lnSpc>
                <a:spcPct val="100000"/>
              </a:lnSpc>
              <a:spcAft>
                <a:spcPts val="800"/>
              </a:spcAft>
            </a:pPr>
            <a:r>
              <a:rPr sz="1400" b="0">
                <a:solidFill>
                  <a:srgbClr val="5F677A"/>
                </a:solidFill>
                <a:latin typeface="Arial"/>
                <a:ea typeface="Microsoft YaHei"/>
              </a:rPr>
              <a:t>病假</a:t>
            </a:r>
          </a:p>
        </p:txBody>
      </p:sp>
      <p:sp>
        <p:nvSpPr>
          <p:cNvPr id="10" name="Rounded Rectangle 9">
            <a:hlinkClick action="ppaction://hlinksldjump" r:id="rId4"/>
          </p:cNvPr>
          <p:cNvSpPr/>
          <p:nvPr/>
        </p:nvSpPr>
        <p:spPr>
          <a:xfrm>
            <a:off x="3367963" y="1554480"/>
            <a:ext cx="2636443" cy="104013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7691" y="1754505"/>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25</a:t>
            </a:r>
          </a:p>
        </p:txBody>
      </p:sp>
      <p:sp>
        <p:nvSpPr>
          <p:cNvPr id="12" name="TextBox 11"/>
          <p:cNvSpPr txBox="1"/>
          <p:nvPr/>
        </p:nvSpPr>
        <p:spPr>
          <a:xfrm>
            <a:off x="4236643" y="158191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Happy at Work</a:t>
            </a:r>
          </a:p>
          <a:p>
            <a:pPr algn="l">
              <a:lnSpc>
                <a:spcPct val="100000"/>
              </a:lnSpc>
              <a:spcAft>
                <a:spcPts val="800"/>
              </a:spcAft>
            </a:pPr>
            <a:r>
              <a:rPr sz="1400" b="0">
                <a:solidFill>
                  <a:srgbClr val="5F677A"/>
                </a:solidFill>
                <a:latin typeface="Arial"/>
                <a:ea typeface="Microsoft YaHei"/>
              </a:rPr>
              <a:t>职场幸福感</a:t>
            </a:r>
          </a:p>
        </p:txBody>
      </p:sp>
      <p:sp>
        <p:nvSpPr>
          <p:cNvPr id="13" name="Rounded Rectangle 12">
            <a:hlinkClick action="ppaction://hlinksldjump" r:id="rId5"/>
          </p:cNvPr>
          <p:cNvSpPr/>
          <p:nvPr/>
        </p:nvSpPr>
        <p:spPr>
          <a:xfrm>
            <a:off x="6187286" y="1554480"/>
            <a:ext cx="2636443" cy="104013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7014" y="1754505"/>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26</a:t>
            </a:r>
          </a:p>
        </p:txBody>
      </p:sp>
      <p:sp>
        <p:nvSpPr>
          <p:cNvPr id="15" name="TextBox 14"/>
          <p:cNvSpPr txBox="1"/>
          <p:nvPr/>
        </p:nvSpPr>
        <p:spPr>
          <a:xfrm>
            <a:off x="7055966" y="1581912"/>
            <a:ext cx="1676323" cy="985266"/>
          </a:xfrm>
          <a:prstGeom prst="rect">
            <a:avLst/>
          </a:prstGeom>
          <a:noFill/>
        </p:spPr>
        <p:txBody>
          <a:bodyPr wrap="square" anchor="ctr">
            <a:spAutoFit/>
          </a:bodyPr>
          <a:lstStyle/>
          <a:p>
            <a:pPr algn="l">
              <a:lnSpc>
                <a:spcPct val="100000"/>
              </a:lnSpc>
              <a:spcAft>
                <a:spcPts val="100"/>
              </a:spcAft>
            </a:pPr>
            <a:r>
              <a:rPr sz="1700" b="1">
                <a:solidFill>
                  <a:srgbClr val="1F2A44"/>
                </a:solidFill>
                <a:latin typeface="Arial"/>
                <a:ea typeface="Microsoft YaHei"/>
              </a:rPr>
              <a:t>Kindness in the Workplace</a:t>
            </a:r>
          </a:p>
          <a:p>
            <a:pPr algn="l">
              <a:lnSpc>
                <a:spcPct val="100000"/>
              </a:lnSpc>
              <a:spcAft>
                <a:spcPts val="800"/>
              </a:spcAft>
            </a:pPr>
            <a:r>
              <a:rPr sz="1300" b="0">
                <a:solidFill>
                  <a:srgbClr val="5F677A"/>
                </a:solidFill>
                <a:latin typeface="Arial"/>
                <a:ea typeface="Microsoft YaHei"/>
              </a:rPr>
              <a:t>职场善意</a:t>
            </a:r>
          </a:p>
        </p:txBody>
      </p:sp>
      <p:sp>
        <p:nvSpPr>
          <p:cNvPr id="16" name="Rounded Rectangle 15">
            <a:hlinkClick action="ppaction://hlinksldjump" r:id="rId6"/>
          </p:cNvPr>
          <p:cNvSpPr/>
          <p:nvPr/>
        </p:nvSpPr>
        <p:spPr>
          <a:xfrm>
            <a:off x="9006609" y="1554480"/>
            <a:ext cx="2636443" cy="104013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16337" y="1754505"/>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27</a:t>
            </a:r>
          </a:p>
        </p:txBody>
      </p:sp>
      <p:sp>
        <p:nvSpPr>
          <p:cNvPr id="18" name="TextBox 17"/>
          <p:cNvSpPr txBox="1"/>
          <p:nvPr/>
        </p:nvSpPr>
        <p:spPr>
          <a:xfrm>
            <a:off x="9875289" y="158191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Office Annoyances</a:t>
            </a:r>
          </a:p>
          <a:p>
            <a:pPr algn="l">
              <a:lnSpc>
                <a:spcPct val="100000"/>
              </a:lnSpc>
              <a:spcAft>
                <a:spcPts val="800"/>
              </a:spcAft>
            </a:pPr>
            <a:r>
              <a:rPr sz="1400" b="0">
                <a:solidFill>
                  <a:srgbClr val="5F677A"/>
                </a:solidFill>
                <a:latin typeface="Arial"/>
                <a:ea typeface="Microsoft YaHei"/>
              </a:rPr>
              <a:t>办公室烦心事</a:t>
            </a:r>
          </a:p>
        </p:txBody>
      </p:sp>
      <p:sp>
        <p:nvSpPr>
          <p:cNvPr id="19" name="Rounded Rectangle 18">
            <a:hlinkClick action="ppaction://hlinksldjump" r:id="rId7"/>
          </p:cNvPr>
          <p:cNvSpPr/>
          <p:nvPr/>
        </p:nvSpPr>
        <p:spPr>
          <a:xfrm>
            <a:off x="548640" y="2777490"/>
            <a:ext cx="2636443" cy="104013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2977515"/>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28</a:t>
            </a:r>
          </a:p>
        </p:txBody>
      </p:sp>
      <p:sp>
        <p:nvSpPr>
          <p:cNvPr id="21" name="TextBox 20"/>
          <p:cNvSpPr txBox="1"/>
          <p:nvPr/>
        </p:nvSpPr>
        <p:spPr>
          <a:xfrm>
            <a:off x="1417320" y="2804922"/>
            <a:ext cx="1676323" cy="985266"/>
          </a:xfrm>
          <a:prstGeom prst="rect">
            <a:avLst/>
          </a:prstGeom>
          <a:noFill/>
        </p:spPr>
        <p:txBody>
          <a:bodyPr wrap="square" anchor="ctr">
            <a:spAutoFit/>
          </a:bodyPr>
          <a:lstStyle/>
          <a:p>
            <a:pPr algn="l">
              <a:lnSpc>
                <a:spcPct val="100000"/>
              </a:lnSpc>
              <a:spcAft>
                <a:spcPts val="100"/>
              </a:spcAft>
            </a:pPr>
            <a:r>
              <a:rPr sz="1500" b="1">
                <a:solidFill>
                  <a:srgbClr val="1F2A44"/>
                </a:solidFill>
                <a:latin typeface="Arial"/>
                <a:ea typeface="Microsoft YaHei"/>
              </a:rPr>
              <a:t>Work Relationships: Bridges and Boundaries</a:t>
            </a:r>
          </a:p>
          <a:p>
            <a:pPr algn="l">
              <a:lnSpc>
                <a:spcPct val="100000"/>
              </a:lnSpc>
              <a:spcAft>
                <a:spcPts val="800"/>
              </a:spcAft>
            </a:pPr>
            <a:r>
              <a:rPr sz="1100" b="0">
                <a:solidFill>
                  <a:srgbClr val="5F677A"/>
                </a:solidFill>
                <a:latin typeface="Arial"/>
                <a:ea typeface="Microsoft YaHei"/>
              </a:rPr>
              <a:t>职场关系:连接与边界</a:t>
            </a:r>
          </a:p>
        </p:txBody>
      </p:sp>
      <p:sp>
        <p:nvSpPr>
          <p:cNvPr id="22" name="Rounded Rectangle 21">
            <a:hlinkClick action="ppaction://hlinksldjump" r:id="rId8"/>
          </p:cNvPr>
          <p:cNvSpPr/>
          <p:nvPr/>
        </p:nvSpPr>
        <p:spPr>
          <a:xfrm>
            <a:off x="3367963" y="2777490"/>
            <a:ext cx="2636443" cy="104013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7691" y="2977515"/>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29</a:t>
            </a:r>
          </a:p>
        </p:txBody>
      </p:sp>
      <p:sp>
        <p:nvSpPr>
          <p:cNvPr id="24" name="TextBox 23"/>
          <p:cNvSpPr txBox="1"/>
          <p:nvPr/>
        </p:nvSpPr>
        <p:spPr>
          <a:xfrm>
            <a:off x="4236643" y="280492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Health and Work</a:t>
            </a:r>
          </a:p>
          <a:p>
            <a:pPr algn="l">
              <a:lnSpc>
                <a:spcPct val="100000"/>
              </a:lnSpc>
              <a:spcAft>
                <a:spcPts val="800"/>
              </a:spcAft>
            </a:pPr>
            <a:r>
              <a:rPr sz="1400" b="0">
                <a:solidFill>
                  <a:srgbClr val="5F677A"/>
                </a:solidFill>
                <a:latin typeface="Arial"/>
                <a:ea typeface="Microsoft YaHei"/>
              </a:rPr>
              <a:t>健康与工作</a:t>
            </a:r>
          </a:p>
        </p:txBody>
      </p:sp>
      <p:sp>
        <p:nvSpPr>
          <p:cNvPr id="25" name="Rounded Rectangle 24">
            <a:hlinkClick action="ppaction://hlinksldjump" r:id="rId9"/>
          </p:cNvPr>
          <p:cNvSpPr/>
          <p:nvPr/>
        </p:nvSpPr>
        <p:spPr>
          <a:xfrm>
            <a:off x="6187286" y="2777490"/>
            <a:ext cx="2636443" cy="104013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7014" y="2977515"/>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30</a:t>
            </a:r>
          </a:p>
        </p:txBody>
      </p:sp>
      <p:sp>
        <p:nvSpPr>
          <p:cNvPr id="27" name="TextBox 26"/>
          <p:cNvSpPr txBox="1"/>
          <p:nvPr/>
        </p:nvSpPr>
        <p:spPr>
          <a:xfrm>
            <a:off x="7055966" y="2804922"/>
            <a:ext cx="1676323" cy="985266"/>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Creating a Positive and Safe Workplace</a:t>
            </a:r>
          </a:p>
          <a:p>
            <a:pPr algn="l">
              <a:lnSpc>
                <a:spcPct val="100000"/>
              </a:lnSpc>
              <a:spcAft>
                <a:spcPts val="800"/>
              </a:spcAft>
            </a:pPr>
            <a:r>
              <a:rPr sz="1000" b="0">
                <a:solidFill>
                  <a:srgbClr val="5F677A"/>
                </a:solidFill>
                <a:latin typeface="Arial"/>
                <a:ea typeface="Microsoft YaHei"/>
              </a:rPr>
              <a:t>营造积极安全的工作场所</a:t>
            </a:r>
          </a:p>
        </p:txBody>
      </p:sp>
      <p:sp>
        <p:nvSpPr>
          <p:cNvPr id="28" name="Rounded Rectangle 27">
            <a:hlinkClick action="ppaction://hlinksldjump" r:id="rId10"/>
          </p:cNvPr>
          <p:cNvSpPr/>
          <p:nvPr/>
        </p:nvSpPr>
        <p:spPr>
          <a:xfrm>
            <a:off x="9006609" y="2777490"/>
            <a:ext cx="2636443" cy="104013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16337" y="2977515"/>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31</a:t>
            </a:r>
          </a:p>
        </p:txBody>
      </p:sp>
      <p:sp>
        <p:nvSpPr>
          <p:cNvPr id="30" name="TextBox 29"/>
          <p:cNvSpPr txBox="1"/>
          <p:nvPr/>
        </p:nvSpPr>
        <p:spPr>
          <a:xfrm>
            <a:off x="9875289" y="2804922"/>
            <a:ext cx="1676323" cy="985266"/>
          </a:xfrm>
          <a:prstGeom prst="rect">
            <a:avLst/>
          </a:prstGeom>
          <a:noFill/>
        </p:spPr>
        <p:txBody>
          <a:bodyPr wrap="square" anchor="ctr">
            <a:spAutoFit/>
          </a:bodyPr>
          <a:lstStyle/>
          <a:p>
            <a:pPr algn="l">
              <a:lnSpc>
                <a:spcPct val="100000"/>
              </a:lnSpc>
              <a:spcAft>
                <a:spcPts val="100"/>
              </a:spcAft>
            </a:pPr>
            <a:r>
              <a:rPr sz="1500" b="1">
                <a:solidFill>
                  <a:srgbClr val="1F2A44"/>
                </a:solidFill>
                <a:latin typeface="Arial"/>
                <a:ea typeface="Microsoft YaHei"/>
              </a:rPr>
              <a:t>Stereotypes and the Older Worker</a:t>
            </a:r>
          </a:p>
          <a:p>
            <a:pPr algn="l">
              <a:lnSpc>
                <a:spcPct val="100000"/>
              </a:lnSpc>
              <a:spcAft>
                <a:spcPts val="800"/>
              </a:spcAft>
            </a:pPr>
            <a:r>
              <a:rPr sz="1100" b="0">
                <a:solidFill>
                  <a:srgbClr val="5F677A"/>
                </a:solidFill>
                <a:latin typeface="Arial"/>
                <a:ea typeface="Microsoft YaHei"/>
              </a:rPr>
              <a:t>刻板印象与老年劳动者</a:t>
            </a:r>
          </a:p>
        </p:txBody>
      </p:sp>
      <p:sp>
        <p:nvSpPr>
          <p:cNvPr id="31" name="Rounded Rectangle 30">
            <a:hlinkClick action="ppaction://hlinksldjump" r:id="rId11"/>
          </p:cNvPr>
          <p:cNvSpPr/>
          <p:nvPr/>
        </p:nvSpPr>
        <p:spPr>
          <a:xfrm>
            <a:off x="548640" y="4000500"/>
            <a:ext cx="2636443" cy="104013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4200525"/>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32</a:t>
            </a:r>
          </a:p>
        </p:txBody>
      </p:sp>
      <p:sp>
        <p:nvSpPr>
          <p:cNvPr id="33" name="TextBox 32"/>
          <p:cNvSpPr txBox="1"/>
          <p:nvPr/>
        </p:nvSpPr>
        <p:spPr>
          <a:xfrm>
            <a:off x="1417320" y="4027932"/>
            <a:ext cx="1676323" cy="985266"/>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Helping Employees with Disabilities Flourish</a:t>
            </a:r>
          </a:p>
          <a:p>
            <a:pPr algn="l">
              <a:lnSpc>
                <a:spcPct val="100000"/>
              </a:lnSpc>
              <a:spcAft>
                <a:spcPts val="800"/>
              </a:spcAft>
            </a:pPr>
            <a:r>
              <a:rPr sz="1000" b="0">
                <a:solidFill>
                  <a:srgbClr val="5F677A"/>
                </a:solidFill>
                <a:latin typeface="Arial"/>
                <a:ea typeface="Microsoft YaHei"/>
              </a:rPr>
              <a:t>帮助残疾员工蓬勃发展</a:t>
            </a:r>
          </a:p>
        </p:txBody>
      </p:sp>
      <p:sp>
        <p:nvSpPr>
          <p:cNvPr id="34" name="Rounded Rectangle 33">
            <a:hlinkClick action="ppaction://hlinksldjump" r:id="rId12"/>
          </p:cNvPr>
          <p:cNvSpPr/>
          <p:nvPr/>
        </p:nvSpPr>
        <p:spPr>
          <a:xfrm>
            <a:off x="3367963" y="4000500"/>
            <a:ext cx="2636443" cy="104013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477691" y="4200525"/>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33</a:t>
            </a:r>
          </a:p>
        </p:txBody>
      </p:sp>
      <p:sp>
        <p:nvSpPr>
          <p:cNvPr id="36" name="TextBox 35"/>
          <p:cNvSpPr txBox="1"/>
          <p:nvPr/>
        </p:nvSpPr>
        <p:spPr>
          <a:xfrm>
            <a:off x="4236643" y="402793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Reimagining the Workweek</a:t>
            </a:r>
          </a:p>
          <a:p>
            <a:pPr algn="l">
              <a:lnSpc>
                <a:spcPct val="100000"/>
              </a:lnSpc>
              <a:spcAft>
                <a:spcPts val="800"/>
              </a:spcAft>
            </a:pPr>
            <a:r>
              <a:rPr sz="1400" b="0">
                <a:solidFill>
                  <a:srgbClr val="5F677A"/>
                </a:solidFill>
                <a:latin typeface="Arial"/>
                <a:ea typeface="Microsoft YaHei"/>
              </a:rPr>
              <a:t>重新想象工作周</a:t>
            </a:r>
          </a:p>
        </p:txBody>
      </p:sp>
      <p:sp>
        <p:nvSpPr>
          <p:cNvPr id="37" name="Rounded Rectangle 36">
            <a:hlinkClick action="ppaction://hlinksldjump" r:id="rId13"/>
          </p:cNvPr>
          <p:cNvSpPr/>
          <p:nvPr/>
        </p:nvSpPr>
        <p:spPr>
          <a:xfrm>
            <a:off x="6187286" y="4000500"/>
            <a:ext cx="2636443" cy="104013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97014" y="4200525"/>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34</a:t>
            </a:r>
          </a:p>
        </p:txBody>
      </p:sp>
      <p:sp>
        <p:nvSpPr>
          <p:cNvPr id="39" name="TextBox 38"/>
          <p:cNvSpPr txBox="1"/>
          <p:nvPr/>
        </p:nvSpPr>
        <p:spPr>
          <a:xfrm>
            <a:off x="7055966" y="402793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Sharing Office Space</a:t>
            </a:r>
          </a:p>
          <a:p>
            <a:pPr algn="l">
              <a:lnSpc>
                <a:spcPct val="100000"/>
              </a:lnSpc>
              <a:spcAft>
                <a:spcPts val="800"/>
              </a:spcAft>
            </a:pPr>
            <a:r>
              <a:rPr sz="1400" b="0">
                <a:solidFill>
                  <a:srgbClr val="5F677A"/>
                </a:solidFill>
                <a:latin typeface="Arial"/>
                <a:ea typeface="Microsoft YaHei"/>
              </a:rPr>
              <a:t>共享办公空间</a:t>
            </a:r>
          </a:p>
        </p:txBody>
      </p:sp>
      <p:sp>
        <p:nvSpPr>
          <p:cNvPr id="40" name="Rounded Rectangle 39">
            <a:hlinkClick action="ppaction://hlinksldjump" r:id="rId14"/>
          </p:cNvPr>
          <p:cNvSpPr/>
          <p:nvPr/>
        </p:nvSpPr>
        <p:spPr>
          <a:xfrm>
            <a:off x="9006609" y="4000500"/>
            <a:ext cx="2636443" cy="104013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116337" y="4200525"/>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35</a:t>
            </a:r>
          </a:p>
        </p:txBody>
      </p:sp>
      <p:sp>
        <p:nvSpPr>
          <p:cNvPr id="42" name="TextBox 41"/>
          <p:cNvSpPr txBox="1"/>
          <p:nvPr/>
        </p:nvSpPr>
        <p:spPr>
          <a:xfrm>
            <a:off x="9875289" y="4027932"/>
            <a:ext cx="1676323" cy="985266"/>
          </a:xfrm>
          <a:prstGeom prst="rect">
            <a:avLst/>
          </a:prstGeom>
          <a:noFill/>
        </p:spPr>
        <p:txBody>
          <a:bodyPr wrap="square" anchor="ctr">
            <a:spAutoFit/>
          </a:bodyPr>
          <a:lstStyle/>
          <a:p>
            <a:pPr algn="l">
              <a:lnSpc>
                <a:spcPct val="100000"/>
              </a:lnSpc>
              <a:spcAft>
                <a:spcPts val="100"/>
              </a:spcAft>
            </a:pPr>
            <a:r>
              <a:rPr sz="1600" b="1">
                <a:solidFill>
                  <a:srgbClr val="1F2A44"/>
                </a:solidFill>
                <a:latin typeface="Arial"/>
                <a:ea typeface="Microsoft YaHei"/>
              </a:rPr>
              <a:t>Everyone’s Invited</a:t>
            </a:r>
          </a:p>
          <a:p>
            <a:pPr algn="l">
              <a:lnSpc>
                <a:spcPct val="100000"/>
              </a:lnSpc>
              <a:spcAft>
                <a:spcPts val="800"/>
              </a:spcAft>
            </a:pPr>
            <a:r>
              <a:rPr sz="1200" b="0">
                <a:solidFill>
                  <a:srgbClr val="5F677A"/>
                </a:solidFill>
                <a:latin typeface="Arial"/>
                <a:ea typeface="Microsoft YaHei"/>
              </a:rPr>
              <a:t>人人都参与:包容与艰难对话</a:t>
            </a:r>
          </a:p>
        </p:txBody>
      </p:sp>
      <p:sp>
        <p:nvSpPr>
          <p:cNvPr id="43" name="Rounded Rectangle 42">
            <a:hlinkClick action="ppaction://hlinksldjump" r:id="rId15"/>
          </p:cNvPr>
          <p:cNvSpPr/>
          <p:nvPr/>
        </p:nvSpPr>
        <p:spPr>
          <a:xfrm>
            <a:off x="548640" y="5223510"/>
            <a:ext cx="2636443" cy="104013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58368" y="5423535"/>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36</a:t>
            </a:r>
          </a:p>
        </p:txBody>
      </p:sp>
      <p:sp>
        <p:nvSpPr>
          <p:cNvPr id="45" name="TextBox 44"/>
          <p:cNvSpPr txBox="1"/>
          <p:nvPr/>
        </p:nvSpPr>
        <p:spPr>
          <a:xfrm>
            <a:off x="1417320" y="5250942"/>
            <a:ext cx="1676323" cy="98526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Benefits of Conflict</a:t>
            </a:r>
          </a:p>
          <a:p>
            <a:pPr algn="l">
              <a:lnSpc>
                <a:spcPct val="100000"/>
              </a:lnSpc>
              <a:spcAft>
                <a:spcPts val="800"/>
              </a:spcAft>
            </a:pPr>
            <a:r>
              <a:rPr sz="1400" b="0">
                <a:solidFill>
                  <a:srgbClr val="5F677A"/>
                </a:solidFill>
                <a:latin typeface="Arial"/>
                <a:ea typeface="Microsoft YaHei"/>
              </a:rPr>
              <a:t>冲突的好处</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24 Managing Sickness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Managing Sickness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病假</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sick leave and absence: calling in sick, returning to work, policies, and the problem of working while ill.</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do you do when you wake up feeling ill on a workday?</a:t>
            </a:r>
          </a:p>
        </p:txBody>
      </p:sp>
      <p:sp>
        <p:nvSpPr>
          <p:cNvPr id="12" name="Oval 11"/>
          <p:cNvSpPr/>
          <p:nvPr/>
        </p:nvSpPr>
        <p:spPr>
          <a:xfrm>
            <a:off x="548640" y="245668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does your company handle sick leave? Do you need a doctor’s note?</a:t>
            </a:r>
          </a:p>
        </p:txBody>
      </p:sp>
      <p:sp>
        <p:nvSpPr>
          <p:cNvPr id="15" name="Oval 14"/>
          <p:cNvSpPr/>
          <p:nvPr/>
        </p:nvSpPr>
        <p:spPr>
          <a:xfrm>
            <a:off x="548640" y="332079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8269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8269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gone to work when you were really ill? Why?</a:t>
            </a:r>
          </a:p>
        </p:txBody>
      </p:sp>
      <p:sp>
        <p:nvSpPr>
          <p:cNvPr id="18" name="Oval 17"/>
          <p:cNvSpPr/>
          <p:nvPr/>
        </p:nvSpPr>
        <p:spPr>
          <a:xfrm>
            <a:off x="548640" y="40096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7154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7154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should a manager say to an employee who comes in sick?</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Is it fair when colleagues have to cover for someone who is absent?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题用过去式(went, felt)。第 4 题 “should” 表示建议。sick leave = 病假;call in sick = 打电话请病假。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Role-play calling your manager to report that you are sick.</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greet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say you can’t come in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symptoms briefly</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happens with your work</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when you will update them</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afraid I won’t be able to come in today because…   💬 I’ll keep you posted.   💬 I’ve asked… to cover my meeting.</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请假电话要简短,不必说太多症状。won’t be able to 比 can’t 更礼貌。keep sb posted = 随时告知进展。</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Staying Home Is the Smart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employees still feel guilty about taking a sick day. They worry about being seen as unreliable, or about the work that will pile up. As a result, some drag themselves to the office while ill, infect their colleagues and perform badly anyway. Researchers call this “presenteeism”, and they believe it can cost companies more than absence itself. Good employers make it easy to stay home. They have a clear policy, ask for a doctor’s note only after several days, and trust staff to be honest. Managers set the tone by taking their own sick days and by replying kindly: “Thanks for letting me know. Focus on getting better.” Employees can help by sending a short message early in the day and by writing a quick handover note so that colleagues know what is urgent.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presenteeism?</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Going to work while ill, which can cost companies more than absence.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good employers do to make it easy to stay home?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have a clear policy, ask for a doctor’s note only after several days, and trust staff.</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can employees do to help colleagues?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Send an early message and write a quick handover note.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Absence and sick leave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缺勤与病假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sick leave / sick day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病假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took two sick days last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call in sick</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打电话请病假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called in sick this morning.”</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doctor’s note / sick note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病假条</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need a doctor’s note after three days.”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off sick</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因病缺勤</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“Sarah has been off sick since Monday.”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cover for someone</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替某人代班</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cover for me on Thursday?”</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return to work</a:t>
            </a:r>
          </a:p>
          <a:p>
            <a:pPr algn="l">
              <a:lnSpc>
                <a:spcPct val="115000"/>
              </a:lnSpc>
              <a:spcAft>
                <a:spcPts val="800"/>
              </a:spcAft>
            </a:pPr>
            <a:r>
              <a:rPr sz="1300" b="0">
                <a:solidFill>
                  <a:srgbClr val="5F677A"/>
                </a:solidFill>
                <a:latin typeface="Arial"/>
                <a:ea typeface="Microsoft YaHei"/>
              </a:rPr>
              <a:t>verb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复工</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returned to work after a week.”</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2: Talking about health and policy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健康与政策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under the weather</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身体不舒服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 bit under the weather today.”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down with</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患上(病)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I’m coming down with the flu.”</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presenteeism</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带病上班</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“Presenteeism hurts productivity.”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phased return</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逐步复工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surgery, she had a phased return over four weeks.”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entitled to</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有权享有</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“Employees are entitled to paid sick leave.”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over (an illness)</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康复</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took me a week to get over the cold.”</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有权享有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entitled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病假条</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doctor’s note / sick note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康复</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over (an illness)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替某人代班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 for someone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打电话请病假</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call in sick</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复工</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to work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逐步复工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phased return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因病缺勤</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off sick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sick leave</a:t>
            </a:r>
          </a:p>
        </p:txBody>
      </p:sp>
      <p:sp>
        <p:nvSpPr>
          <p:cNvPr id="10" name="Rounded Rectangle 9"/>
          <p:cNvSpPr/>
          <p:nvPr/>
        </p:nvSpPr>
        <p:spPr>
          <a:xfrm>
            <a:off x="3566160" y="987552"/>
            <a:ext cx="190195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called in sick</a:t>
            </a:r>
          </a:p>
        </p:txBody>
      </p:sp>
      <p:sp>
        <p:nvSpPr>
          <p:cNvPr id="11" name="Rounded Rectangle 10"/>
          <p:cNvSpPr/>
          <p:nvPr/>
        </p:nvSpPr>
        <p:spPr>
          <a:xfrm>
            <a:off x="5559552"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note</a:t>
            </a:r>
          </a:p>
        </p:txBody>
      </p:sp>
      <p:sp>
        <p:nvSpPr>
          <p:cNvPr id="12" name="Rounded Rectangle 11"/>
          <p:cNvSpPr/>
          <p:nvPr/>
        </p:nvSpPr>
        <p:spPr>
          <a:xfrm>
            <a:off x="6455664"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cover</a:t>
            </a:r>
          </a:p>
        </p:txBody>
      </p:sp>
      <p:sp>
        <p:nvSpPr>
          <p:cNvPr id="13" name="Rounded Rectangle 12"/>
          <p:cNvSpPr/>
          <p:nvPr/>
        </p:nvSpPr>
        <p:spPr>
          <a:xfrm>
            <a:off x="7461504" y="987552"/>
            <a:ext cx="223113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 the weather</a:t>
            </a:r>
          </a:p>
        </p:txBody>
      </p:sp>
      <p:sp>
        <p:nvSpPr>
          <p:cNvPr id="14" name="Rounded Rectangle 13"/>
          <p:cNvSpPr/>
          <p:nvPr/>
        </p:nvSpPr>
        <p:spPr>
          <a:xfrm>
            <a:off x="97840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entitled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took two days of _______ last week.</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sick leave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He _______ this morning, so he won’t be at the meeting.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called in sick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You need a doctor’s _______ after three days of absence.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note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Can you _______ for me at Thursday’s meeting?</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a bit _______ today, so I’ll work from home.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 the weather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Employees are _______ to ten days of paid sick leave.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entitled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absence (not “absense”), doctor’s note (apostrophe), colleague (not “collegue”). Be entitled to + noun (not “entitled for”). Sick vs ill: “She is ill / sick”, but only “a sick day”, “sick leave”.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Calling in sick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打电话请病假</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wake up with a high temperature and must call your manager, Ms Evans, before work.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Tao Zhang,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Evans, line manager</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Calling in sick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Tao</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Ms Evans. It’s Tao. I’m afraid I won’t be able to come in today.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Evans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I’m sorry to hear that. What’s the matter?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seem to have come down with the flu. I’ve got a high temperature and a sore throat.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miserable. Have you seen a doctor?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I’m planning to go this afternoon, and I’ll send you a note if I need to be off for more than two days.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worry about that for now. Is there anything urgent that needs covering today?</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Calling in sick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the client call at eleven. I’ve asked Li to cover it, and I’ve sent her my notes.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thoughtful, thank you. Take care of yourself, and don’t try to work from home.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I’ll keep you posted tomorrow morning.</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rush. Get well soon, Tao.</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Speak soon.</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Calling in sick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sickness to your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who is ill. Your symptoms: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Kind but wants to know what is urgent.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 in sick · won’t be able to · cover · keep you posted · doctor’s note · get well soon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you can’t work, arrange cover and say when you will update them.</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manager says: “We have a big deadline tomorrow.” Stay polite and explain what you can do.</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come back after a week. Say thanks to the colleague who covered for you.</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manager. Reply to an employee who says: “I feel guilty about being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employees need a doctor’s note to take sick leave?</a:t>
            </a:r>
          </a:p>
          <a:p>
            <a:pPr algn="l">
              <a:lnSpc>
                <a:spcPct val="115000"/>
              </a:lnSpc>
              <a:spcAft>
                <a:spcPts val="800"/>
              </a:spcAft>
            </a:pPr>
            <a:r>
              <a:rPr sz="1400" b="0">
                <a:solidFill>
                  <a:srgbClr val="5F677A"/>
                </a:solidFill>
                <a:latin typeface="Arial"/>
                <a:ea typeface="Microsoft YaHei"/>
              </a:rPr>
              <a:t>💬 “I think a note should only be needed if…” / “Trust is important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people go to work when they are ill?</a:t>
            </a:r>
          </a:p>
          <a:p>
            <a:pPr algn="l">
              <a:lnSpc>
                <a:spcPct val="115000"/>
              </a:lnSpc>
              <a:spcAft>
                <a:spcPts val="800"/>
              </a:spcAft>
            </a:pPr>
            <a:r>
              <a:rPr sz="1400" b="0">
                <a:solidFill>
                  <a:srgbClr val="5F677A"/>
                </a:solidFill>
                <a:latin typeface="Arial"/>
                <a:ea typeface="Microsoft YaHei"/>
              </a:rPr>
              <a:t>💬 “They might be afraid that… / They may feel responsible for…”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managers discourage presenteeism?</a:t>
            </a:r>
          </a:p>
          <a:p>
            <a:pPr algn="l">
              <a:lnSpc>
                <a:spcPct val="115000"/>
              </a:lnSpc>
              <a:spcAft>
                <a:spcPts val="800"/>
              </a:spcAft>
            </a:pPr>
            <a:r>
              <a:rPr sz="1400" b="0">
                <a:solidFill>
                  <a:srgbClr val="5F677A"/>
                </a:solidFill>
                <a:latin typeface="Arial"/>
                <a:ea typeface="Microsoft YaHei"/>
              </a:rPr>
              <a:t>💬 “They could… by… / Leading by example matters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employees be paid in full for sick days?</a:t>
            </a:r>
          </a:p>
          <a:p>
            <a:pPr algn="l">
              <a:lnSpc>
                <a:spcPct val="115000"/>
              </a:lnSpc>
              <a:spcAft>
                <a:spcPts val="800"/>
              </a:spcAft>
            </a:pPr>
            <a:r>
              <a:rPr sz="1400" b="0">
                <a:solidFill>
                  <a:srgbClr val="5F677A"/>
                </a:solidFill>
                <a:latin typeface="Arial"/>
                <a:ea typeface="Microsoft YaHei"/>
              </a:rPr>
              <a:t>💬 “In my opinion, they should be, since…” / “It depends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my opinion, they should be paid in full for a reasonable number of days, because otherwise people can’t afford to stay home. A sick employee who comes to work may infect others, which costs the company more in the end. Of course, it should be limited, and long-term illness needs a different system. But for short illnesses, full pay shows trust and keeps everyone healthier.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in the end = 最终。”since” 引导原因。”a different system” 用于对比。 “which costs the company more” 定语从句,which 指前面整句。</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sick, so I don’t come.</a:t>
                      </a:r>
                    </a:p>
                  </a:txBody>
                  <a:tcPr anchor="ctr">
                    <a:solidFill>
                      <a:srgbClr val="FFFFFF"/>
                    </a:solidFill>
                  </a:tcPr>
                </a:tc>
                <a:tc>
                  <a:txBody>
                    <a:bodyPr wrap="square"/>
                    <a:lstStyle/>
                    <a:p>
                      <a:r>
                        <a:rPr sz="1600" b="0">
                          <a:solidFill>
                            <a:srgbClr val="1F2A44"/>
                          </a:solidFill>
                          <a:latin typeface="Arial"/>
                          <a:ea typeface="Microsoft YaHei"/>
                        </a:rPr>
                        <a:t>I’m afraid I won’t be able to come in today.</a:t>
                      </a:r>
                    </a:p>
                  </a:txBody>
                  <a:tcPr anchor="ctr">
                    <a:solidFill>
                      <a:srgbClr val="FFFFFF"/>
                    </a:solidFill>
                  </a:tcPr>
                </a:tc>
                <a:tc>
                  <a:txBody>
                    <a:bodyPr wrap="square"/>
                    <a:lstStyle/>
                    <a:p>
                      <a:r>
                        <a:rPr sz="1600" b="0">
                          <a:solidFill>
                            <a:srgbClr val="FF6B5B"/>
                          </a:solidFill>
                          <a:latin typeface="Arial"/>
                          <a:ea typeface="Microsoft YaHei"/>
                        </a:rPr>
                        <a:t>礼貌通知</a:t>
                      </a:r>
                    </a:p>
                  </a:txBody>
                  <a:tcPr anchor="ctr">
                    <a:solidFill>
                      <a:srgbClr val="FFFFFF"/>
                    </a:solidFill>
                  </a:tcPr>
                </a:tc>
              </a:tr>
              <a:tr h="652272">
                <a:tc>
                  <a:txBody>
                    <a:bodyPr wrap="square"/>
                    <a:lstStyle/>
                    <a:p>
                      <a:r>
                        <a:rPr sz="1600" b="1">
                          <a:solidFill>
                            <a:srgbClr val="1F2A44"/>
                          </a:solidFill>
                          <a:latin typeface="Arial"/>
                          <a:ea typeface="Microsoft YaHei"/>
                        </a:rPr>
                        <a:t>I have a cold.</a:t>
                      </a:r>
                    </a:p>
                  </a:txBody>
                  <a:tcPr anchor="ctr">
                    <a:solidFill>
                      <a:srgbClr val="FFEFD9"/>
                    </a:solidFill>
                  </a:tcPr>
                </a:tc>
                <a:tc>
                  <a:txBody>
                    <a:bodyPr wrap="square"/>
                    <a:lstStyle/>
                    <a:p>
                      <a:r>
                        <a:rPr sz="1600" b="0">
                          <a:solidFill>
                            <a:srgbClr val="1F2A44"/>
                          </a:solidFill>
                          <a:latin typeface="Arial"/>
                          <a:ea typeface="Microsoft YaHei"/>
                        </a:rPr>
                        <a:t>I think I’ve come down with a cold.</a:t>
                      </a:r>
                    </a:p>
                  </a:txBody>
                  <a:tcPr anchor="ctr">
                    <a:solidFill>
                      <a:srgbClr val="FFEFD9"/>
                    </a:solidFill>
                  </a:tcPr>
                </a:tc>
                <a:tc>
                  <a:txBody>
                    <a:bodyPr wrap="square"/>
                    <a:lstStyle/>
                    <a:p>
                      <a:r>
                        <a:rPr sz="1600" b="0">
                          <a:solidFill>
                            <a:srgbClr val="FF6B5B"/>
                          </a:solidFill>
                          <a:latin typeface="Arial"/>
                          <a:ea typeface="Microsoft YaHei"/>
                        </a:rPr>
                        <a:t>更自然</a:t>
                      </a:r>
                    </a:p>
                  </a:txBody>
                  <a:tcPr anchor="ctr">
                    <a:solidFill>
                      <a:srgbClr val="FFEFD9"/>
                    </a:solidFill>
                  </a:tcPr>
                </a:tc>
              </a:tr>
              <a:tr h="408432">
                <a:tc>
                  <a:txBody>
                    <a:bodyPr wrap="square"/>
                    <a:lstStyle/>
                    <a:p>
                      <a:r>
                        <a:rPr sz="1600" b="1">
                          <a:solidFill>
                            <a:srgbClr val="1F2A44"/>
                          </a:solidFill>
                          <a:latin typeface="Arial"/>
                          <a:ea typeface="Microsoft YaHei"/>
                        </a:rPr>
                        <a:t>Someone must do my work.</a:t>
                      </a:r>
                    </a:p>
                  </a:txBody>
                  <a:tcPr anchor="ctr">
                    <a:solidFill>
                      <a:srgbClr val="FFFFFF"/>
                    </a:solidFill>
                  </a:tcPr>
                </a:tc>
                <a:tc>
                  <a:txBody>
                    <a:bodyPr wrap="square"/>
                    <a:lstStyle/>
                    <a:p>
                      <a:r>
                        <a:rPr sz="1600" b="0">
                          <a:solidFill>
                            <a:srgbClr val="1F2A44"/>
                          </a:solidFill>
                          <a:latin typeface="Arial"/>
                          <a:ea typeface="Microsoft YaHei"/>
                        </a:rPr>
                        <a:t>I’ve asked Li to cover for me.</a:t>
                      </a:r>
                    </a:p>
                  </a:txBody>
                  <a:tcPr anchor="ctr">
                    <a:solidFill>
                      <a:srgbClr val="FFFFFF"/>
                    </a:solidFill>
                  </a:tcPr>
                </a:tc>
                <a:tc>
                  <a:txBody>
                    <a:bodyPr wrap="square"/>
                    <a:lstStyle/>
                    <a:p>
                      <a:r>
                        <a:rPr sz="1600" b="0">
                          <a:solidFill>
                            <a:srgbClr val="FF6B5B"/>
                          </a:solidFill>
                          <a:latin typeface="Arial"/>
                          <a:ea typeface="Microsoft YaHei"/>
                        </a:rPr>
                        <a:t>安排替班</a:t>
                      </a:r>
                    </a:p>
                  </a:txBody>
                  <a:tcPr anchor="ctr">
                    <a:solidFill>
                      <a:srgbClr val="FFFFFF"/>
                    </a:solidFill>
                  </a:tcPr>
                </a:tc>
              </a:tr>
              <a:tr h="408432">
                <a:tc>
                  <a:txBody>
                    <a:bodyPr wrap="square"/>
                    <a:lstStyle/>
                    <a:p>
                      <a:r>
                        <a:rPr sz="1600" b="1">
                          <a:solidFill>
                            <a:srgbClr val="1F2A44"/>
                          </a:solidFill>
                          <a:latin typeface="Arial"/>
                          <a:ea typeface="Microsoft YaHei"/>
                        </a:rPr>
                        <a:t>I’ll tell you later.</a:t>
                      </a:r>
                    </a:p>
                  </a:txBody>
                  <a:tcPr anchor="ctr">
                    <a:solidFill>
                      <a:srgbClr val="FFEFD9"/>
                    </a:solidFill>
                  </a:tcPr>
                </a:tc>
                <a:tc>
                  <a:txBody>
                    <a:bodyPr wrap="square"/>
                    <a:lstStyle/>
                    <a:p>
                      <a:r>
                        <a:rPr sz="1600" b="0">
                          <a:solidFill>
                            <a:srgbClr val="1F2A44"/>
                          </a:solidFill>
                          <a:latin typeface="Arial"/>
                          <a:ea typeface="Microsoft YaHei"/>
                        </a:rPr>
                        <a:t>I’ll keep you posted.</a:t>
                      </a:r>
                    </a:p>
                  </a:txBody>
                  <a:tcPr anchor="ctr">
                    <a:solidFill>
                      <a:srgbClr val="FFEFD9"/>
                    </a:solidFill>
                  </a:tcPr>
                </a:tc>
                <a:tc>
                  <a:txBody>
                    <a:bodyPr wrap="square"/>
                    <a:lstStyle/>
                    <a:p>
                      <a:r>
                        <a:rPr sz="1600" b="0">
                          <a:solidFill>
                            <a:srgbClr val="FF6B5B"/>
                          </a:solidFill>
                          <a:latin typeface="Arial"/>
                          <a:ea typeface="Microsoft YaHei"/>
                        </a:rPr>
                        <a:t>持续更新</a:t>
                      </a:r>
                    </a:p>
                  </a:txBody>
                  <a:tcPr anchor="ctr">
                    <a:solidFill>
                      <a:srgbClr val="FFEFD9"/>
                    </a:solidFill>
                  </a:tcPr>
                </a:tc>
              </a:tr>
              <a:tr h="652272">
                <a:tc>
                  <a:txBody>
                    <a:bodyPr wrap="square"/>
                    <a:lstStyle/>
                    <a:p>
                      <a:r>
                        <a:rPr sz="1600" b="1">
                          <a:solidFill>
                            <a:srgbClr val="1F2A44"/>
                          </a:solidFill>
                          <a:latin typeface="Arial"/>
                          <a:ea typeface="Microsoft YaHei"/>
                        </a:rPr>
                        <a:t>Are you better now?</a:t>
                      </a:r>
                    </a:p>
                  </a:txBody>
                  <a:tcPr anchor="ctr">
                    <a:solidFill>
                      <a:srgbClr val="FFFFFF"/>
                    </a:solidFill>
                  </a:tcPr>
                </a:tc>
                <a:tc>
                  <a:txBody>
                    <a:bodyPr wrap="square"/>
                    <a:lstStyle/>
                    <a:p>
                      <a:r>
                        <a:rPr sz="1600" b="0">
                          <a:solidFill>
                            <a:srgbClr val="1F2A44"/>
                          </a:solidFill>
                          <a:latin typeface="Arial"/>
                          <a:ea typeface="Microsoft YaHei"/>
                        </a:rPr>
                        <a:t>Are you feeling better? / How are you feeling now?</a:t>
                      </a:r>
                    </a:p>
                  </a:txBody>
                  <a:tcPr anchor="ctr">
                    <a:solidFill>
                      <a:srgbClr val="FFFFFF"/>
                    </a:solidFill>
                  </a:tcPr>
                </a:tc>
                <a:tc>
                  <a:txBody>
                    <a:bodyPr wrap="square"/>
                    <a:lstStyle/>
                    <a:p>
                      <a:r>
                        <a:rPr sz="1600" b="0">
                          <a:solidFill>
                            <a:srgbClr val="FF6B5B"/>
                          </a:solidFill>
                          <a:latin typeface="Arial"/>
                          <a:ea typeface="Microsoft YaHei"/>
                        </a:rPr>
                        <a:t>关心</a:t>
                      </a:r>
                    </a:p>
                  </a:txBody>
                  <a:tcPr anchor="ctr">
                    <a:solidFill>
                      <a:srgbClr val="FFFFFF"/>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Won’t be able to is more polite than can’t for announcements: “I won’t be able to attend.”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Present perfect for recent change: </a:t>
            </a:r>
            <a:r>
              <a:rPr sz="1700" b="0">
                <a:solidFill>
                  <a:srgbClr val="1F2A44"/>
                </a:solidFill>
                <a:latin typeface="Arial"/>
                <a:ea typeface="Microsoft YaHei"/>
              </a:rPr>
              <a:t>“I’ve come down with a cold.” / “I’ve been off since Monday.”</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Ill vs sick: </a:t>
            </a:r>
            <a:r>
              <a:rPr sz="1700" b="0">
                <a:solidFill>
                  <a:srgbClr val="1F2A44"/>
                </a:solidFill>
                <a:latin typeface="Arial"/>
                <a:ea typeface="Microsoft YaHei"/>
              </a:rPr>
              <a:t>In British English ill is the normal adjective (“I’m ill”); in American English sick is. Both are understood.</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Wishing well: </a:t>
            </a:r>
            <a:r>
              <a:rPr sz="1700" b="0">
                <a:solidFill>
                  <a:srgbClr val="1F2A44"/>
                </a:solidFill>
                <a:latin typeface="Arial"/>
                <a:ea typeface="Microsoft YaHei"/>
              </a:rPr>
              <a:t>Get well soon. / Take care. / I hope you feel better soon.</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sick today.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ill today. / I’m sick today.</a:t>
            </a:r>
          </a:p>
          <a:p>
            <a:pPr algn="l">
              <a:spcAft>
                <a:spcPts val="200"/>
              </a:spcAft>
            </a:pPr>
            <a:r>
              <a:rPr sz="1200" b="0">
                <a:solidFill>
                  <a:srgbClr val="FFFFFF"/>
                </a:solidFill>
                <a:latin typeface="Arial"/>
                <a:ea typeface="Microsoft YaHei"/>
              </a:rPr>
              <a:t>sick 是形容词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ask for leave because I am sick.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taking a sick day because I’m ill.</a:t>
            </a:r>
          </a:p>
          <a:p>
            <a:pPr algn="l">
              <a:spcAft>
                <a:spcPts val="200"/>
              </a:spcAft>
            </a:pPr>
            <a:r>
              <a:rPr sz="1200" b="0">
                <a:solidFill>
                  <a:srgbClr val="FFFFFF"/>
                </a:solidFill>
                <a:latin typeface="Arial"/>
                <a:ea typeface="Microsoft YaHei"/>
              </a:rPr>
              <a:t>ask for leave 不自然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give me a leave.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I take a day off?</a:t>
            </a:r>
          </a:p>
          <a:p>
            <a:pPr algn="l">
              <a:spcAft>
                <a:spcPts val="200"/>
              </a:spcAft>
            </a:pPr>
            <a:r>
              <a:rPr sz="1200" b="0">
                <a:solidFill>
                  <a:srgbClr val="FFFFFF"/>
                </a:solidFill>
                <a:latin typeface="Arial"/>
                <a:ea typeface="Microsoft YaHei"/>
              </a:rPr>
              <a:t>leave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go to hospital to see the doctor tomorrow.</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see a doctor tomorrow.</a:t>
            </a:r>
          </a:p>
          <a:p>
            <a:pPr algn="l">
              <a:spcAft>
                <a:spcPts val="200"/>
              </a:spcAft>
            </a:pPr>
            <a:r>
              <a:rPr sz="1200" b="0">
                <a:solidFill>
                  <a:srgbClr val="FFFFFF"/>
                </a:solidFill>
                <a:latin typeface="Arial"/>
                <a:ea typeface="Microsoft YaHei"/>
              </a:rPr>
              <a:t>see a doctor 更自然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feeling not well.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feeling well.</a:t>
            </a:r>
          </a:p>
          <a:p>
            <a:pPr algn="l">
              <a:spcAft>
                <a:spcPts val="200"/>
              </a:spcAft>
            </a:pPr>
            <a:r>
              <a:rPr sz="1200" b="0">
                <a:solidFill>
                  <a:srgbClr val="FFFFFF"/>
                </a:solidFill>
                <a:latin typeface="Arial"/>
                <a:ea typeface="Microsoft YaHei"/>
              </a:rPr>
              <a:t>否定位置</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your caring.</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concern. / Thanks for asking.</a:t>
            </a:r>
          </a:p>
          <a:p>
            <a:pPr algn="l">
              <a:spcAft>
                <a:spcPts val="200"/>
              </a:spcAft>
            </a:pPr>
            <a:r>
              <a:rPr sz="1200" b="0">
                <a:solidFill>
                  <a:srgbClr val="FFFFFF"/>
                </a:solidFill>
                <a:latin typeface="Arial"/>
                <a:ea typeface="Microsoft YaHei"/>
              </a:rPr>
              <a:t>caring 不能作名词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leave (uncountable), not feeling well (word order), and take a day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Honesty vs detail: </a:t>
            </a:r>
            <a:r>
              <a:rPr sz="1700" b="0">
                <a:solidFill>
                  <a:srgbClr val="1F2A44"/>
                </a:solidFill>
                <a:latin typeface="Arial"/>
                <a:ea typeface="Microsoft YaHei"/>
              </a:rPr>
              <a:t>You don’t need to explain symptoms in detail. “I’m unwell” is enough, and managers generally avoid asking for medical details.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Doctor’s notes: </a:t>
            </a:r>
            <a:r>
              <a:rPr sz="1700" b="0">
                <a:solidFill>
                  <a:srgbClr val="1F2A44"/>
                </a:solidFill>
                <a:latin typeface="Arial"/>
                <a:ea typeface="Microsoft YaHei"/>
              </a:rPr>
              <a:t>In the UK, a “fit note” is needed after seven days; many US companies require a note after three days. Check your policy.</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Working from home when ill: </a:t>
            </a:r>
            <a:r>
              <a:rPr sz="1700" b="0">
                <a:solidFill>
                  <a:srgbClr val="1F2A44"/>
                </a:solidFill>
                <a:latin typeface="Arial"/>
                <a:ea typeface="Microsoft YaHei"/>
              </a:rPr>
              <a:t>Some employers encourage rest instead; others accept light work. Ask rather than guess.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leave 不可数,说 take a day off / take sick leave。请病假不用解释太多,简短说明 + 安排替班即可。won’t be able to 比 can’t 更礼貌。</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report sickness politely and briefly.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arrange cover and say when I’ll update my manager.</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sick-leave policy and presenteeism.</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won’t be able to and keep you posted naturally.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24 Managing Sickness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leave, word order in negatives (I’m not feeling well), and polite phrases like won’t be able to.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25 Happy at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Happy at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职场幸福感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what makes people happy at work, why happiness matters for performance, and how teams and managers can create a positive environment.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On a scale of 1 to 10, how happy are you at work?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three things matter most for your happiness at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be happy at work if you don’t enjoy the tasks? Explain.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managers do to make employees happier?</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realistic to expect to be happy at work all the time?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第 1 题用 “I’d say it’s a 7, because…”。happiness 与 satisfaction 不同:satisfaction 偏“满意”,happiness 偏“愉快”。</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ideal workplace and explain what makes it happy.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people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purpose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flexibility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recognition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For me, a happy workplace is one where…   💬 What really matters is…   💬 I’d feel much happier if…</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第二类条件句 “I’d feel happier if…” 表达理想状态。”What really matters is…” 强调重点。</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Happiness Dividend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Is happiness at work a luxury or a business advantage? A growing body of research suggests it is the latter. Employees who feel positive tend to be more creative, take fewer sick days and stay with their employers longer. They also cooperate better, which improves the quality of teamwork. But what makes people happy at work? Surveys often point to the same ingredients: good relationships with colleagues, a sense of purpose, fair pay, some control over how work is done and regular recognition. Notably, perks like free snacks are less important than a manager who listens. Of course, nobody can be cheerful every day, and forced positivity can backfire. The goal is not constant joy but a workplace where people feel respected and have the energy to do work that matters to them.</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some benefits of happiness at work, according to the text?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More creativity, fewer sick days, longer stays and better cooperation.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ingredients of happiness do surveys mention?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Good relationships, purpose, fair pay, some control and regular recognition.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say about forced positivity?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can backfire; the goal is respect and energy, not constant joy.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Satisfaction at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工作满意度</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satisfaction</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工作满意度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satisfaction is higher in smaller teams.”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morale</a:t>
            </a:r>
          </a:p>
          <a:p>
            <a:pPr algn="l">
              <a:lnSpc>
                <a:spcPct val="115000"/>
              </a:lnSpc>
              <a:spcAft>
                <a:spcPts val="800"/>
              </a:spcAft>
            </a:pPr>
            <a:r>
              <a:rPr sz="1300" b="0">
                <a:solidFill>
                  <a:srgbClr val="5F677A"/>
                </a:solidFill>
                <a:latin typeface="Arial"/>
                <a:ea typeface="Microsoft YaHei"/>
              </a:rPr>
              <a:t>noun (uncountable)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士气</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“Morale dropped after the layoffs.”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sense of belonging</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归属感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sense of belonging helps people stay.”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perk / benefit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福利</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“Free lunch is a nice perk.”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flexibility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灵活性</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“Flexibility is a priority for me.”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recognition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认可</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“Recognition boosts morale.”</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 positive atmosphere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积极的氛围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boost morale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提振士气</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team lunch can boost morale.”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supportive environment</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互相支持的环境</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try to create a supportive environment.”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feel valued</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感到被重视</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stay when they feel valued.”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thrive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蓬勃发展</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thrives in a fast-paced environment.”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along (well) with</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相处融洽</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get along well with my colleagues.”</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best part of the job</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工作最棒的部分</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best part of the job is the team.”</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认可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recognition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感到被重视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feel valued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归属感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sense of belonging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提振士气</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boost morale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工作最棒的部分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best part of the job</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福利</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perk / benefit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相处融洽</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along (well) with</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工作满意度</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satisfaction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satisfaction</a:t>
            </a:r>
          </a:p>
        </p:txBody>
      </p:sp>
      <p:sp>
        <p:nvSpPr>
          <p:cNvPr id="10" name="Rounded Rectangle 9"/>
          <p:cNvSpPr/>
          <p:nvPr/>
        </p:nvSpPr>
        <p:spPr>
          <a:xfrm>
            <a:off x="3785615"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Morale</a:t>
            </a:r>
          </a:p>
        </p:txBody>
      </p:sp>
      <p:sp>
        <p:nvSpPr>
          <p:cNvPr id="11" name="Rounded Rectangle 10"/>
          <p:cNvSpPr/>
          <p:nvPr/>
        </p:nvSpPr>
        <p:spPr>
          <a:xfrm>
            <a:off x="4901183"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belonging</a:t>
            </a:r>
          </a:p>
        </p:txBody>
      </p:sp>
      <p:sp>
        <p:nvSpPr>
          <p:cNvPr id="12" name="Rounded Rectangle 11"/>
          <p:cNvSpPr/>
          <p:nvPr/>
        </p:nvSpPr>
        <p:spPr>
          <a:xfrm>
            <a:off x="6345935"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boost</a:t>
            </a:r>
          </a:p>
        </p:txBody>
      </p:sp>
      <p:sp>
        <p:nvSpPr>
          <p:cNvPr id="13" name="Rounded Rectangle 12"/>
          <p:cNvSpPr/>
          <p:nvPr/>
        </p:nvSpPr>
        <p:spPr>
          <a:xfrm>
            <a:off x="7351775"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valued</a:t>
            </a:r>
          </a:p>
        </p:txBody>
      </p:sp>
      <p:sp>
        <p:nvSpPr>
          <p:cNvPr id="14" name="Rounded Rectangle 13"/>
          <p:cNvSpPr/>
          <p:nvPr/>
        </p:nvSpPr>
        <p:spPr>
          <a:xfrm>
            <a:off x="8467343"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thrive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Job _______ is higher in smaller teams.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satisfaction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dropped after the layoffs.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Morale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sense of _______ helps people stay with a company.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belonging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team lunch can _______ morale.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boost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People stay when they feel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seems to _______ in a fast-paced environment.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thrive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satisfaction (not “satifaction”), morale (not “moral”, which means something different), thrive (not “trive”). Job satisfaction and morale are uncountable. Say get along with (not “get along together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happiness check-in with a team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与团队负责人谈工作状态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a one-to-one, the team leader, Grace, asks how you are enjoying the job after six months.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Marco Li, team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Grace Wong, team leader</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happiness check-in with a team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Marco</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Grace, thanks for setting this up.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Grace</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Marco. I like to check in with everyone after six months. How are you finding the job?</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I’m really enjoying it. I get along well with the team, and I like the variety of projects.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great to hear. Is there anything that could be better?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more flexibility. Some days the commute is exhausting, and I could focus better from home.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can look at that. Would two days a week work?</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happiness check-in with a team leader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perfect. It would make a big difference to my energy.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about recognition? Do you feel valued?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yes. It would help to get a bit more feedback on my work, though.</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point. I’ll make sure we have a short feedback chat every month.</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 would mean a lot.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being open, Marco. It really helps me to support the team.</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happiness check-in with a team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team leader checks how you are finding your job.</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What you like and one thing you would change: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Warm, open to ideas.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job satisfaction · flexibility · feel valued · get along well · boost morale · supportive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two positive points, one suggestion and agree what happens next.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Grace asks: “Is there anything that makes you unhappy?” Raise a real concern tactfully.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Grace says: “We can’t offer remote days.” Suggest an alternative.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your happiest day at work in 45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important factors for happiness at work?</a:t>
            </a:r>
          </a:p>
          <a:p>
            <a:pPr algn="l">
              <a:lnSpc>
                <a:spcPct val="115000"/>
              </a:lnSpc>
              <a:spcAft>
                <a:spcPts val="800"/>
              </a:spcAft>
            </a:pPr>
            <a:r>
              <a:rPr sz="1400" b="0">
                <a:solidFill>
                  <a:srgbClr val="5F677A"/>
                </a:solidFill>
                <a:latin typeface="Arial"/>
                <a:ea typeface="Microsoft YaHei"/>
              </a:rPr>
              <a:t>💬 “For me, the top three are…” / “What really matters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 company really make employees happy? Or is it up to the individual?</a:t>
            </a:r>
          </a:p>
          <a:p>
            <a:pPr algn="l">
              <a:lnSpc>
                <a:spcPct val="115000"/>
              </a:lnSpc>
              <a:spcAft>
                <a:spcPts val="800"/>
              </a:spcAft>
            </a:pPr>
            <a:r>
              <a:rPr sz="1400" b="0">
                <a:solidFill>
                  <a:srgbClr val="5F677A"/>
                </a:solidFill>
                <a:latin typeface="Arial"/>
                <a:ea typeface="Microsoft YaHei"/>
              </a:rPr>
              <a:t>💬 “A company can create the conditions,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perks like free snacks and game rooms effective?</a:t>
            </a:r>
          </a:p>
          <a:p>
            <a:pPr algn="l">
              <a:lnSpc>
                <a:spcPct val="115000"/>
              </a:lnSpc>
              <a:spcAft>
                <a:spcPts val="800"/>
              </a:spcAft>
            </a:pPr>
            <a:r>
              <a:rPr sz="1400" b="0">
                <a:solidFill>
                  <a:srgbClr val="5F677A"/>
                </a:solidFill>
                <a:latin typeface="Arial"/>
                <a:ea typeface="Microsoft YaHei"/>
              </a:rPr>
              <a:t>💬 “They’re nice, but they don’t replace…”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be unhappy at work sometimes?</a:t>
            </a:r>
          </a:p>
          <a:p>
            <a:pPr algn="l">
              <a:lnSpc>
                <a:spcPct val="115000"/>
              </a:lnSpc>
              <a:spcAft>
                <a:spcPts val="800"/>
              </a:spcAft>
            </a:pPr>
            <a:r>
              <a:rPr sz="1400" b="0">
                <a:solidFill>
                  <a:srgbClr val="5F677A"/>
                </a:solidFill>
                <a:latin typeface="Arial"/>
                <a:ea typeface="Microsoft YaHei"/>
              </a:rPr>
              <a:t>💬 “Of course. It’s normal to have ups and downs, but if it lasts…”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company can create the conditions for happiness, such as fair pay, reasonable workloads and respectful managers. But it can’t make people happy by itself. Individuals also need to take responsibility: setting boundaries, building good relationships and asking for what they need. So I’d say it’s a shared effort. When the company does its part, people are more likely to do theirs.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shared effort = 共同努力。”do its part” = 尽自己的责任。”take responsibility for” 固定搭配。 “conditions for” 条件。</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like my job.</a:t>
                      </a:r>
                    </a:p>
                  </a:txBody>
                  <a:tcPr anchor="ctr">
                    <a:solidFill>
                      <a:srgbClr val="FFFFFF"/>
                    </a:solidFill>
                  </a:tcPr>
                </a:tc>
                <a:tc>
                  <a:txBody>
                    <a:bodyPr wrap="square"/>
                    <a:lstStyle/>
                    <a:p>
                      <a:r>
                        <a:rPr sz="1600" b="0">
                          <a:solidFill>
                            <a:srgbClr val="1F2A44"/>
                          </a:solidFill>
                          <a:latin typeface="Arial"/>
                          <a:ea typeface="Microsoft YaHei"/>
                        </a:rPr>
                        <a:t>I find my work genuinely rewarding.</a:t>
                      </a:r>
                    </a:p>
                  </a:txBody>
                  <a:tcPr anchor="ctr">
                    <a:solidFill>
                      <a:srgbClr val="FFFFFF"/>
                    </a:solidFill>
                  </a:tcPr>
                </a:tc>
                <a:tc>
                  <a:txBody>
                    <a:bodyPr wrap="square"/>
                    <a:lstStyle/>
                    <a:p>
                      <a:r>
                        <a:rPr sz="1600" b="0">
                          <a:solidFill>
                            <a:srgbClr val="FF6B5B"/>
                          </a:solidFill>
                          <a:latin typeface="Arial"/>
                          <a:ea typeface="Microsoft YaHei"/>
                        </a:rPr>
                        <a:t>更丰富的积极表达</a:t>
                      </a:r>
                    </a:p>
                  </a:txBody>
                  <a:tcPr anchor="ctr">
                    <a:solidFill>
                      <a:srgbClr val="FFFFFF"/>
                    </a:solidFill>
                  </a:tcPr>
                </a:tc>
              </a:tr>
              <a:tr h="652272">
                <a:tc>
                  <a:txBody>
                    <a:bodyPr wrap="square"/>
                    <a:lstStyle/>
                    <a:p>
                      <a:r>
                        <a:rPr sz="1600" b="1">
                          <a:solidFill>
                            <a:srgbClr val="1F2A44"/>
                          </a:solidFill>
                          <a:latin typeface="Arial"/>
                          <a:ea typeface="Microsoft YaHei"/>
                        </a:rPr>
                        <a:t>The team is nice.</a:t>
                      </a:r>
                    </a:p>
                  </a:txBody>
                  <a:tcPr anchor="ctr">
                    <a:solidFill>
                      <a:srgbClr val="FFEFD9"/>
                    </a:solidFill>
                  </a:tcPr>
                </a:tc>
                <a:tc>
                  <a:txBody>
                    <a:bodyPr wrap="square"/>
                    <a:lstStyle/>
                    <a:p>
                      <a:r>
                        <a:rPr sz="1600" b="0">
                          <a:solidFill>
                            <a:srgbClr val="1F2A44"/>
                          </a:solidFill>
                          <a:latin typeface="Arial"/>
                          <a:ea typeface="Microsoft YaHei"/>
                        </a:rPr>
                        <a:t>I get along really well with my colleagues.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I want more freedom.</a:t>
                      </a:r>
                    </a:p>
                  </a:txBody>
                  <a:tcPr anchor="ctr">
                    <a:solidFill>
                      <a:srgbClr val="FFFFFF"/>
                    </a:solidFill>
                  </a:tcPr>
                </a:tc>
                <a:tc>
                  <a:txBody>
                    <a:bodyPr wrap="square"/>
                    <a:lstStyle/>
                    <a:p>
                      <a:r>
                        <a:rPr sz="1600" b="0">
                          <a:solidFill>
                            <a:srgbClr val="1F2A44"/>
                          </a:solidFill>
                          <a:latin typeface="Arial"/>
                          <a:ea typeface="Microsoft YaHei"/>
                        </a:rPr>
                        <a:t>I’d value more flexibility in how I work.</a:t>
                      </a:r>
                    </a:p>
                  </a:txBody>
                  <a:tcPr anchor="ctr">
                    <a:solidFill>
                      <a:srgbClr val="FFFFFF"/>
                    </a:solidFill>
                  </a:tcPr>
                </a:tc>
                <a:tc>
                  <a:txBody>
                    <a:bodyPr wrap="square"/>
                    <a:lstStyle/>
                    <a:p>
                      <a:r>
                        <a:rPr sz="1600" b="0">
                          <a:solidFill>
                            <a:srgbClr val="FF6B5B"/>
                          </a:solidFill>
                          <a:latin typeface="Arial"/>
                          <a:ea typeface="Microsoft YaHei"/>
                        </a:rPr>
                        <a:t>礼貌提要求</a:t>
                      </a:r>
                    </a:p>
                  </a:txBody>
                  <a:tcPr anchor="ctr">
                    <a:solidFill>
                      <a:srgbClr val="FFFFFF"/>
                    </a:solidFill>
                  </a:tcPr>
                </a:tc>
              </a:tr>
              <a:tr h="652272">
                <a:tc>
                  <a:txBody>
                    <a:bodyPr wrap="square"/>
                    <a:lstStyle/>
                    <a:p>
                      <a:r>
                        <a:rPr sz="1600" b="1">
                          <a:solidFill>
                            <a:srgbClr val="1F2A44"/>
                          </a:solidFill>
                          <a:latin typeface="Arial"/>
                          <a:ea typeface="Microsoft YaHei"/>
                        </a:rPr>
                        <a:t>I’m not happy.</a:t>
                      </a:r>
                    </a:p>
                  </a:txBody>
                  <a:tcPr anchor="ctr">
                    <a:solidFill>
                      <a:srgbClr val="FFEFD9"/>
                    </a:solidFill>
                  </a:tcPr>
                </a:tc>
                <a:tc>
                  <a:txBody>
                    <a:bodyPr wrap="square"/>
                    <a:lstStyle/>
                    <a:p>
                      <a:r>
                        <a:rPr sz="1600" b="0">
                          <a:solidFill>
                            <a:srgbClr val="1F2A44"/>
                          </a:solidFill>
                          <a:latin typeface="Arial"/>
                          <a:ea typeface="Microsoft YaHei"/>
                        </a:rPr>
                        <a:t>I’ve been feeling a bit disengaged lately.</a:t>
                      </a:r>
                    </a:p>
                  </a:txBody>
                  <a:tcPr anchor="ctr">
                    <a:solidFill>
                      <a:srgbClr val="FFEFD9"/>
                    </a:solidFill>
                  </a:tcPr>
                </a:tc>
                <a:tc>
                  <a:txBody>
                    <a:bodyPr wrap="square"/>
                    <a:lstStyle/>
                    <a:p>
                      <a:r>
                        <a:rPr sz="1600" b="0">
                          <a:solidFill>
                            <a:srgbClr val="FF6B5B"/>
                          </a:solidFill>
                          <a:latin typeface="Arial"/>
                          <a:ea typeface="Microsoft YaHei"/>
                        </a:rPr>
                        <a:t>具体、不刺耳</a:t>
                      </a:r>
                    </a:p>
                  </a:txBody>
                  <a:tcPr anchor="ctr">
                    <a:solidFill>
                      <a:srgbClr val="FFEFD9"/>
                    </a:solidFill>
                  </a:tcPr>
                </a:tc>
              </a:tr>
              <a:tr h="408432">
                <a:tc>
                  <a:txBody>
                    <a:bodyPr wrap="square"/>
                    <a:lstStyle/>
                    <a:p>
                      <a:r>
                        <a:rPr sz="1600" b="1">
                          <a:solidFill>
                            <a:srgbClr val="1F2A44"/>
                          </a:solidFill>
                          <a:latin typeface="Arial"/>
                          <a:ea typeface="Microsoft YaHei"/>
                        </a:rPr>
                        <a:t>The boss is good.</a:t>
                      </a:r>
                    </a:p>
                  </a:txBody>
                  <a:tcPr anchor="ctr">
                    <a:solidFill>
                      <a:srgbClr val="FFFFFF"/>
                    </a:solidFill>
                  </a:tcPr>
                </a:tc>
                <a:tc>
                  <a:txBody>
                    <a:bodyPr wrap="square"/>
                    <a:lstStyle/>
                    <a:p>
                      <a:r>
                        <a:rPr sz="1600" b="0">
                          <a:solidFill>
                            <a:srgbClr val="1F2A44"/>
                          </a:solidFill>
                          <a:latin typeface="Arial"/>
                          <a:ea typeface="Microsoft YaHei"/>
                        </a:rPr>
                        <a:t>My manager is very supportive.</a:t>
                      </a:r>
                    </a:p>
                  </a:txBody>
                  <a:tcPr anchor="ctr">
                    <a:solidFill>
                      <a:srgbClr val="FFFFFF"/>
                    </a:solidFill>
                  </a:tcPr>
                </a:tc>
                <a:tc>
                  <a:txBody>
                    <a:bodyPr wrap="square"/>
                    <a:lstStyle/>
                    <a:p>
                      <a:r>
                        <a:rPr sz="1600" b="0">
                          <a:solidFill>
                            <a:srgbClr val="FF6B5B"/>
                          </a:solidFill>
                          <a:latin typeface="Arial"/>
                          <a:ea typeface="Microsoft YaHei"/>
                        </a:rPr>
                        <a:t>描述</a:t>
                      </a:r>
                    </a:p>
                  </a:txBody>
                  <a:tcPr anchor="ctr">
                    <a:solidFill>
                      <a:srgbClr val="FFFFFF"/>
                    </a:solidFill>
                  </a:tcPr>
                </a:tc>
              </a:tr>
            </a:tbl>
          </a:graphicData>
        </a:graphic>
      </p:graphicFrame>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Opinion phrases: </a:t>
            </a:r>
            <a:r>
              <a:rPr sz="1700" b="0">
                <a:solidFill>
                  <a:srgbClr val="1F2A44"/>
                </a:solidFill>
                <a:latin typeface="Arial"/>
                <a:ea typeface="Microsoft YaHei"/>
              </a:rPr>
              <a:t>In my view… / As far as I’m concerned… / I’d say that…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Conditionals for ideals: </a:t>
            </a:r>
            <a:r>
              <a:rPr sz="1700" b="0">
                <a:solidFill>
                  <a:srgbClr val="1F2A44"/>
                </a:solidFill>
                <a:latin typeface="Arial"/>
                <a:ea typeface="Microsoft YaHei"/>
              </a:rPr>
              <a:t>“I’d feel happier if I had more flexibility.” (second conditional)</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Adjectives for feelings at work: </a:t>
            </a:r>
            <a:r>
              <a:rPr sz="1700" b="0">
                <a:solidFill>
                  <a:srgbClr val="1F2A44"/>
                </a:solidFill>
                <a:latin typeface="Arial"/>
                <a:ea typeface="Microsoft YaHei"/>
              </a:rPr>
              <a:t>engaged, fulfilled, motivated; stressed, disengaged, undervalued.</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Uncountable: </a:t>
            </a:r>
            <a:r>
              <a:rPr sz="1700" b="0">
                <a:solidFill>
                  <a:srgbClr val="1F2A44"/>
                </a:solidFill>
                <a:latin typeface="Arial"/>
                <a:ea typeface="Microsoft YaHei"/>
              </a:rPr>
              <a:t>morale, job satisfaction, feedback, flexibility. Use a lot of / some.</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satisfy with my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satisfied with my job.</a:t>
            </a:r>
          </a:p>
          <a:p>
            <a:pPr algn="l">
              <a:spcAft>
                <a:spcPts val="200"/>
              </a:spcAft>
            </a:pPr>
            <a:r>
              <a:rPr sz="1200" b="0">
                <a:solidFill>
                  <a:srgbClr val="FFFFFF"/>
                </a:solidFill>
                <a:latin typeface="Arial"/>
                <a:ea typeface="Microsoft YaHei"/>
              </a:rPr>
              <a:t>satisfied with</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colleagues are very kind to me. We are like family.</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colleagues are very supportive. We get on well.</a:t>
            </a:r>
          </a:p>
          <a:p>
            <a:pPr algn="l">
              <a:spcAft>
                <a:spcPts val="200"/>
              </a:spcAft>
            </a:pPr>
            <a:r>
              <a:rPr sz="1200" b="0">
                <a:solidFill>
                  <a:srgbClr val="FFFFFF"/>
                </a:solidFill>
                <a:latin typeface="Arial"/>
                <a:ea typeface="Microsoft YaHei"/>
              </a:rPr>
              <a:t>避免过度夸张</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salary is high enough to live happy.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salary is high enough to live comfortably.</a:t>
            </a:r>
          </a:p>
          <a:p>
            <a:pPr algn="l">
              <a:spcAft>
                <a:spcPts val="200"/>
              </a:spcAft>
            </a:pPr>
            <a:r>
              <a:rPr sz="1200" b="0">
                <a:solidFill>
                  <a:srgbClr val="FFFFFF"/>
                </a:solidFill>
                <a:latin typeface="Arial"/>
                <a:ea typeface="Microsoft YaHei"/>
              </a:rPr>
              <a:t>副词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work makes me feel very happy and relax.</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work makes me feel happy and relaxed.</a:t>
            </a:r>
          </a:p>
          <a:p>
            <a:pPr algn="l">
              <a:spcAft>
                <a:spcPts val="200"/>
              </a:spcAft>
            </a:pPr>
            <a:r>
              <a:rPr sz="1200" b="0">
                <a:solidFill>
                  <a:srgbClr val="FFFFFF"/>
                </a:solidFill>
                <a:latin typeface="Arial"/>
                <a:ea typeface="Microsoft YaHei"/>
              </a:rPr>
              <a:t>形容词词形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happy for my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happy with my work.</a:t>
            </a:r>
          </a:p>
          <a:p>
            <a:pPr algn="l">
              <a:spcAft>
                <a:spcPts val="200"/>
              </a:spcAft>
            </a:pPr>
            <a:r>
              <a:rPr sz="1200" b="0">
                <a:solidFill>
                  <a:srgbClr val="FFFFFF"/>
                </a:solidFill>
                <a:latin typeface="Arial"/>
                <a:ea typeface="Microsoft YaHei"/>
              </a:rPr>
              <a:t>happy with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job gives me a sense of achievements.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job gives me a sense of achievement.</a:t>
            </a:r>
          </a:p>
          <a:p>
            <a:pPr algn="l">
              <a:spcAft>
                <a:spcPts val="200"/>
              </a:spcAft>
            </a:pPr>
            <a:r>
              <a:rPr sz="1200" b="0">
                <a:solidFill>
                  <a:srgbClr val="FFFFFF"/>
                </a:solidFill>
                <a:latin typeface="Arial"/>
                <a:ea typeface="Microsoft YaHei"/>
              </a:rPr>
              <a:t>achievement 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satisfied / happy with, uncountable morale / achievement, and adjective forms (relaxed).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Workplace small talk: </a:t>
            </a:r>
            <a:r>
              <a:rPr sz="1700" b="0">
                <a:solidFill>
                  <a:srgbClr val="1F2A44"/>
                </a:solidFill>
                <a:latin typeface="Arial"/>
                <a:ea typeface="Microsoft YaHei"/>
              </a:rPr>
              <a:t>“How are you?” at work is a greeting. The expected reply is “Fine, thanks. And you?” Give more detail only to people you know well.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Perks vs culture: </a:t>
            </a:r>
            <a:r>
              <a:rPr sz="1700" b="0">
                <a:solidFill>
                  <a:srgbClr val="1F2A44"/>
                </a:solidFill>
                <a:latin typeface="Arial"/>
                <a:ea typeface="Microsoft YaHei"/>
              </a:rPr>
              <a:t>Many people leave because of managers and culture, not because of the lack of perks.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Positive vs authentic: </a:t>
            </a:r>
            <a:r>
              <a:rPr sz="1700" b="0">
                <a:solidFill>
                  <a:srgbClr val="1F2A44"/>
                </a:solidFill>
                <a:latin typeface="Arial"/>
                <a:ea typeface="Microsoft YaHei"/>
              </a:rPr>
              <a:t>US workplaces often use enthusiastic language (“super excited!”). UK workplaces can be more understated. Both can be genuine.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How are you? 在职场常是寒暄,回答 Fine, thanks 即可。happy with / satisfied with 的介词不要用 for。形容词 -ed / -ing 要区分。</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what makes me happy at work.</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to my manager about flexibility and recognition.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second conditional for ideal situations.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satisfied with and happy with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25 Happy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happy / satisfied with, uncountable morale and achievement, and adjective forms.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26 Kindness in the Workplace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Kindness in the Workplace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职场善意</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kindness at work: small acts, courtesy, supportive feedback, saying thank you, and the business case for being kind.</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Describe a time when a colleague was kind to you. What did they do?</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small acts of kindness make a difference at work?</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kindness a sign of weakness in business, or a strength?</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thank colleagues who have helped you?</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manager be kind and still firm?</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第 1 题用过去式。第 5 题 “kind but firm” 是很常见的组合。kindness 与 politeness 不同:前者强调关心,后者强调礼貌。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small acts of kindness can improve a team.</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example 1</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example 2</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effect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advice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small thing like… can…   💬 It makes people feel…   💬 I’d suggest…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描述小事情的作用:A small thing like saying thank you can make someone’s day. 注意 “make someone’s day” 是习语。</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Nice Does Not Mean Soft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Some people believe that being kind at work is a luxury, or even a disadvantage in competitive industries. Evidence points the other way. Teams where members help each other, share credit and speak respectfully tend to solve problems faster. Kindness is not about avoiding hard conversations; it is about delivering them with care. A manager can be firm about a deadline and still ask how a colleague is coping. The most powerful acts are often small: making a coffee for a stressed teammate, introducing a newcomer to colleagues or sending a message to say that a presentation went well. These gestures cost almost nothing, but they build trust, and trust makes everything else easier. Over time, they also create a culture where it feels safe to ask for help, which is a real competitive advantage.</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does the writer say about kind teams?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tend to solve problems faster.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Is kindness the same as avoiding hard conversations?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 it’s about delivering hard conversations with care.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Name two small acts of kindness mentioned.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E.g. making a coffee for a stressed teammate, introducing a newcomer, or sending a message after a good presentation.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Acts of kindness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善意之举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kindness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善意</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“Kindness is contagious in a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thoughtful</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体贴的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thoughtful of you to bring lunch.”</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generous</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慷慨的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is generous with her time.”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support</a:t>
            </a:r>
          </a:p>
          <a:p>
            <a:pPr algn="l">
              <a:lnSpc>
                <a:spcPct val="115000"/>
              </a:lnSpc>
              <a:spcAft>
                <a:spcPts val="800"/>
              </a:spcAft>
            </a:pPr>
            <a:r>
              <a:rPr sz="1300" b="0">
                <a:solidFill>
                  <a:srgbClr val="5F677A"/>
                </a:solidFill>
                <a:latin typeface="Arial"/>
                <a:ea typeface="Microsoft YaHei"/>
              </a:rPr>
              <a:t>verb / 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支持</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team supported me during a difficult time.”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appreciate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really appreciate your help.”</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gratitude</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感激之情</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expressed his gratitude to the team.”</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Showing consideration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体现体谅</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out of your way</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特意帮忙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went out of her way to help me.”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lend a hand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帮一把</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lend a hand with the setup?”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someone’s day</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让某人一整天开心</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 note really made my day.”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credit to</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把功劳归于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“Always give credit to the people who helped you.”</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look out for</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关照</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look out for each other on this team.”</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pay it forward</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把善意传递下去</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mentor helped me, so now I pay it forward.”</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支持</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support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感激之情</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gratitude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把功劳归于</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credit to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把善意传递下去</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it forward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特意帮忙</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out of your way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帮一把</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lend a hand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关照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look out for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体贴的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thoughtful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thoughtful</a:t>
            </a:r>
          </a:p>
        </p:txBody>
      </p:sp>
      <p:sp>
        <p:nvSpPr>
          <p:cNvPr id="10" name="Rounded Rectangle 9"/>
          <p:cNvSpPr/>
          <p:nvPr/>
        </p:nvSpPr>
        <p:spPr>
          <a:xfrm>
            <a:off x="356616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generous</a:t>
            </a:r>
          </a:p>
        </p:txBody>
      </p:sp>
      <p:sp>
        <p:nvSpPr>
          <p:cNvPr id="11" name="Rounded Rectangle 10"/>
          <p:cNvSpPr/>
          <p:nvPr/>
        </p:nvSpPr>
        <p:spPr>
          <a:xfrm>
            <a:off x="490118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appreciate</a:t>
            </a:r>
          </a:p>
        </p:txBody>
      </p:sp>
      <p:sp>
        <p:nvSpPr>
          <p:cNvPr id="12" name="Rounded Rectangle 11"/>
          <p:cNvSpPr/>
          <p:nvPr/>
        </p:nvSpPr>
        <p:spPr>
          <a:xfrm>
            <a:off x="6455664" y="987552"/>
            <a:ext cx="190195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 of her way</a:t>
            </a:r>
          </a:p>
        </p:txBody>
      </p:sp>
      <p:sp>
        <p:nvSpPr>
          <p:cNvPr id="13" name="Rounded Rectangle 12"/>
          <p:cNvSpPr/>
          <p:nvPr/>
        </p:nvSpPr>
        <p:spPr>
          <a:xfrm>
            <a:off x="8449056"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lend a hand</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It was very _______ of you to bring lunch for everyone.</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thoughtful</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is always _______ with her time.</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generous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really _______ your help with the report.</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appreciate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She went _______ to help me with the visa form.</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 of her way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Can you _______ with the setup?</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lend a hand</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mentor helped me, so now I try to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it forward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kindness (not “kindeness”), gratitude (not “gratitute”), appreciate (not “apreciate”). Say grateful for / thank you for + noun or -ing. Help is uncountable (“some help”).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Thanking a colleague who went out of their way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感谢特意帮忙的同事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Anita, stayed late to help you finish an urgent report. The next morning you thank her and offer to return the favour.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Kai Chen, grateful colleague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Anita Roy, helpful colleague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Thanking a colleague who went out of their way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Anita. Do you have a minute? I wanted to thank you properly for last night.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Anita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that’s all right, Kai. I was happy to help.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you went out of your way. You stayed until nine, and it wasn’t even your project.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mention it. I know how stressful that deadline was.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really appreciate it. The report went out on time, and the client was pleased.</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great news. I’m glad it worked out.</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Thanking a colleague who went out of their way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repay the favour. Would you like me to take over your Friday data task?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kind, but I can manage. Maybe a coffee would be nice, though.</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Done. And I’ll tell Mr Park how much you helped.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don’t need to do that, but thank you. It means a lot.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the least I can do. Coffee at eleven?</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perfect.</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Thanking a colleague who went out of their way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thank a colleague who helped you.</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Grateful colleague. What your colleague did: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Helpful colleague who is modest.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went out of her way · appreciate · lend a hand · give credit · it means a lot · return the favour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thank you specifically, say the result, and offer something in return.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Anita says: “No problem, but next time please give me more notice.” Respond graciously.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thank-you message (two sentences) to send by chat.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Thank a team in a one-minute speech at the end of a project.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kindness a strength or a weakness in business?</a:t>
            </a:r>
          </a:p>
          <a:p>
            <a:pPr algn="l">
              <a:lnSpc>
                <a:spcPct val="115000"/>
              </a:lnSpc>
              <a:spcAft>
                <a:spcPts val="800"/>
              </a:spcAft>
            </a:pPr>
            <a:r>
              <a:rPr sz="1400" b="0">
                <a:solidFill>
                  <a:srgbClr val="5F677A"/>
                </a:solidFill>
                <a:latin typeface="Arial"/>
                <a:ea typeface="Microsoft YaHei"/>
              </a:rPr>
              <a:t>💬 “I’d say it’s a strength because…” / “It can be seen as weakness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be kind and still give honest feedback?</a:t>
            </a:r>
          </a:p>
          <a:p>
            <a:pPr algn="l">
              <a:lnSpc>
                <a:spcPct val="115000"/>
              </a:lnSpc>
              <a:spcAft>
                <a:spcPts val="800"/>
              </a:spcAft>
            </a:pPr>
            <a:r>
              <a:rPr sz="1400" b="0">
                <a:solidFill>
                  <a:srgbClr val="5F677A"/>
                </a:solidFill>
                <a:latin typeface="Arial"/>
                <a:ea typeface="Microsoft YaHei"/>
              </a:rPr>
              <a:t>💬 “The key is to… / I start with… before I…”</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encourage employees to help each other? How?</a:t>
            </a:r>
          </a:p>
          <a:p>
            <a:pPr algn="l">
              <a:lnSpc>
                <a:spcPct val="115000"/>
              </a:lnSpc>
              <a:spcAft>
                <a:spcPts val="800"/>
              </a:spcAft>
            </a:pPr>
            <a:r>
              <a:rPr sz="1400" b="0">
                <a:solidFill>
                  <a:srgbClr val="5F677A"/>
                </a:solidFill>
                <a:latin typeface="Arial"/>
                <a:ea typeface="Microsoft YaHei"/>
              </a:rPr>
              <a:t>💬 “They could… by… / Recognising helpful behaviour…”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ever done something kind that made a difference at work?</a:t>
            </a:r>
          </a:p>
          <a:p>
            <a:pPr algn="l">
              <a:lnSpc>
                <a:spcPct val="115000"/>
              </a:lnSpc>
              <a:spcAft>
                <a:spcPts val="800"/>
              </a:spcAft>
            </a:pPr>
            <a:r>
              <a:rPr sz="1400" b="0">
                <a:solidFill>
                  <a:srgbClr val="5F677A"/>
                </a:solidFill>
                <a:latin typeface="Arial"/>
                <a:ea typeface="Microsoft YaHei"/>
              </a:rPr>
              <a:t>💬 “Once, I… and as a result…”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The key is to separate the person from the problem. I start by saying what was good, and then I describe the issue clearly and without blame, for example: “The report was well researched, but I think the conclusion needs to be clearer.” Then I ask the person how I can help. Being honest and kind at the same time takes practice, but people usually appreciate feedback that is specific and respectful.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separate A from B = 把 A 和 B 区分开。”without blame” = 不指责。takes practice = 需要练习。specific and respectful 并列形容词。</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Thanks for your help.</a:t>
                      </a:r>
                    </a:p>
                  </a:txBody>
                  <a:tcPr anchor="ctr">
                    <a:solidFill>
                      <a:srgbClr val="FFFFFF"/>
                    </a:solidFill>
                  </a:tcPr>
                </a:tc>
                <a:tc>
                  <a:txBody>
                    <a:bodyPr wrap="square"/>
                    <a:lstStyle/>
                    <a:p>
                      <a:r>
                        <a:rPr sz="1600" b="0">
                          <a:solidFill>
                            <a:srgbClr val="1F2A44"/>
                          </a:solidFill>
                          <a:latin typeface="Arial"/>
                          <a:ea typeface="Microsoft YaHei"/>
                        </a:rPr>
                        <a:t>I really appreciate your help. It made a big difference.</a:t>
                      </a:r>
                    </a:p>
                  </a:txBody>
                  <a:tcPr anchor="ctr">
                    <a:solidFill>
                      <a:srgbClr val="FFFFFF"/>
                    </a:solidFill>
                  </a:tcPr>
                </a:tc>
                <a:tc>
                  <a:txBody>
                    <a:bodyPr wrap="square"/>
                    <a:lstStyle/>
                    <a:p>
                      <a:r>
                        <a:rPr sz="1600" b="0">
                          <a:solidFill>
                            <a:srgbClr val="FF6B5B"/>
                          </a:solidFill>
                          <a:latin typeface="Arial"/>
                          <a:ea typeface="Microsoft YaHei"/>
                        </a:rPr>
                        <a:t>说明影响</a:t>
                      </a:r>
                    </a:p>
                  </a:txBody>
                  <a:tcPr anchor="ctr">
                    <a:solidFill>
                      <a:srgbClr val="FFFFFF"/>
                    </a:solidFill>
                  </a:tcPr>
                </a:tc>
              </a:tr>
              <a:tr h="652272">
                <a:tc>
                  <a:txBody>
                    <a:bodyPr wrap="square"/>
                    <a:lstStyle/>
                    <a:p>
                      <a:r>
                        <a:rPr sz="1600" b="1">
                          <a:solidFill>
                            <a:srgbClr val="1F2A44"/>
                          </a:solidFill>
                          <a:latin typeface="Arial"/>
                          <a:ea typeface="Microsoft YaHei"/>
                        </a:rPr>
                        <a:t>You’re welcome.</a:t>
                      </a:r>
                    </a:p>
                  </a:txBody>
                  <a:tcPr anchor="ctr">
                    <a:solidFill>
                      <a:srgbClr val="FFEFD9"/>
                    </a:solidFill>
                  </a:tcPr>
                </a:tc>
                <a:tc>
                  <a:txBody>
                    <a:bodyPr wrap="square"/>
                    <a:lstStyle/>
                    <a:p>
                      <a:r>
                        <a:rPr sz="1600" b="0">
                          <a:solidFill>
                            <a:srgbClr val="1F2A44"/>
                          </a:solidFill>
                          <a:latin typeface="Arial"/>
                          <a:ea typeface="Microsoft YaHei"/>
                        </a:rPr>
                        <a:t>Don’t mention it. / Happy to help.</a:t>
                      </a:r>
                    </a:p>
                  </a:txBody>
                  <a:tcPr anchor="ctr">
                    <a:solidFill>
                      <a:srgbClr val="FFEFD9"/>
                    </a:solidFill>
                  </a:tcPr>
                </a:tc>
                <a:tc>
                  <a:txBody>
                    <a:bodyPr wrap="square"/>
                    <a:lstStyle/>
                    <a:p>
                      <a:r>
                        <a:rPr sz="1600" b="0">
                          <a:solidFill>
                            <a:srgbClr val="FF6B5B"/>
                          </a:solidFill>
                          <a:latin typeface="Arial"/>
                          <a:ea typeface="Microsoft YaHei"/>
                        </a:rPr>
                        <a:t>自然回应</a:t>
                      </a:r>
                    </a:p>
                  </a:txBody>
                  <a:tcPr anchor="ctr">
                    <a:solidFill>
                      <a:srgbClr val="FFEFD9"/>
                    </a:solidFill>
                  </a:tcPr>
                </a:tc>
              </a:tr>
              <a:tr h="408432">
                <a:tc>
                  <a:txBody>
                    <a:bodyPr wrap="square"/>
                    <a:lstStyle/>
                    <a:p>
                      <a:r>
                        <a:rPr sz="1600" b="1">
                          <a:solidFill>
                            <a:srgbClr val="1F2A44"/>
                          </a:solidFill>
                          <a:latin typeface="Arial"/>
                          <a:ea typeface="Microsoft YaHei"/>
                        </a:rPr>
                        <a:t>I owe you one.</a:t>
                      </a:r>
                    </a:p>
                  </a:txBody>
                  <a:tcPr anchor="ctr">
                    <a:solidFill>
                      <a:srgbClr val="FFFFFF"/>
                    </a:solidFill>
                  </a:tcPr>
                </a:tc>
                <a:tc>
                  <a:txBody>
                    <a:bodyPr wrap="square"/>
                    <a:lstStyle/>
                    <a:p>
                      <a:r>
                        <a:rPr sz="1600" b="0">
                          <a:solidFill>
                            <a:srgbClr val="1F2A44"/>
                          </a:solidFill>
                          <a:latin typeface="Arial"/>
                          <a:ea typeface="Microsoft YaHei"/>
                        </a:rPr>
                        <a:t>I owe you one. (informal)</a:t>
                      </a:r>
                    </a:p>
                  </a:txBody>
                  <a:tcPr anchor="ctr">
                    <a:solidFill>
                      <a:srgbClr val="FFFFFF"/>
                    </a:solidFill>
                  </a:tcPr>
                </a:tc>
                <a:tc>
                  <a:txBody>
                    <a:bodyPr wrap="square"/>
                    <a:lstStyle/>
                    <a:p>
                      <a:r>
                        <a:rPr sz="1600" b="0">
                          <a:solidFill>
                            <a:srgbClr val="FF6B5B"/>
                          </a:solidFill>
                          <a:latin typeface="Arial"/>
                          <a:ea typeface="Microsoft YaHei"/>
                        </a:rPr>
                        <a:t>口语:欠你一次</a:t>
                      </a:r>
                    </a:p>
                  </a:txBody>
                  <a:tcPr anchor="ctr">
                    <a:solidFill>
                      <a:srgbClr val="FFFFFF"/>
                    </a:solidFill>
                  </a:tcPr>
                </a:tc>
              </a:tr>
              <a:tr h="652272">
                <a:tc>
                  <a:txBody>
                    <a:bodyPr wrap="square"/>
                    <a:lstStyle/>
                    <a:p>
                      <a:r>
                        <a:rPr sz="1600" b="1">
                          <a:solidFill>
                            <a:srgbClr val="1F2A44"/>
                          </a:solidFill>
                          <a:latin typeface="Arial"/>
                          <a:ea typeface="Microsoft YaHei"/>
                        </a:rPr>
                        <a:t>You did well.</a:t>
                      </a:r>
                    </a:p>
                  </a:txBody>
                  <a:tcPr anchor="ctr">
                    <a:solidFill>
                      <a:srgbClr val="FFEFD9"/>
                    </a:solidFill>
                  </a:tcPr>
                </a:tc>
                <a:tc>
                  <a:txBody>
                    <a:bodyPr wrap="square"/>
                    <a:lstStyle/>
                    <a:p>
                      <a:r>
                        <a:rPr sz="1600" b="0">
                          <a:solidFill>
                            <a:srgbClr val="1F2A44"/>
                          </a:solidFill>
                          <a:latin typeface="Arial"/>
                          <a:ea typeface="Microsoft YaHei"/>
                        </a:rPr>
                        <a:t>That was an excellent piece of work.</a:t>
                      </a:r>
                    </a:p>
                  </a:txBody>
                  <a:tcPr anchor="ctr">
                    <a:solidFill>
                      <a:srgbClr val="FFEFD9"/>
                    </a:solidFill>
                  </a:tcPr>
                </a:tc>
                <a:tc>
                  <a:txBody>
                    <a:bodyPr wrap="square"/>
                    <a:lstStyle/>
                    <a:p>
                      <a:r>
                        <a:rPr sz="1600" b="0">
                          <a:solidFill>
                            <a:srgbClr val="FF6B5B"/>
                          </a:solidFill>
                          <a:latin typeface="Arial"/>
                          <a:ea typeface="Microsoft YaHei"/>
                        </a:rPr>
                        <a:t>具体表扬</a:t>
                      </a:r>
                    </a:p>
                  </a:txBody>
                  <a:tcPr anchor="ctr">
                    <a:solidFill>
                      <a:srgbClr val="FFEFD9"/>
                    </a:solidFill>
                  </a:tcPr>
                </a:tc>
              </a:tr>
              <a:tr h="652272">
                <a:tc>
                  <a:txBody>
                    <a:bodyPr wrap="square"/>
                    <a:lstStyle/>
                    <a:p>
                      <a:r>
                        <a:rPr sz="1600" b="1">
                          <a:solidFill>
                            <a:srgbClr val="1F2A44"/>
                          </a:solidFill>
                          <a:latin typeface="Arial"/>
                          <a:ea typeface="Microsoft YaHei"/>
                        </a:rPr>
                        <a:t>I’ll thank him.</a:t>
                      </a:r>
                    </a:p>
                  </a:txBody>
                  <a:tcPr anchor="ctr">
                    <a:solidFill>
                      <a:srgbClr val="FFFFFF"/>
                    </a:solidFill>
                  </a:tcPr>
                </a:tc>
                <a:tc>
                  <a:txBody>
                    <a:bodyPr wrap="square"/>
                    <a:lstStyle/>
                    <a:p>
                      <a:r>
                        <a:rPr sz="1600" b="0">
                          <a:solidFill>
                            <a:srgbClr val="1F2A44"/>
                          </a:solidFill>
                          <a:latin typeface="Arial"/>
                          <a:ea typeface="Microsoft YaHei"/>
                        </a:rPr>
                        <a:t>I’d like to say a proper thank you.</a:t>
                      </a:r>
                    </a:p>
                  </a:txBody>
                  <a:tcPr anchor="ctr">
                    <a:solidFill>
                      <a:srgbClr val="FFFFFF"/>
                    </a:solidFill>
                  </a:tcPr>
                </a:tc>
                <a:tc>
                  <a:txBody>
                    <a:bodyPr wrap="square"/>
                    <a:lstStyle/>
                    <a:p>
                      <a:r>
                        <a:rPr sz="1600" b="0">
                          <a:solidFill>
                            <a:srgbClr val="FF6B5B"/>
                          </a:solidFill>
                          <a:latin typeface="Arial"/>
                          <a:ea typeface="Microsoft YaHei"/>
                        </a:rPr>
                        <a:t>郑重感谢</a:t>
                      </a:r>
                    </a:p>
                  </a:txBody>
                  <a:tcPr anchor="ctr">
                    <a:solidFill>
                      <a:srgbClr val="FFFFFF"/>
                    </a:solidFill>
                  </a:tcPr>
                </a:tc>
              </a:tr>
            </a:tbl>
          </a:graphicData>
        </a:graphic>
      </p:graphicFrame>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Thank + for: </a:t>
            </a:r>
            <a:r>
              <a:rPr sz="1700" b="0">
                <a:solidFill>
                  <a:srgbClr val="1F2A44"/>
                </a:solidFill>
                <a:latin typeface="Arial"/>
                <a:ea typeface="Microsoft YaHei"/>
              </a:rPr>
              <a:t>Thank you for + noun / -ing. “Thank you for your help.” / “Thank you for staying late.”</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Responding to thanks: </a:t>
            </a:r>
            <a:r>
              <a:rPr sz="1700" b="0">
                <a:solidFill>
                  <a:srgbClr val="1F2A44"/>
                </a:solidFill>
                <a:latin typeface="Arial"/>
                <a:ea typeface="Microsoft YaHei"/>
              </a:rPr>
              <a:t>Don’t mention it. / No problem. / My pleasure. / Anytime.</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Specific appreciation: </a:t>
            </a:r>
            <a:r>
              <a:rPr sz="1700" b="0">
                <a:solidFill>
                  <a:srgbClr val="1F2A44"/>
                </a:solidFill>
                <a:latin typeface="Arial"/>
                <a:ea typeface="Microsoft YaHei"/>
              </a:rPr>
              <a:t>action + result: “Because you stayed late, we met the deadline.”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Modal of offer: </a:t>
            </a:r>
            <a:r>
              <a:rPr sz="1700" b="0">
                <a:solidFill>
                  <a:srgbClr val="1F2A44"/>
                </a:solidFill>
                <a:latin typeface="Arial"/>
                <a:ea typeface="Microsoft YaHei"/>
              </a:rPr>
              <a:t>Would you like me to…? / Shall I…? / Can I…?</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your help me.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helping me. / Thank you for your help.</a:t>
            </a:r>
          </a:p>
          <a:p>
            <a:pPr algn="l">
              <a:spcAft>
                <a:spcPts val="200"/>
              </a:spcAft>
            </a:pPr>
            <a:r>
              <a:rPr sz="1200" b="0">
                <a:solidFill>
                  <a:srgbClr val="FFFFFF"/>
                </a:solidFill>
                <a:latin typeface="Arial"/>
                <a:ea typeface="Microsoft YaHei"/>
              </a:rPr>
              <a:t>介词后接 -ing 或名词</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grateful of you.</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grateful to you. / I’m very grateful for your help.</a:t>
            </a:r>
          </a:p>
          <a:p>
            <a:pPr algn="l">
              <a:spcAft>
                <a:spcPts val="200"/>
              </a:spcAft>
            </a:pPr>
            <a:r>
              <a:rPr sz="1200" b="0">
                <a:solidFill>
                  <a:srgbClr val="FFFFFF"/>
                </a:solidFill>
                <a:latin typeface="Arial"/>
                <a:ea typeface="Microsoft YaHei"/>
              </a:rPr>
              <a:t>grateful to sb / for sth</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kind to help me.</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kind of him to help me.</a:t>
            </a:r>
          </a:p>
          <a:p>
            <a:pPr algn="l">
              <a:spcAft>
                <a:spcPts val="200"/>
              </a:spcAft>
            </a:pPr>
            <a:r>
              <a:rPr sz="1200" b="0">
                <a:solidFill>
                  <a:srgbClr val="FFFFFF"/>
                </a:solidFill>
                <a:latin typeface="Arial"/>
                <a:ea typeface="Microsoft YaHei"/>
              </a:rPr>
              <a:t>It is kind of sb to do sth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give you a little gift to thank.</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give you a small gift as a thank-you.</a:t>
            </a:r>
          </a:p>
          <a:p>
            <a:pPr algn="l">
              <a:spcAft>
                <a:spcPts val="200"/>
              </a:spcAft>
            </a:pPr>
            <a:r>
              <a:rPr sz="1200" b="0">
                <a:solidFill>
                  <a:srgbClr val="FFFFFF"/>
                </a:solidFill>
                <a:latin typeface="Arial"/>
                <a:ea typeface="Microsoft YaHei"/>
              </a:rPr>
              <a:t>thank-you 为名词</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helps me many.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helps me a lot.</a:t>
            </a:r>
          </a:p>
          <a:p>
            <a:pPr algn="l">
              <a:spcAft>
                <a:spcPts val="200"/>
              </a:spcAft>
            </a:pPr>
            <a:r>
              <a:rPr sz="1200" b="0">
                <a:solidFill>
                  <a:srgbClr val="FFFFFF"/>
                </a:solidFill>
                <a:latin typeface="Arial"/>
                <a:ea typeface="Microsoft YaHei"/>
              </a:rPr>
              <a:t>a lot 修饰动词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You’re welcome for your thank.</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Not at all. / My pleasure.</a:t>
            </a:r>
          </a:p>
          <a:p>
            <a:pPr algn="l">
              <a:spcAft>
                <a:spcPts val="200"/>
              </a:spcAft>
            </a:pPr>
            <a:r>
              <a:rPr sz="1200" b="0">
                <a:solidFill>
                  <a:srgbClr val="FFFFFF"/>
                </a:solidFill>
                <a:latin typeface="Arial"/>
                <a:ea typeface="Microsoft YaHei"/>
              </a:rPr>
              <a:t>应答</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thank you for + -ing, grateful to / for, and It was kind of him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Small politeness words: </a:t>
            </a:r>
            <a:r>
              <a:rPr sz="1700" b="0">
                <a:solidFill>
                  <a:srgbClr val="1F2A44"/>
                </a:solidFill>
                <a:latin typeface="Arial"/>
                <a:ea typeface="Microsoft YaHei"/>
              </a:rPr>
              <a:t>Please, thank you, sorry are used a lot in British English, even for small things. Using them is expected, not insincere.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Gifts and cards: </a:t>
            </a:r>
            <a:r>
              <a:rPr sz="1700" b="0">
                <a:solidFill>
                  <a:srgbClr val="1F2A44"/>
                </a:solidFill>
                <a:latin typeface="Arial"/>
                <a:ea typeface="Microsoft YaHei"/>
              </a:rPr>
              <a:t>A thank-you card or a coffee is appropriate. Large gifts can be problematic for compliance reasons.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Accepting thanks: </a:t>
            </a:r>
            <a:r>
              <a:rPr sz="1700" b="0">
                <a:solidFill>
                  <a:srgbClr val="1F2A44"/>
                </a:solidFill>
                <a:latin typeface="Arial"/>
                <a:ea typeface="Microsoft YaHei"/>
              </a:rPr>
              <a:t>Responding with “Happy to help” is more natural than denying (“It was nothing”).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英语中谢谢要说明“谢什么”以及“有什么效果”。Thank you for + 名词/-ing。被感谢时说 Happy to help / My pleasure,比一味谦虚说“没什么”更自然。</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thank someone specifically for what they did.</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offer to return a favour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kind but honest feedback.</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thank you for + -ing and grateful to / for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26 Kindness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thank you for + -ing, grateful to / for, and It was kind of X to….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27 Office Annoyances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Office Annoyances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办公室烦心事</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everyday irritations in the office and raise them politely, using softening language and diplomatic requests.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most annoying thing a colleague can do in an open-plan office?</a:t>
            </a:r>
          </a:p>
        </p:txBody>
      </p:sp>
      <p:sp>
        <p:nvSpPr>
          <p:cNvPr id="12" name="Oval 11"/>
          <p:cNvSpPr/>
          <p:nvPr/>
        </p:nvSpPr>
        <p:spPr>
          <a:xfrm>
            <a:off x="548640" y="276148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had a problem with someone’s noise, smell or mess at work?</a:t>
            </a:r>
          </a:p>
        </p:txBody>
      </p:sp>
      <p:sp>
        <p:nvSpPr>
          <p:cNvPr id="15" name="Oval 14"/>
          <p:cNvSpPr/>
          <p:nvPr/>
        </p:nvSpPr>
        <p:spPr>
          <a:xfrm>
            <a:off x="548640" y="36027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57225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57225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say something directly or avoid the problem? Why?</a:t>
            </a:r>
          </a:p>
        </p:txBody>
      </p:sp>
      <p:sp>
        <p:nvSpPr>
          <p:cNvPr id="18" name="Oval 17"/>
          <p:cNvSpPr/>
          <p:nvPr/>
        </p:nvSpPr>
        <p:spPr>
          <a:xfrm>
            <a:off x="548640" y="42763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24586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24586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are some unwritten rules of office behaviour?</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can you complain to a colleague without damaging the relationship?</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1 题答案用 “the most annoying thing is when someone…”。annoying = 令人烦的;annoyed = 感到烦恼的。unwritten rule = 不成文的规矩。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Politely ask a colleague to stop doing something that annoys you.</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start gently</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describe the problem</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say the effect on you</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make a request</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thank them</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Sorry to bring this up, but…   💬 I find it hard to concentrate when…   💬 Would you mind… -ing?</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Would you mind + -ing 是礼貌请求;Sorry to bring this up 先缓和气氛。避免直接说 “You are too noisy”。</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Little Things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Ask any group of employees what makes them unhappy at work and you will hear a long list of small things. Loud phone calls, strong-smelling lunches, a kitchen full of dirty cups, colleagues who read over your shoulder, people who reply to everyone in an email chain. None of these is a serious problem, but together they can wear you down. The difficulty is that complaining feels petty, so many people say nothing and become resentful. Experts suggest a better approach: talk early, in private and about the behaviour rather than the person. “I find it hard to concentrate when there are calls nearby” is much easier to hear than “You’re too loud”. Teams can also agree on simple shared rules, such as quiet zones, a rota for the dishwasher and a “no strong-smelling food” guideline.</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small annoyances does the text mention?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E.g. loud calls, smelly lunches, dirty cups, people reading over your shoulder, reply-all emails.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 many people say nothing?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Complaining feels petty, so they stay silent and become resentful.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approach do experts suggest?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Talk early, in private, and about the behaviour rather than the person; agree shared rules.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Common annoyances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常见烦心事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pet peeve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最讨厌的小事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“One of my pet peeves is late meetings.”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open-plan office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开放式办公室</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“Open-plan offices can be noisy.”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background noise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背景噪音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background noise makes it hard to focus.”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interrupt</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don’t interrupt me while I’m speaking.”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leave a mess</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弄得一团糟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don’t leave a mess in the kitchen.”</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(someone’s) lunch</a:t>
            </a:r>
          </a:p>
          <a:p>
            <a:pPr algn="l">
              <a:lnSpc>
                <a:spcPct val="115000"/>
              </a:lnSpc>
              <a:spcAft>
                <a:spcPts val="800"/>
              </a:spcAft>
            </a:pPr>
            <a:r>
              <a:rPr sz="1300" b="0">
                <a:solidFill>
                  <a:srgbClr val="5F677A"/>
                </a:solidFill>
                <a:latin typeface="Arial"/>
                <a:ea typeface="Microsoft YaHei"/>
              </a:rPr>
              <a:t>verb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拿走某人的午餐</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“Someone took my lunch from the fridge.”</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Complaining diplomatically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委婉地提意见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on my nerves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让我心烦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constant clicking gets on my nerves.”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bring something up</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提起某事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didn’t want to bring it up in the meeting.”</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was wondering if you could…</a:t>
            </a:r>
          </a:p>
          <a:p>
            <a:pPr algn="l">
              <a:lnSpc>
                <a:spcPct val="115000"/>
              </a:lnSpc>
              <a:spcAft>
                <a:spcPts val="800"/>
              </a:spcAft>
            </a:pPr>
            <a:r>
              <a:rPr sz="1300" b="0">
                <a:solidFill>
                  <a:srgbClr val="5F677A"/>
                </a:solidFill>
                <a:latin typeface="Arial"/>
                <a:ea typeface="Microsoft YaHei"/>
              </a:rPr>
              <a:t>polite 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不知您能否……</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wondering if you could keep it down.”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it down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小声点</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keep it down a bit?”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across as</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给人……的印象</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don’t want to come across as rude.”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nip it in the bud</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防患于未然</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best to nip it in the bud.”</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提起某事</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bring something up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开放式办公室</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open-plan office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最讨厌的小事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pet peeve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小声点</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it down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背景噪音</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background noise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不知您能否……</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was wondering if you could…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打断</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interrupt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防患于未然</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nip it in the bud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pet peeve</a:t>
            </a:r>
          </a:p>
        </p:txBody>
      </p:sp>
      <p:sp>
        <p:nvSpPr>
          <p:cNvPr id="10" name="Rounded Rectangle 9"/>
          <p:cNvSpPr/>
          <p:nvPr/>
        </p:nvSpPr>
        <p:spPr>
          <a:xfrm>
            <a:off x="345643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open-plan</a:t>
            </a:r>
          </a:p>
        </p:txBody>
      </p:sp>
      <p:sp>
        <p:nvSpPr>
          <p:cNvPr id="11" name="Rounded Rectangle 10"/>
          <p:cNvSpPr/>
          <p:nvPr/>
        </p:nvSpPr>
        <p:spPr>
          <a:xfrm>
            <a:off x="4901184"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interrupt</a:t>
            </a:r>
          </a:p>
        </p:txBody>
      </p:sp>
      <p:sp>
        <p:nvSpPr>
          <p:cNvPr id="12" name="Rounded Rectangle 11"/>
          <p:cNvSpPr/>
          <p:nvPr/>
        </p:nvSpPr>
        <p:spPr>
          <a:xfrm>
            <a:off x="6345936"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mess</a:t>
            </a:r>
          </a:p>
        </p:txBody>
      </p:sp>
      <p:sp>
        <p:nvSpPr>
          <p:cNvPr id="13" name="Rounded Rectangle 12"/>
          <p:cNvSpPr/>
          <p:nvPr/>
        </p:nvSpPr>
        <p:spPr>
          <a:xfrm>
            <a:off x="7242048"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keep it down</a:t>
            </a:r>
          </a:p>
        </p:txBody>
      </p:sp>
      <p:sp>
        <p:nvSpPr>
          <p:cNvPr id="14" name="Rounded Rectangle 13"/>
          <p:cNvSpPr/>
          <p:nvPr/>
        </p:nvSpPr>
        <p:spPr>
          <a:xfrm>
            <a:off x="9015983"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bring it up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One of my biggest _______ is people who are late.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pet peeve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office is noisy during the afternoons.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open-plan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Please don’t _______ me while I’m explaining the plan.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interrupt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Could you tidy up and not leave a _______ in the kitchen?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mess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Could you _______ a bit? I am on a call.</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it down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I’m not sure whether to _______ with my manager.</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bring it up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annoyed (not “annoied”), noisy (not “noisey”), colleague. Make a mess, leave a mess, but make noise (not “do noise”). Annoying (thing) vs annoyed (person).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Raising an issue with a noisy desk neighbour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与吵闹的邻座沟通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desk neighbour, Dan, takes long, loud calls. You decide to talk to him calmly.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Yan Li, colleague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Brooks, desk neighbour</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Raising an issue with a noisy desk neighbour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Yan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Dan, have you got a minute? Sorry to bring this up, but there’s something on my mind.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what’s up?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about the phone calls. I find it hard to concentrate when they’re quite long and loud.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 didn’t realise. Is it really that noticeable?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Sometimes, yes, especially when I’m writing reports. I don’t want to come across as fussy.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I’m glad you said something. What would help?</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Raising an issue with a noisy desk neighbour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was wondering if you could take longer calls in the meeting room, or use headphones?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I’ll use the small room for anything over five minutes.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 would really help. And please tell me if I do anything that annoys you.</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 will do. Actually, you tap your pen a lot.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no, really? I’ll stop that, I promise.</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Raising an issue with a noisy desk neighbour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an annoying behaviour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is bothered by: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is surprised but cooperative.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bring this up · find it hard to concentrate · would you mind · come across as · keep it down · nip it in the bud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Start gently, describe the effect on you, make a request and thank the partner.</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Dan reacts defensively: “Everyone does it.” Stay calm and give a reason.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polite note to leave in the kitchen about dirty cups.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issue continues after two weeks. Speak to your manager.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your biggest pet peeve in the office?</a:t>
            </a:r>
          </a:p>
          <a:p>
            <a:pPr algn="l">
              <a:lnSpc>
                <a:spcPct val="115000"/>
              </a:lnSpc>
              <a:spcAft>
                <a:spcPts val="800"/>
              </a:spcAft>
            </a:pPr>
            <a:r>
              <a:rPr sz="1400" b="0">
                <a:solidFill>
                  <a:srgbClr val="5F677A"/>
                </a:solidFill>
                <a:latin typeface="Arial"/>
                <a:ea typeface="Microsoft YaHei"/>
              </a:rPr>
              <a:t>💬 “What bothers me most is when… / It really gets on my nerves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speak to a colleague directly or tell your manager?</a:t>
            </a:r>
          </a:p>
          <a:p>
            <a:pPr algn="l">
              <a:lnSpc>
                <a:spcPct val="115000"/>
              </a:lnSpc>
              <a:spcAft>
                <a:spcPts val="800"/>
              </a:spcAft>
            </a:pPr>
            <a:r>
              <a:rPr sz="1400" b="0">
                <a:solidFill>
                  <a:srgbClr val="5F677A"/>
                </a:solidFill>
                <a:latin typeface="Arial"/>
                <a:ea typeface="Microsoft YaHei"/>
              </a:rPr>
              <a:t>💬 “I’d start by… because… / If that doesn’t work, I’d…”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open-plan offices help or hurt productivity?</a:t>
            </a:r>
          </a:p>
          <a:p>
            <a:pPr algn="l">
              <a:lnSpc>
                <a:spcPct val="115000"/>
              </a:lnSpc>
              <a:spcAft>
                <a:spcPts val="800"/>
              </a:spcAft>
            </a:pPr>
            <a:r>
              <a:rPr sz="1400" b="0">
                <a:solidFill>
                  <a:srgbClr val="5F677A"/>
                </a:solidFill>
                <a:latin typeface="Arial"/>
                <a:ea typeface="Microsoft YaHei"/>
              </a:rPr>
              <a:t>💬 “They can help with… but they can also…”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shared rules would make an office more pleasant?</a:t>
            </a:r>
          </a:p>
          <a:p>
            <a:pPr algn="l">
              <a:lnSpc>
                <a:spcPct val="115000"/>
              </a:lnSpc>
              <a:spcAft>
                <a:spcPts val="800"/>
              </a:spcAft>
            </a:pPr>
            <a:r>
              <a:rPr sz="1400" b="0">
                <a:solidFill>
                  <a:srgbClr val="5F677A"/>
                </a:solidFill>
                <a:latin typeface="Arial"/>
                <a:ea typeface="Microsoft YaHei"/>
              </a:rPr>
              <a:t>💬 “I’d suggest… / It would help if everyone…”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talk to the colleague first, in private, because most people don’t realise they’re causing a problem. If I go straight to the manager, it can feel like I’m going behind their back, and that can damage the relationship. I’d explain what I’ve noticed and how it affects my work, and then ask for a change. If nothing improves, then I’d involve the manager, but only as a last resort.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go behind someone’s back = 背着某人做事。as a last resort = 作为最后手段。”straight to” = 直接去。”most people don’t realise” 概括。</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You are too loud.</a:t>
                      </a:r>
                    </a:p>
                  </a:txBody>
                  <a:tcPr anchor="ctr">
                    <a:solidFill>
                      <a:srgbClr val="FFFFFF"/>
                    </a:solidFill>
                  </a:tcPr>
                </a:tc>
                <a:tc>
                  <a:txBody>
                    <a:bodyPr wrap="square"/>
                    <a:lstStyle/>
                    <a:p>
                      <a:r>
                        <a:rPr sz="1600" b="0">
                          <a:solidFill>
                            <a:srgbClr val="1F2A44"/>
                          </a:solidFill>
                          <a:latin typeface="Arial"/>
                          <a:ea typeface="Microsoft YaHei"/>
                        </a:rPr>
                        <a:t>I find it hard to concentrate when it’s loud.</a:t>
                      </a:r>
                    </a:p>
                  </a:txBody>
                  <a:tcPr anchor="ctr">
                    <a:solidFill>
                      <a:srgbClr val="FFFFFF"/>
                    </a:solidFill>
                  </a:tcPr>
                </a:tc>
                <a:tc>
                  <a:txBody>
                    <a:bodyPr wrap="square"/>
                    <a:lstStyle/>
                    <a:p>
                      <a:r>
                        <a:rPr sz="1600" b="0">
                          <a:solidFill>
                            <a:srgbClr val="FF6B5B"/>
                          </a:solidFill>
                          <a:latin typeface="Arial"/>
                          <a:ea typeface="Microsoft YaHei"/>
                        </a:rPr>
                        <a:t>谈影响,不指责人</a:t>
                      </a:r>
                    </a:p>
                  </a:txBody>
                  <a:tcPr anchor="ctr">
                    <a:solidFill>
                      <a:srgbClr val="FFFFFF"/>
                    </a:solidFill>
                  </a:tcPr>
                </a:tc>
              </a:tr>
              <a:tr h="408432">
                <a:tc>
                  <a:txBody>
                    <a:bodyPr wrap="square"/>
                    <a:lstStyle/>
                    <a:p>
                      <a:r>
                        <a:rPr sz="1600" b="1">
                          <a:solidFill>
                            <a:srgbClr val="1F2A44"/>
                          </a:solidFill>
                          <a:latin typeface="Arial"/>
                          <a:ea typeface="Microsoft YaHei"/>
                        </a:rPr>
                        <a:t>Stop doing that!</a:t>
                      </a:r>
                    </a:p>
                  </a:txBody>
                  <a:tcPr anchor="ctr">
                    <a:solidFill>
                      <a:srgbClr val="FFEFD9"/>
                    </a:solidFill>
                  </a:tcPr>
                </a:tc>
                <a:tc>
                  <a:txBody>
                    <a:bodyPr wrap="square"/>
                    <a:lstStyle/>
                    <a:p>
                      <a:r>
                        <a:rPr sz="1600" b="0">
                          <a:solidFill>
                            <a:srgbClr val="1F2A44"/>
                          </a:solidFill>
                          <a:latin typeface="Arial"/>
                          <a:ea typeface="Microsoft YaHei"/>
                        </a:rPr>
                        <a:t>Would you mind not doing that?</a:t>
                      </a:r>
                    </a:p>
                  </a:txBody>
                  <a:tcPr anchor="ctr">
                    <a:solidFill>
                      <a:srgbClr val="FFEFD9"/>
                    </a:solidFill>
                  </a:tcPr>
                </a:tc>
                <a:tc>
                  <a:txBody>
                    <a:bodyPr wrap="square"/>
                    <a:lstStyle/>
                    <a:p>
                      <a:r>
                        <a:rPr sz="1600" b="0">
                          <a:solidFill>
                            <a:srgbClr val="FF6B5B"/>
                          </a:solidFill>
                          <a:latin typeface="Arial"/>
                          <a:ea typeface="Microsoft YaHei"/>
                        </a:rPr>
                        <a:t>委婉请求</a:t>
                      </a:r>
                    </a:p>
                  </a:txBody>
                  <a:tcPr anchor="ctr">
                    <a:solidFill>
                      <a:srgbClr val="FFEFD9"/>
                    </a:solidFill>
                  </a:tcPr>
                </a:tc>
              </a:tr>
              <a:tr h="652272">
                <a:tc>
                  <a:txBody>
                    <a:bodyPr wrap="square"/>
                    <a:lstStyle/>
                    <a:p>
                      <a:r>
                        <a:rPr sz="1600" b="1">
                          <a:solidFill>
                            <a:srgbClr val="1F2A44"/>
                          </a:solidFill>
                          <a:latin typeface="Arial"/>
                          <a:ea typeface="Microsoft YaHei"/>
                        </a:rPr>
                        <a:t>Your lunch smells bad.</a:t>
                      </a:r>
                    </a:p>
                  </a:txBody>
                  <a:tcPr anchor="ctr">
                    <a:solidFill>
                      <a:srgbClr val="FFFFFF"/>
                    </a:solidFill>
                  </a:tcPr>
                </a:tc>
                <a:tc>
                  <a:txBody>
                    <a:bodyPr wrap="square"/>
                    <a:lstStyle/>
                    <a:p>
                      <a:r>
                        <a:rPr sz="1600" b="0">
                          <a:solidFill>
                            <a:srgbClr val="1F2A44"/>
                          </a:solidFill>
                          <a:latin typeface="Arial"/>
                          <a:ea typeface="Microsoft YaHei"/>
                        </a:rPr>
                        <a:t>The smell is a bit strong. Would you mind eating in the kitchen?</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r h="408432">
                <a:tc>
                  <a:txBody>
                    <a:bodyPr wrap="square"/>
                    <a:lstStyle/>
                    <a:p>
                      <a:r>
                        <a:rPr sz="1600" b="1">
                          <a:solidFill>
                            <a:srgbClr val="1F2A44"/>
                          </a:solidFill>
                          <a:latin typeface="Arial"/>
                          <a:ea typeface="Microsoft YaHei"/>
                        </a:rPr>
                        <a:t>I hate it.</a:t>
                      </a:r>
                    </a:p>
                  </a:txBody>
                  <a:tcPr anchor="ctr">
                    <a:solidFill>
                      <a:srgbClr val="FFEFD9"/>
                    </a:solidFill>
                  </a:tcPr>
                </a:tc>
                <a:tc>
                  <a:txBody>
                    <a:bodyPr wrap="square"/>
                    <a:lstStyle/>
                    <a:p>
                      <a:r>
                        <a:rPr sz="1600" b="0">
                          <a:solidFill>
                            <a:srgbClr val="1F2A44"/>
                          </a:solidFill>
                          <a:latin typeface="Arial"/>
                          <a:ea typeface="Microsoft YaHei"/>
                        </a:rPr>
                        <a:t>It really gets on my nerves.</a:t>
                      </a:r>
                    </a:p>
                  </a:txBody>
                  <a:tcPr anchor="ctr">
                    <a:solidFill>
                      <a:srgbClr val="FFEFD9"/>
                    </a:solidFill>
                  </a:tcPr>
                </a:tc>
                <a:tc>
                  <a:txBody>
                    <a:bodyPr wrap="square"/>
                    <a:lstStyle/>
                    <a:p>
                      <a:r>
                        <a:rPr sz="1600" b="0">
                          <a:solidFill>
                            <a:srgbClr val="FF6B5B"/>
                          </a:solidFill>
                          <a:latin typeface="Arial"/>
                          <a:ea typeface="Microsoft YaHei"/>
                        </a:rPr>
                        <a:t>习语表达烦恼</a:t>
                      </a:r>
                    </a:p>
                  </a:txBody>
                  <a:tcPr anchor="ctr">
                    <a:solidFill>
                      <a:srgbClr val="FFEFD9"/>
                    </a:solidFill>
                  </a:tcPr>
                </a:tc>
              </a:tr>
              <a:tr h="652272">
                <a:tc>
                  <a:txBody>
                    <a:bodyPr wrap="square"/>
                    <a:lstStyle/>
                    <a:p>
                      <a:r>
                        <a:rPr sz="1600" b="1">
                          <a:solidFill>
                            <a:srgbClr val="1F2A44"/>
                          </a:solidFill>
                          <a:latin typeface="Arial"/>
                          <a:ea typeface="Microsoft YaHei"/>
                        </a:rPr>
                        <a:t>Do not leave a mess.</a:t>
                      </a:r>
                    </a:p>
                  </a:txBody>
                  <a:tcPr anchor="ctr">
                    <a:solidFill>
                      <a:srgbClr val="FFFFFF"/>
                    </a:solidFill>
                  </a:tcPr>
                </a:tc>
                <a:tc>
                  <a:txBody>
                    <a:bodyPr wrap="square"/>
                    <a:lstStyle/>
                    <a:p>
                      <a:r>
                        <a:rPr sz="1600" b="0">
                          <a:solidFill>
                            <a:srgbClr val="1F2A44"/>
                          </a:solidFill>
                          <a:latin typeface="Arial"/>
                          <a:ea typeface="Microsoft YaHei"/>
                        </a:rPr>
                        <a:t>Please remember to clean up after yourself.</a:t>
                      </a:r>
                    </a:p>
                  </a:txBody>
                  <a:tcPr anchor="ctr">
                    <a:solidFill>
                      <a:srgbClr val="FFFFFF"/>
                    </a:solidFill>
                  </a:tcPr>
                </a:tc>
                <a:tc>
                  <a:txBody>
                    <a:bodyPr wrap="square"/>
                    <a:lstStyle/>
                    <a:p>
                      <a:r>
                        <a:rPr sz="1600" b="0">
                          <a:solidFill>
                            <a:srgbClr val="FF6B5B"/>
                          </a:solidFill>
                          <a:latin typeface="Arial"/>
                          <a:ea typeface="Microsoft YaHei"/>
                        </a:rPr>
                        <a:t>礼貌提醒</a:t>
                      </a:r>
                    </a:p>
                  </a:txBody>
                  <a:tcPr anchor="ctr">
                    <a:solidFill>
                      <a:srgbClr val="FFFFFF"/>
                    </a:solidFill>
                  </a:tcPr>
                </a:tc>
              </a:tr>
            </a:tbl>
          </a:graphicData>
        </a:graphic>
      </p:graphicFrame>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Would you mind + -ing? Reply “Not at all” to mean yes. “Would you mind opening the window?” “No, not at all.”</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Soften with a lead-in: </a:t>
            </a:r>
            <a:r>
              <a:rPr sz="1700" b="0">
                <a:solidFill>
                  <a:srgbClr val="1F2A44"/>
                </a:solidFill>
                <a:latin typeface="Arial"/>
                <a:ea typeface="Microsoft YaHei"/>
              </a:rPr>
              <a:t>Sorry to bring this up, but… / I hope you don’t mind my saying, but…</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Behaviour, not person: </a:t>
            </a:r>
            <a:r>
              <a:rPr sz="1700" b="0">
                <a:solidFill>
                  <a:srgbClr val="1F2A44"/>
                </a:solidFill>
                <a:latin typeface="Arial"/>
                <a:ea typeface="Microsoft YaHei"/>
              </a:rPr>
              <a:t>“When you… I feel/find…” instead of “You are…”.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Annoyed vs annoying: </a:t>
            </a:r>
            <a:r>
              <a:rPr sz="1700" b="0">
                <a:solidFill>
                  <a:srgbClr val="1F2A44"/>
                </a:solidFill>
                <a:latin typeface="Arial"/>
                <a:ea typeface="Microsoft YaHei"/>
              </a:rPr>
              <a:t>The noise is annoying. I’m annoyed.</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Could you stop talk?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stop talking?</a:t>
            </a:r>
          </a:p>
          <a:p>
            <a:pPr algn="l">
              <a:spcAft>
                <a:spcPts val="200"/>
              </a:spcAft>
            </a:pPr>
            <a:r>
              <a:rPr sz="1200" b="0">
                <a:solidFill>
                  <a:srgbClr val="FFFFFF"/>
                </a:solidFill>
                <a:latin typeface="Arial"/>
                <a:ea typeface="Microsoft YaHei"/>
              </a:rPr>
              <a:t>stop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Would you mind to be quiet?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Would you mind keeping it down?</a:t>
            </a:r>
          </a:p>
          <a:p>
            <a:pPr algn="l">
              <a:spcAft>
                <a:spcPts val="200"/>
              </a:spcAft>
            </a:pPr>
            <a:r>
              <a:rPr sz="1200" b="0">
                <a:solidFill>
                  <a:srgbClr val="FFFFFF"/>
                </a:solidFill>
                <a:latin typeface="Arial"/>
                <a:ea typeface="Microsoft YaHei"/>
              </a:rPr>
              <a:t>mind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behaviour is very annoyed.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Your behaviour is very annoying.</a:t>
            </a:r>
          </a:p>
          <a:p>
            <a:pPr algn="l">
              <a:spcAft>
                <a:spcPts val="200"/>
              </a:spcAft>
            </a:pPr>
            <a:r>
              <a:rPr sz="1200" b="0">
                <a:solidFill>
                  <a:srgbClr val="FFFFFF"/>
                </a:solidFill>
                <a:latin typeface="Arial"/>
                <a:ea typeface="Microsoft YaHei"/>
              </a:rPr>
              <a:t>-ing vs -ed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angry for your noise.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annoyed by the noise.</a:t>
            </a:r>
          </a:p>
          <a:p>
            <a:pPr algn="l">
              <a:spcAft>
                <a:spcPts val="200"/>
              </a:spcAft>
            </a:pPr>
            <a:r>
              <a:rPr sz="1200" b="0">
                <a:solidFill>
                  <a:srgbClr val="FFFFFF"/>
                </a:solidFill>
                <a:latin typeface="Arial"/>
                <a:ea typeface="Microsoft YaHei"/>
              </a:rPr>
              <a:t>annoyed by</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do not make me trouble.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don’t cause me any problems. / I’d appreciate it if you didn’t…</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mind to wait.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mind waiting.</a:t>
            </a:r>
          </a:p>
          <a:p>
            <a:pPr algn="l">
              <a:spcAft>
                <a:spcPts val="200"/>
              </a:spcAft>
            </a:pPr>
            <a:r>
              <a:rPr sz="1200" b="0">
                <a:solidFill>
                  <a:srgbClr val="FFFFFF"/>
                </a:solidFill>
                <a:latin typeface="Arial"/>
                <a:ea typeface="Microsoft YaHei"/>
              </a:rPr>
              <a:t>mind +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mind + -ing, annoyed / annoying, and stop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Indirectness: </a:t>
            </a:r>
            <a:r>
              <a:rPr sz="1700" b="0">
                <a:solidFill>
                  <a:srgbClr val="1F2A44"/>
                </a:solidFill>
                <a:latin typeface="Arial"/>
                <a:ea typeface="Microsoft YaHei"/>
              </a:rPr>
              <a:t>In UK offices people often say “It’s a bit loud in here” to mean “please be quieter”. Listen for the hidden request.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Don’t embarrass people: </a:t>
            </a:r>
            <a:r>
              <a:rPr sz="1700" b="0">
                <a:solidFill>
                  <a:srgbClr val="1F2A44"/>
                </a:solidFill>
                <a:latin typeface="Arial"/>
                <a:ea typeface="Microsoft YaHei"/>
              </a:rPr>
              <a:t>Speak in private. A public comment can sound like a criticism.</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Kitchen etiquette: </a:t>
            </a:r>
            <a:r>
              <a:rPr sz="1700" b="0">
                <a:solidFill>
                  <a:srgbClr val="1F2A44"/>
                </a:solidFill>
                <a:latin typeface="Arial"/>
                <a:ea typeface="Microsoft YaHei"/>
              </a:rPr>
              <a:t>“Wash your own cup” is a common unwritten rule; a rota or signs are normal in shared offices.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提意见时说“对你有什么影响”,不要直接评价对方。would you mind + -ing 回答“不介意”用 Not at all。annoyed(人感到烦)和 annoying(事令人烦)要分清。</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raise an annoyance politely and privately.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Would you mind…-ing? and I was wondering if….</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shared rules for an office.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distinguish annoyed / annoying and use mind + -ing.</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27 Office Annoyances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mind + -ing, stop + -ing, and -ed / -ing adjectives.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28 Work Relationships: Bridges and Boundaries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700" b="1">
                <a:solidFill>
                  <a:srgbClr val="FFFFFF"/>
                </a:solidFill>
                <a:latin typeface="Arial"/>
                <a:ea typeface="Microsoft YaHei"/>
              </a:rPr>
              <a:t>Work Relationships: Bridges and Boundaries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职场关系:连接与边界</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talk about building good working relationships while keeping healthy boundaries, such as friendship with colleagues, saying no and keeping work and private life separate.</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have friends at work? How did you become friends?</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a good idea to be close friends with a colleague or a boss? Why or why not?</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of your private life do you share at work?</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politely say no to a request from a colleague?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feel about socialising with colleagues after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题可用 “It depends on…”。boundaries = 界限。 socialise with = 与……交际。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Politely say no to a colleague’s request without damaging the relationship.</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show understanding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explain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say no clearly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offer an alternative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love to help, but…   💬 I’m afraid I can’t take that on right now.   💬 What I can do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拒绝时先表示理解,再说明理由,最后给出替代方案。 “take on” = 承担。</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Close, but Not Too Close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Good relationships at work make everything easier, from getting advice to surviving a bad week. Many people find their closest friends among colleagues. Yet the line between friendly and too friendly can be hard to see. Sharing a lunch is fine; sharing a manager’s confidential decisions is not. Friendships can also create awkward situations when one friend becomes the other’s boss, or when a colleague expects special treatment. Experts recommend building bridges widely, so that you know people across teams, but being clear about boundaries. That means saying no politely when you are overloaded, keeping private details private and avoiding gossip. A simple phrase like “I’d rather not discuss that” can protect you without sounding rude. Healthy boundaries are not walls; they are what let relationships last without resentment.</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can friendships at work be awkward?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one friend becomes the other’s boss or someone expects special treatment.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experts recommend?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Build relationships widely but be clear about boundaries.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phrase protects you without sounding rude?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“I’d rather not discuss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Relationships at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职场关系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rapport</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融洽关系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quickly built rapport with the client.”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colleague / co-worker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colleague recommended 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network</a:t>
            </a:r>
          </a:p>
          <a:p>
            <a:pPr algn="l">
              <a:lnSpc>
                <a:spcPct val="115000"/>
              </a:lnSpc>
              <a:spcAft>
                <a:spcPts val="800"/>
              </a:spcAft>
            </a:pPr>
            <a:r>
              <a:rPr sz="1300" b="0">
                <a:solidFill>
                  <a:srgbClr val="5F677A"/>
                </a:solidFill>
                <a:latin typeface="Arial"/>
                <a:ea typeface="Microsoft YaHei"/>
              </a:rPr>
              <a:t>verb / 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建立人脉 / 人脉</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network at industry events.”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socialise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社交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socialise after work on Fridays.”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gossip</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闲话</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try to avoid office gossip.”</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boundary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界限</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important to set boundaries.”</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Keeping boundaries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保持界限</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draw the line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划清界限</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draw the line at working weekends.”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(it) professional</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保持专业</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friends, but at work we keep it professional.”</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overstep</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越界</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I overstepped by asking about his salary.”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承担</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can’t take on any more projects.”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push back</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回绝/反对</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pushed back when asked to work late.”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conflict of interest</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利益冲突</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“Dating your direct report is a conflict of interest.”</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利益冲突</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conflict of interest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colleague / co-worker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划清界限</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draw the line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闲话</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gossip</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融洽关系</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rapport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回绝/反对</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push back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建立人脉 / 人脉</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network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界限</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boundary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rapport</a:t>
            </a:r>
          </a:p>
        </p:txBody>
      </p:sp>
      <p:sp>
        <p:nvSpPr>
          <p:cNvPr id="10" name="Rounded Rectangle 9"/>
          <p:cNvSpPr/>
          <p:nvPr/>
        </p:nvSpPr>
        <p:spPr>
          <a:xfrm>
            <a:off x="3236976"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network</a:t>
            </a:r>
          </a:p>
        </p:txBody>
      </p:sp>
      <p:sp>
        <p:nvSpPr>
          <p:cNvPr id="11" name="Rounded Rectangle 10"/>
          <p:cNvSpPr/>
          <p:nvPr/>
        </p:nvSpPr>
        <p:spPr>
          <a:xfrm>
            <a:off x="4462272"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socialise</a:t>
            </a:r>
          </a:p>
        </p:txBody>
      </p:sp>
      <p:sp>
        <p:nvSpPr>
          <p:cNvPr id="12" name="Rounded Rectangle 11"/>
          <p:cNvSpPr/>
          <p:nvPr/>
        </p:nvSpPr>
        <p:spPr>
          <a:xfrm>
            <a:off x="5907024"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gossip</a:t>
            </a:r>
          </a:p>
        </p:txBody>
      </p:sp>
      <p:sp>
        <p:nvSpPr>
          <p:cNvPr id="13" name="Rounded Rectangle 12"/>
          <p:cNvSpPr/>
          <p:nvPr/>
        </p:nvSpPr>
        <p:spPr>
          <a:xfrm>
            <a:off x="7022592"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draw the line</a:t>
            </a:r>
          </a:p>
        </p:txBody>
      </p:sp>
      <p:sp>
        <p:nvSpPr>
          <p:cNvPr id="14" name="Rounded Rectangle 13"/>
          <p:cNvSpPr/>
          <p:nvPr/>
        </p:nvSpPr>
        <p:spPr>
          <a:xfrm>
            <a:off x="8906256"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quickly built _______ with the new client.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rapport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It’s useful to _______ at industry events.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network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_______ after work on Fridays.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socialise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try to avoid office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gossip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happy to work late sometimes, but I _______ at weekends.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draw the line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I’m afraid I can’t _______ any more projects this month.</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colleague, relationship (not “relatioship”), boundary (not “boundry”). Build / develop rapport, set boundaries (not “make boundaries”). Gossip is uncountable when meaning talk (“a lot of gossip”).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Saying no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礼貌拒绝同事请求</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friendly colleague, Chris, asks you to cover his tasks for a week. You are already overloaded.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Lena Zhou, busy colleague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Chris Hall, colleague who asks for help</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Saying no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Lena, you’re a lifesaver. Could you possibly take over my reports next week while I’m away?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Chris</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love to help, Chris, but I’m afraid I can’t take that on right now.</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Is it a busy period for you?</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I’m already working two evenings a week to meet the Friday deadline.</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 just don’t know who else to ask.</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What I can do is look at your report template and give you a few tips before you go.</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Saying no to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useful. And maybe you could ask Mia?</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I’ll mention it to her, but I think it would be better if you asked her yourself.</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Thanks anyway, Lena.</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I can’t do more. I hope the trip goes well.</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 owe you one for the tips.</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Anytime.</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Saying no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refuse a colleague’s request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is overloaded. Reason: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asks for help. Disappointed but understanding.</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love to · I’m afraid I can’t · take on · what I can do is · fair enough · I understand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no clearly, give a short reason and offer an alternative.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Chris insists: “Just this once.” Hold your position politely.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friend at work asks you to share confidential information. Say no.</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you like asks you out. Decline kindly and keep things professional.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a good idea to be friends with colleagues?</a:t>
            </a:r>
          </a:p>
          <a:p>
            <a:pPr algn="l">
              <a:lnSpc>
                <a:spcPct val="115000"/>
              </a:lnSpc>
              <a:spcAft>
                <a:spcPts val="800"/>
              </a:spcAft>
            </a:pPr>
            <a:r>
              <a:rPr sz="1400" b="0">
                <a:solidFill>
                  <a:srgbClr val="5F677A"/>
                </a:solidFill>
                <a:latin typeface="Arial"/>
                <a:ea typeface="Microsoft YaHei"/>
              </a:rPr>
              <a:t>💬 “I think it can be positive as long as… / The risk is that…”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without being rude?</a:t>
            </a:r>
          </a:p>
          <a:p>
            <a:pPr algn="l">
              <a:lnSpc>
                <a:spcPct val="115000"/>
              </a:lnSpc>
              <a:spcAft>
                <a:spcPts val="800"/>
              </a:spcAft>
            </a:pPr>
            <a:r>
              <a:rPr sz="1400" b="0">
                <a:solidFill>
                  <a:srgbClr val="5F677A"/>
                </a:solidFill>
                <a:latin typeface="Arial"/>
                <a:ea typeface="Microsoft YaHei"/>
              </a:rPr>
              <a:t>💬 “I try to… I usually say… and offer…”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Where do you draw the line between work and private life?</a:t>
            </a:r>
          </a:p>
          <a:p>
            <a:pPr algn="l">
              <a:lnSpc>
                <a:spcPct val="115000"/>
              </a:lnSpc>
              <a:spcAft>
                <a:spcPts val="800"/>
              </a:spcAft>
            </a:pPr>
            <a:r>
              <a:rPr sz="1400" b="0">
                <a:solidFill>
                  <a:srgbClr val="5F677A"/>
                </a:solidFill>
                <a:latin typeface="Arial"/>
                <a:ea typeface="Microsoft YaHei"/>
              </a:rPr>
              <a:t>💬 “I draw the line at… / I’m happy to…, but not…”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bosses and employees socialise outside work?</a:t>
            </a:r>
          </a:p>
          <a:p>
            <a:pPr algn="l">
              <a:lnSpc>
                <a:spcPct val="115000"/>
              </a:lnSpc>
              <a:spcAft>
                <a:spcPts val="800"/>
              </a:spcAft>
            </a:pPr>
            <a:r>
              <a:rPr sz="1400" b="0">
                <a:solidFill>
                  <a:srgbClr val="5F677A"/>
                </a:solidFill>
                <a:latin typeface="Arial"/>
                <a:ea typeface="Microsoft YaHei"/>
              </a:rPr>
              <a:t>💬 “It depends on… / It can build trust,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depends on the situation. Occasional social events, such as a team dinner, can build trust and make it easier to work together. But a boss should be careful not to favour some people, and employees might feel pressure to attend even if they don’t want to. I think the best approach is to keep events optional and inclusive, and to remember that personal friendships between a manager and a team member can create conflicts of interest.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favour = 偏袒。”pressure to attend” 出席的压力。inclusive = 包容的。”optional” = 自愿的。</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can’t do it.</a:t>
                      </a:r>
                    </a:p>
                  </a:txBody>
                  <a:tcPr anchor="ctr">
                    <a:solidFill>
                      <a:srgbClr val="FFFFFF"/>
                    </a:solidFill>
                  </a:tcPr>
                </a:tc>
                <a:tc>
                  <a:txBody>
                    <a:bodyPr wrap="square"/>
                    <a:lstStyle/>
                    <a:p>
                      <a:r>
                        <a:rPr sz="1600" b="0">
                          <a:solidFill>
                            <a:srgbClr val="1F2A44"/>
                          </a:solidFill>
                          <a:latin typeface="Arial"/>
                          <a:ea typeface="Microsoft YaHei"/>
                        </a:rPr>
                        <a:t>I’m afraid I can’t take that on right now.</a:t>
                      </a:r>
                    </a:p>
                  </a:txBody>
                  <a:tcPr anchor="ctr">
                    <a:solidFill>
                      <a:srgbClr val="FFFFFF"/>
                    </a:solidFill>
                  </a:tcPr>
                </a:tc>
                <a:tc>
                  <a:txBody>
                    <a:bodyPr wrap="square"/>
                    <a:lstStyle/>
                    <a:p>
                      <a:r>
                        <a:rPr sz="1600" b="0">
                          <a:solidFill>
                            <a:srgbClr val="FF6B5B"/>
                          </a:solidFill>
                          <a:latin typeface="Arial"/>
                          <a:ea typeface="Microsoft YaHei"/>
                        </a:rPr>
                        <a:t>委婉拒绝</a:t>
                      </a:r>
                    </a:p>
                  </a:txBody>
                  <a:tcPr anchor="ctr">
                    <a:solidFill>
                      <a:srgbClr val="FFFFFF"/>
                    </a:solidFill>
                  </a:tcPr>
                </a:tc>
              </a:tr>
              <a:tr h="652272">
                <a:tc>
                  <a:txBody>
                    <a:bodyPr wrap="square"/>
                    <a:lstStyle/>
                    <a:p>
                      <a:r>
                        <a:rPr sz="1600" b="1">
                          <a:solidFill>
                            <a:srgbClr val="1F2A44"/>
                          </a:solidFill>
                          <a:latin typeface="Arial"/>
                          <a:ea typeface="Microsoft YaHei"/>
                        </a:rPr>
                        <a:t>No, I am busy.</a:t>
                      </a:r>
                    </a:p>
                  </a:txBody>
                  <a:tcPr anchor="ctr">
                    <a:solidFill>
                      <a:srgbClr val="FFEFD9"/>
                    </a:solidFill>
                  </a:tcPr>
                </a:tc>
                <a:tc>
                  <a:txBody>
                    <a:bodyPr wrap="square"/>
                    <a:lstStyle/>
                    <a:p>
                      <a:r>
                        <a:rPr sz="1600" b="0">
                          <a:solidFill>
                            <a:srgbClr val="1F2A44"/>
                          </a:solidFill>
                          <a:latin typeface="Arial"/>
                          <a:ea typeface="Microsoft YaHei"/>
                        </a:rPr>
                        <a:t>I’d love to, but I’m tied up this week.</a:t>
                      </a:r>
                    </a:p>
                  </a:txBody>
                  <a:tcPr anchor="ctr">
                    <a:solidFill>
                      <a:srgbClr val="FFEFD9"/>
                    </a:solidFill>
                  </a:tcPr>
                </a:tc>
                <a:tc>
                  <a:txBody>
                    <a:bodyPr wrap="square"/>
                    <a:lstStyle/>
                    <a:p>
                      <a:r>
                        <a:rPr sz="1600" b="0">
                          <a:solidFill>
                            <a:srgbClr val="FF6B5B"/>
                          </a:solidFill>
                          <a:latin typeface="Arial"/>
                          <a:ea typeface="Microsoft YaHei"/>
                        </a:rPr>
                        <a:t>先表示愿意</a:t>
                      </a:r>
                    </a:p>
                  </a:txBody>
                  <a:tcPr anchor="ctr">
                    <a:solidFill>
                      <a:srgbClr val="FFEFD9"/>
                    </a:solidFill>
                  </a:tcPr>
                </a:tc>
              </a:tr>
              <a:tr h="408432">
                <a:tc>
                  <a:txBody>
                    <a:bodyPr wrap="square"/>
                    <a:lstStyle/>
                    <a:p>
                      <a:r>
                        <a:rPr sz="1600" b="1">
                          <a:solidFill>
                            <a:srgbClr val="1F2A44"/>
                          </a:solidFill>
                          <a:latin typeface="Arial"/>
                          <a:ea typeface="Microsoft YaHei"/>
                        </a:rPr>
                        <a:t>Don’t ask me about that.</a:t>
                      </a:r>
                    </a:p>
                  </a:txBody>
                  <a:tcPr anchor="ctr">
                    <a:solidFill>
                      <a:srgbClr val="FFFFFF"/>
                    </a:solidFill>
                  </a:tcPr>
                </a:tc>
                <a:tc>
                  <a:txBody>
                    <a:bodyPr wrap="square"/>
                    <a:lstStyle/>
                    <a:p>
                      <a:r>
                        <a:rPr sz="1600" b="0">
                          <a:solidFill>
                            <a:srgbClr val="1F2A44"/>
                          </a:solidFill>
                          <a:latin typeface="Arial"/>
                          <a:ea typeface="Microsoft YaHei"/>
                        </a:rPr>
                        <a:t>I’d rather not discuss that.</a:t>
                      </a:r>
                    </a:p>
                  </a:txBody>
                  <a:tcPr anchor="ctr">
                    <a:solidFill>
                      <a:srgbClr val="FFFFFF"/>
                    </a:solidFill>
                  </a:tcPr>
                </a:tc>
                <a:tc>
                  <a:txBody>
                    <a:bodyPr wrap="square"/>
                    <a:lstStyle/>
                    <a:p>
                      <a:r>
                        <a:rPr sz="1600" b="0">
                          <a:solidFill>
                            <a:srgbClr val="FF6B5B"/>
                          </a:solidFill>
                          <a:latin typeface="Arial"/>
                          <a:ea typeface="Microsoft YaHei"/>
                        </a:rPr>
                        <a:t>保护隐私</a:t>
                      </a:r>
                    </a:p>
                  </a:txBody>
                  <a:tcPr anchor="ctr">
                    <a:solidFill>
                      <a:srgbClr val="FFFFFF"/>
                    </a:solidFill>
                  </a:tcPr>
                </a:tc>
              </a:tr>
              <a:tr h="652272">
                <a:tc>
                  <a:txBody>
                    <a:bodyPr wrap="square"/>
                    <a:lstStyle/>
                    <a:p>
                      <a:r>
                        <a:rPr sz="1600" b="1">
                          <a:solidFill>
                            <a:srgbClr val="1F2A44"/>
                          </a:solidFill>
                          <a:latin typeface="Arial"/>
                          <a:ea typeface="Microsoft YaHei"/>
                        </a:rPr>
                        <a:t>He’s my friend.</a:t>
                      </a:r>
                    </a:p>
                  </a:txBody>
                  <a:tcPr anchor="ctr">
                    <a:solidFill>
                      <a:srgbClr val="FFEFD9"/>
                    </a:solidFill>
                  </a:tcPr>
                </a:tc>
                <a:tc>
                  <a:txBody>
                    <a:bodyPr wrap="square"/>
                    <a:lstStyle/>
                    <a:p>
                      <a:r>
                        <a:rPr sz="1600" b="0">
                          <a:solidFill>
                            <a:srgbClr val="1F2A44"/>
                          </a:solidFill>
                          <a:latin typeface="Arial"/>
                          <a:ea typeface="Microsoft YaHei"/>
                        </a:rPr>
                        <a:t>He’s a good friend as well as a colleague.</a:t>
                      </a:r>
                    </a:p>
                  </a:txBody>
                  <a:tcPr anchor="ctr">
                    <a:solidFill>
                      <a:srgbClr val="FFEFD9"/>
                    </a:solidFill>
                  </a:tcPr>
                </a:tc>
                <a:tc>
                  <a:txBody>
                    <a:bodyPr wrap="square"/>
                    <a:lstStyle/>
                    <a:p>
                      <a:r>
                        <a:rPr sz="1600" b="0">
                          <a:solidFill>
                            <a:srgbClr val="FF6B5B"/>
                          </a:solidFill>
                          <a:latin typeface="Arial"/>
                          <a:ea typeface="Microsoft YaHei"/>
                        </a:rPr>
                        <a:t>描述</a:t>
                      </a:r>
                    </a:p>
                  </a:txBody>
                  <a:tcPr anchor="ctr">
                    <a:solidFill>
                      <a:srgbClr val="FFEFD9"/>
                    </a:solidFill>
                  </a:tcPr>
                </a:tc>
              </a:tr>
              <a:tr h="652272">
                <a:tc>
                  <a:txBody>
                    <a:bodyPr wrap="square"/>
                    <a:lstStyle/>
                    <a:p>
                      <a:r>
                        <a:rPr sz="1600" b="1">
                          <a:solidFill>
                            <a:srgbClr val="1F2A44"/>
                          </a:solidFill>
                          <a:latin typeface="Arial"/>
                          <a:ea typeface="Microsoft YaHei"/>
                        </a:rPr>
                        <a:t>We talk a lot.</a:t>
                      </a:r>
                    </a:p>
                  </a:txBody>
                  <a:tcPr anchor="ctr">
                    <a:solidFill>
                      <a:srgbClr val="FFFFFF"/>
                    </a:solidFill>
                  </a:tcPr>
                </a:tc>
                <a:tc>
                  <a:txBody>
                    <a:bodyPr wrap="square"/>
                    <a:lstStyle/>
                    <a:p>
                      <a:r>
                        <a:rPr sz="1600" b="0">
                          <a:solidFill>
                            <a:srgbClr val="1F2A44"/>
                          </a:solidFill>
                          <a:latin typeface="Arial"/>
                          <a:ea typeface="Microsoft YaHei"/>
                        </a:rPr>
                        <a:t>We get along well and have good rapport.</a:t>
                      </a:r>
                    </a:p>
                  </a:txBody>
                  <a:tcPr anchor="ctr">
                    <a:solidFill>
                      <a:srgbClr val="FFFFFF"/>
                    </a:solidFill>
                  </a:tcPr>
                </a:tc>
                <a:tc>
                  <a:txBody>
                    <a:bodyPr wrap="square"/>
                    <a:lstStyle/>
                    <a:p>
                      <a:r>
                        <a:rPr sz="1600" b="0">
                          <a:solidFill>
                            <a:srgbClr val="FF6B5B"/>
                          </a:solidFill>
                          <a:latin typeface="Arial"/>
                          <a:ea typeface="Microsoft YaHei"/>
                        </a:rPr>
                        <a:t>更专业</a:t>
                      </a:r>
                    </a:p>
                  </a:txBody>
                  <a:tcPr anchor="ctr">
                    <a:solidFill>
                      <a:srgbClr val="FFFFFF"/>
                    </a:solidFill>
                  </a:tcPr>
                </a:tc>
              </a:tr>
            </a:tbl>
          </a:graphicData>
        </a:graphic>
      </p:graphicFrame>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Softening a refusal: </a:t>
            </a:r>
            <a:r>
              <a:rPr sz="1700" b="0">
                <a:solidFill>
                  <a:srgbClr val="1F2A44"/>
                </a:solidFill>
                <a:latin typeface="Arial"/>
                <a:ea typeface="Microsoft YaHei"/>
              </a:rPr>
              <a:t>I’m afraid… / Unfortunately… / I’d love to, but…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Offer an alternative: </a:t>
            </a:r>
            <a:r>
              <a:rPr sz="1700" b="0">
                <a:solidFill>
                  <a:srgbClr val="1F2A44"/>
                </a:solidFill>
                <a:latin typeface="Arial"/>
                <a:ea typeface="Microsoft YaHei"/>
              </a:rPr>
              <a:t>What I can do is… / How about… / Maybe I could…</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Rather than “No!” Use “That doesn’t work for me” for firm refusals.</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Would rather: </a:t>
            </a:r>
            <a:r>
              <a:rPr sz="1700" b="0">
                <a:solidFill>
                  <a:srgbClr val="1F2A44"/>
                </a:solidFill>
                <a:latin typeface="Arial"/>
                <a:ea typeface="Microsoft YaHei"/>
              </a:rPr>
              <a:t>“I’d rather not talk about it.” (would rather + base verb)</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afraid I can not help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I can’t help you.</a:t>
            </a:r>
          </a:p>
          <a:p>
            <a:pPr algn="l">
              <a:spcAft>
                <a:spcPts val="200"/>
              </a:spcAft>
            </a:pPr>
            <a:r>
              <a:rPr sz="1200" b="0">
                <a:solidFill>
                  <a:srgbClr val="FFFFFF"/>
                </a:solidFill>
                <a:latin typeface="Arial"/>
                <a:ea typeface="Microsoft YaHei"/>
              </a:rPr>
              <a:t>can’t 一词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I’d rather to stay.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rather stay.</a:t>
            </a:r>
          </a:p>
          <a:p>
            <a:pPr algn="l">
              <a:spcAft>
                <a:spcPts val="200"/>
              </a:spcAft>
            </a:pPr>
            <a:r>
              <a:rPr sz="1200" b="0">
                <a:solidFill>
                  <a:srgbClr val="FFFFFF"/>
                </a:solidFill>
                <a:latin typeface="Arial"/>
                <a:ea typeface="Microsoft YaHei"/>
              </a:rPr>
              <a:t>would rather + 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makes friend with everyone.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makes friends with everyone.</a:t>
            </a:r>
          </a:p>
          <a:p>
            <a:pPr algn="l">
              <a:spcAft>
                <a:spcPts val="200"/>
              </a:spcAft>
            </a:pPr>
            <a:r>
              <a:rPr sz="1200" b="0">
                <a:solidFill>
                  <a:srgbClr val="FFFFFF"/>
                </a:solidFill>
                <a:latin typeface="Arial"/>
                <a:ea typeface="Microsoft YaHei"/>
              </a:rPr>
              <a:t>make friends 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good relation with my boss.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good relationship with my boss.</a:t>
            </a:r>
          </a:p>
          <a:p>
            <a:pPr algn="l">
              <a:spcAft>
                <a:spcPts val="200"/>
              </a:spcAft>
            </a:pPr>
            <a:r>
              <a:rPr sz="1200" b="0">
                <a:solidFill>
                  <a:srgbClr val="FFFFFF"/>
                </a:solidFill>
                <a:latin typeface="Arial"/>
                <a:ea typeface="Microsoft YaHei"/>
              </a:rPr>
              <a:t>relationship</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too friendly with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a little too familiar with me.</a:t>
            </a:r>
          </a:p>
          <a:p>
            <a:pPr algn="l">
              <a:spcAft>
                <a:spcPts val="200"/>
              </a:spcAft>
            </a:pPr>
            <a:r>
              <a:rPr sz="1200" b="0">
                <a:solidFill>
                  <a:srgbClr val="FFFFFF"/>
                </a:solidFill>
                <a:latin typeface="Arial"/>
                <a:ea typeface="Microsoft YaHei"/>
              </a:rPr>
              <a:t>暗示越界</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keep distance.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keep my distance.</a:t>
            </a:r>
          </a:p>
          <a:p>
            <a:pPr algn="l">
              <a:spcAft>
                <a:spcPts val="200"/>
              </a:spcAft>
            </a:pPr>
            <a:r>
              <a:rPr sz="1200" b="0">
                <a:solidFill>
                  <a:srgbClr val="FFFFFF"/>
                </a:solidFill>
                <a:latin typeface="Arial"/>
                <a:ea typeface="Microsoft YaHei"/>
              </a:rPr>
              <a:t>习惯搭配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would rather + base verb, make friends (plural) and relationship.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Direct “no”: </a:t>
            </a:r>
            <a:r>
              <a:rPr sz="1700" b="0">
                <a:solidFill>
                  <a:srgbClr val="1F2A44"/>
                </a:solidFill>
                <a:latin typeface="Arial"/>
                <a:ea typeface="Microsoft YaHei"/>
              </a:rPr>
              <a:t>Many cultures avoid a flat “no”. English speakers also soften it, but they expect a clear message eventually. A vague yes that means no causes confusion.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Socialising: </a:t>
            </a:r>
            <a:r>
              <a:rPr sz="1700" b="0">
                <a:solidFill>
                  <a:srgbClr val="1F2A44"/>
                </a:solidFill>
                <a:latin typeface="Arial"/>
                <a:ea typeface="Microsoft YaHei"/>
              </a:rPr>
              <a:t>Pub and team-dinner culture is common in the UK; some colleagues prefer not to drink. It is acceptable to say “I’ll join for a bit but I won’t drink.”</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Dating at work: </a:t>
            </a:r>
            <a:r>
              <a:rPr sz="1700" b="0">
                <a:solidFill>
                  <a:srgbClr val="1F2A44"/>
                </a:solidFill>
                <a:latin typeface="Arial"/>
                <a:ea typeface="Microsoft YaHei"/>
              </a:rPr>
              <a:t>Many companies require you to tell HR if you date a colleague, especially someone in your reporting line.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拒绝别人时,英文通常先给“理解”再说“不”,并附上替代方案。would rather + 动词原形。relationship(关系)不要写成 relation。</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no politely and offer an alternative.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boundaries between work and private life.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would rather and I’m afraid.</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make friends and relationship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28 Work Relationships: Bridges and Boundaries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would rather + base verb, plural in make friends, and relationship vs relation.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29 Health and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Health and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健康与工作</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how work affects health and how employers and employees can support physical and mental well-being.</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6784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does your job affect your physical health? And your mental health?</a:t>
            </a:r>
          </a:p>
        </p:txBody>
      </p:sp>
      <p:sp>
        <p:nvSpPr>
          <p:cNvPr id="12" name="Oval 11"/>
          <p:cNvSpPr/>
          <p:nvPr/>
        </p:nvSpPr>
        <p:spPr>
          <a:xfrm>
            <a:off x="548640" y="26319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9384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9384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have any bad habits caused by work, such as sitting too long?</a:t>
            </a:r>
          </a:p>
        </p:txBody>
      </p:sp>
      <p:sp>
        <p:nvSpPr>
          <p:cNvPr id="15" name="Oval 14"/>
          <p:cNvSpPr/>
          <p:nvPr/>
        </p:nvSpPr>
        <p:spPr>
          <a:xfrm>
            <a:off x="548640" y="332079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8269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8269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does your company do to support employee well-being?</a:t>
            </a:r>
          </a:p>
        </p:txBody>
      </p:sp>
      <p:sp>
        <p:nvSpPr>
          <p:cNvPr id="18" name="Oval 17"/>
          <p:cNvSpPr/>
          <p:nvPr/>
        </p:nvSpPr>
        <p:spPr>
          <a:xfrm>
            <a:off x="548640" y="40096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7154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7154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relax after a stressful day?</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Should companies offer gym memberships or counselling?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第 1 题可用 “My job is quite sedentary, so…”。well-being 是不可数名词。counselling(英)= counseling(美)= 心理咨询。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Suggest ways to improve health at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suggestions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benefits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own habit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thing that could help is…   💬 It would be a good idea to…   💬 Personally, I try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提建议用 could / would be a good idea to。Personally = 就我个人而言。</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Sitting Is the New Smoking?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The phrase “sitting is the new smoking” is a slight exaggeration, but it points to a real problem. Many office workers spend most of the day at a desk and then sit again in the evening. Over time this can lead to back pain, poor sleep and low energy. Mental health matters just as much: long hours, constant messages and unclear expectations can cause stress, anxiety and burnout. Fortunately, small changes help. Standing up every hour, taking a proper lunch break, going for a short walk and switching off notifications after work can all make a difference. Employers have a role too. They can provide ergonomic chairs, encourage breaks and make it easy to talk about mental health without fear of stigma. A healthy team is simply a more productive team.</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1800" b="1">
                <a:solidFill>
                  <a:srgbClr val="1F2A44"/>
                </a:solidFill>
                <a:latin typeface="Arial"/>
                <a:ea typeface="Microsoft YaHei"/>
              </a:rPr>
              <a:t>Q1. Why is the phrase “sitting is the new smoking” described as a slight exaggeration?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overstates the problem, though sitting too much has real health risks.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small changes that help.</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E.g. standing up every hour, taking a proper lunch break, going for a walk, switching off notifications.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can employers do?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Provide ergonomic chairs, encourage breaks and make it easy to talk about mental health.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1: Physical and mental health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身心健康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well-being</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身心健康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“Employee well-being is a priority.”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sedentary</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久坐的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sedentary lifestyle is bad for your back.”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ergonomic</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人体工学的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ergonomic chairs.”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mental health</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心理健康</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“Mental health days are now common.”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break</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休息一下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“Remember to take a break every hour.”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eye strain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眼疲劳</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“Screens can cause eye strain.”</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Staying healthy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保持健康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out</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burned out after two years of overtime.”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recharge your batteries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恢复精力</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weekend away helps me recharge my batteries.”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switch off</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放松/不再想工作</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find it hard to switch off after work.”</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a toll on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对……造成损害</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“Long hours can take a toll on your health.”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work-life balance</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工作与生活平衡</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good work-life balance is important.”</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run-down</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疲惫不堪</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been feeling run-down lately.”</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人体工学的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ergonomic</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工作与生活平衡</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work-life balance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休息一下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break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精疲力竭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久坐的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sedentary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心理健康</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mental health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身心健康</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well-being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放松/不再想工作</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well-being</a:t>
            </a:r>
          </a:p>
        </p:txBody>
      </p:sp>
      <p:sp>
        <p:nvSpPr>
          <p:cNvPr id="10" name="Rounded Rectangle 9"/>
          <p:cNvSpPr/>
          <p:nvPr/>
        </p:nvSpPr>
        <p:spPr>
          <a:xfrm>
            <a:off x="3566160"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sedentary</a:t>
            </a:r>
          </a:p>
        </p:txBody>
      </p:sp>
      <p:sp>
        <p:nvSpPr>
          <p:cNvPr id="11" name="Rounded Rectangle 10"/>
          <p:cNvSpPr/>
          <p:nvPr/>
        </p:nvSpPr>
        <p:spPr>
          <a:xfrm>
            <a:off x="5010912"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ergonomic</a:t>
            </a:r>
          </a:p>
        </p:txBody>
      </p:sp>
      <p:sp>
        <p:nvSpPr>
          <p:cNvPr id="12" name="Rounded Rectangle 11"/>
          <p:cNvSpPr/>
          <p:nvPr/>
        </p:nvSpPr>
        <p:spPr>
          <a:xfrm>
            <a:off x="6455664"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eye strain</a:t>
            </a:r>
          </a:p>
        </p:txBody>
      </p:sp>
      <p:sp>
        <p:nvSpPr>
          <p:cNvPr id="13" name="Rounded Rectangle 12"/>
          <p:cNvSpPr/>
          <p:nvPr/>
        </p:nvSpPr>
        <p:spPr>
          <a:xfrm>
            <a:off x="801014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burn out</a:t>
            </a:r>
          </a:p>
        </p:txBody>
      </p:sp>
      <p:sp>
        <p:nvSpPr>
          <p:cNvPr id="14" name="Rounded Rectangle 13"/>
          <p:cNvSpPr/>
          <p:nvPr/>
        </p:nvSpPr>
        <p:spPr>
          <a:xfrm>
            <a:off x="9345168"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a toll 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company runs a programme to improve employee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well-being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_______ job can cause back problems.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sedentary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new _______ chairs are much more comfortable.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ergonomic</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Looking at screens all day can cause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eye strain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If you never rest, you may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Long hours can _______ your health.</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toll 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well-being (hyphen), sedentary (not “sedentry”), ergonomic (not “ergonimic”). Well-being and advice are uncountable. Stress is uncountable in general, but “a lot of stress”, “many stresses” is rare.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Suggesting a wellness idea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向经理提出健康福利建议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suggest a short daily stretch break to the HR manager, Hana, because many colleagues complain about back pain.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Jun Wei, employee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Hana Kim, HR manager</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Suggesting a wellness idea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Jun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Hana, thanks for seeing me. I’d like to suggest something for team well-being.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What’s the idea?</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lot of us are sitting for eight hours a day, and several people have back and neck pain.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I’ve heard similar comments. What do you have in mind?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ten-minute stretch break at three o’clock. Even a short break can take the strain off our backs.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nice idea. Would people actually use it?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Suggesting a wellness idea to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so, if managers join in. We could also book a physiotherapist to show us some exercises.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that might cost a bit. Could we start with a trial?</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Absolutely. A one-month trial, and then we ask people for feedback.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Could you write a short proposal for me?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I’ll send it by Thursday.</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Jun. It’s good to see people taking the initiative.</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Suggesting a wellness idea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suggest a health initiative at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problem and idea: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manager. Interested but worried about cost and take-up.</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well-being · sedentary · take a toll on · burn out · trial · feedback</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make a concrete suggestion and agree next steps.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Hana says: “We have no budget.” Suggest a low-cost option.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tells you she feels burned out. Respond with empathy and advice.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your own routine for staying healthy at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does your work affect your health?</a:t>
            </a:r>
          </a:p>
          <a:p>
            <a:pPr algn="l">
              <a:lnSpc>
                <a:spcPct val="115000"/>
              </a:lnSpc>
              <a:spcAft>
                <a:spcPts val="800"/>
              </a:spcAft>
            </a:pPr>
            <a:r>
              <a:rPr sz="1400" b="0">
                <a:solidFill>
                  <a:srgbClr val="5F677A"/>
                </a:solidFill>
                <a:latin typeface="Arial"/>
                <a:ea typeface="Microsoft YaHei"/>
              </a:rPr>
              <a:t>💬 “My job is quite… so I often… / One bad habit I have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employers be responsible for employees’ health?</a:t>
            </a:r>
          </a:p>
          <a:p>
            <a:pPr algn="l">
              <a:lnSpc>
                <a:spcPct val="115000"/>
              </a:lnSpc>
              <a:spcAft>
                <a:spcPts val="800"/>
              </a:spcAft>
            </a:pPr>
            <a:r>
              <a:rPr sz="1400" b="0">
                <a:solidFill>
                  <a:srgbClr val="5F677A"/>
                </a:solidFill>
                <a:latin typeface="Arial"/>
                <a:ea typeface="Microsoft YaHei"/>
              </a:rPr>
              <a:t>💬 “They have a role, but… / Employees also…”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mental health taken seriously at work?</a:t>
            </a:r>
          </a:p>
          <a:p>
            <a:pPr algn="l">
              <a:lnSpc>
                <a:spcPct val="115000"/>
              </a:lnSpc>
              <a:spcAft>
                <a:spcPts val="800"/>
              </a:spcAft>
            </a:pPr>
            <a:r>
              <a:rPr sz="1400" b="0">
                <a:solidFill>
                  <a:srgbClr val="5F677A"/>
                </a:solidFill>
                <a:latin typeface="Arial"/>
                <a:ea typeface="Microsoft YaHei"/>
              </a:rPr>
              <a:t>💬 “In some places yes, but… / There is still stigma in…”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helps you switch off after work?</a:t>
            </a:r>
          </a:p>
          <a:p>
            <a:pPr algn="l">
              <a:lnSpc>
                <a:spcPct val="115000"/>
              </a:lnSpc>
              <a:spcAft>
                <a:spcPts val="800"/>
              </a:spcAft>
            </a:pPr>
            <a:r>
              <a:rPr sz="1400" b="0">
                <a:solidFill>
                  <a:srgbClr val="5F677A"/>
                </a:solidFill>
                <a:latin typeface="Arial"/>
                <a:ea typeface="Microsoft YaHei"/>
              </a:rPr>
              <a:t>💬 “I like to… / It helps me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Employers should certainly play a part, because working conditions and workload affect health. They can offer breaks, reasonable hours and support for mental health. But employees need to look after themselves too, for example by sleeping enough and speaking up when they’re struggling. I’d say responsibility is shared: the employer creates the conditions, and individuals take care of the rest.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play a part = 起作用。”look after” = 照顾。speak up = 说出来。struggling = 艰难应对。</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My back hurts.</a:t>
                      </a:r>
                    </a:p>
                  </a:txBody>
                  <a:tcPr anchor="ctr">
                    <a:solidFill>
                      <a:srgbClr val="FFFFFF"/>
                    </a:solidFill>
                  </a:tcPr>
                </a:tc>
                <a:tc>
                  <a:txBody>
                    <a:bodyPr wrap="square"/>
                    <a:lstStyle/>
                    <a:p>
                      <a:r>
                        <a:rPr sz="1600" b="0">
                          <a:solidFill>
                            <a:srgbClr val="1F2A44"/>
                          </a:solidFill>
                          <a:latin typeface="Arial"/>
                          <a:ea typeface="Microsoft YaHei"/>
                        </a:rPr>
                        <a:t>I’ve been having back pain from sitting too long.</a:t>
                      </a:r>
                    </a:p>
                  </a:txBody>
                  <a:tcPr anchor="ctr">
                    <a:solidFill>
                      <a:srgbClr val="FFFFFF"/>
                    </a:solidFill>
                  </a:tcPr>
                </a:tc>
                <a:tc>
                  <a:txBody>
                    <a:bodyPr wrap="square"/>
                    <a:lstStyle/>
                    <a:p>
                      <a:r>
                        <a:rPr sz="1600" b="0">
                          <a:solidFill>
                            <a:srgbClr val="FF6B5B"/>
                          </a:solidFill>
                          <a:latin typeface="Arial"/>
                          <a:ea typeface="Microsoft YaHei"/>
                        </a:rPr>
                        <a:t>更具体</a:t>
                      </a:r>
                    </a:p>
                  </a:txBody>
                  <a:tcPr anchor="ctr">
                    <a:solidFill>
                      <a:srgbClr val="FFFFFF"/>
                    </a:solidFill>
                  </a:tcPr>
                </a:tc>
              </a:tr>
              <a:tr h="408432">
                <a:tc>
                  <a:txBody>
                    <a:bodyPr wrap="square"/>
                    <a:lstStyle/>
                    <a:p>
                      <a:r>
                        <a:rPr sz="1600" b="1">
                          <a:solidFill>
                            <a:srgbClr val="1F2A44"/>
                          </a:solidFill>
                          <a:latin typeface="Arial"/>
                          <a:ea typeface="Microsoft YaHei"/>
                        </a:rPr>
                        <a:t>I am tired.</a:t>
                      </a:r>
                    </a:p>
                  </a:txBody>
                  <a:tcPr anchor="ctr">
                    <a:solidFill>
                      <a:srgbClr val="FFEFD9"/>
                    </a:solidFill>
                  </a:tcPr>
                </a:tc>
                <a:tc>
                  <a:txBody>
                    <a:bodyPr wrap="square"/>
                    <a:lstStyle/>
                    <a:p>
                      <a:r>
                        <a:rPr sz="1600" b="0">
                          <a:solidFill>
                            <a:srgbClr val="1F2A44"/>
                          </a:solidFill>
                          <a:latin typeface="Arial"/>
                          <a:ea typeface="Microsoft YaHei"/>
                        </a:rPr>
                        <a:t>I’m feeling run-down.</a:t>
                      </a:r>
                    </a:p>
                  </a:txBody>
                  <a:tcPr anchor="ctr">
                    <a:solidFill>
                      <a:srgbClr val="FFEFD9"/>
                    </a:solidFill>
                  </a:tcPr>
                </a:tc>
                <a:tc>
                  <a:txBody>
                    <a:bodyPr wrap="square"/>
                    <a:lstStyle/>
                    <a:p>
                      <a:r>
                        <a:rPr sz="1600" b="0">
                          <a:solidFill>
                            <a:srgbClr val="FF6B5B"/>
                          </a:solidFill>
                          <a:latin typeface="Arial"/>
                          <a:ea typeface="Microsoft YaHei"/>
                        </a:rPr>
                        <a:t>更地道</a:t>
                      </a:r>
                    </a:p>
                  </a:txBody>
                  <a:tcPr anchor="ctr">
                    <a:solidFill>
                      <a:srgbClr val="FFEFD9"/>
                    </a:solidFill>
                  </a:tcPr>
                </a:tc>
              </a:tr>
              <a:tr h="652272">
                <a:tc>
                  <a:txBody>
                    <a:bodyPr wrap="square"/>
                    <a:lstStyle/>
                    <a:p>
                      <a:r>
                        <a:rPr sz="1600" b="1">
                          <a:solidFill>
                            <a:srgbClr val="1F2A44"/>
                          </a:solidFill>
                          <a:latin typeface="Arial"/>
                          <a:ea typeface="Microsoft YaHei"/>
                        </a:rPr>
                        <a:t>I can’t stop thinking about work.</a:t>
                      </a:r>
                    </a:p>
                  </a:txBody>
                  <a:tcPr anchor="ctr">
                    <a:solidFill>
                      <a:srgbClr val="FFFFFF"/>
                    </a:solidFill>
                  </a:tcPr>
                </a:tc>
                <a:tc>
                  <a:txBody>
                    <a:bodyPr wrap="square"/>
                    <a:lstStyle/>
                    <a:p>
                      <a:r>
                        <a:rPr sz="1600" b="0">
                          <a:solidFill>
                            <a:srgbClr val="1F2A44"/>
                          </a:solidFill>
                          <a:latin typeface="Arial"/>
                          <a:ea typeface="Microsoft YaHei"/>
                        </a:rPr>
                        <a:t>I find it hard to switch off.</a:t>
                      </a:r>
                    </a:p>
                  </a:txBody>
                  <a:tcPr anchor="ctr">
                    <a:solidFill>
                      <a:srgbClr val="FFFFFF"/>
                    </a:solidFill>
                  </a:tcPr>
                </a:tc>
                <a:tc>
                  <a:txBody>
                    <a:bodyPr wrap="square"/>
                    <a:lstStyle/>
                    <a:p>
                      <a:r>
                        <a:rPr sz="1600" b="0">
                          <a:solidFill>
                            <a:srgbClr val="FF6B5B"/>
                          </a:solidFill>
                          <a:latin typeface="Arial"/>
                          <a:ea typeface="Microsoft YaHei"/>
                        </a:rPr>
                        <a:t>固定表达</a:t>
                      </a:r>
                    </a:p>
                  </a:txBody>
                  <a:tcPr anchor="ctr">
                    <a:solidFill>
                      <a:srgbClr val="FFFFFF"/>
                    </a:solidFill>
                  </a:tcPr>
                </a:tc>
              </a:tr>
              <a:tr h="408432">
                <a:tc>
                  <a:txBody>
                    <a:bodyPr wrap="square"/>
                    <a:lstStyle/>
                    <a:p>
                      <a:r>
                        <a:rPr sz="1600" b="1">
                          <a:solidFill>
                            <a:srgbClr val="1F2A44"/>
                          </a:solidFill>
                          <a:latin typeface="Arial"/>
                          <a:ea typeface="Microsoft YaHei"/>
                        </a:rPr>
                        <a:t>I need to rest.</a:t>
                      </a:r>
                    </a:p>
                  </a:txBody>
                  <a:tcPr anchor="ctr">
                    <a:solidFill>
                      <a:srgbClr val="FFEFD9"/>
                    </a:solidFill>
                  </a:tcPr>
                </a:tc>
                <a:tc>
                  <a:txBody>
                    <a:bodyPr wrap="square"/>
                    <a:lstStyle/>
                    <a:p>
                      <a:r>
                        <a:rPr sz="1600" b="0">
                          <a:solidFill>
                            <a:srgbClr val="1F2A44"/>
                          </a:solidFill>
                          <a:latin typeface="Arial"/>
                          <a:ea typeface="Microsoft YaHei"/>
                        </a:rPr>
                        <a:t>I need to recharge my batteries.</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652272">
                <a:tc>
                  <a:txBody>
                    <a:bodyPr wrap="square"/>
                    <a:lstStyle/>
                    <a:p>
                      <a:r>
                        <a:rPr sz="1600" b="1">
                          <a:solidFill>
                            <a:srgbClr val="1F2A44"/>
                          </a:solidFill>
                          <a:latin typeface="Arial"/>
                          <a:ea typeface="Microsoft YaHei"/>
                        </a:rPr>
                        <a:t>Work is bad for my health.</a:t>
                      </a:r>
                    </a:p>
                  </a:txBody>
                  <a:tcPr anchor="ctr">
                    <a:solidFill>
                      <a:srgbClr val="FFFFFF"/>
                    </a:solidFill>
                  </a:tcPr>
                </a:tc>
                <a:tc>
                  <a:txBody>
                    <a:bodyPr wrap="square"/>
                    <a:lstStyle/>
                    <a:p>
                      <a:r>
                        <a:rPr sz="1600" b="0">
                          <a:solidFill>
                            <a:srgbClr val="1F2A44"/>
                          </a:solidFill>
                          <a:latin typeface="Arial"/>
                          <a:ea typeface="Microsoft YaHei"/>
                        </a:rPr>
                        <a:t>Work is taking a toll on my health.</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bl>
          </a:graphicData>
        </a:graphic>
      </p:graphicFrame>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Giving advice: </a:t>
            </a:r>
            <a:r>
              <a:rPr sz="1700" b="0">
                <a:solidFill>
                  <a:srgbClr val="1F2A44"/>
                </a:solidFill>
                <a:latin typeface="Arial"/>
                <a:ea typeface="Microsoft YaHei"/>
              </a:rPr>
              <a:t>You should… / You could… / It might help to… / Have you thought about…?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Present perfect continuous: </a:t>
            </a:r>
            <a:r>
              <a:rPr sz="1700" b="0">
                <a:solidFill>
                  <a:srgbClr val="1F2A44"/>
                </a:solidFill>
                <a:latin typeface="Arial"/>
                <a:ea typeface="Microsoft YaHei"/>
              </a:rPr>
              <a:t>“I’ve been feeling run-down lately.” (recent period until now)</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Gerund as subject: </a:t>
            </a:r>
            <a:r>
              <a:rPr sz="1700" b="0">
                <a:solidFill>
                  <a:srgbClr val="1F2A44"/>
                </a:solidFill>
                <a:latin typeface="Arial"/>
                <a:ea typeface="Microsoft YaHei"/>
              </a:rPr>
              <a:t>“Sitting too long is bad for you.” / “Taking breaks helps.”</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Uncountable nouns: </a:t>
            </a:r>
            <a:r>
              <a:rPr sz="1700" b="0">
                <a:solidFill>
                  <a:srgbClr val="1F2A44"/>
                </a:solidFill>
                <a:latin typeface="Arial"/>
                <a:ea typeface="Microsoft YaHei"/>
              </a:rPr>
              <a:t>advice, well-being, stress, exercise (as a general activity).</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pain in my back for weeks.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had back pain for weeks.</a:t>
            </a:r>
          </a:p>
          <a:p>
            <a:pPr algn="l">
              <a:spcAft>
                <a:spcPts val="200"/>
              </a:spcAft>
            </a:pPr>
            <a:r>
              <a:rPr sz="1200" b="0">
                <a:solidFill>
                  <a:srgbClr val="FFFFFF"/>
                </a:solidFill>
                <a:latin typeface="Arial"/>
                <a:ea typeface="Microsoft YaHei"/>
              </a:rPr>
              <a:t>for + 现在完成时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Doing exercises is good for health.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Exercise is good for your health.</a:t>
            </a:r>
          </a:p>
          <a:p>
            <a:pPr algn="l">
              <a:spcAft>
                <a:spcPts val="200"/>
              </a:spcAft>
            </a:pPr>
            <a:r>
              <a:rPr sz="1200" b="0">
                <a:solidFill>
                  <a:srgbClr val="FFFFFF"/>
                </a:solidFill>
                <a:latin typeface="Arial"/>
                <a:ea typeface="Microsoft YaHei"/>
              </a:rPr>
              <a:t>exercise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gave me an advice.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gave me some advice.</a:t>
            </a:r>
          </a:p>
          <a:p>
            <a:pPr algn="l">
              <a:spcAft>
                <a:spcPts val="200"/>
              </a:spcAft>
            </a:pPr>
            <a:r>
              <a:rPr sz="1200" b="0">
                <a:solidFill>
                  <a:srgbClr val="FFFFFF"/>
                </a:solidFill>
                <a:latin typeface="Arial"/>
                <a:ea typeface="Microsoft YaHei"/>
              </a:rPr>
              <a:t>advice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stress.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stressed.</a:t>
            </a:r>
          </a:p>
          <a:p>
            <a:pPr algn="l">
              <a:spcAft>
                <a:spcPts val="200"/>
              </a:spcAft>
            </a:pPr>
            <a:r>
              <a:rPr sz="1200" b="0">
                <a:solidFill>
                  <a:srgbClr val="FFFFFF"/>
                </a:solidFill>
                <a:latin typeface="Arial"/>
                <a:ea typeface="Microsoft YaHei"/>
              </a:rPr>
              <a:t>stressed 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have time to relax myself.</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have time to relax.</a:t>
            </a:r>
          </a:p>
          <a:p>
            <a:pPr algn="l">
              <a:spcAft>
                <a:spcPts val="200"/>
              </a:spcAft>
            </a:pPr>
            <a:r>
              <a:rPr sz="1200" b="0">
                <a:solidFill>
                  <a:srgbClr val="FFFFFF"/>
                </a:solidFill>
                <a:latin typeface="Arial"/>
                <a:ea typeface="Microsoft YaHei"/>
              </a:rPr>
              <a:t>relax 不用反身代词</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eyes are tired of the screen.</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eyes are strained from looking at the screen.</a:t>
            </a:r>
          </a:p>
          <a:p>
            <a:pPr algn="l">
              <a:spcAft>
                <a:spcPts val="200"/>
              </a:spcAft>
            </a:pPr>
            <a:r>
              <a:rPr sz="1200" b="0">
                <a:solidFill>
                  <a:srgbClr val="FFFFFF"/>
                </a:solidFill>
                <a:latin typeface="Arial"/>
                <a:ea typeface="Microsoft YaHei"/>
              </a:rPr>
              <a:t>tired of = 厌倦</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advice (uncountable), stressed (adjective) and have had +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Mental health talk: </a:t>
            </a:r>
            <a:r>
              <a:rPr sz="1700" b="0">
                <a:solidFill>
                  <a:srgbClr val="1F2A44"/>
                </a:solidFill>
                <a:latin typeface="Arial"/>
                <a:ea typeface="Microsoft YaHei"/>
              </a:rPr>
              <a:t>More employers now offer counselling and “mental health days”, but some people still hesitate to ask. A simple “I’m struggling a bit” is a good way to start.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Lunch break: </a:t>
            </a:r>
            <a:r>
              <a:rPr sz="1700" b="0">
                <a:solidFill>
                  <a:srgbClr val="1F2A44"/>
                </a:solidFill>
                <a:latin typeface="Arial"/>
                <a:ea typeface="Microsoft YaHei"/>
              </a:rPr>
              <a:t>In some countries many people eat at their desk. In others (e.g. France), a proper lunch break is expected.</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Health data is private: </a:t>
            </a:r>
            <a:r>
              <a:rPr sz="1700" b="0">
                <a:solidFill>
                  <a:srgbClr val="1F2A44"/>
                </a:solidFill>
                <a:latin typeface="Arial"/>
                <a:ea typeface="Microsoft YaHei"/>
              </a:rPr>
              <a:t>Employers generally should not ask for details of your illness; you decide what to share.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advice / exercise / well-being 不可数。I’m stressed 用形容词。持续到现在的状态用现在完成时:I’ve had back pain for weeks。</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how work affects health.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a well-being idea politely to a manager.</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advice with should / could / might help to.</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nouns such as advice and exercise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29 Health and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nouns (advice, exercise), the adjective stressed, and present perfect with for.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30 Creating a Positive and Safe Workplace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900" b="1">
                <a:solidFill>
                  <a:srgbClr val="FFFFFF"/>
                </a:solidFill>
                <a:latin typeface="Arial"/>
                <a:ea typeface="Microsoft YaHei"/>
              </a:rPr>
              <a:t>Creating a Positive and Safe Workplace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营造积极安全的工作场所</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psychological and physical safety at work: respect, speaking up, reporting concerns and preventing harassment.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workplace feel safe for you?</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unable to speak up at work? What happened?</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harassment, and how should it be dealt with?</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health and safety rules exist in your workplace?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managers encourage people to report problems?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3 题注意 harassment 发音 /ˈhærəsmənt/ 或 /həˈræsmənt/,两种都可以。speak up = 大胆说出来。psychological safety = 心理安全感。</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report a concern at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noticed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who you tell</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hope will happen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need from them</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raise a concern about…   💬 I’m not comfortable with…   💬 Could we keep this confidential?</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上报问题用 raise a concern。要求保密用 confidential。表达不适用 I’m not comfortable with…。</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Safe to Speak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safe workplace is more than hard hats and fire exits. It is also a place where people can ask questions, admit mistakes and disagree without fear. Researchers call this “psychological safety”, and teams with it tend to learn faster and make fewer serious errors, because problems come to light early. Building safety starts with managers. They should thank people who raise concerns, even when the news is uncomfortable, and avoid blaming individuals in public. Clear policies matter too: employees should know how to report bullying or harassment, whom to contact and what will happen next. Reports must be taken seriously and handled confidentially. If staff believe that nothing will change, they will stop speaking up, and small issues can quietly grow into major crises.</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“psychological safety”?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climate where people can ask questions, admit mistakes and disagree without fear.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 teams with it learn faster?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Problems come to light early, so fewer serious errors occur.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clear policies tell employees?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How to report bullying/harassment, who to contact and what happens next.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Safety and respect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安全与尊重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health and safety</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健康与安全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“Health and safety training is mandatory.”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harassment</a:t>
            </a:r>
          </a:p>
          <a:p>
            <a:pPr algn="l">
              <a:lnSpc>
                <a:spcPct val="115000"/>
              </a:lnSpc>
              <a:spcAft>
                <a:spcPts val="800"/>
              </a:spcAft>
            </a:pPr>
            <a:r>
              <a:rPr sz="1300" b="0">
                <a:solidFill>
                  <a:srgbClr val="5F677A"/>
                </a:solidFill>
                <a:latin typeface="Arial"/>
                <a:ea typeface="Microsoft YaHei"/>
              </a:rPr>
              <a:t>noun (uncountable)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骚扰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has a zero-tolerance policy on harassment.”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bullying</a:t>
            </a:r>
          </a:p>
          <a:p>
            <a:pPr algn="l">
              <a:lnSpc>
                <a:spcPct val="115000"/>
              </a:lnSpc>
              <a:spcAft>
                <a:spcPts val="800"/>
              </a:spcAft>
            </a:pPr>
            <a:r>
              <a:rPr sz="1300" b="0">
                <a:solidFill>
                  <a:srgbClr val="5F677A"/>
                </a:solidFill>
                <a:latin typeface="Arial"/>
                <a:ea typeface="Microsoft YaHei"/>
              </a:rPr>
              <a:t>noun (uncountable)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欺凌</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“Bullying can happen online too.”</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report a concern</a:t>
            </a:r>
          </a:p>
          <a:p>
            <a:pPr algn="l">
              <a:lnSpc>
                <a:spcPct val="115000"/>
              </a:lnSpc>
              <a:spcAft>
                <a:spcPts val="800"/>
              </a:spcAft>
            </a:pPr>
            <a:r>
              <a:rPr sz="1300" b="0">
                <a:solidFill>
                  <a:srgbClr val="5F677A"/>
                </a:solidFill>
                <a:latin typeface="Arial"/>
                <a:ea typeface="Microsoft YaHei"/>
              </a:rPr>
              <a:t>verb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反映问题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can report a concern to HR.”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confidential</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保密的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process is strictly confidential.”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grievance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申诉</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filed a formal grievance.”</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2: Building a speak-up culture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营造敢说话的文化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blow the whistle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举报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blew the whistle on unsafe practices.”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zero tolerance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零容忍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zero tolerance policy.”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speak up</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大胆发声</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safe enough to speak up.”</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retaliation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报复</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“Employees are protected from retaliation.”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escalate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上报升级</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it isn’t resolved, escalate it to senior management.”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foster a culture of</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培育……文化</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must foster a culture of respect.”</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保密的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confidential</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培育……文化</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foster a culture of</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零容忍</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zero tolerance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健康与安全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health and safety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欺凌</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bullying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大胆发声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speak up</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申诉</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grievance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反映问题</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report a concern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harassment</a:t>
            </a:r>
          </a:p>
        </p:txBody>
      </p:sp>
      <p:sp>
        <p:nvSpPr>
          <p:cNvPr id="10" name="Rounded Rectangle 9"/>
          <p:cNvSpPr/>
          <p:nvPr/>
        </p:nvSpPr>
        <p:spPr>
          <a:xfrm>
            <a:off x="3566160"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confidential</a:t>
            </a:r>
          </a:p>
        </p:txBody>
      </p:sp>
      <p:sp>
        <p:nvSpPr>
          <p:cNvPr id="11" name="Rounded Rectangle 10"/>
          <p:cNvSpPr/>
          <p:nvPr/>
        </p:nvSpPr>
        <p:spPr>
          <a:xfrm>
            <a:off x="5340095"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grievance</a:t>
            </a:r>
          </a:p>
        </p:txBody>
      </p:sp>
      <p:sp>
        <p:nvSpPr>
          <p:cNvPr id="12" name="Rounded Rectangle 11"/>
          <p:cNvSpPr/>
          <p:nvPr/>
        </p:nvSpPr>
        <p:spPr>
          <a:xfrm>
            <a:off x="6784847"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whistle</a:t>
            </a:r>
          </a:p>
        </p:txBody>
      </p:sp>
      <p:sp>
        <p:nvSpPr>
          <p:cNvPr id="13" name="Rounded Rectangle 12"/>
          <p:cNvSpPr/>
          <p:nvPr/>
        </p:nvSpPr>
        <p:spPr>
          <a:xfrm>
            <a:off x="8010143"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retaliation</a:t>
            </a:r>
          </a:p>
        </p:txBody>
      </p:sp>
      <p:sp>
        <p:nvSpPr>
          <p:cNvPr id="14" name="Rounded Rectangle 13"/>
          <p:cNvSpPr/>
          <p:nvPr/>
        </p:nvSpPr>
        <p:spPr>
          <a:xfrm>
            <a:off x="967435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escalate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The company has a zero-tolerance policy on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harassment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Please keep this _______. Don’t share it with others.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confidential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She filed a formal _______ against her manager.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grievance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He decided to blow the _______ on the unsafe practices.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whistle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Employees who report concerns are protected from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retaliation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If the problem isn’t solved, you can _______ it to senior management.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escalate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harassment (one r, two s: ha-ras-s-ment), grievance (not “grievence”), confidential. Bullying and harassment are uncountable. Blow the whistle on sth / sb.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Reporting a concern to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向人力资源部反映问题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saw a manager speaking aggressively to an intern. You decide to talk to HR.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Mei Tan, employee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Paul Reed, HR adviser</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Reporting a concern to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seeing me, Paul. I’d like to raise a concern, if that’s all right.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Paul</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Please take your time. This is a confidential conversation.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Yesterday I heard a manager raise his voice at an intern in front of the whole team.</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Can you tell me what was said?</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Reporting a concern to HR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 called her work “useless” and told her to leave the meeting. She looked very upset.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telling me. That’s not acceptable. Have you spoken to anyone else?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 wasn’t sure whether to speak up, because I worried about the consequences.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We have a policy that protects people who report concerns, so you won’t face retaliation.</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Reporting a concern to HR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reassuring. Will the intern know I reported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necessarily. We’ll speak to her first and ask how she is. Then we’ll decide what to do.</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just want her to feel safe.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did the right thing. I’ll update you by the end of the week.</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Reporting a concern to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a concern about unacceptable behaviour.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who saw: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adviser. Calm, careful, protects confidentiality.</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a concern · confidential · speak up · retaliation · unacceptable · escalate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what happened factually, state your worry and ask what happens next.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Paul asks: “Would you be willing to give a formal statement?”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intern. Explain how you would like to be supported.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manager. Respond to feedback that your behaviour was inappropriate.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does a “safe workplace” mean to you?</a:t>
            </a:r>
          </a:p>
          <a:p>
            <a:pPr algn="l">
              <a:lnSpc>
                <a:spcPct val="115000"/>
              </a:lnSpc>
              <a:spcAft>
                <a:spcPts val="800"/>
              </a:spcAft>
            </a:pPr>
            <a:r>
              <a:rPr sz="1400" b="0">
                <a:solidFill>
                  <a:srgbClr val="5F677A"/>
                </a:solidFill>
                <a:latin typeface="Arial"/>
                <a:ea typeface="Microsoft YaHei"/>
              </a:rPr>
              <a:t>💬 “To me, a safe workplace is one where… / People should feel…”</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employees stay silent about problems?</a:t>
            </a:r>
          </a:p>
          <a:p>
            <a:pPr algn="l">
              <a:lnSpc>
                <a:spcPct val="115000"/>
              </a:lnSpc>
              <a:spcAft>
                <a:spcPts val="800"/>
              </a:spcAft>
            </a:pPr>
            <a:r>
              <a:rPr sz="1400" b="0">
                <a:solidFill>
                  <a:srgbClr val="5F677A"/>
                </a:solidFill>
                <a:latin typeface="Arial"/>
                <a:ea typeface="Microsoft YaHei"/>
              </a:rPr>
              <a:t>💬 “They may be afraid of… / They might think that…”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companies handle complaints about bullying?</a:t>
            </a:r>
          </a:p>
          <a:p>
            <a:pPr algn="l">
              <a:lnSpc>
                <a:spcPct val="115000"/>
              </a:lnSpc>
              <a:spcAft>
                <a:spcPts val="800"/>
              </a:spcAft>
            </a:pPr>
            <a:r>
              <a:rPr sz="1400" b="0">
                <a:solidFill>
                  <a:srgbClr val="5F677A"/>
                </a:solidFill>
                <a:latin typeface="Arial"/>
                <a:ea typeface="Microsoft YaHei"/>
              </a:rPr>
              <a:t>💬 “They should… first, then… / It’s essential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managers be punished more severely than other employees?</a:t>
            </a:r>
          </a:p>
          <a:p>
            <a:pPr algn="l">
              <a:lnSpc>
                <a:spcPct val="115000"/>
              </a:lnSpc>
              <a:spcAft>
                <a:spcPts val="800"/>
              </a:spcAft>
            </a:pPr>
            <a:r>
              <a:rPr sz="1400" b="0">
                <a:solidFill>
                  <a:srgbClr val="5F677A"/>
                </a:solidFill>
                <a:latin typeface="Arial"/>
                <a:ea typeface="Microsoft YaHei"/>
              </a:rPr>
              <a:t>💬 “I think they should, because… / Power brings responsibility…”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Some employees stay silent because they fear the consequences. They may worry about being labelled a troublemaker, losing their job or damaging relationships. Others simply believe that nothing will change, so they don’t see the point of speaking up. To change this, companies need to show that reports are taken seriously, protect people from retaliation and give feedback on what was done. When employees see real results, they speak up more.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label sb as = 给某人贴标签。troublemaker = 惹麻烦的人。”see the point of” = 看到……的意义。give feedback on = 就……反馈。</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to say something about my boss.</a:t>
                      </a:r>
                    </a:p>
                  </a:txBody>
                  <a:tcPr anchor="ctr">
                    <a:solidFill>
                      <a:srgbClr val="FFFFFF"/>
                    </a:solidFill>
                  </a:tcPr>
                </a:tc>
                <a:tc>
                  <a:txBody>
                    <a:bodyPr wrap="square"/>
                    <a:lstStyle/>
                    <a:p>
                      <a:r>
                        <a:rPr sz="1600" b="0">
                          <a:solidFill>
                            <a:srgbClr val="1F2A44"/>
                          </a:solidFill>
                          <a:latin typeface="Arial"/>
                          <a:ea typeface="Microsoft YaHei"/>
                        </a:rPr>
                        <a:t>I’d like to raise a concern about a manager’s behaviour.</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408432">
                <a:tc>
                  <a:txBody>
                    <a:bodyPr wrap="square"/>
                    <a:lstStyle/>
                    <a:p>
                      <a:r>
                        <a:rPr sz="1600" b="1">
                          <a:solidFill>
                            <a:srgbClr val="1F2A44"/>
                          </a:solidFill>
                          <a:latin typeface="Arial"/>
                          <a:ea typeface="Microsoft YaHei"/>
                        </a:rPr>
                        <a:t>He is bad.</a:t>
                      </a:r>
                    </a:p>
                  </a:txBody>
                  <a:tcPr anchor="ctr">
                    <a:solidFill>
                      <a:srgbClr val="FFEFD9"/>
                    </a:solidFill>
                  </a:tcPr>
                </a:tc>
                <a:tc>
                  <a:txBody>
                    <a:bodyPr wrap="square"/>
                    <a:lstStyle/>
                    <a:p>
                      <a:r>
                        <a:rPr sz="1600" b="0">
                          <a:solidFill>
                            <a:srgbClr val="1F2A44"/>
                          </a:solidFill>
                          <a:latin typeface="Arial"/>
                          <a:ea typeface="Microsoft YaHei"/>
                        </a:rPr>
                        <a:t>His behaviour is unacceptable.</a:t>
                      </a:r>
                    </a:p>
                  </a:txBody>
                  <a:tcPr anchor="ctr">
                    <a:solidFill>
                      <a:srgbClr val="FFEFD9"/>
                    </a:solidFill>
                  </a:tcPr>
                </a:tc>
                <a:tc>
                  <a:txBody>
                    <a:bodyPr wrap="square"/>
                    <a:lstStyle/>
                    <a:p>
                      <a:r>
                        <a:rPr sz="1600" b="0">
                          <a:solidFill>
                            <a:srgbClr val="FF6B5B"/>
                          </a:solidFill>
                          <a:latin typeface="Arial"/>
                          <a:ea typeface="Microsoft YaHei"/>
                        </a:rPr>
                        <a:t>评价行为,不是人</a:t>
                      </a:r>
                    </a:p>
                  </a:txBody>
                  <a:tcPr anchor="ctr">
                    <a:solidFill>
                      <a:srgbClr val="FFEFD9"/>
                    </a:solidFill>
                  </a:tcPr>
                </a:tc>
              </a:tr>
              <a:tr h="408432">
                <a:tc>
                  <a:txBody>
                    <a:bodyPr wrap="square"/>
                    <a:lstStyle/>
                    <a:p>
                      <a:r>
                        <a:rPr sz="1600" b="1">
                          <a:solidFill>
                            <a:srgbClr val="1F2A44"/>
                          </a:solidFill>
                          <a:latin typeface="Arial"/>
                          <a:ea typeface="Microsoft YaHei"/>
                        </a:rPr>
                        <a:t>Please don’t tell anyone.</a:t>
                      </a:r>
                    </a:p>
                  </a:txBody>
                  <a:tcPr anchor="ctr">
                    <a:solidFill>
                      <a:srgbClr val="FFFFFF"/>
                    </a:solidFill>
                  </a:tcPr>
                </a:tc>
                <a:tc>
                  <a:txBody>
                    <a:bodyPr wrap="square"/>
                    <a:lstStyle/>
                    <a:p>
                      <a:r>
                        <a:rPr sz="1600" b="0">
                          <a:solidFill>
                            <a:srgbClr val="1F2A44"/>
                          </a:solidFill>
                          <a:latin typeface="Arial"/>
                          <a:ea typeface="Microsoft YaHei"/>
                        </a:rPr>
                        <a:t>Could we keep this confidential?</a:t>
                      </a:r>
                    </a:p>
                  </a:txBody>
                  <a:tcPr anchor="ctr">
                    <a:solidFill>
                      <a:srgbClr val="FFFFFF"/>
                    </a:solidFill>
                  </a:tcPr>
                </a:tc>
                <a:tc>
                  <a:txBody>
                    <a:bodyPr wrap="square"/>
                    <a:lstStyle/>
                    <a:p>
                      <a:r>
                        <a:rPr sz="1600" b="0">
                          <a:solidFill>
                            <a:srgbClr val="FF6B5B"/>
                          </a:solidFill>
                          <a:latin typeface="Arial"/>
                          <a:ea typeface="Microsoft YaHei"/>
                        </a:rPr>
                        <a:t>要求保密</a:t>
                      </a:r>
                    </a:p>
                  </a:txBody>
                  <a:tcPr anchor="ctr">
                    <a:solidFill>
                      <a:srgbClr val="FFFFFF"/>
                    </a:solidFill>
                  </a:tcPr>
                </a:tc>
              </a:tr>
              <a:tr h="408432">
                <a:tc>
                  <a:txBody>
                    <a:bodyPr wrap="square"/>
                    <a:lstStyle/>
                    <a:p>
                      <a:r>
                        <a:rPr sz="1600" b="1">
                          <a:solidFill>
                            <a:srgbClr val="1F2A44"/>
                          </a:solidFill>
                          <a:latin typeface="Arial"/>
                          <a:ea typeface="Microsoft YaHei"/>
                        </a:rPr>
                        <a:t>I am scared to say.</a:t>
                      </a:r>
                    </a:p>
                  </a:txBody>
                  <a:tcPr anchor="ctr">
                    <a:solidFill>
                      <a:srgbClr val="FFEFD9"/>
                    </a:solidFill>
                  </a:tcPr>
                </a:tc>
                <a:tc>
                  <a:txBody>
                    <a:bodyPr wrap="square"/>
                    <a:lstStyle/>
                    <a:p>
                      <a:r>
                        <a:rPr sz="1600" b="0">
                          <a:solidFill>
                            <a:srgbClr val="1F2A44"/>
                          </a:solidFill>
                          <a:latin typeface="Arial"/>
                          <a:ea typeface="Microsoft YaHei"/>
                        </a:rPr>
                        <a:t>I’m worried about speaking up.</a:t>
                      </a:r>
                    </a:p>
                  </a:txBody>
                  <a:tcPr anchor="ctr">
                    <a:solidFill>
                      <a:srgbClr val="FFEFD9"/>
                    </a:solidFill>
                  </a:tcPr>
                </a:tc>
                <a:tc>
                  <a:txBody>
                    <a:bodyPr wrap="square"/>
                    <a:lstStyle/>
                    <a:p>
                      <a:r>
                        <a:rPr sz="1600" b="0">
                          <a:solidFill>
                            <a:srgbClr val="FF6B5B"/>
                          </a:solidFill>
                          <a:latin typeface="Arial"/>
                          <a:ea typeface="Microsoft YaHei"/>
                        </a:rPr>
                        <a:t>表达担忧</a:t>
                      </a:r>
                    </a:p>
                  </a:txBody>
                  <a:tcPr anchor="ctr">
                    <a:solidFill>
                      <a:srgbClr val="FFEFD9"/>
                    </a:solidFill>
                  </a:tcPr>
                </a:tc>
              </a:tr>
              <a:tr h="408432">
                <a:tc>
                  <a:txBody>
                    <a:bodyPr wrap="square"/>
                    <a:lstStyle/>
                    <a:p>
                      <a:r>
                        <a:rPr sz="1600" b="1">
                          <a:solidFill>
                            <a:srgbClr val="1F2A44"/>
                          </a:solidFill>
                          <a:latin typeface="Arial"/>
                          <a:ea typeface="Microsoft YaHei"/>
                        </a:rPr>
                        <a:t>What will happen?</a:t>
                      </a:r>
                    </a:p>
                  </a:txBody>
                  <a:tcPr anchor="ctr">
                    <a:solidFill>
                      <a:srgbClr val="FFFFFF"/>
                    </a:solidFill>
                  </a:tcPr>
                </a:tc>
                <a:tc>
                  <a:txBody>
                    <a:bodyPr wrap="square"/>
                    <a:lstStyle/>
                    <a:p>
                      <a:r>
                        <a:rPr sz="1600" b="0">
                          <a:solidFill>
                            <a:srgbClr val="1F2A44"/>
                          </a:solidFill>
                          <a:latin typeface="Arial"/>
                          <a:ea typeface="Microsoft YaHei"/>
                        </a:rPr>
                        <a:t>What are the next steps?</a:t>
                      </a:r>
                    </a:p>
                  </a:txBody>
                  <a:tcPr anchor="ctr">
                    <a:solidFill>
                      <a:srgbClr val="FFFFFF"/>
                    </a:solidFill>
                  </a:tcPr>
                </a:tc>
                <a:tc>
                  <a:txBody>
                    <a:bodyPr wrap="square"/>
                    <a:lstStyle/>
                    <a:p>
                      <a:r>
                        <a:rPr sz="1600" b="0">
                          <a:solidFill>
                            <a:srgbClr val="FF6B5B"/>
                          </a:solidFill>
                          <a:latin typeface="Arial"/>
                          <a:ea typeface="Microsoft YaHei"/>
                        </a:rPr>
                        <a:t>询问流程</a:t>
                      </a:r>
                    </a:p>
                  </a:txBody>
                  <a:tcPr anchor="ctr">
                    <a:solidFill>
                      <a:srgbClr val="FFFFFF"/>
                    </a:solidFill>
                  </a:tcPr>
                </a:tc>
              </a:tr>
            </a:tbl>
          </a:graphicData>
        </a:graphic>
      </p:graphicFrame>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Facts first: </a:t>
            </a:r>
            <a:r>
              <a:rPr sz="1700" b="0">
                <a:solidFill>
                  <a:srgbClr val="1F2A44"/>
                </a:solidFill>
                <a:latin typeface="Arial"/>
                <a:ea typeface="Microsoft YaHei"/>
              </a:rPr>
              <a:t>Describe what you saw, heard or experienced, not your interpretation. “He raised his voice and said…” not “He is a bully.”</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Passive voice for policy: </a:t>
            </a:r>
            <a:r>
              <a:rPr sz="1700" b="0">
                <a:solidFill>
                  <a:srgbClr val="1F2A44"/>
                </a:solidFill>
                <a:latin typeface="Arial"/>
                <a:ea typeface="Microsoft YaHei"/>
              </a:rPr>
              <a:t>“Reports are handled confidentially.” / “All complaints will be investigated.”</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Formal register: </a:t>
            </a:r>
            <a:r>
              <a:rPr sz="1700" b="0">
                <a:solidFill>
                  <a:srgbClr val="1F2A44"/>
                </a:solidFill>
                <a:latin typeface="Arial"/>
                <a:ea typeface="Microsoft YaHei"/>
              </a:rPr>
              <a:t>raise a concern, file a complaint, take disciplinary action, follow the procedure.</a:t>
            </a:r>
          </a:p>
        </p:txBody>
      </p:sp>
      <p:sp>
        <p:nvSpPr>
          <p:cNvPr id="17" name="Rounded Rectangle 16"/>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441959"/>
          </a:xfrm>
          <a:prstGeom prst="rect">
            <a:avLst/>
          </a:prstGeom>
          <a:noFill/>
        </p:spPr>
        <p:txBody>
          <a:bodyPr wrap="square" anchor="ctr">
            <a:spAutoFit/>
          </a:bodyPr>
          <a:lstStyle/>
          <a:p>
            <a:r>
              <a:rPr sz="1700" b="1">
                <a:solidFill>
                  <a:srgbClr val="FFC857"/>
                </a:solidFill>
                <a:latin typeface="Arial"/>
                <a:ea typeface="Microsoft YaHei"/>
              </a:rPr>
              <a:t>Hedging an accusation: </a:t>
            </a:r>
            <a:r>
              <a:rPr sz="1700" b="0">
                <a:solidFill>
                  <a:srgbClr val="1F2A44"/>
                </a:solidFill>
                <a:latin typeface="Arial"/>
                <a:ea typeface="Microsoft YaHei"/>
              </a:rPr>
              <a:t>It seemed to me that… / I felt that… / From what I observed…</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harassed to 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harassed me. / He sexually harassed me.</a:t>
            </a:r>
          </a:p>
          <a:p>
            <a:pPr algn="l">
              <a:spcAft>
                <a:spcPts val="200"/>
              </a:spcAft>
            </a:pPr>
            <a:r>
              <a:rPr sz="1200" b="0">
                <a:solidFill>
                  <a:srgbClr val="FFFFFF"/>
                </a:solidFill>
                <a:latin typeface="Arial"/>
                <a:ea typeface="Microsoft YaHei"/>
              </a:rPr>
              <a:t>harass 及物动词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report him to the HR.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report him to HR.</a:t>
            </a:r>
          </a:p>
          <a:p>
            <a:pPr algn="l">
              <a:spcAft>
                <a:spcPts val="200"/>
              </a:spcAft>
            </a:pPr>
            <a:r>
              <a:rPr sz="1200" b="0">
                <a:solidFill>
                  <a:srgbClr val="FFFFFF"/>
                </a:solidFill>
                <a:latin typeface="Arial"/>
                <a:ea typeface="Microsoft YaHei"/>
              </a:rPr>
              <a:t>HR 前不加 the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boss bullies me every times.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boss bullies me all the time.</a:t>
            </a:r>
          </a:p>
          <a:p>
            <a:pPr algn="l">
              <a:spcAft>
                <a:spcPts val="200"/>
              </a:spcAft>
            </a:pPr>
            <a:r>
              <a:rPr sz="1200" b="0">
                <a:solidFill>
                  <a:srgbClr val="FFFFFF"/>
                </a:solidFill>
                <a:latin typeface="Arial"/>
                <a:ea typeface="Microsoft YaHei"/>
              </a:rPr>
              <a:t>all the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a confident matter.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a confidential matter.</a:t>
            </a:r>
          </a:p>
          <a:p>
            <a:pPr algn="l">
              <a:spcAft>
                <a:spcPts val="200"/>
              </a:spcAft>
            </a:pPr>
            <a:r>
              <a:rPr sz="1200" b="0">
                <a:solidFill>
                  <a:srgbClr val="FFFFFF"/>
                </a:solidFill>
                <a:latin typeface="Arial"/>
                <a:ea typeface="Microsoft YaHei"/>
              </a:rPr>
              <a:t>confident ≠ confidential</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policy is protect employees.</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policy protects employees. / The policy is to protect employees.</a:t>
            </a:r>
          </a:p>
          <a:p>
            <a:pPr algn="l">
              <a:spcAft>
                <a:spcPts val="200"/>
              </a:spcAft>
            </a:pPr>
            <a:r>
              <a:rPr sz="1200" b="0">
                <a:solidFill>
                  <a:srgbClr val="FFFFFF"/>
                </a:solidFill>
                <a:latin typeface="Arial"/>
                <a:ea typeface="Microsoft YaHei"/>
              </a:rPr>
              <a:t>动词形式</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do something for stopping it.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do something to stop it.</a:t>
            </a:r>
          </a:p>
          <a:p>
            <a:pPr algn="l">
              <a:spcAft>
                <a:spcPts val="200"/>
              </a:spcAft>
            </a:pPr>
            <a:r>
              <a:rPr sz="1200" b="0">
                <a:solidFill>
                  <a:srgbClr val="FFFFFF"/>
                </a:solidFill>
                <a:latin typeface="Arial"/>
                <a:ea typeface="Microsoft YaHei"/>
              </a:rPr>
              <a:t>目的用不定式</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confidential vs confident, passive forms and to + verb for purpose.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Zero tolerance: </a:t>
            </a:r>
            <a:r>
              <a:rPr sz="1700" b="0">
                <a:solidFill>
                  <a:srgbClr val="1F2A44"/>
                </a:solidFill>
                <a:latin typeface="Arial"/>
                <a:ea typeface="Microsoft YaHei"/>
              </a:rPr>
              <a:t>Many Western companies require annual training on harassment and bullying; reporting lines and anonymous hotlines are common.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Whistleblowing: </a:t>
            </a:r>
            <a:r>
              <a:rPr sz="1700" b="0">
                <a:solidFill>
                  <a:srgbClr val="1F2A44"/>
                </a:solidFill>
                <a:latin typeface="Arial"/>
                <a:ea typeface="Microsoft YaHei"/>
              </a:rPr>
              <a:t>In the UK and US there are laws that protect whistleblowers. It is legal and formal, not seen as betrayal.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Documenting: </a:t>
            </a:r>
            <a:r>
              <a:rPr sz="1700" b="0">
                <a:solidFill>
                  <a:srgbClr val="1F2A44"/>
                </a:solidFill>
                <a:latin typeface="Arial"/>
                <a:ea typeface="Microsoft YaHei"/>
              </a:rPr>
              <a:t>Keep a record of dates, times and what was said. It helps if a formal investigation is needed.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confident(自信)与 confidential(保密)不同。举报时先陈述事实,不要主观评价。HR 前不加 the。目的用 to + 动词原形,不用 for + -ing。</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how to raise a concern politely and factually.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what a safe workplace means.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for policies.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distinguish confident and confidential.</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30 Creating a Positive and Safe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confident / confidential, passive voice for policies, and to + verb of purpose.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31 Stereotypes and the Older Worker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Stereotypes and the Older Worker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刻板印象与老年劳动者</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age stereotypes at work, the value of older workers and how to build age-diverse teams.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there age stereotypes in your workplace? What are they?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advantages do older workers bring to a team?</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advantages do younger workers bring?</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people should retire at a fixed age?</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worked with a manager who was much younger or much older than you?</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stereotype = 刻板印象。ageism = 年龄歧视。注意不要说 “old people”,职场上常用 older workers / experienced colleagues。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Challenge an age stereotype at work in a polite way.</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acknowledge the view</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give evidence</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suggest a different approach</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can see why some people think that, but…   💬 In my experience…   💬 It might be worth considering…</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反驳刻板印象时先承认再反驳:I can see why… but…。in my experience = 就我的经验。</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Experience Counts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“Older workers can’t learn new technology.” “Young people are not loyal.” Stereotypes like these are common, and they shape decisions about hiring, promotion and training. Yet research often shows that differences within an age group are larger than differences between groups. Many older employees are keen to learn and bring valuable experience, such as calm judgement, a wide network and knowledge of how the company really works. Younger colleagues may offer fresh ideas and strong digital skills. The best teams mix both. Companies can reduce ageism by checking job adverts for biased wording, offering training to everyone and creating mentoring in both directions, where a younger employee helps with technology while a senior one shares industry knowledge. Seeing colleagues as individuals, not as a birth year, is good for people and for business.</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does research often show about age groups?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Differences within an age group are larger than differences between groups.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strengths do older and younger workers bring?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Older: judgement, network, company knowledge; younger: fresh ideas and digital skills.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companies reduce ageism?</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Check job adverts, offer training to all, and use two-way mentoring.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Age and diversity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年龄与多元化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ageism</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年龄歧视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“Ageism is illegal in many countries.”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stereotype</a:t>
            </a:r>
          </a:p>
          <a:p>
            <a:pPr algn="l">
              <a:lnSpc>
                <a:spcPct val="115000"/>
              </a:lnSpc>
              <a:spcAft>
                <a:spcPts val="800"/>
              </a:spcAft>
            </a:pPr>
            <a:r>
              <a:rPr sz="1300" b="0">
                <a:solidFill>
                  <a:srgbClr val="5F677A"/>
                </a:solidFill>
                <a:latin typeface="Arial"/>
                <a:ea typeface="Microsoft YaHei"/>
              </a:rPr>
              <a:t>noun /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刻板印象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stereotype people by their age.”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retire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退休</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plans to retire at 65.”</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mentor</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导师 / 指导</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mentors younger staff.”</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generation gap</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generation gap in how we use technology.”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workforce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劳动力</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workforce is getting older.”</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Fair and open-minded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公平与开放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age-diverse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年龄多元的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building an age-diverse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set in their ways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墨守成规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people are set in their ways, regardless of age.”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fresh perspective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新视角</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“Young colleagues bring a fresh perspective.”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pass on knowledge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传承知识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“Senior staff can pass on their knowledge.”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assumptions about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对……作假设</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make assumptions about older workers.”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phase out</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逐步淘汰</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role was phased out last year.”</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逐步淘汰</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phase 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年龄歧视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ageism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墨守成规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in their ways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新视角</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fresh perspective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代沟</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generation gap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刻板印象</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stereotype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对……作假设</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assumptions about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导师 / 指导</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Ageism</a:t>
            </a:r>
          </a:p>
        </p:txBody>
      </p:sp>
      <p:sp>
        <p:nvSpPr>
          <p:cNvPr id="10" name="Rounded Rectangle 9"/>
          <p:cNvSpPr/>
          <p:nvPr/>
        </p:nvSpPr>
        <p:spPr>
          <a:xfrm>
            <a:off x="3127248"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stereotype</a:t>
            </a:r>
          </a:p>
        </p:txBody>
      </p:sp>
      <p:sp>
        <p:nvSpPr>
          <p:cNvPr id="11" name="Rounded Rectangle 10"/>
          <p:cNvSpPr/>
          <p:nvPr/>
        </p:nvSpPr>
        <p:spPr>
          <a:xfrm>
            <a:off x="4681728"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retire</a:t>
            </a:r>
          </a:p>
        </p:txBody>
      </p:sp>
      <p:sp>
        <p:nvSpPr>
          <p:cNvPr id="12" name="Rounded Rectangle 11"/>
          <p:cNvSpPr/>
          <p:nvPr/>
        </p:nvSpPr>
        <p:spPr>
          <a:xfrm>
            <a:off x="579729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mentor</a:t>
            </a:r>
          </a:p>
        </p:txBody>
      </p:sp>
      <p:sp>
        <p:nvSpPr>
          <p:cNvPr id="13" name="Rounded Rectangle 12"/>
          <p:cNvSpPr/>
          <p:nvPr/>
        </p:nvSpPr>
        <p:spPr>
          <a:xfrm>
            <a:off x="6912864" y="987552"/>
            <a:ext cx="223113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set in their ways</a:t>
            </a:r>
          </a:p>
        </p:txBody>
      </p:sp>
      <p:sp>
        <p:nvSpPr>
          <p:cNvPr id="14" name="Rounded Rectangle 13"/>
          <p:cNvSpPr/>
          <p:nvPr/>
        </p:nvSpPr>
        <p:spPr>
          <a:xfrm>
            <a:off x="923544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assumptions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is illegal in many countries.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Ageism</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Don’t _______ colleagues based on their age.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stereotype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plans to _______ at the age of sixty-five.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retire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senior engineer will _______ the new graduates.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It’s unfair to say all older workers are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in their ways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not make _______ about what people can do.</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assumptions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ageism (not “agism”), stereotype, retire. Older workers (not “the old workers”), a mentor to sb. Age is used with at the age of 30 (not “in the age of 30”). Make assumptions (not “do assumptions”).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Challenging a stereotype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在会议上委婉反驳刻板印象</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a hiring meeting, a colleague says an older candidate “probably won’t be good with technology.” You respond.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Sophie Chen, hiring panel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Mark Daly, colleague</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Challenging a stereotype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Mark, can I just come in here? I can see why you might think that, but I’m not sure we should assume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Mark</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she has been in the industry for over thirty years. Things have changed a lot.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but her CV mentions several digital projects, and she led a software migration in 2022.</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she? I must have missed that.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on page two. It might be worth asking her about it in the interview.</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I don’t want to be unfair.</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Challenging a stereotype in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my experience, the question isn’t age but willingness to learn. We can ask everyone the same question.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I’ll add a question about how candidates keep their skills up to date.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fair. And it will show us who is genuinely curious.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Thanks for stopping me. I wasn’t thinking.</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We all make assumptions sometimes.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Let’s make sure we assess her on her record.</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Challenging a stereotype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politely challenge a stereotype in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Panel member. The stereotype you hear: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makes assumptions but is open to correction.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can see why · in my experience · assumptions · it might be worth · fair enough · fresh perspective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give evidence and suggest a fair approach.</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Mark says: “Younger people are more creative anyway.” Respond with a counterexample.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mentoring pair between a senior employee and a graduate.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hear a joke about age at work. Say something short and calm.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age-related stereotypes do you know at work?</a:t>
            </a:r>
          </a:p>
          <a:p>
            <a:pPr algn="l">
              <a:lnSpc>
                <a:spcPct val="115000"/>
              </a:lnSpc>
              <a:spcAft>
                <a:spcPts val="800"/>
              </a:spcAft>
            </a:pPr>
            <a:r>
              <a:rPr sz="1400" b="0">
                <a:solidFill>
                  <a:srgbClr val="5F677A"/>
                </a:solidFill>
                <a:latin typeface="Arial"/>
                <a:ea typeface="Microsoft YaHei"/>
              </a:rPr>
              <a:t>💬 “People often say that… but in reality…”</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older and younger workers learn from each other?</a:t>
            </a:r>
          </a:p>
          <a:p>
            <a:pPr algn="l">
              <a:lnSpc>
                <a:spcPct val="115000"/>
              </a:lnSpc>
              <a:spcAft>
                <a:spcPts val="800"/>
              </a:spcAft>
            </a:pPr>
            <a:r>
              <a:rPr sz="1400" b="0">
                <a:solidFill>
                  <a:srgbClr val="5F677A"/>
                </a:solidFill>
                <a:latin typeface="Arial"/>
                <a:ea typeface="Microsoft YaHei"/>
              </a:rPr>
              <a:t>💬 “Younger staff can learn… from older colleagues, while…”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there be a legal retirement age?</a:t>
            </a:r>
          </a:p>
          <a:p>
            <a:pPr algn="l">
              <a:lnSpc>
                <a:spcPct val="115000"/>
              </a:lnSpc>
              <a:spcAft>
                <a:spcPts val="800"/>
              </a:spcAft>
            </a:pPr>
            <a:r>
              <a:rPr sz="1400" b="0">
                <a:solidFill>
                  <a:srgbClr val="5F677A"/>
                </a:solidFill>
                <a:latin typeface="Arial"/>
                <a:ea typeface="Microsoft YaHei"/>
              </a:rPr>
              <a:t>💬 “I think… because… / It might be better if…”</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recruiters avoid age bias?</a:t>
            </a:r>
          </a:p>
          <a:p>
            <a:pPr algn="l">
              <a:lnSpc>
                <a:spcPct val="115000"/>
              </a:lnSpc>
              <a:spcAft>
                <a:spcPts val="800"/>
              </a:spcAft>
            </a:pPr>
            <a:r>
              <a:rPr sz="1400" b="0">
                <a:solidFill>
                  <a:srgbClr val="5F677A"/>
                </a:solidFill>
                <a:latin typeface="Arial"/>
                <a:ea typeface="Microsoft YaHei"/>
              </a:rPr>
              <a:t>💬 “They could… / It would help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Older workers can pass on experience and judgement, for example how to handle difficult clients or when to push back. Younger colleagues often bring fresh ideas and digital skills, and are less afraid of challenging the status quo. If they work together, each group can fill gaps in the other’s knowledge. The key is mutual respect: listening without assuming that one’s own way is the only right way.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pass on = 传授。challenge the status quo = 挑战现状。”fill gaps” = 弥补空缺。mutual respect = 互相尊重。</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91363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896111">
                <a:tc>
                  <a:txBody>
                    <a:bodyPr wrap="square"/>
                    <a:lstStyle/>
                    <a:p>
                      <a:r>
                        <a:rPr sz="1600" b="1">
                          <a:solidFill>
                            <a:srgbClr val="1F2A44"/>
                          </a:solidFill>
                          <a:latin typeface="Arial"/>
                          <a:ea typeface="Microsoft YaHei"/>
                        </a:rPr>
                        <a:t>The old workers are slow.</a:t>
                      </a:r>
                    </a:p>
                  </a:txBody>
                  <a:tcPr anchor="ctr">
                    <a:solidFill>
                      <a:srgbClr val="FFFFFF"/>
                    </a:solidFill>
                  </a:tcPr>
                </a:tc>
                <a:tc>
                  <a:txBody>
                    <a:bodyPr wrap="square"/>
                    <a:lstStyle/>
                    <a:p>
                      <a:r>
                        <a:rPr sz="1600" b="0">
                          <a:solidFill>
                            <a:srgbClr val="1F2A44"/>
                          </a:solidFill>
                          <a:latin typeface="Arial"/>
                          <a:ea typeface="Microsoft YaHei"/>
                        </a:rPr>
                        <a:t>Some older colleagues need more time with new software, just like anyone.</a:t>
                      </a:r>
                    </a:p>
                  </a:txBody>
                  <a:tcPr anchor="ctr">
                    <a:solidFill>
                      <a:srgbClr val="FFFFFF"/>
                    </a:solidFill>
                  </a:tcPr>
                </a:tc>
                <a:tc>
                  <a:txBody>
                    <a:bodyPr wrap="square"/>
                    <a:lstStyle/>
                    <a:p>
                      <a:r>
                        <a:rPr sz="1600" b="0">
                          <a:solidFill>
                            <a:srgbClr val="FF6B5B"/>
                          </a:solidFill>
                          <a:latin typeface="Arial"/>
                          <a:ea typeface="Microsoft YaHei"/>
                        </a:rPr>
                        <a:t>避免概括</a:t>
                      </a:r>
                    </a:p>
                  </a:txBody>
                  <a:tcPr anchor="ctr">
                    <a:solidFill>
                      <a:srgbClr val="FFFFFF"/>
                    </a:solidFill>
                  </a:tcPr>
                </a:tc>
              </a:tr>
              <a:tr h="652272">
                <a:tc>
                  <a:txBody>
                    <a:bodyPr wrap="square"/>
                    <a:lstStyle/>
                    <a:p>
                      <a:r>
                        <a:rPr sz="1600" b="1">
                          <a:solidFill>
                            <a:srgbClr val="1F2A44"/>
                          </a:solidFill>
                          <a:latin typeface="Arial"/>
                          <a:ea typeface="Microsoft YaHei"/>
                        </a:rPr>
                        <a:t>He is too young for this job.</a:t>
                      </a:r>
                    </a:p>
                  </a:txBody>
                  <a:tcPr anchor="ctr">
                    <a:solidFill>
                      <a:srgbClr val="FFEFD9"/>
                    </a:solidFill>
                  </a:tcPr>
                </a:tc>
                <a:tc>
                  <a:txBody>
                    <a:bodyPr wrap="square"/>
                    <a:lstStyle/>
                    <a:p>
                      <a:r>
                        <a:rPr sz="1600" b="0">
                          <a:solidFill>
                            <a:srgbClr val="1F2A44"/>
                          </a:solidFill>
                          <a:latin typeface="Arial"/>
                          <a:ea typeface="Microsoft YaHei"/>
                        </a:rPr>
                        <a:t>He’s relatively new to this role, but he’s learning quickly.</a:t>
                      </a:r>
                    </a:p>
                  </a:txBody>
                  <a:tcPr anchor="ctr">
                    <a:solidFill>
                      <a:srgbClr val="FFEFD9"/>
                    </a:solidFill>
                  </a:tcPr>
                </a:tc>
                <a:tc>
                  <a:txBody>
                    <a:bodyPr wrap="square"/>
                    <a:lstStyle/>
                    <a:p>
                      <a:r>
                        <a:rPr sz="1600" b="0">
                          <a:solidFill>
                            <a:srgbClr val="FF6B5B"/>
                          </a:solidFill>
                          <a:latin typeface="Arial"/>
                          <a:ea typeface="Microsoft YaHei"/>
                        </a:rPr>
                        <a:t>关注经验而非年龄</a:t>
                      </a:r>
                    </a:p>
                  </a:txBody>
                  <a:tcPr anchor="ctr">
                    <a:solidFill>
                      <a:srgbClr val="FFEFD9"/>
                    </a:solidFill>
                  </a:tcPr>
                </a:tc>
              </a:tr>
              <a:tr h="652272">
                <a:tc>
                  <a:txBody>
                    <a:bodyPr wrap="square"/>
                    <a:lstStyle/>
                    <a:p>
                      <a:r>
                        <a:rPr sz="1600" b="1">
                          <a:solidFill>
                            <a:srgbClr val="1F2A44"/>
                          </a:solidFill>
                          <a:latin typeface="Arial"/>
                          <a:ea typeface="Microsoft YaHei"/>
                        </a:rPr>
                        <a:t>Old people are conservative.</a:t>
                      </a:r>
                    </a:p>
                  </a:txBody>
                  <a:tcPr anchor="ctr">
                    <a:solidFill>
                      <a:srgbClr val="FFFFFF"/>
                    </a:solidFill>
                  </a:tcPr>
                </a:tc>
                <a:tc>
                  <a:txBody>
                    <a:bodyPr wrap="square"/>
                    <a:lstStyle/>
                    <a:p>
                      <a:r>
                        <a:rPr sz="1600" b="0">
                          <a:solidFill>
                            <a:srgbClr val="1F2A44"/>
                          </a:solidFill>
                          <a:latin typeface="Arial"/>
                          <a:ea typeface="Microsoft YaHei"/>
                        </a:rPr>
                        <a:t>It’s unfair to assume older people are conservative.</a:t>
                      </a:r>
                    </a:p>
                  </a:txBody>
                  <a:tcPr anchor="ctr">
                    <a:solidFill>
                      <a:srgbClr val="FFFFFF"/>
                    </a:solidFill>
                  </a:tcPr>
                </a:tc>
                <a:tc>
                  <a:txBody>
                    <a:bodyPr wrap="square"/>
                    <a:lstStyle/>
                    <a:p>
                      <a:r>
                        <a:rPr sz="1600" b="0">
                          <a:solidFill>
                            <a:srgbClr val="FF6B5B"/>
                          </a:solidFill>
                          <a:latin typeface="Arial"/>
                          <a:ea typeface="Microsoft YaHei"/>
                        </a:rPr>
                        <a:t>反驳</a:t>
                      </a:r>
                    </a:p>
                  </a:txBody>
                  <a:tcPr anchor="ctr">
                    <a:solidFill>
                      <a:srgbClr val="FFFFFF"/>
                    </a:solidFill>
                  </a:tcPr>
                </a:tc>
              </a:tr>
              <a:tr h="652272">
                <a:tc>
                  <a:txBody>
                    <a:bodyPr wrap="square"/>
                    <a:lstStyle/>
                    <a:p>
                      <a:r>
                        <a:rPr sz="1600" b="1">
                          <a:solidFill>
                            <a:srgbClr val="1F2A44"/>
                          </a:solidFill>
                          <a:latin typeface="Arial"/>
                          <a:ea typeface="Microsoft YaHei"/>
                        </a:rPr>
                        <a:t>She is old, so retire.</a:t>
                      </a:r>
                    </a:p>
                  </a:txBody>
                  <a:tcPr anchor="ctr">
                    <a:solidFill>
                      <a:srgbClr val="FFEFD9"/>
                    </a:solidFill>
                  </a:tcPr>
                </a:tc>
                <a:tc>
                  <a:txBody>
                    <a:bodyPr wrap="square"/>
                    <a:lstStyle/>
                    <a:p>
                      <a:r>
                        <a:rPr sz="1600" b="0">
                          <a:solidFill>
                            <a:srgbClr val="1F2A44"/>
                          </a:solidFill>
                          <a:latin typeface="Arial"/>
                          <a:ea typeface="Microsoft YaHei"/>
                        </a:rPr>
                        <a:t>She has decided to retire after a long career.</a:t>
                      </a:r>
                    </a:p>
                  </a:txBody>
                  <a:tcPr anchor="ctr">
                    <a:solidFill>
                      <a:srgbClr val="FFEFD9"/>
                    </a:solidFill>
                  </a:tcPr>
                </a:tc>
                <a:tc>
                  <a:txBody>
                    <a:bodyPr wrap="square"/>
                    <a:lstStyle/>
                    <a:p>
                      <a:r>
                        <a:rPr sz="1600" b="0">
                          <a:solidFill>
                            <a:srgbClr val="FF6B5B"/>
                          </a:solidFill>
                          <a:latin typeface="Arial"/>
                          <a:ea typeface="Microsoft YaHei"/>
                        </a:rPr>
                        <a:t>中性</a:t>
                      </a:r>
                    </a:p>
                  </a:txBody>
                  <a:tcPr anchor="ctr">
                    <a:solidFill>
                      <a:srgbClr val="FFEFD9"/>
                    </a:solidFill>
                  </a:tcPr>
                </a:tc>
              </a:tr>
              <a:tr h="652272">
                <a:tc>
                  <a:txBody>
                    <a:bodyPr wrap="square"/>
                    <a:lstStyle/>
                    <a:p>
                      <a:r>
                        <a:rPr sz="1600" b="1">
                          <a:solidFill>
                            <a:srgbClr val="1F2A44"/>
                          </a:solidFill>
                          <a:latin typeface="Arial"/>
                          <a:ea typeface="Microsoft YaHei"/>
                        </a:rPr>
                        <a:t>Young people don’t work hard.</a:t>
                      </a:r>
                    </a:p>
                  </a:txBody>
                  <a:tcPr anchor="ctr">
                    <a:solidFill>
                      <a:srgbClr val="FFFFFF"/>
                    </a:solidFill>
                  </a:tcPr>
                </a:tc>
                <a:tc>
                  <a:txBody>
                    <a:bodyPr wrap="square"/>
                    <a:lstStyle/>
                    <a:p>
                      <a:r>
                        <a:rPr sz="1600" b="0">
                          <a:solidFill>
                            <a:srgbClr val="1F2A44"/>
                          </a:solidFill>
                          <a:latin typeface="Arial"/>
                          <a:ea typeface="Microsoft YaHei"/>
                        </a:rPr>
                        <a:t>Younger employees often have different expectations about work.</a:t>
                      </a:r>
                    </a:p>
                  </a:txBody>
                  <a:tcPr anchor="ctr">
                    <a:solidFill>
                      <a:srgbClr val="FFFFFF"/>
                    </a:solidFill>
                  </a:tcPr>
                </a:tc>
                <a:tc>
                  <a:txBody>
                    <a:bodyPr wrap="square"/>
                    <a:lstStyle/>
                    <a:p>
                      <a:r>
                        <a:rPr sz="1600" b="0">
                          <a:solidFill>
                            <a:srgbClr val="FF6B5B"/>
                          </a:solidFill>
                          <a:latin typeface="Arial"/>
                          <a:ea typeface="Microsoft YaHei"/>
                        </a:rPr>
                        <a:t>避免贬低</a:t>
                      </a:r>
                    </a:p>
                  </a:txBody>
                  <a:tcPr anchor="ctr">
                    <a:solidFill>
                      <a:srgbClr val="FFFFFF"/>
                    </a:solidFill>
                  </a:tcPr>
                </a:tc>
              </a:tr>
            </a:tbl>
          </a:graphicData>
        </a:graphic>
      </p:graphicFrame>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Respectful vocabulary: </a:t>
            </a:r>
            <a:r>
              <a:rPr sz="1700" b="0">
                <a:solidFill>
                  <a:srgbClr val="1F2A44"/>
                </a:solidFill>
                <a:latin typeface="Arial"/>
                <a:ea typeface="Microsoft YaHei"/>
              </a:rPr>
              <a:t>older workers, experienced colleagues, early-career staff; avoid old man/woman and kids.</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Generalising carefully: </a:t>
            </a:r>
            <a:r>
              <a:rPr sz="1700" b="0">
                <a:solidFill>
                  <a:srgbClr val="1F2A44"/>
                </a:solidFill>
                <a:latin typeface="Arial"/>
                <a:ea typeface="Microsoft YaHei"/>
              </a:rPr>
              <a:t>Some / Many / Most + noun, not “All older workers…”.</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Relative comparisons: </a:t>
            </a:r>
            <a:r>
              <a:rPr sz="1700" b="0">
                <a:solidFill>
                  <a:srgbClr val="1F2A44"/>
                </a:solidFill>
                <a:latin typeface="Arial"/>
                <a:ea typeface="Microsoft YaHei"/>
              </a:rPr>
              <a:t>older than, more experienced than, as … as.</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Concession: </a:t>
            </a:r>
            <a:r>
              <a:rPr sz="1700" b="0">
                <a:solidFill>
                  <a:srgbClr val="1F2A44"/>
                </a:solidFill>
                <a:latin typeface="Arial"/>
                <a:ea typeface="Microsoft YaHei"/>
              </a:rPr>
              <a:t>I can see why… but… / That may be true, but…</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old people are not good at computer.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Some older people find computers difficult.</a:t>
            </a:r>
          </a:p>
          <a:p>
            <a:pPr algn="l">
              <a:spcAft>
                <a:spcPts val="200"/>
              </a:spcAft>
            </a:pPr>
            <a:r>
              <a:rPr sz="1200" b="0">
                <a:solidFill>
                  <a:srgbClr val="FFFFFF"/>
                </a:solidFill>
                <a:latin typeface="Arial"/>
                <a:ea typeface="Microsoft YaHei"/>
              </a:rPr>
              <a:t>避免概括</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elder than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older than me.</a:t>
            </a:r>
          </a:p>
          <a:p>
            <a:pPr algn="l">
              <a:spcAft>
                <a:spcPts val="200"/>
              </a:spcAft>
            </a:pPr>
            <a:r>
              <a:rPr sz="1200" b="0">
                <a:solidFill>
                  <a:srgbClr val="FFFFFF"/>
                </a:solidFill>
                <a:latin typeface="Arial"/>
                <a:ea typeface="Microsoft YaHei"/>
              </a:rPr>
              <a:t>elder 不用于 than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Young people are lazy in general.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unfair to say young people are lazy.</a:t>
            </a:r>
          </a:p>
          <a:p>
            <a:pPr algn="l">
              <a:spcAft>
                <a:spcPts val="200"/>
              </a:spcAft>
            </a:pPr>
            <a:r>
              <a:rPr sz="1200" b="0">
                <a:solidFill>
                  <a:srgbClr val="FFFFFF"/>
                </a:solidFill>
                <a:latin typeface="Arial"/>
                <a:ea typeface="Microsoft YaHei"/>
              </a:rPr>
              <a:t>避免刻板</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Age doesn’t matter for the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Age shouldn’t matter when we assess candidates.</a:t>
            </a:r>
          </a:p>
          <a:p>
            <a:pPr algn="l">
              <a:spcAft>
                <a:spcPts val="200"/>
              </a:spcAft>
            </a:pPr>
            <a:r>
              <a:rPr sz="1200" b="0">
                <a:solidFill>
                  <a:srgbClr val="FFFFFF"/>
                </a:solidFill>
                <a:latin typeface="Arial"/>
                <a:ea typeface="Microsoft YaHei"/>
              </a:rPr>
              <a:t>更精确</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has fifty years old.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fifty (years old).</a:t>
            </a:r>
          </a:p>
          <a:p>
            <a:pPr algn="l">
              <a:spcAft>
                <a:spcPts val="200"/>
              </a:spcAft>
            </a:pPr>
            <a:r>
              <a:rPr sz="1200" b="0">
                <a:solidFill>
                  <a:srgbClr val="FFFFFF"/>
                </a:solidFill>
                <a:latin typeface="Arial"/>
                <a:ea typeface="Microsoft YaHei"/>
              </a:rPr>
              <a:t>be + 年龄</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 over 60 can not learn.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over 60 can learn just as well.</a:t>
            </a:r>
          </a:p>
          <a:p>
            <a:pPr algn="l">
              <a:spcAft>
                <a:spcPts val="200"/>
              </a:spcAft>
            </a:pPr>
            <a:r>
              <a:rPr sz="1200" b="0">
                <a:solidFill>
                  <a:srgbClr val="FFFFFF"/>
                </a:solidFill>
                <a:latin typeface="Arial"/>
                <a:ea typeface="Microsoft YaHei"/>
              </a:rPr>
              <a:t>事实</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older than, be + age, and avoid absolute words (all, never, can’t).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Asking age: </a:t>
            </a:r>
            <a:r>
              <a:rPr sz="1700" b="0">
                <a:solidFill>
                  <a:srgbClr val="1F2A44"/>
                </a:solidFill>
                <a:latin typeface="Arial"/>
                <a:ea typeface="Microsoft YaHei"/>
              </a:rPr>
              <a:t>In the US and UK it’s often considered inappropriate to ask a job candidate’s age. Adverts and interviews should focus on skills.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Respect for seniority: </a:t>
            </a:r>
            <a:r>
              <a:rPr sz="1700" b="0">
                <a:solidFill>
                  <a:srgbClr val="1F2A44"/>
                </a:solidFill>
                <a:latin typeface="Arial"/>
                <a:ea typeface="Microsoft YaHei"/>
              </a:rPr>
              <a:t>In many Asian workplaces seniority is valued. In Western workplaces, titles matter less, and first names are common across ages.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Language: </a:t>
            </a:r>
            <a:r>
              <a:rPr sz="1700" b="0">
                <a:solidFill>
                  <a:srgbClr val="1F2A44"/>
                </a:solidFill>
                <a:latin typeface="Arial"/>
                <a:ea typeface="Microsoft YaHei"/>
              </a:rPr>
              <a:t>“Oldest” and “youngest” in a team are better described as “most experienced” or “newest”.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英语里“我 50 岁”说 I’m fifty,不说 I have fifty years。older than 而不是 elder than。谈年龄要避免用 all / never,以免以偏概全。</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challenge a stereotype politely with evidence.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strengths of older and younger workers fairly.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concession (I can see why… but…).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age correctly (I’m fifty) and use older than.</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31 Stereotypes and the Older Worker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older than (not elder), be + age, and careful generalisations.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32 Helping Employees with Disabilities Flourish</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700" b="1">
                <a:solidFill>
                  <a:srgbClr val="FFFFFF"/>
                </a:solidFill>
                <a:latin typeface="Arial"/>
                <a:ea typeface="Microsoft YaHei"/>
              </a:rPr>
              <a:t>Helping Employees with Disabilities Flourish</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帮助残疾员工蓬勃发展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disability inclusion at work: respectful language, accessibility, adjustments and fair opportunity.</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work with someone who has a disability or a long-term health condition?</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can make a workplace more accessible?</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Why do some employers hesitate to hire people with disabilities?</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adjustments could help an employee with limited mobility, hearing or vision?</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best way to ask someone what support they need?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第 1 题回答要尊重,不用 “handicapped” 等过时词。people with disabilities 为 people-first 说法;有些人也偏好 disabled people(英国常用)。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reasonable adjustments with an employee respectfully.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ask what they need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offer options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agree next steps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check later</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What would help you most?   💬 We can look at…   💬 Let’s review how it’s working in a month.</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不要替对方决定需要什么,先问:What would help? 表示合作:We can look at…。</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Ability First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people with disabilities want the same things as everyone else: interesting work, fair pay and a chance to progress. Yet many face barriers that have nothing to do with their talent. These may be physical, such as stairs without a lift, or they may be less visible, such as unclear instructions or inflexible hours. Employers can help by making reasonable adjustments, which are changes to the workplace or to how a job is done. Examples include adjustable desks, screen-reader software, quiet spaces or flexible schedules. Many adjustments cost little. The most important step is simple: ask the employee what would help. Managers should focus on outcomes, not on how the work gets done, and avoid assumptions about what a person can or cannot do. When barriers fall, whole teams benefit.</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kinds of barriers are mentioned?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Physical ones such as stairs without a lift, and less visible ones such as unclear instructions or inflexible hours.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“reasonable adjustments”?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Changes to the workplace or to how a job is done.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most important step?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Ask the employee what would help.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Inclusive workplaces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包容的职场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disability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残障</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law protects people with a disability.”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accessible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无障碍的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offices are accessible by wheelchair.”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reasonable adjustments</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合理便利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made reasonable adjustments to her workstation.”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assistive technology</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辅助技术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uses assistive technology to read documents.”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wheelchair user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轮椅使用者</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lift is wide enough for wheelchair users.”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flexible hours</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弹性工时</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“Flexible hours can help people manage health conditions.”</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Support and respect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支持与尊重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playing field</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公平竞争环境</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aim is to create a level playing field.”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accommodate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满足需求</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can accommodate most requests.”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disclose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披露</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chose not to disclose her condition.”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inclusive design</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包容性设计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“Inclusive design benefits everyone.”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tick-box exercise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走形式</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“Training shouldn’t be a tick-box exercise.”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flourish</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蓬勃发展</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“Everyone should be able to flourish at work.”</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弹性工时</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flexible hours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满足需求</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accommodate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合理便利</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reasonable adjustments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蓬勃发展</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flourish</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包容性设计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inclusive design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无障碍的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accessible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走形式</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tick-box exercise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公平竞争环境</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level playing field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accessible</a:t>
            </a:r>
          </a:p>
        </p:txBody>
      </p:sp>
      <p:sp>
        <p:nvSpPr>
          <p:cNvPr id="10" name="Rounded Rectangle 9"/>
          <p:cNvSpPr/>
          <p:nvPr/>
        </p:nvSpPr>
        <p:spPr>
          <a:xfrm>
            <a:off x="3566160"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adjustments</a:t>
            </a:r>
          </a:p>
        </p:txBody>
      </p:sp>
      <p:sp>
        <p:nvSpPr>
          <p:cNvPr id="11" name="Rounded Rectangle 10"/>
          <p:cNvSpPr/>
          <p:nvPr/>
        </p:nvSpPr>
        <p:spPr>
          <a:xfrm>
            <a:off x="5230367"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assistive</a:t>
            </a:r>
          </a:p>
        </p:txBody>
      </p:sp>
      <p:sp>
        <p:nvSpPr>
          <p:cNvPr id="12" name="Rounded Rectangle 11"/>
          <p:cNvSpPr/>
          <p:nvPr/>
        </p:nvSpPr>
        <p:spPr>
          <a:xfrm>
            <a:off x="6675119" y="987552"/>
            <a:ext cx="2450591"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level playing field</a:t>
            </a:r>
          </a:p>
        </p:txBody>
      </p:sp>
      <p:sp>
        <p:nvSpPr>
          <p:cNvPr id="13" name="Rounded Rectangle 12"/>
          <p:cNvSpPr/>
          <p:nvPr/>
        </p:nvSpPr>
        <p:spPr>
          <a:xfrm>
            <a:off x="9217150"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disclose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building is fully _______, with ramps and lifts.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accessible</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made some reasonable _______ to her workstation.</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adjustments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uses _______ technology to read documents on screen.</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assistive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Our goal is to create a _______ for all candidates.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level playing field</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Employees do not have to _______ their health conditions.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disclose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With the right support, everyone can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flourish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disability, accessible (not “accesible”), accommodate (two c, two m). Say people with disabilities or disabled people (UK), not “handicapped” or “the disabled”. Make adjustments (not “do”).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adjustments with a new employee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与新员工讨论合理便利</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new employee, Amir, uses a wheelchair. His manager meets him to talk about his workspace and what would help.</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Rachel Lin,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Amir Khan, new employee</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adjustments with a new employee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Rachel</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Amir, welcome to the team. I wanted to check how your first week is going, and ask what would make your workspace work better for you.</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Amir</a:t>
            </a:r>
          </a:p>
        </p:txBody>
      </p:sp>
      <p:sp>
        <p:nvSpPr>
          <p:cNvPr id="13" name="Rounded Rectangle 12"/>
          <p:cNvSpPr/>
          <p:nvPr/>
        </p:nvSpPr>
        <p:spPr>
          <a:xfrm>
            <a:off x="2133295" y="2487167"/>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Rachel. It’s been good overall. The main issue is the desks in the open area. They’re a bit low for my chair.</a:t>
            </a:r>
          </a:p>
        </p:txBody>
      </p:sp>
      <p:sp>
        <p:nvSpPr>
          <p:cNvPr id="14" name="Rounded Rectangle 13"/>
          <p:cNvSpPr/>
          <p:nvPr/>
        </p:nvSpPr>
        <p:spPr>
          <a:xfrm>
            <a:off x="548640" y="335889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79780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358895"/>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useful to know. Would an adjustable desk help?</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definitely. And the meeting room on the second floor is difficult to reach when the lift is busy.</a:t>
            </a:r>
          </a:p>
        </p:txBody>
      </p:sp>
      <p:sp>
        <p:nvSpPr>
          <p:cNvPr id="20" name="Rounded Rectangle 19"/>
          <p:cNvSpPr/>
          <p:nvPr/>
        </p:nvSpPr>
        <p:spPr>
          <a:xfrm>
            <a:off x="548640" y="481279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1"/>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can look at moving key meetings to the ground floor. Does that sound sensible?</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adjustments with a new employee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does. Thank you. I’d also appreciate it if agendas could be sent in advance.</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Is that for preparation, or is it an accessibility need?</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preparation, to be honest. I like to read in advance.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easy to do. I’ll ask Facilities about the desk this week.</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 really appreciate you asking, rather than assuming.</a:t>
            </a:r>
          </a:p>
        </p:txBody>
      </p:sp>
      <p:sp>
        <p:nvSpPr>
          <p:cNvPr id="23" name="Rounded Rectangle 22"/>
          <p:cNvSpPr/>
          <p:nvPr/>
        </p:nvSpPr>
        <p:spPr>
          <a:xfrm>
            <a:off x="548640" y="45262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5262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the best way to work. Let’s review it in a month and see how it’s going.</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good.</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adjustments with a new employee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manager asks a new employee what support they need.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Be respectful and practical.</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employee with one accessibility need: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would help · reasonable adjustments · accessible · flexible · review · I appreciate you asking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offer two options and agree how to review.</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Amir says the desk cannot be fixed for two months. Suggest a temporary solution.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asks you: “What’s wrong with him?” Respond calmly.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note to the team about making meetings more accessible.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obstacles do people with disabilities face at work?</a:t>
            </a:r>
          </a:p>
          <a:p>
            <a:pPr algn="l">
              <a:lnSpc>
                <a:spcPct val="115000"/>
              </a:lnSpc>
              <a:spcAft>
                <a:spcPts val="800"/>
              </a:spcAft>
            </a:pPr>
            <a:r>
              <a:rPr sz="1400" b="0">
                <a:solidFill>
                  <a:srgbClr val="5F677A"/>
                </a:solidFill>
                <a:latin typeface="Arial"/>
                <a:ea typeface="Microsoft YaHei"/>
              </a:rPr>
              <a:t>💬 “One major barrier is… / Some people also face…”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managers do to be more inclusive?</a:t>
            </a:r>
          </a:p>
          <a:p>
            <a:pPr algn="l">
              <a:lnSpc>
                <a:spcPct val="115000"/>
              </a:lnSpc>
              <a:spcAft>
                <a:spcPts val="800"/>
              </a:spcAft>
            </a:pPr>
            <a:r>
              <a:rPr sz="1400" b="0">
                <a:solidFill>
                  <a:srgbClr val="5F677A"/>
                </a:solidFill>
                <a:latin typeface="Arial"/>
                <a:ea typeface="Microsoft YaHei"/>
              </a:rPr>
              <a:t>💬 “They can start by asking… / It’s important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employers be required by law to hire people with disabilities?</a:t>
            </a:r>
          </a:p>
          <a:p>
            <a:pPr algn="l">
              <a:lnSpc>
                <a:spcPct val="115000"/>
              </a:lnSpc>
              <a:spcAft>
                <a:spcPts val="800"/>
              </a:spcAft>
            </a:pPr>
            <a:r>
              <a:rPr sz="1400" b="0">
                <a:solidFill>
                  <a:srgbClr val="5F677A"/>
                </a:solidFill>
                <a:latin typeface="Arial"/>
                <a:ea typeface="Microsoft YaHei"/>
              </a:rPr>
              <a:t>💬 “I think… because… / A quota may…”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technology make work more accessible?</a:t>
            </a:r>
          </a:p>
          <a:p>
            <a:pPr algn="l">
              <a:lnSpc>
                <a:spcPct val="115000"/>
              </a:lnSpc>
              <a:spcAft>
                <a:spcPts val="800"/>
              </a:spcAft>
            </a:pPr>
            <a:r>
              <a:rPr sz="1400" b="0">
                <a:solidFill>
                  <a:srgbClr val="5F677A"/>
                </a:solidFill>
                <a:latin typeface="Arial"/>
                <a:ea typeface="Microsoft YaHei"/>
              </a:rPr>
              <a:t>💬 “Tools such as… can help people…”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One major barrier is attitude: some employers assume that people with disabilities will be less productive or more expensive to employ, which is simply not true. There are also physical barriers, like buildings with stairs, and digital ones, like websites that don’t work with screen readers. Employers can remove many of these by asking employees what they need and by designing workplaces with everyone in mind.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simply not true = 完全不符合事实。with everyone in mind = 考虑到所有人。attitude = 态度。”digital ones” 中 ones 替代 barriers。</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896111">
                <a:tc>
                  <a:txBody>
                    <a:bodyPr wrap="square"/>
                    <a:lstStyle/>
                    <a:p>
                      <a:r>
                        <a:rPr sz="1600" b="1">
                          <a:solidFill>
                            <a:srgbClr val="1F2A44"/>
                          </a:solidFill>
                          <a:latin typeface="Arial"/>
                          <a:ea typeface="Microsoft YaHei"/>
                        </a:rPr>
                        <a:t>The disabled people can’t work.</a:t>
                      </a:r>
                    </a:p>
                  </a:txBody>
                  <a:tcPr anchor="ctr">
                    <a:solidFill>
                      <a:srgbClr val="FFFFFF"/>
                    </a:solidFill>
                  </a:tcPr>
                </a:tc>
                <a:tc>
                  <a:txBody>
                    <a:bodyPr wrap="square"/>
                    <a:lstStyle/>
                    <a:p>
                      <a:r>
                        <a:rPr sz="1600" b="0">
                          <a:solidFill>
                            <a:srgbClr val="1F2A44"/>
                          </a:solidFill>
                          <a:latin typeface="Arial"/>
                          <a:ea typeface="Microsoft YaHei"/>
                        </a:rPr>
                        <a:t>People with disabilities can work effectively with the right support.</a:t>
                      </a:r>
                    </a:p>
                  </a:txBody>
                  <a:tcPr anchor="ctr">
                    <a:solidFill>
                      <a:srgbClr val="FFFFFF"/>
                    </a:solidFill>
                  </a:tcPr>
                </a:tc>
                <a:tc>
                  <a:txBody>
                    <a:bodyPr wrap="square"/>
                    <a:lstStyle/>
                    <a:p>
                      <a:r>
                        <a:rPr sz="1600" b="0">
                          <a:solidFill>
                            <a:srgbClr val="FF6B5B"/>
                          </a:solidFill>
                          <a:latin typeface="Arial"/>
                          <a:ea typeface="Microsoft YaHei"/>
                        </a:rPr>
                        <a:t>尊重</a:t>
                      </a:r>
                    </a:p>
                  </a:txBody>
                  <a:tcPr anchor="ctr">
                    <a:solidFill>
                      <a:srgbClr val="FFFFFF"/>
                    </a:solidFill>
                  </a:tcPr>
                </a:tc>
              </a:tr>
              <a:tr h="652272">
                <a:tc>
                  <a:txBody>
                    <a:bodyPr wrap="square"/>
                    <a:lstStyle/>
                    <a:p>
                      <a:r>
                        <a:rPr sz="1600" b="1">
                          <a:solidFill>
                            <a:srgbClr val="1F2A44"/>
                          </a:solidFill>
                          <a:latin typeface="Arial"/>
                          <a:ea typeface="Microsoft YaHei"/>
                        </a:rPr>
                        <a:t>He is handicapped.</a:t>
                      </a:r>
                    </a:p>
                  </a:txBody>
                  <a:tcPr anchor="ctr">
                    <a:solidFill>
                      <a:srgbClr val="FFEFD9"/>
                    </a:solidFill>
                  </a:tcPr>
                </a:tc>
                <a:tc>
                  <a:txBody>
                    <a:bodyPr wrap="square"/>
                    <a:lstStyle/>
                    <a:p>
                      <a:r>
                        <a:rPr sz="1600" b="0">
                          <a:solidFill>
                            <a:srgbClr val="1F2A44"/>
                          </a:solidFill>
                          <a:latin typeface="Arial"/>
                          <a:ea typeface="Microsoft YaHei"/>
                        </a:rPr>
                        <a:t>He has a disability. / He’s a wheelchair user.</a:t>
                      </a:r>
                    </a:p>
                  </a:txBody>
                  <a:tcPr anchor="ctr">
                    <a:solidFill>
                      <a:srgbClr val="FFEFD9"/>
                    </a:solidFill>
                  </a:tcPr>
                </a:tc>
                <a:tc>
                  <a:txBody>
                    <a:bodyPr wrap="square"/>
                    <a:lstStyle/>
                    <a:p>
                      <a:r>
                        <a:rPr sz="1600" b="0">
                          <a:solidFill>
                            <a:srgbClr val="FF6B5B"/>
                          </a:solidFill>
                          <a:latin typeface="Arial"/>
                          <a:ea typeface="Microsoft YaHei"/>
                        </a:rPr>
                        <a:t>避免过时词</a:t>
                      </a:r>
                    </a:p>
                  </a:txBody>
                  <a:tcPr anchor="ctr">
                    <a:solidFill>
                      <a:srgbClr val="FFEFD9"/>
                    </a:solidFill>
                  </a:tcPr>
                </a:tc>
              </a:tr>
              <a:tr h="652272">
                <a:tc>
                  <a:txBody>
                    <a:bodyPr wrap="square"/>
                    <a:lstStyle/>
                    <a:p>
                      <a:r>
                        <a:rPr sz="1600" b="1">
                          <a:solidFill>
                            <a:srgbClr val="1F2A44"/>
                          </a:solidFill>
                          <a:latin typeface="Arial"/>
                          <a:ea typeface="Microsoft YaHei"/>
                        </a:rPr>
                        <a:t>What is wrong with you?</a:t>
                      </a:r>
                    </a:p>
                  </a:txBody>
                  <a:tcPr anchor="ctr">
                    <a:solidFill>
                      <a:srgbClr val="FFFFFF"/>
                    </a:solidFill>
                  </a:tcPr>
                </a:tc>
                <a:tc>
                  <a:txBody>
                    <a:bodyPr wrap="square"/>
                    <a:lstStyle/>
                    <a:p>
                      <a:r>
                        <a:rPr sz="1600" b="0">
                          <a:solidFill>
                            <a:srgbClr val="1F2A44"/>
                          </a:solidFill>
                          <a:latin typeface="Arial"/>
                          <a:ea typeface="Microsoft YaHei"/>
                        </a:rPr>
                        <a:t>Is there anything that would make this easier for you?</a:t>
                      </a:r>
                    </a:p>
                  </a:txBody>
                  <a:tcPr anchor="ctr">
                    <a:solidFill>
                      <a:srgbClr val="FFFFFF"/>
                    </a:solidFill>
                  </a:tcPr>
                </a:tc>
                <a:tc>
                  <a:txBody>
                    <a:bodyPr wrap="square"/>
                    <a:lstStyle/>
                    <a:p>
                      <a:r>
                        <a:rPr sz="1600" b="0">
                          <a:solidFill>
                            <a:srgbClr val="FF6B5B"/>
                          </a:solidFill>
                          <a:latin typeface="Arial"/>
                          <a:ea typeface="Microsoft YaHei"/>
                        </a:rPr>
                        <a:t>避免冒犯</a:t>
                      </a:r>
                    </a:p>
                  </a:txBody>
                  <a:tcPr anchor="ctr">
                    <a:solidFill>
                      <a:srgbClr val="FFFFFF"/>
                    </a:solidFill>
                  </a:tcPr>
                </a:tc>
              </a:tr>
              <a:tr h="652272">
                <a:tc>
                  <a:txBody>
                    <a:bodyPr wrap="square"/>
                    <a:lstStyle/>
                    <a:p>
                      <a:r>
                        <a:rPr sz="1600" b="1">
                          <a:solidFill>
                            <a:srgbClr val="1F2A44"/>
                          </a:solidFill>
                          <a:latin typeface="Arial"/>
                          <a:ea typeface="Microsoft YaHei"/>
                        </a:rPr>
                        <a:t>We help the disabled.</a:t>
                      </a:r>
                    </a:p>
                  </a:txBody>
                  <a:tcPr anchor="ctr">
                    <a:solidFill>
                      <a:srgbClr val="FFEFD9"/>
                    </a:solidFill>
                  </a:tcPr>
                </a:tc>
                <a:tc>
                  <a:txBody>
                    <a:bodyPr wrap="square"/>
                    <a:lstStyle/>
                    <a:p>
                      <a:r>
                        <a:rPr sz="1600" b="0">
                          <a:solidFill>
                            <a:srgbClr val="1F2A44"/>
                          </a:solidFill>
                          <a:latin typeface="Arial"/>
                          <a:ea typeface="Microsoft YaHei"/>
                        </a:rPr>
                        <a:t>We support employees with disabilities.</a:t>
                      </a:r>
                    </a:p>
                  </a:txBody>
                  <a:tcPr anchor="ctr">
                    <a:solidFill>
                      <a:srgbClr val="FFEFD9"/>
                    </a:solidFill>
                  </a:tcPr>
                </a:tc>
                <a:tc>
                  <a:txBody>
                    <a:bodyPr wrap="square"/>
                    <a:lstStyle/>
                    <a:p>
                      <a:r>
                        <a:rPr sz="1600" b="0">
                          <a:solidFill>
                            <a:srgbClr val="1F2A44"/>
                          </a:solidFill>
                          <a:latin typeface="Arial"/>
                          <a:ea typeface="Microsoft YaHei"/>
                        </a:rPr>
                        <a:t>people-first</a:t>
                      </a:r>
                    </a:p>
                  </a:txBody>
                  <a:tcPr anchor="ctr">
                    <a:solidFill>
                      <a:srgbClr val="FFEFD9"/>
                    </a:solidFill>
                  </a:tcPr>
                </a:tc>
              </a:tr>
              <a:tr h="408432">
                <a:tc>
                  <a:txBody>
                    <a:bodyPr wrap="square"/>
                    <a:lstStyle/>
                    <a:p>
                      <a:r>
                        <a:rPr sz="1600" b="1">
                          <a:solidFill>
                            <a:srgbClr val="1F2A44"/>
                          </a:solidFill>
                          <a:latin typeface="Arial"/>
                          <a:ea typeface="Microsoft YaHei"/>
                        </a:rPr>
                        <a:t>Special treatment.</a:t>
                      </a:r>
                    </a:p>
                  </a:txBody>
                  <a:tcPr anchor="ctr">
                    <a:solidFill>
                      <a:srgbClr val="FFFFFF"/>
                    </a:solidFill>
                  </a:tcPr>
                </a:tc>
                <a:tc>
                  <a:txBody>
                    <a:bodyPr wrap="square"/>
                    <a:lstStyle/>
                    <a:p>
                      <a:r>
                        <a:rPr sz="1600" b="0">
                          <a:solidFill>
                            <a:srgbClr val="1F2A44"/>
                          </a:solidFill>
                          <a:latin typeface="Arial"/>
                          <a:ea typeface="Microsoft YaHei"/>
                        </a:rPr>
                        <a:t>Reasonable adjustments.</a:t>
                      </a:r>
                    </a:p>
                  </a:txBody>
                  <a:tcPr anchor="ctr">
                    <a:solidFill>
                      <a:srgbClr val="FFFFFF"/>
                    </a:solidFill>
                  </a:tcPr>
                </a:tc>
                <a:tc>
                  <a:txBody>
                    <a:bodyPr wrap="square"/>
                    <a:lstStyle/>
                    <a:p>
                      <a:r>
                        <a:rPr sz="1600" b="0">
                          <a:solidFill>
                            <a:srgbClr val="FF6B5B"/>
                          </a:solidFill>
                          <a:latin typeface="Arial"/>
                          <a:ea typeface="Microsoft YaHei"/>
                        </a:rPr>
                        <a:t>中性、正式</a:t>
                      </a:r>
                    </a:p>
                  </a:txBody>
                  <a:tcPr anchor="ctr">
                    <a:solidFill>
                      <a:srgbClr val="FFFFFF"/>
                    </a:solidFill>
                  </a:tcPr>
                </a:tc>
              </a:tr>
            </a:tbl>
          </a:graphicData>
        </a:graphic>
      </p:graphicFrame>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People-first language: </a:t>
            </a:r>
            <a:r>
              <a:rPr sz="1700" b="0">
                <a:solidFill>
                  <a:srgbClr val="1F2A44"/>
                </a:solidFill>
                <a:latin typeface="Arial"/>
                <a:ea typeface="Microsoft YaHei"/>
              </a:rPr>
              <a:t>a person with a disability; some prefer disabled person (UK). Follow the person’s own preference.</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Avoid “suffer from”; use “has / lives with”: </a:t>
            </a:r>
            <a:r>
              <a:rPr sz="1700" b="0">
                <a:solidFill>
                  <a:srgbClr val="1F2A44"/>
                </a:solidFill>
                <a:latin typeface="Arial"/>
                <a:ea typeface="Microsoft YaHei"/>
              </a:rPr>
              <a:t>“She has dyslexia.”</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Offer, don’t assume: </a:t>
            </a:r>
            <a:r>
              <a:rPr sz="1700" b="0">
                <a:solidFill>
                  <a:srgbClr val="1F2A44"/>
                </a:solidFill>
                <a:latin typeface="Arial"/>
                <a:ea typeface="Microsoft YaHei"/>
              </a:rPr>
              <a:t>Would you like some help with that? — wait for the answer.</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Focus on the barrier: </a:t>
            </a:r>
            <a:r>
              <a:rPr sz="1700" b="0">
                <a:solidFill>
                  <a:srgbClr val="1F2A44"/>
                </a:solidFill>
                <a:latin typeface="Arial"/>
                <a:ea typeface="Microsoft YaHei"/>
              </a:rPr>
              <a:t>“The stairs are a barrier,” rather than “He can’t climb stairs.”</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handicapped person needs help.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employee needs an adjustment.</a:t>
            </a:r>
          </a:p>
          <a:p>
            <a:pPr algn="l">
              <a:spcAft>
                <a:spcPts val="200"/>
              </a:spcAft>
            </a:pPr>
            <a:r>
              <a:rPr sz="1200" b="0">
                <a:solidFill>
                  <a:srgbClr val="FFFFFF"/>
                </a:solidFill>
                <a:latin typeface="Arial"/>
                <a:ea typeface="Microsoft YaHei"/>
              </a:rPr>
              <a:t>避免过时词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suffers from deafness.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deaf / He has a hearing impairment.</a:t>
            </a:r>
          </a:p>
          <a:p>
            <a:pPr algn="l">
              <a:spcAft>
                <a:spcPts val="200"/>
              </a:spcAft>
            </a:pPr>
            <a:r>
              <a:rPr sz="1200" b="0">
                <a:solidFill>
                  <a:srgbClr val="FFFFFF"/>
                </a:solidFill>
                <a:latin typeface="Arial"/>
                <a:ea typeface="Microsoft YaHei"/>
              </a:rPr>
              <a:t>避免 suffer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take care of disabled.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support disabled people.</a:t>
            </a:r>
          </a:p>
          <a:p>
            <a:pPr algn="l">
              <a:spcAft>
                <a:spcPts val="200"/>
              </a:spcAft>
            </a:pPr>
            <a:r>
              <a:rPr sz="1200" b="0">
                <a:solidFill>
                  <a:srgbClr val="FFFFFF"/>
                </a:solidFill>
                <a:latin typeface="Arial"/>
                <a:ea typeface="Microsoft YaHei"/>
              </a:rPr>
              <a:t>the + adj 不适合</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Disabled people are very brave.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Disabled people are professionals like anyone else.</a:t>
            </a:r>
          </a:p>
          <a:p>
            <a:pPr algn="l">
              <a:spcAft>
                <a:spcPts val="200"/>
              </a:spcAft>
            </a:pPr>
            <a:r>
              <a:rPr sz="1200" b="0">
                <a:solidFill>
                  <a:srgbClr val="FFFFFF"/>
                </a:solidFill>
                <a:latin typeface="Arial"/>
                <a:ea typeface="Microsoft YaHei"/>
              </a:rPr>
              <a:t>避免居高临下</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special room for the disabled.</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an accessible room for staff who need it.</a:t>
            </a:r>
          </a:p>
          <a:p>
            <a:pPr algn="l">
              <a:spcAft>
                <a:spcPts val="200"/>
              </a:spcAft>
            </a:pPr>
            <a:r>
              <a:rPr sz="1200" b="0">
                <a:solidFill>
                  <a:srgbClr val="FFFFFF"/>
                </a:solidFill>
                <a:latin typeface="Arial"/>
                <a:ea typeface="Microsoft YaHei"/>
              </a:rPr>
              <a:t>避免 the disabled</a:t>
            </a:r>
          </a:p>
        </p:txBody>
      </p:sp>
      <p:sp>
        <p:nvSpPr>
          <p:cNvPr id="13" name="Rounded Rectangle 12"/>
          <p:cNvSpPr/>
          <p:nvPr/>
        </p:nvSpPr>
        <p:spPr>
          <a:xfrm>
            <a:off x="548640" y="335279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for your disability.</a:t>
            </a:r>
          </a:p>
        </p:txBody>
      </p:sp>
      <p:sp>
        <p:nvSpPr>
          <p:cNvPr id="14" name="Rounded Rectangle 13"/>
          <p:cNvSpPr/>
          <p:nvPr/>
        </p:nvSpPr>
        <p:spPr>
          <a:xfrm>
            <a:off x="6187287" y="335279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 me know if there’s anything I can do to help.</a:t>
            </a:r>
          </a:p>
          <a:p>
            <a:pPr algn="l">
              <a:spcAft>
                <a:spcPts val="200"/>
              </a:spcAft>
            </a:pPr>
            <a:r>
              <a:rPr sz="1200" b="0">
                <a:solidFill>
                  <a:srgbClr val="FFFFFF"/>
                </a:solidFill>
                <a:latin typeface="Arial"/>
                <a:ea typeface="Microsoft YaHei"/>
              </a:rPr>
              <a:t>不需道歉</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Avoid “the disabled”, “handicapped”, “suffers from”. Use neutral descriptions or ask the person.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Laws: </a:t>
            </a:r>
            <a:r>
              <a:rPr sz="1700" b="0">
                <a:solidFill>
                  <a:srgbClr val="1F2A44"/>
                </a:solidFill>
                <a:latin typeface="Arial"/>
                <a:ea typeface="Microsoft YaHei"/>
              </a:rPr>
              <a:t>In the UK, the Equality Act requires “reasonable adjustments”. In the US, the ADA requires “reasonable accommodations”. Terms differ but the idea is the same.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Asking for help: </a:t>
            </a:r>
            <a:r>
              <a:rPr sz="1700" b="0">
                <a:solidFill>
                  <a:srgbClr val="1F2A44"/>
                </a:solidFill>
                <a:latin typeface="Arial"/>
                <a:ea typeface="Microsoft YaHei"/>
              </a:rPr>
              <a:t>Offer help but accept “no, thank you” without fuss. Don’t touch a wheelchair or mobility aid without asking.</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Invisible disabilities: </a:t>
            </a:r>
            <a:r>
              <a:rPr sz="1700" b="0">
                <a:solidFill>
                  <a:srgbClr val="1F2A44"/>
                </a:solidFill>
                <a:latin typeface="Arial"/>
                <a:ea typeface="Microsoft YaHei"/>
              </a:rPr>
              <a:t>Many conditions (e.g. dyslexia, chronic illness, mental health) are not visible. Never ask for proof.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避免使用 handicapped、the disabled 等词;用 people with disabilities / disabled people。不要替对方决定需要什么,先问 What would help?。accessible = 无障碍的。</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accessibility and adjustments respectfully.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inclusive, people-first language.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offer help without assuming.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words such as accessible, accommodate and level playing field.</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32 Helping Employees with Disabilities Flourish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respectful vocabulary and avoiding “the + adjective” for groups of people.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33 Reimagining the Workweek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Reimagining the Workweek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重新想象工作周</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new ways to organise the working week: four-day weeks, flexible hours, hybrid work and results-based schedules.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days a week do you work? Would you like that to change?</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prefer a four-day week with longer days, or five shorter days?</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advantages of working from home sometimes?</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can flexible working cause for teams?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the traditional nine-to-five is outdated?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题用 “I’d prefer… because…”。nine-to-five = 朝九晚五。hybrid = 混合办公(部分在家)。outdated = 过时的。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Propose a four-day week to your manager.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idea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will protect output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 trial</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propose a trial of…   💬 The idea is that…   💬 We could measure the results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propose a trial = 提议试行。measure results by = 以……衡量结果。出示数据能增强说服力。</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Reading · Is Five Days Still the Right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The five-day week became standard more than a century ago, when factories ran on fixed hours. Today many jobs depend on ideas and teamwork, not on how long someone sits at a desk. This has led some companies to experiment with shorter weeks, flexible start times and hybrid schedules. Early trials often report higher morale and lower staff turnover, while productivity stays about the same or improves, perhaps because people waste less time in unnecessary meetings. However, the model does not suit everyone. Customer-facing teams need cover, and some employees miss the structure of the office. Successful companies tend to agree clear goals, protect core hours for collaboration and review the results regularly. The conversation is shifting from “How many hours do you work?” to “What do you achieve?”</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the five-day week become standard?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factories ran on fixed hours over a century ago.</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early trials of shorter weeks often report?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Higher morale and lower staff turnover, with productivity about the same or better.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successful companies do?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Agree clear goals, protect core hours for collaboration and review the results.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Work patterns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工作模式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four-day week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四天工作制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firm is trialling a four-day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flexitime</a:t>
            </a:r>
          </a:p>
          <a:p>
            <a:pPr algn="l">
              <a:lnSpc>
                <a:spcPct val="115000"/>
              </a:lnSpc>
              <a:spcAft>
                <a:spcPts val="800"/>
              </a:spcAft>
            </a:pPr>
            <a:r>
              <a:rPr sz="1300" b="0">
                <a:solidFill>
                  <a:srgbClr val="5F677A"/>
                </a:solidFill>
                <a:latin typeface="Arial"/>
                <a:ea typeface="Microsoft YaHei"/>
              </a:rPr>
              <a:t>noun (uncountable)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弹性工时</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“Flexitime lets me start early.”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hybrid working</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混合办公</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“Hybrid working means two days in the office.”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remote work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远程办公</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“Remote work saves me two hours of commuting.”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core hours</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核心工作时间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“Core hours are from ten to three.”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compressed hours</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压缩工时</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“Compressed hours mean four long days.”</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Productivity and balance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效率与平衡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output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产出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output stayed the same.”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staff turnover</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员工流失率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“Staff turnover has fallen.”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results-based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以结果为导向</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results-based culture.”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blur the line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模糊界限</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“Remote work can blur the line between home and work.”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burnout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倦怠</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“Shorter weeks may reduce burnout.”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trial run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试行</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will do a six-month trial run.”</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员工流失率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staff turnover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四天工作制</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four-day week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以结果为导向</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results-based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混合办公</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hybrid working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远程办公</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remote work</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弹性工时</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flexitime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试行</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trial run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压缩工时</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compressed hours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four-day week</a:t>
            </a:r>
          </a:p>
        </p:txBody>
      </p:sp>
      <p:sp>
        <p:nvSpPr>
          <p:cNvPr id="10" name="Rounded Rectangle 9"/>
          <p:cNvSpPr/>
          <p:nvPr/>
        </p:nvSpPr>
        <p:spPr>
          <a:xfrm>
            <a:off x="389534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flexitime</a:t>
            </a:r>
          </a:p>
        </p:txBody>
      </p:sp>
      <p:sp>
        <p:nvSpPr>
          <p:cNvPr id="11" name="Rounded Rectangle 10"/>
          <p:cNvSpPr/>
          <p:nvPr/>
        </p:nvSpPr>
        <p:spPr>
          <a:xfrm>
            <a:off x="5340096"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hybrid</a:t>
            </a:r>
          </a:p>
        </p:txBody>
      </p:sp>
      <p:sp>
        <p:nvSpPr>
          <p:cNvPr id="12" name="Rounded Rectangle 11"/>
          <p:cNvSpPr/>
          <p:nvPr/>
        </p:nvSpPr>
        <p:spPr>
          <a:xfrm>
            <a:off x="6455664"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core hours</a:t>
            </a:r>
          </a:p>
        </p:txBody>
      </p:sp>
      <p:sp>
        <p:nvSpPr>
          <p:cNvPr id="13" name="Rounded Rectangle 12"/>
          <p:cNvSpPr/>
          <p:nvPr/>
        </p:nvSpPr>
        <p:spPr>
          <a:xfrm>
            <a:off x="8010144"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output</a:t>
            </a:r>
          </a:p>
        </p:txBody>
      </p:sp>
      <p:sp>
        <p:nvSpPr>
          <p:cNvPr id="14" name="Rounded Rectangle 13"/>
          <p:cNvSpPr/>
          <p:nvPr/>
        </p:nvSpPr>
        <p:spPr>
          <a:xfrm>
            <a:off x="9125712"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blur the line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firm is trialling a _______ with no loss of pay.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four-day week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With _______, I can start at 7 and finish at 3.</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flexitime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Under the _______ model, I work two days at the office.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hybrid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Everyone must be online during _______, from ten to three.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core hours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team’s _______ stayed the same despite the shorter week.</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output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Working from home can _______ between work and private life.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blur the line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flexitime (UK; US “flextime”), schedule (UK /ˈʃedjuːl/, US /ˈskedʒuːl/), colleague. Work from home (not “work at home”), a four-day week (singular “day”). On a trial basis.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Proposing a trial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向经理提议试行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colleague want to propose a four-day-week trial to your manager, Ms Torres.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Hao Wang, team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Torres, department manager</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Proposing a trial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Hao</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Torres, thanks for making time. I’d like to propose a trial of a four-day week for our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Torres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What exactly are you suggesting?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same hours, compressed into four days, with Friday off. We’d keep core hours for meetings.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would you protect output?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set weekly goals for each person, and measure results by deadlines met and customer feedback.</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customers who need us on Fridays?</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Proposing a trial to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rotate so that one person is always available, with a day off in lieu.</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I’m not sure the other departments would be happy with that.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concern. We could run a three-month trial and share the data openly.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All right, it might be worth trying. Put together a short plan and send it to me.</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Thank you for being open to it.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promises, but I’ll bring it to the leadership team.</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Proposing a trial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 new working pattern to a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proposing: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is open but worried about customers and fairness.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propose a trial · compressed hours · core hours · output · measure results · worth trying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State the idea, answer one concern and agree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Torres asks: “What if productivity drops?” Give a clear answer.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worries they’ll feel lonely working from home. Suggest solutions.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Present a hybrid schedule for a team in one minute.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your ideal working week?</a:t>
            </a:r>
          </a:p>
          <a:p>
            <a:pPr algn="l">
              <a:lnSpc>
                <a:spcPct val="115000"/>
              </a:lnSpc>
              <a:spcAft>
                <a:spcPts val="800"/>
              </a:spcAft>
            </a:pPr>
            <a:r>
              <a:rPr sz="1400" b="0">
                <a:solidFill>
                  <a:srgbClr val="5F677A"/>
                </a:solidFill>
                <a:latin typeface="Arial"/>
                <a:ea typeface="Microsoft YaHei"/>
              </a:rPr>
              <a:t>💬 “In an ideal world, I’d work… / I’d rather…”</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a four-day week work in every industry?</a:t>
            </a:r>
          </a:p>
          <a:p>
            <a:pPr algn="l">
              <a:lnSpc>
                <a:spcPct val="115000"/>
              </a:lnSpc>
              <a:spcAft>
                <a:spcPts val="800"/>
              </a:spcAft>
            </a:pPr>
            <a:r>
              <a:rPr sz="1400" b="0">
                <a:solidFill>
                  <a:srgbClr val="5F677A"/>
                </a:solidFill>
                <a:latin typeface="Arial"/>
                <a:ea typeface="Microsoft YaHei"/>
              </a:rPr>
              <a:t>💬 “It might work well for… but not for…”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managers measure productivity when people work remotely?</a:t>
            </a:r>
          </a:p>
          <a:p>
            <a:pPr algn="l">
              <a:lnSpc>
                <a:spcPct val="115000"/>
              </a:lnSpc>
              <a:spcAft>
                <a:spcPts val="800"/>
              </a:spcAft>
            </a:pPr>
            <a:r>
              <a:rPr sz="1400" b="0">
                <a:solidFill>
                  <a:srgbClr val="5F677A"/>
                </a:solidFill>
                <a:latin typeface="Arial"/>
                <a:ea typeface="Microsoft YaHei"/>
              </a:rPr>
              <a:t>💬 “They could focus on… rather than hours.”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always-flexible work?</a:t>
            </a:r>
          </a:p>
          <a:p>
            <a:pPr algn="l">
              <a:lnSpc>
                <a:spcPct val="115000"/>
              </a:lnSpc>
              <a:spcAft>
                <a:spcPts val="800"/>
              </a:spcAft>
            </a:pPr>
            <a:r>
              <a:rPr sz="1400" b="0">
                <a:solidFill>
                  <a:srgbClr val="5F677A"/>
                </a:solidFill>
                <a:latin typeface="Arial"/>
                <a:ea typeface="Microsoft YaHei"/>
              </a:rPr>
              <a:t>💬 “One risk is that… / It can blur the 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a four-day week would suit roles where output is easy to measure, like software development or design. It would be harder in jobs with fixed opening hours, such as healthcare or retail, where people need to be on site. In those industries, other kinds of flexibility could work better, for example self-rostering or compressed shifts. So I don’t think there’s a single answer for every industry.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suit = 适合。on site = 在现场。self-rostering = 自主排班。”a single answer” 一个统一答案。</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to work less.</a:t>
                      </a:r>
                    </a:p>
                  </a:txBody>
                  <a:tcPr anchor="ctr">
                    <a:solidFill>
                      <a:srgbClr val="FFFFFF"/>
                    </a:solidFill>
                  </a:tcPr>
                </a:tc>
                <a:tc>
                  <a:txBody>
                    <a:bodyPr wrap="square"/>
                    <a:lstStyle/>
                    <a:p>
                      <a:r>
                        <a:rPr sz="1600" b="0">
                          <a:solidFill>
                            <a:srgbClr val="1F2A44"/>
                          </a:solidFill>
                          <a:latin typeface="Arial"/>
                          <a:ea typeface="Microsoft YaHei"/>
                        </a:rPr>
                        <a:t>I’d like to explore a more flexible schedule.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Work at home is good.</a:t>
                      </a:r>
                    </a:p>
                  </a:txBody>
                  <a:tcPr anchor="ctr">
                    <a:solidFill>
                      <a:srgbClr val="FFEFD9"/>
                    </a:solidFill>
                  </a:tcPr>
                </a:tc>
                <a:tc>
                  <a:txBody>
                    <a:bodyPr wrap="square"/>
                    <a:lstStyle/>
                    <a:p>
                      <a:r>
                        <a:rPr sz="1600" b="0">
                          <a:solidFill>
                            <a:srgbClr val="1F2A44"/>
                          </a:solidFill>
                          <a:latin typeface="Arial"/>
                          <a:ea typeface="Microsoft YaHei"/>
                        </a:rPr>
                        <a:t>Working from home gives me more time and focus.</a:t>
                      </a:r>
                    </a:p>
                  </a:txBody>
                  <a:tcPr anchor="ctr">
                    <a:solidFill>
                      <a:srgbClr val="FFEFD9"/>
                    </a:solidFill>
                  </a:tcPr>
                </a:tc>
                <a:tc>
                  <a:txBody>
                    <a:bodyPr wrap="square"/>
                    <a:lstStyle/>
                    <a:p>
                      <a:r>
                        <a:rPr sz="1600" b="0">
                          <a:solidFill>
                            <a:srgbClr val="FF6B5B"/>
                          </a:solidFill>
                          <a:latin typeface="Arial"/>
                          <a:ea typeface="Microsoft YaHei"/>
                        </a:rPr>
                        <a:t>说明理由</a:t>
                      </a:r>
                    </a:p>
                  </a:txBody>
                  <a:tcPr anchor="ctr">
                    <a:solidFill>
                      <a:srgbClr val="FFEFD9"/>
                    </a:solidFill>
                  </a:tcPr>
                </a:tc>
              </a:tr>
              <a:tr h="652272">
                <a:tc>
                  <a:txBody>
                    <a:bodyPr wrap="square"/>
                    <a:lstStyle/>
                    <a:p>
                      <a:r>
                        <a:rPr sz="1600" b="1">
                          <a:solidFill>
                            <a:srgbClr val="1F2A44"/>
                          </a:solidFill>
                          <a:latin typeface="Arial"/>
                          <a:ea typeface="Microsoft YaHei"/>
                        </a:rPr>
                        <a:t>My company allows me to go home early.</a:t>
                      </a:r>
                    </a:p>
                  </a:txBody>
                  <a:tcPr anchor="ctr">
                    <a:solidFill>
                      <a:srgbClr val="FFFFFF"/>
                    </a:solidFill>
                  </a:tcPr>
                </a:tc>
                <a:tc>
                  <a:txBody>
                    <a:bodyPr wrap="square"/>
                    <a:lstStyle/>
                    <a:p>
                      <a:r>
                        <a:rPr sz="1600" b="0">
                          <a:solidFill>
                            <a:srgbClr val="1F2A44"/>
                          </a:solidFill>
                          <a:latin typeface="Arial"/>
                          <a:ea typeface="Microsoft YaHei"/>
                        </a:rPr>
                        <a:t>My company offers flexitime.</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652272">
                <a:tc>
                  <a:txBody>
                    <a:bodyPr wrap="square"/>
                    <a:lstStyle/>
                    <a:p>
                      <a:r>
                        <a:rPr sz="1600" b="1">
                          <a:solidFill>
                            <a:srgbClr val="1F2A44"/>
                          </a:solidFill>
                          <a:latin typeface="Arial"/>
                          <a:ea typeface="Microsoft YaHei"/>
                        </a:rPr>
                        <a:t>People do not work enough.</a:t>
                      </a:r>
                    </a:p>
                  </a:txBody>
                  <a:tcPr anchor="ctr">
                    <a:solidFill>
                      <a:srgbClr val="FFEFD9"/>
                    </a:solidFill>
                  </a:tcPr>
                </a:tc>
                <a:tc>
                  <a:txBody>
                    <a:bodyPr wrap="square"/>
                    <a:lstStyle/>
                    <a:p>
                      <a:r>
                        <a:rPr sz="1600" b="0">
                          <a:solidFill>
                            <a:srgbClr val="1F2A44"/>
                          </a:solidFill>
                          <a:latin typeface="Arial"/>
                          <a:ea typeface="Microsoft YaHei"/>
                        </a:rPr>
                        <a:t>Some people worry about productivity under a shorter week.</a:t>
                      </a:r>
                    </a:p>
                  </a:txBody>
                  <a:tcPr anchor="ctr">
                    <a:solidFill>
                      <a:srgbClr val="FFEFD9"/>
                    </a:solidFill>
                  </a:tcPr>
                </a:tc>
                <a:tc>
                  <a:txBody>
                    <a:bodyPr wrap="square"/>
                    <a:lstStyle/>
                    <a:p>
                      <a:r>
                        <a:rPr sz="1600" b="0">
                          <a:solidFill>
                            <a:srgbClr val="FF6B5B"/>
                          </a:solidFill>
                          <a:latin typeface="Arial"/>
                          <a:ea typeface="Microsoft YaHei"/>
                        </a:rPr>
                        <a:t>中性</a:t>
                      </a:r>
                    </a:p>
                  </a:txBody>
                  <a:tcPr anchor="ctr">
                    <a:solidFill>
                      <a:srgbClr val="FFEFD9"/>
                    </a:solidFill>
                  </a:tcPr>
                </a:tc>
              </a:tr>
              <a:tr h="652272">
                <a:tc>
                  <a:txBody>
                    <a:bodyPr wrap="square"/>
                    <a:lstStyle/>
                    <a:p>
                      <a:r>
                        <a:rPr sz="1600" b="1">
                          <a:solidFill>
                            <a:srgbClr val="1F2A44"/>
                          </a:solidFill>
                          <a:latin typeface="Arial"/>
                          <a:ea typeface="Microsoft YaHei"/>
                        </a:rPr>
                        <a:t>We will test it.</a:t>
                      </a:r>
                    </a:p>
                  </a:txBody>
                  <a:tcPr anchor="ctr">
                    <a:solidFill>
                      <a:srgbClr val="FFFFFF"/>
                    </a:solidFill>
                  </a:tcPr>
                </a:tc>
                <a:tc>
                  <a:txBody>
                    <a:bodyPr wrap="square"/>
                    <a:lstStyle/>
                    <a:p>
                      <a:r>
                        <a:rPr sz="1600" b="0">
                          <a:solidFill>
                            <a:srgbClr val="1F2A44"/>
                          </a:solidFill>
                          <a:latin typeface="Arial"/>
                          <a:ea typeface="Microsoft YaHei"/>
                        </a:rPr>
                        <a:t>We’d like to run a three-month trial.</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Gerund subject: </a:t>
            </a:r>
            <a:r>
              <a:rPr sz="1700" b="0">
                <a:solidFill>
                  <a:srgbClr val="1F2A44"/>
                </a:solidFill>
                <a:latin typeface="Arial"/>
                <a:ea typeface="Microsoft YaHei"/>
              </a:rPr>
              <a:t>“Working from home saves time.” / “Having a four-day week boosts morale.”</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Would for hypothesis: </a:t>
            </a:r>
            <a:r>
              <a:rPr sz="1700" b="0">
                <a:solidFill>
                  <a:srgbClr val="1F2A44"/>
                </a:solidFill>
                <a:latin typeface="Arial"/>
                <a:ea typeface="Microsoft YaHei"/>
              </a:rPr>
              <a:t>“It would reduce stress, but it might create problems for customers.”</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Hyphenated compound adjectives: </a:t>
            </a:r>
            <a:r>
              <a:rPr sz="1700" b="0">
                <a:solidFill>
                  <a:srgbClr val="1F2A44"/>
                </a:solidFill>
                <a:latin typeface="Arial"/>
                <a:ea typeface="Microsoft YaHei"/>
              </a:rPr>
              <a:t>a four-day week, a six-month trial, a full-time job — no plural s on the noun inside.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Expressing preference: </a:t>
            </a:r>
            <a:r>
              <a:rPr sz="1700" b="0">
                <a:solidFill>
                  <a:srgbClr val="1F2A44"/>
                </a:solidFill>
                <a:latin typeface="Arial"/>
                <a:ea typeface="Microsoft YaHei"/>
              </a:rPr>
              <a:t>I’d prefer to… / I’d rather… / I prefer… to…</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work five days of a week.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work five days a week.</a:t>
            </a:r>
          </a:p>
          <a:p>
            <a:pPr algn="l">
              <a:spcAft>
                <a:spcPts val="200"/>
              </a:spcAft>
            </a:pPr>
            <a:r>
              <a:rPr sz="1200" b="0">
                <a:solidFill>
                  <a:srgbClr val="FFFFFF"/>
                </a:solidFill>
                <a:latin typeface="Arial"/>
                <a:ea typeface="Microsoft YaHei"/>
              </a:rPr>
              <a:t>a week</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four-days week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four-day week</a:t>
            </a:r>
          </a:p>
          <a:p>
            <a:pPr algn="l">
              <a:spcAft>
                <a:spcPts val="200"/>
              </a:spcAft>
            </a:pPr>
            <a:r>
              <a:rPr sz="1200" b="0">
                <a:solidFill>
                  <a:srgbClr val="FFFFFF"/>
                </a:solidFill>
                <a:latin typeface="Arial"/>
                <a:ea typeface="Microsoft YaHei"/>
              </a:rPr>
              <a:t>复合形容词不加 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at home.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from home.</a:t>
            </a:r>
          </a:p>
          <a:p>
            <a:pPr algn="l">
              <a:spcAft>
                <a:spcPts val="200"/>
              </a:spcAft>
            </a:pPr>
            <a:r>
              <a:rPr sz="1200" b="0">
                <a:solidFill>
                  <a:srgbClr val="FFFFFF"/>
                </a:solidFill>
                <a:latin typeface="Arial"/>
                <a:ea typeface="Microsoft YaHei"/>
              </a:rPr>
              <a:t>work from home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I’d rather to work remotely.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rather work remotely.</a:t>
            </a:r>
          </a:p>
          <a:p>
            <a:pPr algn="l">
              <a:spcAft>
                <a:spcPts val="200"/>
              </a:spcAft>
            </a:pPr>
            <a:r>
              <a:rPr sz="1200" b="0">
                <a:solidFill>
                  <a:srgbClr val="FFFFFF"/>
                </a:solidFill>
                <a:latin typeface="Arial"/>
                <a:ea typeface="Microsoft YaHei"/>
              </a:rPr>
              <a:t>would rather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flexibility for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gives me flexibility.</a:t>
            </a:r>
          </a:p>
          <a:p>
            <a:pPr algn="l">
              <a:spcAft>
                <a:spcPts val="200"/>
              </a:spcAft>
            </a:pPr>
            <a:r>
              <a:rPr sz="1200" b="0">
                <a:solidFill>
                  <a:srgbClr val="FFFFFF"/>
                </a:solidFill>
                <a:latin typeface="Arial"/>
                <a:ea typeface="Microsoft YaHei"/>
              </a:rPr>
              <a:t>动词</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prefer work at home than in office.</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prefer working from home to working in the office.</a:t>
            </a:r>
          </a:p>
          <a:p>
            <a:pPr algn="l">
              <a:spcAft>
                <a:spcPts val="200"/>
              </a:spcAft>
            </a:pPr>
            <a:r>
              <a:rPr sz="1200" b="0">
                <a:solidFill>
                  <a:srgbClr val="FFFFFF"/>
                </a:solidFill>
                <a:latin typeface="Arial"/>
                <a:ea typeface="Microsoft YaHei"/>
              </a:rPr>
              <a:t>prefer A to B</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hyphenated compounds (four-day week), work from home, and prefer A to 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Experiments: </a:t>
            </a:r>
            <a:r>
              <a:rPr sz="1700" b="0">
                <a:solidFill>
                  <a:srgbClr val="1F2A44"/>
                </a:solidFill>
                <a:latin typeface="Arial"/>
                <a:ea typeface="Microsoft YaHei"/>
              </a:rPr>
              <a:t>Trials of a four-day week have been run in several countries, but results vary by industry. Treat statistics as examples, not rules.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Right to disconnect: </a:t>
            </a:r>
            <a:r>
              <a:rPr sz="1700" b="0">
                <a:solidFill>
                  <a:srgbClr val="1F2A44"/>
                </a:solidFill>
                <a:latin typeface="Arial"/>
                <a:ea typeface="Microsoft YaHei"/>
              </a:rPr>
              <a:t>Some countries have laws that let employees ignore work messages outside working hours.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Presenteeism: </a:t>
            </a:r>
            <a:r>
              <a:rPr sz="1700" b="0">
                <a:solidFill>
                  <a:srgbClr val="1F2A44"/>
                </a:solidFill>
                <a:latin typeface="Arial"/>
                <a:ea typeface="Microsoft YaHei"/>
              </a:rPr>
              <a:t>Some managers still associate being visible with working hard. Results-based management tries to avoid that.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复合形容词中的名词用单数:a four-day week, a ten-minute break。work from home,不是 work at home。prefer A to B,两个 A、B 用相同形式。</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new working pattern persuasively.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advantages and risks of flexible work.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compound adjectives (a four-day week).</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prefer A to B and work from home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33 Reimagining the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hyphenated compound adjectives, work from home, and prefer A to B.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34 Sharing Office Space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Sharing Office Space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共享办公空间</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shared workspaces: open-plan, hot-desking and co-working, and the etiquette of sharing space.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have your own desk, or do you share space?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pros and cons of an open-plan office?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used a co-working space? What was it like?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rules should people follow when they share a desk?</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stay focused in a noisy environment?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第 1 题回答 “I have my own desk” 或 “I hot-desk”。hot-desking = 不固定座位。co-working space = 联合办公空间。</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Agree on shared-space rules with your team.</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raise the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suggest rules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ask for opinions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agree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think it would help if we agreed on…   💬 How does everyone feel about…?   💬 Let’s try it for a month.</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would help if + 过去式,表示建议,语气委婉。How does everyone feel about…? 征求意见。</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Whose Desk Is It Anyway?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In many offices, assigned desks have disappeared. Under hot-desking, employees pick a free workstation each morning, which saves space and money when many people work from home part of the week. Co-working spaces take the idea further by hosting freelancers and small companies in the same building. Supporters like the flexibility, the chance to meet new people and the lively atmosphere. Critics mention noise, lack of privacy and the daily hunt for a decent chair. Sharing space works best when everyone follows a few simple rules: clear your desk at the end of the day, book in advance, use quiet zones for calls and respect other people’s belongings. Companies can help by providing lockers, a booking app and a mix of spaces for focus, meetings and relaxation.</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hot-desking?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Employees choose a free workstation each day instead of having their own desk.</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critics complain about?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Noise, lack of privacy and the daily hunt for a good chair.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simple rules does the text suggest?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Clear your desk, book ahead, use quiet zones for calls and respect others’ belongings.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Shared workspaces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共享工作空间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hot-desking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不固定工位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“Hot-desking cuts costs.”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co-working space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联合办公空间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rent a desk in a co-working space.”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open-plan</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开放式的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open-plan layout encourages collaboration.”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quiet zone</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安静区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take calls outside the quiet zone.”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locker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储物柜</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can leave your things in a locker.”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booking system</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预订系统</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a booking system for rooms.”</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Etiquette and living together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共处礼仪</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clear your desk</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清理桌面</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clear your desk at the end of the day.”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respect personal space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尊重个人空间</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“Respect people’s personal space.”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to yourself</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不打扰他人</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mostly keeps to himself.”</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headphones on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戴耳机(勿扰)</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“Headphones on usually means “don’t disturb”.”</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pitch in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出力帮忙</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“Everyone pitches in to keep the kitchen clean.”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hog (the space)</a:t>
            </a:r>
          </a:p>
          <a:p>
            <a:pPr algn="l">
              <a:lnSpc>
                <a:spcPct val="115000"/>
              </a:lnSpc>
              <a:spcAft>
                <a:spcPts val="800"/>
              </a:spcAft>
            </a:pPr>
            <a:r>
              <a:rPr sz="1300" b="0">
                <a:solidFill>
                  <a:srgbClr val="5F677A"/>
                </a:solidFill>
                <a:latin typeface="Arial"/>
                <a:ea typeface="Microsoft YaHei"/>
              </a:rPr>
              <a:t>informal 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霸占</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don’t hog the meeting room.”</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安静区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quiet zone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开放式的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open-plan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预订系统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booking system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储物柜</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locker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戴耳机(勿扰)</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headphones 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联合办公空间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co-working space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出力帮忙</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pitch in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尊重个人空间</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respect personal space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Hot-desking</a:t>
            </a:r>
          </a:p>
        </p:txBody>
      </p:sp>
      <p:sp>
        <p:nvSpPr>
          <p:cNvPr id="10" name="Rounded Rectangle 9"/>
          <p:cNvSpPr/>
          <p:nvPr/>
        </p:nvSpPr>
        <p:spPr>
          <a:xfrm>
            <a:off x="3675887"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co-working</a:t>
            </a:r>
          </a:p>
        </p:txBody>
      </p:sp>
      <p:sp>
        <p:nvSpPr>
          <p:cNvPr id="11" name="Rounded Rectangle 10"/>
          <p:cNvSpPr/>
          <p:nvPr/>
        </p:nvSpPr>
        <p:spPr>
          <a:xfrm>
            <a:off x="5230367"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quiet zone</a:t>
            </a:r>
          </a:p>
        </p:txBody>
      </p:sp>
      <p:sp>
        <p:nvSpPr>
          <p:cNvPr id="12" name="Rounded Rectangle 11"/>
          <p:cNvSpPr/>
          <p:nvPr/>
        </p:nvSpPr>
        <p:spPr>
          <a:xfrm>
            <a:off x="6784847"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locker</a:t>
            </a:r>
          </a:p>
        </p:txBody>
      </p:sp>
      <p:sp>
        <p:nvSpPr>
          <p:cNvPr id="13" name="Rounded Rectangle 12"/>
          <p:cNvSpPr/>
          <p:nvPr/>
        </p:nvSpPr>
        <p:spPr>
          <a:xfrm>
            <a:off x="7900415"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clear your desk</a:t>
            </a:r>
          </a:p>
        </p:txBody>
      </p:sp>
      <p:sp>
        <p:nvSpPr>
          <p:cNvPr id="14" name="Rounded Rectangle 13"/>
          <p:cNvSpPr/>
          <p:nvPr/>
        </p:nvSpPr>
        <p:spPr>
          <a:xfrm>
            <a:off x="10003534"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pitch in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_______ means that nobody has a permanent seat.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Hot-desking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She runs her start-up from a _______ space downtown.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co-working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Please make calls outside the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quiet zone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Leave your coat in the _______ if you like.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locker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At the end of the day, please _______ so the next person can use it.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clear your desk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When the office is busy, everyone should _______ and help.</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pitch in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workspace / workstation (one word), co-working (hyphen), etiquette (not “etiquete”). In an open-plan office, at my desk, on the desk (surface). Share a desk (not “share with a desk”).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Agreeing shared-space rules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商定共享空间规则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team has moved to hot-desking and people are complaining. At the team meeting, you suggest simple rules.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Zoe Ma, team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Ben Cole, colleague</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Agreeing shared-space rules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Zoe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Before we finish, can I raise the desk situation? A few people are frustrated.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Ben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honestly it’s getting messy. I found a half-eaten sandwich on my desk yesterday.</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 think it would help if we agreed on a few basic rules.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Such as?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Clear your desk at the end of each day, and no strong-smelling food at the desks.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reasonable. What about calls? Some people talk quite loudly.</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Agreeing shared-space rules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mark one area as a quiet zone and take calls in the phone booths.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And we need a better booking system. I keep arriving to find no free seat.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ask IT if we can add a desk-booking app. How does everyone feel about trying these for a month?</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in. And we can review after four weeks.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I’ll write the rules up and post them on the team channel.</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Thanks for organising this, Zoe.</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Agreeing shared-space rules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agree shared-space rules with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proposing rules: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one complaint of their own.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 would help if · quiet zone · clear your desk · booking system · try it for a month · review</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the issue, suggest three rules and agree a review date.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Ben says: “I don’t want to share my desk.”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leaves rubbish on the desk. Write a friendly reminder message.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you prefer an open-plan office or not.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hot-desking or having your own desk?</a:t>
            </a:r>
          </a:p>
          <a:p>
            <a:pPr algn="l">
              <a:lnSpc>
                <a:spcPct val="115000"/>
              </a:lnSpc>
              <a:spcAft>
                <a:spcPts val="800"/>
              </a:spcAft>
            </a:pPr>
            <a:r>
              <a:rPr sz="1400" b="0">
                <a:solidFill>
                  <a:srgbClr val="5F677A"/>
                </a:solidFill>
                <a:latin typeface="Arial"/>
                <a:ea typeface="Microsoft YaHei"/>
              </a:rPr>
              <a:t>💬 “I’d prefer… because… / Having my own desk means…”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does an open-plan office affect your concentration?</a:t>
            </a:r>
          </a:p>
          <a:p>
            <a:pPr algn="l">
              <a:lnSpc>
                <a:spcPct val="115000"/>
              </a:lnSpc>
              <a:spcAft>
                <a:spcPts val="800"/>
              </a:spcAft>
            </a:pPr>
            <a:r>
              <a:rPr sz="1400" b="0">
                <a:solidFill>
                  <a:srgbClr val="5F677A"/>
                </a:solidFill>
                <a:latin typeface="Arial"/>
                <a:ea typeface="Microsoft YaHei"/>
              </a:rPr>
              <a:t>💬 “It makes it harder / easier to…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rules should be in place for shared offices?</a:t>
            </a:r>
          </a:p>
          <a:p>
            <a:pPr algn="l">
              <a:lnSpc>
                <a:spcPct val="115000"/>
              </a:lnSpc>
              <a:spcAft>
                <a:spcPts val="800"/>
              </a:spcAft>
            </a:pPr>
            <a:r>
              <a:rPr sz="1400" b="0">
                <a:solidFill>
                  <a:srgbClr val="5F677A"/>
                </a:solidFill>
                <a:latin typeface="Arial"/>
                <a:ea typeface="Microsoft YaHei"/>
              </a:rPr>
              <a:t>💬 “There should be rules about… / Everyone ought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co-working spaces replace traditional offices?</a:t>
            </a:r>
          </a:p>
          <a:p>
            <a:pPr algn="l">
              <a:lnSpc>
                <a:spcPct val="115000"/>
              </a:lnSpc>
              <a:spcAft>
                <a:spcPts val="800"/>
              </a:spcAft>
            </a:pPr>
            <a:r>
              <a:rPr sz="1400" b="0">
                <a:solidFill>
                  <a:srgbClr val="5F677A"/>
                </a:solidFill>
                <a:latin typeface="Arial"/>
                <a:ea typeface="Microsoft YaHei"/>
              </a:rPr>
              <a:t>💬 “I doubt it, because… / They might become more common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there should be a few basic rules, mainly about noise, cleanliness and booking. For example, people should clear their desks at the end of each day, take calls in designated areas and not leave personal items in shared spaces. Rules are especially important when people don’t know each other well, since different people have different ideas of what’s acceptable. But the rules should be simple and agreed by the team, not imposed from above.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designated = 指定的。”imposed from above” = 自上而下强加。”different ideas of what’s acceptable” 对可接受的看法不同。</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There is no place.</a:t>
                      </a:r>
                    </a:p>
                  </a:txBody>
                  <a:tcPr anchor="ctr">
                    <a:solidFill>
                      <a:srgbClr val="FFFFFF"/>
                    </a:solidFill>
                  </a:tcPr>
                </a:tc>
                <a:tc>
                  <a:txBody>
                    <a:bodyPr wrap="square"/>
                    <a:lstStyle/>
                    <a:p>
                      <a:r>
                        <a:rPr sz="1600" b="0">
                          <a:solidFill>
                            <a:srgbClr val="1F2A44"/>
                          </a:solidFill>
                          <a:latin typeface="Arial"/>
                          <a:ea typeface="Microsoft YaHei"/>
                        </a:rPr>
                        <a:t>There aren’t any free desks today.</a:t>
                      </a:r>
                    </a:p>
                  </a:txBody>
                  <a:tcPr anchor="ctr">
                    <a:solidFill>
                      <a:srgbClr val="FFFFFF"/>
                    </a:solidFill>
                  </a:tcPr>
                </a:tc>
                <a:tc>
                  <a:txBody>
                    <a:bodyPr wrap="square"/>
                    <a:lstStyle/>
                    <a:p>
                      <a:r>
                        <a:rPr sz="1600" b="0">
                          <a:solidFill>
                            <a:srgbClr val="FF6B5B"/>
                          </a:solidFill>
                          <a:latin typeface="Arial"/>
                          <a:ea typeface="Microsoft YaHei"/>
                        </a:rPr>
                        <a:t>可数名词</a:t>
                      </a:r>
                    </a:p>
                  </a:txBody>
                  <a:tcPr anchor="ctr">
                    <a:solidFill>
                      <a:srgbClr val="FFFFFF"/>
                    </a:solidFill>
                  </a:tcPr>
                </a:tc>
              </a:tr>
              <a:tr h="652272">
                <a:tc>
                  <a:txBody>
                    <a:bodyPr wrap="square"/>
                    <a:lstStyle/>
                    <a:p>
                      <a:r>
                        <a:rPr sz="1600" b="1">
                          <a:solidFill>
                            <a:srgbClr val="1F2A44"/>
                          </a:solidFill>
                          <a:latin typeface="Arial"/>
                          <a:ea typeface="Microsoft YaHei"/>
                        </a:rPr>
                        <a:t>Your things are everywhere.</a:t>
                      </a:r>
                    </a:p>
                  </a:txBody>
                  <a:tcPr anchor="ctr">
                    <a:solidFill>
                      <a:srgbClr val="FFEFD9"/>
                    </a:solidFill>
                  </a:tcPr>
                </a:tc>
                <a:tc>
                  <a:txBody>
                    <a:bodyPr wrap="square"/>
                    <a:lstStyle/>
                    <a:p>
                      <a:r>
                        <a:rPr sz="1600" b="0">
                          <a:solidFill>
                            <a:srgbClr val="1F2A44"/>
                          </a:solidFill>
                          <a:latin typeface="Arial"/>
                          <a:ea typeface="Microsoft YaHei"/>
                        </a:rPr>
                        <a:t>Could you tidy your things? I need the space.</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Too noisy.</a:t>
                      </a:r>
                    </a:p>
                  </a:txBody>
                  <a:tcPr anchor="ctr">
                    <a:solidFill>
                      <a:srgbClr val="FFFFFF"/>
                    </a:solidFill>
                  </a:tcPr>
                </a:tc>
                <a:tc>
                  <a:txBody>
                    <a:bodyPr wrap="square"/>
                    <a:lstStyle/>
                    <a:p>
                      <a:r>
                        <a:rPr sz="1600" b="0">
                          <a:solidFill>
                            <a:srgbClr val="1F2A44"/>
                          </a:solidFill>
                          <a:latin typeface="Arial"/>
                          <a:ea typeface="Microsoft YaHei"/>
                        </a:rPr>
                        <a:t>It’s quite noisy here. Could we move to a quieter area?</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652272">
                <a:tc>
                  <a:txBody>
                    <a:bodyPr wrap="square"/>
                    <a:lstStyle/>
                    <a:p>
                      <a:r>
                        <a:rPr sz="1600" b="1">
                          <a:solidFill>
                            <a:srgbClr val="1F2A44"/>
                          </a:solidFill>
                          <a:latin typeface="Arial"/>
                          <a:ea typeface="Microsoft YaHei"/>
                        </a:rPr>
                        <a:t>I don’t like open office.</a:t>
                      </a:r>
                    </a:p>
                  </a:txBody>
                  <a:tcPr anchor="ctr">
                    <a:solidFill>
                      <a:srgbClr val="FFEFD9"/>
                    </a:solidFill>
                  </a:tcPr>
                </a:tc>
                <a:tc>
                  <a:txBody>
                    <a:bodyPr wrap="square"/>
                    <a:lstStyle/>
                    <a:p>
                      <a:r>
                        <a:rPr sz="1600" b="0">
                          <a:solidFill>
                            <a:srgbClr val="1F2A44"/>
                          </a:solidFill>
                          <a:latin typeface="Arial"/>
                          <a:ea typeface="Microsoft YaHei"/>
                        </a:rPr>
                        <a:t>I find open-plan offices distracting.</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Use the room.</a:t>
                      </a:r>
                    </a:p>
                  </a:txBody>
                  <a:tcPr anchor="ctr">
                    <a:solidFill>
                      <a:srgbClr val="FFFFFF"/>
                    </a:solidFill>
                  </a:tcPr>
                </a:tc>
                <a:tc>
                  <a:txBody>
                    <a:bodyPr wrap="square"/>
                    <a:lstStyle/>
                    <a:p>
                      <a:r>
                        <a:rPr sz="1600" b="0">
                          <a:solidFill>
                            <a:srgbClr val="1F2A44"/>
                          </a:solidFill>
                          <a:latin typeface="Arial"/>
                          <a:ea typeface="Microsoft YaHei"/>
                        </a:rPr>
                        <a:t>You can book the room through the app.</a:t>
                      </a:r>
                    </a:p>
                  </a:txBody>
                  <a:tcPr anchor="ctr">
                    <a:solidFill>
                      <a:srgbClr val="FFFFFF"/>
                    </a:solidFill>
                  </a:tcPr>
                </a:tc>
                <a:tc>
                  <a:txBody>
                    <a:bodyPr wrap="square"/>
                    <a:lstStyle/>
                    <a:p>
                      <a:r>
                        <a:rPr sz="1600" b="0">
                          <a:solidFill>
                            <a:srgbClr val="FF6B5B"/>
                          </a:solidFill>
                          <a:latin typeface="Arial"/>
                          <a:ea typeface="Microsoft YaHei"/>
                        </a:rPr>
                        <a:t>说明方法</a:t>
                      </a:r>
                    </a:p>
                  </a:txBody>
                  <a:tcPr anchor="ctr">
                    <a:solidFill>
                      <a:srgbClr val="FFFFFF"/>
                    </a:solidFill>
                  </a:tcPr>
                </a:tc>
              </a:tr>
            </a:tbl>
          </a:graphicData>
        </a:graphic>
      </p:graphicFrame>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Making suggestions: </a:t>
            </a:r>
            <a:r>
              <a:rPr sz="1700" b="0">
                <a:solidFill>
                  <a:srgbClr val="1F2A44"/>
                </a:solidFill>
                <a:latin typeface="Arial"/>
                <a:ea typeface="Microsoft YaHei"/>
              </a:rPr>
              <a:t>It would help if we… / How about…-ing? / Why don’t we…?</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Used to / be used to: </a:t>
            </a:r>
            <a:r>
              <a:rPr sz="1700" b="0">
                <a:solidFill>
                  <a:srgbClr val="1F2A44"/>
                </a:solidFill>
                <a:latin typeface="Arial"/>
                <a:ea typeface="Microsoft YaHei"/>
              </a:rPr>
              <a:t>“I used to have my own desk” (past habit); “I’m used to the noise” (accustomed).</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Countable / uncountable: </a:t>
            </a:r>
            <a:r>
              <a:rPr sz="1700" b="0">
                <a:solidFill>
                  <a:srgbClr val="1F2A44"/>
                </a:solidFill>
                <a:latin typeface="Arial"/>
                <a:ea typeface="Microsoft YaHei"/>
              </a:rPr>
              <a:t>a desk, a seat, a room (countable) vs space, noise, furniture (uncountable).</a:t>
            </a:r>
          </a:p>
        </p:txBody>
      </p:sp>
      <p:sp>
        <p:nvSpPr>
          <p:cNvPr id="17" name="Rounded Rectangle 16"/>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Polite imperatives: </a:t>
            </a:r>
            <a:r>
              <a:rPr sz="1700" b="0">
                <a:solidFill>
                  <a:srgbClr val="1F2A44"/>
                </a:solidFill>
                <a:latin typeface="Arial"/>
                <a:ea typeface="Microsoft YaHei"/>
              </a:rPr>
              <a:t>Please remember to… / Could you please…?</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no enough space.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isn’t enough space.</a:t>
            </a:r>
          </a:p>
          <a:p>
            <a:pPr algn="l">
              <a:spcAft>
                <a:spcPts val="200"/>
              </a:spcAft>
            </a:pPr>
            <a:r>
              <a:rPr sz="1200" b="0">
                <a:solidFill>
                  <a:srgbClr val="FFFFFF"/>
                </a:solidFill>
                <a:latin typeface="Arial"/>
                <a:ea typeface="Microsoft YaHei"/>
              </a:rPr>
              <a:t>not enough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used to work in open office.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used to working in an open-plan office.</a:t>
            </a:r>
          </a:p>
          <a:p>
            <a:pPr algn="l">
              <a:spcAft>
                <a:spcPts val="200"/>
              </a:spcAft>
            </a:pPr>
            <a:r>
              <a:rPr sz="1200" b="0">
                <a:solidFill>
                  <a:srgbClr val="FFFFFF"/>
                </a:solidFill>
                <a:latin typeface="Arial"/>
                <a:ea typeface="Microsoft YaHei"/>
              </a:rPr>
              <a:t>be used to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Furnitures are old.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furniture is old.</a:t>
            </a:r>
          </a:p>
          <a:p>
            <a:pPr algn="l">
              <a:spcAft>
                <a:spcPts val="200"/>
              </a:spcAft>
            </a:pPr>
            <a:r>
              <a:rPr sz="1200" b="0">
                <a:solidFill>
                  <a:srgbClr val="FFFFFF"/>
                </a:solidFill>
                <a:latin typeface="Arial"/>
                <a:ea typeface="Microsoft YaHei"/>
              </a:rPr>
              <a:t>furniture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sit at the same place every 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sit in the same place every day.</a:t>
            </a:r>
          </a:p>
          <a:p>
            <a:pPr algn="l">
              <a:spcAft>
                <a:spcPts val="200"/>
              </a:spcAft>
            </a:pPr>
            <a:r>
              <a:rPr sz="1200" b="0">
                <a:solidFill>
                  <a:srgbClr val="FFFFFF"/>
                </a:solidFill>
                <a:latin typeface="Arial"/>
                <a:ea typeface="Microsoft YaHei"/>
              </a:rPr>
              <a:t>in the same place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share the table with others.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share the desk with other people.</a:t>
            </a:r>
          </a:p>
          <a:p>
            <a:pPr algn="l">
              <a:spcAft>
                <a:spcPts val="200"/>
              </a:spcAft>
            </a:pPr>
            <a:r>
              <a:rPr sz="1200" b="0">
                <a:solidFill>
                  <a:srgbClr val="FFFFFF"/>
                </a:solidFill>
                <a:latin typeface="Arial"/>
                <a:ea typeface="Microsoft YaHei"/>
              </a:rPr>
              <a:t>具体</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noise are loud.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noise is loud.</a:t>
            </a:r>
          </a:p>
          <a:p>
            <a:pPr algn="l">
              <a:spcAft>
                <a:spcPts val="200"/>
              </a:spcAft>
            </a:pPr>
            <a:r>
              <a:rPr sz="1200" b="0">
                <a:solidFill>
                  <a:srgbClr val="FFFFFF"/>
                </a:solidFill>
                <a:latin typeface="Arial"/>
                <a:ea typeface="Microsoft YaHei"/>
              </a:rPr>
              <a:t>单数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furniture / space / noise, be used to + -ing, and enough word order.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Headphones: </a:t>
            </a:r>
            <a:r>
              <a:rPr sz="1700" b="0">
                <a:solidFill>
                  <a:srgbClr val="1F2A44"/>
                </a:solidFill>
                <a:latin typeface="Arial"/>
                <a:ea typeface="Microsoft YaHei"/>
              </a:rPr>
              <a:t>In many open-plan offices, wearing headphones is a sign that someone doesn’t want to be interrupted.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Food: </a:t>
            </a:r>
            <a:r>
              <a:rPr sz="1700" b="0">
                <a:solidFill>
                  <a:srgbClr val="1F2A44"/>
                </a:solidFill>
                <a:latin typeface="Arial"/>
                <a:ea typeface="Microsoft YaHei"/>
              </a:rPr>
              <a:t>In UK and US offices, strong-smelling food (e.g. fish) is often discouraged at desks. Rules vary.</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Cleaning up: </a:t>
            </a:r>
            <a:r>
              <a:rPr sz="1700" b="0">
                <a:solidFill>
                  <a:srgbClr val="1F2A44"/>
                </a:solidFill>
                <a:latin typeface="Arial"/>
                <a:ea typeface="Microsoft YaHei"/>
              </a:rPr>
              <a:t>Clear-desk policies are common, partly for security and confidentiality reasons.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furniture / noise / space 不可数。be used to + -ing 表示习惯了;used to + 动词原形 表示过去习惯。open-plan 要连字符。</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rules for shared space politely.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pros and cons of different office layouts.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it would help if… and how about…-ing?.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distinguish used to and be used to.</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34 Sharing Office Space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furniture, used to vs be used to + -ing, and polite suggestions.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35 Everyone’s Invited</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247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Everyone’s Invited</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人人都参与:包容与艰难对话</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inclusion and having difficult conversations at work: making everyone feel welcome and dealing with sensitive topics.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left out at work? What happened?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team make new or quiet members feel included?</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topics are difficult to discuss at work?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prepare for a difficult conversation?</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“inclusion” mean to you?</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left out = 被排除在外。inclusion 与 diversity 不同:diversity 指多元,inclusion 指让每个人都能参与。</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Start a difficult conversation with a colleague tactfully.</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ask permission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state your purpose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describe the facts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ask for their view</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agree a way forward</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Can we talk about… when you have a moment?   💬 I’d like to understand…   💬 What’s your take on this?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开启艰难对话时先征得同意,再表明目的。What’s your take? = 你怎么看?</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Making Room at the Table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Diversity is about who is in the room; inclusion is about whether they are heard. A team can have people of different ages, backgrounds and abilities and still be exclusive if the same voices dominate every meeting. Inclusive leaders notice who has not spoken and invite them in: “Sam, you’ve worked with that client. What do you think?” They share agendas in advance, rotate who leads discussions and say thank you for disagreement. Difficult conversations are part of inclusion, too. Avoiding them often causes more damage, because small problems grow. A good approach is to prepare, stay calm, describe specific behaviour and ask questions before drawing conclusions. The goal is not to win but to understand each other and find a way forward.</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difference between diversity and inclusion?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Diversity is who is in the room; inclusion is whether they are heard.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can inclusive leaders do in meetings?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Invite quiet people to speak, share agendas in advance, rotate leadership and welcome disagreement.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approach does the text suggest for difficult conversations?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Prepare, stay calm, describe specific behaviour and ask questions before drawing conclusions.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Inclusion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包容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inclusion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包容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“Inclusion is about belonging.”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diversity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多元化</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value diversity in our team.”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welcome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欢迎</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welcome new ideas.”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include / involve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包括 / 使参与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include everyone in the invite.”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marginalised</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被边缘化的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voices feel marginalised.”</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sensitive topic</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敏感话题</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“Politics can be a sensitive topic.”</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Speaking honestly and kindly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坦诚而友善地沟通</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difficult conversation</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艰难的对话</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 to have a difficult conversation with him.”</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draw someone out</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引导某人开口</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draws out quieter team members.”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tread carefully</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谨慎行事</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tread carefully on this issue.”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everyone on board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让大家都支持</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get everyone on board.”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clear the air</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消除误会</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better to clear the air.”</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common ground</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共同点</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find some common ground.”</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被边缘化的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marginalised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欢迎</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welcome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包括 / 使参与</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include / involve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消除误会</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clear the air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包容</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inclusion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敏感话题</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sensitive topic</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让大家都支持</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everyone on board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多元化</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diversity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Inclusion</a:t>
            </a:r>
          </a:p>
        </p:txBody>
      </p:sp>
      <p:sp>
        <p:nvSpPr>
          <p:cNvPr id="10" name="Rounded Rectangle 9"/>
          <p:cNvSpPr/>
          <p:nvPr/>
        </p:nvSpPr>
        <p:spPr>
          <a:xfrm>
            <a:off x="345643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diversity</a:t>
            </a:r>
          </a:p>
        </p:txBody>
      </p:sp>
      <p:sp>
        <p:nvSpPr>
          <p:cNvPr id="11" name="Rounded Rectangle 10"/>
          <p:cNvSpPr/>
          <p:nvPr/>
        </p:nvSpPr>
        <p:spPr>
          <a:xfrm>
            <a:off x="4901184"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marginalised</a:t>
            </a:r>
          </a:p>
        </p:txBody>
      </p:sp>
      <p:sp>
        <p:nvSpPr>
          <p:cNvPr id="12" name="Rounded Rectangle 11"/>
          <p:cNvSpPr/>
          <p:nvPr/>
        </p:nvSpPr>
        <p:spPr>
          <a:xfrm>
            <a:off x="6675119" y="987552"/>
            <a:ext cx="277977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difficult conversation</a:t>
            </a:r>
          </a:p>
        </p:txBody>
      </p:sp>
      <p:sp>
        <p:nvSpPr>
          <p:cNvPr id="13" name="Rounded Rectangle 12"/>
          <p:cNvSpPr/>
          <p:nvPr/>
        </p:nvSpPr>
        <p:spPr>
          <a:xfrm>
            <a:off x="9546334"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clear the air</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1.  _______ means making sure everyone can take part and be heard.</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Inclusion</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2.  We value _______ in our recruitment.</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diversity</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3.  Some team members felt _______ because their ideas were ignored.</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marginalised</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4.  I need to have a _______ with a colleague about the deadline.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difficult conversation</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5.  A short chat helped to _______ after the argument.</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clear the air</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6.  Let’s find some _______ before we make a final decision.</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common ground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inclusion, diversity, marginalised (US marginalized). Have a conversation (not “make”), talk to / with someone, discuss + object (no “about”): “discuss the issue”. Feel included (not “feel inclusion”).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Having a difficult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一场艰难的对话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teammate, Ravi, keeps interrupting you in meetings. You ask to talk privately.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Elena Park, teammate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Ravi Shah, colleague</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Having a difficult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Elena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Ravi, do you have ten minutes this afternoon? I’d like to talk about something.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Ravi</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Is everything all right?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nothing serious. I’d like to talk about how we work together in meetings.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go ahead.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the last two meetings, I’ve been interrupted a few times before I finished my point. I found it hard to get my ideas across.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I didn’t realise. I get excited and jump in.</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Having a difficult conversation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and I value your energy. It would help me if I could finish before you add your thoughts.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I’ll try to wait. Thanks for telling me directly.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listening. What’s your take on how meetings are going?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I sometimes feel we don’t hear from Priya. Maybe we could invite her opinion more.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Let’s do that together.</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And please remind me if I jump in again.</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Having a difficult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start a difficult conversation about a behaviour.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raises an issue with you: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is surprised but willing to listen.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 we talk · I’d like to understand · what’s your take · it would help if · common ground · clear the air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permission, describe facts, listen and agree a change.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Ravi becomes defensive: “You’re being oversensitive.” Stay calm.</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Invite a quiet colleague to share an opinion in a meeting.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message to ask a colleague for a private chat.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does inclusion mean in your workplace?</a:t>
            </a:r>
          </a:p>
          <a:p>
            <a:pPr algn="l">
              <a:lnSpc>
                <a:spcPct val="115000"/>
              </a:lnSpc>
              <a:spcAft>
                <a:spcPts val="800"/>
              </a:spcAft>
            </a:pPr>
            <a:r>
              <a:rPr sz="1400" b="0">
                <a:solidFill>
                  <a:srgbClr val="5F677A"/>
                </a:solidFill>
                <a:latin typeface="Arial"/>
                <a:ea typeface="Microsoft YaHei"/>
              </a:rPr>
              <a:t>💬 “In my team, inclusion means… / People feel included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avoid difficult conversations?</a:t>
            </a:r>
          </a:p>
          <a:p>
            <a:pPr algn="l">
              <a:lnSpc>
                <a:spcPct val="115000"/>
              </a:lnSpc>
              <a:spcAft>
                <a:spcPts val="800"/>
              </a:spcAft>
            </a:pPr>
            <a:r>
              <a:rPr sz="1400" b="0">
                <a:solidFill>
                  <a:srgbClr val="5F677A"/>
                </a:solidFill>
                <a:latin typeface="Arial"/>
                <a:ea typeface="Microsoft YaHei"/>
              </a:rPr>
              <a:t>💬 “They may fear… / It can be uncomfortable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encourage quieter colleagues to contribute?</a:t>
            </a:r>
          </a:p>
          <a:p>
            <a:pPr algn="l">
              <a:lnSpc>
                <a:spcPct val="115000"/>
              </a:lnSpc>
              <a:spcAft>
                <a:spcPts val="800"/>
              </a:spcAft>
            </a:pPr>
            <a:r>
              <a:rPr sz="1400" b="0">
                <a:solidFill>
                  <a:srgbClr val="5F677A"/>
                </a:solidFill>
                <a:latin typeface="Arial"/>
                <a:ea typeface="Microsoft YaHei"/>
              </a:rPr>
              <a:t>💬 “I’d ask them directly… / I’d send the agenda in advance…”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topics should be avoided at work?</a:t>
            </a:r>
          </a:p>
          <a:p>
            <a:pPr algn="l">
              <a:lnSpc>
                <a:spcPct val="115000"/>
              </a:lnSpc>
              <a:spcAft>
                <a:spcPts val="800"/>
              </a:spcAft>
            </a:pPr>
            <a:r>
              <a:rPr sz="1400" b="0">
                <a:solidFill>
                  <a:srgbClr val="5F677A"/>
                </a:solidFill>
                <a:latin typeface="Arial"/>
                <a:ea typeface="Microsoft YaHei"/>
              </a:rPr>
              <a:t>💬 “I think topics like… can be sensitive because… / It depends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encourage quieter colleagues, I’d start by sending the agenda in advance, so they have time to think. In the meeting I’d invite them by name, with a low-pressure question like “You’ve worked with that client; what’s your view?” I’d also make sure no one interrupts them and thank them for their input. Some people prefer to contribute in writing, so I’d leave space for comments after the meeting as well.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low-pressure = 低压力的。”by name” = 点名。”leave space for” = 留出机会。input = 意见/贡献。</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You always interrupt me.</a:t>
                      </a:r>
                    </a:p>
                  </a:txBody>
                  <a:tcPr anchor="ctr">
                    <a:solidFill>
                      <a:srgbClr val="FFFFFF"/>
                    </a:solidFill>
                  </a:tcPr>
                </a:tc>
                <a:tc>
                  <a:txBody>
                    <a:bodyPr wrap="square"/>
                    <a:lstStyle/>
                    <a:p>
                      <a:r>
                        <a:rPr sz="1600" b="0">
                          <a:solidFill>
                            <a:srgbClr val="1F2A44"/>
                          </a:solidFill>
                          <a:latin typeface="Arial"/>
                          <a:ea typeface="Microsoft YaHei"/>
                        </a:rPr>
                        <a:t>I’ve noticed I was interrupted a few times in the meeting.</a:t>
                      </a:r>
                    </a:p>
                  </a:txBody>
                  <a:tcPr anchor="ctr">
                    <a:solidFill>
                      <a:srgbClr val="FFFFFF"/>
                    </a:solidFill>
                  </a:tcPr>
                </a:tc>
                <a:tc>
                  <a:txBody>
                    <a:bodyPr wrap="square"/>
                    <a:lstStyle/>
                    <a:p>
                      <a:r>
                        <a:rPr sz="1600" b="0">
                          <a:solidFill>
                            <a:srgbClr val="FF6B5B"/>
                          </a:solidFill>
                          <a:latin typeface="Arial"/>
                          <a:ea typeface="Microsoft YaHei"/>
                        </a:rPr>
                        <a:t>描述事实</a:t>
                      </a:r>
                    </a:p>
                  </a:txBody>
                  <a:tcPr anchor="ctr">
                    <a:solidFill>
                      <a:srgbClr val="FFFFFF"/>
                    </a:solidFill>
                  </a:tcPr>
                </a:tc>
              </a:tr>
              <a:tr h="652272">
                <a:tc>
                  <a:txBody>
                    <a:bodyPr wrap="square"/>
                    <a:lstStyle/>
                    <a:p>
                      <a:r>
                        <a:rPr sz="1600" b="1">
                          <a:solidFill>
                            <a:srgbClr val="1F2A44"/>
                          </a:solidFill>
                          <a:latin typeface="Arial"/>
                          <a:ea typeface="Microsoft YaHei"/>
                        </a:rPr>
                        <a:t>I need to talk to you.</a:t>
                      </a:r>
                    </a:p>
                  </a:txBody>
                  <a:tcPr anchor="ctr">
                    <a:solidFill>
                      <a:srgbClr val="FFEFD9"/>
                    </a:solidFill>
                  </a:tcPr>
                </a:tc>
                <a:tc>
                  <a:txBody>
                    <a:bodyPr wrap="square"/>
                    <a:lstStyle/>
                    <a:p>
                      <a:r>
                        <a:rPr sz="1600" b="0">
                          <a:solidFill>
                            <a:srgbClr val="1F2A44"/>
                          </a:solidFill>
                          <a:latin typeface="Arial"/>
                          <a:ea typeface="Microsoft YaHei"/>
                        </a:rPr>
                        <a:t>Do you have a few minutes to chat about something?</a:t>
                      </a:r>
                    </a:p>
                  </a:txBody>
                  <a:tcPr anchor="ctr">
                    <a:solidFill>
                      <a:srgbClr val="FFEFD9"/>
                    </a:solidFill>
                  </a:tcPr>
                </a:tc>
                <a:tc>
                  <a:txBody>
                    <a:bodyPr wrap="square"/>
                    <a:lstStyle/>
                    <a:p>
                      <a:r>
                        <a:rPr sz="1600" b="0">
                          <a:solidFill>
                            <a:srgbClr val="FF6B5B"/>
                          </a:solidFill>
                          <a:latin typeface="Arial"/>
                          <a:ea typeface="Microsoft YaHei"/>
                        </a:rPr>
                        <a:t>缓和语气</a:t>
                      </a:r>
                    </a:p>
                  </a:txBody>
                  <a:tcPr anchor="ctr">
                    <a:solidFill>
                      <a:srgbClr val="FFEFD9"/>
                    </a:solidFill>
                  </a:tcPr>
                </a:tc>
              </a:tr>
              <a:tr h="652272">
                <a:tc>
                  <a:txBody>
                    <a:bodyPr wrap="square"/>
                    <a:lstStyle/>
                    <a:p>
                      <a:r>
                        <a:rPr sz="1600" b="1">
                          <a:solidFill>
                            <a:srgbClr val="1F2A44"/>
                          </a:solidFill>
                          <a:latin typeface="Arial"/>
                          <a:ea typeface="Microsoft YaHei"/>
                        </a:rPr>
                        <a:t>Why did you do that?</a:t>
                      </a:r>
                    </a:p>
                  </a:txBody>
                  <a:tcPr anchor="ctr">
                    <a:solidFill>
                      <a:srgbClr val="FFFFFF"/>
                    </a:solidFill>
                  </a:tcPr>
                </a:tc>
                <a:tc>
                  <a:txBody>
                    <a:bodyPr wrap="square"/>
                    <a:lstStyle/>
                    <a:p>
                      <a:r>
                        <a:rPr sz="1600" b="0">
                          <a:solidFill>
                            <a:srgbClr val="1F2A44"/>
                          </a:solidFill>
                          <a:latin typeface="Arial"/>
                          <a:ea typeface="Microsoft YaHei"/>
                        </a:rPr>
                        <a:t>Could you help me understand what happened?</a:t>
                      </a:r>
                    </a:p>
                  </a:txBody>
                  <a:tcPr anchor="ctr">
                    <a:solidFill>
                      <a:srgbClr val="FFFFFF"/>
                    </a:solidFill>
                  </a:tcPr>
                </a:tc>
                <a:tc>
                  <a:txBody>
                    <a:bodyPr wrap="square"/>
                    <a:lstStyle/>
                    <a:p>
                      <a:r>
                        <a:rPr sz="1600" b="0">
                          <a:solidFill>
                            <a:srgbClr val="FF6B5B"/>
                          </a:solidFill>
                          <a:latin typeface="Arial"/>
                          <a:ea typeface="Microsoft YaHei"/>
                        </a:rPr>
                        <a:t>提问不指责</a:t>
                      </a:r>
                    </a:p>
                  </a:txBody>
                  <a:tcPr anchor="ctr">
                    <a:solidFill>
                      <a:srgbClr val="FFFFFF"/>
                    </a:solidFill>
                  </a:tcPr>
                </a:tc>
              </a:tr>
              <a:tr h="408432">
                <a:tc>
                  <a:txBody>
                    <a:bodyPr wrap="square"/>
                    <a:lstStyle/>
                    <a:p>
                      <a:r>
                        <a:rPr sz="1600" b="1">
                          <a:solidFill>
                            <a:srgbClr val="1F2A44"/>
                          </a:solidFill>
                          <a:latin typeface="Arial"/>
                          <a:ea typeface="Microsoft YaHei"/>
                        </a:rPr>
                        <a:t>You’re wrong.</a:t>
                      </a:r>
                    </a:p>
                  </a:txBody>
                  <a:tcPr anchor="ctr">
                    <a:solidFill>
                      <a:srgbClr val="FFEFD9"/>
                    </a:solidFill>
                  </a:tcPr>
                </a:tc>
                <a:tc>
                  <a:txBody>
                    <a:bodyPr wrap="square"/>
                    <a:lstStyle/>
                    <a:p>
                      <a:r>
                        <a:rPr sz="1600" b="0">
                          <a:solidFill>
                            <a:srgbClr val="1F2A44"/>
                          </a:solidFill>
                          <a:latin typeface="Arial"/>
                          <a:ea typeface="Microsoft YaHei"/>
                        </a:rPr>
                        <a:t>I see it a bit differently.</a:t>
                      </a:r>
                    </a:p>
                  </a:txBody>
                  <a:tcPr anchor="ctr">
                    <a:solidFill>
                      <a:srgbClr val="FFEFD9"/>
                    </a:solidFill>
                  </a:tcPr>
                </a:tc>
                <a:tc>
                  <a:txBody>
                    <a:bodyPr wrap="square"/>
                    <a:lstStyle/>
                    <a:p>
                      <a:r>
                        <a:rPr sz="1600" b="0">
                          <a:solidFill>
                            <a:srgbClr val="FF6B5B"/>
                          </a:solidFill>
                          <a:latin typeface="Arial"/>
                          <a:ea typeface="Microsoft YaHei"/>
                        </a:rPr>
                        <a:t>委婉不同意</a:t>
                      </a:r>
                    </a:p>
                  </a:txBody>
                  <a:tcPr anchor="ctr">
                    <a:solidFill>
                      <a:srgbClr val="FFEFD9"/>
                    </a:solidFill>
                  </a:tcPr>
                </a:tc>
              </a:tr>
              <a:tr h="408432">
                <a:tc>
                  <a:txBody>
                    <a:bodyPr wrap="square"/>
                    <a:lstStyle/>
                    <a:p>
                      <a:r>
                        <a:rPr sz="1600" b="1">
                          <a:solidFill>
                            <a:srgbClr val="1F2A44"/>
                          </a:solidFill>
                          <a:latin typeface="Arial"/>
                          <a:ea typeface="Microsoft YaHei"/>
                        </a:rPr>
                        <a:t>Let’s forget it.</a:t>
                      </a:r>
                    </a:p>
                  </a:txBody>
                  <a:tcPr anchor="ctr">
                    <a:solidFill>
                      <a:srgbClr val="FFFFFF"/>
                    </a:solidFill>
                  </a:tcPr>
                </a:tc>
                <a:tc>
                  <a:txBody>
                    <a:bodyPr wrap="square"/>
                    <a:lstStyle/>
                    <a:p>
                      <a:r>
                        <a:rPr sz="1600" b="0">
                          <a:solidFill>
                            <a:srgbClr val="1F2A44"/>
                          </a:solidFill>
                          <a:latin typeface="Arial"/>
                          <a:ea typeface="Microsoft YaHei"/>
                        </a:rPr>
                        <a:t>Let’s move forward from here.</a:t>
                      </a:r>
                    </a:p>
                  </a:txBody>
                  <a:tcPr anchor="ctr">
                    <a:solidFill>
                      <a:srgbClr val="FFFFFF"/>
                    </a:solidFill>
                  </a:tcPr>
                </a:tc>
                <a:tc>
                  <a:txBody>
                    <a:bodyPr wrap="square"/>
                    <a:lstStyle/>
                    <a:p>
                      <a:r>
                        <a:rPr sz="1600" b="0">
                          <a:solidFill>
                            <a:srgbClr val="FF6B5B"/>
                          </a:solidFill>
                          <a:latin typeface="Arial"/>
                          <a:ea typeface="Microsoft YaHei"/>
                        </a:rPr>
                        <a:t>积极收尾</a:t>
                      </a:r>
                    </a:p>
                  </a:txBody>
                  <a:tcPr anchor="ctr">
                    <a:solidFill>
                      <a:srgbClr val="FFFFFF"/>
                    </a:solidFill>
                  </a:tcPr>
                </a:tc>
              </a:tr>
            </a:tbl>
          </a:graphicData>
        </a:graphic>
      </p:graphicFrame>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I-statements: </a:t>
            </a:r>
            <a:r>
              <a:rPr sz="1700" b="0">
                <a:solidFill>
                  <a:srgbClr val="1F2A44"/>
                </a:solidFill>
                <a:latin typeface="Arial"/>
                <a:ea typeface="Microsoft YaHei"/>
              </a:rPr>
              <a:t>I feel… when… because… instead of You always….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Softeners: </a:t>
            </a:r>
            <a:r>
              <a:rPr sz="1700" b="0">
                <a:solidFill>
                  <a:srgbClr val="1F2A44"/>
                </a:solidFill>
                <a:latin typeface="Arial"/>
                <a:ea typeface="Microsoft YaHei"/>
              </a:rPr>
              <a:t>a bit, a little, sort of, I wonder if… — use them to soften, not to hide the message.</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Open questions: </a:t>
            </a:r>
            <a:r>
              <a:rPr sz="1700" b="0">
                <a:solidFill>
                  <a:srgbClr val="1F2A44"/>
                </a:solidFill>
                <a:latin typeface="Arial"/>
                <a:ea typeface="Microsoft YaHei"/>
              </a:rPr>
              <a:t>What’s your take? How do you see it? — avoid “Why?” which can sound accusing.</a:t>
            </a:r>
          </a:p>
        </p:txBody>
      </p:sp>
      <p:sp>
        <p:nvSpPr>
          <p:cNvPr id="17" name="Rounded Rectangle 16"/>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Past simple vs present perfect: </a:t>
            </a:r>
            <a:r>
              <a:rPr sz="1700" b="0">
                <a:solidFill>
                  <a:srgbClr val="1F2A44"/>
                </a:solidFill>
                <a:latin typeface="Arial"/>
                <a:ea typeface="Microsoft YaHei"/>
              </a:rPr>
              <a:t>“I’ve been interrupted twice this week.” (recent) vs “You interrupted me yesterday.” (specific time)</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discuss about the problem.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discuss the problem.</a:t>
            </a:r>
          </a:p>
          <a:p>
            <a:pPr algn="l">
              <a:spcAft>
                <a:spcPts val="200"/>
              </a:spcAft>
            </a:pPr>
            <a:r>
              <a:rPr sz="1200" b="0">
                <a:solidFill>
                  <a:srgbClr val="FFFFFF"/>
                </a:solidFill>
                <a:latin typeface="Arial"/>
                <a:ea typeface="Microsoft YaHei"/>
              </a:rPr>
              <a:t>discuss 后无 about</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are rude person.</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came across as rude. / That felt rude to me.</a:t>
            </a:r>
          </a:p>
          <a:p>
            <a:pPr algn="l">
              <a:spcAft>
                <a:spcPts val="200"/>
              </a:spcAft>
            </a:pPr>
            <a:r>
              <a:rPr sz="1200" b="0">
                <a:solidFill>
                  <a:srgbClr val="FFFFFF"/>
                </a:solidFill>
                <a:latin typeface="Arial"/>
                <a:ea typeface="Microsoft YaHei"/>
              </a:rPr>
              <a:t>评价行为</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marginalised by the team since I joined.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felt marginalised since I joined.</a:t>
            </a:r>
          </a:p>
          <a:p>
            <a:pPr algn="l">
              <a:spcAft>
                <a:spcPts val="200"/>
              </a:spcAft>
            </a:pPr>
            <a:r>
              <a:rPr sz="1200" b="0">
                <a:solidFill>
                  <a:srgbClr val="FFFFFF"/>
                </a:solidFill>
                <a:latin typeface="Arial"/>
                <a:ea typeface="Microsoft YaHei"/>
              </a:rPr>
              <a:t>since + 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Everyone are invited.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Everyone is invited.</a:t>
            </a:r>
          </a:p>
          <a:p>
            <a:pPr algn="l">
              <a:spcAft>
                <a:spcPts val="200"/>
              </a:spcAft>
            </a:pPr>
            <a:r>
              <a:rPr sz="1200" b="0">
                <a:solidFill>
                  <a:srgbClr val="FFFFFF"/>
                </a:solidFill>
                <a:latin typeface="Arial"/>
                <a:ea typeface="Microsoft YaHei"/>
              </a:rPr>
              <a:t>everyone 为单数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conversation to make a decision.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had a conversation and made a decision.</a:t>
            </a:r>
          </a:p>
          <a:p>
            <a:pPr algn="l">
              <a:spcAft>
                <a:spcPts val="200"/>
              </a:spcAft>
            </a:pPr>
            <a:r>
              <a:rPr sz="1200" b="0">
                <a:solidFill>
                  <a:srgbClr val="FFFFFF"/>
                </a:solidFill>
                <a:latin typeface="Arial"/>
                <a:ea typeface="Microsoft YaHei"/>
              </a:rPr>
              <a:t>have a conversation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do not take it personal.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don’t take it personally.</a:t>
            </a:r>
          </a:p>
          <a:p>
            <a:pPr algn="l">
              <a:spcAft>
                <a:spcPts val="200"/>
              </a:spcAft>
            </a:pPr>
            <a:r>
              <a:rPr sz="1200" b="0">
                <a:solidFill>
                  <a:srgbClr val="FFFFFF"/>
                </a:solidFill>
                <a:latin typeface="Arial"/>
                <a:ea typeface="Microsoft YaHei"/>
              </a:rPr>
              <a:t>副词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discuss (no about), everyone + singular verb, and take it personally.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Indirect or direct: </a:t>
            </a:r>
            <a:r>
              <a:rPr sz="1700" b="0">
                <a:solidFill>
                  <a:srgbClr val="1F2A44"/>
                </a:solidFill>
                <a:latin typeface="Arial"/>
                <a:ea typeface="Microsoft YaHei"/>
              </a:rPr>
              <a:t>Many English speakers soften criticism, but expect a clear message. Say what you mean, kindly.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Politics and religion: </a:t>
            </a:r>
            <a:r>
              <a:rPr sz="1700" b="0">
                <a:solidFill>
                  <a:srgbClr val="1F2A44"/>
                </a:solidFill>
                <a:latin typeface="Arial"/>
                <a:ea typeface="Microsoft YaHei"/>
              </a:rPr>
              <a:t>In the US and UK, politics, religion and money are often avoided in casual work conversation.</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Name pronunciation: </a:t>
            </a:r>
            <a:r>
              <a:rPr sz="1700" b="0">
                <a:solidFill>
                  <a:srgbClr val="1F2A44"/>
                </a:solidFill>
                <a:latin typeface="Arial"/>
                <a:ea typeface="Microsoft YaHei"/>
              </a:rPr>
              <a:t>Learning how to say a colleague’s name correctly is a small but meaningful act of inclusion.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discuss 后面不加 about。everyone 后接单数动词。“我觉得你很无礼”不如说“那让我觉得不被尊重”,用 I-statements 谈感受。</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start a difficult conversation tactfully.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invite quieter colleagues to contribute.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I-statements and softeners.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discuss (without about) and everyone + singular verb.</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35 Everyone’s Invited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discuss without about, everyone + singular verb, and I-statements.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 · Lesson 36 The Benefits of Conflict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Benefits of Conflict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冲突的好处</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healthy disagreement at work: why conflict can be useful, how to disagree constructively and how to resolve disputes.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avoid conflict or face it directly?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think of a time when disagreement led to a better result?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healthy and unhealthy conflict?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disagree with your boss politely?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a manager do when two team members are in conflict?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conflict 不一定是吵架,也可以指意见分歧。healthy conflict = 良性冲突。第 4 题可用 “I see your point,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Disagree with a colleague constructively and reach a compromise.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acknowledge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disagree politely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give reasons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propose a compromise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see where you’re coming from, but…   💬 My concern is that…   💬 Could we meet halfway?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 see where you’re coming from = 我理解你的出发点。meet halfway = 各让一步。</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Disagree and Grow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of us have been taught that conflict is bad. In fact, a team without disagreement may be a team without honest thinking. When people challenge each other’s assumptions, ideas improve and mistakes are caught early. The difference lies in how the disagreement is handled. Healthy conflict focuses on the problem, not on the person; it uses facts, listens carefully and ends with a decision that everyone can support, even if not everyone agrees with it. Unhealthy conflict becomes personal, involves sarcasm or silent resentment and leaves damage behind. Leaders can encourage the first kind by asking for dissenting views, thanking people who challenge them and setting simple ground rules. When two colleagues cannot resolve their dispute alone, a neutral third person can help them find common ground.</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can a team without disagreement be a problem?</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may be a team without honest thinking; no one challenges assumptions.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does healthy conflict differ from unhealthy conflict?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Healthy focuses on the problem, uses facts, listens and ends with a supported decision; unhealthy is personal, sarcastic or resentful.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can leaders do to encourage healthy conflict?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Ask for dissenting views, thank people who challenge them and set ground rules.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Conflict and disagreement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冲突与分歧</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disagreement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意见分歧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had a disagreement about the budget.”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conflict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冲突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“Conflicts happen in every team.”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compromise</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妥协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reached a compromise.”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constructive</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建设性的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welcome constructive criticism.”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mediate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调解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“HR mediated between the two teams.”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resolve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解决</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resolved the issue quickly.”</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Handling disagreement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处理分歧</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agree to disagree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求同存异</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agree to disagree on this one.”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meet halfway</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各让一步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we meet halfway?”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see eye to eye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看法一致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don’t always see eye to eye.”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play devil’s advocate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唱反调(为讨论)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play devil’s advocate for a moment.”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escalate / de-escalate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升级 / 缓和</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tried to de-escalate the situation.”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it personally</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往心里去</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don’t take it personally.”</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求同存异</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agree to disagree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升级 / 缓和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escalate / de-escalate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妥协</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compromise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冲突</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conflict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意见分歧</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disagreement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看法一致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 eye to eye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各让一步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meet halfway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解决</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resolve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disagreement</a:t>
            </a:r>
          </a:p>
        </p:txBody>
      </p:sp>
      <p:sp>
        <p:nvSpPr>
          <p:cNvPr id="10" name="Rounded Rectangle 9"/>
          <p:cNvSpPr/>
          <p:nvPr/>
        </p:nvSpPr>
        <p:spPr>
          <a:xfrm>
            <a:off x="3785615"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compromise</a:t>
            </a:r>
          </a:p>
        </p:txBody>
      </p:sp>
      <p:sp>
        <p:nvSpPr>
          <p:cNvPr id="11" name="Rounded Rectangle 10"/>
          <p:cNvSpPr/>
          <p:nvPr/>
        </p:nvSpPr>
        <p:spPr>
          <a:xfrm>
            <a:off x="5340095"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constructive</a:t>
            </a:r>
          </a:p>
        </p:txBody>
      </p:sp>
      <p:sp>
        <p:nvSpPr>
          <p:cNvPr id="12" name="Rounded Rectangle 11"/>
          <p:cNvSpPr/>
          <p:nvPr/>
        </p:nvSpPr>
        <p:spPr>
          <a:xfrm>
            <a:off x="7114030"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mediate</a:t>
            </a:r>
          </a:p>
        </p:txBody>
      </p:sp>
      <p:sp>
        <p:nvSpPr>
          <p:cNvPr id="13" name="Rounded Rectangle 12"/>
          <p:cNvSpPr/>
          <p:nvPr/>
        </p:nvSpPr>
        <p:spPr>
          <a:xfrm>
            <a:off x="8339326" y="987552"/>
            <a:ext cx="190195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see eye to eye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had a _______ about the budget.</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disagreement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After a long talk, we reached a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compromise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welcome _______ criticism.</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constructive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HR was asked to _______ between the two teams.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mediate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don’t always _______ on strategy.</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 eye to eye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Please don’t _______. I’m just challenging the idea.</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it personally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argument / argue (argue with sb, about / over sth), disagree with (not “disagree to”), compromise (not “compramise”). Reach a compromise (not “make”), have a disagreement. Agree with a person, agree to a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Disagreeing constructively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建设性地表达不同意见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colleague, Tom, disagree about whether to launch a product in March or June.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Nina Shao, product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Evans, marketing manager</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Disagreeing constructively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 I see where you’re coming from, but I’m worried a March launch is too early.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We’ve already told two partners it’s March.</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My concern is that testing isn’t finished. If we launch with bugs, it could damage the brand.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waiting means we miss the spring season. That’s our best sales period.</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Could we meet halfway? A soft launch in April for key customers?</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That could work. We’d still reach the spring market.</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Disagreeing constructively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we’d get feedback before the full launch in June.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that. But I’d need the partners to be informed this week.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draft the message today. Shall I send it to you first?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Thanks for being open to a compromise.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Likewise. I think the disagreement made the plan better.</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Let’s not take it personally next time.</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Disagreeing constructively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disagree about a plan and find a compromise.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preference: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a different preference. Competent and willing to compromise.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see where you’re coming from · my concern is · meet halfway · compromise · agree to disagree · constructive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disagree politely, give a reason and propose a compromise.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Tom says: “You’re always negative.” React without escalating.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cannot reach a compromise. Use “agree to disagree” and decide how to proceed.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manager. Mediate between two colleagues who disagree.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conflict at work always a bad thing?</a:t>
            </a:r>
          </a:p>
          <a:p>
            <a:pPr algn="l">
              <a:lnSpc>
                <a:spcPct val="115000"/>
              </a:lnSpc>
              <a:spcAft>
                <a:spcPts val="800"/>
              </a:spcAft>
            </a:pPr>
            <a:r>
              <a:rPr sz="1400" b="0">
                <a:solidFill>
                  <a:srgbClr val="5F677A"/>
                </a:solidFill>
                <a:latin typeface="Arial"/>
                <a:ea typeface="Microsoft YaHei"/>
              </a:rPr>
              <a:t>💬 “Not necessarily. It can be useful when… / It becomes a problem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usually respond when someone disagrees with you?</a:t>
            </a:r>
          </a:p>
          <a:p>
            <a:pPr algn="l">
              <a:lnSpc>
                <a:spcPct val="115000"/>
              </a:lnSpc>
              <a:spcAft>
                <a:spcPts val="800"/>
              </a:spcAft>
            </a:pPr>
            <a:r>
              <a:rPr sz="1400" b="0">
                <a:solidFill>
                  <a:srgbClr val="5F677A"/>
                </a:solidFill>
                <a:latin typeface="Arial"/>
                <a:ea typeface="Microsoft YaHei"/>
              </a:rPr>
              <a:t>💬 “I try to… / My first reaction is…”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disagree with your boss? How?</a:t>
            </a:r>
          </a:p>
          <a:p>
            <a:pPr algn="l">
              <a:lnSpc>
                <a:spcPct val="115000"/>
              </a:lnSpc>
              <a:spcAft>
                <a:spcPts val="800"/>
              </a:spcAft>
            </a:pPr>
            <a:r>
              <a:rPr sz="1400" b="0">
                <a:solidFill>
                  <a:srgbClr val="5F677A"/>
                </a:solidFill>
                <a:latin typeface="Arial"/>
                <a:ea typeface="Microsoft YaHei"/>
              </a:rPr>
              <a:t>💬 “Yes, as long as I… / I’d choose a private moment 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manager do when two employees are in conflict?</a:t>
            </a:r>
          </a:p>
          <a:p>
            <a:pPr algn="l">
              <a:lnSpc>
                <a:spcPct val="115000"/>
              </a:lnSpc>
              <a:spcAft>
                <a:spcPts val="800"/>
              </a:spcAft>
            </a:pPr>
            <a:r>
              <a:rPr sz="1400" b="0">
                <a:solidFill>
                  <a:srgbClr val="5F677A"/>
                </a:solidFill>
                <a:latin typeface="Arial"/>
                <a:ea typeface="Microsoft YaHei"/>
              </a:rPr>
              <a:t>💬 “They should first… then… / It’s important to stay neutral.”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First, a manager should talk to each person separately and listen without taking sides. Then, if appropriate, they can bring both together to focus on the problem rather than the personalities. It’s important to stay neutral, agree some ground rules and ask each person what a good outcome would look like. If they still can’t agree, the manager may need to make a decision and explain the reasons clearly.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take sides = 站队。”ground rules” = 基本规则。outcome = 结果。”focus on… rather than…” 重点在……而非……。</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I disagree.</a:t>
                      </a:r>
                    </a:p>
                  </a:txBody>
                  <a:tcPr anchor="ctr">
                    <a:solidFill>
                      <a:srgbClr val="FFFFFF"/>
                    </a:solidFill>
                  </a:tcPr>
                </a:tc>
                <a:tc>
                  <a:txBody>
                    <a:bodyPr wrap="square"/>
                    <a:lstStyle/>
                    <a:p>
                      <a:r>
                        <a:rPr sz="1600" b="0">
                          <a:solidFill>
                            <a:srgbClr val="1F2A44"/>
                          </a:solidFill>
                          <a:latin typeface="Arial"/>
                          <a:ea typeface="Microsoft YaHei"/>
                        </a:rPr>
                        <a:t>I see it a bit differently.</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r h="652272">
                <a:tc>
                  <a:txBody>
                    <a:bodyPr wrap="square"/>
                    <a:lstStyle/>
                    <a:p>
                      <a:r>
                        <a:rPr sz="1600" b="1">
                          <a:solidFill>
                            <a:srgbClr val="1F2A44"/>
                          </a:solidFill>
                          <a:latin typeface="Arial"/>
                          <a:ea typeface="Microsoft YaHei"/>
                        </a:rPr>
                        <a:t>You are wrong.</a:t>
                      </a:r>
                    </a:p>
                  </a:txBody>
                  <a:tcPr anchor="ctr">
                    <a:solidFill>
                      <a:srgbClr val="FFEFD9"/>
                    </a:solidFill>
                  </a:tcPr>
                </a:tc>
                <a:tc>
                  <a:txBody>
                    <a:bodyPr wrap="square"/>
                    <a:lstStyle/>
                    <a:p>
                      <a:r>
                        <a:rPr sz="1600" b="0">
                          <a:solidFill>
                            <a:srgbClr val="1F2A44"/>
                          </a:solidFill>
                          <a:latin typeface="Arial"/>
                          <a:ea typeface="Microsoft YaHei"/>
                        </a:rPr>
                        <a:t>I’m not sure that’s accurate. Could you show me the data?</a:t>
                      </a:r>
                    </a:p>
                  </a:txBody>
                  <a:tcPr anchor="ctr">
                    <a:solidFill>
                      <a:srgbClr val="FFEFD9"/>
                    </a:solidFill>
                  </a:tcPr>
                </a:tc>
                <a:tc>
                  <a:txBody>
                    <a:bodyPr wrap="square"/>
                    <a:lstStyle/>
                    <a:p>
                      <a:r>
                        <a:rPr sz="1600" b="0">
                          <a:solidFill>
                            <a:srgbClr val="FF6B5B"/>
                          </a:solidFill>
                          <a:latin typeface="Arial"/>
                          <a:ea typeface="Microsoft YaHei"/>
                        </a:rPr>
                        <a:t>针对事实</a:t>
                      </a:r>
                    </a:p>
                  </a:txBody>
                  <a:tcPr anchor="ctr">
                    <a:solidFill>
                      <a:srgbClr val="FFEFD9"/>
                    </a:solidFill>
                  </a:tcPr>
                </a:tc>
              </a:tr>
              <a:tr h="652272">
                <a:tc>
                  <a:txBody>
                    <a:bodyPr wrap="square"/>
                    <a:lstStyle/>
                    <a:p>
                      <a:r>
                        <a:rPr sz="1600" b="1">
                          <a:solidFill>
                            <a:srgbClr val="1F2A44"/>
                          </a:solidFill>
                          <a:latin typeface="Arial"/>
                          <a:ea typeface="Microsoft YaHei"/>
                        </a:rPr>
                        <a:t>Why are you so negative?</a:t>
                      </a:r>
                    </a:p>
                  </a:txBody>
                  <a:tcPr anchor="ctr">
                    <a:solidFill>
                      <a:srgbClr val="FFFFFF"/>
                    </a:solidFill>
                  </a:tcPr>
                </a:tc>
                <a:tc>
                  <a:txBody>
                    <a:bodyPr wrap="square"/>
                    <a:lstStyle/>
                    <a:p>
                      <a:r>
                        <a:rPr sz="1600" b="0">
                          <a:solidFill>
                            <a:srgbClr val="1F2A44"/>
                          </a:solidFill>
                          <a:latin typeface="Arial"/>
                          <a:ea typeface="Microsoft YaHei"/>
                        </a:rPr>
                        <a:t>I think we might be missing some benefits.</a:t>
                      </a:r>
                    </a:p>
                  </a:txBody>
                  <a:tcPr anchor="ctr">
                    <a:solidFill>
                      <a:srgbClr val="FFFFFF"/>
                    </a:solidFill>
                  </a:tcPr>
                </a:tc>
                <a:tc>
                  <a:txBody>
                    <a:bodyPr wrap="square"/>
                    <a:lstStyle/>
                    <a:p>
                      <a:r>
                        <a:rPr sz="1600" b="0">
                          <a:solidFill>
                            <a:srgbClr val="FF6B5B"/>
                          </a:solidFill>
                          <a:latin typeface="Arial"/>
                          <a:ea typeface="Microsoft YaHei"/>
                        </a:rPr>
                        <a:t>避免攻击</a:t>
                      </a:r>
                    </a:p>
                  </a:txBody>
                  <a:tcPr anchor="ctr">
                    <a:solidFill>
                      <a:srgbClr val="FFFFFF"/>
                    </a:solidFill>
                  </a:tcPr>
                </a:tc>
              </a:tr>
              <a:tr h="652272">
                <a:tc>
                  <a:txBody>
                    <a:bodyPr wrap="square"/>
                    <a:lstStyle/>
                    <a:p>
                      <a:r>
                        <a:rPr sz="1600" b="1">
                          <a:solidFill>
                            <a:srgbClr val="1F2A44"/>
                          </a:solidFill>
                          <a:latin typeface="Arial"/>
                          <a:ea typeface="Microsoft YaHei"/>
                        </a:rPr>
                        <a:t>We have to stop this.</a:t>
                      </a:r>
                    </a:p>
                  </a:txBody>
                  <a:tcPr anchor="ctr">
                    <a:solidFill>
                      <a:srgbClr val="FFEFD9"/>
                    </a:solidFill>
                  </a:tcPr>
                </a:tc>
                <a:tc>
                  <a:txBody>
                    <a:bodyPr wrap="square"/>
                    <a:lstStyle/>
                    <a:p>
                      <a:r>
                        <a:rPr sz="1600" b="0">
                          <a:solidFill>
                            <a:srgbClr val="1F2A44"/>
                          </a:solidFill>
                          <a:latin typeface="Arial"/>
                          <a:ea typeface="Microsoft YaHei"/>
                        </a:rPr>
                        <a:t>Let’s take a step back and look at the facts.</a:t>
                      </a:r>
                    </a:p>
                  </a:txBody>
                  <a:tcPr anchor="ctr">
                    <a:solidFill>
                      <a:srgbClr val="FFEFD9"/>
                    </a:solidFill>
                  </a:tcPr>
                </a:tc>
                <a:tc>
                  <a:txBody>
                    <a:bodyPr wrap="square"/>
                    <a:lstStyle/>
                    <a:p>
                      <a:r>
                        <a:rPr sz="1600" b="0">
                          <a:solidFill>
                            <a:srgbClr val="FF6B5B"/>
                          </a:solidFill>
                          <a:latin typeface="Arial"/>
                          <a:ea typeface="Microsoft YaHei"/>
                        </a:rPr>
                        <a:t>缓和</a:t>
                      </a:r>
                    </a:p>
                  </a:txBody>
                  <a:tcPr anchor="ctr">
                    <a:solidFill>
                      <a:srgbClr val="FFEFD9"/>
                    </a:solidFill>
                  </a:tcPr>
                </a:tc>
              </a:tr>
              <a:tr h="896111">
                <a:tc>
                  <a:txBody>
                    <a:bodyPr wrap="square"/>
                    <a:lstStyle/>
                    <a:p>
                      <a:r>
                        <a:rPr sz="1600" b="1">
                          <a:solidFill>
                            <a:srgbClr val="1F2A44"/>
                          </a:solidFill>
                          <a:latin typeface="Arial"/>
                          <a:ea typeface="Microsoft YaHei"/>
                        </a:rPr>
                        <a:t>OK, I accept.</a:t>
                      </a:r>
                    </a:p>
                  </a:txBody>
                  <a:tcPr anchor="ctr">
                    <a:solidFill>
                      <a:srgbClr val="FFFFFF"/>
                    </a:solidFill>
                  </a:tcPr>
                </a:tc>
                <a:tc>
                  <a:txBody>
                    <a:bodyPr wrap="square"/>
                    <a:lstStyle/>
                    <a:p>
                      <a:r>
                        <a:rPr sz="1600" b="0">
                          <a:solidFill>
                            <a:srgbClr val="1F2A44"/>
                          </a:solidFill>
                          <a:latin typeface="Arial"/>
                          <a:ea typeface="Microsoft YaHei"/>
                        </a:rPr>
                        <a:t>I’m happy to go along with that, although I still have a few concerns.</a:t>
                      </a:r>
                    </a:p>
                  </a:txBody>
                  <a:tcPr anchor="ctr">
                    <a:solidFill>
                      <a:srgbClr val="FFFFFF"/>
                    </a:solidFill>
                  </a:tcPr>
                </a:tc>
                <a:tc>
                  <a:txBody>
                    <a:bodyPr wrap="square"/>
                    <a:lstStyle/>
                    <a:p>
                      <a:r>
                        <a:rPr sz="1600" b="0">
                          <a:solidFill>
                            <a:srgbClr val="FF6B5B"/>
                          </a:solidFill>
                          <a:latin typeface="Arial"/>
                          <a:ea typeface="Microsoft YaHei"/>
                        </a:rPr>
                        <a:t>说明保留</a:t>
                      </a:r>
                    </a:p>
                  </a:txBody>
                  <a:tcPr anchor="ctr">
                    <a:solidFill>
                      <a:srgbClr val="FFFFFF"/>
                    </a:solidFill>
                  </a:tcPr>
                </a:tc>
              </a:tr>
            </a:tbl>
          </a:graphicData>
        </a:graphic>
      </p:graphicFrame>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Hedged disagreement: </a:t>
            </a:r>
            <a:r>
              <a:rPr sz="1700" b="0">
                <a:solidFill>
                  <a:srgbClr val="1F2A44"/>
                </a:solidFill>
                <a:latin typeface="Arial"/>
                <a:ea typeface="Microsoft YaHei"/>
              </a:rPr>
              <a:t>I’m not sure I agree. / I see it slightly differently. / That’s one way of looking at it.</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Prepositions: </a:t>
            </a:r>
            <a:r>
              <a:rPr sz="1700" b="0">
                <a:solidFill>
                  <a:srgbClr val="1F2A44"/>
                </a:solidFill>
                <a:latin typeface="Arial"/>
                <a:ea typeface="Microsoft YaHei"/>
              </a:rPr>
              <a:t>argue with sb about sth; disagree with sb on sth; a conflict between A and B.</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Reporting verbs: </a:t>
            </a:r>
            <a:r>
              <a:rPr sz="1700" b="0">
                <a:solidFill>
                  <a:srgbClr val="1F2A44"/>
                </a:solidFill>
                <a:latin typeface="Arial"/>
                <a:ea typeface="Microsoft YaHei"/>
              </a:rPr>
              <a:t>suggest, propose, recommend + -ing / that: “She suggested meeting halfway.”</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Question tags for softening: </a:t>
            </a:r>
            <a:r>
              <a:rPr sz="1700" b="0">
                <a:solidFill>
                  <a:srgbClr val="1F2A44"/>
                </a:solidFill>
                <a:latin typeface="Arial"/>
                <a:ea typeface="Microsoft YaHei"/>
              </a:rPr>
              <a:t>“That’s a fair point, isn’t it?” (checks agreement)</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not agree with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agree with you.</a:t>
            </a:r>
          </a:p>
          <a:p>
            <a:pPr algn="l">
              <a:spcAft>
                <a:spcPts val="200"/>
              </a:spcAft>
            </a:pPr>
            <a:r>
              <a:rPr sz="1200" b="0">
                <a:solidFill>
                  <a:srgbClr val="FFFFFF"/>
                </a:solidFill>
                <a:latin typeface="Arial"/>
                <a:ea typeface="Microsoft YaHei"/>
              </a:rPr>
              <a:t>agree 是动词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an argue.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had an argument.</a:t>
            </a:r>
          </a:p>
          <a:p>
            <a:pPr algn="l">
              <a:spcAft>
                <a:spcPts val="200"/>
              </a:spcAft>
            </a:pPr>
            <a:r>
              <a:rPr sz="1200" b="0">
                <a:solidFill>
                  <a:srgbClr val="FFFFFF"/>
                </a:solidFill>
                <a:latin typeface="Arial"/>
                <a:ea typeface="Microsoft YaHei"/>
              </a:rPr>
              <a:t>argue → argument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conflict with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in conflict with me.</a:t>
            </a:r>
          </a:p>
          <a:p>
            <a:pPr algn="l">
              <a:spcAft>
                <a:spcPts val="200"/>
              </a:spcAft>
            </a:pPr>
            <a:r>
              <a:rPr sz="1200" b="0">
                <a:solidFill>
                  <a:srgbClr val="FFFFFF"/>
                </a:solidFill>
                <a:latin typeface="Arial"/>
                <a:ea typeface="Microsoft YaHei"/>
              </a:rPr>
              <a:t>in conflict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disagree to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disagree with you.</a:t>
            </a:r>
          </a:p>
          <a:p>
            <a:pPr algn="l">
              <a:spcAft>
                <a:spcPts val="200"/>
              </a:spcAft>
            </a:pPr>
            <a:r>
              <a:rPr sz="1200" b="0">
                <a:solidFill>
                  <a:srgbClr val="FFFFFF"/>
                </a:solidFill>
                <a:latin typeface="Arial"/>
                <a:ea typeface="Microsoft YaHei"/>
              </a:rPr>
              <a:t>disagree with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think you are wrong.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sure that’s right.</a:t>
            </a:r>
          </a:p>
          <a:p>
            <a:pPr algn="l">
              <a:spcAft>
                <a:spcPts val="200"/>
              </a:spcAft>
            </a:pPr>
            <a:r>
              <a:rPr sz="1200" b="0">
                <a:solidFill>
                  <a:srgbClr val="FFFFFF"/>
                </a:solidFill>
                <a:latin typeface="Arial"/>
                <a:ea typeface="Microsoft YaHei"/>
              </a:rPr>
              <a:t>委婉</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compromise each other.</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compromise with each other. / We should meet halfway.</a:t>
            </a:r>
          </a:p>
          <a:p>
            <a:pPr algn="l">
              <a:spcAft>
                <a:spcPts val="200"/>
              </a:spcAft>
            </a:pPr>
            <a:r>
              <a:rPr sz="1200" b="0">
                <a:solidFill>
                  <a:srgbClr val="FFFFFF"/>
                </a:solidFill>
                <a:latin typeface="Arial"/>
                <a:ea typeface="Microsoft YaHei"/>
              </a:rPr>
              <a:t>compromise with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agree (verb, not adjective), argue / argument, and disagree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Direct disagreement: </a:t>
            </a:r>
            <a:r>
              <a:rPr sz="1700" b="0">
                <a:solidFill>
                  <a:srgbClr val="1F2A44"/>
                </a:solidFill>
                <a:latin typeface="Arial"/>
                <a:ea typeface="Microsoft YaHei"/>
              </a:rPr>
              <a:t>In the US, direct disagreement in meetings is often accepted. In the UK, it is usually softer (“I wonder if…”). Learn the local style.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Not personal: </a:t>
            </a:r>
            <a:r>
              <a:rPr sz="1700" b="0">
                <a:solidFill>
                  <a:srgbClr val="1F2A44"/>
                </a:solidFill>
                <a:latin typeface="Arial"/>
                <a:ea typeface="Microsoft YaHei"/>
              </a:rPr>
              <a:t>Native speakers often say “No offence, but…” before disagreeing; treat it as a warning, not an insult.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Face-saving: </a:t>
            </a:r>
            <a:r>
              <a:rPr sz="1700" b="0">
                <a:solidFill>
                  <a:srgbClr val="1F2A44"/>
                </a:solidFill>
                <a:latin typeface="Arial"/>
                <a:ea typeface="Microsoft YaHei"/>
              </a:rPr>
              <a:t>In many Asian workplaces it’s important to avoid public confrontation; try offering disagreement privately.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agree 是动词,所以说 I don’t agree,不是 I am not agree。disagree with sb。要针对观点而不是人:I’m not sure that’s right. 比 You are wrong. 更得体。</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disagree politely and propose a compromise.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benefits of healthy conflict.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idioms such as meet halfway and see eye to eye.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agree / disagree with and argument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 · Lesson 36 The Benefits of Conflict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agree / disagree with, argue / argument, and hedged disagreement.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conflict of interest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Dating your direct report is a conflict of interest.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病假</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sick leave / sick day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She makes friend with everyone.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She makes friends with everyone.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被边缘化的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marginalised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承担</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take 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health and safety</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Health and safety training is mandatory.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“刻板印象”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stereotype</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“逐步复工”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phased return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“蓬勃发展”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flourish</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Disabled people are very brave.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Disabled people are professionals like anyone else.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sit at the same place every day.</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sit in the same place every 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4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