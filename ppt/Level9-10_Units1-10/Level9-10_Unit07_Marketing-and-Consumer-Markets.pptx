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English – Mid-to-Advanced Level 9-10</a:t>
            </a:r>
          </a:p>
          <a:p>
            <a:r>
              <a:t>Unit 7: Marketing and Consumer Markets — Self-Study Workbook (Lessons 64–69)</a:t>
            </a:r>
          </a:p>
          <a:p/>
          <a:p>
            <a:r>
              <a:t>开场：简单介绍本单元的主题和要完成的 6 个 Lesson，说明全程会以小组积分赛的形式进行。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把学员分成 2–4 组。热身发言、答题、角色扮演表现好都可以加分，最后一页评出冠军组。</a:t>
            </a:r>
          </a:p>
          <a:p>
            <a:r>
              <a:t>可以直接在 Score 框里打字记分，或在白板上记录。</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点击任意 Lesson 可直接跳转；每页右下角的 🗺 Map 按钮可以随时回到这里。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64 · Marketing Strategies 营销策略</a:t>
            </a:r>
          </a:p>
          <a:p>
            <a:r>
              <a:t>Goal: describe and compare marketing strategies: target markets, positioning, the marketing mix, channels and measuring results.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marketing mix = 营销组合(4P:product, price, place, promotion)。target market = 目标市场。第 1 题用 “I bought … after seeing…”。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Present a simple marketing plan for a new product.</a:t>
            </a:r>
          </a:p>
          <a:p>
            <a:r>
              <a:t>Say: product → target customers → message → channels → budget and measure</a:t>
            </a:r>
          </a:p>
          <a:p>
            <a:r>
              <a:t>Useful starters: “Our target market is…” / “We’ll position it as…” / “We’ll measure success by…”</a:t>
            </a:r>
          </a:p>
          <a:p>
            <a:r>
              <a:t>position it as… = 将其定位为……。measure success by… = 以……衡量成功。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Good marketing starts with a question: who exactly are we trying to reach? Companies divide the market into segments based on age, income, lifestyle or needs, then choose the segments where they can serve customers better than their rivals. Next comes positioning: the place the brand occupies in the customer’s mind, such as “affordable”, “premium” or “eco-friendly”. The marketing mix then covers the product itself, its price, where it is sold and how it is promoted. Today promotion runs through many channels, including social media, email, events, search advertising and partnerships. A small company with limited budget often does better by focusing on one segment and a few channels than by trying to reach everybody. Finally, results must be measured: sales, enquiries and customer feedback show what is working.</a:t>
            </a:r>
          </a:p>
          <a:p>
            <a:r>
              <a:t>segment = 细分市场。rival = 对手。premium = 高端。enquiry = 咨询(英)。</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do companies do first?</a:t>
            </a:r>
          </a:p>
          <a:p>
            <a:r>
              <a:t>A: Decide who to reach by dividing the market into segments.</a:t>
            </a:r>
          </a:p>
          <a:p>
            <a:r>
              <a:t>Q2. What is positioning?</a:t>
            </a:r>
          </a:p>
          <a:p>
            <a:r>
              <a:t>A: The place the brand occupies in the customer’s mind, e.g. premium or affordable.</a:t>
            </a:r>
          </a:p>
          <a:p>
            <a:r>
              <a:t>Q3. What works best for small companies?</a:t>
            </a:r>
          </a:p>
          <a:p>
            <a:r>
              <a:t>A: Focusing on one segment and a few channels.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Marketing basics 营销基础</a:t>
            </a:r>
          </a:p>
          <a:p>
            <a:r>
              <a:t>领读 → 学员跟读 → 请学员用表达造一个和自己工作相关的句子。</a:t>
            </a:r>
          </a:p>
          <a:p>
            <a:r>
              <a:t>target market (noun) 目标市场 — “Our target market is young professionals.”</a:t>
            </a:r>
          </a:p>
          <a:p>
            <a:r>
              <a:t>market segment (noun) 细分市场 — “We serve three segments.”</a:t>
            </a:r>
          </a:p>
          <a:p>
            <a:r>
              <a:t>brand awareness (noun) 品牌知名度 — “The campaign increased brand awareness.”</a:t>
            </a:r>
          </a:p>
          <a:p>
            <a:r>
              <a:t>positioning (noun) 品牌定位 — “Our positioning is premium.”</a:t>
            </a:r>
          </a:p>
          <a:p>
            <a:r>
              <a:t>promotion (noun) 促销/推广 — “The promotion starts in May.”</a:t>
            </a:r>
          </a:p>
          <a:p>
            <a:r>
              <a:t>marketing mix (noun) 营销组合 — “The marketing mix includes price and place.”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Strategy in action ★ 策略落地</a:t>
            </a:r>
          </a:p>
          <a:p>
            <a:r>
              <a:t>领读 → 学员跟读 → 请学员用表达造一个和自己工作相关的句子。</a:t>
            </a:r>
          </a:p>
          <a:p>
            <a:r>
              <a:t>★ niche market (noun phrase) 利基市场 — “We serve a niche market.”</a:t>
            </a:r>
          </a:p>
          <a:p>
            <a:r>
              <a:t>★ stand out from the crowd (idiom) 脱颖而出 — “The packaging helps us stand out from the crowd.”</a:t>
            </a:r>
          </a:p>
          <a:p>
            <a:r>
              <a:t>★ reach out to (phrasal verb) 联系/触达 — “We reach out to customers via email.”</a:t>
            </a:r>
          </a:p>
          <a:p>
            <a:r>
              <a:t>★ word of mouth (noun phrase) 口碑 — “Word of mouth is our best marketing.”</a:t>
            </a:r>
          </a:p>
          <a:p>
            <a:r>
              <a:t>★ conversion rate (noun phrase) 转化率 — “The conversion rate is 3%.”</a:t>
            </a:r>
          </a:p>
          <a:p>
            <a:r>
              <a:t>★ return on ad spend (noun phrase) 广告支出回报 — “We watch return on ad spend closely.”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target market / segments / brand awareness / positioning / niche market / conversion rate</a:t>
            </a:r>
          </a:p>
          <a:p>
            <a:r>
              <a:t>1. Our _______ is women aged 25 to 40. → target market</a:t>
            </a:r>
          </a:p>
          <a:p>
            <a:r>
              <a:t>2. We divide customers into three main _______. → segments</a:t>
            </a:r>
          </a:p>
          <a:p>
            <a:r>
              <a:t>3. The video campaign raised _______ among young people. → brand awareness</a:t>
            </a:r>
          </a:p>
          <a:p>
            <a:r>
              <a:t>4. Our _______ is “premium but affordable”. → positioning</a:t>
            </a:r>
          </a:p>
          <a:p>
            <a:r>
              <a:t>5. They found success in a small _______ for vegan snacks. → niche market</a:t>
            </a:r>
          </a:p>
          <a:p>
            <a:r>
              <a:t>6. Our _______ is only 2%, so we need to improve the website. → conversion rate</a:t>
            </a:r>
          </a:p>
          <a:p>
            <a:r>
              <a:t>Mistake Watch (拼写与搭配): marketing (uncountable), advertisement (noun: ad/advert), advertise (verb). Advertising is uncountable (“a lot of advertising”), an advertisement. Launch a campaign / product, run a campaign. Target as verb: “target young people”. Brand (not “bland”).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Presenting a simple marketing plan 介绍简单的营销计划</a:t>
            </a:r>
          </a:p>
          <a:p>
            <a:r>
              <a:t>情景：You present a plan for a new reusable water bottle to your marketing director.</a:t>
            </a:r>
          </a:p>
          <a:p>
            <a:r>
              <a:t>Role A: Kay Lin, marketing executive (you) Role B: Ms Doyle, marketing director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(Kay): Ms Doyle, I’d like to take you through the plan for the new bottle.</a:t>
            </a:r>
          </a:p>
          <a:p>
            <a:r>
              <a:t>B (Ms Doyle): Please do. Who’s the target market?</a:t>
            </a:r>
          </a:p>
          <a:p>
            <a:r>
              <a:t>A: Environmentally conscious professionals aged twenty-five to forty-five, living in cities.</a:t>
            </a:r>
          </a:p>
          <a:p>
            <a:r>
              <a:t>B: And how will we position it?</a:t>
            </a:r>
          </a:p>
          <a:p>
            <a:r>
              <a:t>A: As a stylish, durable bottle that helps people cut plastic waste. Premium, but not luxury.</a:t>
            </a:r>
          </a:p>
          <a:p>
            <a:r>
              <a:t>B: What about price?</a:t>
            </a:r>
          </a:p>
          <a:p>
            <a:r>
              <a:t>A: Around thirty pounds, which compares well with similar products.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How will you promote it?</a:t>
            </a:r>
          </a:p>
          <a:p>
            <a:r>
              <a:t>A: Mainly through social media and partnerships with fitness studios. Word of mouth will matter a lot.</a:t>
            </a:r>
          </a:p>
          <a:p>
            <a:r>
              <a:t>B: What’s the budget?</a:t>
            </a:r>
          </a:p>
          <a:p>
            <a:r>
              <a:t>A: Fifty thousand pounds over six months.</a:t>
            </a:r>
          </a:p>
          <a:p>
            <a:r>
              <a:t>B: And how will we know it’s working?</a:t>
            </a:r>
          </a:p>
          <a:p>
            <a:r>
              <a:t>A: We’ll track website visits, conversion rate and sales per channel. If any channel underperforms, we’ll move the money.</a:t>
            </a:r>
          </a:p>
          <a:p>
            <a:r>
              <a:t>B: Sounds sensible. Please send me the details.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64 | </a:t>
            </a:r>
          </a:p>
          <a:p>
            <a:r>
              <a:t>Situation | You present a marketing plan.</a:t>
            </a:r>
          </a:p>
          <a:p>
            <a:r>
              <a:t>Your role (A) | Marketer. Product: ______________</a:t>
            </a:r>
          </a:p>
          <a:p>
            <a:r>
              <a:t>Partner’s role (B) | Director. Ask about customers, price and measurement.</a:t>
            </a:r>
          </a:p>
          <a:p>
            <a:r>
              <a:t>Must use (4 or more) | target market · position it as · channels · budget · word of mouth · measure</a:t>
            </a:r>
          </a:p>
          <a:p>
            <a:r>
              <a:t>Goal | Cover customer, positioning, channels and measurement.</a:t>
            </a:r>
          </a:p>
          <a:p>
            <a:r>
              <a:t>My notes | ____________________________________________</a:t>
            </a:r>
          </a:p>
          <a:p>
            <a:r>
              <a:t>Ms Doyle says: “The budget is half that.” Adapt your plan.</a:t>
            </a:r>
          </a:p>
          <a:p>
            <a:r>
              <a:t>Describe a brand that you think is positioned well.</a:t>
            </a:r>
          </a:p>
          <a:p>
            <a:r>
              <a:t>Explain the difference between a niche and a mass market.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Which marketing channel is most effective today? | “I think … is the most effective because…”</a:t>
            </a:r>
          </a:p>
          <a:p>
            <a:r>
              <a:t>2. Do you trust advertisements? | “I’m somewhat sceptical because… / It depends on…”</a:t>
            </a:r>
          </a:p>
          <a:p>
            <a:r>
              <a:t>3. How can a small company compete with big brands? | “By focusing on… / They could…”</a:t>
            </a:r>
          </a:p>
          <a:p>
            <a:r>
              <a:t>4. What makes a brand memorable? | “A memorable brand has… / It usually…”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“A small company can compete by choosing a niche that big brands ignore and serving it very well. Big brands have huge budgets, but they often can’t be personal or flexible. A small business can build direct relationships, respond quickly to feedback and tell an authentic story. Over time, word of mouth from loyal customers can be more powerful than expensive advertising.”</a:t>
            </a:r>
          </a:p>
          <a:p>
            <a:r>
              <a:t>niche = 利基市场。authentic = 真实的。”tell a story” = 讲品牌故事。 flexible = 灵活的。</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Everyone can buy it. | The product appeals to a wide audience. | 专业</a:t>
            </a:r>
          </a:p>
          <a:p>
            <a:r>
              <a:t>We tell people about it. | We promote it across several channels. | 专业</a:t>
            </a:r>
          </a:p>
          <a:p>
            <a:r>
              <a:t>Our product is different. | Our product stands out from the competition. | 搭配</a:t>
            </a:r>
          </a:p>
          <a:p>
            <a:r>
              <a:t>People talk about us. | We get a lot of word-of-mouth recommendations. | 具体</a:t>
            </a:r>
          </a:p>
          <a:p>
            <a:r>
              <a:t>It sells good. | It’s selling well. | 副词</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Present simple for plans/schedules: “The campaign launches in May.”</a:t>
            </a:r>
          </a:p>
          <a:p>
            <a:r>
              <a:t>Future with going to / will: “We’re going to target students.” (plan) vs “We’ll review results in June.” (promise)</a:t>
            </a:r>
          </a:p>
          <a:p>
            <a:r>
              <a:t>Noun compounds: brand awareness, customer loyalty, sales target, marketing budget.</a:t>
            </a:r>
          </a:p>
          <a:p>
            <a:r>
              <a:t>Adverbs for degree: highly, particularly, fairly, relatively: “The product is relatively expensive.”</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Marketing is the activity that tell people about products.  →  ✓ Marketing is the activity of telling people about products.  (of + -ing)</a:t>
            </a:r>
          </a:p>
          <a:p>
            <a:r>
              <a:t>✗ We make an advertisement in TV.  →  ✓ We run an advert on TV.  (on TV)</a:t>
            </a:r>
          </a:p>
          <a:p>
            <a:r>
              <a:t>✗ The product sells good.  →  ✓ The product sells well.  (adverb)</a:t>
            </a:r>
          </a:p>
          <a:p>
            <a:r>
              <a:t>Mistake Watch: Check advertising (uncountable) vs advertisement, sell well, and research (uncountable).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Our target is young peoples.  →  ✓ Our target is young people.  (people 本身复数)</a:t>
            </a:r>
          </a:p>
          <a:p>
            <a:r>
              <a:t>✗ This advertising is very effective one.  →  ✓ This advertisement is very effective.  (不可数)</a:t>
            </a:r>
          </a:p>
          <a:p>
            <a:r>
              <a:t>✗ We will do a market research.  →  ✓ We will carry out market research.  (research 不可数)</a:t>
            </a:r>
          </a:p>
          <a:p>
            <a:r>
              <a:t>Mistake Watch: Check advertising (uncountable) vs advertisement, sell well, and research (uncountable).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Advertising rules: Many countries regulate advertising claims. “Best in the world” claims need proof.</a:t>
            </a:r>
          </a:p>
          <a:p>
            <a:r>
              <a:t>Humour: Humour in ads does not always translate across cultures. Test before launching.</a:t>
            </a:r>
          </a:p>
          <a:p>
            <a:r>
              <a:t>Influencers: Paid partnerships must usually be disclosed (e.g. “#ad”).</a:t>
            </a:r>
          </a:p>
          <a:p>
            <a:r>
              <a:t>advertising / research 不可数;sell well(副词 well);people 已经是复数,不加 s。做营销策略时先确定“对谁说”,再决定“说什么、在哪说”。</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a target market and positioning.</a:t>
            </a:r>
          </a:p>
          <a:p>
            <a:r>
              <a:t>I can present a simple marketing plan.</a:t>
            </a:r>
          </a:p>
          <a:p>
            <a:r>
              <a:t>I can use adverbs and noun compounds in marketing talk.</a:t>
            </a:r>
          </a:p>
          <a:p>
            <a:r>
              <a:t>I can use uncountable advertising / research and sell well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uncountable advertising / research, adverb well, and noun compounds.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65 · When Ads Get Personal 当广告越来越懂你</a:t>
            </a:r>
          </a:p>
          <a:p>
            <a:r>
              <a:t>Goal: discuss personalised advertising: how companies use data, benefits and concerns for consumers, privacy and trust.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personalised ad = 个性化广告。intrusive = 侵扰的。第 2 题可用 “On the one hand… on the other hand…”。cookies = 网络浏览记录文件(表示追踪)。</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Give your opinion on personalised advertising and privacy.</a:t>
            </a:r>
          </a:p>
          <a:p>
            <a:r>
              <a:t>Say: opinion → benefit → concern → suggestion</a:t>
            </a:r>
          </a:p>
          <a:p>
            <a:r>
              <a:t>Useful starters: “I find it useful when… but I’m uneasy about…” / “Companies should be transparent about…” / “Users ought to have control over…”</a:t>
            </a:r>
          </a:p>
          <a:p>
            <a:r>
              <a:t>uneasy about = 对……感到不安。transparent = 透明的。have control over = 掌控。</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Online advertising is increasingly personal. Companies collect information about what we search for, click on and buy, and use it to show ads that match our interests. For consumers, this can be convenient: instead of irrelevant promotions, they see products they might genuinely want. For businesses, targeted ads usually generate better results than generic ones, which means money is spent more efficiently. However, many people feel uneasy. They worry about how much data is collected, who has access to it and how it is used. Some ads can even feel intrusive, particularly when they appear to know too much. In response, many countries have introduced rules requiring companies to ask for consent and to explain what they do with data. Trust has become a marketing asset: brands that are open and respectful with data tend to keep customers longer.</a:t>
            </a:r>
          </a:p>
          <a:p>
            <a:r>
              <a:t>irrelevant = 无关的。consent = 同意。asset = 资产。”genuinely” = 真正地。</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are the benefits for consumers?</a:t>
            </a:r>
          </a:p>
          <a:p>
            <a:r>
              <a:t>A: More relevant ads and products they might genuinely want.</a:t>
            </a:r>
          </a:p>
          <a:p>
            <a:r>
              <a:t>Q2. What are people worried about?</a:t>
            </a:r>
          </a:p>
          <a:p>
            <a:r>
              <a:t>A: How much data is collected, who can access it and how it is used.</a:t>
            </a:r>
          </a:p>
          <a:p>
            <a:r>
              <a:t>Q3. What has happened in response in many countries?</a:t>
            </a:r>
          </a:p>
          <a:p>
            <a:r>
              <a:t>A: Rules requiring consent and explanations about data use.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Data and advertising 数据与广告</a:t>
            </a:r>
          </a:p>
          <a:p>
            <a:r>
              <a:t>领读 → 学员跟读 → 请学员用表达造一个和自己工作相关的句子。</a:t>
            </a:r>
          </a:p>
          <a:p>
            <a:r>
              <a:t>personalised (adjective) 个性化的 — “Personalised recommendations are common.”</a:t>
            </a:r>
          </a:p>
          <a:p>
            <a:r>
              <a:t>targeted ad (noun) 定向广告 — “Targeted ads reach the right people.”</a:t>
            </a:r>
          </a:p>
          <a:p>
            <a:r>
              <a:t>data collection (noun) 数据收集 — “Data collection must be legal.”</a:t>
            </a:r>
          </a:p>
          <a:p>
            <a:r>
              <a:t>consent (noun / verb) 同意 — “We need the user’s consent.”</a:t>
            </a:r>
          </a:p>
          <a:p>
            <a:r>
              <a:t>privacy (noun) 隐私 — “Privacy matters to our users.”</a:t>
            </a:r>
          </a:p>
          <a:p>
            <a:r>
              <a:t>opt out (phrasal verb) 选择退出 — “You can opt out of tracking.”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Opinions on tracking ★ 谈论追踪</a:t>
            </a:r>
          </a:p>
          <a:p>
            <a:r>
              <a:t>领读 → 学员跟读 → 请学员用表达造一个和自己工作相关的句子。</a:t>
            </a:r>
          </a:p>
          <a:p>
            <a:r>
              <a:t>★ intrusive (adjective) 侵扰的 — “Some ads feel intrusive.”</a:t>
            </a:r>
          </a:p>
          <a:p>
            <a:r>
              <a:t>★ creepy (adjective (informal)) 令人毛骨悚然的 — “It’s a bit creepy.”</a:t>
            </a:r>
          </a:p>
          <a:p>
            <a:r>
              <a:t>★ be transparent about (collocation) 公开透明 — “Firms should be transparent about data use.”</a:t>
            </a:r>
          </a:p>
          <a:p>
            <a:r>
              <a:t>★ strike a balance (collocation) 取得平衡 — “We need to strike a balance.”</a:t>
            </a:r>
          </a:p>
          <a:p>
            <a:r>
              <a:t>★ cross the line (idiom) 越界 — “That ad crossed the line.”</a:t>
            </a:r>
          </a:p>
          <a:p>
            <a:r>
              <a:t>★ raise concerns about (collocation) 引发担忧 — “It raises concerns about privacy.”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personalised / consent / privacy / opt out / intrusive / strike a balance</a:t>
            </a:r>
          </a:p>
          <a:p>
            <a:r>
              <a:t>1. Netflix gives _______ recommendations based on what you watch. → personalised</a:t>
            </a:r>
          </a:p>
          <a:p>
            <a:r>
              <a:t>2. Companies need the user’s _______ before collecting data. → consent</a:t>
            </a:r>
          </a:p>
          <a:p>
            <a:r>
              <a:t>3. Many people worry about their online _______. → privacy</a:t>
            </a:r>
          </a:p>
          <a:p>
            <a:r>
              <a:t>4. You can _______ of tracking in the settings. → opt out</a:t>
            </a:r>
          </a:p>
          <a:p>
            <a:r>
              <a:t>5. Some ads feel _______ when they seem to know too much. → intrusive</a:t>
            </a:r>
          </a:p>
          <a:p>
            <a:r>
              <a:t>6. Companies need to _______ between personalisation and privacy. → strike a balance</a:t>
            </a:r>
          </a:p>
          <a:p>
            <a:r>
              <a:t>Mistake Watch (拼写与搭配): personalised (UK; US personalized), privacy (/ˈprɪvəsi/ UK or /ˈpraɪvəsi/ US), consent. Collect data (data can be treated as uncountable: “the data is”), protect privacy, give consent, opt in / opt out. Concerns about (not “concerns on”). Intrusive (not “intrusiv”).</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Discussing personalised ads with a colleague 与同事讨论个性化广告</a:t>
            </a:r>
          </a:p>
          <a:p>
            <a:r>
              <a:t>情景：You and a colleague discuss whether your company should use more personalised ads.</a:t>
            </a:r>
          </a:p>
          <a:p>
            <a:r>
              <a:t>Role A: Mei Hu, marketing manager (you) Role B: Tom Ray, data analyst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(Mei): Tom, I’m thinking of using more personalised ads. What do you think?</a:t>
            </a:r>
          </a:p>
          <a:p>
            <a:r>
              <a:t>B (Tom): They work better. Click rates are about double. But there’s a catch.</a:t>
            </a:r>
          </a:p>
          <a:p>
            <a:r>
              <a:t>A: Privacy?</a:t>
            </a:r>
          </a:p>
          <a:p>
            <a:r>
              <a:t>B: Yes. Some customers find personalised ads creepy. If we use data they don’t expect us to have, we risk losing trust.</a:t>
            </a:r>
          </a:p>
          <a:p>
            <a:r>
              <a:t>A: That’s true. I find it useful when an ad is relevant, but I’m uneasy when it feels like I’m being watched.</a:t>
            </a:r>
          </a:p>
          <a:p>
            <a:r>
              <a:t>B: Exactly. I think we should be transparent about what we collect.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Could we include a clear explanation and an easy opt-out?</a:t>
            </a:r>
          </a:p>
          <a:p>
            <a:r>
              <a:t>B: Yes, and ask for consent before tracking, as the rules require.</a:t>
            </a:r>
          </a:p>
          <a:p>
            <a:r>
              <a:t>A: I’d also limit the data to what we really need.</a:t>
            </a:r>
          </a:p>
          <a:p>
            <a:r>
              <a:t>B: Good point. Less data means less risk.</a:t>
            </a:r>
          </a:p>
          <a:p>
            <a:r>
              <a:t>A: So we personalise, but we strike a balance and explain it clearly.</a:t>
            </a:r>
          </a:p>
          <a:p>
            <a:r>
              <a:t>B: Agreed. I’ll draft a short privacy message for the website.</a:t>
            </a:r>
          </a:p>
          <a:p>
            <a:r>
              <a:t>A: Great. Let’s test it with a small group first.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65 | </a:t>
            </a:r>
          </a:p>
          <a:p>
            <a:r>
              <a:t>Situation | You discuss personalisation and privacy.</a:t>
            </a:r>
          </a:p>
          <a:p>
            <a:r>
              <a:t>Your role (A) | Marketer in favour of: ______________</a:t>
            </a:r>
          </a:p>
          <a:p>
            <a:r>
              <a:t>Partner’s role (B) | Analyst. Raise one concern.</a:t>
            </a:r>
          </a:p>
          <a:p>
            <a:r>
              <a:t>Must use (4 or more) | personalised · consent · transparent · opt out · strike a balance · trust</a:t>
            </a:r>
          </a:p>
          <a:p>
            <a:r>
              <a:t>Goal | Give an opinion, hear a concern and agree an approach.</a:t>
            </a:r>
          </a:p>
          <a:p>
            <a:r>
              <a:t>My notes | ____________________________________________</a:t>
            </a:r>
          </a:p>
          <a:p>
            <a:r>
              <a:t>Tom says: “Customers don’t read privacy notices.” Respond.</a:t>
            </a:r>
          </a:p>
          <a:p>
            <a:r>
              <a:t>Explain in 30 seconds why you accept or reject cookies.</a:t>
            </a:r>
          </a:p>
          <a:p>
            <a:r>
              <a:t>Write a short message for a website explaining data use.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Do you prefer personalised ads or generic ones? | “I’d rather see… because…”</a:t>
            </a:r>
          </a:p>
          <a:p>
            <a:r>
              <a:t>2. Where should companies draw the line with data? | “They shouldn’t collect… without…”</a:t>
            </a:r>
          </a:p>
          <a:p>
            <a:r>
              <a:t>3. Are people too relaxed about sharing personal data? | “In my view, many people… because…”</a:t>
            </a:r>
          </a:p>
          <a:p>
            <a:r>
              <a:t>4. Should governments regulate online advertising? | “I believe they should… / A balance is needed…”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“Companies should draw the line at collecting sensitive information, such as health or financial details, without clear and specific consent. Even when the law allows it, people can feel that their trust has been broken. I think the best principle is to collect only what you truly need, be honest about how it’s used and give people real control. Companies that follow this are likely to earn customers’ trust.”</a:t>
            </a:r>
          </a:p>
          <a:p>
            <a:r>
              <a:t>sensitive information = 敏感信息。”draw the line” = 划定界限。principle = 原则。earn trust = 赢得信任。</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They watch me. | I feel like my online activity is being tracked. | 被动</a:t>
            </a:r>
          </a:p>
          <a:p>
            <a:r>
              <a:t>I don’t like it. | I find it a bit intrusive. | 具体</a:t>
            </a:r>
          </a:p>
          <a:p>
            <a:r>
              <a:t>Ads follow me. | I keep seeing ads for things I’ve searched for. | 具体</a:t>
            </a:r>
          </a:p>
          <a:p>
            <a:r>
              <a:t>Don’t use my information. | I’d like to opt out of data collection. | 礼貌</a:t>
            </a:r>
          </a:p>
          <a:p>
            <a:r>
              <a:t>It’s legal. | It complies with data-protection rules. | 术语</a:t>
            </a:r>
          </a:p>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Passive for data actions: “Data is collected, stored and shared.” / “Your information is used to…”</a:t>
            </a:r>
          </a:p>
          <a:p>
            <a:r>
              <a:t>Contrast: On the one hand… On the other hand… / While… / Although…</a:t>
            </a:r>
          </a:p>
          <a:p>
            <a:r>
              <a:t>Opinion hedging: I tend to think…, In my view, it seems to me that…</a:t>
            </a:r>
          </a:p>
          <a:p>
            <a:r>
              <a:t>Modal verbs for obligation: should, must, ought to, have to, are required to.</a:t>
            </a:r>
          </a:p>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worry about my privacies.  →  ✓ I worry about my privacy.  (privacy 不可数)</a:t>
            </a:r>
          </a:p>
          <a:p>
            <a:r>
              <a:t>✗ I don’t want my informations to be used.  →  ✓ I don’t want my information to be used.  (information 不可数)</a:t>
            </a:r>
          </a:p>
          <a:p>
            <a:r>
              <a:t>✗ They make advertisement on me.  →  ✓ They target me with ads.  (target sb with)</a:t>
            </a:r>
          </a:p>
          <a:p>
            <a:r>
              <a:t>Mistake Watch: Check uncountable privacy / data, against + noun, and target sb with.</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am against to the idea.  →  ✓ I am against the idea.  (against 后接名词)</a:t>
            </a:r>
          </a:p>
          <a:p>
            <a:r>
              <a:t>✗ They track me always.  →  ✓ They are always tracking me. / They track me all the time.  (频率)</a:t>
            </a:r>
          </a:p>
          <a:p>
            <a:r>
              <a:t>✗ I agree that personal ads are helpful.  →  ✓ I agree that personalised ads are helpful.  (personalised)</a:t>
            </a:r>
          </a:p>
          <a:p>
            <a:r>
              <a:t>Mistake Watch: Check uncountable privacy / data, against + noun, and target sb with.</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Regulation: Data-protection laws (e.g. GDPR in Europe) require consent and transparency. Rules vary by country.</a:t>
            </a:r>
          </a:p>
          <a:p>
            <a:r>
              <a:t>Attitudes to privacy: Attitudes differ by country and generation. What is acceptable in one market may offend in another.</a:t>
            </a:r>
          </a:p>
          <a:p>
            <a:r>
              <a:t>Trust as advantage: Some brands now promote privacy as a selling point.</a:t>
            </a:r>
          </a:p>
          <a:p>
            <a:r>
              <a:t>privacy 与 data 通常不可数(data is);against + 名词/-ing,不要在后面加 to(除非 to 是介词)。个性化广告既要效果也要尊重隐私。</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discuss advantages and concerns about personalised ads.</a:t>
            </a:r>
          </a:p>
          <a:p>
            <a:r>
              <a:t>I can give an opinion with hedging.</a:t>
            </a:r>
          </a:p>
          <a:p>
            <a:r>
              <a:t>I can use passive voice for data actions.</a:t>
            </a:r>
          </a:p>
          <a:p>
            <a:r>
              <a:t>I can use uncountable privacy / data and against + noun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uncountable privacy / data, passive voice, and balanced opinion language.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66 · Recession Marketing 经济衰退营销</a:t>
            </a:r>
          </a:p>
          <a:p>
            <a:r>
              <a:t>Goal: discuss how businesses market in an economic downturn: value messaging, cost control, customer retention and finding opportunity.</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recession = 经济衰退;downturn = 经济下行。第 3 题 “When times are tough” 为常用说法。value for money 在这一课很重要。</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Recommend a marketing approach for a downturn.</a:t>
            </a:r>
          </a:p>
          <a:p>
            <a:r>
              <a:t>Say: situation → customer behaviour → what to change → what to protect</a:t>
            </a:r>
          </a:p>
          <a:p>
            <a:r>
              <a:t>Useful starters: “In a downturn, customers tend to…” / “We should focus on…” / “It would be a mistake to…”</a:t>
            </a:r>
          </a:p>
          <a:p>
            <a:r>
              <a:t>tend to + 动词 = 倾向于。It would be a mistake to… 提出警告。focus on + 名词/-ing。</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When the economy slows, consumers become more careful. They postpone big purchases, compare prices and look for reasons to trust a brand. Many companies respond by cutting marketing first, but history suggests that this can be a mistake. Brands that keep a visible presence often gain market share while competitors go quiet. The key is to adapt the message. Instead of aggressive discounts, which can damage the brand, successful marketers emphasise value: durability, savings over time and practical benefits. They also look after existing customers, since keeping a customer is cheaper than winning a new one. Flexible payment options, loyalty schemes and honest communication all help. Finally, a downturn is a good time to listen: research reveals what customers now value and where new opportunities lie.</a:t>
            </a:r>
          </a:p>
          <a:p>
            <a:r>
              <a:t>postpone = 推迟。market share = 市场份额。durability = 耐用性。loyalty scheme = 会员计划。</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How do consumers behave in a downturn?</a:t>
            </a:r>
          </a:p>
          <a:p>
            <a:r>
              <a:t>A: They postpone big purchases, compare prices and look for reasons to trust a brand.</a:t>
            </a:r>
          </a:p>
          <a:p>
            <a:r>
              <a:t>Q2. Why might cutting marketing be a mistake?</a:t>
            </a:r>
          </a:p>
          <a:p>
            <a:r>
              <a:t>A: Brands that stay visible often gain market share while competitors go quiet.</a:t>
            </a:r>
          </a:p>
          <a:p>
            <a:r>
              <a:t>Q3. What should marketers emphasise instead of discounts?</a:t>
            </a:r>
          </a:p>
          <a:p>
            <a:r>
              <a:t>A: Value: durability, savings over time and practical benefits.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Downturn vocabulary 经济下行词汇</a:t>
            </a:r>
          </a:p>
          <a:p>
            <a:r>
              <a:t>领读 → 学员跟读 → 请学员用表达造一个和自己工作相关的句子。</a:t>
            </a:r>
          </a:p>
          <a:p>
            <a:r>
              <a:t>recession (noun) 经济衰退 — “The country entered a recession.”</a:t>
            </a:r>
          </a:p>
          <a:p>
            <a:r>
              <a:t>downturn (noun) 经济下行 — “The downturn affected retail.”</a:t>
            </a:r>
          </a:p>
          <a:p>
            <a:r>
              <a:t>consumer spending (noun) 消费支出 — “Consumer spending fell.”</a:t>
            </a:r>
          </a:p>
          <a:p>
            <a:r>
              <a:t>discount (noun / verb) 折扣 — “We offer a 20% discount.”</a:t>
            </a:r>
          </a:p>
          <a:p>
            <a:r>
              <a:t>loyalty scheme (noun) 会员计划 — “The loyalty scheme rewards repeat buyers.”</a:t>
            </a:r>
          </a:p>
          <a:p>
            <a:r>
              <a:t>market share (noun) 市场份额 — “We gained market share.”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Surviving and adapting ★ 生存与调整</a:t>
            </a:r>
          </a:p>
          <a:p>
            <a:r>
              <a:t>领读 → 学员跟读 → 请学员用表达造一个和自己工作相关的句子。</a:t>
            </a:r>
          </a:p>
          <a:p>
            <a:r>
              <a:t>★ tighten one’s belt (idiom) 勒紧裤腰带 — “Households are tightening their belts.”</a:t>
            </a:r>
          </a:p>
          <a:p>
            <a:r>
              <a:t>★ weather the storm (idiom) 渡过难关 — “The company weathered the storm.”</a:t>
            </a:r>
          </a:p>
          <a:p>
            <a:r>
              <a:t>★ price-sensitive (adjective) 对价格敏感的 — “Customers have become price-sensitive.”</a:t>
            </a:r>
          </a:p>
          <a:p>
            <a:r>
              <a:t>★ trade down (phrasal verb) 转向更便宜的产品 — “Many shoppers traded down to own-brand goods.”</a:t>
            </a:r>
          </a:p>
          <a:p>
            <a:r>
              <a:t>★ cut back on (phrasal verb) 削减 — “People cut back on luxuries.”</a:t>
            </a:r>
          </a:p>
          <a:p>
            <a:r>
              <a:t>★ lean on (phrasal verb) 依靠 — “We lean on loyal customers.”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recession / downturn / Consumer spending / loyalty scheme / price-sensitive / trade down</a:t>
            </a:r>
          </a:p>
          <a:p>
            <a:r>
              <a:t>1. The economy fell into a _______ last year. → recession</a:t>
            </a:r>
          </a:p>
          <a:p>
            <a:r>
              <a:t>2. The _______ hit retail and hospitality hardest. → downturn</a:t>
            </a:r>
          </a:p>
          <a:p>
            <a:r>
              <a:t>3. _______ often falls when people worry about jobs. → Consumer spending</a:t>
            </a:r>
          </a:p>
          <a:p>
            <a:r>
              <a:t>4. Our _______ gives points on every purchase. → loyalty scheme</a:t>
            </a:r>
          </a:p>
          <a:p>
            <a:r>
              <a:t>5. In hard times, customers become more _______. → price-sensitive</a:t>
            </a:r>
          </a:p>
          <a:p>
            <a:r>
              <a:t>6. Many shoppers _______ to cheaper own-brand products. → trade down</a:t>
            </a:r>
          </a:p>
          <a:p>
            <a:r>
              <a:t>Mistake Watch (拼写与搭配): recession (one c, two s), economic (adj) vs economical (thrifty): “an economic crisis” vs “an economical car”. Cut / reduce spending, spending on. Customers tend to spend less on. Gain / lose market share. Say “per cent” (UK) or “percent” (US).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Planning marketing in a downturn 在经济下行时规划营销</a:t>
            </a:r>
          </a:p>
          <a:p>
            <a:r>
              <a:t>情景：You advise your CEO on whether to cut the marketing budget during a downturn.</a:t>
            </a:r>
          </a:p>
          <a:p>
            <a:r>
              <a:t>Role A: Jo Pan, marketing director (you) Role B: Mr Stone, CEO</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(Jo): Mr Stone, I understand we’re considering a 40% marketing cut.</a:t>
            </a:r>
          </a:p>
          <a:p>
            <a:r>
              <a:t>B (Mr Stone): Yes, sales are down, and we must save money.</a:t>
            </a:r>
          </a:p>
          <a:p>
            <a:r>
              <a:t>A: I’d advise against cutting that much. In a downturn, customers tend to be more selective, so staying visible is important.</a:t>
            </a:r>
          </a:p>
          <a:p>
            <a:r>
              <a:t>B: But if people aren’t buying, why spend?</a:t>
            </a:r>
          </a:p>
          <a:p>
            <a:r>
              <a:t>A: Because competitors may reduce their presence. If we keep ours, we could gain market share.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What would you do instead of discounts?</a:t>
            </a:r>
          </a:p>
          <a:p>
            <a:r>
              <a:t>A: Emphasise value: durability, long-term savings and good service. Discounts can hurt our brand.</a:t>
            </a:r>
          </a:p>
          <a:p>
            <a:r>
              <a:t>B: And existing customers?</a:t>
            </a:r>
          </a:p>
          <a:p>
            <a:r>
              <a:t>A: Let’s focus on loyalty. It’s cheaper to keep a customer than win a new one. A loyalty scheme would help.</a:t>
            </a:r>
          </a:p>
          <a:p>
            <a:r>
              <a:t>B: What budget would you need?</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A cut of 15% rather than 40%, with money moved to the most efficient channels.</a:t>
            </a:r>
          </a:p>
          <a:p>
            <a:r>
              <a:t>B: That seems reasonable. Show me the numbers.</a:t>
            </a:r>
          </a:p>
          <a:p>
            <a:r>
              <a:t>A: I’ll have them ready tomorrow.</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66 | </a:t>
            </a:r>
          </a:p>
          <a:p>
            <a:r>
              <a:t>Situation | You advise on marketing in a downturn.</a:t>
            </a:r>
          </a:p>
          <a:p>
            <a:r>
              <a:t>Your role (A) | Marketing director. Your recommendation: ______________</a:t>
            </a:r>
          </a:p>
          <a:p>
            <a:r>
              <a:t>Partner’s role (B) | CEO. Wants big cuts.</a:t>
            </a:r>
          </a:p>
          <a:p>
            <a:r>
              <a:t>Must use (4 or more) | tend to · stay visible · market share · value · loyalty scheme · it would be a mistake</a:t>
            </a:r>
          </a:p>
          <a:p>
            <a:r>
              <a:t>Goal | Argue for a balanced plan with reasons.</a:t>
            </a:r>
          </a:p>
          <a:p>
            <a:r>
              <a:t>My notes | ____________________________________________</a:t>
            </a:r>
          </a:p>
          <a:p>
            <a:r>
              <a:t>The CEO says: “Nobody is buying luxury now.” Respond.</a:t>
            </a:r>
          </a:p>
          <a:p>
            <a:r>
              <a:t>Suggest three low-cost marketing ideas.</a:t>
            </a:r>
          </a:p>
          <a:p>
            <a:r>
              <a:t>Explain why discounts can harm a brand.</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Should marketing be cut in a recession? | “In my opinion, it’s risky to… because…”</a:t>
            </a:r>
          </a:p>
          <a:p>
            <a:r>
              <a:t>2. How does your own spending change when money is tight? | “I tend to cut back on… and I prioritise…”</a:t>
            </a:r>
          </a:p>
          <a:p>
            <a:r>
              <a:t>3. Which products survive downturns best? | “Basic necessities… / Affordable treats…”</a:t>
            </a:r>
          </a:p>
          <a:p>
            <a:r>
              <a:t>4. Is discounting a good strategy? | “It can help short term but…”</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“In my opinion, it’s risky to cut marketing completely, because when the economy recovers, the brand may have lost its visibility. However, it makes sense to review the budget carefully and remove spending that doesn’t produce results. The goal is to be more efficient, not simply smaller. Brands that keep a steady presence during hard times are usually better placed when demand returns.”</a:t>
            </a:r>
          </a:p>
          <a:p>
            <a:r>
              <a:t>visibility = 能见度。”makes sense” = 合理。efficient = 高效的。”better placed” = 处于更有利的位置。</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People have no money. | Consumers are cutting back on spending. | 专业</a:t>
            </a:r>
          </a:p>
          <a:p>
            <a:r>
              <a:t>We make price lower. | We’re considering a price reduction. | 搭配</a:t>
            </a:r>
          </a:p>
          <a:p>
            <a:r>
              <a:t>Our product is cheap. | Our product offers good value for money. | 价值</a:t>
            </a:r>
          </a:p>
          <a:p>
            <a:r>
              <a:t>The economy is bad. | The economy is in a downturn. | 术语</a:t>
            </a:r>
          </a:p>
          <a:p>
            <a:r>
              <a:t>We survive. | We’re weathering the storm. | 习语</a:t>
            </a:r>
          </a:p>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Trend language: fall, drop, decline, slump; rise, grow, recover; stay stable, level off.</a:t>
            </a:r>
          </a:p>
          <a:p>
            <a:r>
              <a:t>Degree of change: a slight fall, a sharp decline, a steady recovery. Adverbs: slightly, sharply, steadily.</a:t>
            </a:r>
          </a:p>
          <a:p>
            <a:r>
              <a:t>Cause and effect: lead to, result in, cause, due to, as a result of.</a:t>
            </a:r>
          </a:p>
          <a:p>
            <a:r>
              <a:t>Tend to: “Customers tend to cut back on non-essentials.”</a:t>
            </a:r>
          </a:p>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sales decreased sharp.  →  ✓ Sales decreased sharply.  (adverb)</a:t>
            </a:r>
          </a:p>
          <a:p>
            <a:r>
              <a:t>✗ Sales fell by 10 percents.  →  ✓ Sales fell by 10 per cent.  (percent 不加 s)</a:t>
            </a:r>
          </a:p>
          <a:p>
            <a:r>
              <a:t>✗ The economy is recover.  →  ✓ The economy is recovering.  (进行时)</a:t>
            </a:r>
          </a:p>
          <a:p>
            <a:r>
              <a:t>Mistake Watch: Check adverb forms, a decrease in, and tend to + base verb.</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Customers tend buy less.  →  ✓ Customers tend to buy less.  (tend to)</a:t>
            </a:r>
          </a:p>
          <a:p>
            <a:r>
              <a:t>✗ There is a decrease on sales.  →  ✓ There’s a decrease in sales.  (decrease in)</a:t>
            </a:r>
          </a:p>
          <a:p>
            <a:r>
              <a:t>✗ The company stayed in the same.  →  ✓ The company stayed the same.  (stay + adj)</a:t>
            </a:r>
          </a:p>
          <a:p>
            <a:r>
              <a:t>Mistake Watch: Check adverb forms, a decrease in, and tend to + base verb.</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Language: Avoid too-dramatic words like “crash” in public statements; use “slowdown” or “downturn”.</a:t>
            </a:r>
          </a:p>
          <a:p>
            <a:r>
              <a:t>Discounts: Heavy discounting may train customers to wait for sales; many luxury brands avoid it.</a:t>
            </a:r>
          </a:p>
          <a:p>
            <a:r>
              <a:t>Opportunity: Phrases like “challenging times” are common in corporate communications.</a:t>
            </a:r>
          </a:p>
          <a:p>
            <a:r>
              <a:t>趋势用副词修饰动词,形容词修饰名词:fell sharply / a sharp fall。a decrease in sales。tend to + 动词原形。per cent 不加 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consumer behaviour in a downturn.</a:t>
            </a:r>
          </a:p>
          <a:p>
            <a:r>
              <a:t>I can recommend a marketing approach with reasons.</a:t>
            </a:r>
          </a:p>
          <a:p>
            <a:r>
              <a:t>I can use trend language with adjectives and adverbs.</a:t>
            </a:r>
          </a:p>
          <a:p>
            <a:r>
              <a:t>I can use a decrease in and tend to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adverbs vs adjectives in trend language, a decrease in, and tend to + verb.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67 · When a Brand Stunt Backfires 当品牌营销弄巧成拙</a:t>
            </a:r>
          </a:p>
          <a:p>
            <a:r>
              <a:t>Goal: discuss marketing stunts and campaigns that go wrong: why they fail, crisis response, apologies, and lessons for brand reputation.</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stunt = 噱头;backfire = 适得其反;PR (public relations) = 公共关系。第 1 题不必说具体品牌,可描述 “an ad that…”。</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Advise a company on responding to a campaign that has backfired.</a:t>
            </a:r>
          </a:p>
          <a:p>
            <a:r>
              <a:t>Say: acknowledge → apologise → explain actions → rebuild</a:t>
            </a:r>
          </a:p>
          <a:p>
            <a:r>
              <a:t>Useful starters: “The first step is to…” / “They should avoid…” / “In the long run, trust depends on…”</a:t>
            </a:r>
          </a:p>
          <a:p>
            <a:r>
              <a:t>In the long run = 长远来看。avoid + -ing。The first step is to + 动词。</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Brands love attention, and a bold stunt can deliver it. But attention is not always the kind you want. A campaign that seems clever in the meeting room can look careless, insensitive or dishonest to the public, especially once social media spreads it within hours. Backfires often follow the same pattern: the company fails to test its idea with a wide audience, ignores warning voices inside the team or treats a sensitive subject lightly. When criticism comes, the worst response is to defend, delete and go quiet. Better crisis management means acknowledging the problem quickly, apologising without excuses, explaining what will change and then backing the words with action. Experts suggest that trust can recover, but it takes time and consistency. The best protection is prevention: diverse reviewers, honest testing and a culture where people can say, “I’m not sure this is a good idea.”</a:t>
            </a:r>
          </a:p>
          <a:p>
            <a:r>
              <a:t>insensitive = 不敏感的。”within hours” = 数小时内。consistency = 一致性。diverse = 多元的。</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do stunts sometimes backfire?</a:t>
            </a:r>
          </a:p>
          <a:p>
            <a:r>
              <a:t>A: The company doesn’t test widely, ignores warnings or treats a sensitive topic lightly.</a:t>
            </a:r>
          </a:p>
          <a:p>
            <a:r>
              <a:t>Q2. What is the worst response to criticism?</a:t>
            </a:r>
          </a:p>
          <a:p>
            <a:r>
              <a:t>A: To defend, delete and go quiet.</a:t>
            </a:r>
          </a:p>
          <a:p>
            <a:r>
              <a:t>Q3. What is the best protection?</a:t>
            </a:r>
          </a:p>
          <a:p>
            <a:r>
              <a:t>A: Prevention: diverse reviewers, honest testing and a culture where people can voice doubts.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Campaigns and reputation 营销活动与声誉</a:t>
            </a:r>
          </a:p>
          <a:p>
            <a:r>
              <a:t>领读 → 学员跟读 → 请学员用表达造一个和自己工作相关的句子。</a:t>
            </a:r>
          </a:p>
          <a:p>
            <a:r>
              <a:t>campaign (noun) 营销活动 — “The campaign launched in June.”</a:t>
            </a:r>
          </a:p>
          <a:p>
            <a:r>
              <a:t>stunt (noun) 噱头 — “The publicity stunt got attention.”</a:t>
            </a:r>
          </a:p>
          <a:p>
            <a:r>
              <a:t>backlash (noun) 强烈反对 — “The ad caused a public backlash.”</a:t>
            </a:r>
          </a:p>
          <a:p>
            <a:r>
              <a:t>reputation (noun) 声誉 — “The incident damaged our reputation.”</a:t>
            </a:r>
          </a:p>
          <a:p>
            <a:r>
              <a:t>apology (noun) 道歉 — “The company issued an apology.”</a:t>
            </a:r>
          </a:p>
          <a:p>
            <a:r>
              <a:t>public relations (PR) (noun) 公共关系 — “PR handled the crisis.”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Crisis response ★ 危机应对</a:t>
            </a:r>
          </a:p>
          <a:p>
            <a:r>
              <a:t>领读 → 学员跟读 → 请学员用表达造一个和自己工作相关的句子。</a:t>
            </a:r>
          </a:p>
          <a:p>
            <a:r>
              <a:t>★ backfire (verb) 适得其反 — “The campaign backfired badly.”</a:t>
            </a:r>
          </a:p>
          <a:p>
            <a:r>
              <a:t>★ go viral (verb phrase) 迅速传播 — “The ad went viral for the wrong reasons.”</a:t>
            </a:r>
          </a:p>
          <a:p>
            <a:r>
              <a:t>★ damage control (noun phrase) 危机控制 — “They began damage control.”</a:t>
            </a:r>
          </a:p>
          <a:p>
            <a:r>
              <a:t>★ own up to (phrasal verb) 坦率承认 — “The firm owned up to its mistake.”</a:t>
            </a:r>
          </a:p>
          <a:p>
            <a:r>
              <a:t>★ tone-deaf (adjective) 不合时宜的 — “The post seemed tone-deaf.”</a:t>
            </a:r>
          </a:p>
          <a:p>
            <a:r>
              <a:t>★ rebuild trust (collocation) 重建信任 — “It will take time to rebuild trust.”</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campaign / stunt / backlash / reputation / backfired / tone-deaf</a:t>
            </a:r>
          </a:p>
          <a:p>
            <a:r>
              <a:t>1. The company launched a new _______ for its winter range. → campaign</a:t>
            </a:r>
          </a:p>
          <a:p>
            <a:r>
              <a:t>2. The publicity _______ got attention, but not the right kind. → stunt</a:t>
            </a:r>
          </a:p>
          <a:p>
            <a:r>
              <a:t>3. The ad caused a public _______ on social media. → backlash</a:t>
            </a:r>
          </a:p>
          <a:p>
            <a:r>
              <a:t>4. One mistake can damage a company’s _______. → reputation</a:t>
            </a:r>
          </a:p>
          <a:p>
            <a:r>
              <a:t>5. The joke _______ and offended many customers. → backfired</a:t>
            </a:r>
          </a:p>
          <a:p>
            <a:r>
              <a:t>6. Many people found the post _______ given the circumstances. → tone-deaf</a:t>
            </a:r>
          </a:p>
          <a:p>
            <a:r>
              <a:t>Mistake Watch (拼写与搭配): publicity (uncountable), publicise (UK), reputation (not “repution”), backlash. Cause / provoke a backlash, face criticism, issue an apology (not “give a sorry”). Apologise for (not “apologise about”). Offend (verb), offensive (adj), offence (UK noun).</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Advising on a campaign crisis 就营销危机提出建议</a:t>
            </a:r>
          </a:p>
          <a:p>
            <a:r>
              <a:t>情景：A company’s campaign has caused a backlash. You advise your manager on how to respond.</a:t>
            </a:r>
          </a:p>
          <a:p>
            <a:r>
              <a:t>Role A: Sara Kwan, PR consultant (you) Role B: Mr Lowe, marketing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(Sara): Mr Lowe, thank you for calling. I’ve looked at the reaction to the campaign. It’s not good.</a:t>
            </a:r>
          </a:p>
          <a:p>
            <a:r>
              <a:t>B (Mr Lowe): I know. People say the ad is insensitive. We didn’t mean any harm.</a:t>
            </a:r>
          </a:p>
          <a:p>
            <a:r>
              <a:t>A: I’m sure, but intent doesn’t matter as much as impact now. The first step is to acknowledge it publicly.</a:t>
            </a:r>
          </a:p>
          <a:p>
            <a:r>
              <a:t>B: Shouldn’t we wait for things to calm down?</a:t>
            </a:r>
          </a:p>
          <a:p>
            <a:r>
              <a:t>A: I wouldn’t. Silence looks like you don’t care. I’d issue a short, sincere apology today.</a:t>
            </a:r>
          </a:p>
          <a:p>
            <a:r>
              <a:t>B: What should it say?</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That you understand why people were upset, that you take responsibility and that the ad has been withdrawn.</a:t>
            </a:r>
          </a:p>
          <a:p>
            <a:r>
              <a:t>B: And then?</a:t>
            </a:r>
          </a:p>
          <a:p>
            <a:r>
              <a:t>A: Explain what you’ll do differently, such as adding a review panel with diverse members. Then do it.</a:t>
            </a:r>
          </a:p>
          <a:p>
            <a:r>
              <a:t>B: Should we delete the posts?</a:t>
            </a:r>
          </a:p>
          <a:p>
            <a:r>
              <a:t>A: I’d keep them but pause new ads. Deleting can look like hiding.</a:t>
            </a:r>
          </a:p>
          <a:p>
            <a:r>
              <a:t>B: All right. Can you draft the statement?</a:t>
            </a:r>
          </a:p>
          <a:p>
            <a:r>
              <a:t>A: Yes, in an hour. Please have the CEO approve it.</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67 | </a:t>
            </a:r>
          </a:p>
          <a:p>
            <a:r>
              <a:t>Situation | You advise on a campaign crisis.</a:t>
            </a:r>
          </a:p>
          <a:p>
            <a:r>
              <a:t>Your role (A) | Consultant. Campaign problem: ______________</a:t>
            </a:r>
          </a:p>
          <a:p>
            <a:r>
              <a:t>Partner’s role (B) | Manager. Reluctant to apologise.</a:t>
            </a:r>
          </a:p>
          <a:p>
            <a:r>
              <a:t>Must use (4 or more) | the first step · acknowledge · take responsibility · withdraw · rebuild trust · avoid</a:t>
            </a:r>
          </a:p>
          <a:p>
            <a:r>
              <a:t>Goal | Recommend a response in order of priority.</a:t>
            </a:r>
          </a:p>
          <a:p>
            <a:r>
              <a:t>My notes | ____________________________________________</a:t>
            </a:r>
          </a:p>
          <a:p>
            <a:r>
              <a:t>Mr Lowe says: “The criticism is unfair.” Respond.</a:t>
            </a:r>
          </a:p>
          <a:p>
            <a:r>
              <a:t>Write a two-sentence apology for the public.</a:t>
            </a:r>
          </a:p>
          <a:p>
            <a:r>
              <a:t>Suggest three ways to prevent a similar mistake.</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Why do brands sometimes take risks with their campaigns? | “They hope to… / Bold campaigns can…”</a:t>
            </a:r>
          </a:p>
          <a:p>
            <a:r>
              <a:t>2. Is controversy good for business? | “It can increase attention, but… / In the long run…”</a:t>
            </a:r>
          </a:p>
          <a:p>
            <a:r>
              <a:t>3. How should a company apologise publicly? | “It should be quick, sincere…”</a:t>
            </a:r>
          </a:p>
          <a:p>
            <a:r>
              <a:t>4. Who should be responsible for checking a campaign before launch? | “Different people, such as… / A diverse team…”</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“Controversy can increase attention in the short term, but I think it’s a risky strategy. Attention is only valuable if it leads to sales and goodwill. A controversial campaign might upset the very customers you hope to keep, and damage can last for years. In the long run, I believe consistency and trust bring more value than shock.”</a:t>
            </a:r>
          </a:p>
          <a:p>
            <a:r>
              <a:t>controversial = 有争议的。”the very customers” = 恰恰是那些顾客。goodwill = 商誉。shock = 惊人效果。</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People are angry. | There’s been a strong public reaction. | 中性</a:t>
            </a:r>
          </a:p>
          <a:p>
            <a:r>
              <a:t>It’s a big mistake. | It was a serious misjudgement. | 更正式</a:t>
            </a:r>
          </a:p>
          <a:p>
            <a:r>
              <a:t>Sorry, sorry. | We sincerely apologise for any offence caused. | 正式</a:t>
            </a:r>
          </a:p>
          <a:p>
            <a:r>
              <a:t>We delete it. | We have withdrawn the advert. | 术语</a:t>
            </a:r>
          </a:p>
          <a:p>
            <a:r>
              <a:t>We’ll fix. | We’re taking steps to prevent this from happening again. | 完整</a:t>
            </a:r>
          </a:p>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Passive for corporate statements: “The ad has been withdrawn.” / “An investigation is being carried out.”</a:t>
            </a:r>
          </a:p>
          <a:p>
            <a:r>
              <a:t>Hypothetical past: “If they had tested it, they would have avoided the backlash.”</a:t>
            </a:r>
          </a:p>
          <a:p>
            <a:r>
              <a:t>Sequencing advice: first, then, after that, finally; the first step is to…</a:t>
            </a:r>
          </a:p>
          <a:p>
            <a:r>
              <a:t>Cautious language: It seems that, appears to, may have been.</a:t>
            </a:r>
          </a:p>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ad was very offend.  →  ✓ The ad was very offensive.  (形容词)</a:t>
            </a:r>
          </a:p>
          <a:p>
            <a:r>
              <a:t>✗ They said sorry about the ad.  →  ✓ They apologised for the ad.  (apologise for)</a:t>
            </a:r>
          </a:p>
          <a:p>
            <a:r>
              <a:t>✗ The campaign did a backlash.  →  ✓ The campaign caused a backlash.  (cause)</a:t>
            </a:r>
          </a:p>
          <a:p>
            <a:r>
              <a:t>Mistake Watch: Check offensive / offend, apologise for, and angry about.</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People were angry to the ad.  →  ✓ People were angry about the ad.  (angry about)</a:t>
            </a:r>
          </a:p>
          <a:p>
            <a:r>
              <a:t>✗ It spreads viral.  →  ✓ It went viral.  (go viral)</a:t>
            </a:r>
          </a:p>
          <a:p>
            <a:r>
              <a:t>✗ They stay silent with the problem.  →  ✓ They stayed silent about the problem.  (silent about)</a:t>
            </a:r>
          </a:p>
          <a:p>
            <a:r>
              <a:t>Mistake Watch: Check offensive / offend, apologise for, and angry about.</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Speed: On social media a response within hours is expected. Silence is often interpreted as indifference.</a:t>
            </a:r>
          </a:p>
          <a:p>
            <a:r>
              <a:t>Regional sensitivity: Humour, colours and symbols have different meanings in different markets. Test locally.</a:t>
            </a:r>
          </a:p>
          <a:p>
            <a:r>
              <a:t>Real apologies: Avoid “if anyone was offended”. Name the issue.</a:t>
            </a:r>
          </a:p>
          <a:p>
            <a:r>
              <a:t>offensive 是形容词,offend 是动词;apologise for;angry about;go viral。公开道歉要快、真诚、具体,并附上行动。</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why a campaign backfires.</a:t>
            </a:r>
          </a:p>
          <a:p>
            <a:r>
              <a:t>I can recommend a crisis response in order.</a:t>
            </a:r>
          </a:p>
          <a:p>
            <a:r>
              <a:t>I can use the passive for official statements.</a:t>
            </a:r>
          </a:p>
          <a:p>
            <a:r>
              <a:t>I can use offensive / offend and apologise for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offensive / offend, passive for statements, and past hypotheticals.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68 · Global Luxury Slowdown 全球奢侈品市场放缓</a:t>
            </a:r>
          </a:p>
          <a:p>
            <a:r>
              <a:t>Goal: discuss a slowdown in the luxury goods market: causes, consumer behaviour, brand strategy and describing trends in general terms.</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luxury goods = 奢侈品。slowdown = 放缓(不等于崩溃)。第 5 题答案:second-hand / pre-owned / resale。</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possible reasons for a luxury slowdown and what brands might do.</a:t>
            </a:r>
          </a:p>
          <a:p>
            <a:r>
              <a:t>Say: trend → causes → impact → brand response</a:t>
            </a:r>
          </a:p>
          <a:p>
            <a:r>
              <a:t>Useful starters: “Demand appears to have slowed because…” / “One possible factor is…” / “Brands may respond by…”</a:t>
            </a:r>
          </a:p>
          <a:p>
            <a:r>
              <a:t>appear to have + 过去分词 = 似乎已经……。可能的原因用 one possible factor。may respond by + -ing。</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For years, luxury brands enjoyed strong growth, helped by wealthy shoppers and expanding middle classes in many countries. Recently, analysts have pointed to signs of a slowdown. Some customers appear to be more cautious about high prices, especially after repeated increases. Economic uncertainty may be making aspirational buyers think twice, and some younger shoppers are choosing second-hand or rental options instead of buying new. At the same time, the very wealthy continue to spend, which creates an uneven picture. Brands may respond by protecting exclusivity, improving craftsmanship and offering more personal service, rather than discounting heavily. Some are also expanding repair, resale and customisation services. The challenge is to keep desirability high without alienating the customers who made the brand successful. Predictions are uncertain, and trends differ between markets and categories.</a:t>
            </a:r>
          </a:p>
          <a:p>
            <a:r>
              <a:t>aspirational = 向往型的。exclusivity = 独特性/稀缺。craftsmanship = 工艺。alienate = 疏远。</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may be making aspirational buyers hesitate?</a:t>
            </a:r>
          </a:p>
          <a:p>
            <a:r>
              <a:t>A: Economic uncertainty and high prices after repeated increases.</a:t>
            </a:r>
          </a:p>
          <a:p>
            <a:r>
              <a:t>Q2. How are some younger shoppers behaving?</a:t>
            </a:r>
          </a:p>
          <a:p>
            <a:r>
              <a:t>A: They choose second-hand or rental options instead of buying new.</a:t>
            </a:r>
          </a:p>
          <a:p>
            <a:r>
              <a:t>Q3. How may brands respond?</a:t>
            </a:r>
          </a:p>
          <a:p>
            <a:r>
              <a:t>A: By protecting exclusivity, improving craftsmanship, offering personal service and adding repair/resale services.</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Luxury market language 奢侈品市场用语</a:t>
            </a:r>
          </a:p>
          <a:p>
            <a:r>
              <a:t>领读 → 学员跟读 → 请学员用表达造一个和自己工作相关的句子。</a:t>
            </a:r>
          </a:p>
          <a:p>
            <a:r>
              <a:t>luxury goods (noun (plural)) 奢侈品 — “Luxury goods sales rose last year.”</a:t>
            </a:r>
          </a:p>
          <a:p>
            <a:r>
              <a:t>high-end (adjective) 高端的 — “They sell high-end watches.”</a:t>
            </a:r>
          </a:p>
          <a:p>
            <a:r>
              <a:t>exclusivity (noun) 排他性/稀缺感 — “Exclusivity is part of the appeal.”</a:t>
            </a:r>
          </a:p>
          <a:p>
            <a:r>
              <a:t>slowdown (noun) 放缓 — “There’s a slowdown in demand.”</a:t>
            </a:r>
          </a:p>
          <a:p>
            <a:r>
              <a:t>demand (noun) 需求 — “Demand has softened.”</a:t>
            </a:r>
          </a:p>
          <a:p>
            <a:r>
              <a:t>craftsmanship (noun) 工艺 — “The craftsmanship is exceptional.”</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Describing a slowdown ★ 描述放缓</a:t>
            </a:r>
          </a:p>
          <a:p>
            <a:r>
              <a:t>领读 → 学员跟读 → 请学员用表达造一个和自己工作相关的句子。</a:t>
            </a:r>
          </a:p>
          <a:p>
            <a:r>
              <a:t>★ lose its shine (idiom) 失去光彩 — “The brand lost its shine.”</a:t>
            </a:r>
          </a:p>
          <a:p>
            <a:r>
              <a:t>★ soften (verb) 走软 — “Demand has softened.”</a:t>
            </a:r>
          </a:p>
          <a:p>
            <a:r>
              <a:t>★ aspirational buyer (noun phrase) 向往型买家 — “Aspirational buyers are cutting back.”</a:t>
            </a:r>
          </a:p>
          <a:p>
            <a:r>
              <a:t>★ think twice (idiom) 三思 — “People are thinking twice before buying.”</a:t>
            </a:r>
          </a:p>
          <a:p>
            <a:r>
              <a:t>★ resale market (noun phrase) 转售市场 — “The resale market is growing.”</a:t>
            </a:r>
          </a:p>
          <a:p>
            <a:r>
              <a:t>★ cater to (phrasal verb) 迎合/满足 — “They cater to wealthy clients.”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luxury goods / high-end / Exclusivity / slowdown / soften / cater to</a:t>
            </a:r>
          </a:p>
          <a:p>
            <a:r>
              <a:t>1. Sales of _______ rose strongly over the past decade. → luxury goods</a:t>
            </a:r>
          </a:p>
          <a:p>
            <a:r>
              <a:t>2. They sell _______ watches and jewellery. → high-end</a:t>
            </a:r>
          </a:p>
          <a:p>
            <a:r>
              <a:t>3. _______ is part of the appeal of a luxury brand. → Exclusivity</a:t>
            </a:r>
          </a:p>
          <a:p>
            <a:r>
              <a:t>4. Analysts are discussing a possible _______ in demand. → slowdown</a:t>
            </a:r>
          </a:p>
          <a:p>
            <a:r>
              <a:t>5. Demand for some products has begun to _______. → soften</a:t>
            </a:r>
          </a:p>
          <a:p>
            <a:r>
              <a:t>6. Premium brands _______ wealthy clients. → cater to</a:t>
            </a:r>
          </a:p>
          <a:p>
            <a:r>
              <a:t>Mistake Watch (拼写与搭配): luxury (not “luxary”), exclusive, craftsmanship (not “craftmanship”). Luxury goods is plural; luxury (uncountable) = high-end living; a luxury = a treat. Slowdown (noun) vs slow down (verb). Grow / expand (verbs), growth (noun). Use appear to / may to hedge predictions.</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Discussing a luxury slowdown at a team meeting 在团队会议中讨论奢侈品放缓</a:t>
            </a:r>
          </a:p>
          <a:p>
            <a:r>
              <a:t>情景：A retail analyst and a brand manager discuss why luxury sales appear to have slowed.</a:t>
            </a:r>
          </a:p>
          <a:p>
            <a:r>
              <a:t>Role A: Grace Fong, analyst (you) Role B: Leo Kim, brand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(Grace): Leo, have you seen the latest numbers? Luxury sales appear to be slowing.</a:t>
            </a:r>
          </a:p>
          <a:p>
            <a:r>
              <a:t>B (Leo): Yes. Demand seems to have softened in several markets.</a:t>
            </a:r>
          </a:p>
          <a:p>
            <a:r>
              <a:t>A: One possible factor is price. Some customers think increases have gone too far.</a:t>
            </a:r>
          </a:p>
          <a:p>
            <a:r>
              <a:t>B: That’s fair. And aspirational buyers may be more cautious now.</a:t>
            </a:r>
          </a:p>
          <a:p>
            <a:r>
              <a:t>A: Right. But the wealthiest customers still spend, so the picture is uneven.</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How might brands respond?</a:t>
            </a:r>
          </a:p>
          <a:p>
            <a:r>
              <a:t>A: Possibly by focusing on exclusivity and craftsmanship rather than discounts.</a:t>
            </a:r>
          </a:p>
          <a:p>
            <a:r>
              <a:t>B: I agree. Discounts could damage the brand.</a:t>
            </a:r>
          </a:p>
          <a:p>
            <a:r>
              <a:t>A: Some are expanding repair and resale services, which may bring in new customers.</a:t>
            </a:r>
          </a:p>
          <a:p>
            <a:r>
              <a:t>B: Interesting. Does it risk reducing the sense of exclusivity?</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It could, but it may also build loyalty. It depends on how it is presented.</a:t>
            </a:r>
          </a:p>
          <a:p>
            <a:r>
              <a:t>B: Let’s look at the data by region before we decide.</a:t>
            </a:r>
          </a:p>
          <a:p>
            <a:r>
              <a:t>A: Agreed. I’ll prepare a breakdown by market.</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68 | </a:t>
            </a:r>
          </a:p>
          <a:p>
            <a:r>
              <a:t>Situation | You analyse a market slowdown.</a:t>
            </a:r>
          </a:p>
          <a:p>
            <a:r>
              <a:t>Your role (A) | Analyst. Possible cause: ______________</a:t>
            </a:r>
          </a:p>
          <a:p>
            <a:r>
              <a:t>Partner’s role (B) | Brand manager. Ask about strategy options.</a:t>
            </a:r>
          </a:p>
          <a:p>
            <a:r>
              <a:t>Must use (4 or more) | appears to · one possible factor · may respond by · soften · it depends · uneven</a:t>
            </a:r>
          </a:p>
          <a:p>
            <a:r>
              <a:t>Goal | Offer hedged explanations and discuss two possible responses.</a:t>
            </a:r>
          </a:p>
          <a:p>
            <a:r>
              <a:t>My notes | ____________________________________________</a:t>
            </a:r>
          </a:p>
          <a:p>
            <a:r>
              <a:t>Leo says: “The slowdown is temporary.” Respond with hedged language.</a:t>
            </a:r>
          </a:p>
          <a:p>
            <a:r>
              <a:t>Suggest a strategy for a mid-priced brand.</a:t>
            </a:r>
          </a:p>
          <a:p>
            <a:r>
              <a:t>Explain why some people buy luxury items second-hand.</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Why do people buy luxury goods? | “Some buy for quality, others for status…”</a:t>
            </a:r>
          </a:p>
          <a:p>
            <a:r>
              <a:t>2. Is luxury a good business to be in? | “It has high margins, but… / It depends on…”</a:t>
            </a:r>
          </a:p>
          <a:p>
            <a:r>
              <a:t>3. Should luxury brands offer second-hand or rental services? | “It could help by… but it might also…”</a:t>
            </a:r>
          </a:p>
          <a:p>
            <a:r>
              <a:t>4. What could replace traditional luxury in the future? | “People might value experiences… / Sustainability…”</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“Offering second-hand or rental services can help luxury brands reach new customers and show they care about sustainability. It could also give younger shoppers a way to enter the brand. However, there’s a risk that it might dilute exclusivity if it’s not handled carefully. I think brands can manage this by controlling authenticity and keeping the experience premium. So it can work, but only with good execution.”</a:t>
            </a:r>
          </a:p>
          <a:p>
            <a:r>
              <a:t>dilute = 稀释。authenticity = 正品/真实性。execution = 执行。”enter the brand” 接触该品牌。</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People don’t buy now. | Demand appears to be softening. | 谨慎</a:t>
            </a:r>
          </a:p>
          <a:p>
            <a:r>
              <a:t>Luxury is dead. | Luxury is facing headwinds. | 避免绝对化</a:t>
            </a:r>
          </a:p>
          <a:p>
            <a:r>
              <a:t>Price too high. | Some customers feel prices have risen too far. | 完整</a:t>
            </a:r>
          </a:p>
          <a:p>
            <a:r>
              <a:t>Sales are down. | Sales have slowed in some markets. | 精确</a:t>
            </a:r>
          </a:p>
          <a:p>
            <a:r>
              <a:t>They will do well. | They are likely to remain resilient. | 预测</a:t>
            </a:r>
          </a:p>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Hedging predictions: may, might, could, is likely to, appears to, seems to, tend to.</a:t>
            </a:r>
          </a:p>
          <a:p>
            <a:r>
              <a:t>Present perfect for recent trends: “Sales have slowed.” / “Prices have risen sharply.”</a:t>
            </a:r>
          </a:p>
          <a:p>
            <a:r>
              <a:t>Quantifying vaguely: some, a number of, several, most, a growing number of.</a:t>
            </a:r>
          </a:p>
          <a:p>
            <a:r>
              <a:t>Avoid absolute words: always, never, everyone, all — replace with often, rarely, many, most.</a:t>
            </a:r>
          </a:p>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Luxury market falls always.  →  ✓ The luxury market sometimes falls.  (避免绝对化)</a:t>
            </a:r>
          </a:p>
          <a:p>
            <a:r>
              <a:t>✗ All rich people stops buying.  →  ✓ Some wealthy customers may buy less.  (避免概括)</a:t>
            </a:r>
          </a:p>
          <a:p>
            <a:r>
              <a:t>✗ The demand are weaker.  →  ✓ Demand is weaker.  (单数)</a:t>
            </a:r>
          </a:p>
          <a:p>
            <a:r>
              <a:t>Mistake Watch: Check hedging, demand is (uncountable), and tense with since.</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sales are going down since March.  →  ✓ Sales have been going down since March.  (现在完成进行时)</a:t>
            </a:r>
          </a:p>
          <a:p>
            <a:r>
              <a:t>✗ It will surely recover.  →  ✓ It may recover, though this is uncertain.  (谨慎)</a:t>
            </a:r>
          </a:p>
          <a:p>
            <a:r>
              <a:t>✗ Prices is increasing.  →  ✓ Prices are increasing.  (主谓一致)</a:t>
            </a:r>
          </a:p>
          <a:p>
            <a:r>
              <a:t>Mistake Watch: Check hedging, demand is (uncountable), and tense with since.</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Luxury and status: Attitudes to luxury vary: showy logos are popular in some markets and seen as vulgar in others (“quiet luxury”).</a:t>
            </a:r>
          </a:p>
          <a:p>
            <a:r>
              <a:t>Sustainability: Resale and repair services are increasingly seen as positive, but brands differ in how they approach it.</a:t>
            </a:r>
          </a:p>
          <a:p>
            <a:r>
              <a:t>Facts: Treat market statistics with caution; check dates and sources.</a:t>
            </a:r>
          </a:p>
          <a:p>
            <a:r>
              <a:t>预测用 may / might / appears to 等缓和词;不要用 always / all。since 搭配现在完成(进行)时。demand 是不可数,用单数动词。</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a market slowdown with hedged language.</a:t>
            </a:r>
          </a:p>
          <a:p>
            <a:r>
              <a:t>I can suggest brand responses.</a:t>
            </a:r>
          </a:p>
          <a:p>
            <a:r>
              <a:t>I can use present perfect with since for recent trends.</a:t>
            </a:r>
          </a:p>
          <a:p>
            <a:r>
              <a:t>I can use demand (uncountable) with singular verbs.</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hedging, present perfect with since, and uncountable demand.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69 · Global Alcohol Consumption Cools 全球酒精消费量下降</a:t>
            </a:r>
          </a:p>
          <a:p>
            <a:r>
              <a:t>Goal: discuss changing consumption patterns of alcohol: health awareness, younger consumers, no/low-alcohol alternatives and how businesses adapt.</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cool 在这里指“热度下降”。consumption = 消费(量)。no- and low-alcohol = 无酒精 / 低酒精。第 5 题常考礼貌拒绝。</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Politely decline an alcoholic drink at a business event and discuss the trend.</a:t>
            </a:r>
          </a:p>
          <a:p>
            <a:r>
              <a:t>Say: decline → offer an alternative → explain lightly → change topic</a:t>
            </a:r>
          </a:p>
          <a:p>
            <a:r>
              <a:t>Useful starters: “I’m fine with water, thanks.” / “I’m driving, but please go ahead.” / “I’ll stick to soft drinks tonight.”</a:t>
            </a:r>
          </a:p>
          <a:p>
            <a:r>
              <a:t>I’m good, thanks(口语)。理由可简短,不必解释健康原因。stick to = 坚持喝……。</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In several countries, surveys suggest that people are drinking less alcohol than in the past. Possible reasons include greater awareness of health risks, interest in fitness and wellbeing, higher living costs and changing social habits. Younger adults in particular appear more likely to moderate their drinking or avoid alcohol altogether, though patterns differ widely between countries and age groups. Drinks companies have responded by launching alcohol-free beers, low-alcohol wines and sophisticated non-alcoholic cocktails, and bars increasingly offer attractive options for guests who do not drink. Business events are changing too: many organisers now provide non-alcoholic choices and focus on food and conversation. The trend is not uniform, and alcohol remains important in many markets, but companies that adapt their products and their image may be better placed for the future.</a:t>
            </a:r>
          </a:p>
          <a:p>
            <a:r>
              <a:t>moderate = 节制。sophisticated = 精致的。uniform = 一致的。”better placed” = 处境更好。</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Which possible reasons for drinking less are mentioned?</a:t>
            </a:r>
          </a:p>
          <a:p>
            <a:r>
              <a:t>A: Health awareness, fitness and wellbeing, living costs and changing social habits.</a:t>
            </a:r>
          </a:p>
          <a:p>
            <a:r>
              <a:t>Q2. How have drinks companies responded?</a:t>
            </a:r>
          </a:p>
          <a:p>
            <a:r>
              <a:t>A: By launching alcohol-free and low-alcohol products and non-alcoholic cocktails.</a:t>
            </a:r>
          </a:p>
          <a:p>
            <a:r>
              <a:t>Q3. How are business events changing?</a:t>
            </a:r>
          </a:p>
          <a:p>
            <a:r>
              <a:t>A: More non-alcoholic choices and more focus on food and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Drinks and habits 饮品与习惯</a:t>
            </a:r>
          </a:p>
          <a:p>
            <a:r>
              <a:t>领读 → 学员跟读 → 请学员用表达造一个和自己工作相关的句子。</a:t>
            </a:r>
          </a:p>
          <a:p>
            <a:r>
              <a:t>alcohol consumption (noun) 酒精消费量 — “Alcohol consumption has fallen.”</a:t>
            </a:r>
          </a:p>
          <a:p>
            <a:r>
              <a:t>non-alcoholic (adjective) 无酒精的 — “We have a non-alcoholic option.”</a:t>
            </a:r>
          </a:p>
          <a:p>
            <a:r>
              <a:t>low-alcohol (adjective) 低酒精的 — “Low-alcohol beers are popular.”</a:t>
            </a:r>
          </a:p>
          <a:p>
            <a:r>
              <a:t>soft drink (noun) 软饮料 — “I’ll have a soft drink.”</a:t>
            </a:r>
          </a:p>
          <a:p>
            <a:r>
              <a:t>health-conscious (adjective) 注重健康的 — “Health-conscious consumers drink less.”</a:t>
            </a:r>
          </a:p>
          <a:p>
            <a:r>
              <a:t>drinking habits (noun) 饮酒习惯 — “Drinking habits are changing.”</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Politely declining and describing trends ★ 礼貌拒绝与描述趋势</a:t>
            </a:r>
          </a:p>
          <a:p>
            <a:r>
              <a:t>领读 → 学员跟读 → 请学员用表达造一个和自己工作相关的句子。</a:t>
            </a:r>
          </a:p>
          <a:p>
            <a:r>
              <a:t>★ stick to (phrasal verb) 只喝 / 坚持 — “I’ll stick to water, thanks.”</a:t>
            </a:r>
          </a:p>
          <a:p>
            <a:r>
              <a:t>★ cut down on (phrasal verb) 减少 — “I’m cutting down on alcohol.”</a:t>
            </a:r>
          </a:p>
          <a:p>
            <a:r>
              <a:t>★ teetotal (adjective) 滴酒不沾的 — “She’s teetotal.”</a:t>
            </a:r>
          </a:p>
          <a:p>
            <a:r>
              <a:t>★ cool off (phrasal verb) 降温 — “The market is cooling off.”</a:t>
            </a:r>
          </a:p>
          <a:p>
            <a:r>
              <a:t>★ cater for (collocation) 为……提供 — “The bar caters for guests who don’t drink.”</a:t>
            </a:r>
          </a:p>
          <a:p>
            <a:r>
              <a:t>★ a shift towards (collocation) 转向 — “There’s a shift towards healthier choices.”</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consumption / non-alcoholic / Low-alcohol / Health-conscious / stick to / cut down on</a:t>
            </a:r>
          </a:p>
          <a:p>
            <a:r>
              <a:t>1. Alcohol _______ has fallen in several countries. → consumption</a:t>
            </a:r>
          </a:p>
          <a:p>
            <a:r>
              <a:t>2. The restaurant has a good _______ cocktail menu. → non-alcoholic</a:t>
            </a:r>
          </a:p>
          <a:p>
            <a:r>
              <a:t>3. _______ beers are becoming more popular. → Low-alcohol</a:t>
            </a:r>
          </a:p>
          <a:p>
            <a:r>
              <a:t>4. _______ consumers often choose healthier drinks. → Health-conscious</a:t>
            </a:r>
          </a:p>
          <a:p>
            <a:r>
              <a:t>5. I’m driving, so I’ll _______ water tonight. → stick to</a:t>
            </a:r>
          </a:p>
          <a:p>
            <a:r>
              <a:t>6. I’m trying to _______ alcohol this year. → cut down on</a:t>
            </a:r>
          </a:p>
          <a:p>
            <a:r>
              <a:t>Mistake Watch (拼写与搭配): alcohol (not “alchohol”), consumption (not “consumtion”), teetotal. Consumption (uncountable), consume (verb). Drink as noun: “a drink”; “have a drink”, “go for a drink”. Decline an offer (not “refuse an offer” in polite contexts). Abstain from (formal).</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Declining a drink at a business dinner 商务晚宴上婉拒酒</a:t>
            </a:r>
          </a:p>
          <a:p>
            <a:r>
              <a:t>情景：At a business dinner a client offers you a glass of wine. You decline politely.</a:t>
            </a:r>
          </a:p>
          <a:p>
            <a:r>
              <a:t>Role A: Ben Liu, visiting manager (you) Role B: Mr Green, client host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(Ben): Mr Green, thank you for dinner. This is a lovely restaurant.</a:t>
            </a:r>
          </a:p>
          <a:p>
            <a:r>
              <a:t>B (Mr Green): My pleasure, Ben. Can I pour you a glass of wine?</a:t>
            </a:r>
          </a:p>
          <a:p>
            <a:r>
              <a:t>A: Thanks, but I’ll stick to sparkling water, if that’s all right. I have an early meeting tomorrow.</a:t>
            </a:r>
          </a:p>
          <a:p>
            <a:r>
              <a:t>B: Of course. Please don’t feel any pressure.</a:t>
            </a:r>
          </a:p>
          <a:p>
            <a:r>
              <a:t>A: Thank you. Please go ahead and enjoy the wine.</a:t>
            </a:r>
          </a:p>
          <a:p>
            <a:r>
              <a:t>B: I will. Actually, more people seem to be doing the same lately.</a:t>
            </a:r>
          </a:p>
          <a:p>
            <a:r>
              <a:t>A: I’ve noticed that too. A lot of my colleagues are cutting down on alcohol.</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We’ve even changed our menus. We now offer several alcohol-free options.</a:t>
            </a:r>
          </a:p>
          <a:p>
            <a:r>
              <a:t>A: That’s a good idea. Do guests like them?</a:t>
            </a:r>
          </a:p>
          <a:p>
            <a:r>
              <a:t>B: Yes, they’ve become surprisingly popular. Try the alcohol-free ginger cocktail.</a:t>
            </a:r>
          </a:p>
          <a:p>
            <a:r>
              <a:t>A: Sounds nice. I’ll have one, thank you.</a:t>
            </a:r>
          </a:p>
          <a:p>
            <a:r>
              <a:t>B: Excellent. Now, shall we talk about the contract?</a:t>
            </a:r>
          </a:p>
          <a:p>
            <a:r>
              <a:t>A: Yes, I’d be glad to.</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69 | </a:t>
            </a:r>
          </a:p>
          <a:p>
            <a:r>
              <a:t>Situation | You decline a drink politely.</a:t>
            </a:r>
          </a:p>
          <a:p>
            <a:r>
              <a:t>Your role (A) | Guest. Reason (optional): ______________</a:t>
            </a:r>
          </a:p>
          <a:p>
            <a:r>
              <a:t>Partner’s role (B) | Host. Offer a drink and react naturally.</a:t>
            </a:r>
          </a:p>
          <a:p>
            <a:r>
              <a:t>Must use (4 or more) | I’ll stick to · please go ahead · it’s kind of you · I’m driving · alcohol-free · no pressure</a:t>
            </a:r>
          </a:p>
          <a:p>
            <a:r>
              <a:t>Goal | Decline without awkwardness and move on.</a:t>
            </a:r>
          </a:p>
          <a:p>
            <a:r>
              <a:t>My notes | ____________________________________________</a:t>
            </a:r>
          </a:p>
          <a:p>
            <a:r>
              <a:t>The host insists: “Just one glass.” Respond.</a:t>
            </a:r>
          </a:p>
          <a:p>
            <a:r>
              <a:t>Order for the table when some don’t drink.</a:t>
            </a:r>
          </a:p>
          <a:p>
            <a:r>
              <a:t>Describe how drinking habits are changing in your country.</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Have drinking habits changed around you? | “I’ve noticed that… / Among my friends…”</a:t>
            </a:r>
          </a:p>
          <a:p>
            <a:r>
              <a:t>2. Why might younger people drink less? | “One possible reason is… / It may be because…”</a:t>
            </a:r>
          </a:p>
          <a:p>
            <a:r>
              <a:t>3. Should business events serve alcohol? | “It depends on… / I think it’s better to offer…”</a:t>
            </a:r>
          </a:p>
          <a:p>
            <a:r>
              <a:t>4. How can companies adapt to changing consumption? | “They can launch… / They might focus on…”</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business events should offer alcohol only as one option among many, and make non-alcoholic choices equally attractive. Some guests don’t drink for health, religious or personal reasons, and they shouldn’t feel excluded. Good food and conversation matter more than drinks anyway. If alcohol is served, it should be in moderation, because business decisions need clear heads.”</a:t>
            </a:r>
          </a:p>
          <a:p>
            <a:r>
              <a:t>moderation = 适度。”clear heads” = 头脑清醒。”feel excluded” = 感到被排除在外。”one option among many” = 众多选项之一。</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I can’t drink. | I’ll stick to water, thanks. | 自然</a:t>
            </a:r>
          </a:p>
          <a:p>
            <a:r>
              <a:t>No alcohol. | I’m not drinking tonight, but please go ahead. | 礼貌</a:t>
            </a:r>
          </a:p>
          <a:p>
            <a:r>
              <a:t>Why you don’t drink? | Do you mind if I ask what you’d like instead? | 不探究</a:t>
            </a:r>
          </a:p>
          <a:p>
            <a:r>
              <a:t>People drink less. | Alcohol consumption seems to be falling. | 谨慎</a:t>
            </a:r>
          </a:p>
          <a:p>
            <a:r>
              <a:t>Alcohol is bad. | Many people are more aware of health risks. | 中性</a:t>
            </a:r>
          </a:p>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Polite refusals: No, thank you. / I’m good, thanks. / I’ll pass, but thank you. (Say thank you each time.)</a:t>
            </a:r>
          </a:p>
          <a:p>
            <a:r>
              <a:t>Offers: Would you like…? / Can I get you…? / Shall I pour you…?</a:t>
            </a:r>
          </a:p>
          <a:p>
            <a:r>
              <a:t>Reason + feelings: Keep reasons short: “I have an early start.” Avoid long explanations.</a:t>
            </a:r>
          </a:p>
          <a:p>
            <a:r>
              <a:t>Describing trends: cooling, falling, easing, shifting; a shift towards, a move away from.</a:t>
            </a:r>
          </a:p>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am not allowed to drink.  →  ✓ I’d rather not drink tonight.  (避免过度解释)</a:t>
            </a:r>
          </a:p>
          <a:p>
            <a:r>
              <a:t>✗ I don’t drink alcohols.  →  ✓ I don’t drink alcohol.  (不可数)</a:t>
            </a:r>
          </a:p>
          <a:p>
            <a:r>
              <a:t>✗ She is teetotaller.  →  ✓ She’s a teetotaller. / She’s teetotal.  (冠词)</a:t>
            </a:r>
          </a:p>
          <a:p>
            <a:r>
              <a:t>Mistake Watch: Check uncountable alcohol, articles (a teetotaller), and polite refusals.</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refuse the drink.  →  ✓ I’ll pass, thanks. / No, thank you.  (礼貌)</a:t>
            </a:r>
          </a:p>
          <a:p>
            <a:r>
              <a:t>✗ People are drinking less alcohols.  →  ✓ People are drinking less alcohol.  (alcohol 不可数)</a:t>
            </a:r>
          </a:p>
          <a:p>
            <a:r>
              <a:t>✗ The drink consumption cool.  →  ✓ Alcohol consumption has cooled.  (完成时)</a:t>
            </a:r>
          </a:p>
          <a:p>
            <a:r>
              <a:t>Mistake Watch: Check uncountable alcohol, articles (a teetotaller), and polite refusals.</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Business drinks: In some countries drinking with clients is a ritual; in others it is optional or discouraged. Follow the host’s lead but know you can decline.</a:t>
            </a:r>
          </a:p>
          <a:p>
            <a:r>
              <a:t>Respect: Never press a colleague to drink; reasons may be health, religion or personal.</a:t>
            </a:r>
          </a:p>
          <a:p>
            <a:r>
              <a:t>Non-alcoholic offerings: More hosts now provide good non-alcoholic options as a sign of inclusion.</a:t>
            </a:r>
          </a:p>
          <a:p>
            <a:r>
              <a:t>alcohol 不可数;teetotal 是形容词,teetotaller 是名词。礼貌拒绝时说 I’ll stick to water, thanks,不需要多解释。</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decline a drink politely without explanation.</a:t>
            </a:r>
          </a:p>
          <a:p>
            <a:r>
              <a:t>I can discuss changing drinking habits in hedged terms.</a:t>
            </a:r>
          </a:p>
          <a:p>
            <a:r>
              <a:t>I can talk about how businesses adapt.</a:t>
            </a:r>
          </a:p>
          <a:p>
            <a:r>
              <a:t>I can use uncountable alcohol and polite refusals.</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uncountable alcohol, polite refusals, and hedged trend language.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单元复习游戏：各组轮流选数字，点击进入挑战页，完成挑战得分；盒子里有奖励、炸弹和偷分卡。</a:t>
            </a:r>
          </a:p>
          <a:p>
            <a:r>
              <a:t>挑战页右下角 ↩ Back 返回本页。挑战页为隐藏幻灯片，正常翻页不会出现。</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单元终极挑战：每题限时 10 秒抢答，答对 +1。点一次出题，再点一次出答案。</a:t>
            </a:r>
          </a:p>
          <a:p>
            <a:r>
              <a:t>“经济衰退” in English? → recession</a:t>
            </a:r>
          </a:p>
          <a:p>
            <a:r>
              <a:t>“利基市场” in English? → niche market</a:t>
            </a:r>
          </a:p>
          <a:p>
            <a:r>
              <a:t>“消费支出” in English? → consumer spending</a:t>
            </a:r>
          </a:p>
          <a:p>
            <a:r>
              <a:t>Fix it: They said sorry about the ad. → They apologised for the ad.</a:t>
            </a:r>
          </a:p>
          <a:p>
            <a:r>
              <a:t>Fix it: People were angry to the ad. → People were angry about the ad.</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统计各组得分，宣布冠军组，全班鼓掌！</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结束：提醒学员完成每日 10 分钟练习，下节课开头抽查。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4.xml"/><Relationship Id="rId4" Type="http://schemas.openxmlformats.org/officeDocument/2006/relationships/slide" Target="slide26.xml"/><Relationship Id="rId5" Type="http://schemas.openxmlformats.org/officeDocument/2006/relationships/slide" Target="slide48.xml"/><Relationship Id="rId6" Type="http://schemas.openxmlformats.org/officeDocument/2006/relationships/slide" Target="slide71.xml"/><Relationship Id="rId7" Type="http://schemas.openxmlformats.org/officeDocument/2006/relationships/slide" Target="slide93.xml"/><Relationship Id="rId8" Type="http://schemas.openxmlformats.org/officeDocument/2006/relationships/slide" Target="slide1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8.xml"/><Relationship Id="rId4" Type="http://schemas.openxmlformats.org/officeDocument/2006/relationships/slide" Target="slide139.xml"/><Relationship Id="rId5" Type="http://schemas.openxmlformats.org/officeDocument/2006/relationships/slide" Target="slide140.xml"/><Relationship Id="rId6" Type="http://schemas.openxmlformats.org/officeDocument/2006/relationships/slide" Target="slide141.xml"/><Relationship Id="rId7" Type="http://schemas.openxmlformats.org/officeDocument/2006/relationships/slide" Target="slide142.xml"/><Relationship Id="rId8" Type="http://schemas.openxmlformats.org/officeDocument/2006/relationships/slide" Target="slide143.xml"/><Relationship Id="rId9" Type="http://schemas.openxmlformats.org/officeDocument/2006/relationships/slide" Target="slide144.xml"/><Relationship Id="rId10" Type="http://schemas.openxmlformats.org/officeDocument/2006/relationships/slide" Target="slide145.xml"/><Relationship Id="rId11" Type="http://schemas.openxmlformats.org/officeDocument/2006/relationships/slide" Target="slide146.xml"/><Relationship Id="rId12" Type="http://schemas.openxmlformats.org/officeDocument/2006/relationships/slide" Target="slide14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38.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38.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38.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38.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38.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38.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38.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38.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38.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9.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0.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7</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a:t>
            </a:r>
          </a:p>
        </p:txBody>
      </p:sp>
      <p:sp>
        <p:nvSpPr>
          <p:cNvPr id="4" name="Oval 3"/>
          <p:cNvSpPr/>
          <p:nvPr/>
        </p:nvSpPr>
        <p:spPr>
          <a:xfrm>
            <a:off x="9692640" y="457200"/>
            <a:ext cx="2011680" cy="20116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98480" y="2286000"/>
            <a:ext cx="1097280" cy="109728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4480560"/>
            <a:ext cx="1463040" cy="14630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457200"/>
            <a:ext cx="2011680" cy="2011680"/>
          </a:xfrm>
          <a:prstGeom prst="rect">
            <a:avLst/>
          </a:prstGeom>
          <a:noFill/>
        </p:spPr>
        <p:txBody>
          <a:bodyPr wrap="square" anchor="ctr">
            <a:spAutoFit/>
          </a:bodyPr>
          <a:lstStyle/>
          <a:p>
            <a:pPr algn="ctr">
              <a:lnSpc>
                <a:spcPct val="115000"/>
              </a:lnSpc>
              <a:spcAft>
                <a:spcPts val="800"/>
              </a:spcAft>
            </a:pPr>
            <a:r>
              <a:rPr sz="8000" b="0">
                <a:solidFill>
                  <a:srgbClr val="1F2A44"/>
                </a:solidFill>
                <a:latin typeface="Arial"/>
                <a:ea typeface="Microsoft YaHei"/>
              </a:rPr>
              <a:t>💼</a:t>
            </a:r>
          </a:p>
        </p:txBody>
      </p:sp>
      <p:sp>
        <p:nvSpPr>
          <p:cNvPr id="8" name="TextBox 7"/>
          <p:cNvSpPr txBox="1"/>
          <p:nvPr/>
        </p:nvSpPr>
        <p:spPr>
          <a:xfrm>
            <a:off x="822960" y="1188720"/>
            <a:ext cx="8229600" cy="457200"/>
          </a:xfrm>
          <a:prstGeom prst="rect">
            <a:avLst/>
          </a:prstGeom>
          <a:noFill/>
        </p:spPr>
        <p:txBody>
          <a:bodyPr wrap="square" anchor="t">
            <a:spAutoFit/>
          </a:bodyPr>
          <a:lstStyle/>
          <a:p>
            <a:pPr algn="l">
              <a:lnSpc>
                <a:spcPct val="115000"/>
              </a:lnSpc>
              <a:spcAft>
                <a:spcPts val="800"/>
              </a:spcAft>
            </a:pPr>
            <a:r>
              <a:rPr sz="2000" b="1">
                <a:solidFill>
                  <a:srgbClr val="FFC857"/>
                </a:solidFill>
                <a:latin typeface="Arial"/>
                <a:ea typeface="Microsoft YaHei"/>
              </a:rPr>
              <a:t>BUSINESS ENGLISH · LEVEL 9-10 · UNIT 7</a:t>
            </a:r>
          </a:p>
        </p:txBody>
      </p:sp>
      <p:sp>
        <p:nvSpPr>
          <p:cNvPr id="9" name="TextBox 8"/>
          <p:cNvSpPr txBox="1"/>
          <p:nvPr/>
        </p:nvSpPr>
        <p:spPr>
          <a:xfrm>
            <a:off x="822960" y="1691640"/>
            <a:ext cx="8046720" cy="1737360"/>
          </a:xfrm>
          <a:prstGeom prst="rect">
            <a:avLst/>
          </a:prstGeom>
          <a:noFill/>
        </p:spPr>
        <p:txBody>
          <a:bodyPr wrap="square" anchor="ctr">
            <a:spAutoFit/>
          </a:bodyPr>
          <a:lstStyle/>
          <a:p>
            <a:pPr algn="l">
              <a:lnSpc>
                <a:spcPct val="115000"/>
              </a:lnSpc>
              <a:spcAft>
                <a:spcPts val="800"/>
              </a:spcAft>
            </a:pPr>
            <a:r>
              <a:rPr sz="5200" b="1">
                <a:solidFill>
                  <a:srgbClr val="FFFFFF"/>
                </a:solidFill>
                <a:latin typeface="Arial"/>
                <a:ea typeface="Microsoft YaHei"/>
              </a:rPr>
              <a:t>Marketing and Consumer Markets</a:t>
            </a:r>
          </a:p>
        </p:txBody>
      </p:sp>
      <p:sp>
        <p:nvSpPr>
          <p:cNvPr id="10" name="Rounded Rectangle 9"/>
          <p:cNvSpPr/>
          <p:nvPr/>
        </p:nvSpPr>
        <p:spPr>
          <a:xfrm>
            <a:off x="822960" y="3657600"/>
            <a:ext cx="1645920" cy="50292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CEFR B1→B2</a:t>
            </a:r>
          </a:p>
        </p:txBody>
      </p:sp>
      <p:sp>
        <p:nvSpPr>
          <p:cNvPr id="11" name="Rounded Rectangle 10"/>
          <p:cNvSpPr/>
          <p:nvPr/>
        </p:nvSpPr>
        <p:spPr>
          <a:xfrm>
            <a:off x="2606040" y="3657600"/>
            <a:ext cx="1527048" cy="50292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6 Lessons</a:t>
            </a:r>
          </a:p>
        </p:txBody>
      </p:sp>
      <p:sp>
        <p:nvSpPr>
          <p:cNvPr id="12" name="Rounded Rectangle 11"/>
          <p:cNvSpPr/>
          <p:nvPr/>
        </p:nvSpPr>
        <p:spPr>
          <a:xfrm>
            <a:off x="4270248" y="3657600"/>
            <a:ext cx="1408176" cy="50292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同桌英语</a:t>
            </a:r>
          </a:p>
        </p:txBody>
      </p:sp>
      <p:sp>
        <p:nvSpPr>
          <p:cNvPr id="13" name="TextBox 12"/>
          <p:cNvSpPr txBox="1"/>
          <p:nvPr/>
        </p:nvSpPr>
        <p:spPr>
          <a:xfrm>
            <a:off x="822960" y="4434840"/>
            <a:ext cx="8229600" cy="1463040"/>
          </a:xfrm>
          <a:prstGeom prst="rect">
            <a:avLst/>
          </a:prstGeom>
          <a:noFill/>
        </p:spPr>
        <p:txBody>
          <a:bodyPr wrap="square" anchor="t">
            <a:spAutoFit/>
          </a:bodyPr>
          <a:lstStyle/>
          <a:p>
            <a:pPr algn="l">
              <a:lnSpc>
                <a:spcPct val="115000"/>
              </a:lnSpc>
              <a:spcAft>
                <a:spcPts val="800"/>
              </a:spcAft>
            </a:pPr>
            <a:r>
              <a:rPr sz="1600" b="0">
                <a:solidFill>
                  <a:srgbClr val="FFFFFF"/>
                </a:solidFill>
                <a:latin typeface="Arial"/>
                <a:ea typeface="Microsoft YaHei"/>
              </a:rPr>
              <a:t>L64 Marketing Strategies · L65 When Ads Get Personal · L66 Recession Marketing · L67 When a Brand Stunt Backfires · L68 Global Luxury Slowdown · L69 Global Alcohol Consumption Cools</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Team Challenge 小组积分赛</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 rules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a:t>
            </a:r>
          </a:p>
        </p:txBody>
      </p:sp>
      <p:sp>
        <p:nvSpPr>
          <p:cNvPr id="7" name="TextBox 6"/>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Speak up, answer fast, role-play well — every point counts.  积极发言、快速答题、精彩演绎都能得分</a:t>
            </a:r>
          </a:p>
        </p:txBody>
      </p:sp>
      <p:sp>
        <p:nvSpPr>
          <p:cNvPr id="8" name="Rounded Rectangle 7"/>
          <p:cNvSpPr/>
          <p:nvPr/>
        </p:nvSpPr>
        <p:spPr>
          <a:xfrm>
            <a:off x="548640" y="1691640"/>
            <a:ext cx="2606040" cy="2834640"/>
          </a:xfrm>
          <a:prstGeom prst="roundRect">
            <a:avLst>
              <a:gd name="adj" fmla="val 6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691640"/>
            <a:ext cx="2606040" cy="777240"/>
          </a:xfrm>
          <a:prstGeom prst="roundRect">
            <a:avLst>
              <a:gd name="adj" fmla="val 15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Alpha</a:t>
            </a:r>
          </a:p>
        </p:txBody>
      </p:sp>
      <p:sp>
        <p:nvSpPr>
          <p:cNvPr id="10" name="TextBox 9"/>
          <p:cNvSpPr txBox="1"/>
          <p:nvPr/>
        </p:nvSpPr>
        <p:spPr>
          <a:xfrm>
            <a:off x="54864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1" name="TextBox 10"/>
          <p:cNvSpPr txBox="1"/>
          <p:nvPr/>
        </p:nvSpPr>
        <p:spPr>
          <a:xfrm>
            <a:off x="54864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2" name="Rounded Rectangle 11"/>
          <p:cNvSpPr/>
          <p:nvPr/>
        </p:nvSpPr>
        <p:spPr>
          <a:xfrm>
            <a:off x="3383280" y="1691640"/>
            <a:ext cx="2606040" cy="2834640"/>
          </a:xfrm>
          <a:prstGeom prst="roundRect">
            <a:avLst>
              <a:gd name="adj" fmla="val 6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1691640"/>
            <a:ext cx="2606040" cy="777240"/>
          </a:xfrm>
          <a:prstGeom prst="roundRect">
            <a:avLst>
              <a:gd name="adj" fmla="val 15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Bravo</a:t>
            </a:r>
          </a:p>
        </p:txBody>
      </p:sp>
      <p:sp>
        <p:nvSpPr>
          <p:cNvPr id="14" name="TextBox 13"/>
          <p:cNvSpPr txBox="1"/>
          <p:nvPr/>
        </p:nvSpPr>
        <p:spPr>
          <a:xfrm>
            <a:off x="338328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5" name="TextBox 14"/>
          <p:cNvSpPr txBox="1"/>
          <p:nvPr/>
        </p:nvSpPr>
        <p:spPr>
          <a:xfrm>
            <a:off x="338328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6" name="Rounded Rectangle 15"/>
          <p:cNvSpPr/>
          <p:nvPr/>
        </p:nvSpPr>
        <p:spPr>
          <a:xfrm>
            <a:off x="6217920" y="1691640"/>
            <a:ext cx="2606040" cy="2834640"/>
          </a:xfrm>
          <a:prstGeom prst="roundRect">
            <a:avLst>
              <a:gd name="adj" fmla="val 6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691640"/>
            <a:ext cx="2606040" cy="77724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Charlie</a:t>
            </a:r>
          </a:p>
        </p:txBody>
      </p:sp>
      <p:sp>
        <p:nvSpPr>
          <p:cNvPr id="18" name="TextBox 17"/>
          <p:cNvSpPr txBox="1"/>
          <p:nvPr/>
        </p:nvSpPr>
        <p:spPr>
          <a:xfrm>
            <a:off x="621792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9" name="TextBox 18"/>
          <p:cNvSpPr txBox="1"/>
          <p:nvPr/>
        </p:nvSpPr>
        <p:spPr>
          <a:xfrm>
            <a:off x="621792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0" name="Rounded Rectangle 19"/>
          <p:cNvSpPr/>
          <p:nvPr/>
        </p:nvSpPr>
        <p:spPr>
          <a:xfrm>
            <a:off x="9052560" y="1691640"/>
            <a:ext cx="2606040" cy="2834640"/>
          </a:xfrm>
          <a:prstGeom prst="roundRect">
            <a:avLst>
              <a:gd name="adj" fmla="val 6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52560" y="1691640"/>
            <a:ext cx="2606040" cy="777240"/>
          </a:xfrm>
          <a:prstGeom prst="roundRect">
            <a:avLst>
              <a:gd name="adj" fmla="val 15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Delta</a:t>
            </a:r>
          </a:p>
        </p:txBody>
      </p:sp>
      <p:sp>
        <p:nvSpPr>
          <p:cNvPr id="22" name="TextBox 21"/>
          <p:cNvSpPr txBox="1"/>
          <p:nvPr/>
        </p:nvSpPr>
        <p:spPr>
          <a:xfrm>
            <a:off x="905256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23" name="TextBox 22"/>
          <p:cNvSpPr txBox="1"/>
          <p:nvPr/>
        </p:nvSpPr>
        <p:spPr>
          <a:xfrm>
            <a:off x="905256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4" name="Rounded Rectangle 23"/>
          <p:cNvSpPr/>
          <p:nvPr/>
        </p:nvSpPr>
        <p:spPr>
          <a:xfrm>
            <a:off x="54864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Speak in English  +1</a:t>
            </a:r>
          </a:p>
        </p:txBody>
      </p:sp>
      <p:sp>
        <p:nvSpPr>
          <p:cNvPr id="25" name="Rounded Rectangle 24"/>
          <p:cNvSpPr/>
          <p:nvPr/>
        </p:nvSpPr>
        <p:spPr>
          <a:xfrm>
            <a:off x="338328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Fastest correct answer  +1</a:t>
            </a:r>
          </a:p>
        </p:txBody>
      </p:sp>
      <p:sp>
        <p:nvSpPr>
          <p:cNvPr id="26" name="Rounded Rectangle 25"/>
          <p:cNvSpPr/>
          <p:nvPr/>
        </p:nvSpPr>
        <p:spPr>
          <a:xfrm>
            <a:off x="621792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Best role play  +2</a:t>
            </a:r>
          </a:p>
        </p:txBody>
      </p:sp>
      <p:sp>
        <p:nvSpPr>
          <p:cNvPr id="27" name="Rounded Rectangle 26"/>
          <p:cNvSpPr/>
          <p:nvPr/>
        </p:nvSpPr>
        <p:spPr>
          <a:xfrm>
            <a:off x="905256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Lucky Box  ?</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Unit Roadmap 单元路线图</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Click a lesson</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a:t>
            </a:r>
          </a:p>
        </p:txBody>
      </p:sp>
      <p:sp>
        <p:nvSpPr>
          <p:cNvPr id="7" name="Rounded Rectangle 6">
            <a:hlinkClick action="ppaction://hlinksldjump" r:id="rId3"/>
          </p:cNvPr>
          <p:cNvSpPr/>
          <p:nvPr/>
        </p:nvSpPr>
        <p:spPr>
          <a:xfrm>
            <a:off x="548640" y="155448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85166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64</a:t>
            </a:r>
          </a:p>
        </p:txBody>
      </p:sp>
      <p:sp>
        <p:nvSpPr>
          <p:cNvPr id="9" name="TextBox 8"/>
          <p:cNvSpPr txBox="1"/>
          <p:nvPr/>
        </p:nvSpPr>
        <p:spPr>
          <a:xfrm>
            <a:off x="1645920"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Marketing Strategies</a:t>
            </a:r>
          </a:p>
          <a:p>
            <a:pPr algn="l">
              <a:lnSpc>
                <a:spcPct val="100000"/>
              </a:lnSpc>
              <a:spcAft>
                <a:spcPts val="800"/>
              </a:spcAft>
            </a:pPr>
            <a:r>
              <a:rPr sz="1400" b="0">
                <a:solidFill>
                  <a:srgbClr val="5F677A"/>
                </a:solidFill>
                <a:latin typeface="Arial"/>
                <a:ea typeface="Microsoft YaHei"/>
              </a:rPr>
              <a:t>营销策略</a:t>
            </a:r>
          </a:p>
        </p:txBody>
      </p:sp>
      <p:sp>
        <p:nvSpPr>
          <p:cNvPr id="10" name="Rounded Rectangle 9">
            <a:hlinkClick action="ppaction://hlinksldjump" r:id="rId4"/>
          </p:cNvPr>
          <p:cNvSpPr/>
          <p:nvPr/>
        </p:nvSpPr>
        <p:spPr>
          <a:xfrm>
            <a:off x="4307738" y="155448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7466" y="185166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65</a:t>
            </a:r>
          </a:p>
        </p:txBody>
      </p:sp>
      <p:sp>
        <p:nvSpPr>
          <p:cNvPr id="12" name="TextBox 11"/>
          <p:cNvSpPr txBox="1"/>
          <p:nvPr/>
        </p:nvSpPr>
        <p:spPr>
          <a:xfrm>
            <a:off x="5405018"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When Ads Get Personal</a:t>
            </a:r>
          </a:p>
          <a:p>
            <a:pPr algn="l">
              <a:lnSpc>
                <a:spcPct val="100000"/>
              </a:lnSpc>
              <a:spcAft>
                <a:spcPts val="800"/>
              </a:spcAft>
            </a:pPr>
            <a:r>
              <a:rPr sz="1400" b="0">
                <a:solidFill>
                  <a:srgbClr val="5F677A"/>
                </a:solidFill>
                <a:latin typeface="Arial"/>
                <a:ea typeface="Microsoft YaHei"/>
              </a:rPr>
              <a:t>当广告越来越懂你</a:t>
            </a:r>
          </a:p>
        </p:txBody>
      </p:sp>
      <p:sp>
        <p:nvSpPr>
          <p:cNvPr id="13" name="Rounded Rectangle 12">
            <a:hlinkClick action="ppaction://hlinksldjump" r:id="rId5"/>
          </p:cNvPr>
          <p:cNvSpPr/>
          <p:nvPr/>
        </p:nvSpPr>
        <p:spPr>
          <a:xfrm>
            <a:off x="8066836" y="1554480"/>
            <a:ext cx="3576218" cy="123444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76564" y="1851660"/>
            <a:ext cx="8686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66</a:t>
            </a:r>
          </a:p>
        </p:txBody>
      </p:sp>
      <p:sp>
        <p:nvSpPr>
          <p:cNvPr id="15" name="TextBox 14"/>
          <p:cNvSpPr txBox="1"/>
          <p:nvPr/>
        </p:nvSpPr>
        <p:spPr>
          <a:xfrm>
            <a:off x="9164116"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Recession Marketing</a:t>
            </a:r>
          </a:p>
          <a:p>
            <a:pPr algn="l">
              <a:lnSpc>
                <a:spcPct val="100000"/>
              </a:lnSpc>
              <a:spcAft>
                <a:spcPts val="800"/>
              </a:spcAft>
            </a:pPr>
            <a:r>
              <a:rPr sz="1400" b="0">
                <a:solidFill>
                  <a:srgbClr val="5F677A"/>
                </a:solidFill>
                <a:latin typeface="Arial"/>
                <a:ea typeface="Microsoft YaHei"/>
              </a:rPr>
              <a:t>经济衰退营销</a:t>
            </a:r>
          </a:p>
        </p:txBody>
      </p:sp>
      <p:sp>
        <p:nvSpPr>
          <p:cNvPr id="16" name="Rounded Rectangle 15">
            <a:hlinkClick action="ppaction://hlinksldjump" r:id="rId6"/>
          </p:cNvPr>
          <p:cNvSpPr/>
          <p:nvPr/>
        </p:nvSpPr>
        <p:spPr>
          <a:xfrm>
            <a:off x="548640" y="2971800"/>
            <a:ext cx="3576218" cy="123444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8368" y="3268980"/>
            <a:ext cx="868680" cy="640080"/>
          </a:xfrm>
          <a:prstGeom prst="roundRect">
            <a:avLst>
              <a:gd name="adj" fmla="val 3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67</a:t>
            </a:r>
          </a:p>
        </p:txBody>
      </p:sp>
      <p:sp>
        <p:nvSpPr>
          <p:cNvPr id="18" name="TextBox 17"/>
          <p:cNvSpPr txBox="1"/>
          <p:nvPr/>
        </p:nvSpPr>
        <p:spPr>
          <a:xfrm>
            <a:off x="1645920"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When a Brand Stunt Backfires</a:t>
            </a:r>
          </a:p>
          <a:p>
            <a:pPr algn="l">
              <a:lnSpc>
                <a:spcPct val="100000"/>
              </a:lnSpc>
              <a:spcAft>
                <a:spcPts val="800"/>
              </a:spcAft>
            </a:pPr>
            <a:r>
              <a:rPr sz="1400" b="0">
                <a:solidFill>
                  <a:srgbClr val="5F677A"/>
                </a:solidFill>
                <a:latin typeface="Arial"/>
                <a:ea typeface="Microsoft YaHei"/>
              </a:rPr>
              <a:t>当品牌营销弄巧成拙</a:t>
            </a:r>
          </a:p>
        </p:txBody>
      </p:sp>
      <p:sp>
        <p:nvSpPr>
          <p:cNvPr id="19" name="Rounded Rectangle 18">
            <a:hlinkClick action="ppaction://hlinksldjump" r:id="rId7"/>
          </p:cNvPr>
          <p:cNvSpPr/>
          <p:nvPr/>
        </p:nvSpPr>
        <p:spPr>
          <a:xfrm>
            <a:off x="4307738" y="2971800"/>
            <a:ext cx="3576218" cy="12344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7466" y="3268980"/>
            <a:ext cx="868680" cy="640080"/>
          </a:xfrm>
          <a:prstGeom prst="roundRect">
            <a:avLst>
              <a:gd name="adj" fmla="val 3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68</a:t>
            </a:r>
          </a:p>
        </p:txBody>
      </p:sp>
      <p:sp>
        <p:nvSpPr>
          <p:cNvPr id="21" name="TextBox 20"/>
          <p:cNvSpPr txBox="1"/>
          <p:nvPr/>
        </p:nvSpPr>
        <p:spPr>
          <a:xfrm>
            <a:off x="5405018"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Global Luxury Slowdown</a:t>
            </a:r>
          </a:p>
          <a:p>
            <a:pPr algn="l">
              <a:lnSpc>
                <a:spcPct val="100000"/>
              </a:lnSpc>
              <a:spcAft>
                <a:spcPts val="800"/>
              </a:spcAft>
            </a:pPr>
            <a:r>
              <a:rPr sz="1400" b="0">
                <a:solidFill>
                  <a:srgbClr val="5F677A"/>
                </a:solidFill>
                <a:latin typeface="Arial"/>
                <a:ea typeface="Microsoft YaHei"/>
              </a:rPr>
              <a:t>全球奢侈品市场放缓</a:t>
            </a:r>
          </a:p>
        </p:txBody>
      </p:sp>
      <p:sp>
        <p:nvSpPr>
          <p:cNvPr id="22" name="Rounded Rectangle 21">
            <a:hlinkClick action="ppaction://hlinksldjump" r:id="rId8"/>
          </p:cNvPr>
          <p:cNvSpPr/>
          <p:nvPr/>
        </p:nvSpPr>
        <p:spPr>
          <a:xfrm>
            <a:off x="8066836" y="297180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176564" y="326898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69</a:t>
            </a:r>
          </a:p>
        </p:txBody>
      </p:sp>
      <p:sp>
        <p:nvSpPr>
          <p:cNvPr id="24" name="TextBox 23"/>
          <p:cNvSpPr txBox="1"/>
          <p:nvPr/>
        </p:nvSpPr>
        <p:spPr>
          <a:xfrm>
            <a:off x="9164116"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Global Alcohol Consumption Cools</a:t>
            </a:r>
          </a:p>
          <a:p>
            <a:pPr algn="l">
              <a:lnSpc>
                <a:spcPct val="100000"/>
              </a:lnSpc>
              <a:spcAft>
                <a:spcPts val="800"/>
              </a:spcAft>
            </a:pPr>
            <a:r>
              <a:rPr sz="1400" b="0">
                <a:solidFill>
                  <a:srgbClr val="5F677A"/>
                </a:solidFill>
                <a:latin typeface="Arial"/>
                <a:ea typeface="Microsoft YaHei"/>
              </a:rPr>
              <a:t>全球酒精消费量下降</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7 · Lesson 64 Marketing Strategies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64</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Marketing Strategies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营销策略</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describe and compare marketing strategies: target markets, positioning, the marketing mix, channels and measuring results.</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64 Marketing Strategies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is the last product you bought because of an advertisement?</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Which brand do you feel loyal to, and why?</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marketing channels do companies use today?</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is the difference between marketing and selling?</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would you promote a new product on a small budget?</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marketing mix = 营销组合(4P:product, price, place, promotion)。target market = 目标市场。第 1 题用 “I bought … after seeing…”。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64 Marketing Strategies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Present a simple marketing plan for a new product.</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product</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target customers</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message</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channels</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budget and measure</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Our target market is…   💬 We’ll position it as…   💬 We’ll measure success by…</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position it as… = 将其定位为……。measure success by… = 以……衡量成功。</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Reading · Knowing Who You Are Talking To</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129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64 Marketing Strategies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Good marketing starts with a question: who exactly are we trying to reach? Companies divide the market into segments based on age, income, lifestyle or needs, then choose the segments where they can serve customers better than their rivals. Next comes positioning: the place the brand occupies in the customer’s mind, such as “affordable”, “premium” or “eco-friendly”. The marketing mix then covers the product itself, its price, where it is sold and how it is promoted. Today promotion runs through many channels, including social media, email, events, search advertising and partnerships. A small company with limited budget often does better by focusing on one segment and a few channels than by trying to reach everybody. Finally, results must be measured: sales, enquiries and customer feedback show what is working.</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64 Marketing Strategies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do companies do first?</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Decide who to reach by dividing the market into segments.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is positioning?</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 place the brand occupies in the customer’s mind, e.g. premium or affordable.</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works best for small companies?</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Focusing on one segment and a few channels.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Marketing basics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64 Marketing Strategies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营销基础</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target market</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目标市场</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“Our target market is young professionals.”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market segment</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细分市场</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serve three segments.”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brand awareness</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品牌知名度</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campaign increased brand awareness.”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positioning</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品牌定位</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“Our positioning is premium.”</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promotion</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促销/推广</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promotion starts in May.”</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marketing mix</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营销组合</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marketing mix includes price and place.”</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Strategy in action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64 Marketing Strategies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策略落地</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niche market</a:t>
            </a:r>
          </a:p>
          <a:p>
            <a:pPr algn="l">
              <a:lnSpc>
                <a:spcPct val="115000"/>
              </a:lnSpc>
              <a:spcAft>
                <a:spcPts val="800"/>
              </a:spcAft>
            </a:pPr>
            <a:r>
              <a:rPr sz="1300" b="0">
                <a:solidFill>
                  <a:srgbClr val="5F677A"/>
                </a:solidFill>
                <a:latin typeface="Arial"/>
                <a:ea typeface="Microsoft YaHei"/>
              </a:rPr>
              <a:t>noun 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利基市场</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serve a niche market.”</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stand out from the crowd</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脱颖而出</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packaging helps us stand out from the crowd.”</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reach out to</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联系/触达</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reach out to customers via email.”</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word of mouth</a:t>
            </a:r>
          </a:p>
          <a:p>
            <a:pPr algn="l">
              <a:lnSpc>
                <a:spcPct val="115000"/>
              </a:lnSpc>
              <a:spcAft>
                <a:spcPts val="800"/>
              </a:spcAft>
            </a:pPr>
            <a:r>
              <a:rPr sz="1300" b="0">
                <a:solidFill>
                  <a:srgbClr val="5F677A"/>
                </a:solidFill>
                <a:latin typeface="Arial"/>
                <a:ea typeface="Microsoft YaHei"/>
              </a:rPr>
              <a:t>noun phrase</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口碑</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“Word of mouth is our best marketing.”</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conversion rate</a:t>
            </a:r>
          </a:p>
          <a:p>
            <a:pPr algn="l">
              <a:lnSpc>
                <a:spcPct val="115000"/>
              </a:lnSpc>
              <a:spcAft>
                <a:spcPts val="800"/>
              </a:spcAft>
            </a:pPr>
            <a:r>
              <a:rPr sz="1300" b="0">
                <a:solidFill>
                  <a:srgbClr val="5F677A"/>
                </a:solidFill>
                <a:latin typeface="Arial"/>
                <a:ea typeface="Microsoft YaHei"/>
              </a:rPr>
              <a:t>noun phrase</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转化率</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conversion rate is 3%.”</a:t>
            </a:r>
          </a:p>
        </p:txBody>
      </p:sp>
      <p:sp>
        <p:nvSpPr>
          <p:cNvPr id="34" name="Rounded Rectangle 33"/>
          <p:cNvSpPr/>
          <p:nvPr/>
        </p:nvSpPr>
        <p:spPr>
          <a:xfrm>
            <a:off x="548640" y="52400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return on ad spend</a:t>
            </a:r>
          </a:p>
          <a:p>
            <a:pPr algn="l">
              <a:lnSpc>
                <a:spcPct val="115000"/>
              </a:lnSpc>
              <a:spcAft>
                <a:spcPts val="800"/>
              </a:spcAft>
            </a:pPr>
            <a:r>
              <a:rPr sz="1300" b="0">
                <a:solidFill>
                  <a:srgbClr val="5F677A"/>
                </a:solidFill>
                <a:latin typeface="Arial"/>
                <a:ea typeface="Microsoft YaHei"/>
              </a:rPr>
              <a:t>noun phrase</a:t>
            </a:r>
          </a:p>
        </p:txBody>
      </p:sp>
      <p:sp>
        <p:nvSpPr>
          <p:cNvPr id="37" name="TextBox 36"/>
          <p:cNvSpPr txBox="1"/>
          <p:nvPr/>
        </p:nvSpPr>
        <p:spPr>
          <a:xfrm>
            <a:off x="4206240" y="52857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广告支出回报</a:t>
            </a:r>
          </a:p>
        </p:txBody>
      </p:sp>
      <p:sp>
        <p:nvSpPr>
          <p:cNvPr id="38" name="TextBox 37"/>
          <p:cNvSpPr txBox="1"/>
          <p:nvPr/>
        </p:nvSpPr>
        <p:spPr>
          <a:xfrm>
            <a:off x="6675120" y="52857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watch return on ad spend closely.”</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64 Marketing Strategies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细分市场</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market segment</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转化率</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conversion rate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营销组合</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marketing mix</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脱颖而出</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stand out from the crowd</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品牌知名度</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brand awareness</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促销/推广</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promotion</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利基市场</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niche market</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广告支出回报</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return on ad spend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64 Marketing Strategies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79222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target market</a:t>
            </a:r>
          </a:p>
        </p:txBody>
      </p:sp>
      <p:sp>
        <p:nvSpPr>
          <p:cNvPr id="10" name="Rounded Rectangle 9"/>
          <p:cNvSpPr/>
          <p:nvPr/>
        </p:nvSpPr>
        <p:spPr>
          <a:xfrm>
            <a:off x="3895344" y="987552"/>
            <a:ext cx="124358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segments</a:t>
            </a:r>
          </a:p>
        </p:txBody>
      </p:sp>
      <p:sp>
        <p:nvSpPr>
          <p:cNvPr id="11" name="Rounded Rectangle 10"/>
          <p:cNvSpPr/>
          <p:nvPr/>
        </p:nvSpPr>
        <p:spPr>
          <a:xfrm>
            <a:off x="5230368" y="987552"/>
            <a:ext cx="2011679"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brand awareness</a:t>
            </a:r>
          </a:p>
        </p:txBody>
      </p:sp>
      <p:sp>
        <p:nvSpPr>
          <p:cNvPr id="12" name="Rounded Rectangle 11"/>
          <p:cNvSpPr/>
          <p:nvPr/>
        </p:nvSpPr>
        <p:spPr>
          <a:xfrm>
            <a:off x="7333487" y="987552"/>
            <a:ext cx="1572767"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positioning</a:t>
            </a:r>
          </a:p>
        </p:txBody>
      </p:sp>
      <p:sp>
        <p:nvSpPr>
          <p:cNvPr id="13" name="Rounded Rectangle 12"/>
          <p:cNvSpPr/>
          <p:nvPr/>
        </p:nvSpPr>
        <p:spPr>
          <a:xfrm>
            <a:off x="8997694" y="987552"/>
            <a:ext cx="1682495"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niche market</a:t>
            </a:r>
          </a:p>
        </p:txBody>
      </p:sp>
      <p:sp>
        <p:nvSpPr>
          <p:cNvPr id="14" name="Rounded Rectangle 13"/>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Our _______ is women aged 25 to 40.</a:t>
            </a:r>
          </a:p>
        </p:txBody>
      </p:sp>
      <p:sp>
        <p:nvSpPr>
          <p:cNvPr id="16" name="Rounded Rectangle 15"/>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target market</a:t>
            </a:r>
          </a:p>
        </p:txBody>
      </p:sp>
      <p:sp>
        <p:nvSpPr>
          <p:cNvPr id="17" name="Rounded Rectangle 16"/>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We divide customers into three main _______.</a:t>
            </a:r>
          </a:p>
        </p:txBody>
      </p:sp>
      <p:sp>
        <p:nvSpPr>
          <p:cNvPr id="19" name="Rounded Rectangle 18"/>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segments</a:t>
            </a:r>
          </a:p>
        </p:txBody>
      </p:sp>
      <p:sp>
        <p:nvSpPr>
          <p:cNvPr id="20" name="Rounded Rectangle 19"/>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The video campaign raised _______ among young people.</a:t>
            </a:r>
          </a:p>
        </p:txBody>
      </p:sp>
      <p:sp>
        <p:nvSpPr>
          <p:cNvPr id="22" name="Rounded Rectangle 21"/>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brand awareness</a:t>
            </a:r>
          </a:p>
        </p:txBody>
      </p:sp>
      <p:sp>
        <p:nvSpPr>
          <p:cNvPr id="23" name="Rounded Rectangle 22"/>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Our _______ is “premium but affordable”.</a:t>
            </a:r>
          </a:p>
        </p:txBody>
      </p:sp>
      <p:sp>
        <p:nvSpPr>
          <p:cNvPr id="25" name="Rounded Rectangle 24"/>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positioning</a:t>
            </a:r>
          </a:p>
        </p:txBody>
      </p:sp>
      <p:sp>
        <p:nvSpPr>
          <p:cNvPr id="26" name="Rounded Rectangle 25"/>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They found success in a small _______ for vegan snacks.</a:t>
            </a:r>
          </a:p>
        </p:txBody>
      </p:sp>
      <p:sp>
        <p:nvSpPr>
          <p:cNvPr id="28" name="Rounded Rectangle 27"/>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niche market</a:t>
            </a:r>
          </a:p>
        </p:txBody>
      </p:sp>
      <p:sp>
        <p:nvSpPr>
          <p:cNvPr id="29" name="Rounded Rectangle 28"/>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Our _______ is only 2%, so we need to improve the website.</a:t>
            </a:r>
          </a:p>
        </p:txBody>
      </p:sp>
      <p:sp>
        <p:nvSpPr>
          <p:cNvPr id="31" name="Rounded Rectangle 30"/>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conversion rate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marketing (uncountable), advertisement (noun: ad/advert), advertise (verb). Advertising is uncountable (“a lot of advertising”), an advertisement. Launch a campaign / product, run a campaign. Target as verb: “target young people”. Brand (not “bland”).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4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fade">
                                      <p:cBhvr>
                                        <p:cTn id="9" dur="4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4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Role Play · Presenting a simple marketing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64 Marketing Strategies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介绍简单的营销计划</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present a plan for a new reusable water bottle to your marketing director.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Kay Lin, marketing executive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Ms Doyle, marketing director</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Presenting a simple marketing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64 Marketing Strategies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Kay</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Ms Doyle, I’d like to take you through the plan for the new bottle.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Ms Doyle</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Please do. Who’s the target market?</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Environmentally conscious professionals aged twenty-five to forty-five, living in cities.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how will we position it?</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As a stylish, durable bottle that helps people cut plastic waste. Premium, but not luxury.</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about price?</a:t>
            </a:r>
          </a:p>
        </p:txBody>
      </p:sp>
      <p:sp>
        <p:nvSpPr>
          <p:cNvPr id="26" name="Rounded Rectangle 25"/>
          <p:cNvSpPr/>
          <p:nvPr/>
        </p:nvSpPr>
        <p:spPr>
          <a:xfrm>
            <a:off x="548640" y="539800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8369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539800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Around thirty pounds, which compares well with similar products.</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Presenting a simple marketing plan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64 Marketing Strategies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will you promote it?</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Mainly through social media and partnerships with fitness studios. Word of mouth will matter a lot.</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What’s the budget?</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Fifty thousand pounds over six months.</a:t>
            </a:r>
          </a:p>
        </p:txBody>
      </p:sp>
      <p:sp>
        <p:nvSpPr>
          <p:cNvPr id="20" name="Rounded Rectangle 19"/>
          <p:cNvSpPr/>
          <p:nvPr/>
        </p:nvSpPr>
        <p:spPr>
          <a:xfrm>
            <a:off x="10911535" y="394411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394411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how will we know it’s working?</a:t>
            </a:r>
          </a:p>
        </p:txBody>
      </p:sp>
      <p:sp>
        <p:nvSpPr>
          <p:cNvPr id="23" name="Rounded Rectangle 22"/>
          <p:cNvSpPr/>
          <p:nvPr/>
        </p:nvSpPr>
        <p:spPr>
          <a:xfrm>
            <a:off x="548640" y="45262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4" name="TextBox 23"/>
          <p:cNvSpPr txBox="1"/>
          <p:nvPr/>
        </p:nvSpPr>
        <p:spPr>
          <a:xfrm>
            <a:off x="274320" y="49651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1463040" y="45262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We’ll track website visits, conversion rate and sales per channel. If any channel underperforms, we’ll move the money.</a:t>
            </a:r>
          </a:p>
        </p:txBody>
      </p:sp>
      <p:sp>
        <p:nvSpPr>
          <p:cNvPr id="26" name="Rounded Rectangle 25"/>
          <p:cNvSpPr/>
          <p:nvPr/>
        </p:nvSpPr>
        <p:spPr>
          <a:xfrm>
            <a:off x="10911535" y="53980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7" name="TextBox 26"/>
          <p:cNvSpPr txBox="1"/>
          <p:nvPr/>
        </p:nvSpPr>
        <p:spPr>
          <a:xfrm>
            <a:off x="10637215" y="58369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2133295" y="53980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Sounds sensible. Please send me the details.</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Your Turn · Presenting a simple marketing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64 Marketing Strategies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present a marketing plan.</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Marketer. Product: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Director. Ask about customers, price and measurement.</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target market · position it as · channels · budget · word of mouth · measure</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Cover customer, positioning, channels and measurement.</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Ms Doyle says: “The budget is half that.” Adapt your plan.</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Describe a brand that you think is positioned well.</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Explain the difference between a niche and a mass market.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64 Marketing Strategies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Which marketing channel is most effective today?</a:t>
            </a:r>
          </a:p>
          <a:p>
            <a:pPr algn="l">
              <a:lnSpc>
                <a:spcPct val="115000"/>
              </a:lnSpc>
              <a:spcAft>
                <a:spcPts val="800"/>
              </a:spcAft>
            </a:pPr>
            <a:r>
              <a:rPr sz="1400" b="0">
                <a:solidFill>
                  <a:srgbClr val="5F677A"/>
                </a:solidFill>
                <a:latin typeface="Arial"/>
                <a:ea typeface="Microsoft YaHei"/>
              </a:rPr>
              <a:t>💬 “I think … is the most effective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you trust advertisements?</a:t>
            </a:r>
          </a:p>
          <a:p>
            <a:pPr algn="l">
              <a:lnSpc>
                <a:spcPct val="115000"/>
              </a:lnSpc>
              <a:spcAft>
                <a:spcPts val="800"/>
              </a:spcAft>
            </a:pPr>
            <a:r>
              <a:rPr sz="1400" b="0">
                <a:solidFill>
                  <a:srgbClr val="5F677A"/>
                </a:solidFill>
                <a:latin typeface="Arial"/>
                <a:ea typeface="Microsoft YaHei"/>
              </a:rPr>
              <a:t>💬 “I’m somewhat sceptical because… / It depends on…”</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a small company compete with big brands?</a:t>
            </a:r>
          </a:p>
          <a:p>
            <a:pPr algn="l">
              <a:lnSpc>
                <a:spcPct val="115000"/>
              </a:lnSpc>
              <a:spcAft>
                <a:spcPts val="800"/>
              </a:spcAft>
            </a:pPr>
            <a:r>
              <a:rPr sz="1400" b="0">
                <a:solidFill>
                  <a:srgbClr val="5F677A"/>
                </a:solidFill>
                <a:latin typeface="Arial"/>
                <a:ea typeface="Microsoft YaHei"/>
              </a:rPr>
              <a:t>💬 “By focusing on… / They could…”</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makes a brand memorable?</a:t>
            </a:r>
          </a:p>
          <a:p>
            <a:pPr algn="l">
              <a:lnSpc>
                <a:spcPct val="115000"/>
              </a:lnSpc>
              <a:spcAft>
                <a:spcPts val="800"/>
              </a:spcAft>
            </a:pPr>
            <a:r>
              <a:rPr sz="1400" b="0">
                <a:solidFill>
                  <a:srgbClr val="5F677A"/>
                </a:solidFill>
                <a:latin typeface="Arial"/>
                <a:ea typeface="Microsoft YaHei"/>
              </a:rPr>
              <a:t>💬 “A memorable brand has… / It usually…”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64 Marketing Strategies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A small company can compete by choosing a niche that big brands ignore and serving it very well. Big brands have huge budgets, but they often can’t be personal or flexible. A small business can build direct relationships, respond quickly to feedback and tell an authentic story. Over time, word of mouth from loyal customers can be more powerful than expensive advertising.</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niche = 利基市场。authentic = 真实的。”tell a story” = 讲品牌故事。 flexible = 灵活的。</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64 Marketing Strategies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42595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Everyone can buy it.</a:t>
                      </a:r>
                    </a:p>
                  </a:txBody>
                  <a:tcPr anchor="ctr">
                    <a:solidFill>
                      <a:srgbClr val="FFFFFF"/>
                    </a:solidFill>
                  </a:tcPr>
                </a:tc>
                <a:tc>
                  <a:txBody>
                    <a:bodyPr wrap="square"/>
                    <a:lstStyle/>
                    <a:p>
                      <a:r>
                        <a:rPr sz="1600" b="0">
                          <a:solidFill>
                            <a:srgbClr val="1F2A44"/>
                          </a:solidFill>
                          <a:latin typeface="Arial"/>
                          <a:ea typeface="Microsoft YaHei"/>
                        </a:rPr>
                        <a:t>The product appeals to a wide audience.</a:t>
                      </a:r>
                    </a:p>
                  </a:txBody>
                  <a:tcPr anchor="ctr">
                    <a:solidFill>
                      <a:srgbClr val="FFFFFF"/>
                    </a:solidFill>
                  </a:tcPr>
                </a:tc>
                <a:tc>
                  <a:txBody>
                    <a:bodyPr wrap="square"/>
                    <a:lstStyle/>
                    <a:p>
                      <a:r>
                        <a:rPr sz="1600" b="0">
                          <a:solidFill>
                            <a:srgbClr val="FF6B5B"/>
                          </a:solidFill>
                          <a:latin typeface="Arial"/>
                          <a:ea typeface="Microsoft YaHei"/>
                        </a:rPr>
                        <a:t>专业</a:t>
                      </a:r>
                    </a:p>
                  </a:txBody>
                  <a:tcPr anchor="ctr">
                    <a:solidFill>
                      <a:srgbClr val="FFFFFF"/>
                    </a:solidFill>
                  </a:tcPr>
                </a:tc>
              </a:tr>
              <a:tr h="652272">
                <a:tc>
                  <a:txBody>
                    <a:bodyPr wrap="square"/>
                    <a:lstStyle/>
                    <a:p>
                      <a:r>
                        <a:rPr sz="1600" b="1">
                          <a:solidFill>
                            <a:srgbClr val="1F2A44"/>
                          </a:solidFill>
                          <a:latin typeface="Arial"/>
                          <a:ea typeface="Microsoft YaHei"/>
                        </a:rPr>
                        <a:t>We tell people about it.</a:t>
                      </a:r>
                    </a:p>
                  </a:txBody>
                  <a:tcPr anchor="ctr">
                    <a:solidFill>
                      <a:srgbClr val="FFEFD9"/>
                    </a:solidFill>
                  </a:tcPr>
                </a:tc>
                <a:tc>
                  <a:txBody>
                    <a:bodyPr wrap="square"/>
                    <a:lstStyle/>
                    <a:p>
                      <a:r>
                        <a:rPr sz="1600" b="0">
                          <a:solidFill>
                            <a:srgbClr val="1F2A44"/>
                          </a:solidFill>
                          <a:latin typeface="Arial"/>
                          <a:ea typeface="Microsoft YaHei"/>
                        </a:rPr>
                        <a:t>We promote it across several channels.</a:t>
                      </a:r>
                    </a:p>
                  </a:txBody>
                  <a:tcPr anchor="ctr">
                    <a:solidFill>
                      <a:srgbClr val="FFEFD9"/>
                    </a:solidFill>
                  </a:tcPr>
                </a:tc>
                <a:tc>
                  <a:txBody>
                    <a:bodyPr wrap="square"/>
                    <a:lstStyle/>
                    <a:p>
                      <a:r>
                        <a:rPr sz="1600" b="0">
                          <a:solidFill>
                            <a:srgbClr val="FF6B5B"/>
                          </a:solidFill>
                          <a:latin typeface="Arial"/>
                          <a:ea typeface="Microsoft YaHei"/>
                        </a:rPr>
                        <a:t>专业</a:t>
                      </a:r>
                    </a:p>
                  </a:txBody>
                  <a:tcPr anchor="ctr">
                    <a:solidFill>
                      <a:srgbClr val="FFEFD9"/>
                    </a:solidFill>
                  </a:tcPr>
                </a:tc>
              </a:tr>
              <a:tr h="652272">
                <a:tc>
                  <a:txBody>
                    <a:bodyPr wrap="square"/>
                    <a:lstStyle/>
                    <a:p>
                      <a:r>
                        <a:rPr sz="1600" b="1">
                          <a:solidFill>
                            <a:srgbClr val="1F2A44"/>
                          </a:solidFill>
                          <a:latin typeface="Arial"/>
                          <a:ea typeface="Microsoft YaHei"/>
                        </a:rPr>
                        <a:t>Our product is different.</a:t>
                      </a:r>
                    </a:p>
                  </a:txBody>
                  <a:tcPr anchor="ctr">
                    <a:solidFill>
                      <a:srgbClr val="FFFFFF"/>
                    </a:solidFill>
                  </a:tcPr>
                </a:tc>
                <a:tc>
                  <a:txBody>
                    <a:bodyPr wrap="square"/>
                    <a:lstStyle/>
                    <a:p>
                      <a:r>
                        <a:rPr sz="1600" b="0">
                          <a:solidFill>
                            <a:srgbClr val="1F2A44"/>
                          </a:solidFill>
                          <a:latin typeface="Arial"/>
                          <a:ea typeface="Microsoft YaHei"/>
                        </a:rPr>
                        <a:t>Our product stands out from the competition.</a:t>
                      </a:r>
                    </a:p>
                  </a:txBody>
                  <a:tcPr anchor="ctr">
                    <a:solidFill>
                      <a:srgbClr val="FFFFFF"/>
                    </a:solidFill>
                  </a:tcPr>
                </a:tc>
                <a:tc>
                  <a:txBody>
                    <a:bodyPr wrap="square"/>
                    <a:lstStyle/>
                    <a:p>
                      <a:r>
                        <a:rPr sz="1600" b="0">
                          <a:solidFill>
                            <a:srgbClr val="FF6B5B"/>
                          </a:solidFill>
                          <a:latin typeface="Arial"/>
                          <a:ea typeface="Microsoft YaHei"/>
                        </a:rPr>
                        <a:t>搭配</a:t>
                      </a:r>
                    </a:p>
                  </a:txBody>
                  <a:tcPr anchor="ctr">
                    <a:solidFill>
                      <a:srgbClr val="FFFFFF"/>
                    </a:solidFill>
                  </a:tcPr>
                </a:tc>
              </a:tr>
              <a:tr h="652272">
                <a:tc>
                  <a:txBody>
                    <a:bodyPr wrap="square"/>
                    <a:lstStyle/>
                    <a:p>
                      <a:r>
                        <a:rPr sz="1600" b="1">
                          <a:solidFill>
                            <a:srgbClr val="1F2A44"/>
                          </a:solidFill>
                          <a:latin typeface="Arial"/>
                          <a:ea typeface="Microsoft YaHei"/>
                        </a:rPr>
                        <a:t>People talk about us.</a:t>
                      </a:r>
                    </a:p>
                  </a:txBody>
                  <a:tcPr anchor="ctr">
                    <a:solidFill>
                      <a:srgbClr val="FFEFD9"/>
                    </a:solidFill>
                  </a:tcPr>
                </a:tc>
                <a:tc>
                  <a:txBody>
                    <a:bodyPr wrap="square"/>
                    <a:lstStyle/>
                    <a:p>
                      <a:r>
                        <a:rPr sz="1600" b="0">
                          <a:solidFill>
                            <a:srgbClr val="1F2A44"/>
                          </a:solidFill>
                          <a:latin typeface="Arial"/>
                          <a:ea typeface="Microsoft YaHei"/>
                        </a:rPr>
                        <a:t>We get a lot of word-of-mouth recommendations.</a:t>
                      </a:r>
                    </a:p>
                  </a:txBody>
                  <a:tcPr anchor="ctr">
                    <a:solidFill>
                      <a:srgbClr val="FFEFD9"/>
                    </a:solidFill>
                  </a:tcPr>
                </a:tc>
                <a:tc>
                  <a:txBody>
                    <a:bodyPr wrap="square"/>
                    <a:lstStyle/>
                    <a:p>
                      <a:r>
                        <a:rPr sz="1600" b="0">
                          <a:solidFill>
                            <a:srgbClr val="FF6B5B"/>
                          </a:solidFill>
                          <a:latin typeface="Arial"/>
                          <a:ea typeface="Microsoft YaHei"/>
                        </a:rPr>
                        <a:t>具体</a:t>
                      </a:r>
                    </a:p>
                  </a:txBody>
                  <a:tcPr anchor="ctr">
                    <a:solidFill>
                      <a:srgbClr val="FFEFD9"/>
                    </a:solidFill>
                  </a:tcPr>
                </a:tc>
              </a:tr>
              <a:tr h="408432">
                <a:tc>
                  <a:txBody>
                    <a:bodyPr wrap="square"/>
                    <a:lstStyle/>
                    <a:p>
                      <a:r>
                        <a:rPr sz="1600" b="1">
                          <a:solidFill>
                            <a:srgbClr val="1F2A44"/>
                          </a:solidFill>
                          <a:latin typeface="Arial"/>
                          <a:ea typeface="Microsoft YaHei"/>
                        </a:rPr>
                        <a:t>It sells good.</a:t>
                      </a:r>
                    </a:p>
                  </a:txBody>
                  <a:tcPr anchor="ctr">
                    <a:solidFill>
                      <a:srgbClr val="FFFFFF"/>
                    </a:solidFill>
                  </a:tcPr>
                </a:tc>
                <a:tc>
                  <a:txBody>
                    <a:bodyPr wrap="square"/>
                    <a:lstStyle/>
                    <a:p>
                      <a:r>
                        <a:rPr sz="1600" b="0">
                          <a:solidFill>
                            <a:srgbClr val="1F2A44"/>
                          </a:solidFill>
                          <a:latin typeface="Arial"/>
                          <a:ea typeface="Microsoft YaHei"/>
                        </a:rPr>
                        <a:t>It’s selling well.</a:t>
                      </a:r>
                    </a:p>
                  </a:txBody>
                  <a:tcPr anchor="ctr">
                    <a:solidFill>
                      <a:srgbClr val="FFFFFF"/>
                    </a:solidFill>
                  </a:tcPr>
                </a:tc>
                <a:tc>
                  <a:txBody>
                    <a:bodyPr wrap="square"/>
                    <a:lstStyle/>
                    <a:p>
                      <a:r>
                        <a:rPr sz="1600" b="0">
                          <a:solidFill>
                            <a:srgbClr val="FF6B5B"/>
                          </a:solidFill>
                          <a:latin typeface="Arial"/>
                          <a:ea typeface="Microsoft YaHei"/>
                        </a:rPr>
                        <a:t>副词</a:t>
                      </a:r>
                    </a:p>
                  </a:txBody>
                  <a:tcPr anchor="ctr">
                    <a:solidFill>
                      <a:srgbClr val="FFFFFF"/>
                    </a:solidFill>
                  </a:tcPr>
                </a:tc>
              </a:tr>
            </a:tbl>
          </a:graphicData>
        </a:graphic>
      </p:graphicFrame>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64 Marketing Strategies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Present simple for plans/schedules: </a:t>
            </a:r>
            <a:r>
              <a:rPr sz="1700" b="0">
                <a:solidFill>
                  <a:srgbClr val="1F2A44"/>
                </a:solidFill>
                <a:latin typeface="Arial"/>
                <a:ea typeface="Microsoft YaHei"/>
              </a:rPr>
              <a:t>“The campaign launches in May.”</a:t>
            </a:r>
          </a:p>
        </p:txBody>
      </p:sp>
      <p:sp>
        <p:nvSpPr>
          <p:cNvPr id="11" name="Rounded Rectangle 10"/>
          <p:cNvSpPr/>
          <p:nvPr/>
        </p:nvSpPr>
        <p:spPr>
          <a:xfrm>
            <a:off x="548640" y="195071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701039"/>
          </a:xfrm>
          <a:prstGeom prst="rect">
            <a:avLst/>
          </a:prstGeom>
          <a:noFill/>
        </p:spPr>
        <p:txBody>
          <a:bodyPr wrap="square" anchor="ctr">
            <a:spAutoFit/>
          </a:bodyPr>
          <a:lstStyle/>
          <a:p>
            <a:r>
              <a:rPr sz="1700" b="1">
                <a:solidFill>
                  <a:srgbClr val="4A90E2"/>
                </a:solidFill>
                <a:latin typeface="Arial"/>
                <a:ea typeface="Microsoft YaHei"/>
              </a:rPr>
              <a:t>Future with going to / will: </a:t>
            </a:r>
            <a:r>
              <a:rPr sz="1700" b="0">
                <a:solidFill>
                  <a:srgbClr val="1F2A44"/>
                </a:solidFill>
                <a:latin typeface="Arial"/>
                <a:ea typeface="Microsoft YaHei"/>
              </a:rPr>
              <a:t>“We’re going to target students.” (plan) vs “We’ll review results in June.” (promise)</a:t>
            </a:r>
          </a:p>
        </p:txBody>
      </p:sp>
      <p:sp>
        <p:nvSpPr>
          <p:cNvPr id="14" name="Rounded Rectangle 13"/>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Noun compounds: </a:t>
            </a:r>
            <a:r>
              <a:rPr sz="1700" b="0">
                <a:solidFill>
                  <a:srgbClr val="1F2A44"/>
                </a:solidFill>
                <a:latin typeface="Arial"/>
                <a:ea typeface="Microsoft YaHei"/>
              </a:rPr>
              <a:t>brand awareness, customer loyalty, sales target, marketing budget.</a:t>
            </a:r>
          </a:p>
        </p:txBody>
      </p:sp>
      <p:sp>
        <p:nvSpPr>
          <p:cNvPr id="17" name="Rounded Rectangle 16"/>
          <p:cNvSpPr/>
          <p:nvPr/>
        </p:nvSpPr>
        <p:spPr>
          <a:xfrm>
            <a:off x="548640" y="327659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701039"/>
          </a:xfrm>
          <a:prstGeom prst="rect">
            <a:avLst/>
          </a:prstGeom>
          <a:noFill/>
        </p:spPr>
        <p:txBody>
          <a:bodyPr wrap="square" anchor="ctr">
            <a:spAutoFit/>
          </a:bodyPr>
          <a:lstStyle/>
          <a:p>
            <a:r>
              <a:rPr sz="1700" b="1">
                <a:solidFill>
                  <a:srgbClr val="FFC857"/>
                </a:solidFill>
                <a:latin typeface="Arial"/>
                <a:ea typeface="Microsoft YaHei"/>
              </a:rPr>
              <a:t>Adverbs for degree: </a:t>
            </a:r>
            <a:r>
              <a:rPr sz="1700" b="0">
                <a:solidFill>
                  <a:srgbClr val="1F2A44"/>
                </a:solidFill>
                <a:latin typeface="Arial"/>
                <a:ea typeface="Microsoft YaHei"/>
              </a:rPr>
              <a:t>highly, particularly, fairly, relatively: “The product is relatively expensive.”</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64 Marketing Strategies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Marketing is the activity that tell people about products.</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Marketing is the activity of telling people about products.</a:t>
            </a:r>
          </a:p>
          <a:p>
            <a:pPr algn="l">
              <a:spcAft>
                <a:spcPts val="200"/>
              </a:spcAft>
            </a:pPr>
            <a:r>
              <a:rPr sz="1200" b="0">
                <a:solidFill>
                  <a:srgbClr val="FFFFFF"/>
                </a:solidFill>
                <a:latin typeface="Arial"/>
                <a:ea typeface="Microsoft YaHei"/>
              </a:rPr>
              <a:t>of + -ing</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make an advertisement in TV.</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run an advert on TV.</a:t>
            </a:r>
          </a:p>
          <a:p>
            <a:pPr algn="l">
              <a:spcAft>
                <a:spcPts val="200"/>
              </a:spcAft>
            </a:pPr>
            <a:r>
              <a:rPr sz="1200" b="0">
                <a:solidFill>
                  <a:srgbClr val="FFFFFF"/>
                </a:solidFill>
                <a:latin typeface="Arial"/>
                <a:ea typeface="Microsoft YaHei"/>
              </a:rPr>
              <a:t>on TV</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product sells good.</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product sells well.</a:t>
            </a:r>
          </a:p>
          <a:p>
            <a:pPr algn="l">
              <a:spcAft>
                <a:spcPts val="200"/>
              </a:spcAft>
            </a:pPr>
            <a:r>
              <a:rPr sz="1200" b="0">
                <a:solidFill>
                  <a:srgbClr val="FFFFFF"/>
                </a:solidFill>
                <a:latin typeface="Arial"/>
                <a:ea typeface="Microsoft YaHei"/>
              </a:rPr>
              <a:t>adverb</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64 Marketing Strategies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Our target is young peoples.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Our target is young people.</a:t>
            </a:r>
          </a:p>
          <a:p>
            <a:pPr algn="l">
              <a:spcAft>
                <a:spcPts val="200"/>
              </a:spcAft>
            </a:pPr>
            <a:r>
              <a:rPr sz="1200" b="0">
                <a:solidFill>
                  <a:srgbClr val="FFFFFF"/>
                </a:solidFill>
                <a:latin typeface="Arial"/>
                <a:ea typeface="Microsoft YaHei"/>
              </a:rPr>
              <a:t>people 本身复数</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This advertising is very effective one.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This advertisement is very effective.</a:t>
            </a:r>
          </a:p>
          <a:p>
            <a:pPr algn="l">
              <a:spcAft>
                <a:spcPts val="200"/>
              </a:spcAft>
            </a:pPr>
            <a:r>
              <a:rPr sz="1200" b="0">
                <a:solidFill>
                  <a:srgbClr val="FFFFFF"/>
                </a:solidFill>
                <a:latin typeface="Arial"/>
                <a:ea typeface="Microsoft YaHei"/>
              </a:rPr>
              <a:t>不可数</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will do a market research.</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will carry out market research.</a:t>
            </a:r>
          </a:p>
          <a:p>
            <a:pPr algn="l">
              <a:spcAft>
                <a:spcPts val="200"/>
              </a:spcAft>
            </a:pPr>
            <a:r>
              <a:rPr sz="1200" b="0">
                <a:solidFill>
                  <a:srgbClr val="FFFFFF"/>
                </a:solidFill>
                <a:latin typeface="Arial"/>
                <a:ea typeface="Microsoft YaHei"/>
              </a:rPr>
              <a:t>research 不可数</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advertising (uncountable) vs advertisement, sell well, and research (uncountable).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64 Marketing Strategies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Advertising rules: </a:t>
            </a:r>
            <a:r>
              <a:rPr sz="1700" b="0">
                <a:solidFill>
                  <a:srgbClr val="1F2A44"/>
                </a:solidFill>
                <a:latin typeface="Arial"/>
                <a:ea typeface="Microsoft YaHei"/>
              </a:rPr>
              <a:t>Many countries regulate advertising claims. “Best in the world” claims need proof.</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Humour: </a:t>
            </a:r>
            <a:r>
              <a:rPr sz="1700" b="0">
                <a:solidFill>
                  <a:srgbClr val="1F2A44"/>
                </a:solidFill>
                <a:latin typeface="Arial"/>
                <a:ea typeface="Microsoft YaHei"/>
              </a:rPr>
              <a:t>Humour in ads does not always translate across cultures. Test before launching.</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Influencers: </a:t>
            </a:r>
            <a:r>
              <a:rPr sz="1700" b="0">
                <a:solidFill>
                  <a:srgbClr val="1F2A44"/>
                </a:solidFill>
                <a:latin typeface="Arial"/>
                <a:ea typeface="Microsoft YaHei"/>
              </a:rPr>
              <a:t>Paid partnerships must usually be disclosed (e.g. “#ad”).</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advertising / research 不可数;sell well(副词 well);people 已经是复数,不加 s。做营销策略时先确定“对谁说”,再决定“说什么、在哪说”。</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64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64 Marketing Strategies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a target market and positioning.</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present a simple marketing plan.</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adverbs and noun compounds in marketing talk.</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uncountable advertising / research and sell well correctly.</a:t>
            </a:r>
          </a:p>
        </p:txBody>
      </p:sp>
      <p:sp>
        <p:nvSpPr>
          <p:cNvPr id="24" name="TextBox 23"/>
          <p:cNvSpPr txBox="1"/>
          <p:nvPr/>
        </p:nvSpPr>
        <p:spPr>
          <a:xfrm>
            <a:off x="9539935" y="33009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64 Marketing Strategies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uncountable advertising / research, adverb well, and noun compounds.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7 · Lesson 65 When Ads Get Personal</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26</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65</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When Ads Get Personal</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当广告越来越懂你</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personalised advertising: how companies use data, benefits and concerns for consumers, privacy and trust.</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65 When Ads Get Personal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felt that an ad “knew” what you were thinking?</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find personalised ads helpful or intrusive?</a:t>
            </a:r>
          </a:p>
        </p:txBody>
      </p:sp>
      <p:sp>
        <p:nvSpPr>
          <p:cNvPr id="15" name="Oval 14"/>
          <p:cNvSpPr/>
          <p:nvPr/>
        </p:nvSpPr>
        <p:spPr>
          <a:xfrm>
            <a:off x="548640" y="319125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much personal data are you comfortable sharing with companies?</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read privacy policies? Why or why not?</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Should there be stricter laws on how companies use data?</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personalised ad = 个性化广告。intrusive = 侵扰的。第 2 题可用 “On the one hand… on the other hand…”。cookies = 网络浏览记录文件(表示追踪)。</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65 When Ads Get Personal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Give your opinion on personalised advertising and privacy.</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opinion</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benefit</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concern</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suggestion</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 find it useful when… but I’m uneasy about…   💬 Companies should be transparent about…   💬 Users ought to have control over…</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uneasy about = 对……感到不安。transparent = 透明的。have control over = 掌控。</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Reading · Ads That Seem to Know You</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139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65 When Ads Get Personal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Online advertising is increasingly personal. Companies collect information about what we search for, click on and buy, and use it to show ads that match our interests. For consumers, this can be convenient: instead of irrelevant promotions, they see products they might genuinely want. For businesses, targeted ads usually generate better results than generic ones, which means money is spent more efficiently. However, many people feel uneasy. They worry about how much data is collected, who has access to it and how it is used. Some ads can even feel intrusive, particularly when they appear to know too much. In response, many countries have introduced rules requiring companies to ask for consent and to explain what they do with data. Trust has become a marketing asset: brands that are open and respectful with data tend to keep customers longer.</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65 When Ads Get Personal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are the benefits for consumers?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More relevant ads and products they might genuinely want.</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are people worried about?</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How much data is collected, who can access it and how it is used.</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has happened in response in many countries?</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Rules requiring consent and explanations about data use.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Data and advertising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65 When Ads Get Personal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数据与广告</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personalised</a:t>
            </a:r>
          </a:p>
          <a:p>
            <a:pPr algn="l">
              <a:lnSpc>
                <a:spcPct val="115000"/>
              </a:lnSpc>
              <a:spcAft>
                <a:spcPts val="800"/>
              </a:spcAft>
            </a:pPr>
            <a:r>
              <a:rPr sz="1300" b="0">
                <a:solidFill>
                  <a:srgbClr val="5F677A"/>
                </a:solidFill>
                <a:latin typeface="Arial"/>
                <a:ea typeface="Microsoft YaHei"/>
              </a:rPr>
              <a:t>adjective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个性化的</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“Personalised recommendations are common.”</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targeted ad</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定向广告</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“Targeted ads reach the right people.”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data collection</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数据收集</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“Data collection must be legal.”</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consent</a:t>
            </a:r>
          </a:p>
          <a:p>
            <a:pPr algn="l">
              <a:lnSpc>
                <a:spcPct val="115000"/>
              </a:lnSpc>
              <a:spcAft>
                <a:spcPts val="800"/>
              </a:spcAft>
            </a:pPr>
            <a:r>
              <a:rPr sz="1300" b="0">
                <a:solidFill>
                  <a:srgbClr val="5F677A"/>
                </a:solidFill>
                <a:latin typeface="Arial"/>
                <a:ea typeface="Microsoft YaHei"/>
              </a:rPr>
              <a:t>noun /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同意</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need the user’s consent.”</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privacy</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隐私</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“Privacy matters to our users.”</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opt out</a:t>
            </a:r>
          </a:p>
          <a:p>
            <a:pPr algn="l">
              <a:lnSpc>
                <a:spcPct val="115000"/>
              </a:lnSpc>
              <a:spcAft>
                <a:spcPts val="800"/>
              </a:spcAft>
            </a:pPr>
            <a:r>
              <a:rPr sz="1300" b="0">
                <a:solidFill>
                  <a:srgbClr val="5F677A"/>
                </a:solidFill>
                <a:latin typeface="Arial"/>
                <a:ea typeface="Microsoft YaHei"/>
              </a:rPr>
              <a:t>phrasal verb</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选择退出</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“You can opt out of tracking.”</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Opinions on tracking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65 When Ads Get Personal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谈论追踪</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intrusive</a:t>
            </a:r>
          </a:p>
          <a:p>
            <a:pPr algn="l">
              <a:lnSpc>
                <a:spcPct val="115000"/>
              </a:lnSpc>
              <a:spcAft>
                <a:spcPts val="800"/>
              </a:spcAft>
            </a:pPr>
            <a:r>
              <a:rPr sz="1300" b="0">
                <a:solidFill>
                  <a:srgbClr val="5F677A"/>
                </a:solidFill>
                <a:latin typeface="Arial"/>
                <a:ea typeface="Microsoft YaHei"/>
              </a:rPr>
              <a:t>adjective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侵扰的</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“Some ads feel intrusive.”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creepy</a:t>
            </a:r>
          </a:p>
          <a:p>
            <a:pPr algn="l">
              <a:lnSpc>
                <a:spcPct val="115000"/>
              </a:lnSpc>
              <a:spcAft>
                <a:spcPts val="800"/>
              </a:spcAft>
            </a:pPr>
            <a:r>
              <a:rPr sz="1300" b="0">
                <a:solidFill>
                  <a:srgbClr val="5F677A"/>
                </a:solidFill>
                <a:latin typeface="Arial"/>
                <a:ea typeface="Microsoft YaHei"/>
              </a:rPr>
              <a:t>adjective (informal)</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令人毛骨悚然的</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a bit creepy.”</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be transparent about</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公开透明</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“Firms should be transparent about data use.”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strike a balance</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取得平衡</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need to strike a balance.”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cross the line</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越界</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“That ad crossed the line.”</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raise concerns about</a:t>
            </a:r>
          </a:p>
          <a:p>
            <a:pPr algn="l">
              <a:lnSpc>
                <a:spcPct val="115000"/>
              </a:lnSpc>
              <a:spcAft>
                <a:spcPts val="800"/>
              </a:spcAft>
            </a:pPr>
            <a:r>
              <a:rPr sz="1300" b="0">
                <a:solidFill>
                  <a:srgbClr val="5F677A"/>
                </a:solidFill>
                <a:latin typeface="Arial"/>
                <a:ea typeface="Microsoft YaHei"/>
              </a:rPr>
              <a:t>collocation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引发担忧</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raises concerns about privacy.”</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65 When Ads Get Personal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隐私</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privacy</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公开透明</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 transparent about</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引发担忧</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raise concerns about</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同意</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consent</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定向广告</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targeted ad</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越界</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cross the line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选择退出</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opt out</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个性化的</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personalised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65 When Ads Get Personal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682495"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personalised</a:t>
            </a:r>
          </a:p>
        </p:txBody>
      </p:sp>
      <p:sp>
        <p:nvSpPr>
          <p:cNvPr id="10" name="Rounded Rectangle 9"/>
          <p:cNvSpPr/>
          <p:nvPr/>
        </p:nvSpPr>
        <p:spPr>
          <a:xfrm>
            <a:off x="3785615" y="987552"/>
            <a:ext cx="1133856"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consent</a:t>
            </a:r>
          </a:p>
        </p:txBody>
      </p:sp>
      <p:sp>
        <p:nvSpPr>
          <p:cNvPr id="11" name="Rounded Rectangle 10"/>
          <p:cNvSpPr/>
          <p:nvPr/>
        </p:nvSpPr>
        <p:spPr>
          <a:xfrm>
            <a:off x="5010911" y="987552"/>
            <a:ext cx="113385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privacy</a:t>
            </a:r>
          </a:p>
        </p:txBody>
      </p:sp>
      <p:sp>
        <p:nvSpPr>
          <p:cNvPr id="12" name="Rounded Rectangle 11"/>
          <p:cNvSpPr/>
          <p:nvPr/>
        </p:nvSpPr>
        <p:spPr>
          <a:xfrm>
            <a:off x="6236207" y="987552"/>
            <a:ext cx="1133856"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opt out</a:t>
            </a:r>
          </a:p>
        </p:txBody>
      </p:sp>
      <p:sp>
        <p:nvSpPr>
          <p:cNvPr id="13" name="Rounded Rectangle 12"/>
          <p:cNvSpPr/>
          <p:nvPr/>
        </p:nvSpPr>
        <p:spPr>
          <a:xfrm>
            <a:off x="7461503" y="987552"/>
            <a:ext cx="135331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intrusive</a:t>
            </a:r>
          </a:p>
        </p:txBody>
      </p:sp>
      <p:sp>
        <p:nvSpPr>
          <p:cNvPr id="14" name="Rounded Rectangle 13"/>
          <p:cNvSpPr/>
          <p:nvPr/>
        </p:nvSpPr>
        <p:spPr>
          <a:xfrm>
            <a:off x="8906255" y="987552"/>
            <a:ext cx="212140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strike a balance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Netflix gives _______ recommendations based on what you watch.</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personalised</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Companies need the user’s _______ before collecting data.</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consent</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Many people worry about their online _______.</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privacy</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You can _______ of tracking in the settings.</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opt out</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Some ads feel _______ when they seem to know too much.</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intrusive</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Companies need to _______ between personalisation and privacy.</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strike a balance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Discussing personalised ads with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65 When Ads Get Personal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与同事讨论个性化广告</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and a colleague discuss whether your company should use more personalised ads.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Mei Hu, marketing manager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Tom Ray, data analyst</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personalised ads with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65 When Ads Get Personal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Mei</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Tom, I’m thinking of using more personalised ads. What do you think?</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Tom</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They work better. Click rates are about double. But there’s a catch.</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Privacy?</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Some customers find personalised ads creepy. If we use data they don’t expect us to have, we risk losing trust.</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true. I find it useful when an ad is relevant, but I’m uneasy when it feels like I’m being watched.</a:t>
            </a:r>
          </a:p>
        </p:txBody>
      </p:sp>
      <p:sp>
        <p:nvSpPr>
          <p:cNvPr id="23" name="Rounded Rectangle 22"/>
          <p:cNvSpPr/>
          <p:nvPr/>
        </p:nvSpPr>
        <p:spPr>
          <a:xfrm>
            <a:off x="10911535" y="539496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83387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39496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Exactly. I think we should be transparent about what we collect.</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personalised ads with a colleague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65 When Ads Get Personal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Could we include a clear explanation and an easy opt-out?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and ask for consent before tracking, as the rules require.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also limit the data to what we really need.</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point. Less data means less risk.</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 we personalise, but we strike a balance and explain it clearly.</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Agreed. I’ll draft a short privacy message for the website.</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Great. Let’s test it with a small group first.</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Discussing personalised ads with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65 When Ads Get Personal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discuss personalisation and privacy.</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Marketer in favour of: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Analyst. Raise one concern.</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personalised · consent · transparent · opt out · strike a balance · trust</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Give an opinion, hear a concern and agree an approach.</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Tom says: “Customers don’t read privacy notices.” Respond.</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Explain in 30 seconds why you accept or reject cookies.</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a short message for a website explaining data use.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65 When Ads Get Personal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you prefer personalised ads or generic ones?</a:t>
            </a:r>
          </a:p>
          <a:p>
            <a:pPr algn="l">
              <a:lnSpc>
                <a:spcPct val="115000"/>
              </a:lnSpc>
              <a:spcAft>
                <a:spcPts val="800"/>
              </a:spcAft>
            </a:pPr>
            <a:r>
              <a:rPr sz="1400" b="0">
                <a:solidFill>
                  <a:srgbClr val="5F677A"/>
                </a:solidFill>
                <a:latin typeface="Arial"/>
                <a:ea typeface="Microsoft YaHei"/>
              </a:rPr>
              <a:t>💬 “I’d rather see…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Where should companies draw the line with data?</a:t>
            </a:r>
          </a:p>
          <a:p>
            <a:pPr algn="l">
              <a:lnSpc>
                <a:spcPct val="115000"/>
              </a:lnSpc>
              <a:spcAft>
                <a:spcPts val="800"/>
              </a:spcAft>
            </a:pPr>
            <a:r>
              <a:rPr sz="1400" b="0">
                <a:solidFill>
                  <a:srgbClr val="5F677A"/>
                </a:solidFill>
                <a:latin typeface="Arial"/>
                <a:ea typeface="Microsoft YaHei"/>
              </a:rPr>
              <a:t>💬 “They shouldn’t collect… without…”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Are people too relaxed about sharing personal data?</a:t>
            </a:r>
          </a:p>
          <a:p>
            <a:pPr algn="l">
              <a:lnSpc>
                <a:spcPct val="115000"/>
              </a:lnSpc>
              <a:spcAft>
                <a:spcPts val="800"/>
              </a:spcAft>
            </a:pPr>
            <a:r>
              <a:rPr sz="1400" b="0">
                <a:solidFill>
                  <a:srgbClr val="5F677A"/>
                </a:solidFill>
                <a:latin typeface="Arial"/>
                <a:ea typeface="Microsoft YaHei"/>
              </a:rPr>
              <a:t>💬 “In my view, many people… because…”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governments regulate online advertising?</a:t>
            </a:r>
          </a:p>
          <a:p>
            <a:pPr algn="l">
              <a:lnSpc>
                <a:spcPct val="115000"/>
              </a:lnSpc>
              <a:spcAft>
                <a:spcPts val="800"/>
              </a:spcAft>
            </a:pPr>
            <a:r>
              <a:rPr sz="1400" b="0">
                <a:solidFill>
                  <a:srgbClr val="5F677A"/>
                </a:solidFill>
                <a:latin typeface="Arial"/>
                <a:ea typeface="Microsoft YaHei"/>
              </a:rPr>
              <a:t>💬 “I believe they should… / A balance is needed…”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65 When Ads Get Personal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Companies should draw the line at collecting sensitive information, such as health or financial details, without clear and specific consent. Even when the law allows it, people can feel that their trust has been broken. I think the best principle is to collect only what you truly need, be honest about how it’s used and give people real control. Companies that follow this are likely to earn customers’ trust.</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sensitive information = 敏感信息。”draw the line” = 划定界限。principle = 原则。earn trust = 赢得信任。</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65 When Ads Get Personal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42595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They watch me.</a:t>
                      </a:r>
                    </a:p>
                  </a:txBody>
                  <a:tcPr anchor="ctr">
                    <a:solidFill>
                      <a:srgbClr val="FFFFFF"/>
                    </a:solidFill>
                  </a:tcPr>
                </a:tc>
                <a:tc>
                  <a:txBody>
                    <a:bodyPr wrap="square"/>
                    <a:lstStyle/>
                    <a:p>
                      <a:r>
                        <a:rPr sz="1600" b="0">
                          <a:solidFill>
                            <a:srgbClr val="1F2A44"/>
                          </a:solidFill>
                          <a:latin typeface="Arial"/>
                          <a:ea typeface="Microsoft YaHei"/>
                        </a:rPr>
                        <a:t>I feel like my online activity is being tracked.</a:t>
                      </a:r>
                    </a:p>
                  </a:txBody>
                  <a:tcPr anchor="ctr">
                    <a:solidFill>
                      <a:srgbClr val="FFFFFF"/>
                    </a:solidFill>
                  </a:tcPr>
                </a:tc>
                <a:tc>
                  <a:txBody>
                    <a:bodyPr wrap="square"/>
                    <a:lstStyle/>
                    <a:p>
                      <a:r>
                        <a:rPr sz="1600" b="0">
                          <a:solidFill>
                            <a:srgbClr val="FF6B5B"/>
                          </a:solidFill>
                          <a:latin typeface="Arial"/>
                          <a:ea typeface="Microsoft YaHei"/>
                        </a:rPr>
                        <a:t>被动</a:t>
                      </a:r>
                    </a:p>
                  </a:txBody>
                  <a:tcPr anchor="ctr">
                    <a:solidFill>
                      <a:srgbClr val="FFFFFF"/>
                    </a:solidFill>
                  </a:tcPr>
                </a:tc>
              </a:tr>
              <a:tr h="408432">
                <a:tc>
                  <a:txBody>
                    <a:bodyPr wrap="square"/>
                    <a:lstStyle/>
                    <a:p>
                      <a:r>
                        <a:rPr sz="1600" b="1">
                          <a:solidFill>
                            <a:srgbClr val="1F2A44"/>
                          </a:solidFill>
                          <a:latin typeface="Arial"/>
                          <a:ea typeface="Microsoft YaHei"/>
                        </a:rPr>
                        <a:t>I don’t like it.</a:t>
                      </a:r>
                    </a:p>
                  </a:txBody>
                  <a:tcPr anchor="ctr">
                    <a:solidFill>
                      <a:srgbClr val="FFEFD9"/>
                    </a:solidFill>
                  </a:tcPr>
                </a:tc>
                <a:tc>
                  <a:txBody>
                    <a:bodyPr wrap="square"/>
                    <a:lstStyle/>
                    <a:p>
                      <a:r>
                        <a:rPr sz="1600" b="0">
                          <a:solidFill>
                            <a:srgbClr val="1F2A44"/>
                          </a:solidFill>
                          <a:latin typeface="Arial"/>
                          <a:ea typeface="Microsoft YaHei"/>
                        </a:rPr>
                        <a:t>I find it a bit intrusive.</a:t>
                      </a:r>
                    </a:p>
                  </a:txBody>
                  <a:tcPr anchor="ctr">
                    <a:solidFill>
                      <a:srgbClr val="FFEFD9"/>
                    </a:solidFill>
                  </a:tcPr>
                </a:tc>
                <a:tc>
                  <a:txBody>
                    <a:bodyPr wrap="square"/>
                    <a:lstStyle/>
                    <a:p>
                      <a:r>
                        <a:rPr sz="1600" b="0">
                          <a:solidFill>
                            <a:srgbClr val="FF6B5B"/>
                          </a:solidFill>
                          <a:latin typeface="Arial"/>
                          <a:ea typeface="Microsoft YaHei"/>
                        </a:rPr>
                        <a:t>具体</a:t>
                      </a:r>
                    </a:p>
                  </a:txBody>
                  <a:tcPr anchor="ctr">
                    <a:solidFill>
                      <a:srgbClr val="FFEFD9"/>
                    </a:solidFill>
                  </a:tcPr>
                </a:tc>
              </a:tr>
              <a:tr h="652272">
                <a:tc>
                  <a:txBody>
                    <a:bodyPr wrap="square"/>
                    <a:lstStyle/>
                    <a:p>
                      <a:r>
                        <a:rPr sz="1600" b="1">
                          <a:solidFill>
                            <a:srgbClr val="1F2A44"/>
                          </a:solidFill>
                          <a:latin typeface="Arial"/>
                          <a:ea typeface="Microsoft YaHei"/>
                        </a:rPr>
                        <a:t>Ads follow me.</a:t>
                      </a:r>
                    </a:p>
                  </a:txBody>
                  <a:tcPr anchor="ctr">
                    <a:solidFill>
                      <a:srgbClr val="FFFFFF"/>
                    </a:solidFill>
                  </a:tcPr>
                </a:tc>
                <a:tc>
                  <a:txBody>
                    <a:bodyPr wrap="square"/>
                    <a:lstStyle/>
                    <a:p>
                      <a:r>
                        <a:rPr sz="1600" b="0">
                          <a:solidFill>
                            <a:srgbClr val="1F2A44"/>
                          </a:solidFill>
                          <a:latin typeface="Arial"/>
                          <a:ea typeface="Microsoft YaHei"/>
                        </a:rPr>
                        <a:t>I keep seeing ads for things I’ve searched for.</a:t>
                      </a:r>
                    </a:p>
                  </a:txBody>
                  <a:tcPr anchor="ctr">
                    <a:solidFill>
                      <a:srgbClr val="FFFFFF"/>
                    </a:solidFill>
                  </a:tcPr>
                </a:tc>
                <a:tc>
                  <a:txBody>
                    <a:bodyPr wrap="square"/>
                    <a:lstStyle/>
                    <a:p>
                      <a:r>
                        <a:rPr sz="1600" b="0">
                          <a:solidFill>
                            <a:srgbClr val="FF6B5B"/>
                          </a:solidFill>
                          <a:latin typeface="Arial"/>
                          <a:ea typeface="Microsoft YaHei"/>
                        </a:rPr>
                        <a:t>具体</a:t>
                      </a:r>
                    </a:p>
                  </a:txBody>
                  <a:tcPr anchor="ctr">
                    <a:solidFill>
                      <a:srgbClr val="FFFFFF"/>
                    </a:solidFill>
                  </a:tcPr>
                </a:tc>
              </a:tr>
              <a:tr h="652272">
                <a:tc>
                  <a:txBody>
                    <a:bodyPr wrap="square"/>
                    <a:lstStyle/>
                    <a:p>
                      <a:r>
                        <a:rPr sz="1600" b="1">
                          <a:solidFill>
                            <a:srgbClr val="1F2A44"/>
                          </a:solidFill>
                          <a:latin typeface="Arial"/>
                          <a:ea typeface="Microsoft YaHei"/>
                        </a:rPr>
                        <a:t>Don’t use my information.</a:t>
                      </a:r>
                    </a:p>
                  </a:txBody>
                  <a:tcPr anchor="ctr">
                    <a:solidFill>
                      <a:srgbClr val="FFEFD9"/>
                    </a:solidFill>
                  </a:tcPr>
                </a:tc>
                <a:tc>
                  <a:txBody>
                    <a:bodyPr wrap="square"/>
                    <a:lstStyle/>
                    <a:p>
                      <a:r>
                        <a:rPr sz="1600" b="0">
                          <a:solidFill>
                            <a:srgbClr val="1F2A44"/>
                          </a:solidFill>
                          <a:latin typeface="Arial"/>
                          <a:ea typeface="Microsoft YaHei"/>
                        </a:rPr>
                        <a:t>I’d like to opt out of data collection.</a:t>
                      </a:r>
                    </a:p>
                  </a:txBody>
                  <a:tcPr anchor="ctr">
                    <a:solidFill>
                      <a:srgbClr val="FFEFD9"/>
                    </a:solidFill>
                  </a:tcPr>
                </a:tc>
                <a:tc>
                  <a:txBody>
                    <a:bodyPr wrap="square"/>
                    <a:lstStyle/>
                    <a:p>
                      <a:r>
                        <a:rPr sz="1600" b="0">
                          <a:solidFill>
                            <a:srgbClr val="FF6B5B"/>
                          </a:solidFill>
                          <a:latin typeface="Arial"/>
                          <a:ea typeface="Microsoft YaHei"/>
                        </a:rPr>
                        <a:t>礼貌</a:t>
                      </a:r>
                    </a:p>
                  </a:txBody>
                  <a:tcPr anchor="ctr">
                    <a:solidFill>
                      <a:srgbClr val="FFEFD9"/>
                    </a:solidFill>
                  </a:tcPr>
                </a:tc>
              </a:tr>
              <a:tr h="652272">
                <a:tc>
                  <a:txBody>
                    <a:bodyPr wrap="square"/>
                    <a:lstStyle/>
                    <a:p>
                      <a:r>
                        <a:rPr sz="1600" b="1">
                          <a:solidFill>
                            <a:srgbClr val="1F2A44"/>
                          </a:solidFill>
                          <a:latin typeface="Arial"/>
                          <a:ea typeface="Microsoft YaHei"/>
                        </a:rPr>
                        <a:t>It’s legal.</a:t>
                      </a:r>
                    </a:p>
                  </a:txBody>
                  <a:tcPr anchor="ctr">
                    <a:solidFill>
                      <a:srgbClr val="FFFFFF"/>
                    </a:solidFill>
                  </a:tcPr>
                </a:tc>
                <a:tc>
                  <a:txBody>
                    <a:bodyPr wrap="square"/>
                    <a:lstStyle/>
                    <a:p>
                      <a:r>
                        <a:rPr sz="1600" b="0">
                          <a:solidFill>
                            <a:srgbClr val="1F2A44"/>
                          </a:solidFill>
                          <a:latin typeface="Arial"/>
                          <a:ea typeface="Microsoft YaHei"/>
                        </a:rPr>
                        <a:t>It complies with data-protection rules.</a:t>
                      </a:r>
                    </a:p>
                  </a:txBody>
                  <a:tcPr anchor="ctr">
                    <a:solidFill>
                      <a:srgbClr val="FFFFFF"/>
                    </a:solidFill>
                  </a:tcPr>
                </a:tc>
                <a:tc>
                  <a:txBody>
                    <a:bodyPr wrap="square"/>
                    <a:lstStyle/>
                    <a:p>
                      <a:r>
                        <a:rPr sz="1600" b="0">
                          <a:solidFill>
                            <a:srgbClr val="FF6B5B"/>
                          </a:solidFill>
                          <a:latin typeface="Arial"/>
                          <a:ea typeface="Microsoft YaHei"/>
                        </a:rPr>
                        <a:t>术语</a:t>
                      </a:r>
                    </a:p>
                  </a:txBody>
                  <a:tcPr anchor="ctr">
                    <a:solidFill>
                      <a:srgbClr val="FFFFFF"/>
                    </a:solidFill>
                  </a:tcPr>
                </a:tc>
              </a:tr>
            </a:tbl>
          </a:graphicData>
        </a:graphic>
      </p:graphicFrame>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65 When Ads Get Personal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Passive for data actions: </a:t>
            </a:r>
            <a:r>
              <a:rPr sz="1700" b="0">
                <a:solidFill>
                  <a:srgbClr val="1F2A44"/>
                </a:solidFill>
                <a:latin typeface="Arial"/>
                <a:ea typeface="Microsoft YaHei"/>
              </a:rPr>
              <a:t>“Data is collected, stored and shared.” / “Your information is used to…”</a:t>
            </a:r>
          </a:p>
        </p:txBody>
      </p:sp>
      <p:sp>
        <p:nvSpPr>
          <p:cNvPr id="11" name="Rounded Rectangle 10"/>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Contrast: </a:t>
            </a:r>
            <a:r>
              <a:rPr sz="1700" b="0">
                <a:solidFill>
                  <a:srgbClr val="1F2A44"/>
                </a:solidFill>
                <a:latin typeface="Arial"/>
                <a:ea typeface="Microsoft YaHei"/>
              </a:rPr>
              <a:t>On the one hand… On the other hand… / While… / Although…</a:t>
            </a:r>
          </a:p>
        </p:txBody>
      </p:sp>
      <p:sp>
        <p:nvSpPr>
          <p:cNvPr id="14" name="Rounded Rectangle 13"/>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Opinion hedging: </a:t>
            </a:r>
            <a:r>
              <a:rPr sz="1700" b="0">
                <a:solidFill>
                  <a:srgbClr val="1F2A44"/>
                </a:solidFill>
                <a:latin typeface="Arial"/>
                <a:ea typeface="Microsoft YaHei"/>
              </a:rPr>
              <a:t>I tend to think…, In my view, it seems to me that…</a:t>
            </a:r>
          </a:p>
        </p:txBody>
      </p:sp>
      <p:sp>
        <p:nvSpPr>
          <p:cNvPr id="17" name="Rounded Rectangle 16"/>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441959"/>
          </a:xfrm>
          <a:prstGeom prst="rect">
            <a:avLst/>
          </a:prstGeom>
          <a:noFill/>
        </p:spPr>
        <p:txBody>
          <a:bodyPr wrap="square" anchor="ctr">
            <a:spAutoFit/>
          </a:bodyPr>
          <a:lstStyle/>
          <a:p>
            <a:r>
              <a:rPr sz="1700" b="1">
                <a:solidFill>
                  <a:srgbClr val="FFC857"/>
                </a:solidFill>
                <a:latin typeface="Arial"/>
                <a:ea typeface="Microsoft YaHei"/>
              </a:rPr>
              <a:t>Modal verbs for obligation: </a:t>
            </a:r>
            <a:r>
              <a:rPr sz="1700" b="0">
                <a:solidFill>
                  <a:srgbClr val="1F2A44"/>
                </a:solidFill>
                <a:latin typeface="Arial"/>
                <a:ea typeface="Microsoft YaHei"/>
              </a:rPr>
              <a:t>should, must, ought to, have to, are required to.</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65 When Ads Get Personal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worry about my privacies.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worry about my privacy.</a:t>
            </a:r>
          </a:p>
          <a:p>
            <a:pPr algn="l">
              <a:spcAft>
                <a:spcPts val="200"/>
              </a:spcAft>
            </a:pPr>
            <a:r>
              <a:rPr sz="1200" b="0">
                <a:solidFill>
                  <a:srgbClr val="FFFFFF"/>
                </a:solidFill>
                <a:latin typeface="Arial"/>
                <a:ea typeface="Microsoft YaHei"/>
              </a:rPr>
              <a:t>privacy 不可数</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don’t want my informations to be used.</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don’t want my information to be used.</a:t>
            </a:r>
          </a:p>
          <a:p>
            <a:pPr algn="l">
              <a:spcAft>
                <a:spcPts val="200"/>
              </a:spcAft>
            </a:pPr>
            <a:r>
              <a:rPr sz="1200" b="0">
                <a:solidFill>
                  <a:srgbClr val="FFFFFF"/>
                </a:solidFill>
                <a:latin typeface="Arial"/>
                <a:ea typeface="Microsoft YaHei"/>
              </a:rPr>
              <a:t>information 不可数</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They make advertisement on me.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They target me with ads.</a:t>
            </a:r>
          </a:p>
          <a:p>
            <a:pPr algn="l">
              <a:spcAft>
                <a:spcPts val="200"/>
              </a:spcAft>
            </a:pPr>
            <a:r>
              <a:rPr sz="1200" b="0">
                <a:solidFill>
                  <a:srgbClr val="FFFFFF"/>
                </a:solidFill>
                <a:latin typeface="Arial"/>
                <a:ea typeface="Microsoft YaHei"/>
              </a:rPr>
              <a:t>target sb with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65 When Ads Get Personal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against to the idea.</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am against the idea.</a:t>
            </a:r>
          </a:p>
          <a:p>
            <a:pPr algn="l">
              <a:spcAft>
                <a:spcPts val="200"/>
              </a:spcAft>
            </a:pPr>
            <a:r>
              <a:rPr sz="1200" b="0">
                <a:solidFill>
                  <a:srgbClr val="FFFFFF"/>
                </a:solidFill>
                <a:latin typeface="Arial"/>
                <a:ea typeface="Microsoft YaHei"/>
              </a:rPr>
              <a:t>against 后接名词</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They track me always.</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They are always tracking me. / They track me all the time.</a:t>
            </a:r>
          </a:p>
          <a:p>
            <a:pPr algn="l">
              <a:spcAft>
                <a:spcPts val="200"/>
              </a:spcAft>
            </a:pPr>
            <a:r>
              <a:rPr sz="1200" b="0">
                <a:solidFill>
                  <a:srgbClr val="FFFFFF"/>
                </a:solidFill>
                <a:latin typeface="Arial"/>
                <a:ea typeface="Microsoft YaHei"/>
              </a:rPr>
              <a:t>频率</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agree that personal ads are helpful.</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agree that personalised ads are helpful.</a:t>
            </a:r>
          </a:p>
          <a:p>
            <a:pPr algn="l">
              <a:spcAft>
                <a:spcPts val="200"/>
              </a:spcAft>
            </a:pPr>
            <a:r>
              <a:rPr sz="1200" b="0">
                <a:solidFill>
                  <a:srgbClr val="FFFFFF"/>
                </a:solidFill>
                <a:latin typeface="Arial"/>
                <a:ea typeface="Microsoft YaHei"/>
              </a:rPr>
              <a:t>personalised</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uncountable privacy / data, against + noun, and target sb with.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65 When Ads Get Personal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Regulation: </a:t>
            </a:r>
            <a:r>
              <a:rPr sz="1700" b="0">
                <a:solidFill>
                  <a:srgbClr val="1F2A44"/>
                </a:solidFill>
                <a:latin typeface="Arial"/>
                <a:ea typeface="Microsoft YaHei"/>
              </a:rPr>
              <a:t>Data-protection laws (e.g. GDPR in Europe) require consent and transparency. Rules vary by country.</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Attitudes to privacy: </a:t>
            </a:r>
            <a:r>
              <a:rPr sz="1700" b="0">
                <a:solidFill>
                  <a:srgbClr val="1F2A44"/>
                </a:solidFill>
                <a:latin typeface="Arial"/>
                <a:ea typeface="Microsoft YaHei"/>
              </a:rPr>
              <a:t>Attitudes differ by country and generation. What is acceptable in one market may offend in another.</a:t>
            </a:r>
          </a:p>
        </p:txBody>
      </p:sp>
      <p:sp>
        <p:nvSpPr>
          <p:cNvPr id="15" name="Rounded Rectangle 14"/>
          <p:cNvSpPr/>
          <p:nvPr/>
        </p:nvSpPr>
        <p:spPr>
          <a:xfrm>
            <a:off x="548640" y="300227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441959"/>
          </a:xfrm>
          <a:prstGeom prst="rect">
            <a:avLst/>
          </a:prstGeom>
          <a:noFill/>
        </p:spPr>
        <p:txBody>
          <a:bodyPr wrap="square" anchor="ctr">
            <a:spAutoFit/>
          </a:bodyPr>
          <a:lstStyle/>
          <a:p>
            <a:r>
              <a:rPr sz="1700" b="1">
                <a:solidFill>
                  <a:srgbClr val="3CC49A"/>
                </a:solidFill>
                <a:latin typeface="Arial"/>
                <a:ea typeface="Microsoft YaHei"/>
              </a:rPr>
              <a:t>Trust as advantage: </a:t>
            </a:r>
            <a:r>
              <a:rPr sz="1700" b="0">
                <a:solidFill>
                  <a:srgbClr val="1F2A44"/>
                </a:solidFill>
                <a:latin typeface="Arial"/>
                <a:ea typeface="Microsoft YaHei"/>
              </a:rPr>
              <a:t>Some brands now promote privacy as a selling point.</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privacy 与 data 通常不可数(data is);against + 名词/-ing,不要在后面加 to(除非 to 是介词)。个性化广告既要效果也要尊重隐私。</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65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65 When Ads Get Personal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discuss advantages and concerns about personalised ads.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give an opinion with hedging.</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passive voice for data actions.</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uncountable privacy / data and against + noun correctly.</a:t>
            </a:r>
          </a:p>
        </p:txBody>
      </p:sp>
      <p:sp>
        <p:nvSpPr>
          <p:cNvPr id="24" name="TextBox 23"/>
          <p:cNvSpPr txBox="1"/>
          <p:nvPr/>
        </p:nvSpPr>
        <p:spPr>
          <a:xfrm>
            <a:off x="9539935" y="33009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65 When Ads Get Personal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uncountable privacy / data, passive voice, and balanced opinion language.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7 · Lesson 66 Recession Marketing</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48</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66</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Recession Marketing</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经济衰退营销</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how businesses market in an economic downturn: value messaging, cost control, customer retention and finding opportunity.</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66 Recession Marketing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does an economic downturn change what people buy?</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should companies adjust their marketing in a recession?</a:t>
            </a:r>
          </a:p>
        </p:txBody>
      </p:sp>
      <p:sp>
        <p:nvSpPr>
          <p:cNvPr id="15" name="Oval 14"/>
          <p:cNvSpPr/>
          <p:nvPr/>
        </p:nvSpPr>
        <p:spPr>
          <a:xfrm>
            <a:off x="548640" y="319125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Should a company cut or increase its advertising budget when times are tough?</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Which brands do well in hard times, and why?</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you show value without just cutting prices?</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recession = 经济衰退;downturn = 经济下行。第 3 题 “When times are tough” 为常用说法。value for money 在这一课很重要。</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66 Recession Marketing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Recommend a marketing approach for a downturn.</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situation</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customer behaviour</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what to change</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what to protect</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In a downturn, customers tend to…   💬 We should focus on…   💬 It would be a mistake to…</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tend to + 动词 = 倾向于。It would be a mistake to… 提出警告。focus on + 名词/-ing。</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Reading · Marketing When Wallets Tighten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126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66 Recession Marketing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When the economy slows, consumers become more careful. They postpone big purchases, compare prices and look for reasons to trust a brand. Many companies respond by cutting marketing first, but history suggests that this can be a mistake. Brands that keep a visible presence often gain market share while competitors go quiet. The key is to adapt the message. Instead of aggressive discounts, which can damage the brand, successful marketers emphasise value: durability, savings over time and practical benefits. They also look after existing customers, since keeping a customer is cheaper than winning a new one. Flexible payment options, loyalty schemes and honest communication all help. Finally, a downturn is a good time to listen: research reveals what customers now value and where new opportunities lie.</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66 Recession Marketing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How do consumers behave in a downturn?</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They postpone big purchases, compare prices and look for reasons to trust a brand.</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Why might cutting marketing be a mistake?</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Brands that stay visible often gain market share while competitors go quiet.</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should marketers emphasise instead of discounts?</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Value: durability, savings over time and practical benefits.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Downturn vocabulary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66 Recession Marketing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经济下行词汇</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recession</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经济衰退</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country entered a recession.”</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downturn</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经济下行</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downturn affected retail.”</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consumer spending</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消费支出</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“Consumer spending fell.”</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discount</a:t>
            </a:r>
          </a:p>
          <a:p>
            <a:pPr algn="l">
              <a:lnSpc>
                <a:spcPct val="115000"/>
              </a:lnSpc>
              <a:spcAft>
                <a:spcPts val="800"/>
              </a:spcAft>
            </a:pPr>
            <a:r>
              <a:rPr sz="1300" b="0">
                <a:solidFill>
                  <a:srgbClr val="5F677A"/>
                </a:solidFill>
                <a:latin typeface="Arial"/>
                <a:ea typeface="Microsoft YaHei"/>
              </a:rPr>
              <a:t>noun /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折扣</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offer a 20% discount.”</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loyalty scheme</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会员计划</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loyalty scheme rewards repeat buyers.”</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market share</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市场份额</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gained market share.”</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Surviving and adapting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66 Recession Marketing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生存与调整</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tighten one’s belt</a:t>
            </a:r>
          </a:p>
          <a:p>
            <a:pPr algn="l">
              <a:lnSpc>
                <a:spcPct val="115000"/>
              </a:lnSpc>
              <a:spcAft>
                <a:spcPts val="800"/>
              </a:spcAft>
            </a:pPr>
            <a:r>
              <a:rPr sz="1300" b="0">
                <a:solidFill>
                  <a:srgbClr val="5F677A"/>
                </a:solidFill>
                <a:latin typeface="Arial"/>
                <a:ea typeface="Microsoft YaHei"/>
              </a:rPr>
              <a:t>idiom</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勒紧裤腰带</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“Households are tightening their belts.”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weather the storm</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渡过难关</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company weathered the storm.”</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price-sensitive</a:t>
            </a:r>
          </a:p>
          <a:p>
            <a:pPr algn="l">
              <a:lnSpc>
                <a:spcPct val="115000"/>
              </a:lnSpc>
              <a:spcAft>
                <a:spcPts val="800"/>
              </a:spcAft>
            </a:pPr>
            <a:r>
              <a:rPr sz="1300" b="0">
                <a:solidFill>
                  <a:srgbClr val="5F677A"/>
                </a:solidFill>
                <a:latin typeface="Arial"/>
                <a:ea typeface="Microsoft YaHei"/>
              </a:rPr>
              <a:t>adjective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对价格敏感的</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“Customers have become price-sensitive.”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trade down</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转向更便宜的产品</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“Many shoppers traded down to own-brand goods.”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cut back on</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削减</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“People cut back on luxuries.”</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lean on</a:t>
            </a:r>
          </a:p>
          <a:p>
            <a:pPr algn="l">
              <a:lnSpc>
                <a:spcPct val="115000"/>
              </a:lnSpc>
              <a:spcAft>
                <a:spcPts val="800"/>
              </a:spcAft>
            </a:pPr>
            <a:r>
              <a:rPr sz="1300" b="0">
                <a:solidFill>
                  <a:srgbClr val="5F677A"/>
                </a:solidFill>
                <a:latin typeface="Arial"/>
                <a:ea typeface="Microsoft YaHei"/>
              </a:rPr>
              <a:t>phrasal verb</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依靠</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lean on loyal customers.”</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66 Recession Marketing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依靠</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lean on</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渡过难关</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weather the storm</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勒紧裤腰带</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tighten one’s belt</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经济衰退</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recession</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折扣</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discount</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消费支出</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consumer spending</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削减</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cut back on</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会员计划</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loyalty scheme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66 Recession Marketing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recession</a:t>
            </a:r>
          </a:p>
        </p:txBody>
      </p:sp>
      <p:sp>
        <p:nvSpPr>
          <p:cNvPr id="10" name="Rounded Rectangle 9"/>
          <p:cNvSpPr/>
          <p:nvPr/>
        </p:nvSpPr>
        <p:spPr>
          <a:xfrm>
            <a:off x="3456432" y="987552"/>
            <a:ext cx="124358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downturn</a:t>
            </a:r>
          </a:p>
        </p:txBody>
      </p:sp>
      <p:sp>
        <p:nvSpPr>
          <p:cNvPr id="11" name="Rounded Rectangle 10"/>
          <p:cNvSpPr/>
          <p:nvPr/>
        </p:nvSpPr>
        <p:spPr>
          <a:xfrm>
            <a:off x="4791456" y="987552"/>
            <a:ext cx="223113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Consumer spending</a:t>
            </a:r>
          </a:p>
        </p:txBody>
      </p:sp>
      <p:sp>
        <p:nvSpPr>
          <p:cNvPr id="12" name="Rounded Rectangle 11"/>
          <p:cNvSpPr/>
          <p:nvPr/>
        </p:nvSpPr>
        <p:spPr>
          <a:xfrm>
            <a:off x="7114032" y="987552"/>
            <a:ext cx="190195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loyalty scheme</a:t>
            </a:r>
          </a:p>
        </p:txBody>
      </p:sp>
      <p:sp>
        <p:nvSpPr>
          <p:cNvPr id="13" name="Rounded Rectangle 12"/>
          <p:cNvSpPr/>
          <p:nvPr/>
        </p:nvSpPr>
        <p:spPr>
          <a:xfrm>
            <a:off x="9107424" y="987552"/>
            <a:ext cx="2011679"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price-sensitive</a:t>
            </a:r>
          </a:p>
        </p:txBody>
      </p:sp>
      <p:sp>
        <p:nvSpPr>
          <p:cNvPr id="14" name="Rounded Rectangle 13"/>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The economy fell into a _______ last year.</a:t>
            </a:r>
          </a:p>
        </p:txBody>
      </p:sp>
      <p:sp>
        <p:nvSpPr>
          <p:cNvPr id="16" name="Rounded Rectangle 15"/>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recession</a:t>
            </a:r>
          </a:p>
        </p:txBody>
      </p:sp>
      <p:sp>
        <p:nvSpPr>
          <p:cNvPr id="17" name="Rounded Rectangle 16"/>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The _______ hit retail and hospitality hardest.</a:t>
            </a:r>
          </a:p>
        </p:txBody>
      </p:sp>
      <p:sp>
        <p:nvSpPr>
          <p:cNvPr id="19" name="Rounded Rectangle 18"/>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downturn</a:t>
            </a:r>
          </a:p>
        </p:txBody>
      </p:sp>
      <p:sp>
        <p:nvSpPr>
          <p:cNvPr id="20" name="Rounded Rectangle 19"/>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_______ often falls when people worry about jobs.</a:t>
            </a:r>
          </a:p>
        </p:txBody>
      </p:sp>
      <p:sp>
        <p:nvSpPr>
          <p:cNvPr id="22" name="Rounded Rectangle 21"/>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Consumer spending</a:t>
            </a:r>
          </a:p>
        </p:txBody>
      </p:sp>
      <p:sp>
        <p:nvSpPr>
          <p:cNvPr id="23" name="Rounded Rectangle 22"/>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Our _______ gives points on every purchase.</a:t>
            </a:r>
          </a:p>
        </p:txBody>
      </p:sp>
      <p:sp>
        <p:nvSpPr>
          <p:cNvPr id="25" name="Rounded Rectangle 24"/>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loyalty scheme</a:t>
            </a:r>
          </a:p>
        </p:txBody>
      </p:sp>
      <p:sp>
        <p:nvSpPr>
          <p:cNvPr id="26" name="Rounded Rectangle 25"/>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In hard times, customers become more _______.</a:t>
            </a:r>
          </a:p>
        </p:txBody>
      </p:sp>
      <p:sp>
        <p:nvSpPr>
          <p:cNvPr id="28" name="Rounded Rectangle 27"/>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price-sensitive</a:t>
            </a:r>
          </a:p>
        </p:txBody>
      </p:sp>
      <p:sp>
        <p:nvSpPr>
          <p:cNvPr id="29" name="Rounded Rectangle 28"/>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Many shoppers _______ to cheaper own-brand products.</a:t>
            </a:r>
          </a:p>
        </p:txBody>
      </p:sp>
      <p:sp>
        <p:nvSpPr>
          <p:cNvPr id="31" name="Rounded Rectangle 30"/>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trade down</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recession (one c, two s), economic (adj) vs economical (thrifty): “an economic crisis” vs “an economical car”. Cut / reduce spending, spending on. Customers tend to spend less on. Gain / lose market share. Say “per cent” (UK) or “percent” (US).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4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fade">
                                      <p:cBhvr>
                                        <p:cTn id="9" dur="4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4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Role Play · Planning marketing in a downturn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66 Recession Marketing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在经济下行时规划营销</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advise your CEO on whether to cut the marketing budget during a downturn.</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Jo Pan, marketing director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Stone, CEO</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Planning marketing in a downturn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66 Recession Marketing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Jo</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Mr Stone, I understand we’re considering a 40% marketing cut.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Mr Stone</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sales are down, and we must save money.</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advise against cutting that much. In a downturn, customers tend to be more selective, so staying visible is important.</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But if people aren’t buying, why spend?</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Because competitors may reduce their presence. If we keep ours, we could gain market share.</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Planning marketing in a downturn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66 Recession Marketing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would you do instead of discounts?</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Emphasise value: durability, long-term savings and good service. Discounts can hurt our brand.</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existing customers?</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Let’s focus on loyalty. It’s cheaper to keep a customer than win a new one. A loyalty scheme would help.</a:t>
            </a:r>
          </a:p>
        </p:txBody>
      </p:sp>
      <p:sp>
        <p:nvSpPr>
          <p:cNvPr id="20" name="Rounded Rectangle 19"/>
          <p:cNvSpPr/>
          <p:nvPr/>
        </p:nvSpPr>
        <p:spPr>
          <a:xfrm>
            <a:off x="10911535" y="423367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423367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budget would you need?</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Planning marketing in a downturn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66 Recession Marketing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 cut of 15% rather than 40%, with money moved to the most efficient channels.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seems reasonable. Show me the numbers.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have them ready tomorrow.</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Your Turn · Planning marketing in a downturn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66 Recession Marketing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advise on marketing in a downturn.</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Marketing director. Your recommendation: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CEO. Wants big cuts.</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tend to · stay visible · market share · value · loyalty scheme · it would be a mistake</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Argue for a balanced plan with reasons.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CEO says: “Nobody is buying luxury now.” Respond.</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three low-cost marketing ideas.</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Explain why discounts can harm a brand.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66 Recession Marketing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marketing be cut in a recession?</a:t>
            </a:r>
          </a:p>
          <a:p>
            <a:pPr algn="l">
              <a:lnSpc>
                <a:spcPct val="115000"/>
              </a:lnSpc>
              <a:spcAft>
                <a:spcPts val="800"/>
              </a:spcAft>
            </a:pPr>
            <a:r>
              <a:rPr sz="1400" b="0">
                <a:solidFill>
                  <a:srgbClr val="5F677A"/>
                </a:solidFill>
                <a:latin typeface="Arial"/>
                <a:ea typeface="Microsoft YaHei"/>
              </a:rPr>
              <a:t>💬 “In my opinion, it’s risky to…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does your own spending change when money is tight?</a:t>
            </a:r>
          </a:p>
          <a:p>
            <a:pPr algn="l">
              <a:lnSpc>
                <a:spcPct val="115000"/>
              </a:lnSpc>
              <a:spcAft>
                <a:spcPts val="800"/>
              </a:spcAft>
            </a:pPr>
            <a:r>
              <a:rPr sz="1400" b="0">
                <a:solidFill>
                  <a:srgbClr val="5F677A"/>
                </a:solidFill>
                <a:latin typeface="Arial"/>
                <a:ea typeface="Microsoft YaHei"/>
              </a:rPr>
              <a:t>💬 “I tend to cut back on… and I prioritise…”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Which products survive downturns best?</a:t>
            </a:r>
          </a:p>
          <a:p>
            <a:pPr algn="l">
              <a:lnSpc>
                <a:spcPct val="115000"/>
              </a:lnSpc>
              <a:spcAft>
                <a:spcPts val="800"/>
              </a:spcAft>
            </a:pPr>
            <a:r>
              <a:rPr sz="1400" b="0">
                <a:solidFill>
                  <a:srgbClr val="5F677A"/>
                </a:solidFill>
                <a:latin typeface="Arial"/>
                <a:ea typeface="Microsoft YaHei"/>
              </a:rPr>
              <a:t>💬 “Basic necessities… / Affordable treats…”</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discounting a good strategy?</a:t>
            </a:r>
          </a:p>
          <a:p>
            <a:pPr algn="l">
              <a:lnSpc>
                <a:spcPct val="115000"/>
              </a:lnSpc>
              <a:spcAft>
                <a:spcPts val="800"/>
              </a:spcAft>
            </a:pPr>
            <a:r>
              <a:rPr sz="1400" b="0">
                <a:solidFill>
                  <a:srgbClr val="5F677A"/>
                </a:solidFill>
                <a:latin typeface="Arial"/>
                <a:ea typeface="Microsoft YaHei"/>
              </a:rPr>
              <a:t>💬 “It can help short term but…”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66 Recession Marketing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In my opinion, it’s risky to cut marketing completely, because when the economy recovers, the brand may have lost its visibility. However, it makes sense to review the budget carefully and remove spending that doesn’t produce results. The goal is to be more efficient, not simply smaller. Brands that keep a steady presence during hard times are usually better placed when demand returns.</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visibility = 能见度。”makes sense” = 合理。efficient = 高效的。”better placed” = 处于更有利的位置。</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66 Recession Marketing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18211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People have no money.</a:t>
                      </a:r>
                    </a:p>
                  </a:txBody>
                  <a:tcPr anchor="ctr">
                    <a:solidFill>
                      <a:srgbClr val="FFFFFF"/>
                    </a:solidFill>
                  </a:tcPr>
                </a:tc>
                <a:tc>
                  <a:txBody>
                    <a:bodyPr wrap="square"/>
                    <a:lstStyle/>
                    <a:p>
                      <a:r>
                        <a:rPr sz="1600" b="0">
                          <a:solidFill>
                            <a:srgbClr val="1F2A44"/>
                          </a:solidFill>
                          <a:latin typeface="Arial"/>
                          <a:ea typeface="Microsoft YaHei"/>
                        </a:rPr>
                        <a:t>Consumers are cutting back on spending.</a:t>
                      </a:r>
                    </a:p>
                  </a:txBody>
                  <a:tcPr anchor="ctr">
                    <a:solidFill>
                      <a:srgbClr val="FFFFFF"/>
                    </a:solidFill>
                  </a:tcPr>
                </a:tc>
                <a:tc>
                  <a:txBody>
                    <a:bodyPr wrap="square"/>
                    <a:lstStyle/>
                    <a:p>
                      <a:r>
                        <a:rPr sz="1600" b="0">
                          <a:solidFill>
                            <a:srgbClr val="FF6B5B"/>
                          </a:solidFill>
                          <a:latin typeface="Arial"/>
                          <a:ea typeface="Microsoft YaHei"/>
                        </a:rPr>
                        <a:t>专业</a:t>
                      </a:r>
                    </a:p>
                  </a:txBody>
                  <a:tcPr anchor="ctr">
                    <a:solidFill>
                      <a:srgbClr val="FFFFFF"/>
                    </a:solidFill>
                  </a:tcPr>
                </a:tc>
              </a:tr>
              <a:tr h="652272">
                <a:tc>
                  <a:txBody>
                    <a:bodyPr wrap="square"/>
                    <a:lstStyle/>
                    <a:p>
                      <a:r>
                        <a:rPr sz="1600" b="1">
                          <a:solidFill>
                            <a:srgbClr val="1F2A44"/>
                          </a:solidFill>
                          <a:latin typeface="Arial"/>
                          <a:ea typeface="Microsoft YaHei"/>
                        </a:rPr>
                        <a:t>We make price lower.</a:t>
                      </a:r>
                    </a:p>
                  </a:txBody>
                  <a:tcPr anchor="ctr">
                    <a:solidFill>
                      <a:srgbClr val="FFEFD9"/>
                    </a:solidFill>
                  </a:tcPr>
                </a:tc>
                <a:tc>
                  <a:txBody>
                    <a:bodyPr wrap="square"/>
                    <a:lstStyle/>
                    <a:p>
                      <a:r>
                        <a:rPr sz="1600" b="0">
                          <a:solidFill>
                            <a:srgbClr val="1F2A44"/>
                          </a:solidFill>
                          <a:latin typeface="Arial"/>
                          <a:ea typeface="Microsoft YaHei"/>
                        </a:rPr>
                        <a:t>We’re considering a price reduction.</a:t>
                      </a:r>
                    </a:p>
                  </a:txBody>
                  <a:tcPr anchor="ctr">
                    <a:solidFill>
                      <a:srgbClr val="FFEFD9"/>
                    </a:solidFill>
                  </a:tcPr>
                </a:tc>
                <a:tc>
                  <a:txBody>
                    <a:bodyPr wrap="square"/>
                    <a:lstStyle/>
                    <a:p>
                      <a:r>
                        <a:rPr sz="1600" b="0">
                          <a:solidFill>
                            <a:srgbClr val="FF6B5B"/>
                          </a:solidFill>
                          <a:latin typeface="Arial"/>
                          <a:ea typeface="Microsoft YaHei"/>
                        </a:rPr>
                        <a:t>搭配</a:t>
                      </a:r>
                    </a:p>
                  </a:txBody>
                  <a:tcPr anchor="ctr">
                    <a:solidFill>
                      <a:srgbClr val="FFEFD9"/>
                    </a:solidFill>
                  </a:tcPr>
                </a:tc>
              </a:tr>
              <a:tr h="652272">
                <a:tc>
                  <a:txBody>
                    <a:bodyPr wrap="square"/>
                    <a:lstStyle/>
                    <a:p>
                      <a:r>
                        <a:rPr sz="1600" b="1">
                          <a:solidFill>
                            <a:srgbClr val="1F2A44"/>
                          </a:solidFill>
                          <a:latin typeface="Arial"/>
                          <a:ea typeface="Microsoft YaHei"/>
                        </a:rPr>
                        <a:t>Our product is cheap.</a:t>
                      </a:r>
                    </a:p>
                  </a:txBody>
                  <a:tcPr anchor="ctr">
                    <a:solidFill>
                      <a:srgbClr val="FFFFFF"/>
                    </a:solidFill>
                  </a:tcPr>
                </a:tc>
                <a:tc>
                  <a:txBody>
                    <a:bodyPr wrap="square"/>
                    <a:lstStyle/>
                    <a:p>
                      <a:r>
                        <a:rPr sz="1600" b="0">
                          <a:solidFill>
                            <a:srgbClr val="1F2A44"/>
                          </a:solidFill>
                          <a:latin typeface="Arial"/>
                          <a:ea typeface="Microsoft YaHei"/>
                        </a:rPr>
                        <a:t>Our product offers good value for money.</a:t>
                      </a:r>
                    </a:p>
                  </a:txBody>
                  <a:tcPr anchor="ctr">
                    <a:solidFill>
                      <a:srgbClr val="FFFFFF"/>
                    </a:solidFill>
                  </a:tcPr>
                </a:tc>
                <a:tc>
                  <a:txBody>
                    <a:bodyPr wrap="square"/>
                    <a:lstStyle/>
                    <a:p>
                      <a:r>
                        <a:rPr sz="1600" b="0">
                          <a:solidFill>
                            <a:srgbClr val="FF6B5B"/>
                          </a:solidFill>
                          <a:latin typeface="Arial"/>
                          <a:ea typeface="Microsoft YaHei"/>
                        </a:rPr>
                        <a:t>价值</a:t>
                      </a:r>
                    </a:p>
                  </a:txBody>
                  <a:tcPr anchor="ctr">
                    <a:solidFill>
                      <a:srgbClr val="FFFFFF"/>
                    </a:solidFill>
                  </a:tcPr>
                </a:tc>
              </a:tr>
              <a:tr h="408432">
                <a:tc>
                  <a:txBody>
                    <a:bodyPr wrap="square"/>
                    <a:lstStyle/>
                    <a:p>
                      <a:r>
                        <a:rPr sz="1600" b="1">
                          <a:solidFill>
                            <a:srgbClr val="1F2A44"/>
                          </a:solidFill>
                          <a:latin typeface="Arial"/>
                          <a:ea typeface="Microsoft YaHei"/>
                        </a:rPr>
                        <a:t>The economy is bad.</a:t>
                      </a:r>
                    </a:p>
                  </a:txBody>
                  <a:tcPr anchor="ctr">
                    <a:solidFill>
                      <a:srgbClr val="FFEFD9"/>
                    </a:solidFill>
                  </a:tcPr>
                </a:tc>
                <a:tc>
                  <a:txBody>
                    <a:bodyPr wrap="square"/>
                    <a:lstStyle/>
                    <a:p>
                      <a:r>
                        <a:rPr sz="1600" b="0">
                          <a:solidFill>
                            <a:srgbClr val="1F2A44"/>
                          </a:solidFill>
                          <a:latin typeface="Arial"/>
                          <a:ea typeface="Microsoft YaHei"/>
                        </a:rPr>
                        <a:t>The economy is in a downturn.</a:t>
                      </a:r>
                    </a:p>
                  </a:txBody>
                  <a:tcPr anchor="ctr">
                    <a:solidFill>
                      <a:srgbClr val="FFEFD9"/>
                    </a:solidFill>
                  </a:tcPr>
                </a:tc>
                <a:tc>
                  <a:txBody>
                    <a:bodyPr wrap="square"/>
                    <a:lstStyle/>
                    <a:p>
                      <a:r>
                        <a:rPr sz="1600" b="0">
                          <a:solidFill>
                            <a:srgbClr val="FF6B5B"/>
                          </a:solidFill>
                          <a:latin typeface="Arial"/>
                          <a:ea typeface="Microsoft YaHei"/>
                        </a:rPr>
                        <a:t>术语</a:t>
                      </a:r>
                    </a:p>
                  </a:txBody>
                  <a:tcPr anchor="ctr">
                    <a:solidFill>
                      <a:srgbClr val="FFEFD9"/>
                    </a:solidFill>
                  </a:tcPr>
                </a:tc>
              </a:tr>
              <a:tr h="408432">
                <a:tc>
                  <a:txBody>
                    <a:bodyPr wrap="square"/>
                    <a:lstStyle/>
                    <a:p>
                      <a:r>
                        <a:rPr sz="1600" b="1">
                          <a:solidFill>
                            <a:srgbClr val="1F2A44"/>
                          </a:solidFill>
                          <a:latin typeface="Arial"/>
                          <a:ea typeface="Microsoft YaHei"/>
                        </a:rPr>
                        <a:t>We survive.</a:t>
                      </a:r>
                    </a:p>
                  </a:txBody>
                  <a:tcPr anchor="ctr">
                    <a:solidFill>
                      <a:srgbClr val="FFFFFF"/>
                    </a:solidFill>
                  </a:tcPr>
                </a:tc>
                <a:tc>
                  <a:txBody>
                    <a:bodyPr wrap="square"/>
                    <a:lstStyle/>
                    <a:p>
                      <a:r>
                        <a:rPr sz="1600" b="0">
                          <a:solidFill>
                            <a:srgbClr val="1F2A44"/>
                          </a:solidFill>
                          <a:latin typeface="Arial"/>
                          <a:ea typeface="Microsoft YaHei"/>
                        </a:rPr>
                        <a:t>We’re weathering the storm.</a:t>
                      </a:r>
                    </a:p>
                  </a:txBody>
                  <a:tcPr anchor="ctr">
                    <a:solidFill>
                      <a:srgbClr val="FFFFFF"/>
                    </a:solidFill>
                  </a:tcPr>
                </a:tc>
                <a:tc>
                  <a:txBody>
                    <a:bodyPr wrap="square"/>
                    <a:lstStyle/>
                    <a:p>
                      <a:r>
                        <a:rPr sz="1600" b="0">
                          <a:solidFill>
                            <a:srgbClr val="FF6B5B"/>
                          </a:solidFill>
                          <a:latin typeface="Arial"/>
                          <a:ea typeface="Microsoft YaHei"/>
                        </a:rPr>
                        <a:t>习语</a:t>
                      </a:r>
                    </a:p>
                  </a:txBody>
                  <a:tcPr anchor="ctr">
                    <a:solidFill>
                      <a:srgbClr val="FFFFFF"/>
                    </a:solidFill>
                  </a:tcPr>
                </a:tc>
              </a:tr>
            </a:tbl>
          </a:graphicData>
        </a:graphic>
      </p:graphicFrame>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66 Recession Marketing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Trend language: </a:t>
            </a:r>
            <a:r>
              <a:rPr sz="1700" b="0">
                <a:solidFill>
                  <a:srgbClr val="1F2A44"/>
                </a:solidFill>
                <a:latin typeface="Arial"/>
                <a:ea typeface="Microsoft YaHei"/>
              </a:rPr>
              <a:t>fall, drop, decline, slump; rise, grow, recover; stay stable, level off.</a:t>
            </a:r>
          </a:p>
        </p:txBody>
      </p:sp>
      <p:sp>
        <p:nvSpPr>
          <p:cNvPr id="11" name="Rounded Rectangle 10"/>
          <p:cNvSpPr/>
          <p:nvPr/>
        </p:nvSpPr>
        <p:spPr>
          <a:xfrm>
            <a:off x="548640" y="195071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701039"/>
          </a:xfrm>
          <a:prstGeom prst="rect">
            <a:avLst/>
          </a:prstGeom>
          <a:noFill/>
        </p:spPr>
        <p:txBody>
          <a:bodyPr wrap="square" anchor="ctr">
            <a:spAutoFit/>
          </a:bodyPr>
          <a:lstStyle/>
          <a:p>
            <a:r>
              <a:rPr sz="1700" b="1">
                <a:solidFill>
                  <a:srgbClr val="4A90E2"/>
                </a:solidFill>
                <a:latin typeface="Arial"/>
                <a:ea typeface="Microsoft YaHei"/>
              </a:rPr>
              <a:t>Degree of change: </a:t>
            </a:r>
            <a:r>
              <a:rPr sz="1700" b="0">
                <a:solidFill>
                  <a:srgbClr val="1F2A44"/>
                </a:solidFill>
                <a:latin typeface="Arial"/>
                <a:ea typeface="Microsoft YaHei"/>
              </a:rPr>
              <a:t>a slight fall, a sharp decline, a steady recovery. Adverbs: slightly, sharply, steadily.</a:t>
            </a:r>
          </a:p>
        </p:txBody>
      </p:sp>
      <p:sp>
        <p:nvSpPr>
          <p:cNvPr id="14" name="Rounded Rectangle 13"/>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Cause and effect: </a:t>
            </a:r>
            <a:r>
              <a:rPr sz="1700" b="0">
                <a:solidFill>
                  <a:srgbClr val="1F2A44"/>
                </a:solidFill>
                <a:latin typeface="Arial"/>
                <a:ea typeface="Microsoft YaHei"/>
              </a:rPr>
              <a:t>lead to, result in, cause, due to, as a result of.</a:t>
            </a:r>
          </a:p>
        </p:txBody>
      </p:sp>
      <p:sp>
        <p:nvSpPr>
          <p:cNvPr id="17" name="Rounded Rectangle 16"/>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441959"/>
          </a:xfrm>
          <a:prstGeom prst="rect">
            <a:avLst/>
          </a:prstGeom>
          <a:noFill/>
        </p:spPr>
        <p:txBody>
          <a:bodyPr wrap="square" anchor="ctr">
            <a:spAutoFit/>
          </a:bodyPr>
          <a:lstStyle/>
          <a:p>
            <a:r>
              <a:rPr sz="1700" b="1">
                <a:solidFill>
                  <a:srgbClr val="FFC857"/>
                </a:solidFill>
                <a:latin typeface="Arial"/>
                <a:ea typeface="Microsoft YaHei"/>
              </a:rPr>
              <a:t>Tend to: </a:t>
            </a:r>
            <a:r>
              <a:rPr sz="1700" b="0">
                <a:solidFill>
                  <a:srgbClr val="1F2A44"/>
                </a:solidFill>
                <a:latin typeface="Arial"/>
                <a:ea typeface="Microsoft YaHei"/>
              </a:rPr>
              <a:t>“Customers tend to cut back on non-essentials.”</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66 Recession Marketing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sales decreased sharp.</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Sales decreased sharply.</a:t>
            </a:r>
          </a:p>
          <a:p>
            <a:pPr algn="l">
              <a:spcAft>
                <a:spcPts val="200"/>
              </a:spcAft>
            </a:pPr>
            <a:r>
              <a:rPr sz="1200" b="0">
                <a:solidFill>
                  <a:srgbClr val="FFFFFF"/>
                </a:solidFill>
                <a:latin typeface="Arial"/>
                <a:ea typeface="Microsoft YaHei"/>
              </a:rPr>
              <a:t>adverb</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Sales fell by 10 percents.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Sales fell by 10 per cent.</a:t>
            </a:r>
          </a:p>
          <a:p>
            <a:pPr algn="l">
              <a:spcAft>
                <a:spcPts val="200"/>
              </a:spcAft>
            </a:pPr>
            <a:r>
              <a:rPr sz="1200" b="0">
                <a:solidFill>
                  <a:srgbClr val="FFFFFF"/>
                </a:solidFill>
                <a:latin typeface="Arial"/>
                <a:ea typeface="Microsoft YaHei"/>
              </a:rPr>
              <a:t>percent 不加 s</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economy is recover.</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economy is recovering.</a:t>
            </a:r>
          </a:p>
          <a:p>
            <a:pPr algn="l">
              <a:spcAft>
                <a:spcPts val="200"/>
              </a:spcAft>
            </a:pPr>
            <a:r>
              <a:rPr sz="1200" b="0">
                <a:solidFill>
                  <a:srgbClr val="FFFFFF"/>
                </a:solidFill>
                <a:latin typeface="Arial"/>
                <a:ea typeface="Microsoft YaHei"/>
              </a:rPr>
              <a:t>进行时</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66 Recession Marketing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Customers tend buy less.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Customers tend to buy less.</a:t>
            </a:r>
          </a:p>
          <a:p>
            <a:pPr algn="l">
              <a:spcAft>
                <a:spcPts val="200"/>
              </a:spcAft>
            </a:pPr>
            <a:r>
              <a:rPr sz="1200" b="0">
                <a:solidFill>
                  <a:srgbClr val="FFFFFF"/>
                </a:solidFill>
                <a:latin typeface="Arial"/>
                <a:ea typeface="Microsoft YaHei"/>
              </a:rPr>
              <a:t>tend to</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There is a decrease on sales.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There’s a decrease in sales.</a:t>
            </a:r>
          </a:p>
          <a:p>
            <a:pPr algn="l">
              <a:spcAft>
                <a:spcPts val="200"/>
              </a:spcAft>
            </a:pPr>
            <a:r>
              <a:rPr sz="1200" b="0">
                <a:solidFill>
                  <a:srgbClr val="FFFFFF"/>
                </a:solidFill>
                <a:latin typeface="Arial"/>
                <a:ea typeface="Microsoft YaHei"/>
              </a:rPr>
              <a:t>decrease in</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company stayed in the same.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company stayed the same.</a:t>
            </a:r>
          </a:p>
          <a:p>
            <a:pPr algn="l">
              <a:spcAft>
                <a:spcPts val="200"/>
              </a:spcAft>
            </a:pPr>
            <a:r>
              <a:rPr sz="1200" b="0">
                <a:solidFill>
                  <a:srgbClr val="FFFFFF"/>
                </a:solidFill>
                <a:latin typeface="Arial"/>
                <a:ea typeface="Microsoft YaHei"/>
              </a:rPr>
              <a:t>stay + adj</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adverb forms, a decrease in, and tend to + base verb.</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66 Recession Marketing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Language: </a:t>
            </a:r>
            <a:r>
              <a:rPr sz="1700" b="0">
                <a:solidFill>
                  <a:srgbClr val="1F2A44"/>
                </a:solidFill>
                <a:latin typeface="Arial"/>
                <a:ea typeface="Microsoft YaHei"/>
              </a:rPr>
              <a:t>Avoid too-dramatic words like “crash” in public statements; use “slowdown” or “downturn”.</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Discounts: </a:t>
            </a:r>
            <a:r>
              <a:rPr sz="1700" b="0">
                <a:solidFill>
                  <a:srgbClr val="1F2A44"/>
                </a:solidFill>
                <a:latin typeface="Arial"/>
                <a:ea typeface="Microsoft YaHei"/>
              </a:rPr>
              <a:t>Heavy discounting may train customers to wait for sales; many luxury brands avoid it.</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Opportunity: </a:t>
            </a:r>
            <a:r>
              <a:rPr sz="1700" b="0">
                <a:solidFill>
                  <a:srgbClr val="1F2A44"/>
                </a:solidFill>
                <a:latin typeface="Arial"/>
                <a:ea typeface="Microsoft YaHei"/>
              </a:rPr>
              <a:t>Phrases like “challenging times” are common in corporate communications.</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趋势用副词修饰动词,形容词修饰名词:fell sharply / a sharp fall。a decrease in sales。tend to + 动词原形。per cent 不加 s。</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66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66 Recession Marketing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consumer behaviour in a downturn.</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recommend a marketing approach with reasons.</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trend language with adjectives and adverbs.</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 decrease in and tend to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66 Recession Marketing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adverbs vs adjectives in trend language, a decrease in, and tend to + verb.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7 · Lesson 67 When a Brand Stunt Backfires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71</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67</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300" b="1">
                <a:solidFill>
                  <a:srgbClr val="FFFFFF"/>
                </a:solidFill>
                <a:latin typeface="Arial"/>
                <a:ea typeface="Microsoft YaHei"/>
              </a:rPr>
              <a:t>When a Brand Stunt Backfires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当品牌营销弄巧成拙</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marketing stunts and campaigns that go wrong: why they fail, crisis response, apologies, and lessons for brand reputation.</a:t>
            </a:r>
          </a:p>
        </p:txBody>
      </p:sp>
      <p:sp>
        <p:nvSpPr>
          <p:cNvPr id="10" name="Rounded Rectangle 9"/>
          <p:cNvSpPr/>
          <p:nvPr/>
        </p:nvSpPr>
        <p:spPr>
          <a:xfrm>
            <a:off x="822960"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67 When a Brand Stunt Backfires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Can you think of an advertising campaign that people disliked?</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Why do some stunts or ads upset the public?</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should a company do when its campaign causes offence?</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“any publicity is good publicity” true?</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a brand rebuild trust after a mistake?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stunt = 噱头;backfire = 适得其反;PR (public relations) = 公共关系。第 1 题不必说具体品牌,可描述 “an ad that…”。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67 When a Brand Stunt Backfires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Advise a company on responding to a campaign that has backfired.</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acknowledge</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apologise</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explain actions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rebuild</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The first step is to…   💬 They should avoid…   💬 In the long run, trust depends on…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In the long run = 长远来看。avoid + -ing。The first step is to + 动词。</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When the Joke Is on You</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145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67 When a Brand Stunt Backfires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Brands love attention, and a bold stunt can deliver it. But attention is not always the kind you want. A campaign that seems clever in the meeting room can look careless, insensitive or dishonest to the public, especially once social media spreads it within hours. Backfires often follow the same pattern: the company fails to test its idea with a wide audience, ignores warning voices inside the team or treats a sensitive subject lightly. When criticism comes, the worst response is to defend, delete and go quiet. Better crisis management means acknowledging the problem quickly, apologising without excuses, explaining what will change and then backing the words with action. Experts suggest that trust can recover, but it takes time and consistency. The best protection is prevention: diverse reviewers, honest testing and a culture where people can say, “I’m not sure this is a good idea.”</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67 When a Brand Stunt Backfires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do stunts sometimes backfire?</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 company doesn’t test widely, ignores warnings or treats a sensitive topic lightly.</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is the worst response to criticism?</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To defend, delete and go quiet.</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is the best protection?</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Prevention: diverse reviewers, honest testing and a culture where people can voice doubts.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Campaigns and reputation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67 When a Brand Stunt Backfires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营销活动与声誉</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campaign</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营销活动</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campaign launched in June.”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stunt</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噱头</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publicity stunt got attention.”</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backlash</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强烈反对</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ad caused a public backlash.”</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reputation</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声誉</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incident damaged our reputation.”</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apology</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道歉</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company issued an apology.”</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public relations (PR)</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公共关系</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“PR handled the crisis.”</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Crisis response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67 When a Brand Stunt Backfires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危机应对</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backfire</a:t>
            </a:r>
          </a:p>
          <a:p>
            <a:pPr algn="l">
              <a:lnSpc>
                <a:spcPct val="115000"/>
              </a:lnSpc>
              <a:spcAft>
                <a:spcPts val="800"/>
              </a:spcAft>
            </a:pPr>
            <a:r>
              <a:rPr sz="1300" b="0">
                <a:solidFill>
                  <a:srgbClr val="5F677A"/>
                </a:solidFill>
                <a:latin typeface="Arial"/>
                <a:ea typeface="Microsoft YaHei"/>
              </a:rPr>
              <a:t>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适得其反</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campaign backfired badly.”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go viral</a:t>
            </a:r>
          </a:p>
          <a:p>
            <a:pPr algn="l">
              <a:lnSpc>
                <a:spcPct val="115000"/>
              </a:lnSpc>
              <a:spcAft>
                <a:spcPts val="800"/>
              </a:spcAft>
            </a:pPr>
            <a:r>
              <a:rPr sz="1300" b="0">
                <a:solidFill>
                  <a:srgbClr val="5F677A"/>
                </a:solidFill>
                <a:latin typeface="Arial"/>
                <a:ea typeface="Microsoft YaHei"/>
              </a:rPr>
              <a:t>verb 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迅速传播</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ad went viral for the wrong reasons.”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damage control</a:t>
            </a:r>
          </a:p>
          <a:p>
            <a:pPr algn="l">
              <a:lnSpc>
                <a:spcPct val="115000"/>
              </a:lnSpc>
              <a:spcAft>
                <a:spcPts val="800"/>
              </a:spcAft>
            </a:pPr>
            <a:r>
              <a:rPr sz="1300" b="0">
                <a:solidFill>
                  <a:srgbClr val="5F677A"/>
                </a:solidFill>
                <a:latin typeface="Arial"/>
                <a:ea typeface="Microsoft YaHei"/>
              </a:rPr>
              <a:t>noun phrase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危机控制</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began damage control.”</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own up to</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坦率承认</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firm owned up to its mistake.”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tone-deaf</a:t>
            </a:r>
          </a:p>
          <a:p>
            <a:pPr algn="l">
              <a:lnSpc>
                <a:spcPct val="115000"/>
              </a:lnSpc>
              <a:spcAft>
                <a:spcPts val="800"/>
              </a:spcAft>
            </a:pPr>
            <a:r>
              <a:rPr sz="1300" b="0">
                <a:solidFill>
                  <a:srgbClr val="5F677A"/>
                </a:solidFill>
                <a:latin typeface="Arial"/>
                <a:ea typeface="Microsoft YaHei"/>
              </a:rPr>
              <a:t>adjective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不合时宜的</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post seemed tone-deaf.”</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rebuild trust</a:t>
            </a:r>
          </a:p>
          <a:p>
            <a:pPr algn="l">
              <a:lnSpc>
                <a:spcPct val="115000"/>
              </a:lnSpc>
              <a:spcAft>
                <a:spcPts val="800"/>
              </a:spcAft>
            </a:pPr>
            <a:r>
              <a:rPr sz="1300" b="0">
                <a:solidFill>
                  <a:srgbClr val="5F677A"/>
                </a:solidFill>
                <a:latin typeface="Arial"/>
                <a:ea typeface="Microsoft YaHei"/>
              </a:rPr>
              <a:t>collocation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重建信任</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will take time to rebuild trust.”</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67 When a Brand Stunt Backfires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重建信任</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rebuild trust</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噱头</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stunt</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强烈反对</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backlash</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适得其反</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backfire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危机控制</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damage control</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声誉</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reputation</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不合时宜的</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tone-deaf</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公共关系</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public relations (PR)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67 When a Brand Stunt Backfires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campaign</a:t>
            </a:r>
          </a:p>
        </p:txBody>
      </p:sp>
      <p:sp>
        <p:nvSpPr>
          <p:cNvPr id="10" name="Rounded Rectangle 9"/>
          <p:cNvSpPr/>
          <p:nvPr/>
        </p:nvSpPr>
        <p:spPr>
          <a:xfrm>
            <a:off x="3346704" y="987552"/>
            <a:ext cx="91440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stunt</a:t>
            </a:r>
          </a:p>
        </p:txBody>
      </p:sp>
      <p:sp>
        <p:nvSpPr>
          <p:cNvPr id="11" name="Rounded Rectangle 10"/>
          <p:cNvSpPr/>
          <p:nvPr/>
        </p:nvSpPr>
        <p:spPr>
          <a:xfrm>
            <a:off x="4352544" y="987552"/>
            <a:ext cx="1243584"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backlash</a:t>
            </a:r>
          </a:p>
        </p:txBody>
      </p:sp>
      <p:sp>
        <p:nvSpPr>
          <p:cNvPr id="12" name="Rounded Rectangle 11"/>
          <p:cNvSpPr/>
          <p:nvPr/>
        </p:nvSpPr>
        <p:spPr>
          <a:xfrm>
            <a:off x="5687568" y="987552"/>
            <a:ext cx="1463040"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reputation</a:t>
            </a:r>
          </a:p>
        </p:txBody>
      </p:sp>
      <p:sp>
        <p:nvSpPr>
          <p:cNvPr id="13" name="Rounded Rectangle 12"/>
          <p:cNvSpPr/>
          <p:nvPr/>
        </p:nvSpPr>
        <p:spPr>
          <a:xfrm>
            <a:off x="7242048" y="987552"/>
            <a:ext cx="135331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backfired</a:t>
            </a:r>
          </a:p>
        </p:txBody>
      </p:sp>
      <p:sp>
        <p:nvSpPr>
          <p:cNvPr id="14" name="Rounded Rectangle 13"/>
          <p:cNvSpPr/>
          <p:nvPr/>
        </p:nvSpPr>
        <p:spPr>
          <a:xfrm>
            <a:off x="8686800"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tone-deaf</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The company launched a new _______ for its winter range.</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campaign</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The publicity _______ got attention, but not the right kind.</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stunt</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The ad caused a public _______ on social media.</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backlash</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One mistake can damage a company’s 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reputation</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The joke _______ and offended many customers.</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backfired</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Many people found the post _______ given the circumstances.</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tone-deaf</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publicity (uncountable), publicise (UK), reputation (not “repution”), backlash. Cause / provoke a backlash, face criticism, issue an apology (not “give a sorry”). Apologise for (not “apologise about”). Offend (verb), offensive (adj), offence (UK noun).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Role Play · Advising on a campaign crisis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67 When a Brand Stunt Backfires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就营销危机提出建议</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company’s campaign has caused a backlash. You advise your manager on how to respond.</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Sara Kwan, PR consultant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Lowe, marketing manager</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Advising on a campaign crisis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67 When a Brand Stunt Backfires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Sara</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Mr Lowe, thank you for calling. I’ve looked at the reaction to the campaign. It’s not good.</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Mr Lowe</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know. People say the ad is insensitive. We didn’t mean any harm.</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sure, but intent doesn’t matter as much as impact now. The first step is to acknowledge it publicly.</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Shouldn’t we wait for things to calm down?</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wouldn’t. Silence looks like you don’t care. I’d issue a short, sincere apology today.</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should it say?</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Advising on a campaign crisis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67 When a Brand Stunt Backfires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you understand why people were upset, that you take responsibility and that the ad has been withdrawn.</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then?</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Explain what you’ll do differently, such as adding a review panel with diverse members. Then do it.</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Should we delete the posts?</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keep them but pause new ads. Deleting can look like hiding.</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All right. Can you draft the statement?</a:t>
            </a:r>
          </a:p>
        </p:txBody>
      </p:sp>
      <p:sp>
        <p:nvSpPr>
          <p:cNvPr id="26" name="Rounded Rectangle 25"/>
          <p:cNvSpPr/>
          <p:nvPr/>
        </p:nvSpPr>
        <p:spPr>
          <a:xfrm>
            <a:off x="548640" y="539800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8369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539800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in an hour. Please have the CEO approve it.</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Your Turn · Advising on a campaign crisis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67 When a Brand Stunt Backfires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advise on a campaign crisis.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Consultant. Campaign problem: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Reluctant to apologise.</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the first step · acknowledge · take responsibility · withdraw · rebuild trust · avoid</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Recommend a response in order of priority.</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Mr Lowe says: “The criticism is unfair.” Respond.</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a two-sentence apology for the public.</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three ways to prevent a similar mistake.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67 When a Brand Stunt Backfires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do brands sometimes take risks with their campaigns?</a:t>
            </a:r>
          </a:p>
          <a:p>
            <a:pPr algn="l">
              <a:lnSpc>
                <a:spcPct val="115000"/>
              </a:lnSpc>
              <a:spcAft>
                <a:spcPts val="800"/>
              </a:spcAft>
            </a:pPr>
            <a:r>
              <a:rPr sz="1400" b="0">
                <a:solidFill>
                  <a:srgbClr val="5F677A"/>
                </a:solidFill>
                <a:latin typeface="Arial"/>
                <a:ea typeface="Microsoft YaHei"/>
              </a:rPr>
              <a:t>💬 “They hope to… / Bold campaigns can…”</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controversy good for business?</a:t>
            </a:r>
          </a:p>
          <a:p>
            <a:pPr algn="l">
              <a:lnSpc>
                <a:spcPct val="115000"/>
              </a:lnSpc>
              <a:spcAft>
                <a:spcPts val="800"/>
              </a:spcAft>
            </a:pPr>
            <a:r>
              <a:rPr sz="1400" b="0">
                <a:solidFill>
                  <a:srgbClr val="5F677A"/>
                </a:solidFill>
                <a:latin typeface="Arial"/>
                <a:ea typeface="Microsoft YaHei"/>
              </a:rPr>
              <a:t>💬 “It can increase attention, but… / In the long run…”</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should a company apologise publicly?</a:t>
            </a:r>
          </a:p>
          <a:p>
            <a:pPr algn="l">
              <a:lnSpc>
                <a:spcPct val="115000"/>
              </a:lnSpc>
              <a:spcAft>
                <a:spcPts val="800"/>
              </a:spcAft>
            </a:pPr>
            <a:r>
              <a:rPr sz="1400" b="0">
                <a:solidFill>
                  <a:srgbClr val="5F677A"/>
                </a:solidFill>
                <a:latin typeface="Arial"/>
                <a:ea typeface="Microsoft YaHei"/>
              </a:rPr>
              <a:t>💬 “It should be quick, sincere…”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Who should be responsible for checking a campaign before launch?</a:t>
            </a:r>
          </a:p>
          <a:p>
            <a:pPr algn="l">
              <a:lnSpc>
                <a:spcPct val="115000"/>
              </a:lnSpc>
              <a:spcAft>
                <a:spcPts val="800"/>
              </a:spcAft>
            </a:pPr>
            <a:r>
              <a:rPr sz="1400" b="0">
                <a:solidFill>
                  <a:srgbClr val="5F677A"/>
                </a:solidFill>
                <a:latin typeface="Arial"/>
                <a:ea typeface="Microsoft YaHei"/>
              </a:rPr>
              <a:t>💬 “Different people, such as… / A diverse team…”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67 When a Brand Stunt Backfires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Controversy can increase attention in the short term, but I think it’s a risky strategy. Attention is only valuable if it leads to sales and goodwill. A controversial campaign might upset the very customers you hope to keep, and damage can last for years. In the long run, I believe consistency and trust bring more value than shock.</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controversial = 有争议的。”the very customers” = 恰恰是那些顾客。goodwill = 商誉。shock = 惊人效果。</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67 When a Brand Stunt Backfires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18211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People are angry.</a:t>
                      </a:r>
                    </a:p>
                  </a:txBody>
                  <a:tcPr anchor="ctr">
                    <a:solidFill>
                      <a:srgbClr val="FFFFFF"/>
                    </a:solidFill>
                  </a:tcPr>
                </a:tc>
                <a:tc>
                  <a:txBody>
                    <a:bodyPr wrap="square"/>
                    <a:lstStyle/>
                    <a:p>
                      <a:r>
                        <a:rPr sz="1600" b="0">
                          <a:solidFill>
                            <a:srgbClr val="1F2A44"/>
                          </a:solidFill>
                          <a:latin typeface="Arial"/>
                          <a:ea typeface="Microsoft YaHei"/>
                        </a:rPr>
                        <a:t>There’s been a strong public reaction.</a:t>
                      </a:r>
                    </a:p>
                  </a:txBody>
                  <a:tcPr anchor="ctr">
                    <a:solidFill>
                      <a:srgbClr val="FFFFFF"/>
                    </a:solidFill>
                  </a:tcPr>
                </a:tc>
                <a:tc>
                  <a:txBody>
                    <a:bodyPr wrap="square"/>
                    <a:lstStyle/>
                    <a:p>
                      <a:r>
                        <a:rPr sz="1600" b="0">
                          <a:solidFill>
                            <a:srgbClr val="FF6B5B"/>
                          </a:solidFill>
                          <a:latin typeface="Arial"/>
                          <a:ea typeface="Microsoft YaHei"/>
                        </a:rPr>
                        <a:t>中性</a:t>
                      </a:r>
                    </a:p>
                  </a:txBody>
                  <a:tcPr anchor="ctr">
                    <a:solidFill>
                      <a:srgbClr val="FFFFFF"/>
                    </a:solidFill>
                  </a:tcPr>
                </a:tc>
              </a:tr>
              <a:tr h="408432">
                <a:tc>
                  <a:txBody>
                    <a:bodyPr wrap="square"/>
                    <a:lstStyle/>
                    <a:p>
                      <a:r>
                        <a:rPr sz="1600" b="1">
                          <a:solidFill>
                            <a:srgbClr val="1F2A44"/>
                          </a:solidFill>
                          <a:latin typeface="Arial"/>
                          <a:ea typeface="Microsoft YaHei"/>
                        </a:rPr>
                        <a:t>It’s a big mistake.</a:t>
                      </a:r>
                    </a:p>
                  </a:txBody>
                  <a:tcPr anchor="ctr">
                    <a:solidFill>
                      <a:srgbClr val="FFEFD9"/>
                    </a:solidFill>
                  </a:tcPr>
                </a:tc>
                <a:tc>
                  <a:txBody>
                    <a:bodyPr wrap="square"/>
                    <a:lstStyle/>
                    <a:p>
                      <a:r>
                        <a:rPr sz="1600" b="0">
                          <a:solidFill>
                            <a:srgbClr val="1F2A44"/>
                          </a:solidFill>
                          <a:latin typeface="Arial"/>
                          <a:ea typeface="Microsoft YaHei"/>
                        </a:rPr>
                        <a:t>It was a serious misjudgement.</a:t>
                      </a:r>
                    </a:p>
                  </a:txBody>
                  <a:tcPr anchor="ctr">
                    <a:solidFill>
                      <a:srgbClr val="FFEFD9"/>
                    </a:solidFill>
                  </a:tcPr>
                </a:tc>
                <a:tc>
                  <a:txBody>
                    <a:bodyPr wrap="square"/>
                    <a:lstStyle/>
                    <a:p>
                      <a:r>
                        <a:rPr sz="1600" b="0">
                          <a:solidFill>
                            <a:srgbClr val="FF6B5B"/>
                          </a:solidFill>
                          <a:latin typeface="Arial"/>
                          <a:ea typeface="Microsoft YaHei"/>
                        </a:rPr>
                        <a:t>更正式</a:t>
                      </a:r>
                    </a:p>
                  </a:txBody>
                  <a:tcPr anchor="ctr">
                    <a:solidFill>
                      <a:srgbClr val="FFEFD9"/>
                    </a:solidFill>
                  </a:tcPr>
                </a:tc>
              </a:tr>
              <a:tr h="652272">
                <a:tc>
                  <a:txBody>
                    <a:bodyPr wrap="square"/>
                    <a:lstStyle/>
                    <a:p>
                      <a:r>
                        <a:rPr sz="1600" b="1">
                          <a:solidFill>
                            <a:srgbClr val="1F2A44"/>
                          </a:solidFill>
                          <a:latin typeface="Arial"/>
                          <a:ea typeface="Microsoft YaHei"/>
                        </a:rPr>
                        <a:t>Sorry, sorry.</a:t>
                      </a:r>
                    </a:p>
                  </a:txBody>
                  <a:tcPr anchor="ctr">
                    <a:solidFill>
                      <a:srgbClr val="FFFFFF"/>
                    </a:solidFill>
                  </a:tcPr>
                </a:tc>
                <a:tc>
                  <a:txBody>
                    <a:bodyPr wrap="square"/>
                    <a:lstStyle/>
                    <a:p>
                      <a:r>
                        <a:rPr sz="1600" b="0">
                          <a:solidFill>
                            <a:srgbClr val="1F2A44"/>
                          </a:solidFill>
                          <a:latin typeface="Arial"/>
                          <a:ea typeface="Microsoft YaHei"/>
                        </a:rPr>
                        <a:t>We sincerely apologise for any offence caused.</a:t>
                      </a:r>
                    </a:p>
                  </a:txBody>
                  <a:tcPr anchor="ctr">
                    <a:solidFill>
                      <a:srgbClr val="FFFFFF"/>
                    </a:solidFill>
                  </a:tcPr>
                </a:tc>
                <a:tc>
                  <a:txBody>
                    <a:bodyPr wrap="square"/>
                    <a:lstStyle/>
                    <a:p>
                      <a:r>
                        <a:rPr sz="1600" b="0">
                          <a:solidFill>
                            <a:srgbClr val="FF6B5B"/>
                          </a:solidFill>
                          <a:latin typeface="Arial"/>
                          <a:ea typeface="Microsoft YaHei"/>
                        </a:rPr>
                        <a:t>正式</a:t>
                      </a:r>
                    </a:p>
                  </a:txBody>
                  <a:tcPr anchor="ctr">
                    <a:solidFill>
                      <a:srgbClr val="FFFFFF"/>
                    </a:solidFill>
                  </a:tcPr>
                </a:tc>
              </a:tr>
              <a:tr h="408432">
                <a:tc>
                  <a:txBody>
                    <a:bodyPr wrap="square"/>
                    <a:lstStyle/>
                    <a:p>
                      <a:r>
                        <a:rPr sz="1600" b="1">
                          <a:solidFill>
                            <a:srgbClr val="1F2A44"/>
                          </a:solidFill>
                          <a:latin typeface="Arial"/>
                          <a:ea typeface="Microsoft YaHei"/>
                        </a:rPr>
                        <a:t>We delete it.</a:t>
                      </a:r>
                    </a:p>
                  </a:txBody>
                  <a:tcPr anchor="ctr">
                    <a:solidFill>
                      <a:srgbClr val="FFEFD9"/>
                    </a:solidFill>
                  </a:tcPr>
                </a:tc>
                <a:tc>
                  <a:txBody>
                    <a:bodyPr wrap="square"/>
                    <a:lstStyle/>
                    <a:p>
                      <a:r>
                        <a:rPr sz="1600" b="0">
                          <a:solidFill>
                            <a:srgbClr val="1F2A44"/>
                          </a:solidFill>
                          <a:latin typeface="Arial"/>
                          <a:ea typeface="Microsoft YaHei"/>
                        </a:rPr>
                        <a:t>We have withdrawn the advert.</a:t>
                      </a:r>
                    </a:p>
                  </a:txBody>
                  <a:tcPr anchor="ctr">
                    <a:solidFill>
                      <a:srgbClr val="FFEFD9"/>
                    </a:solidFill>
                  </a:tcPr>
                </a:tc>
                <a:tc>
                  <a:txBody>
                    <a:bodyPr wrap="square"/>
                    <a:lstStyle/>
                    <a:p>
                      <a:r>
                        <a:rPr sz="1600" b="0">
                          <a:solidFill>
                            <a:srgbClr val="FF6B5B"/>
                          </a:solidFill>
                          <a:latin typeface="Arial"/>
                          <a:ea typeface="Microsoft YaHei"/>
                        </a:rPr>
                        <a:t>术语</a:t>
                      </a:r>
                    </a:p>
                  </a:txBody>
                  <a:tcPr anchor="ctr">
                    <a:solidFill>
                      <a:srgbClr val="FFEFD9"/>
                    </a:solidFill>
                  </a:tcPr>
                </a:tc>
              </a:tr>
              <a:tr h="652272">
                <a:tc>
                  <a:txBody>
                    <a:bodyPr wrap="square"/>
                    <a:lstStyle/>
                    <a:p>
                      <a:r>
                        <a:rPr sz="1600" b="1">
                          <a:solidFill>
                            <a:srgbClr val="1F2A44"/>
                          </a:solidFill>
                          <a:latin typeface="Arial"/>
                          <a:ea typeface="Microsoft YaHei"/>
                        </a:rPr>
                        <a:t>We’ll fix.</a:t>
                      </a:r>
                    </a:p>
                  </a:txBody>
                  <a:tcPr anchor="ctr">
                    <a:solidFill>
                      <a:srgbClr val="FFFFFF"/>
                    </a:solidFill>
                  </a:tcPr>
                </a:tc>
                <a:tc>
                  <a:txBody>
                    <a:bodyPr wrap="square"/>
                    <a:lstStyle/>
                    <a:p>
                      <a:r>
                        <a:rPr sz="1600" b="0">
                          <a:solidFill>
                            <a:srgbClr val="1F2A44"/>
                          </a:solidFill>
                          <a:latin typeface="Arial"/>
                          <a:ea typeface="Microsoft YaHei"/>
                        </a:rPr>
                        <a:t>We’re taking steps to prevent this from happening again.</a:t>
                      </a:r>
                    </a:p>
                  </a:txBody>
                  <a:tcPr anchor="ctr">
                    <a:solidFill>
                      <a:srgbClr val="FFFFFF"/>
                    </a:solidFill>
                  </a:tcPr>
                </a:tc>
                <a:tc>
                  <a:txBody>
                    <a:bodyPr wrap="square"/>
                    <a:lstStyle/>
                    <a:p>
                      <a:r>
                        <a:rPr sz="1600" b="0">
                          <a:solidFill>
                            <a:srgbClr val="FF6B5B"/>
                          </a:solidFill>
                          <a:latin typeface="Arial"/>
                          <a:ea typeface="Microsoft YaHei"/>
                        </a:rPr>
                        <a:t>完整</a:t>
                      </a:r>
                    </a:p>
                  </a:txBody>
                  <a:tcPr anchor="ctr">
                    <a:solidFill>
                      <a:srgbClr val="FFFFFF"/>
                    </a:solidFill>
                  </a:tcPr>
                </a:tc>
              </a:tr>
            </a:tbl>
          </a:graphicData>
        </a:graphic>
      </p:graphicFrame>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67 When a Brand Stunt Backfires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Passive for corporate statements: </a:t>
            </a:r>
            <a:r>
              <a:rPr sz="1700" b="0">
                <a:solidFill>
                  <a:srgbClr val="1F2A44"/>
                </a:solidFill>
                <a:latin typeface="Arial"/>
                <a:ea typeface="Microsoft YaHei"/>
              </a:rPr>
              <a:t>“The ad has been withdrawn.” / “An investigation is being carried out.”</a:t>
            </a:r>
          </a:p>
        </p:txBody>
      </p:sp>
      <p:sp>
        <p:nvSpPr>
          <p:cNvPr id="11" name="Rounded Rectangle 10"/>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Hypothetical past: </a:t>
            </a:r>
            <a:r>
              <a:rPr sz="1700" b="0">
                <a:solidFill>
                  <a:srgbClr val="1F2A44"/>
                </a:solidFill>
                <a:latin typeface="Arial"/>
                <a:ea typeface="Microsoft YaHei"/>
              </a:rPr>
              <a:t>“If they had tested it, they would have avoided the backlash.”</a:t>
            </a:r>
          </a:p>
        </p:txBody>
      </p:sp>
      <p:sp>
        <p:nvSpPr>
          <p:cNvPr id="14" name="Rounded Rectangle 13"/>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Sequencing advice: </a:t>
            </a:r>
            <a:r>
              <a:rPr sz="1700" b="0">
                <a:solidFill>
                  <a:srgbClr val="1F2A44"/>
                </a:solidFill>
                <a:latin typeface="Arial"/>
                <a:ea typeface="Microsoft YaHei"/>
              </a:rPr>
              <a:t>first, then, after that, finally; the first step is to…</a:t>
            </a:r>
          </a:p>
        </p:txBody>
      </p:sp>
      <p:sp>
        <p:nvSpPr>
          <p:cNvPr id="17" name="Rounded Rectangle 16"/>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441959"/>
          </a:xfrm>
          <a:prstGeom prst="rect">
            <a:avLst/>
          </a:prstGeom>
          <a:noFill/>
        </p:spPr>
        <p:txBody>
          <a:bodyPr wrap="square" anchor="ctr">
            <a:spAutoFit/>
          </a:bodyPr>
          <a:lstStyle/>
          <a:p>
            <a:r>
              <a:rPr sz="1700" b="1">
                <a:solidFill>
                  <a:srgbClr val="FFC857"/>
                </a:solidFill>
                <a:latin typeface="Arial"/>
                <a:ea typeface="Microsoft YaHei"/>
              </a:rPr>
              <a:t>Cautious language: </a:t>
            </a:r>
            <a:r>
              <a:rPr sz="1700" b="0">
                <a:solidFill>
                  <a:srgbClr val="1F2A44"/>
                </a:solidFill>
                <a:latin typeface="Arial"/>
                <a:ea typeface="Microsoft YaHei"/>
              </a:rPr>
              <a:t>It seems that, appears to, may have been.</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67 When a Brand Stunt Backfires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ad was very offend.</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ad was very offensive.</a:t>
            </a:r>
          </a:p>
          <a:p>
            <a:pPr algn="l">
              <a:spcAft>
                <a:spcPts val="200"/>
              </a:spcAft>
            </a:pPr>
            <a:r>
              <a:rPr sz="1200" b="0">
                <a:solidFill>
                  <a:srgbClr val="FFFFFF"/>
                </a:solidFill>
                <a:latin typeface="Arial"/>
                <a:ea typeface="Microsoft YaHei"/>
              </a:rPr>
              <a:t>形容词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They said sorry about the ad.</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They apologised for the ad.</a:t>
            </a:r>
          </a:p>
          <a:p>
            <a:pPr algn="l">
              <a:spcAft>
                <a:spcPts val="200"/>
              </a:spcAft>
            </a:pPr>
            <a:r>
              <a:rPr sz="1200" b="0">
                <a:solidFill>
                  <a:srgbClr val="FFFFFF"/>
                </a:solidFill>
                <a:latin typeface="Arial"/>
                <a:ea typeface="Microsoft YaHei"/>
              </a:rPr>
              <a:t>apologise for</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campaign did a backlash.</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campaign caused a backlash.</a:t>
            </a:r>
          </a:p>
          <a:p>
            <a:pPr algn="l">
              <a:spcAft>
                <a:spcPts val="200"/>
              </a:spcAft>
            </a:pPr>
            <a:r>
              <a:rPr sz="1200" b="0">
                <a:solidFill>
                  <a:srgbClr val="FFFFFF"/>
                </a:solidFill>
                <a:latin typeface="Arial"/>
                <a:ea typeface="Microsoft YaHei"/>
              </a:rPr>
              <a:t>cause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67 When a Brand Stunt Backfires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People were angry to the ad.</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People were angry about the ad.</a:t>
            </a:r>
          </a:p>
          <a:p>
            <a:pPr algn="l">
              <a:spcAft>
                <a:spcPts val="200"/>
              </a:spcAft>
            </a:pPr>
            <a:r>
              <a:rPr sz="1200" b="0">
                <a:solidFill>
                  <a:srgbClr val="FFFFFF"/>
                </a:solidFill>
                <a:latin typeface="Arial"/>
                <a:ea typeface="Microsoft YaHei"/>
              </a:rPr>
              <a:t>angry about</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spreads viral.</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went viral.</a:t>
            </a:r>
          </a:p>
          <a:p>
            <a:pPr algn="l">
              <a:spcAft>
                <a:spcPts val="200"/>
              </a:spcAft>
            </a:pPr>
            <a:r>
              <a:rPr sz="1200" b="0">
                <a:solidFill>
                  <a:srgbClr val="FFFFFF"/>
                </a:solidFill>
                <a:latin typeface="Arial"/>
                <a:ea typeface="Microsoft YaHei"/>
              </a:rPr>
              <a:t>go viral</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They stay silent with the problem.</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They stayed silent about the problem.</a:t>
            </a:r>
          </a:p>
          <a:p>
            <a:pPr algn="l">
              <a:spcAft>
                <a:spcPts val="200"/>
              </a:spcAft>
            </a:pPr>
            <a:r>
              <a:rPr sz="1200" b="0">
                <a:solidFill>
                  <a:srgbClr val="FFFFFF"/>
                </a:solidFill>
                <a:latin typeface="Arial"/>
                <a:ea typeface="Microsoft YaHei"/>
              </a:rPr>
              <a:t>silent about</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offensive / offend, apologise for, and angry about.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67 When a Brand Stunt Backfires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Speed: </a:t>
            </a:r>
            <a:r>
              <a:rPr sz="1700" b="0">
                <a:solidFill>
                  <a:srgbClr val="1F2A44"/>
                </a:solidFill>
                <a:latin typeface="Arial"/>
                <a:ea typeface="Microsoft YaHei"/>
              </a:rPr>
              <a:t>On social media a response within hours is expected. Silence is often interpreted as indifference.</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Regional sensitivity: </a:t>
            </a:r>
            <a:r>
              <a:rPr sz="1700" b="0">
                <a:solidFill>
                  <a:srgbClr val="1F2A44"/>
                </a:solidFill>
                <a:latin typeface="Arial"/>
                <a:ea typeface="Microsoft YaHei"/>
              </a:rPr>
              <a:t>Humour, colours and symbols have different meanings in different markets. Test locally.</a:t>
            </a:r>
          </a:p>
        </p:txBody>
      </p:sp>
      <p:sp>
        <p:nvSpPr>
          <p:cNvPr id="15" name="Rounded Rectangle 14"/>
          <p:cNvSpPr/>
          <p:nvPr/>
        </p:nvSpPr>
        <p:spPr>
          <a:xfrm>
            <a:off x="548640" y="300227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441959"/>
          </a:xfrm>
          <a:prstGeom prst="rect">
            <a:avLst/>
          </a:prstGeom>
          <a:noFill/>
        </p:spPr>
        <p:txBody>
          <a:bodyPr wrap="square" anchor="ctr">
            <a:spAutoFit/>
          </a:bodyPr>
          <a:lstStyle/>
          <a:p>
            <a:r>
              <a:rPr sz="1700" b="1">
                <a:solidFill>
                  <a:srgbClr val="3CC49A"/>
                </a:solidFill>
                <a:latin typeface="Arial"/>
                <a:ea typeface="Microsoft YaHei"/>
              </a:rPr>
              <a:t>Real apologies: </a:t>
            </a:r>
            <a:r>
              <a:rPr sz="1700" b="0">
                <a:solidFill>
                  <a:srgbClr val="1F2A44"/>
                </a:solidFill>
                <a:latin typeface="Arial"/>
                <a:ea typeface="Microsoft YaHei"/>
              </a:rPr>
              <a:t>Avoid “if anyone was offended”. Name the issue.</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offensive 是形容词,offend 是动词;apologise for;angry about;go viral。公开道歉要快、真诚、具体,并附上行动。</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67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67 When a Brand Stunt Backfires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why a campaign backfires.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recommend a crisis response in order.</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the passive for official statements.</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offensive / offend and apologise for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67 When a Brand Stunt Backfires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offensive / offend, passive for statements, and past hypotheticals.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7 · Lesson 68 Global Luxury Slowdown</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93</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68</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Global Luxury Slowdown</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全球奢侈品市场放缓</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a slowdown in the luxury goods market: causes, consumer behaviour, brand strategy and describing trends in general terms.</a:t>
            </a:r>
          </a:p>
        </p:txBody>
      </p:sp>
      <p:sp>
        <p:nvSpPr>
          <p:cNvPr id="10" name="Rounded Rectangle 9"/>
          <p:cNvSpPr/>
          <p:nvPr/>
        </p:nvSpPr>
        <p:spPr>
          <a:xfrm>
            <a:off x="822960"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68 Global Luxury Slowdown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do people consider “luxury”, and why do they buy it?</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think luxury brands are worth the money?</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could cause demand for luxury goods to slow down?</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luxury brands keep customers when sales are slower?</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prefer to buy new, second-hand or rented luxury items?</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luxury goods = 奢侈品。slowdown = 放缓(不等于崩溃)。第 5 题答案:second-hand / pre-owned / resale。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68 Global Luxury Slowdown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possible reasons for a luxury slowdown and what brands might do.</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trend</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causes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impact</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brand response</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Demand appears to have slowed because…   💬 One possible factor is…   💬 Brands may respond by…</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appear to have + 过去分词 = 似乎已经……。可能的原因用 one possible factor。may respond by + -ing。</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Reading · When Luxury Loses Its Shine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131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68 Global Luxury Slowdown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For years, luxury brands enjoyed strong growth, helped by wealthy shoppers and expanding middle classes in many countries. Recently, analysts have pointed to signs of a slowdown. Some customers appear to be more cautious about high prices, especially after repeated increases. Economic uncertainty may be making aspirational buyers think twice, and some younger shoppers are choosing second-hand or rental options instead of buying new. At the same time, the very wealthy continue to spend, which creates an uneven picture. Brands may respond by protecting exclusivity, improving craftsmanship and offering more personal service, rather than discounting heavily. Some are also expanding repair, resale and customisation services. The challenge is to keep desirability high without alienating the customers who made the brand successful. Predictions are uncertain, and trends differ between markets and categories.</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68 Global Luxury Slowdown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may be making aspirational buyers hesitate?</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Economic uncertainty and high prices after repeated increases.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How are some younger shoppers behaving?</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They choose second-hand or rental options instead of buying new.</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How may brands respond?</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By protecting exclusivity, improving craftsmanship, offering personal service and adding repair/resale services.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Luxury market language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68 Global Luxury Slowdown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奢侈品市场用语</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luxury goods</a:t>
            </a:r>
          </a:p>
          <a:p>
            <a:pPr algn="l">
              <a:lnSpc>
                <a:spcPct val="115000"/>
              </a:lnSpc>
              <a:spcAft>
                <a:spcPts val="800"/>
              </a:spcAft>
            </a:pPr>
            <a:r>
              <a:rPr sz="1300" b="0">
                <a:solidFill>
                  <a:srgbClr val="5F677A"/>
                </a:solidFill>
                <a:latin typeface="Arial"/>
                <a:ea typeface="Microsoft YaHei"/>
              </a:rPr>
              <a:t>noun (plural)</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奢侈品</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“Luxury goods sales rose last year.”</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high-end</a:t>
            </a:r>
          </a:p>
          <a:p>
            <a:pPr algn="l">
              <a:lnSpc>
                <a:spcPct val="115000"/>
              </a:lnSpc>
              <a:spcAft>
                <a:spcPts val="800"/>
              </a:spcAft>
            </a:pPr>
            <a:r>
              <a:rPr sz="1300" b="0">
                <a:solidFill>
                  <a:srgbClr val="5F677A"/>
                </a:solidFill>
                <a:latin typeface="Arial"/>
                <a:ea typeface="Microsoft YaHei"/>
              </a:rPr>
              <a:t>adjective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高端的</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sell high-end watches.”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exclusivity</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排他性/稀缺感</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“Exclusivity is part of the appeal.”</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slowdown</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放缓</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“There’s a slowdown in demand.”</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demand</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需求</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“Demand has softened.”</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craftsmanship</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工艺</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craftsmanship is exceptional.”</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Describing a slowdown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68 Global Luxury Slowdown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描述放缓</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lose its shine</a:t>
            </a:r>
          </a:p>
          <a:p>
            <a:pPr algn="l">
              <a:lnSpc>
                <a:spcPct val="115000"/>
              </a:lnSpc>
              <a:spcAft>
                <a:spcPts val="800"/>
              </a:spcAft>
            </a:pPr>
            <a:r>
              <a:rPr sz="1300" b="0">
                <a:solidFill>
                  <a:srgbClr val="5F677A"/>
                </a:solidFill>
                <a:latin typeface="Arial"/>
                <a:ea typeface="Microsoft YaHei"/>
              </a:rPr>
              <a:t>idiom</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失去光彩</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brand lost its shine.”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soften</a:t>
            </a:r>
          </a:p>
          <a:p>
            <a:pPr algn="l">
              <a:lnSpc>
                <a:spcPct val="115000"/>
              </a:lnSpc>
              <a:spcAft>
                <a:spcPts val="800"/>
              </a:spcAft>
            </a:pPr>
            <a:r>
              <a:rPr sz="1300" b="0">
                <a:solidFill>
                  <a:srgbClr val="5F677A"/>
                </a:solidFill>
                <a:latin typeface="Arial"/>
                <a:ea typeface="Microsoft YaHei"/>
              </a:rPr>
              <a:t>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走软</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“Demand has softened.”</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aspirational buyer</a:t>
            </a:r>
          </a:p>
          <a:p>
            <a:pPr algn="l">
              <a:lnSpc>
                <a:spcPct val="115000"/>
              </a:lnSpc>
              <a:spcAft>
                <a:spcPts val="800"/>
              </a:spcAft>
            </a:pPr>
            <a:r>
              <a:rPr sz="1300" b="0">
                <a:solidFill>
                  <a:srgbClr val="5F677A"/>
                </a:solidFill>
                <a:latin typeface="Arial"/>
                <a:ea typeface="Microsoft YaHei"/>
              </a:rPr>
              <a:t>noun phrase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向往型买家</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“Aspirational buyers are cutting back.”</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think twice</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三思</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“People are thinking twice before buying.”</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resale market</a:t>
            </a:r>
          </a:p>
          <a:p>
            <a:pPr algn="l">
              <a:lnSpc>
                <a:spcPct val="115000"/>
              </a:lnSpc>
              <a:spcAft>
                <a:spcPts val="800"/>
              </a:spcAft>
            </a:pPr>
            <a:r>
              <a:rPr sz="1300" b="0">
                <a:solidFill>
                  <a:srgbClr val="5F677A"/>
                </a:solidFill>
                <a:latin typeface="Arial"/>
                <a:ea typeface="Microsoft YaHei"/>
              </a:rPr>
              <a:t>noun phrase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转售市场</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resale market is growing.”</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cater to</a:t>
            </a:r>
          </a:p>
          <a:p>
            <a:pPr algn="l">
              <a:lnSpc>
                <a:spcPct val="115000"/>
              </a:lnSpc>
              <a:spcAft>
                <a:spcPts val="800"/>
              </a:spcAft>
            </a:pPr>
            <a:r>
              <a:rPr sz="1300" b="0">
                <a:solidFill>
                  <a:srgbClr val="5F677A"/>
                </a:solidFill>
                <a:latin typeface="Arial"/>
                <a:ea typeface="Microsoft YaHei"/>
              </a:rPr>
              <a:t>phrasal verb</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迎合/满足</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cater to wealthy clients.”</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68 Global Luxury Slowdown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排他性/稀缺感</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exclusivity</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迎合/满足</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cater to</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走软</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soften</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奢侈品</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luxury goods</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工艺</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craftsmanship</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三思</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think twice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需求</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demand</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放缓</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slowdown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68 Global Luxury Slowdown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682495"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luxury goods</a:t>
            </a:r>
          </a:p>
        </p:txBody>
      </p:sp>
      <p:sp>
        <p:nvSpPr>
          <p:cNvPr id="10" name="Rounded Rectangle 9"/>
          <p:cNvSpPr/>
          <p:nvPr/>
        </p:nvSpPr>
        <p:spPr>
          <a:xfrm>
            <a:off x="3785615" y="987552"/>
            <a:ext cx="124358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high-end</a:t>
            </a:r>
          </a:p>
        </p:txBody>
      </p:sp>
      <p:sp>
        <p:nvSpPr>
          <p:cNvPr id="11" name="Rounded Rectangle 10"/>
          <p:cNvSpPr/>
          <p:nvPr/>
        </p:nvSpPr>
        <p:spPr>
          <a:xfrm>
            <a:off x="5120639" y="987552"/>
            <a:ext cx="1572767"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Exclusivity</a:t>
            </a:r>
          </a:p>
        </p:txBody>
      </p:sp>
      <p:sp>
        <p:nvSpPr>
          <p:cNvPr id="12" name="Rounded Rectangle 11"/>
          <p:cNvSpPr/>
          <p:nvPr/>
        </p:nvSpPr>
        <p:spPr>
          <a:xfrm>
            <a:off x="6784846" y="987552"/>
            <a:ext cx="124358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slowdown</a:t>
            </a:r>
          </a:p>
        </p:txBody>
      </p:sp>
      <p:sp>
        <p:nvSpPr>
          <p:cNvPr id="13" name="Rounded Rectangle 12"/>
          <p:cNvSpPr/>
          <p:nvPr/>
        </p:nvSpPr>
        <p:spPr>
          <a:xfrm>
            <a:off x="8119870" y="987552"/>
            <a:ext cx="1024128"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soften</a:t>
            </a:r>
          </a:p>
        </p:txBody>
      </p:sp>
      <p:sp>
        <p:nvSpPr>
          <p:cNvPr id="14" name="Rounded Rectangle 13"/>
          <p:cNvSpPr/>
          <p:nvPr/>
        </p:nvSpPr>
        <p:spPr>
          <a:xfrm>
            <a:off x="9235438"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cater to</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Sales of _______ rose strongly over the past decade.</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luxury goods</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They sell _______ watches and jewellery.</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high-end</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_______ is part of the appeal of a luxury brand.</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Exclusivity</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Analysts are discussing a possible _______ in demand.</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slowdown</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Demand for some products has begun to _______.</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soften</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Premium brands _______ wealthy clients.</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cater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Discussing a luxury slowdown at a team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68 Global Luxury Slowdown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在团队会议中讨论奢侈品放缓</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retail analyst and a brand manager discuss why luxury sales appear to have slowed.</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Grace Fong, analyst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Leo Kim, brand manager</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a luxury slowdown at a team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68 Global Luxury Slowdown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Grace</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Leo, have you seen the latest numbers? Luxury sales appear to be slowing.</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Leo</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Demand seems to have softened in several markets.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One possible factor is price. Some customers think increases have gone too far.</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fair. And aspirational buyers may be more cautious now.</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Right. But the wealthiest customers still spend, so the picture is uneven.</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a luxury slowdown at a team meeting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68 Global Luxury Slowdown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might brands respond?</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Possibly by focusing on exclusivity and craftsmanship rather than discounts.</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agree. Discounts could damage the brand.</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Some are expanding repair and resale services, which may bring in new customers.</a:t>
            </a:r>
          </a:p>
        </p:txBody>
      </p:sp>
      <p:sp>
        <p:nvSpPr>
          <p:cNvPr id="20" name="Rounded Rectangle 19"/>
          <p:cNvSpPr/>
          <p:nvPr/>
        </p:nvSpPr>
        <p:spPr>
          <a:xfrm>
            <a:off x="10911535" y="423367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423367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Interesting. Does it risk reducing the sense of exclusivity?</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a luxury slowdown at a team meeting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68 Global Luxury Slowdown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could, but it may also build loyalty. It depends on how it is presented.</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Let’s look at the data by region before we decide.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Agreed. I’ll prepare a breakdown by market.</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Discussing a luxury slowdown at a team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68 Global Luxury Slowdown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analyse a market slowdown.</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Analyst. Possible cause: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Brand manager. Ask about strategy options.</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appears to · one possible factor · may respond by · soften · it depends · uneven</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Offer hedged explanations and discuss two possible responses.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Leo says: “The slowdown is temporary.” Respond with hedged language.</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a strategy for a mid-priced brand.</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Explain why some people buy luxury items second-hand.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68 Global Luxury Slowdown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do people buy luxury goods?</a:t>
            </a:r>
          </a:p>
          <a:p>
            <a:pPr algn="l">
              <a:lnSpc>
                <a:spcPct val="115000"/>
              </a:lnSpc>
              <a:spcAft>
                <a:spcPts val="800"/>
              </a:spcAft>
            </a:pPr>
            <a:r>
              <a:rPr sz="1400" b="0">
                <a:solidFill>
                  <a:srgbClr val="5F677A"/>
                </a:solidFill>
                <a:latin typeface="Arial"/>
                <a:ea typeface="Microsoft YaHei"/>
              </a:rPr>
              <a:t>💬 “Some buy for quality, others for status…”</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luxury a good business to be in?</a:t>
            </a:r>
          </a:p>
          <a:p>
            <a:pPr algn="l">
              <a:lnSpc>
                <a:spcPct val="115000"/>
              </a:lnSpc>
              <a:spcAft>
                <a:spcPts val="800"/>
              </a:spcAft>
            </a:pPr>
            <a:r>
              <a:rPr sz="1400" b="0">
                <a:solidFill>
                  <a:srgbClr val="5F677A"/>
                </a:solidFill>
                <a:latin typeface="Arial"/>
                <a:ea typeface="Microsoft YaHei"/>
              </a:rPr>
              <a:t>💬 “It has high margins, but… / It depends on…”</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luxury brands offer second-hand or rental services?</a:t>
            </a:r>
          </a:p>
          <a:p>
            <a:pPr algn="l">
              <a:lnSpc>
                <a:spcPct val="115000"/>
              </a:lnSpc>
              <a:spcAft>
                <a:spcPts val="800"/>
              </a:spcAft>
            </a:pPr>
            <a:r>
              <a:rPr sz="1400" b="0">
                <a:solidFill>
                  <a:srgbClr val="5F677A"/>
                </a:solidFill>
                <a:latin typeface="Arial"/>
                <a:ea typeface="Microsoft YaHei"/>
              </a:rPr>
              <a:t>💬 “It could help by… but it might also…”</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could replace traditional luxury in the future?</a:t>
            </a:r>
          </a:p>
          <a:p>
            <a:pPr algn="l">
              <a:lnSpc>
                <a:spcPct val="115000"/>
              </a:lnSpc>
              <a:spcAft>
                <a:spcPts val="800"/>
              </a:spcAft>
            </a:pPr>
            <a:r>
              <a:rPr sz="1400" b="0">
                <a:solidFill>
                  <a:srgbClr val="5F677A"/>
                </a:solidFill>
                <a:latin typeface="Arial"/>
                <a:ea typeface="Microsoft YaHei"/>
              </a:rPr>
              <a:t>💬 “People might value experiences… / Sustainability…”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68 Global Luxury Slowdown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Offering second-hand or rental services can help luxury brands reach new customers and show they care about sustainability. It could also give younger shoppers a way to enter the brand. However, there’s a risk that it might dilute exclusivity if it’s not handled carefully. I think brands can manage this by controlling authenticity and keeping the experience premium. So it can work, but only with good execution.</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dilute = 稀释。authenticity = 正品/真实性。execution = 执行。”enter the brand” 接触该品牌。</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68 Global Luxury Slowdown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18211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408432">
                <a:tc>
                  <a:txBody>
                    <a:bodyPr wrap="square"/>
                    <a:lstStyle/>
                    <a:p>
                      <a:r>
                        <a:rPr sz="1600" b="1">
                          <a:solidFill>
                            <a:srgbClr val="1F2A44"/>
                          </a:solidFill>
                          <a:latin typeface="Arial"/>
                          <a:ea typeface="Microsoft YaHei"/>
                        </a:rPr>
                        <a:t>People don’t buy now.</a:t>
                      </a:r>
                    </a:p>
                  </a:txBody>
                  <a:tcPr anchor="ctr">
                    <a:solidFill>
                      <a:srgbClr val="FFFFFF"/>
                    </a:solidFill>
                  </a:tcPr>
                </a:tc>
                <a:tc>
                  <a:txBody>
                    <a:bodyPr wrap="square"/>
                    <a:lstStyle/>
                    <a:p>
                      <a:r>
                        <a:rPr sz="1600" b="0">
                          <a:solidFill>
                            <a:srgbClr val="1F2A44"/>
                          </a:solidFill>
                          <a:latin typeface="Arial"/>
                          <a:ea typeface="Microsoft YaHei"/>
                        </a:rPr>
                        <a:t>Demand appears to be softening.</a:t>
                      </a:r>
                    </a:p>
                  </a:txBody>
                  <a:tcPr anchor="ctr">
                    <a:solidFill>
                      <a:srgbClr val="FFFFFF"/>
                    </a:solidFill>
                  </a:tcPr>
                </a:tc>
                <a:tc>
                  <a:txBody>
                    <a:bodyPr wrap="square"/>
                    <a:lstStyle/>
                    <a:p>
                      <a:r>
                        <a:rPr sz="1600" b="0">
                          <a:solidFill>
                            <a:srgbClr val="FF6B5B"/>
                          </a:solidFill>
                          <a:latin typeface="Arial"/>
                          <a:ea typeface="Microsoft YaHei"/>
                        </a:rPr>
                        <a:t>谨慎</a:t>
                      </a:r>
                    </a:p>
                  </a:txBody>
                  <a:tcPr anchor="ctr">
                    <a:solidFill>
                      <a:srgbClr val="FFFFFF"/>
                    </a:solidFill>
                  </a:tcPr>
                </a:tc>
              </a:tr>
              <a:tr h="408432">
                <a:tc>
                  <a:txBody>
                    <a:bodyPr wrap="square"/>
                    <a:lstStyle/>
                    <a:p>
                      <a:r>
                        <a:rPr sz="1600" b="1">
                          <a:solidFill>
                            <a:srgbClr val="1F2A44"/>
                          </a:solidFill>
                          <a:latin typeface="Arial"/>
                          <a:ea typeface="Microsoft YaHei"/>
                        </a:rPr>
                        <a:t>Luxury is dead.</a:t>
                      </a:r>
                    </a:p>
                  </a:txBody>
                  <a:tcPr anchor="ctr">
                    <a:solidFill>
                      <a:srgbClr val="FFEFD9"/>
                    </a:solidFill>
                  </a:tcPr>
                </a:tc>
                <a:tc>
                  <a:txBody>
                    <a:bodyPr wrap="square"/>
                    <a:lstStyle/>
                    <a:p>
                      <a:r>
                        <a:rPr sz="1600" b="0">
                          <a:solidFill>
                            <a:srgbClr val="1F2A44"/>
                          </a:solidFill>
                          <a:latin typeface="Arial"/>
                          <a:ea typeface="Microsoft YaHei"/>
                        </a:rPr>
                        <a:t>Luxury is facing headwinds.</a:t>
                      </a:r>
                    </a:p>
                  </a:txBody>
                  <a:tcPr anchor="ctr">
                    <a:solidFill>
                      <a:srgbClr val="FFEFD9"/>
                    </a:solidFill>
                  </a:tcPr>
                </a:tc>
                <a:tc>
                  <a:txBody>
                    <a:bodyPr wrap="square"/>
                    <a:lstStyle/>
                    <a:p>
                      <a:r>
                        <a:rPr sz="1600" b="0">
                          <a:solidFill>
                            <a:srgbClr val="FF6B5B"/>
                          </a:solidFill>
                          <a:latin typeface="Arial"/>
                          <a:ea typeface="Microsoft YaHei"/>
                        </a:rPr>
                        <a:t>避免绝对化</a:t>
                      </a:r>
                    </a:p>
                  </a:txBody>
                  <a:tcPr anchor="ctr">
                    <a:solidFill>
                      <a:srgbClr val="FFEFD9"/>
                    </a:solidFill>
                  </a:tcPr>
                </a:tc>
              </a:tr>
              <a:tr h="652272">
                <a:tc>
                  <a:txBody>
                    <a:bodyPr wrap="square"/>
                    <a:lstStyle/>
                    <a:p>
                      <a:r>
                        <a:rPr sz="1600" b="1">
                          <a:solidFill>
                            <a:srgbClr val="1F2A44"/>
                          </a:solidFill>
                          <a:latin typeface="Arial"/>
                          <a:ea typeface="Microsoft YaHei"/>
                        </a:rPr>
                        <a:t>Price too high.</a:t>
                      </a:r>
                    </a:p>
                  </a:txBody>
                  <a:tcPr anchor="ctr">
                    <a:solidFill>
                      <a:srgbClr val="FFFFFF"/>
                    </a:solidFill>
                  </a:tcPr>
                </a:tc>
                <a:tc>
                  <a:txBody>
                    <a:bodyPr wrap="square"/>
                    <a:lstStyle/>
                    <a:p>
                      <a:r>
                        <a:rPr sz="1600" b="0">
                          <a:solidFill>
                            <a:srgbClr val="1F2A44"/>
                          </a:solidFill>
                          <a:latin typeface="Arial"/>
                          <a:ea typeface="Microsoft YaHei"/>
                        </a:rPr>
                        <a:t>Some customers feel prices have risen too far.</a:t>
                      </a:r>
                    </a:p>
                  </a:txBody>
                  <a:tcPr anchor="ctr">
                    <a:solidFill>
                      <a:srgbClr val="FFFFFF"/>
                    </a:solidFill>
                  </a:tcPr>
                </a:tc>
                <a:tc>
                  <a:txBody>
                    <a:bodyPr wrap="square"/>
                    <a:lstStyle/>
                    <a:p>
                      <a:r>
                        <a:rPr sz="1600" b="0">
                          <a:solidFill>
                            <a:srgbClr val="FF6B5B"/>
                          </a:solidFill>
                          <a:latin typeface="Arial"/>
                          <a:ea typeface="Microsoft YaHei"/>
                        </a:rPr>
                        <a:t>完整</a:t>
                      </a:r>
                    </a:p>
                  </a:txBody>
                  <a:tcPr anchor="ctr">
                    <a:solidFill>
                      <a:srgbClr val="FFFFFF"/>
                    </a:solidFill>
                  </a:tcPr>
                </a:tc>
              </a:tr>
              <a:tr h="652272">
                <a:tc>
                  <a:txBody>
                    <a:bodyPr wrap="square"/>
                    <a:lstStyle/>
                    <a:p>
                      <a:r>
                        <a:rPr sz="1600" b="1">
                          <a:solidFill>
                            <a:srgbClr val="1F2A44"/>
                          </a:solidFill>
                          <a:latin typeface="Arial"/>
                          <a:ea typeface="Microsoft YaHei"/>
                        </a:rPr>
                        <a:t>Sales are down.</a:t>
                      </a:r>
                    </a:p>
                  </a:txBody>
                  <a:tcPr anchor="ctr">
                    <a:solidFill>
                      <a:srgbClr val="FFEFD9"/>
                    </a:solidFill>
                  </a:tcPr>
                </a:tc>
                <a:tc>
                  <a:txBody>
                    <a:bodyPr wrap="square"/>
                    <a:lstStyle/>
                    <a:p>
                      <a:r>
                        <a:rPr sz="1600" b="0">
                          <a:solidFill>
                            <a:srgbClr val="1F2A44"/>
                          </a:solidFill>
                          <a:latin typeface="Arial"/>
                          <a:ea typeface="Microsoft YaHei"/>
                        </a:rPr>
                        <a:t>Sales have slowed in some markets.</a:t>
                      </a:r>
                    </a:p>
                  </a:txBody>
                  <a:tcPr anchor="ctr">
                    <a:solidFill>
                      <a:srgbClr val="FFEFD9"/>
                    </a:solidFill>
                  </a:tcPr>
                </a:tc>
                <a:tc>
                  <a:txBody>
                    <a:bodyPr wrap="square"/>
                    <a:lstStyle/>
                    <a:p>
                      <a:r>
                        <a:rPr sz="1600" b="0">
                          <a:solidFill>
                            <a:srgbClr val="FF6B5B"/>
                          </a:solidFill>
                          <a:latin typeface="Arial"/>
                          <a:ea typeface="Microsoft YaHei"/>
                        </a:rPr>
                        <a:t>精确</a:t>
                      </a:r>
                    </a:p>
                  </a:txBody>
                  <a:tcPr anchor="ctr">
                    <a:solidFill>
                      <a:srgbClr val="FFEFD9"/>
                    </a:solidFill>
                  </a:tcPr>
                </a:tc>
              </a:tr>
              <a:tr h="652272">
                <a:tc>
                  <a:txBody>
                    <a:bodyPr wrap="square"/>
                    <a:lstStyle/>
                    <a:p>
                      <a:r>
                        <a:rPr sz="1600" b="1">
                          <a:solidFill>
                            <a:srgbClr val="1F2A44"/>
                          </a:solidFill>
                          <a:latin typeface="Arial"/>
                          <a:ea typeface="Microsoft YaHei"/>
                        </a:rPr>
                        <a:t>They will do well.</a:t>
                      </a:r>
                    </a:p>
                  </a:txBody>
                  <a:tcPr anchor="ctr">
                    <a:solidFill>
                      <a:srgbClr val="FFFFFF"/>
                    </a:solidFill>
                  </a:tcPr>
                </a:tc>
                <a:tc>
                  <a:txBody>
                    <a:bodyPr wrap="square"/>
                    <a:lstStyle/>
                    <a:p>
                      <a:r>
                        <a:rPr sz="1600" b="0">
                          <a:solidFill>
                            <a:srgbClr val="1F2A44"/>
                          </a:solidFill>
                          <a:latin typeface="Arial"/>
                          <a:ea typeface="Microsoft YaHei"/>
                        </a:rPr>
                        <a:t>They are likely to remain resilient.</a:t>
                      </a:r>
                    </a:p>
                  </a:txBody>
                  <a:tcPr anchor="ctr">
                    <a:solidFill>
                      <a:srgbClr val="FFFFFF"/>
                    </a:solidFill>
                  </a:tcPr>
                </a:tc>
                <a:tc>
                  <a:txBody>
                    <a:bodyPr wrap="square"/>
                    <a:lstStyle/>
                    <a:p>
                      <a:r>
                        <a:rPr sz="1600" b="0">
                          <a:solidFill>
                            <a:srgbClr val="FF6B5B"/>
                          </a:solidFill>
                          <a:latin typeface="Arial"/>
                          <a:ea typeface="Microsoft YaHei"/>
                        </a:rPr>
                        <a:t>预测</a:t>
                      </a:r>
                    </a:p>
                  </a:txBody>
                  <a:tcPr anchor="ctr">
                    <a:solidFill>
                      <a:srgbClr val="FFFFFF"/>
                    </a:solidFill>
                  </a:tcPr>
                </a:tc>
              </a:tr>
            </a:tbl>
          </a:graphicData>
        </a:graphic>
      </p:graphicFrame>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68 Global Luxury Slowdown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Hedging predictions: </a:t>
            </a:r>
            <a:r>
              <a:rPr sz="1700" b="0">
                <a:solidFill>
                  <a:srgbClr val="1F2A44"/>
                </a:solidFill>
                <a:latin typeface="Arial"/>
                <a:ea typeface="Microsoft YaHei"/>
              </a:rPr>
              <a:t>may, might, could, is likely to, appears to, seems to, tend to.</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Present perfect for recent trends: </a:t>
            </a:r>
            <a:r>
              <a:rPr sz="1700" b="0">
                <a:solidFill>
                  <a:srgbClr val="1F2A44"/>
                </a:solidFill>
                <a:latin typeface="Arial"/>
                <a:ea typeface="Microsoft YaHei"/>
              </a:rPr>
              <a:t>“Sales have slowed.” / “Prices have risen sharply.”</a:t>
            </a:r>
          </a:p>
        </p:txBody>
      </p:sp>
      <p:sp>
        <p:nvSpPr>
          <p:cNvPr id="14" name="Rounded Rectangle 13"/>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Quantifying vaguely: </a:t>
            </a:r>
            <a:r>
              <a:rPr sz="1700" b="0">
                <a:solidFill>
                  <a:srgbClr val="1F2A44"/>
                </a:solidFill>
                <a:latin typeface="Arial"/>
                <a:ea typeface="Microsoft YaHei"/>
              </a:rPr>
              <a:t>some, a number of, several, most, a growing number of.</a:t>
            </a:r>
          </a:p>
        </p:txBody>
      </p:sp>
      <p:sp>
        <p:nvSpPr>
          <p:cNvPr id="17" name="Rounded Rectangle 16"/>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017517"/>
            <a:ext cx="10728655" cy="441959"/>
          </a:xfrm>
          <a:prstGeom prst="rect">
            <a:avLst/>
          </a:prstGeom>
          <a:noFill/>
        </p:spPr>
        <p:txBody>
          <a:bodyPr wrap="square" anchor="ctr">
            <a:spAutoFit/>
          </a:bodyPr>
          <a:lstStyle/>
          <a:p>
            <a:r>
              <a:rPr sz="1700" b="1">
                <a:solidFill>
                  <a:srgbClr val="FFC857"/>
                </a:solidFill>
                <a:latin typeface="Arial"/>
                <a:ea typeface="Microsoft YaHei"/>
              </a:rPr>
              <a:t>Avoid absolute words: </a:t>
            </a:r>
            <a:r>
              <a:rPr sz="1700" b="0">
                <a:solidFill>
                  <a:srgbClr val="1F2A44"/>
                </a:solidFill>
                <a:latin typeface="Arial"/>
                <a:ea typeface="Microsoft YaHei"/>
              </a:rPr>
              <a:t>always, never, everyone, all — replace with often, rarely, many, most.</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68 Global Luxury Slowdown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Luxury market falls always.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luxury market sometimes falls.</a:t>
            </a:r>
          </a:p>
          <a:p>
            <a:pPr algn="l">
              <a:spcAft>
                <a:spcPts val="200"/>
              </a:spcAft>
            </a:pPr>
            <a:r>
              <a:rPr sz="1200" b="0">
                <a:solidFill>
                  <a:srgbClr val="FFFFFF"/>
                </a:solidFill>
                <a:latin typeface="Arial"/>
                <a:ea typeface="Microsoft YaHei"/>
              </a:rPr>
              <a:t>避免绝对化</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All rich people stops buying.</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Some wealthy customers may buy less.</a:t>
            </a:r>
          </a:p>
          <a:p>
            <a:pPr algn="l">
              <a:spcAft>
                <a:spcPts val="200"/>
              </a:spcAft>
            </a:pPr>
            <a:r>
              <a:rPr sz="1200" b="0">
                <a:solidFill>
                  <a:srgbClr val="FFFFFF"/>
                </a:solidFill>
                <a:latin typeface="Arial"/>
                <a:ea typeface="Microsoft YaHei"/>
              </a:rPr>
              <a:t>避免概括</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demand are weaker.</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Demand is weaker.</a:t>
            </a:r>
          </a:p>
          <a:p>
            <a:pPr algn="l">
              <a:spcAft>
                <a:spcPts val="200"/>
              </a:spcAft>
            </a:pPr>
            <a:r>
              <a:rPr sz="1200" b="0">
                <a:solidFill>
                  <a:srgbClr val="FFFFFF"/>
                </a:solidFill>
                <a:latin typeface="Arial"/>
                <a:ea typeface="Microsoft YaHei"/>
              </a:rPr>
              <a:t>单数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68 Global Luxury Slowdown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sales are going down since March.</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Sales have been going down since March.</a:t>
            </a:r>
          </a:p>
          <a:p>
            <a:pPr algn="l">
              <a:spcAft>
                <a:spcPts val="200"/>
              </a:spcAft>
            </a:pPr>
            <a:r>
              <a:rPr sz="1200" b="0">
                <a:solidFill>
                  <a:srgbClr val="FFFFFF"/>
                </a:solidFill>
                <a:latin typeface="Arial"/>
                <a:ea typeface="Microsoft YaHei"/>
              </a:rPr>
              <a:t>现在完成进行时</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will surely recover.</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may recover, though this is uncertain.</a:t>
            </a:r>
          </a:p>
          <a:p>
            <a:pPr algn="l">
              <a:spcAft>
                <a:spcPts val="200"/>
              </a:spcAft>
            </a:pPr>
            <a:r>
              <a:rPr sz="1200" b="0">
                <a:solidFill>
                  <a:srgbClr val="FFFFFF"/>
                </a:solidFill>
                <a:latin typeface="Arial"/>
                <a:ea typeface="Microsoft YaHei"/>
              </a:rPr>
              <a:t>谨慎</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Prices is increasing.</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Prices are increasing.</a:t>
            </a:r>
          </a:p>
          <a:p>
            <a:pPr algn="l">
              <a:spcAft>
                <a:spcPts val="200"/>
              </a:spcAft>
            </a:pPr>
            <a:r>
              <a:rPr sz="1200" b="0">
                <a:solidFill>
                  <a:srgbClr val="FFFFFF"/>
                </a:solidFill>
                <a:latin typeface="Arial"/>
                <a:ea typeface="Microsoft YaHei"/>
              </a:rPr>
              <a:t>主谓一致</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hedging, demand is (uncountable), and tense with since.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68 Global Luxury Slowdown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Luxury and status: </a:t>
            </a:r>
            <a:r>
              <a:rPr sz="1700" b="0">
                <a:solidFill>
                  <a:srgbClr val="1F2A44"/>
                </a:solidFill>
                <a:latin typeface="Arial"/>
                <a:ea typeface="Microsoft YaHei"/>
              </a:rPr>
              <a:t>Attitudes to luxury vary: showy logos are popular in some markets and seen as vulgar in others (“quiet luxury”).</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Sustainability: </a:t>
            </a:r>
            <a:r>
              <a:rPr sz="1700" b="0">
                <a:solidFill>
                  <a:srgbClr val="1F2A44"/>
                </a:solidFill>
                <a:latin typeface="Arial"/>
                <a:ea typeface="Microsoft YaHei"/>
              </a:rPr>
              <a:t>Resale and repair services are increasingly seen as positive, but brands differ in how they approach it.</a:t>
            </a:r>
          </a:p>
        </p:txBody>
      </p:sp>
      <p:sp>
        <p:nvSpPr>
          <p:cNvPr id="15" name="Rounded Rectangle 14"/>
          <p:cNvSpPr/>
          <p:nvPr/>
        </p:nvSpPr>
        <p:spPr>
          <a:xfrm>
            <a:off x="548640" y="300227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441959"/>
          </a:xfrm>
          <a:prstGeom prst="rect">
            <a:avLst/>
          </a:prstGeom>
          <a:noFill/>
        </p:spPr>
        <p:txBody>
          <a:bodyPr wrap="square" anchor="ctr">
            <a:spAutoFit/>
          </a:bodyPr>
          <a:lstStyle/>
          <a:p>
            <a:r>
              <a:rPr sz="1700" b="1">
                <a:solidFill>
                  <a:srgbClr val="3CC49A"/>
                </a:solidFill>
                <a:latin typeface="Arial"/>
                <a:ea typeface="Microsoft YaHei"/>
              </a:rPr>
              <a:t>Facts: </a:t>
            </a:r>
            <a:r>
              <a:rPr sz="1700" b="0">
                <a:solidFill>
                  <a:srgbClr val="1F2A44"/>
                </a:solidFill>
                <a:latin typeface="Arial"/>
                <a:ea typeface="Microsoft YaHei"/>
              </a:rPr>
              <a:t>Treat market statistics with caution; check dates and sources.</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预测用 may / might / appears to 等缓和词;不要用 always / all。since 搭配现在完成(进行)时。demand 是不可数,用单数动词。</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68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68 Global Luxury Slowdown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a market slowdown with hedged language.</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suggest brand responses.</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present perfect with since for recent trends.</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demand (uncountable) with singular verbs.</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68 Global Luxury Slowdown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hedging, present perfect with since, and uncountable demand.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7 · Lesson 69 Global Alcohol Consumption Cools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116</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69</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4700" b="1">
                <a:solidFill>
                  <a:srgbClr val="FFFFFF"/>
                </a:solidFill>
                <a:latin typeface="Arial"/>
                <a:ea typeface="Microsoft YaHei"/>
              </a:rPr>
              <a:t>Global Alcohol Consumption Cools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全球酒精消费量下降</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changing consumption patterns of alcohol: health awareness, younger consumers, no/low-alcohol alternatives and how businesses adapt.</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69 Global Alcohol Consumption Cools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feel about alcohol at business events?</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noticed more non-alcoholic drinks on menus recently?</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Why might some people be drinking less than before?</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could drinks companies respond to changing habits?</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it OK to refuse a drink at a business dinner? How?</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cool 在这里指“热度下降”。consumption = 消费(量)。no- and low-alcohol = 无酒精 / 低酒精。第 5 题常考礼貌拒绝。</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69 Global Alcohol Consumption Cools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Politely decline an alcoholic drink at a business event and discuss the trend.</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decline</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offer an alternative</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explain lightly</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change topic</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I’m fine with water, thanks.   💬 I’m driving, but please go ahead.   💬 I’ll stick to soft drinks tonight.</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I’m good, thanks(口语)。理由可简短,不必解释健康原因。stick to = 坚持喝……。</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Reading · Raising a Glass Less Often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130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69 Global Alcohol Consumption Cools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In several countries, surveys suggest that people are drinking less alcohol than in the past. Possible reasons include greater awareness of health risks, interest in fitness and wellbeing, higher living costs and changing social habits. Younger adults in particular appear more likely to moderate their drinking or avoid alcohol altogether, though patterns differ widely between countries and age groups. Drinks companies have responded by launching alcohol-free beers, low-alcohol wines and sophisticated non-alcoholic cocktails, and bars increasingly offer attractive options for guests who do not drink. Business events are changing too: many organisers now provide non-alcoholic choices and focus on food and conversation. The trend is not uniform, and alcohol remains important in many markets, but companies that adapt their products and their image may be better placed for the future.</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69 Global Alcohol Consumption Cools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Which possible reasons for drinking less are mentioned?</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Health awareness, fitness and wellbeing, living costs and changing social habits.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How have drinks companies responded?</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By launching alcohol-free and low-alcohol products and non-alcoholic cocktails.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How are business events changing?</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More non-alcoholic choices and more focus on food and conversation.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Drinks and habits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69 Global Alcohol Consumption Cools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饮品与习惯</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alcohol consumption</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酒精消费量</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“Alcohol consumption has fallen.”</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non-alcoholic</a:t>
            </a:r>
          </a:p>
          <a:p>
            <a:pPr algn="l">
              <a:lnSpc>
                <a:spcPct val="115000"/>
              </a:lnSpc>
              <a:spcAft>
                <a:spcPts val="800"/>
              </a:spcAft>
            </a:pPr>
            <a:r>
              <a:rPr sz="1300" b="0">
                <a:solidFill>
                  <a:srgbClr val="5F677A"/>
                </a:solidFill>
                <a:latin typeface="Arial"/>
                <a:ea typeface="Microsoft YaHei"/>
              </a:rPr>
              <a:t>adjective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无酒精的</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have a non-alcoholic option.”</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low-alcohol</a:t>
            </a:r>
          </a:p>
          <a:p>
            <a:pPr algn="l">
              <a:lnSpc>
                <a:spcPct val="115000"/>
              </a:lnSpc>
              <a:spcAft>
                <a:spcPts val="800"/>
              </a:spcAft>
            </a:pPr>
            <a:r>
              <a:rPr sz="1300" b="0">
                <a:solidFill>
                  <a:srgbClr val="5F677A"/>
                </a:solidFill>
                <a:latin typeface="Arial"/>
                <a:ea typeface="Microsoft YaHei"/>
              </a:rPr>
              <a:t>adjective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低酒精的</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“Low-alcohol beers are popular.”</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soft drink</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软饮料</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have a soft drink.”</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health-conscious</a:t>
            </a:r>
          </a:p>
          <a:p>
            <a:pPr algn="l">
              <a:lnSpc>
                <a:spcPct val="115000"/>
              </a:lnSpc>
              <a:spcAft>
                <a:spcPts val="800"/>
              </a:spcAft>
            </a:pPr>
            <a:r>
              <a:rPr sz="1300" b="0">
                <a:solidFill>
                  <a:srgbClr val="5F677A"/>
                </a:solidFill>
                <a:latin typeface="Arial"/>
                <a:ea typeface="Microsoft YaHei"/>
              </a:rPr>
              <a:t>adjective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注重健康的</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“Health-conscious consumers drink less.”</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drinking habits</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饮酒习惯</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“Drinking habits are changing.”</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Chunk 2: Politely declining and describing trends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69 Global Alcohol Consumption Cools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礼貌拒绝与描述趋势</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stick to</a:t>
            </a:r>
          </a:p>
          <a:p>
            <a:pPr algn="l">
              <a:lnSpc>
                <a:spcPct val="115000"/>
              </a:lnSpc>
              <a:spcAft>
                <a:spcPts val="800"/>
              </a:spcAft>
            </a:pPr>
            <a:r>
              <a:rPr sz="1300" b="0">
                <a:solidFill>
                  <a:srgbClr val="5F677A"/>
                </a:solidFill>
                <a:latin typeface="Arial"/>
                <a:ea typeface="Microsoft YaHei"/>
              </a:rPr>
              <a:t>phrasal 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只喝 / 坚持</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stick to water, thanks.”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cut down on</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减少</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cutting down on alcohol.”</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teetotal</a:t>
            </a:r>
          </a:p>
          <a:p>
            <a:pPr algn="l">
              <a:lnSpc>
                <a:spcPct val="115000"/>
              </a:lnSpc>
              <a:spcAft>
                <a:spcPts val="800"/>
              </a:spcAft>
            </a:pPr>
            <a:r>
              <a:rPr sz="1300" b="0">
                <a:solidFill>
                  <a:srgbClr val="5F677A"/>
                </a:solidFill>
                <a:latin typeface="Arial"/>
                <a:ea typeface="Microsoft YaHei"/>
              </a:rPr>
              <a:t>adjective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滴酒不沾的</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“She’s teetotal.”</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cool off</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降温</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market is cooling off.”</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cater for</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为……提供</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bar caters for guests who don’t drink.”</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shift towards</a:t>
            </a:r>
          </a:p>
          <a:p>
            <a:pPr algn="l">
              <a:lnSpc>
                <a:spcPct val="115000"/>
              </a:lnSpc>
              <a:spcAft>
                <a:spcPts val="800"/>
              </a:spcAft>
            </a:pPr>
            <a:r>
              <a:rPr sz="1300" b="0">
                <a:solidFill>
                  <a:srgbClr val="5F677A"/>
                </a:solidFill>
                <a:latin typeface="Arial"/>
                <a:ea typeface="Microsoft YaHei"/>
              </a:rPr>
              <a:t>collocation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转向</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“There’s a shift towards healthier choices.”</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69 Global Alcohol Consumption Cools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无酒精的</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non-alcoholic</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只喝 / 坚持</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stick to</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软饮料</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soft drink</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酒精消费量</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alcohol consumption</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饮酒习惯</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drinking habits</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降温</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cool off</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低酒精的</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low-alcohol</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滴酒不沾的</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teetotal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69 Global Alcohol Consumption Cools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572767"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consumption</a:t>
            </a:r>
          </a:p>
        </p:txBody>
      </p:sp>
      <p:sp>
        <p:nvSpPr>
          <p:cNvPr id="10" name="Rounded Rectangle 9"/>
          <p:cNvSpPr/>
          <p:nvPr/>
        </p:nvSpPr>
        <p:spPr>
          <a:xfrm>
            <a:off x="3675887" y="987552"/>
            <a:ext cx="179222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non-alcoholic</a:t>
            </a:r>
          </a:p>
        </p:txBody>
      </p:sp>
      <p:sp>
        <p:nvSpPr>
          <p:cNvPr id="11" name="Rounded Rectangle 10"/>
          <p:cNvSpPr/>
          <p:nvPr/>
        </p:nvSpPr>
        <p:spPr>
          <a:xfrm>
            <a:off x="5559551" y="987552"/>
            <a:ext cx="1572767"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Low-alcohol</a:t>
            </a:r>
          </a:p>
        </p:txBody>
      </p:sp>
      <p:sp>
        <p:nvSpPr>
          <p:cNvPr id="12" name="Rounded Rectangle 11"/>
          <p:cNvSpPr/>
          <p:nvPr/>
        </p:nvSpPr>
        <p:spPr>
          <a:xfrm>
            <a:off x="7223758" y="987552"/>
            <a:ext cx="2121408"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Health-conscious</a:t>
            </a:r>
          </a:p>
        </p:txBody>
      </p:sp>
      <p:sp>
        <p:nvSpPr>
          <p:cNvPr id="13" name="Rounded Rectangle 12"/>
          <p:cNvSpPr/>
          <p:nvPr/>
        </p:nvSpPr>
        <p:spPr>
          <a:xfrm>
            <a:off x="9436606" y="987552"/>
            <a:ext cx="124358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stick to</a:t>
            </a:r>
          </a:p>
        </p:txBody>
      </p:sp>
      <p:sp>
        <p:nvSpPr>
          <p:cNvPr id="14" name="Rounded Rectangle 13"/>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Alcohol _______ has fallen in several countries.</a:t>
            </a:r>
          </a:p>
        </p:txBody>
      </p:sp>
      <p:sp>
        <p:nvSpPr>
          <p:cNvPr id="16" name="Rounded Rectangle 15"/>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consumption</a:t>
            </a:r>
          </a:p>
        </p:txBody>
      </p:sp>
      <p:sp>
        <p:nvSpPr>
          <p:cNvPr id="17" name="Rounded Rectangle 16"/>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The restaurant has a good _______ cocktail menu.</a:t>
            </a:r>
          </a:p>
        </p:txBody>
      </p:sp>
      <p:sp>
        <p:nvSpPr>
          <p:cNvPr id="19" name="Rounded Rectangle 18"/>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non-alcoholic</a:t>
            </a:r>
          </a:p>
        </p:txBody>
      </p:sp>
      <p:sp>
        <p:nvSpPr>
          <p:cNvPr id="20" name="Rounded Rectangle 19"/>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_______ beers are becoming more popular.</a:t>
            </a:r>
          </a:p>
        </p:txBody>
      </p:sp>
      <p:sp>
        <p:nvSpPr>
          <p:cNvPr id="22" name="Rounded Rectangle 21"/>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Low-alcohol</a:t>
            </a:r>
          </a:p>
        </p:txBody>
      </p:sp>
      <p:sp>
        <p:nvSpPr>
          <p:cNvPr id="23" name="Rounded Rectangle 22"/>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_______ consumers often choose healthier drinks.</a:t>
            </a:r>
          </a:p>
        </p:txBody>
      </p:sp>
      <p:sp>
        <p:nvSpPr>
          <p:cNvPr id="25" name="Rounded Rectangle 24"/>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Health-conscious</a:t>
            </a:r>
          </a:p>
        </p:txBody>
      </p:sp>
      <p:sp>
        <p:nvSpPr>
          <p:cNvPr id="26" name="Rounded Rectangle 25"/>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I’m driving, so I’ll _______ water tonight.</a:t>
            </a:r>
          </a:p>
        </p:txBody>
      </p:sp>
      <p:sp>
        <p:nvSpPr>
          <p:cNvPr id="28" name="Rounded Rectangle 27"/>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stick to</a:t>
            </a:r>
          </a:p>
        </p:txBody>
      </p:sp>
      <p:sp>
        <p:nvSpPr>
          <p:cNvPr id="29" name="Rounded Rectangle 28"/>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I’m trying to _______ alcohol this year.</a:t>
            </a:r>
          </a:p>
        </p:txBody>
      </p:sp>
      <p:sp>
        <p:nvSpPr>
          <p:cNvPr id="31" name="Rounded Rectangle 30"/>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cut down on</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alcohol (not “alchohol”), consumption (not “consumtion”), teetotal. Consumption (uncountable), consume (verb). Drink as noun: “a drink”; “have a drink”, “go for a drink”. Decline an offer (not “refuse an offer” in polite contexts). Abstain from (formal).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4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fade">
                                      <p:cBhvr>
                                        <p:cTn id="9" dur="4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4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Declining a drink at a business dinner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69 Global Alcohol Consumption Cools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商务晚宴上婉拒酒</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At a business dinner a client offers you a glass of wine. You decline politely.</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Ben Liu, visiting manager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Green, client host</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Declining a drink at a business dinner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69 Global Alcohol Consumption Cools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Ben</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Mr Green, thank you for dinner. This is a lovely restaurant.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Mr Green</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My pleasure, Ben. Can I pour you a glass of wine?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but I’ll stick to sparkling water, if that’s all right. I have an early meeting tomorrow.</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Please don’t feel any pressure.</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Please go ahead and enjoy the wine.</a:t>
            </a:r>
          </a:p>
        </p:txBody>
      </p:sp>
      <p:sp>
        <p:nvSpPr>
          <p:cNvPr id="23" name="Rounded Rectangle 22"/>
          <p:cNvSpPr/>
          <p:nvPr/>
        </p:nvSpPr>
        <p:spPr>
          <a:xfrm>
            <a:off x="10911535" y="45262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9651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5262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will. Actually, more people seem to be doing the same lately.</a:t>
            </a:r>
          </a:p>
        </p:txBody>
      </p:sp>
      <p:sp>
        <p:nvSpPr>
          <p:cNvPr id="26" name="Rounded Rectangle 25"/>
          <p:cNvSpPr/>
          <p:nvPr/>
        </p:nvSpPr>
        <p:spPr>
          <a:xfrm>
            <a:off x="548640" y="51084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5473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51084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I’ve noticed that too. A lot of my colleagues are cutting down on alcohol.</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Declining a drink at a business dinner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69 Global Alcohol Consumption Cools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We’ve even changed our menus. We now offer several alcohol-free options.</a:t>
            </a:r>
          </a:p>
        </p:txBody>
      </p:sp>
      <p:sp>
        <p:nvSpPr>
          <p:cNvPr id="11" name="Rounded Rectangle 10"/>
          <p:cNvSpPr/>
          <p:nvPr/>
        </p:nvSpPr>
        <p:spPr>
          <a:xfrm>
            <a:off x="548640" y="219760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219760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good idea. Do guests like them?</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they’ve become surprisingly popular. Try the alcohol-free ginger cocktail.</a:t>
            </a:r>
          </a:p>
        </p:txBody>
      </p:sp>
      <p:sp>
        <p:nvSpPr>
          <p:cNvPr id="17" name="Rounded Rectangle 16"/>
          <p:cNvSpPr/>
          <p:nvPr/>
        </p:nvSpPr>
        <p:spPr>
          <a:xfrm>
            <a:off x="548640" y="365150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651504"/>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Sounds nice. I’ll have one, thank you.</a:t>
            </a:r>
          </a:p>
        </p:txBody>
      </p:sp>
      <p:sp>
        <p:nvSpPr>
          <p:cNvPr id="20" name="Rounded Rectangle 19"/>
          <p:cNvSpPr/>
          <p:nvPr/>
        </p:nvSpPr>
        <p:spPr>
          <a:xfrm>
            <a:off x="10911535" y="423367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423367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Excellent. Now, shall we talk about the contract?</a:t>
            </a:r>
          </a:p>
        </p:txBody>
      </p:sp>
      <p:sp>
        <p:nvSpPr>
          <p:cNvPr id="23" name="Rounded Rectangle 22"/>
          <p:cNvSpPr/>
          <p:nvPr/>
        </p:nvSpPr>
        <p:spPr>
          <a:xfrm>
            <a:off x="548640" y="481584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4" name="TextBox 23"/>
          <p:cNvSpPr txBox="1"/>
          <p:nvPr/>
        </p:nvSpPr>
        <p:spPr>
          <a:xfrm>
            <a:off x="274320"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1463040" y="481584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I’d be glad to.</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Declining a drink at a business dinner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69 Global Alcohol Consumption Cools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decline a drink politely.</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Guest. Reason (optional):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Host. Offer a drink and react naturally.</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I’ll stick to · please go ahead · it’s kind of you · I’m driving · alcohol-free · no pressure</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Decline without awkwardness and move on.</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host insists: “Just one glass.” Respond.</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Order for the table when some don’t drink.</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Describe how drinking habits are changing in your country.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69 Global Alcohol Consumption Cools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Have drinking habits changed around you?</a:t>
            </a:r>
          </a:p>
          <a:p>
            <a:pPr algn="l">
              <a:lnSpc>
                <a:spcPct val="115000"/>
              </a:lnSpc>
              <a:spcAft>
                <a:spcPts val="800"/>
              </a:spcAft>
            </a:pPr>
            <a:r>
              <a:rPr sz="1400" b="0">
                <a:solidFill>
                  <a:srgbClr val="5F677A"/>
                </a:solidFill>
                <a:latin typeface="Arial"/>
                <a:ea typeface="Microsoft YaHei"/>
              </a:rPr>
              <a:t>💬 “I’ve noticed that… / Among my friends…”</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might younger people drink less?</a:t>
            </a:r>
          </a:p>
          <a:p>
            <a:pPr algn="l">
              <a:lnSpc>
                <a:spcPct val="115000"/>
              </a:lnSpc>
              <a:spcAft>
                <a:spcPts val="800"/>
              </a:spcAft>
            </a:pPr>
            <a:r>
              <a:rPr sz="1400" b="0">
                <a:solidFill>
                  <a:srgbClr val="5F677A"/>
                </a:solidFill>
                <a:latin typeface="Arial"/>
                <a:ea typeface="Microsoft YaHei"/>
              </a:rPr>
              <a:t>💬 “One possible reason is… / It may be because…”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business events serve alcohol?</a:t>
            </a:r>
          </a:p>
          <a:p>
            <a:pPr algn="l">
              <a:lnSpc>
                <a:spcPct val="115000"/>
              </a:lnSpc>
              <a:spcAft>
                <a:spcPts val="800"/>
              </a:spcAft>
            </a:pPr>
            <a:r>
              <a:rPr sz="1400" b="0">
                <a:solidFill>
                  <a:srgbClr val="5F677A"/>
                </a:solidFill>
                <a:latin typeface="Arial"/>
                <a:ea typeface="Microsoft YaHei"/>
              </a:rPr>
              <a:t>💬 “It depends on… / I think it’s better to offer…”</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companies adapt to changing consumption?</a:t>
            </a:r>
          </a:p>
          <a:p>
            <a:pPr algn="l">
              <a:lnSpc>
                <a:spcPct val="115000"/>
              </a:lnSpc>
              <a:spcAft>
                <a:spcPts val="800"/>
              </a:spcAft>
            </a:pPr>
            <a:r>
              <a:rPr sz="1400" b="0">
                <a:solidFill>
                  <a:srgbClr val="5F677A"/>
                </a:solidFill>
                <a:latin typeface="Arial"/>
                <a:ea typeface="Microsoft YaHei"/>
              </a:rPr>
              <a:t>💬 “They can launch… / They might focus 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69 Global Alcohol Consumption Cools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business events should offer alcohol only as one option among many, and make non-alcoholic choices equally attractive. Some guests don’t drink for health, religious or personal reasons, and they shouldn’t feel excluded. Good food and conversation matter more than drinks anyway. If alcohol is served, it should be in moderation, because business decisions need clear heads.</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moderation = 适度。”clear heads” = 头脑清醒。”feel excluded” = 感到被排除在外。”one option among many” = 众多选项之一。</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69 Global Alcohol Consumption Cools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42595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408432">
                <a:tc>
                  <a:txBody>
                    <a:bodyPr wrap="square"/>
                    <a:lstStyle/>
                    <a:p>
                      <a:r>
                        <a:rPr sz="1600" b="1">
                          <a:solidFill>
                            <a:srgbClr val="1F2A44"/>
                          </a:solidFill>
                          <a:latin typeface="Arial"/>
                          <a:ea typeface="Microsoft YaHei"/>
                        </a:rPr>
                        <a:t>I can’t drink.</a:t>
                      </a:r>
                    </a:p>
                  </a:txBody>
                  <a:tcPr anchor="ctr">
                    <a:solidFill>
                      <a:srgbClr val="FFFFFF"/>
                    </a:solidFill>
                  </a:tcPr>
                </a:tc>
                <a:tc>
                  <a:txBody>
                    <a:bodyPr wrap="square"/>
                    <a:lstStyle/>
                    <a:p>
                      <a:r>
                        <a:rPr sz="1600" b="0">
                          <a:solidFill>
                            <a:srgbClr val="1F2A44"/>
                          </a:solidFill>
                          <a:latin typeface="Arial"/>
                          <a:ea typeface="Microsoft YaHei"/>
                        </a:rPr>
                        <a:t>I’ll stick to water, thanks.</a:t>
                      </a:r>
                    </a:p>
                  </a:txBody>
                  <a:tcPr anchor="ctr">
                    <a:solidFill>
                      <a:srgbClr val="FFFFFF"/>
                    </a:solidFill>
                  </a:tcPr>
                </a:tc>
                <a:tc>
                  <a:txBody>
                    <a:bodyPr wrap="square"/>
                    <a:lstStyle/>
                    <a:p>
                      <a:r>
                        <a:rPr sz="1600" b="0">
                          <a:solidFill>
                            <a:srgbClr val="FF6B5B"/>
                          </a:solidFill>
                          <a:latin typeface="Arial"/>
                          <a:ea typeface="Microsoft YaHei"/>
                        </a:rPr>
                        <a:t>自然</a:t>
                      </a:r>
                    </a:p>
                  </a:txBody>
                  <a:tcPr anchor="ctr">
                    <a:solidFill>
                      <a:srgbClr val="FFFFFF"/>
                    </a:solidFill>
                  </a:tcPr>
                </a:tc>
              </a:tr>
              <a:tr h="652272">
                <a:tc>
                  <a:txBody>
                    <a:bodyPr wrap="square"/>
                    <a:lstStyle/>
                    <a:p>
                      <a:r>
                        <a:rPr sz="1600" b="1">
                          <a:solidFill>
                            <a:srgbClr val="1F2A44"/>
                          </a:solidFill>
                          <a:latin typeface="Arial"/>
                          <a:ea typeface="Microsoft YaHei"/>
                        </a:rPr>
                        <a:t>No alcohol.</a:t>
                      </a:r>
                    </a:p>
                  </a:txBody>
                  <a:tcPr anchor="ctr">
                    <a:solidFill>
                      <a:srgbClr val="FFEFD9"/>
                    </a:solidFill>
                  </a:tcPr>
                </a:tc>
                <a:tc>
                  <a:txBody>
                    <a:bodyPr wrap="square"/>
                    <a:lstStyle/>
                    <a:p>
                      <a:r>
                        <a:rPr sz="1600" b="0">
                          <a:solidFill>
                            <a:srgbClr val="1F2A44"/>
                          </a:solidFill>
                          <a:latin typeface="Arial"/>
                          <a:ea typeface="Microsoft YaHei"/>
                        </a:rPr>
                        <a:t>I’m not drinking tonight, but please go ahead.</a:t>
                      </a:r>
                    </a:p>
                  </a:txBody>
                  <a:tcPr anchor="ctr">
                    <a:solidFill>
                      <a:srgbClr val="FFEFD9"/>
                    </a:solidFill>
                  </a:tcPr>
                </a:tc>
                <a:tc>
                  <a:txBody>
                    <a:bodyPr wrap="square"/>
                    <a:lstStyle/>
                    <a:p>
                      <a:r>
                        <a:rPr sz="1600" b="0">
                          <a:solidFill>
                            <a:srgbClr val="FF6B5B"/>
                          </a:solidFill>
                          <a:latin typeface="Arial"/>
                          <a:ea typeface="Microsoft YaHei"/>
                        </a:rPr>
                        <a:t>礼貌</a:t>
                      </a:r>
                    </a:p>
                  </a:txBody>
                  <a:tcPr anchor="ctr">
                    <a:solidFill>
                      <a:srgbClr val="FFEFD9"/>
                    </a:solidFill>
                  </a:tcPr>
                </a:tc>
              </a:tr>
              <a:tr h="652272">
                <a:tc>
                  <a:txBody>
                    <a:bodyPr wrap="square"/>
                    <a:lstStyle/>
                    <a:p>
                      <a:r>
                        <a:rPr sz="1600" b="1">
                          <a:solidFill>
                            <a:srgbClr val="1F2A44"/>
                          </a:solidFill>
                          <a:latin typeface="Arial"/>
                          <a:ea typeface="Microsoft YaHei"/>
                        </a:rPr>
                        <a:t>Why you don’t drink?</a:t>
                      </a:r>
                    </a:p>
                  </a:txBody>
                  <a:tcPr anchor="ctr">
                    <a:solidFill>
                      <a:srgbClr val="FFFFFF"/>
                    </a:solidFill>
                  </a:tcPr>
                </a:tc>
                <a:tc>
                  <a:txBody>
                    <a:bodyPr wrap="square"/>
                    <a:lstStyle/>
                    <a:p>
                      <a:r>
                        <a:rPr sz="1600" b="0">
                          <a:solidFill>
                            <a:srgbClr val="1F2A44"/>
                          </a:solidFill>
                          <a:latin typeface="Arial"/>
                          <a:ea typeface="Microsoft YaHei"/>
                        </a:rPr>
                        <a:t>Do you mind if I ask what you’d like instead?</a:t>
                      </a:r>
                    </a:p>
                  </a:txBody>
                  <a:tcPr anchor="ctr">
                    <a:solidFill>
                      <a:srgbClr val="FFFFFF"/>
                    </a:solidFill>
                  </a:tcPr>
                </a:tc>
                <a:tc>
                  <a:txBody>
                    <a:bodyPr wrap="square"/>
                    <a:lstStyle/>
                    <a:p>
                      <a:r>
                        <a:rPr sz="1600" b="0">
                          <a:solidFill>
                            <a:srgbClr val="FF6B5B"/>
                          </a:solidFill>
                          <a:latin typeface="Arial"/>
                          <a:ea typeface="Microsoft YaHei"/>
                        </a:rPr>
                        <a:t>不探究</a:t>
                      </a:r>
                    </a:p>
                  </a:txBody>
                  <a:tcPr anchor="ctr">
                    <a:solidFill>
                      <a:srgbClr val="FFFFFF"/>
                    </a:solidFill>
                  </a:tcPr>
                </a:tc>
              </a:tr>
              <a:tr h="652272">
                <a:tc>
                  <a:txBody>
                    <a:bodyPr wrap="square"/>
                    <a:lstStyle/>
                    <a:p>
                      <a:r>
                        <a:rPr sz="1600" b="1">
                          <a:solidFill>
                            <a:srgbClr val="1F2A44"/>
                          </a:solidFill>
                          <a:latin typeface="Arial"/>
                          <a:ea typeface="Microsoft YaHei"/>
                        </a:rPr>
                        <a:t>People drink less.</a:t>
                      </a:r>
                    </a:p>
                  </a:txBody>
                  <a:tcPr anchor="ctr">
                    <a:solidFill>
                      <a:srgbClr val="FFEFD9"/>
                    </a:solidFill>
                  </a:tcPr>
                </a:tc>
                <a:tc>
                  <a:txBody>
                    <a:bodyPr wrap="square"/>
                    <a:lstStyle/>
                    <a:p>
                      <a:r>
                        <a:rPr sz="1600" b="0">
                          <a:solidFill>
                            <a:srgbClr val="1F2A44"/>
                          </a:solidFill>
                          <a:latin typeface="Arial"/>
                          <a:ea typeface="Microsoft YaHei"/>
                        </a:rPr>
                        <a:t>Alcohol consumption seems to be falling.</a:t>
                      </a:r>
                    </a:p>
                  </a:txBody>
                  <a:tcPr anchor="ctr">
                    <a:solidFill>
                      <a:srgbClr val="FFEFD9"/>
                    </a:solidFill>
                  </a:tcPr>
                </a:tc>
                <a:tc>
                  <a:txBody>
                    <a:bodyPr wrap="square"/>
                    <a:lstStyle/>
                    <a:p>
                      <a:r>
                        <a:rPr sz="1600" b="0">
                          <a:solidFill>
                            <a:srgbClr val="FF6B5B"/>
                          </a:solidFill>
                          <a:latin typeface="Arial"/>
                          <a:ea typeface="Microsoft YaHei"/>
                        </a:rPr>
                        <a:t>谨慎</a:t>
                      </a:r>
                    </a:p>
                  </a:txBody>
                  <a:tcPr anchor="ctr">
                    <a:solidFill>
                      <a:srgbClr val="FFEFD9"/>
                    </a:solidFill>
                  </a:tcPr>
                </a:tc>
              </a:tr>
              <a:tr h="652272">
                <a:tc>
                  <a:txBody>
                    <a:bodyPr wrap="square"/>
                    <a:lstStyle/>
                    <a:p>
                      <a:r>
                        <a:rPr sz="1600" b="1">
                          <a:solidFill>
                            <a:srgbClr val="1F2A44"/>
                          </a:solidFill>
                          <a:latin typeface="Arial"/>
                          <a:ea typeface="Microsoft YaHei"/>
                        </a:rPr>
                        <a:t>Alcohol is bad.</a:t>
                      </a:r>
                    </a:p>
                  </a:txBody>
                  <a:tcPr anchor="ctr">
                    <a:solidFill>
                      <a:srgbClr val="FFFFFF"/>
                    </a:solidFill>
                  </a:tcPr>
                </a:tc>
                <a:tc>
                  <a:txBody>
                    <a:bodyPr wrap="square"/>
                    <a:lstStyle/>
                    <a:p>
                      <a:r>
                        <a:rPr sz="1600" b="0">
                          <a:solidFill>
                            <a:srgbClr val="1F2A44"/>
                          </a:solidFill>
                          <a:latin typeface="Arial"/>
                          <a:ea typeface="Microsoft YaHei"/>
                        </a:rPr>
                        <a:t>Many people are more aware of health risks.</a:t>
                      </a:r>
                    </a:p>
                  </a:txBody>
                  <a:tcPr anchor="ctr">
                    <a:solidFill>
                      <a:srgbClr val="FFFFFF"/>
                    </a:solidFill>
                  </a:tcPr>
                </a:tc>
                <a:tc>
                  <a:txBody>
                    <a:bodyPr wrap="square"/>
                    <a:lstStyle/>
                    <a:p>
                      <a:r>
                        <a:rPr sz="1600" b="0">
                          <a:solidFill>
                            <a:srgbClr val="FF6B5B"/>
                          </a:solidFill>
                          <a:latin typeface="Arial"/>
                          <a:ea typeface="Microsoft YaHei"/>
                        </a:rPr>
                        <a:t>中性</a:t>
                      </a:r>
                    </a:p>
                  </a:txBody>
                  <a:tcPr anchor="ctr">
                    <a:solidFill>
                      <a:srgbClr val="FFFFFF"/>
                    </a:solidFill>
                  </a:tcPr>
                </a:tc>
              </a:tr>
            </a:tbl>
          </a:graphicData>
        </a:graphic>
      </p:graphicFrame>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69 Global Alcohol Consumption Cools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Polite refusals: </a:t>
            </a:r>
            <a:r>
              <a:rPr sz="1700" b="0">
                <a:solidFill>
                  <a:srgbClr val="1F2A44"/>
                </a:solidFill>
                <a:latin typeface="Arial"/>
                <a:ea typeface="Microsoft YaHei"/>
              </a:rPr>
              <a:t>No, thank you. / I’m good, thanks. / I’ll pass, but thank you. (Say thank you each time.)</a:t>
            </a:r>
          </a:p>
        </p:txBody>
      </p:sp>
      <p:sp>
        <p:nvSpPr>
          <p:cNvPr id="11" name="Rounded Rectangle 10"/>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Offers: </a:t>
            </a:r>
            <a:r>
              <a:rPr sz="1700" b="0">
                <a:solidFill>
                  <a:srgbClr val="1F2A44"/>
                </a:solidFill>
                <a:latin typeface="Arial"/>
                <a:ea typeface="Microsoft YaHei"/>
              </a:rPr>
              <a:t>Would you like…? / Can I get you…? / Shall I pour you…?</a:t>
            </a:r>
          </a:p>
        </p:txBody>
      </p:sp>
      <p:sp>
        <p:nvSpPr>
          <p:cNvPr id="14" name="Rounded Rectangle 13"/>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Reason + feelings: </a:t>
            </a:r>
            <a:r>
              <a:rPr sz="1700" b="0">
                <a:solidFill>
                  <a:srgbClr val="1F2A44"/>
                </a:solidFill>
                <a:latin typeface="Arial"/>
                <a:ea typeface="Microsoft YaHei"/>
              </a:rPr>
              <a:t>Keep reasons short: “I have an early start.” Avoid long explanations.</a:t>
            </a:r>
          </a:p>
        </p:txBody>
      </p:sp>
      <p:sp>
        <p:nvSpPr>
          <p:cNvPr id="17" name="Rounded Rectangle 16"/>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441959"/>
          </a:xfrm>
          <a:prstGeom prst="rect">
            <a:avLst/>
          </a:prstGeom>
          <a:noFill/>
        </p:spPr>
        <p:txBody>
          <a:bodyPr wrap="square" anchor="ctr">
            <a:spAutoFit/>
          </a:bodyPr>
          <a:lstStyle/>
          <a:p>
            <a:r>
              <a:rPr sz="1700" b="1">
                <a:solidFill>
                  <a:srgbClr val="FFC857"/>
                </a:solidFill>
                <a:latin typeface="Arial"/>
                <a:ea typeface="Microsoft YaHei"/>
              </a:rPr>
              <a:t>Describing trends: </a:t>
            </a:r>
            <a:r>
              <a:rPr sz="1700" b="0">
                <a:solidFill>
                  <a:srgbClr val="1F2A44"/>
                </a:solidFill>
                <a:latin typeface="Arial"/>
                <a:ea typeface="Microsoft YaHei"/>
              </a:rPr>
              <a:t>cooling, falling, easing, shifting; a shift towards, a move away from.</a:t>
            </a:r>
          </a:p>
        </p:txBody>
      </p:sp>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69 Global Alcohol Consumption Cools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not allowed to drink.</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I’d rather not drink tonight.</a:t>
            </a:r>
          </a:p>
          <a:p>
            <a:pPr algn="l">
              <a:spcAft>
                <a:spcPts val="200"/>
              </a:spcAft>
            </a:pPr>
            <a:r>
              <a:rPr sz="1200" b="0">
                <a:solidFill>
                  <a:srgbClr val="FFFFFF"/>
                </a:solidFill>
                <a:latin typeface="Arial"/>
                <a:ea typeface="Microsoft YaHei"/>
              </a:rPr>
              <a:t>避免过度解释</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don’t drink alcohols.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don’t drink alcohol.</a:t>
            </a:r>
          </a:p>
          <a:p>
            <a:pPr algn="l">
              <a:spcAft>
                <a:spcPts val="200"/>
              </a:spcAft>
            </a:pPr>
            <a:r>
              <a:rPr sz="1200" b="0">
                <a:solidFill>
                  <a:srgbClr val="FFFFFF"/>
                </a:solidFill>
                <a:latin typeface="Arial"/>
                <a:ea typeface="Microsoft YaHei"/>
              </a:rPr>
              <a:t>不可数</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She is teetotaller.</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She’s a teetotaller. / She’s teetotal.</a:t>
            </a:r>
          </a:p>
          <a:p>
            <a:pPr algn="l">
              <a:spcAft>
                <a:spcPts val="200"/>
              </a:spcAft>
            </a:pPr>
            <a:r>
              <a:rPr sz="1200" b="0">
                <a:solidFill>
                  <a:srgbClr val="FFFFFF"/>
                </a:solidFill>
                <a:latin typeface="Arial"/>
                <a:ea typeface="Microsoft YaHei"/>
              </a:rPr>
              <a:t>冠词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69 Global Alcohol Consumption Cools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refuse the drink.</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I’ll pass, thanks. / No, thank you.</a:t>
            </a:r>
          </a:p>
          <a:p>
            <a:pPr algn="l">
              <a:spcAft>
                <a:spcPts val="200"/>
              </a:spcAft>
            </a:pPr>
            <a:r>
              <a:rPr sz="1200" b="0">
                <a:solidFill>
                  <a:srgbClr val="FFFFFF"/>
                </a:solidFill>
                <a:latin typeface="Arial"/>
                <a:ea typeface="Microsoft YaHei"/>
              </a:rPr>
              <a:t>礼貌</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People are drinking less alcohols.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People are drinking less alcohol.</a:t>
            </a:r>
          </a:p>
          <a:p>
            <a:pPr algn="l">
              <a:spcAft>
                <a:spcPts val="200"/>
              </a:spcAft>
            </a:pPr>
            <a:r>
              <a:rPr sz="1200" b="0">
                <a:solidFill>
                  <a:srgbClr val="FFFFFF"/>
                </a:solidFill>
                <a:latin typeface="Arial"/>
                <a:ea typeface="Microsoft YaHei"/>
              </a:rPr>
              <a:t>alcohol 不可数</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drink consumption cool.</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Alcohol consumption has cooled.</a:t>
            </a:r>
          </a:p>
          <a:p>
            <a:pPr algn="l">
              <a:spcAft>
                <a:spcPts val="200"/>
              </a:spcAft>
            </a:pPr>
            <a:r>
              <a:rPr sz="1200" b="0">
                <a:solidFill>
                  <a:srgbClr val="FFFFFF"/>
                </a:solidFill>
                <a:latin typeface="Arial"/>
                <a:ea typeface="Microsoft YaHei"/>
              </a:rPr>
              <a:t>完成时</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uncountable alcohol, articles (a teetotaller), and polite refusals.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69 Global Alcohol Consumption Cools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Business drinks: </a:t>
            </a:r>
            <a:r>
              <a:rPr sz="1700" b="0">
                <a:solidFill>
                  <a:srgbClr val="1F2A44"/>
                </a:solidFill>
                <a:latin typeface="Arial"/>
                <a:ea typeface="Microsoft YaHei"/>
              </a:rPr>
              <a:t>In some countries drinking with clients is a ritual; in others it is optional or discouraged. Follow the host’s lead but know you can decline.</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Respect: </a:t>
            </a:r>
            <a:r>
              <a:rPr sz="1700" b="0">
                <a:solidFill>
                  <a:srgbClr val="1F2A44"/>
                </a:solidFill>
                <a:latin typeface="Arial"/>
                <a:ea typeface="Microsoft YaHei"/>
              </a:rPr>
              <a:t>Never press a colleague to drink; reasons may be health, religion or personal.</a:t>
            </a:r>
          </a:p>
        </p:txBody>
      </p:sp>
      <p:sp>
        <p:nvSpPr>
          <p:cNvPr id="15" name="Rounded Rectangle 14"/>
          <p:cNvSpPr/>
          <p:nvPr/>
        </p:nvSpPr>
        <p:spPr>
          <a:xfrm>
            <a:off x="548640" y="274319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701039"/>
          </a:xfrm>
          <a:prstGeom prst="rect">
            <a:avLst/>
          </a:prstGeom>
          <a:noFill/>
        </p:spPr>
        <p:txBody>
          <a:bodyPr wrap="square" anchor="ctr">
            <a:spAutoFit/>
          </a:bodyPr>
          <a:lstStyle/>
          <a:p>
            <a:r>
              <a:rPr sz="1700" b="1">
                <a:solidFill>
                  <a:srgbClr val="3CC49A"/>
                </a:solidFill>
                <a:latin typeface="Arial"/>
                <a:ea typeface="Microsoft YaHei"/>
              </a:rPr>
              <a:t>Non-alcoholic offerings: </a:t>
            </a:r>
            <a:r>
              <a:rPr sz="1700" b="0">
                <a:solidFill>
                  <a:srgbClr val="1F2A44"/>
                </a:solidFill>
                <a:latin typeface="Arial"/>
                <a:ea typeface="Microsoft YaHei"/>
              </a:rPr>
              <a:t>More hosts now provide good non-alcoholic options as a sign of inclusion.</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alcohol 不可数;teetotal 是形容词,teetotaller 是名词。礼貌拒绝时说 I’ll stick to water, thanks,不需要多解释。</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69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69 Global Alcohol Consumption Cools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decline a drink politely without explanation.</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discuss changing drinking habits in hedged terms.</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talk about how businesses adapt.</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uncountable alcohol and polite refusals.</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 · Lesson 69 Global Alcohol Consumption Cools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uncountable alcohol, polite refusals, and hedged trend language.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Lucky Boxes 幸运盒子</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Pick a number, take the challenge!  选一个数字，接受挑战</a:t>
            </a:r>
          </a:p>
        </p:txBody>
      </p:sp>
      <p:sp>
        <p:nvSpPr>
          <p:cNvPr id="9" name="Rounded Rectangle 8">
            <a:hlinkClick action="ppaction://hlinksldjump" r:id="rId4"/>
          </p:cNvPr>
          <p:cNvSpPr/>
          <p:nvPr/>
        </p:nvSpPr>
        <p:spPr>
          <a:xfrm>
            <a:off x="1691640" y="15087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1</a:t>
            </a:r>
          </a:p>
        </p:txBody>
      </p:sp>
      <p:sp>
        <p:nvSpPr>
          <p:cNvPr id="10" name="Rounded Rectangle 9">
            <a:hlinkClick action="ppaction://hlinksldjump" r:id="rId5"/>
          </p:cNvPr>
          <p:cNvSpPr/>
          <p:nvPr/>
        </p:nvSpPr>
        <p:spPr>
          <a:xfrm>
            <a:off x="4693920" y="15087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2</a:t>
            </a:r>
          </a:p>
        </p:txBody>
      </p:sp>
      <p:sp>
        <p:nvSpPr>
          <p:cNvPr id="11" name="Rounded Rectangle 10">
            <a:hlinkClick action="ppaction://hlinksldjump" r:id="rId6"/>
          </p:cNvPr>
          <p:cNvSpPr/>
          <p:nvPr/>
        </p:nvSpPr>
        <p:spPr>
          <a:xfrm>
            <a:off x="7696200" y="15087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3</a:t>
            </a:r>
          </a:p>
        </p:txBody>
      </p:sp>
      <p:sp>
        <p:nvSpPr>
          <p:cNvPr id="12" name="Rounded Rectangle 11">
            <a:hlinkClick action="ppaction://hlinksldjump" r:id="rId7"/>
          </p:cNvPr>
          <p:cNvSpPr/>
          <p:nvPr/>
        </p:nvSpPr>
        <p:spPr>
          <a:xfrm>
            <a:off x="1691640" y="31089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4</a:t>
            </a:r>
          </a:p>
        </p:txBody>
      </p:sp>
      <p:sp>
        <p:nvSpPr>
          <p:cNvPr id="13" name="Rounded Rectangle 12">
            <a:hlinkClick action="ppaction://hlinksldjump" r:id="rId8"/>
          </p:cNvPr>
          <p:cNvSpPr/>
          <p:nvPr/>
        </p:nvSpPr>
        <p:spPr>
          <a:xfrm>
            <a:off x="4693920" y="3108960"/>
            <a:ext cx="2773680" cy="1371600"/>
          </a:xfrm>
          <a:prstGeom prst="roundRect">
            <a:avLst>
              <a:gd name="adj" fmla="val 18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5</a:t>
            </a:r>
          </a:p>
        </p:txBody>
      </p:sp>
      <p:sp>
        <p:nvSpPr>
          <p:cNvPr id="14" name="Rounded Rectangle 13">
            <a:hlinkClick action="ppaction://hlinksldjump" r:id="rId9"/>
          </p:cNvPr>
          <p:cNvSpPr/>
          <p:nvPr/>
        </p:nvSpPr>
        <p:spPr>
          <a:xfrm>
            <a:off x="7696200" y="31089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6</a:t>
            </a:r>
          </a:p>
        </p:txBody>
      </p:sp>
      <p:sp>
        <p:nvSpPr>
          <p:cNvPr id="15" name="Rounded Rectangle 14">
            <a:hlinkClick action="ppaction://hlinksldjump" r:id="rId10"/>
          </p:cNvPr>
          <p:cNvSpPr/>
          <p:nvPr/>
        </p:nvSpPr>
        <p:spPr>
          <a:xfrm>
            <a:off x="1691640" y="47091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7</a:t>
            </a:r>
          </a:p>
        </p:txBody>
      </p:sp>
      <p:sp>
        <p:nvSpPr>
          <p:cNvPr id="16" name="Rounded Rectangle 15">
            <a:hlinkClick action="ppaction://hlinksldjump" r:id="rId11"/>
          </p:cNvPr>
          <p:cNvSpPr/>
          <p:nvPr/>
        </p:nvSpPr>
        <p:spPr>
          <a:xfrm>
            <a:off x="4693920" y="47091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8</a:t>
            </a:r>
          </a:p>
        </p:txBody>
      </p:sp>
      <p:sp>
        <p:nvSpPr>
          <p:cNvPr id="17" name="Rounded Rectangle 16">
            <a:hlinkClick action="ppaction://hlinksldjump" r:id="rId12"/>
          </p:cNvPr>
          <p:cNvSpPr/>
          <p:nvPr/>
        </p:nvSpPr>
        <p:spPr>
          <a:xfrm>
            <a:off x="7696200" y="47091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9</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1</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139</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依靠</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lean on</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2</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140</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Fix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找出并改正错误</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The sales decreased sharp.</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Sales decreased sharply.</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3</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141</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cater for</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The bar caters for guests who don’t drink.</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4</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142</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营销组合</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marketing mix</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5</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143</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Bomb!</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本轮不得分，换下一组</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44.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6</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144</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数据收集</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data collection</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7</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145</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Steal!</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从任意一组偷走 1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8</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146</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Bonus!</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本组直接 +2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9</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147</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stick to</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I’ll stick to water, thanks.</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Boss Challenge 终极挑战</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review</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10 seconds per question. Beat the boss!  每题限时 10 秒，打败大魔王</a:t>
            </a:r>
          </a:p>
        </p:txBody>
      </p:sp>
      <p:sp>
        <p:nvSpPr>
          <p:cNvPr id="9" name="TextBox 8"/>
          <p:cNvSpPr txBox="1"/>
          <p:nvPr/>
        </p:nvSpPr>
        <p:spPr>
          <a:xfrm>
            <a:off x="9966960" y="1463040"/>
            <a:ext cx="1737360" cy="1463040"/>
          </a:xfrm>
          <a:prstGeom prst="rect">
            <a:avLst/>
          </a:prstGeom>
          <a:noFill/>
        </p:spPr>
        <p:txBody>
          <a:bodyPr wrap="square" anchor="t">
            <a:spAutoFit/>
          </a:bodyPr>
          <a:lstStyle/>
          <a:p>
            <a:pPr algn="ctr">
              <a:lnSpc>
                <a:spcPct val="115000"/>
              </a:lnSpc>
              <a:spcAft>
                <a:spcPts val="800"/>
              </a:spcAft>
            </a:pPr>
            <a:r>
              <a:rPr sz="8000" b="0">
                <a:solidFill>
                  <a:srgbClr val="1F2A44"/>
                </a:solidFill>
                <a:latin typeface="Arial"/>
                <a:ea typeface="Microsoft YaHei"/>
              </a:rPr>
              <a:t>👾</a:t>
            </a:r>
          </a:p>
        </p:txBody>
      </p:sp>
      <p:sp>
        <p:nvSpPr>
          <p:cNvPr id="10" name="Rounded Rectangle 9"/>
          <p:cNvSpPr/>
          <p:nvPr/>
        </p:nvSpPr>
        <p:spPr>
          <a:xfrm>
            <a:off x="548640" y="1508760"/>
            <a:ext cx="5577840" cy="850392"/>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Q1. “经济衰退” in English?</a:t>
            </a:r>
          </a:p>
        </p:txBody>
      </p:sp>
      <p:sp>
        <p:nvSpPr>
          <p:cNvPr id="11" name="Rounded Rectangle 10"/>
          <p:cNvSpPr/>
          <p:nvPr/>
        </p:nvSpPr>
        <p:spPr>
          <a:xfrm>
            <a:off x="6263640" y="150876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recession</a:t>
            </a:r>
          </a:p>
        </p:txBody>
      </p:sp>
      <p:sp>
        <p:nvSpPr>
          <p:cNvPr id="12" name="Rounded Rectangle 11"/>
          <p:cNvSpPr/>
          <p:nvPr/>
        </p:nvSpPr>
        <p:spPr>
          <a:xfrm>
            <a:off x="548640" y="2468880"/>
            <a:ext cx="5577840" cy="850392"/>
          </a:xfrm>
          <a:prstGeom prst="roundRect">
            <a:avLst>
              <a:gd name="adj" fmla="val 15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Q2. “利基市场” in English?</a:t>
            </a:r>
          </a:p>
        </p:txBody>
      </p:sp>
      <p:sp>
        <p:nvSpPr>
          <p:cNvPr id="13" name="Rounded Rectangle 12"/>
          <p:cNvSpPr/>
          <p:nvPr/>
        </p:nvSpPr>
        <p:spPr>
          <a:xfrm>
            <a:off x="6263640" y="246888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niche market</a:t>
            </a:r>
          </a:p>
        </p:txBody>
      </p:sp>
      <p:sp>
        <p:nvSpPr>
          <p:cNvPr id="14" name="Rounded Rectangle 13"/>
          <p:cNvSpPr/>
          <p:nvPr/>
        </p:nvSpPr>
        <p:spPr>
          <a:xfrm>
            <a:off x="548640" y="3429000"/>
            <a:ext cx="5577840" cy="850392"/>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Q3. “消费支出” in English?</a:t>
            </a:r>
          </a:p>
        </p:txBody>
      </p:sp>
      <p:sp>
        <p:nvSpPr>
          <p:cNvPr id="15" name="Rounded Rectangle 14"/>
          <p:cNvSpPr/>
          <p:nvPr/>
        </p:nvSpPr>
        <p:spPr>
          <a:xfrm>
            <a:off x="6263640" y="342900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consumer spending</a:t>
            </a:r>
          </a:p>
        </p:txBody>
      </p:sp>
      <p:sp>
        <p:nvSpPr>
          <p:cNvPr id="16" name="Rounded Rectangle 15"/>
          <p:cNvSpPr/>
          <p:nvPr/>
        </p:nvSpPr>
        <p:spPr>
          <a:xfrm>
            <a:off x="548640" y="4389120"/>
            <a:ext cx="5577840" cy="850392"/>
          </a:xfrm>
          <a:prstGeom prst="roundRect">
            <a:avLst>
              <a:gd name="adj" fmla="val 15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Q4. Fix it: They said sorry about the ad.</a:t>
            </a:r>
          </a:p>
        </p:txBody>
      </p:sp>
      <p:sp>
        <p:nvSpPr>
          <p:cNvPr id="17" name="Rounded Rectangle 16"/>
          <p:cNvSpPr/>
          <p:nvPr/>
        </p:nvSpPr>
        <p:spPr>
          <a:xfrm>
            <a:off x="6263640" y="438912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They apologised for the ad.</a:t>
            </a:r>
          </a:p>
        </p:txBody>
      </p:sp>
      <p:sp>
        <p:nvSpPr>
          <p:cNvPr id="18" name="Rounded Rectangle 17"/>
          <p:cNvSpPr/>
          <p:nvPr/>
        </p:nvSpPr>
        <p:spPr>
          <a:xfrm>
            <a:off x="548640" y="5349240"/>
            <a:ext cx="5577840" cy="850392"/>
          </a:xfrm>
          <a:prstGeom prst="roundRect">
            <a:avLst>
              <a:gd name="adj" fmla="val 15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Q5. Fix it: People were angry to the ad.</a:t>
            </a:r>
          </a:p>
        </p:txBody>
      </p:sp>
      <p:sp>
        <p:nvSpPr>
          <p:cNvPr id="19" name="Rounded Rectangle 18"/>
          <p:cNvSpPr/>
          <p:nvPr/>
        </p:nvSpPr>
        <p:spPr>
          <a:xfrm>
            <a:off x="6263640" y="534924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People were angry about the ad.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5" presetID="10" presetClass="entr" presetSubtype="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0" presetID="10"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7</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149</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TextBox 4"/>
          <p:cNvSpPr txBox="1"/>
          <p:nvPr/>
        </p:nvSpPr>
        <p:spPr>
          <a:xfrm>
            <a:off x="0" y="822960"/>
            <a:ext cx="12191695" cy="1463040"/>
          </a:xfrm>
          <a:prstGeom prst="rect">
            <a:avLst/>
          </a:prstGeom>
          <a:noFill/>
        </p:spPr>
        <p:txBody>
          <a:bodyPr wrap="square" anchor="t">
            <a:spAutoFit/>
          </a:bodyPr>
          <a:lstStyle/>
          <a:p>
            <a:pPr algn="ctr">
              <a:lnSpc>
                <a:spcPct val="115000"/>
              </a:lnSpc>
              <a:spcAft>
                <a:spcPts val="800"/>
              </a:spcAft>
            </a:pPr>
            <a:r>
              <a:rPr sz="10000" b="0">
                <a:solidFill>
                  <a:srgbClr val="1F2A44"/>
                </a:solidFill>
                <a:latin typeface="Arial"/>
                <a:ea typeface="Microsoft YaHei"/>
              </a:rPr>
              <a:t>🏆</a:t>
            </a:r>
          </a:p>
        </p:txBody>
      </p:sp>
      <p:sp>
        <p:nvSpPr>
          <p:cNvPr id="6" name="TextBox 5"/>
          <p:cNvSpPr txBox="1"/>
          <p:nvPr/>
        </p:nvSpPr>
        <p:spPr>
          <a:xfrm>
            <a:off x="0" y="2560320"/>
            <a:ext cx="12191695" cy="914400"/>
          </a:xfrm>
          <a:prstGeom prst="rect">
            <a:avLst/>
          </a:prstGeom>
          <a:noFill/>
        </p:spPr>
        <p:txBody>
          <a:bodyPr wrap="square" anchor="t">
            <a:spAutoFit/>
          </a:bodyPr>
          <a:lstStyle/>
          <a:p>
            <a:pPr algn="ctr">
              <a:lnSpc>
                <a:spcPct val="115000"/>
              </a:lnSpc>
              <a:spcAft>
                <a:spcPts val="800"/>
              </a:spcAft>
            </a:pPr>
            <a:r>
              <a:rPr sz="4600" b="1">
                <a:solidFill>
                  <a:srgbClr val="FFFFFF"/>
                </a:solidFill>
                <a:latin typeface="Arial"/>
                <a:ea typeface="Microsoft YaHei"/>
              </a:rPr>
              <a:t>And the winning team is…</a:t>
            </a:r>
          </a:p>
        </p:txBody>
      </p:sp>
      <p:sp>
        <p:nvSpPr>
          <p:cNvPr id="7" name="TextBox 6"/>
          <p:cNvSpPr txBox="1"/>
          <p:nvPr/>
        </p:nvSpPr>
        <p:spPr>
          <a:xfrm>
            <a:off x="0" y="3520440"/>
            <a:ext cx="12191695" cy="64008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统计积分，看看今天的冠军是哪一组！</a:t>
            </a:r>
          </a:p>
        </p:txBody>
      </p:sp>
      <p:sp>
        <p:nvSpPr>
          <p:cNvPr id="8" name="Rounded Rectangle 7"/>
          <p:cNvSpPr/>
          <p:nvPr/>
        </p:nvSpPr>
        <p:spPr>
          <a:xfrm>
            <a:off x="822960" y="4480560"/>
            <a:ext cx="2468880" cy="822960"/>
          </a:xfrm>
          <a:prstGeom prst="roundRect">
            <a:avLst>
              <a:gd name="adj" fmla="val 4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Alpha: ____</a:t>
            </a:r>
          </a:p>
        </p:txBody>
      </p:sp>
      <p:sp>
        <p:nvSpPr>
          <p:cNvPr id="9" name="Rounded Rectangle 8"/>
          <p:cNvSpPr/>
          <p:nvPr/>
        </p:nvSpPr>
        <p:spPr>
          <a:xfrm>
            <a:off x="3520440" y="4480560"/>
            <a:ext cx="2468880" cy="822960"/>
          </a:xfrm>
          <a:prstGeom prst="roundRect">
            <a:avLst>
              <a:gd name="adj" fmla="val 4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Bravo: ____</a:t>
            </a:r>
          </a:p>
        </p:txBody>
      </p:sp>
      <p:sp>
        <p:nvSpPr>
          <p:cNvPr id="10" name="Rounded Rectangle 9"/>
          <p:cNvSpPr/>
          <p:nvPr/>
        </p:nvSpPr>
        <p:spPr>
          <a:xfrm>
            <a:off x="6217920" y="4480560"/>
            <a:ext cx="2468880" cy="822960"/>
          </a:xfrm>
          <a:prstGeom prst="roundRect">
            <a:avLst>
              <a:gd name="adj" fmla="val 4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Charlie: ____</a:t>
            </a:r>
          </a:p>
        </p:txBody>
      </p:sp>
      <p:sp>
        <p:nvSpPr>
          <p:cNvPr id="11" name="Rounded Rectangle 10"/>
          <p:cNvSpPr/>
          <p:nvPr/>
        </p:nvSpPr>
        <p:spPr>
          <a:xfrm>
            <a:off x="8915400" y="4480560"/>
            <a:ext cx="2468880" cy="822960"/>
          </a:xfrm>
          <a:prstGeom prst="roundRect">
            <a:avLst>
              <a:gd name="adj" fmla="val 4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Delta: ____</a:t>
            </a:r>
          </a:p>
        </p:txBody>
      </p:sp>
    </p:spTree>
  </p:cSld>
  <p:clrMapOvr>
    <a:masterClrMapping/>
  </p:clrMapOvr>
  <p:transition spd="med">
    <p:fade/>
  </p:transition>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7</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150</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Oval 4"/>
          <p:cNvSpPr/>
          <p:nvPr/>
        </p:nvSpPr>
        <p:spPr>
          <a:xfrm>
            <a:off x="640080" y="548640"/>
            <a:ext cx="1280160" cy="12801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332720" y="4754880"/>
            <a:ext cx="1371600" cy="137160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0" y="822960"/>
            <a:ext cx="731520" cy="7315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1645920"/>
            <a:ext cx="12191695" cy="1097280"/>
          </a:xfrm>
          <a:prstGeom prst="rect">
            <a:avLst/>
          </a:prstGeom>
          <a:noFill/>
        </p:spPr>
        <p:txBody>
          <a:bodyPr wrap="square" anchor="t">
            <a:spAutoFit/>
          </a:bodyPr>
          <a:lstStyle/>
          <a:p>
            <a:pPr algn="ctr">
              <a:lnSpc>
                <a:spcPct val="115000"/>
              </a:lnSpc>
              <a:spcAft>
                <a:spcPts val="800"/>
              </a:spcAft>
            </a:pPr>
            <a:r>
              <a:rPr sz="6400" b="0">
                <a:solidFill>
                  <a:srgbClr val="1F2A44"/>
                </a:solidFill>
                <a:latin typeface="Arial"/>
                <a:ea typeface="Microsoft YaHei"/>
              </a:rPr>
              <a:t>🎉</a:t>
            </a:r>
          </a:p>
        </p:txBody>
      </p:sp>
      <p:sp>
        <p:nvSpPr>
          <p:cNvPr id="9" name="TextBox 8"/>
          <p:cNvSpPr txBox="1"/>
          <p:nvPr/>
        </p:nvSpPr>
        <p:spPr>
          <a:xfrm>
            <a:off x="0" y="2743200"/>
            <a:ext cx="12191695" cy="1097280"/>
          </a:xfrm>
          <a:prstGeom prst="rect">
            <a:avLst/>
          </a:prstGeom>
          <a:noFill/>
        </p:spPr>
        <p:txBody>
          <a:bodyPr wrap="square" anchor="t">
            <a:spAutoFit/>
          </a:bodyPr>
          <a:lstStyle/>
          <a:p>
            <a:pPr algn="ctr">
              <a:lnSpc>
                <a:spcPct val="115000"/>
              </a:lnSpc>
              <a:spcAft>
                <a:spcPts val="800"/>
              </a:spcAft>
            </a:pPr>
            <a:r>
              <a:rPr sz="5600" b="1">
                <a:solidFill>
                  <a:srgbClr val="FFFFFF"/>
                </a:solidFill>
                <a:latin typeface="Arial"/>
                <a:ea typeface="Microsoft YaHei"/>
              </a:rPr>
              <a:t>Unit 7 Complete!</a:t>
            </a:r>
          </a:p>
        </p:txBody>
      </p:sp>
      <p:sp>
        <p:nvSpPr>
          <p:cNvPr id="10" name="TextBox 9"/>
          <p:cNvSpPr txBox="1"/>
          <p:nvPr/>
        </p:nvSpPr>
        <p:spPr>
          <a:xfrm>
            <a:off x="0" y="3931920"/>
            <a:ext cx="12191695" cy="73152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Great work today! Keep practising 10 minutes a day.  每天 10 分钟，坚持就是进步！</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