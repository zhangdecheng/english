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Mid-to-Advanced Level 9-10</a:t>
            </a:r>
          </a:p>
          <a:p>
            <a:r>
              <a:t>Unit 6: Negotiations and Client Relations — Self-Study Workbook (Lessons 54–63)</a:t>
            </a:r>
          </a:p>
          <a:p/>
          <a:p>
            <a:r>
              <a:t>开场：简单介绍本单元的主题和要完成的 10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54 · Preparing to Negotiate 准备谈判</a:t>
            </a:r>
          </a:p>
          <a:p>
            <a:r>
              <a:t>Goal: prepare for a business negotiation: set objectives, research the other side, identify your limits and alternatives, and plan an opening position.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negotiate 的名词是 negotiation,人是 negotiator。bottom line = 底线。第 4 题可用 “I’d walk away if…”。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your preparation plan for a negotiation.</a:t>
            </a:r>
          </a:p>
          <a:p>
            <a:r>
              <a:t>Say: your goal → their likely interests → your limits → alternatives → opening offer</a:t>
            </a:r>
          </a:p>
          <a:p>
            <a:r>
              <a:t>Useful starters: “Our main objective is…” / “Their priority is probably…” / “If we can’t agree, our fallback is…”</a:t>
            </a:r>
          </a:p>
          <a:p>
            <a:r>
              <a:t>fallback = 后备方案。priority = 首要事项。probably 表示推测。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Many negotiations are decided before the first handshake. Skilled negotiators spend more time preparing than talking. They begin by defining their objective: the ideal outcome, a realistic target and the point beyond which they will walk away. Then they study the other side, asking what they need, what pressures they face and what alternatives they have. Knowing your best alternative, often called a BATNA, gives you confidence because you are never forced to accept a bad deal. Good preparation also means listing what you can trade. A concession that costs you little may be valuable to the other party, such as faster payment or a longer contract. Finally, plan your opening. Starting too low may waste goodwill, while an ambitious but justified first offer leaves room to move.</a:t>
            </a:r>
          </a:p>
          <a:p>
            <a:r>
              <a:t>walk away = 放弃谈判离开。BATNA = 最佳替代方案。concession = 让步。goodwill = 善意。</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When are many negotiations decided?</a:t>
            </a:r>
          </a:p>
          <a:p>
            <a:r>
              <a:t>A: Before the meeting, during preparation.</a:t>
            </a:r>
          </a:p>
          <a:p>
            <a:r>
              <a:t>Q2. What is a BATNA?</a:t>
            </a:r>
          </a:p>
          <a:p>
            <a:r>
              <a:t>A: Your best alternative to a negotiated agreement, which gives confidence.</a:t>
            </a:r>
          </a:p>
          <a:p>
            <a:r>
              <a:t>Q3. Why list what you can trade?</a:t>
            </a:r>
          </a:p>
          <a:p>
            <a:r>
              <a:t>A: A concession cheap for you may be valuable to the other side.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Negotiation basics 谈判基础</a:t>
            </a:r>
          </a:p>
          <a:p>
            <a:r>
              <a:t>领读 → 学员跟读 → 请学员用表达造一个和自己工作相关的句子。</a:t>
            </a:r>
          </a:p>
          <a:p>
            <a:r>
              <a:t>objective (noun) 目标 — “Our objective is a two-year contract.”</a:t>
            </a:r>
          </a:p>
          <a:p>
            <a:r>
              <a:t>bottom line (noun) 底线 — “Our bottom line is 8% margin.”</a:t>
            </a:r>
          </a:p>
          <a:p>
            <a:r>
              <a:t>concession (noun) 让步 — “We made a concession on delivery.”</a:t>
            </a:r>
          </a:p>
          <a:p>
            <a:r>
              <a:t>leverage (noun) 筹码/杠杆 — “We have more leverage than they think.”</a:t>
            </a:r>
          </a:p>
          <a:p>
            <a:r>
              <a:t>proposal (noun) 提案 — “We sent them a proposal.”</a:t>
            </a:r>
          </a:p>
          <a:p>
            <a:r>
              <a:t>terms (noun (plural)) 条款 — “The terms are not yet agreed.”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Planning your position ★ 规划立场</a:t>
            </a:r>
          </a:p>
          <a:p>
            <a:r>
              <a:t>领读 → 学员跟读 → 请学员用表达造一个和自己工作相关的句子。</a:t>
            </a:r>
          </a:p>
          <a:p>
            <a:r>
              <a:t>★ fallback position (noun phrase) 后备方案 — “Our fallback position is a smaller order.”</a:t>
            </a:r>
          </a:p>
          <a:p>
            <a:r>
              <a:t>★ walk away (phrasal verb) 退出谈判 — “We’re ready to walk away.”</a:t>
            </a:r>
          </a:p>
          <a:p>
            <a:r>
              <a:t>★ room to manoeuvre (idiom) 回旋余地 — “We have room to manoeuvre on price.”</a:t>
            </a:r>
          </a:p>
          <a:p>
            <a:r>
              <a:t>★ red line (idiom) 不可逾越的底线 — “Safety is our red line.”</a:t>
            </a:r>
          </a:p>
          <a:p>
            <a:r>
              <a:t>★ trade-off (noun) 取舍 — “There’s a trade-off between price and quality.”</a:t>
            </a:r>
          </a:p>
          <a:p>
            <a:r>
              <a:t>★ open with (phrasal verb) 以……开场 — “We’ll open with a strong offer.”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objective / bottom line / concession / leverage / red line / trade-off</a:t>
            </a:r>
          </a:p>
          <a:p>
            <a:r>
              <a:t>1. Our main _______ is a long-term partnership. → objective</a:t>
            </a:r>
          </a:p>
          <a:p>
            <a:r>
              <a:t>2. Our _______ is a 5% profit margin; we can’t go lower. → bottom line</a:t>
            </a:r>
          </a:p>
          <a:p>
            <a:r>
              <a:t>3. They made a _______ on the delivery date. → concession</a:t>
            </a:r>
          </a:p>
          <a:p>
            <a:r>
              <a:t>4. Having another supplier gives us more _______. → leverage</a:t>
            </a:r>
          </a:p>
          <a:p>
            <a:r>
              <a:t>5. Safety standards are a _______ for us. We won’t compromise. → red line</a:t>
            </a:r>
          </a:p>
          <a:p>
            <a:r>
              <a:t>6. There’s always a _______ between speed and cost. → trade-off</a:t>
            </a:r>
          </a:p>
          <a:p>
            <a:r>
              <a:t>Mistake Watch (拼写与搭配): negotiate (not “negociate”), manoeuvre (UK; US “maneuver”), concession. Negotiate a deal / negotiate with sb (no “to”). Make / grant a concession. Reach / strike a deal. Terms and conditions (plural).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Planning a negotiation with a colleague 与同事商量谈判策略</a:t>
            </a:r>
          </a:p>
          <a:p>
            <a:r>
              <a:t>情景：You and a colleague prepare to negotiate a supply contract with a key supplier.</a:t>
            </a:r>
          </a:p>
          <a:p>
            <a:r>
              <a:t>Role A: Tara Chen, procurement manager (you) Role B: Leo Ward, sales director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(Tara): Leo, before we meet the supplier on Thursday, let’s agree our objectives.</a:t>
            </a:r>
          </a:p>
          <a:p>
            <a:r>
              <a:t>B (Leo): Sure. Ideally, I’d like a 10% price reduction.</a:t>
            </a:r>
          </a:p>
          <a:p>
            <a:r>
              <a:t>A: That’s our target. Realistically, I’d say 6% would be acceptable, with better payment terms.</a:t>
            </a:r>
          </a:p>
          <a:p>
            <a:r>
              <a:t>B: What’s our bottom line?</a:t>
            </a:r>
          </a:p>
          <a:p>
            <a:r>
              <a:t>A: Below 4% we should look elsewhere. We do have another quote, which gives us leverage.</a:t>
            </a:r>
          </a:p>
          <a:p>
            <a:r>
              <a:t>B: And what do they want from us?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 longer contract and bigger volumes. We could offer a two-year deal in return for the discount.</a:t>
            </a:r>
          </a:p>
          <a:p>
            <a:r>
              <a:t>B: That’s a useful trade-off. What’s our red line?</a:t>
            </a:r>
          </a:p>
          <a:p>
            <a:r>
              <a:t>A: Quality. We won’t accept lower standards for a lower price.</a:t>
            </a:r>
          </a:p>
          <a:p>
            <a:r>
              <a:t>B: Agreed. How should we open?</a:t>
            </a:r>
          </a:p>
          <a:p>
            <a:r>
              <a:t>A: With the 10%, supported by the competing quote and a clear case for volume.</a:t>
            </a:r>
          </a:p>
          <a:p>
            <a:r>
              <a:t>B: Good. I’ll prepare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54 | </a:t>
            </a:r>
          </a:p>
          <a:p>
            <a:r>
              <a:t>Situation | You prepare a negotiation.</a:t>
            </a:r>
          </a:p>
          <a:p>
            <a:r>
              <a:t>Your role (A) | Procurement manager. Target: ______________ Bottom line: ______________</a:t>
            </a:r>
          </a:p>
          <a:p>
            <a:r>
              <a:t>Partner’s role (B) | Colleague. Ask about alternatives.</a:t>
            </a:r>
          </a:p>
          <a:p>
            <a:r>
              <a:t>Must use (4 or more) | objective · target · bottom line · leverage · red line · trade-off</a:t>
            </a:r>
          </a:p>
          <a:p>
            <a:r>
              <a:t>Goal | Agree your target, limit, trade-offs and opening move.</a:t>
            </a:r>
          </a:p>
          <a:p>
            <a:r>
              <a:t>My notes | ____________________________________________</a:t>
            </a:r>
          </a:p>
          <a:p>
            <a:r>
              <a:t>Leo wants to reveal your bottom line early. Disagree politely.</a:t>
            </a:r>
          </a:p>
          <a:p>
            <a:r>
              <a:t>List three things you could trade with a supplier.</a:t>
            </a:r>
          </a:p>
          <a:p>
            <a:r>
              <a:t>Describe your best alternative if the negotiation fails.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do you prepare for a negotiation? | “I begin by… / Knowing my limits…”</a:t>
            </a:r>
          </a:p>
          <a:p>
            <a:r>
              <a:t>2. Should you open with a high demand? | “It can work if it’s justified… / The risk is…”</a:t>
            </a:r>
          </a:p>
          <a:p>
            <a:r>
              <a:t>3. What is a good concession? | “One that costs little but… / Something valued by…”</a:t>
            </a:r>
          </a:p>
          <a:p>
            <a:r>
              <a:t>4. When should you walk away? | “When the deal falls below… / If the other side…”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“You should walk away when the deal no longer meets your minimum needs, or when the other side negotiates in bad faith. Staying in a bad deal usually costs more than leaving. That’s why it’s essential to know your alternative before you start: if you have a good option, walking away is easier and less risky. It’s also better to leave politely and keep the door open, because circumstances can change.”</a:t>
            </a:r>
          </a:p>
          <a:p>
            <a:r>
              <a:t>in bad faith = 不诚信。”keep the door open” = 保留以后合作的可能。circumstances = 情况。minimum needs = 最低需求。</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 want the cheapest price. | We’re looking for a more competitive price. | 礼貌</a:t>
            </a:r>
          </a:p>
          <a:p>
            <a:r>
              <a:t>We can’t give more. | That’s about as far as we can go. | 委婉</a:t>
            </a:r>
          </a:p>
          <a:p>
            <a:r>
              <a:t>We have other options. | We do have alternatives. | 稳重</a:t>
            </a:r>
          </a:p>
          <a:p>
            <a:r>
              <a:t>What do you want? | What are your main priorities? | 开放问题</a:t>
            </a:r>
          </a:p>
          <a:p>
            <a:r>
              <a:t>We will leave. | We may have to look elsewhere. | 委婉施压</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Hypothetical language: If we offered X, would you consider Y? (second conditional)</a:t>
            </a:r>
          </a:p>
          <a:p>
            <a:r>
              <a:t>Hedging: I’d say, we might be able to, it could be possible.</a:t>
            </a:r>
          </a:p>
          <a:p>
            <a:r>
              <a:t>Ordering priorities: first and foremost, secondly, as a last resort.</a:t>
            </a:r>
          </a:p>
          <a:p>
            <a:r>
              <a:t>Modal verbs of ability: we can / we could / we’d be able to: “We’d be able to offer…”</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negotiate to the supplier.  →  ✓ We negotiate with the supplier.  (negotiate with)</a:t>
            </a:r>
          </a:p>
          <a:p>
            <a:r>
              <a:t>✗ We want to discuss about price.  →  ✓ We want to discuss the price.  (discuss)</a:t>
            </a:r>
          </a:p>
          <a:p>
            <a:r>
              <a:t>✗ Our target is get 10% off.  →  ✓ Our target is to get 10% off.  (不定式)</a:t>
            </a:r>
          </a:p>
          <a:p>
            <a:r>
              <a:t>Mistake Watch: Check negotiate with, discuss (no about), and noun forms (negotiating skills).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make a deal with them.  →  ✓ We struck a deal with them.  (strike a deal)</a:t>
            </a:r>
          </a:p>
          <a:p>
            <a:r>
              <a:t>✗ He has a good bargain skill.  →  ✓ He has good negotiating skills.  (negotiating skills)</a:t>
            </a:r>
          </a:p>
          <a:p>
            <a:r>
              <a:t>✗ This is my lowest price. I can’t more.  →  ✓ That’s my lowest price; I can’t go any lower.  (完整)</a:t>
            </a:r>
          </a:p>
          <a:p>
            <a:r>
              <a:t>Mistake Watch: Check negotiate with, discuss (no about), and noun forms (negotiating skills).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Preparation: In some cultures (e.g. Germany) detailed preparation and data are expected; in others relationship comes first.</a:t>
            </a:r>
          </a:p>
          <a:p>
            <a:r>
              <a:t>Silence: Silence can be a tactic. Don’t fill it with concessions.</a:t>
            </a:r>
          </a:p>
          <a:p>
            <a:r>
              <a:t>Anchoring: The first number often sets the range. Prepare your opening carefully.</a:t>
            </a:r>
          </a:p>
          <a:p>
            <a:r>
              <a:t>negotiate with sb;discuss 后不加 about;target is to do sth。策略:了解自己的底线与替代方案(BATNA)。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plan a negotiation (target, limit, alternatives).</a:t>
            </a:r>
          </a:p>
          <a:p>
            <a:r>
              <a:t>I can use hypothetical language to explore options.</a:t>
            </a:r>
          </a:p>
          <a:p>
            <a:r>
              <a:t>I can talk about concessions and trade-offs.</a:t>
            </a:r>
          </a:p>
          <a:p>
            <a:r>
              <a:t>I can use negotiate with and discuss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negotiate with, discuss without about, and second conditional for offers.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55 · Mastering Negotiations 掌握谈判技巧</a:t>
            </a:r>
          </a:p>
          <a:p>
            <a:r>
              <a:t>Goal: use effective negotiating techniques: questioning, listening, bargaining, making and responding to proposals and keeping good relationships.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bargain = 讨价还价。”split the difference” = 折中。第 2 题的答案:既强硬又友好,”firm on the issue, soft on the person”。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Make and respond to a proposal in a negotiation.</a:t>
            </a:r>
          </a:p>
          <a:p>
            <a:r>
              <a:t>Say: ask about interests → make a conditional offer → respond to a counter-offer → reach a compromise</a:t>
            </a:r>
          </a:p>
          <a:p>
            <a:r>
              <a:t>Useful starters: “If you could…, we would be willing to…” / “What would it take to…?” / “Let’s see if we can find a middle ground.”</a:t>
            </a:r>
          </a:p>
          <a:p>
            <a:r>
              <a:t>What would it take to…? = 怎样才能……? middle ground = 折中。条件句保持灵活。</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The best negotiators do not see the table as a battlefield. They look for outcomes that satisfy both sides, because agreements that feel fair are more likely to last. This begins with asking questions and listening carefully. Behind every demand lies an interest: a client who insists on a lower price may really be worried about budget approval, which opens the door to other solutions. Skilled negotiators tie concessions to conditions: “If you can commit to a larger volume, we could improve the price.” They avoid giving something away for nothing, and they summarise regularly to check understanding. When emotions rise, they take a break. Throughout, they stay firm on the issues while remaining respectful towards the people. A deal that damages the relationship is rarely a good deal.</a:t>
            </a:r>
          </a:p>
          <a:p>
            <a:r>
              <a:t>battlefield = 战场。interest = 利益诉求。give something away for nothing = 白白让步。”take a break” = 暂停。</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look for outcomes that satisfy both sides?</a:t>
            </a:r>
          </a:p>
          <a:p>
            <a:r>
              <a:t>A: Agreements that feel fair are more likely to last.</a:t>
            </a:r>
          </a:p>
          <a:p>
            <a:r>
              <a:t>Q2. What is hidden behind a demand?</a:t>
            </a:r>
          </a:p>
          <a:p>
            <a:r>
              <a:t>A: An interest, such as concern about budget approval.</a:t>
            </a:r>
          </a:p>
          <a:p>
            <a:r>
              <a:t>Q3. What should concessions be tied to?</a:t>
            </a:r>
          </a:p>
          <a:p>
            <a:r>
              <a:t>A: Conditions, e.g. “If you commit to a larger volume…”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Bargaining language 讨价还价</a:t>
            </a:r>
          </a:p>
          <a:p>
            <a:r>
              <a:t>领读 → 学员跟读 → 请学员用表达造一个和自己工作相关的句子。</a:t>
            </a:r>
          </a:p>
          <a:p>
            <a:r>
              <a:t>counter-offer (noun) 还价 — “They made a counter-offer.”</a:t>
            </a:r>
          </a:p>
          <a:p>
            <a:r>
              <a:t>bargain (verb / noun) 讨价还价 / 便宜货 — “We bargained for an hour.”</a:t>
            </a:r>
          </a:p>
          <a:p>
            <a:r>
              <a:t>compromise (noun / verb) 折中 — “We reached a compromise.”</a:t>
            </a:r>
          </a:p>
          <a:p>
            <a:r>
              <a:t>offer (noun / verb) 报价 — “We offer a 5% discount.”</a:t>
            </a:r>
          </a:p>
          <a:p>
            <a:r>
              <a:t>accept / reject (verb) 接受 / 拒绝 — “They rejected the offer.”</a:t>
            </a:r>
          </a:p>
          <a:p>
            <a:r>
              <a:t>deadlock (noun) 僵局 — “The talks reached a deadlock.”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Moving the talks forward ★ 推进谈判</a:t>
            </a:r>
          </a:p>
          <a:p>
            <a:r>
              <a:t>领读 → 学员跟读 → 请学员用表达造一个和自己工作相关的句子。</a:t>
            </a:r>
          </a:p>
          <a:p>
            <a:r>
              <a:t>★ meet halfway (idiom) 各让一步 — “Let’s meet halfway.”</a:t>
            </a:r>
          </a:p>
          <a:p>
            <a:r>
              <a:t>★ split the difference (idiom) 折中 — “Let’s split the difference.”</a:t>
            </a:r>
          </a:p>
          <a:p>
            <a:r>
              <a:t>★ break the deadlock (collocation) 打破僵局 — “A new proposal broke the deadlock.”</a:t>
            </a:r>
          </a:p>
          <a:p>
            <a:r>
              <a:t>★ sweeten the deal (idiom) 增加吸引力 — “We added free training to sweeten the deal.”</a:t>
            </a:r>
          </a:p>
          <a:p>
            <a:r>
              <a:t>★ put (something) on the table (idiom) 提出 — “We put a new offer on the table.”</a:t>
            </a:r>
          </a:p>
          <a:p>
            <a:r>
              <a:t>★ a win-win situation (noun phrase) 双赢局面 — “We aim for a win-win situation.”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counter-offer / bargain / compromise / deadlock / split the difference / sweeten</a:t>
            </a:r>
          </a:p>
          <a:p>
            <a:r>
              <a:t>1. They rejected our offer and made a _______. → counter-offer</a:t>
            </a:r>
          </a:p>
          <a:p>
            <a:r>
              <a:t>2. We’ll _______ for the best price. → bargain</a:t>
            </a:r>
          </a:p>
          <a:p>
            <a:r>
              <a:t>3. After hours of talks, we finally reached a _______. → compromise</a:t>
            </a:r>
          </a:p>
          <a:p>
            <a:r>
              <a:t>4. The negotiations reached a _______ over delivery dates. → deadlock</a:t>
            </a:r>
          </a:p>
          <a:p>
            <a:r>
              <a:t>5. You want 10% and we offer 6%. Let’s _______ at 8%. → split the difference</a:t>
            </a:r>
          </a:p>
          <a:p>
            <a:r>
              <a:t>6. We could _______ the deal with free training. → sweeten</a:t>
            </a:r>
          </a:p>
          <a:p>
            <a:r>
              <a:t>Mistake Watch (拼写与搭配): negotiation, compromise (not “compramise”), deadlock. Reach a compromise / agreement, make an offer, put something on the table. Agree to a proposal, agree with a person. Counteroffer can be one word or hyphenated.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Bargaining over price and terms 就价格与条款讨价还价</a:t>
            </a:r>
          </a:p>
          <a:p>
            <a:r>
              <a:t>情景：You are buying software for your company. The sales representative, Mr Kim, offers a price you consider high.</a:t>
            </a:r>
          </a:p>
          <a:p>
            <a:r>
              <a:t>Role A: Nadia Hu, buyer (you) Role B: Mr Kim, sales representative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(Nadia): Mr Kim, thank you for the proposal. The price is higher than we expected.</a:t>
            </a:r>
          </a:p>
          <a:p>
            <a:r>
              <a:t>B (Mr Kim): It reflects the quality and support. What number did you have in mind?</a:t>
            </a:r>
          </a:p>
          <a:p>
            <a:r>
              <a:t>A: We were thinking of £40,000 a year. What would it take to get there?</a:t>
            </a:r>
          </a:p>
          <a:p>
            <a:r>
              <a:t>B: That’s quite a drop. I could do £46,000 on a standard contract.</a:t>
            </a:r>
          </a:p>
          <a:p>
            <a:r>
              <a:t>A: If we signed for three years, would you be willing to go lower?</a:t>
            </a:r>
          </a:p>
          <a:p>
            <a:r>
              <a:t>B: A three-year commitment would make a difference. I could offer £43,000.</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We’d also need free training for ten staff.</a:t>
            </a:r>
          </a:p>
          <a:p>
            <a:r>
              <a:t>B: Hmm. Training is expensive. I could include five places.</a:t>
            </a:r>
          </a:p>
          <a:p>
            <a:r>
              <a:t>A: Could we meet halfway? £42,000 with seven training places.</a:t>
            </a:r>
          </a:p>
          <a:p>
            <a:r>
              <a:t>B: Let me check with my manager. I think we can find a middle ground.</a:t>
            </a:r>
          </a:p>
          <a:p>
            <a:r>
              <a:t>A: Thank you. If we agree today, I can confirm the order this week.</a:t>
            </a:r>
          </a:p>
          <a:p>
            <a:r>
              <a:t>B: That’s helpful. I’ll come back to you within the hour.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55 | </a:t>
            </a:r>
          </a:p>
          <a:p>
            <a:r>
              <a:t>Situation | You bargain over price and terms.</a:t>
            </a:r>
          </a:p>
          <a:p>
            <a:r>
              <a:t>Your role (A) | Buyer. Target: ______________</a:t>
            </a:r>
          </a:p>
          <a:p>
            <a:r>
              <a:t>Partner’s role (B) | Seller. Price: ______________</a:t>
            </a:r>
          </a:p>
          <a:p>
            <a:r>
              <a:t>Must use (4 or more) | what would it take · if you could · meet halfway · middle ground · counter-offer · commit</a:t>
            </a:r>
          </a:p>
          <a:p>
            <a:r>
              <a:t>Goal | Ask what is possible, make conditional offers and settle on a compromise.</a:t>
            </a:r>
          </a:p>
          <a:p>
            <a:r>
              <a:t>My notes | ____________________________________________</a:t>
            </a:r>
          </a:p>
          <a:p>
            <a:r>
              <a:t>Mr Kim says: “That’s my final offer.” Respond.</a:t>
            </a:r>
          </a:p>
          <a:p>
            <a:r>
              <a:t>Break a deadlock by putting a new option on the table.</a:t>
            </a:r>
          </a:p>
          <a:p>
            <a:r>
              <a:t>Summarise the agreement in three sentences.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it better to be tough or friendly in a negotiation? | “I’d say a mix: firm on… but…”</a:t>
            </a:r>
          </a:p>
          <a:p>
            <a:r>
              <a:t>2. What mistakes do people make in negotiations? | “A common mistake is… / Many people…”</a:t>
            </a:r>
          </a:p>
          <a:p>
            <a:r>
              <a:t>3. Is it appropriate to negotiate everything? | “Not necessarily… / It depends on the culture.”</a:t>
            </a:r>
          </a:p>
          <a:p>
            <a:r>
              <a:t>4. How do you handle a negotiator who is aggressive? | “I’d stay calm and…”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“With an aggressive negotiator, I’d stay calm and avoid reacting emotionally. I’d acknowledge their position, for example “I understand this is important to you”, and then bring the discussion back to the facts and shared interests. If the pressure continues, I’d suggest taking a short break. Sometimes people use aggression as a tactic, and it loses power when you don’t respond to it.”</a:t>
            </a:r>
          </a:p>
          <a:p>
            <a:r>
              <a:t>acknowledge = 承认/认可。”bring… back to” = 把……拉回。tactic = 策略。”loses power” = 失去效力。</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Your price is too high. | The price is a bit above our budget. | 委婉</a:t>
            </a:r>
          </a:p>
          <a:p>
            <a:r>
              <a:t>We cannot accept. | I’m afraid that doesn’t work for us. | 委婉</a:t>
            </a:r>
          </a:p>
          <a:p>
            <a:r>
              <a:t>Give us a discount. | Is there any flexibility on the price? | 礼貌</a:t>
            </a:r>
          </a:p>
          <a:p>
            <a:r>
              <a:t>OK, deal. | That sounds acceptable. Shall we confirm? | 正式</a:t>
            </a:r>
          </a:p>
          <a:p>
            <a:r>
              <a:t>Let me think. | Let me check with my team and get back to you. | 缓冲</a:t>
            </a:r>
          </a:p>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Conditional offers: If you…, we’ll… (real possibility) / If you were to…, we would… (more formal, less certain).</a:t>
            </a:r>
          </a:p>
          <a:p>
            <a:r>
              <a:t>Softening refusals: I’m afraid…, Unfortunately…, With respect…</a:t>
            </a:r>
          </a:p>
          <a:p>
            <a:r>
              <a:t>Checking agreement: Are we agreed on…? Can we take that as agreed?</a:t>
            </a:r>
          </a:p>
          <a:p>
            <a:r>
              <a:t>Making a counter-proposal: How about…? What if we…? Could we consider…?</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If you will reduce the price, we will sign.  →  ✓ If you reduce the price, we will sign.  (if 从句用现在时)</a:t>
            </a:r>
          </a:p>
          <a:p>
            <a:r>
              <a:t>✗ I can give you 10% discount.  →  ✓ I can give you a 10% discount.  (冠词)</a:t>
            </a:r>
          </a:p>
          <a:p>
            <a:r>
              <a:t>✗ We agree with your proposal.  →  ✓ We agree to your proposal.  (agree to + 提议)</a:t>
            </a:r>
          </a:p>
          <a:p>
            <a:r>
              <a:t>Mistake Watch: Check if + present in conditionals, articles with discount, and agree to / with.</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 is no possible.  →  ✓ That isn’t possible.  (否定)</a:t>
            </a:r>
          </a:p>
          <a:p>
            <a:r>
              <a:t>✗ Can you lower the price little?  →  ✓ Could you lower the price a little?  (a little)</a:t>
            </a:r>
          </a:p>
          <a:p>
            <a:r>
              <a:t>✗ We are in a deadlock since Monday.  →  ✓ We have been in deadlock since Monday.  (完成时 + since)</a:t>
            </a:r>
          </a:p>
          <a:p>
            <a:r>
              <a:t>Mistake Watch: Check if + present in conditionals, articles with discount, and agree to / with.</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Haggling: In some markets haggling is expected, but in most Western B2B contexts negotiation is more structured.</a:t>
            </a:r>
          </a:p>
          <a:p>
            <a:r>
              <a:t>Concessions: Make small concessions slowly. Large early concessions teach the other side to push harder.</a:t>
            </a:r>
          </a:p>
          <a:p>
            <a:r>
              <a:t>Follow-up: Always confirm agreements in writing afterwards.</a:t>
            </a:r>
          </a:p>
          <a:p>
            <a:r>
              <a:t>if 从句不用 will(If you reduce…, we will…)。agree to + 提议,agree with + 人/观点。a 10% discount 要加冠词。</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make conditional offers and counter-offers.</a:t>
            </a:r>
          </a:p>
          <a:p>
            <a:r>
              <a:t>I can respond to a refusal diplomatically.</a:t>
            </a:r>
          </a:p>
          <a:p>
            <a:r>
              <a:t>I can use idioms such as meet halfway and split the difference.</a:t>
            </a:r>
          </a:p>
          <a:p>
            <a:r>
              <a:t>I can use first/second conditionals and agree to / with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first conditional (if + present), agree to / with, and articles with discount.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56 · Hardball Negotiation Tactics 识破谈判中的强硬策略</a:t>
            </a:r>
          </a:p>
          <a:p>
            <a:r>
              <a:t>Goal: recognise common hardball tactics (high-low, good cop/bad cop, deadlines, nibbling) and respond calmly and professionally.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hardball = 强硬手段。nibble = 零敲碎打地提要求。第 3 题 take it or leave it = 要么接受要么拉倒。</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Respond to a pressure tactic without losing the relationship.</a:t>
            </a:r>
          </a:p>
          <a:p>
            <a:r>
              <a:t>Say: recognise → stay calm → name it politely → refocus on interests → suggest next step</a:t>
            </a:r>
          </a:p>
          <a:p>
            <a:r>
              <a:t>Useful starters: “I’d like to take a moment to consider that.” / “I’m not comfortable deciding under pressure.” / “Can we revisit the numbers?”</a:t>
            </a:r>
          </a:p>
          <a:p>
            <a:r>
              <a:t>I’m not comfortable… 礼貌地拒绝压力。revisit = 重新审视。take a moment = 稍作思考。</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Not everyone negotiates in good faith. Some use pressure tactics designed to rush you into a poor decision. A common one is the artificial deadline: “This price is only valid until five o’clock.” Another is good cop, bad cop, where one person is aggressive and the other appears reasonable, so that you feel relieved to agree with the friendly one. Some negotiators nibble: after the deal is almost done, they ask for one small extra, and then another. Others start with an extreme demand to make their real position seem moderate. The best defence is calm. Do not respond immediately. Ask questions, test whether the deadline is real and be prepared to walk away. Naming the tactic politely can also help: “It sounds like you need an answer today. Let me see what I can do.”</a:t>
            </a:r>
          </a:p>
          <a:p>
            <a:r>
              <a:t>in good faith = 诚信地。artificial = 人为的。relieved = 松一口气的。moderate = 适度的。</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an artificial deadline?</a:t>
            </a:r>
          </a:p>
          <a:p>
            <a:r>
              <a:t>A: A false time limit to rush you into a decision.</a:t>
            </a:r>
          </a:p>
          <a:p>
            <a:r>
              <a:t>Q2. What is “nibbling”?</a:t>
            </a:r>
          </a:p>
          <a:p>
            <a:r>
              <a:t>A: Asking for small extras after the deal is almost done.</a:t>
            </a:r>
          </a:p>
          <a:p>
            <a:r>
              <a:t>Q3. What is the best defence?</a:t>
            </a:r>
          </a:p>
          <a:p>
            <a:r>
              <a:t>A: Staying calm, asking questions, testing the deadline and being ready to walk away.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Pressure tactics 施压策略</a:t>
            </a:r>
          </a:p>
          <a:p>
            <a:r>
              <a:t>领读 → 学员跟读 → 请学员用表达造一个和自己工作相关的句子。</a:t>
            </a:r>
          </a:p>
          <a:p>
            <a:r>
              <a:t>ultimatum (noun) 最后通牒 — “They gave us an ultimatum.”</a:t>
            </a:r>
          </a:p>
          <a:p>
            <a:r>
              <a:t>pressure (noun / verb) 压力 / 施压 — “They put pressure on us.”</a:t>
            </a:r>
          </a:p>
          <a:p>
            <a:r>
              <a:t>bluff (noun / verb) 虚张声势 — “I think he’s bluffing.”</a:t>
            </a:r>
          </a:p>
          <a:p>
            <a:r>
              <a:t>demand (noun / verb) 要求 — “They made unreasonable demands.”</a:t>
            </a:r>
          </a:p>
          <a:p>
            <a:r>
              <a:t>take it or leave it (idiom) 要么接受要么拉倒 — “It’s take it or leave it.”</a:t>
            </a:r>
          </a:p>
          <a:p>
            <a:r>
              <a:t>final offer (noun) 最终报价 — “This is our final offer.”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Responding calmly ★ 冷静应对</a:t>
            </a:r>
          </a:p>
          <a:p>
            <a:r>
              <a:t>领读 → 学员跟读 → 请学员用表达造一个和自己工作相关的句子。</a:t>
            </a:r>
          </a:p>
          <a:p>
            <a:r>
              <a:t>★ call someone’s bluff (idiom) 揭穿虚张声势 — “We called their bluff, and they backed down.”</a:t>
            </a:r>
          </a:p>
          <a:p>
            <a:r>
              <a:t>★ back down (phrasal verb) 让步 — “They backed down on price.”</a:t>
            </a:r>
          </a:p>
          <a:p>
            <a:r>
              <a:t>★ stand your ground (idiom) 坚持立场 — “We stood our ground.”</a:t>
            </a:r>
          </a:p>
          <a:p>
            <a:r>
              <a:t>★ play for time (idiom) 拖延时间 — “He’s playing for time.”</a:t>
            </a:r>
          </a:p>
          <a:p>
            <a:r>
              <a:t>★ raise the stakes (idiom) 加大筹码 — “They raised the stakes by threatening to leave.”</a:t>
            </a:r>
          </a:p>
          <a:p>
            <a:r>
              <a:t>★ hold firm (collocation) 坚守立场 — “We held firm on quality.”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ultimatum / bluffing / Take it or leave it / call their bluff / stand our ground / raised the stakes</a:t>
            </a:r>
          </a:p>
          <a:p>
            <a:r>
              <a:t>1. They gave us an _______: sign today or lose the deal. → ultimatum</a:t>
            </a:r>
          </a:p>
          <a:p>
            <a:r>
              <a:t>2. I don’t think he’ll walk away; he’s probably _______. → bluffing</a:t>
            </a:r>
          </a:p>
          <a:p>
            <a:r>
              <a:t>3. “£50,000. _______.” That’s their final position. → Take it or leave it</a:t>
            </a:r>
          </a:p>
          <a:p>
            <a:r>
              <a:t>4. If we _______, they might back down. → call their bluff</a:t>
            </a:r>
          </a:p>
          <a:p>
            <a:r>
              <a:t>5. We decided to _______ and not accept lower quality. → stand our ground</a:t>
            </a:r>
          </a:p>
          <a:p>
            <a:r>
              <a:t>6. The threat of a lawsuit _______ in the talks. → raised the stakes</a:t>
            </a:r>
          </a:p>
          <a:p>
            <a:r>
              <a:t>Mistake Watch (拼写与搭配): ultimatum (not “ultimatom”), pressure, tactic (not “tatic”). Put pressure on sb, under pressure. Bluff (verb): “He is bluffing.” Back down (not “back off down”). Insist on + -ing (not “insist to”).</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Responding to a deadline tactic 回应限时施压</a:t>
            </a:r>
          </a:p>
          <a:p>
            <a:r>
              <a:t>情景：A supplier, Mr Dunn, says his offer expires at the end of the day. You think it’s a tactic.</a:t>
            </a:r>
          </a:p>
          <a:p>
            <a:r>
              <a:t>Role A: Fay Liu, buyer (you) Role B: Mr Dunn, supplier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(Fay): Mr Dunn, thanks for the revised quote. I understand the offer expires today.</a:t>
            </a:r>
          </a:p>
          <a:p>
            <a:r>
              <a:t>B (Mr Dunn): That’s right. The price is only valid until five. After that it goes up 8%.</a:t>
            </a:r>
          </a:p>
          <a:p>
            <a:r>
              <a:t>A: I see. Can I ask why it needs to be today?</a:t>
            </a:r>
          </a:p>
          <a:p>
            <a:r>
              <a:t>B: Our costs are changing, and I can’t guarantee anything tomorrow.</a:t>
            </a:r>
          </a:p>
          <a:p>
            <a:r>
              <a:t>A: I appreciate that. But I’m not comfortable deciding under pressure on a contract this size.</a:t>
            </a:r>
          </a:p>
          <a:p>
            <a:r>
              <a:t>B: I’m just being straightforward with you.</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understand. Could we agree to hold the price until Friday? That would give me time to review it with my team.</a:t>
            </a:r>
          </a:p>
          <a:p>
            <a:r>
              <a:t>B: That’s difficult. I’d have to ask my manager.</a:t>
            </a:r>
          </a:p>
          <a:p>
            <a:r>
              <a:t>A: Please do. If it’s not possible, we may have to look at other options.</a:t>
            </a:r>
          </a:p>
          <a:p>
            <a:r>
              <a:t>B: Let me see what I can do. I might be able to extend it to Thursday.</a:t>
            </a:r>
          </a:p>
          <a:p>
            <a:r>
              <a:t>A: That would help. Thank you for being flexible.</a:t>
            </a:r>
          </a:p>
          <a:p>
            <a:r>
              <a:t>B: I’ll confirm by email within the hour.</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56 | </a:t>
            </a:r>
          </a:p>
          <a:p>
            <a:r>
              <a:t>Situation | You respond to a pressure tactic.</a:t>
            </a:r>
          </a:p>
          <a:p>
            <a:r>
              <a:t>Your role (A) | Buyer. Deadline offer: ______________</a:t>
            </a:r>
          </a:p>
          <a:p>
            <a:r>
              <a:t>Partner’s role (B) | Seller. Presses for fast decision.</a:t>
            </a:r>
          </a:p>
          <a:p>
            <a:r>
              <a:t>Must use (4 or more) | valid until · I’m not comfortable · revisit · hold the price · other options · extend</a:t>
            </a:r>
          </a:p>
          <a:p>
            <a:r>
              <a:t>Goal | Stay calm, test the deadline and ask for more time.</a:t>
            </a:r>
          </a:p>
          <a:p>
            <a:r>
              <a:t>My notes | ____________________________________________</a:t>
            </a:r>
          </a:p>
          <a:p>
            <a:r>
              <a:t>Mr Dunn says: “My colleague will be more difficult than me.” Respond.</a:t>
            </a:r>
          </a:p>
          <a:p>
            <a:r>
              <a:t>A negotiator keeps adding small requests. Say stop politely.</a:t>
            </a:r>
          </a:p>
          <a:p>
            <a:r>
              <a:t>Explain in 30 seconds how you would handle a “take it or leave it” offer.</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pressure tactics have you seen? | “I’ve seen… for example when…”</a:t>
            </a:r>
          </a:p>
          <a:p>
            <a:r>
              <a:t>2. Is it ethical to use tactics like bluffing? | “I think it’s questionable because… / Some argue that…”</a:t>
            </a:r>
          </a:p>
          <a:p>
            <a:r>
              <a:t>3. How can you protect yourself against manipulation? | “By preparing… / Staying calm…”</a:t>
            </a:r>
          </a:p>
          <a:p>
            <a:r>
              <a:t>4. Should you walk away from an aggressive negotiator? | “Sometimes yes, if… / It depends 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bluffing is questionable because it relies on deception and can destroy trust if it’s discovered. Negotiators who bluff may win once, but they risk their reputation, which matters if you want long-term partners. That said, keeping your limits private is not the same as lying. It’s fine not to reveal your bottom line, but it’s wrong to invent a competing offer that doesn’t exist.”</a:t>
            </a:r>
          </a:p>
          <a:p>
            <a:r>
              <a:t>deception = 欺骗。”relies on” = 依赖。reputation = 声誉。”That said” = 话虽如此。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You are lying. | I’m not sure that’s the full picture. | 委婉质疑</a:t>
            </a:r>
          </a:p>
          <a:p>
            <a:r>
              <a:t>Don’t push me. | I’d rather not rush this decision. | 礼貌</a:t>
            </a:r>
          </a:p>
          <a:p>
            <a:r>
              <a:t>Your offer is trash. | That’s well below what we had in mind. | 不贬低</a:t>
            </a:r>
          </a:p>
          <a:p>
            <a:r>
              <a:t>I won’t talk with him. | I’d prefer to continue with someone who has decision-making authority. | 专业</a:t>
            </a:r>
          </a:p>
          <a:p>
            <a:r>
              <a:t>Stop adding things. | We agreed the package earlier; I’d like to keep it as it is. | 坚定</a:t>
            </a:r>
          </a:p>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Politely firm language: I’m afraid I can’t…, I’d prefer not to…, That doesn’t work for us.</a:t>
            </a:r>
          </a:p>
          <a:p>
            <a:r>
              <a:t>Passive for avoidance of blame: “The price is only valid until five.” / “The terms were agreed last week.”</a:t>
            </a:r>
          </a:p>
          <a:p>
            <a:r>
              <a:t>Reported speech: “He said the offer would expire today.”</a:t>
            </a:r>
          </a:p>
          <a:p>
            <a:r>
              <a:t>Modals of possibility: He might be bluffing, It could be a tactic, They may need an answer.</a:t>
            </a:r>
          </a:p>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insisted me to sign.  →  ✓ He insisted that I sign. / He insisted on me signing.  (insist that)</a:t>
            </a:r>
          </a:p>
          <a:p>
            <a:r>
              <a:t>✗ I’m not agree with you.  →  ✓ I don’t agree.  (agree 动词)</a:t>
            </a:r>
          </a:p>
          <a:p>
            <a:r>
              <a:t>✗ They put me pressure.  →  ✓ They put pressure on me.  (put pressure on)</a:t>
            </a:r>
          </a:p>
          <a:p>
            <a:r>
              <a:t>Mistake Watch: Check say / tell, insist that, and in a rush.</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said me the offer was limited.  →  ✓ He told me the offer was limited.  (say/tell)</a:t>
            </a:r>
          </a:p>
          <a:p>
            <a:r>
              <a:t>✗ We can’t decide in rush.  →  ✓ We can’t decide in a rush. / We can’t decide in haste.  (in a rush)</a:t>
            </a:r>
          </a:p>
          <a:p>
            <a:r>
              <a:t>✗ It’s not honest negotiation.  →  ✓ That’s not an honest way to negotiate.  (地道)</a:t>
            </a:r>
          </a:p>
          <a:p>
            <a:r>
              <a:t>Mistake Watch: Check say / tell, insist that, and in a rush.</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Ethics: Many companies have codes of conduct about negotiating honestly. Know your own limits.</a:t>
            </a:r>
          </a:p>
          <a:p>
            <a:r>
              <a:t>Cultural differences: Deadlines may be real or a tactic. In some cultures, urgency is built into the negotiation style.</a:t>
            </a:r>
          </a:p>
          <a:p>
            <a:r>
              <a:t>Take time: Saying “I’ll get back to you” is entirely normal in business.</a:t>
            </a:r>
          </a:p>
          <a:p>
            <a:r>
              <a:t>say 与 tell 区别:tell sb sth;say sth (to sb)。insist that + 动词原形。put pressure on sb。应对施压的最好办法是冷静、争取时间、问问题。</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recognise common hardball tactics.</a:t>
            </a:r>
          </a:p>
          <a:p>
            <a:r>
              <a:t>I can respond to pressure calmly and politely.</a:t>
            </a:r>
          </a:p>
          <a:p>
            <a:r>
              <a:t>I can use say / tell and reported speech correctly.</a:t>
            </a:r>
          </a:p>
          <a:p>
            <a:r>
              <a:t>I can use idioms such as call their bluff and stand our ground.</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say / tell, reported speech, and put pressure on.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57 · Getting Down to the Nitty-Gritty 深入细节</a:t>
            </a:r>
          </a:p>
          <a:p>
            <a:r>
              <a:t>Goal: discuss specific details of a deal: prices, quantities, delivery, payment terms and responsibilities, using precise language to avoid misunderstanding.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nitty-gritty = 具体细节/关键细节。第 2 题答案常含 “assume/assumption”。clarify = 澄清。</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Agree the detailed terms of a supply deal.</a:t>
            </a:r>
          </a:p>
          <a:p>
            <a:r>
              <a:t>Say: quantities → price → delivery → payment → responsibilities → confirm</a:t>
            </a:r>
          </a:p>
          <a:p>
            <a:r>
              <a:t>Useful starters: “Let’s go through the details.” / “Just to clarify…” / “So, to confirm…”</a:t>
            </a:r>
          </a:p>
          <a:p>
            <a:r>
              <a:t>Just to clarify = 确认一下。To confirm = 总结确认。重复数字和日期是好习惯。</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After the big decisions are agreed, many deals still fall apart over small things. Who pays for shipping? What happens if goods arrive damaged? Is the price quoted before or after tax? Misunderstandings often arise because each side assumes something different. Careful negotiators go through each point methodically: quantity, quality, price, delivery date, payment terms, and who is responsible when something goes wrong. They repeat key numbers and dates aloud, ask clarifying questions and write down what has been agreed. It also helps to confirm in writing the same day. This may feel slow, but it saves time later. When a detail cannot be agreed, it is better to say so openly and mark it as an open point than to leave it vague and hope for the best.</a:t>
            </a:r>
          </a:p>
          <a:p>
            <a:r>
              <a:t>methodically = 有条理地。”fall apart” = 破裂。quote = 报价。vague = 模糊的。</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do deals sometimes fall apart over small things?</a:t>
            </a:r>
          </a:p>
          <a:p>
            <a:r>
              <a:t>A: Each side assumes something different about details such as shipping or damages.</a:t>
            </a:r>
          </a:p>
          <a:p>
            <a:r>
              <a:t>Q2. What do careful negotiators do?</a:t>
            </a:r>
          </a:p>
          <a:p>
            <a:r>
              <a:t>A: Go through each point, repeat numbers and dates, ask questions and write things down.</a:t>
            </a:r>
          </a:p>
          <a:p>
            <a:r>
              <a:t>Q3. What should be done with a detail that cannot be agreed?</a:t>
            </a:r>
          </a:p>
          <a:p>
            <a:r>
              <a:t>A: Say so openly and mark it as an open point.</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Terms of a deal 交易条款</a:t>
            </a:r>
          </a:p>
          <a:p>
            <a:r>
              <a:t>领读 → 学员跟读 → 请学员用表达造一个和自己工作相关的句子。</a:t>
            </a:r>
          </a:p>
          <a:p>
            <a:r>
              <a:t>unit price (noun) 单价 — “The unit price is £12.”</a:t>
            </a:r>
          </a:p>
          <a:p>
            <a:r>
              <a:t>quantity (noun) 数量 — “The minimum quantity is 500.”</a:t>
            </a:r>
          </a:p>
          <a:p>
            <a:r>
              <a:t>delivery date (noun) 交货日期 — “The delivery date is 15 March.”</a:t>
            </a:r>
          </a:p>
          <a:p>
            <a:r>
              <a:t>payment terms (noun) 付款条件 — “Our payment terms are 30 days.”</a:t>
            </a:r>
          </a:p>
          <a:p>
            <a:r>
              <a:t>warranty (noun) 保修 — “There is a two-year warranty.”</a:t>
            </a:r>
          </a:p>
          <a:p>
            <a:r>
              <a:t>liability (noun) 责任 — “The supplier has liability for damages.”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Clarifying and confirming ★ 澄清与确认</a:t>
            </a:r>
          </a:p>
          <a:p>
            <a:r>
              <a:t>领读 → 学员跟读 → 请学员用表达造一个和自己工作相关的句子。</a:t>
            </a:r>
          </a:p>
          <a:p>
            <a:r>
              <a:t>★ to be clear (phrase) 说明白一点 — “To be clear, shipping is included.”</a:t>
            </a:r>
          </a:p>
          <a:p>
            <a:r>
              <a:t>★ spell out (phrasal verb) 详细说明 — “Let me spell out the terms.”</a:t>
            </a:r>
          </a:p>
          <a:p>
            <a:r>
              <a:t>★ iron out (phrasal verb) 解决(细节问题) — “We need to iron out a few details.”</a:t>
            </a:r>
          </a:p>
          <a:p>
            <a:r>
              <a:t>★ in writing (phrase) 书面 — “Please confirm in writing.”</a:t>
            </a:r>
          </a:p>
          <a:p>
            <a:r>
              <a:t>★ subject to (phrase) 取决于/以……为条件 — “The price is subject to approval.”</a:t>
            </a:r>
          </a:p>
          <a:p>
            <a:r>
              <a:t>★ ballpark figure (idiom) 大致数字 — “Can you give me a ballpark figure?”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unit price / quantity / payment terms / warranty / subject to / iron out</a:t>
            </a:r>
          </a:p>
          <a:p>
            <a:r>
              <a:t>1. The _______ is £12, excluding tax. → unit price</a:t>
            </a:r>
          </a:p>
          <a:p>
            <a:r>
              <a:t>2. We need a minimum _______ of 500 units. → quantity</a:t>
            </a:r>
          </a:p>
          <a:p>
            <a:r>
              <a:t>3. Our standard _______ are 30 days from the invoice date. → payment terms</a:t>
            </a:r>
          </a:p>
          <a:p>
            <a:r>
              <a:t>4. The product comes with a two-year _______. → warranty</a:t>
            </a:r>
          </a:p>
          <a:p>
            <a:r>
              <a:t>5. The offer is _______ contract approval. → subject to</a:t>
            </a:r>
          </a:p>
          <a:p>
            <a:r>
              <a:t>6. We still need to _______ a few details. → iron out</a:t>
            </a:r>
          </a:p>
          <a:p>
            <a:r>
              <a:t>Mistake Watch (拼写与搭配): quantity, warranty (not “warrenty”), liability (not “liabilty”). Per unit, a unit price. Exclude / include tax (VAT in UK). Deliver on a date / by a date. Quote a price, give a quote. Say numbers clearly: 15 vs 50 (“fifteen” vs “fifty”).</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Agreeing detailed terms 商定具体条款</a:t>
            </a:r>
          </a:p>
          <a:p>
            <a:r>
              <a:t>情景：You and a supplier’s representative go through the details of an order.</a:t>
            </a:r>
          </a:p>
          <a:p>
            <a:r>
              <a:t>Role A: Ola Wu, buyer (you) Role B: Mr Hart, supplier representative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(Ola): Mr Hart, now that we’ve agreed the headline price, shall we go through the details?</a:t>
            </a:r>
          </a:p>
          <a:p>
            <a:r>
              <a:t>B (Mr Hart): Of course. Quantity first?</a:t>
            </a:r>
          </a:p>
          <a:p>
            <a:r>
              <a:t>A: Yes. Just to clarify, we want 2,000 units in the first order, then 1,000 per month.</a:t>
            </a:r>
          </a:p>
          <a:p>
            <a:r>
              <a:t>B: Understood. The unit price is £14, excluding VAT.</a:t>
            </a:r>
          </a:p>
          <a:p>
            <a:r>
              <a:t>A: To be clear, that includes delivery to our warehouse?</a:t>
            </a:r>
          </a:p>
          <a:p>
            <a:r>
              <a:t>B: Delivery is extra. It’s £300 per shipment.</a:t>
            </a:r>
          </a:p>
          <a:p>
            <a:r>
              <a:t>A: Hmm. Could we include delivery for orders over 1,500 units?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I can do that for the first order only.</a:t>
            </a:r>
          </a:p>
          <a:p>
            <a:r>
              <a:t>A: Fine. What about payment terms?</a:t>
            </a:r>
          </a:p>
          <a:p>
            <a:r>
              <a:t>B: Thirty days from invoice.</a:t>
            </a:r>
          </a:p>
          <a:p>
            <a:r>
              <a:t>A: Could we say forty-five? That would help our cash flow.</a:t>
            </a:r>
          </a:p>
          <a:p>
            <a:r>
              <a:t>B: I’d need to check, but I think we can agree to forty-five for this year.</a:t>
            </a:r>
          </a:p>
          <a:p>
            <a:r>
              <a:t>A: Great. So, to confirm: 2,000 units at £14, free delivery on the first order and forty-five days to pay. I’ll send this by email today.</a:t>
            </a:r>
          </a:p>
          <a:p>
            <a:r>
              <a:t>B: Correct. Please include the warranty clause too.</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57 | </a:t>
            </a:r>
          </a:p>
          <a:p>
            <a:r>
              <a:t>Situation | You agree the details of an order.</a:t>
            </a:r>
          </a:p>
          <a:p>
            <a:r>
              <a:t>Your role (A) | Buyer. Order: ______________</a:t>
            </a:r>
          </a:p>
          <a:p>
            <a:r>
              <a:t>Partner’s role (B) | Supplier. Know your price, delivery and payment terms.</a:t>
            </a:r>
          </a:p>
          <a:p>
            <a:r>
              <a:t>Must use (4 or more) | just to clarify · to confirm · unit price · delivery · payment terms · in writing</a:t>
            </a:r>
          </a:p>
          <a:p>
            <a:r>
              <a:t>Goal | Go through each term, clarify and confirm in writing.</a:t>
            </a:r>
          </a:p>
          <a:p>
            <a:r>
              <a:t>My notes | ____________________________________________</a:t>
            </a:r>
          </a:p>
          <a:p>
            <a:r>
              <a:t>Mr Hart changes a price you had agreed. Respond.</a:t>
            </a:r>
          </a:p>
          <a:p>
            <a:r>
              <a:t>Read numbers aloud correctly: 15, 50, 1,250, 0.5%, £3.99.</a:t>
            </a:r>
          </a:p>
          <a:p>
            <a:r>
              <a:t>Write a confirmation email with five key terms.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Why are details so important in business agreements? | “Because misunderstandings can lead to… / Small details can…”</a:t>
            </a:r>
          </a:p>
          <a:p>
            <a:r>
              <a:t>2. How do you avoid misunderstandings? | “I repeat… and confirm… / I put things in writing.”</a:t>
            </a:r>
          </a:p>
          <a:p>
            <a:r>
              <a:t>3. What happens if one side doesn’t deliver as agreed? | “There may be penalties… / The contract should state…”</a:t>
            </a:r>
          </a:p>
          <a:p>
            <a:r>
              <a:t>4. Should everything be written down? | “Ideally yes, because… / Except for…”</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“Details matter because most business disputes arise from differences in what each side believed was agreed. If the contract is vague about delivery dates, quality standards or who pays for damaged goods, each party can interpret it in its own favour. Clear terms protect both sides, save time and preserve the relationship, because there is less room for argument.”</a:t>
            </a:r>
          </a:p>
          <a:p>
            <a:r>
              <a:t>dispute = 争议。”in its own favour” = 对自己有利。preserve = 保护。”room for argument” = 争论的余地。</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What’s the price? | Could you confirm the unit price? | 礼貌</a:t>
            </a:r>
          </a:p>
          <a:p>
            <a:r>
              <a:t>When do you send? | What’s the delivery date? | 完整</a:t>
            </a:r>
          </a:p>
          <a:p>
            <a:r>
              <a:t>Pay later. | Could we extend the payment terms? | 专业</a:t>
            </a:r>
          </a:p>
          <a:p>
            <a:r>
              <a:t>Is it OK? | Is that agreed? / Can we take that as agreed? | 确认</a:t>
            </a:r>
          </a:p>
          <a:p>
            <a:r>
              <a:t>Write it. | Could you put that in writing? | 礼貌</a:t>
            </a:r>
          </a:p>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Saying numbers: £14.50 = “fourteen pounds fifty”; 0.5% = “zero point five per cent”; 2,000 = “two thousand”.</a:t>
            </a:r>
          </a:p>
          <a:p>
            <a:r>
              <a:t>Dates: 15 March (UK) = “the fifteenth of March”; 3/15 (US) = “March fifteenth”.</a:t>
            </a:r>
          </a:p>
          <a:p>
            <a:r>
              <a:t>Clarifying: Do you mean…? / So, if I understand correctly… / Could you spell that out?</a:t>
            </a:r>
          </a:p>
          <a:p>
            <a:r>
              <a:t>Subject to: “Subject to approval, we’ll sign next week.”</a:t>
            </a:r>
          </a:p>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delivery will arrive in Monday.  →  ✓ The delivery will arrive on Monday.  (on + 日期)</a:t>
            </a:r>
          </a:p>
          <a:p>
            <a:r>
              <a:t>✗ I will send to you the details.  →  ✓ I will send you the details.  (send sb sth)</a:t>
            </a:r>
          </a:p>
          <a:p>
            <a:r>
              <a:t>✗ We need the payment until Friday.  →  ✓ We need the payment by Friday.  (by vs until)</a:t>
            </a:r>
          </a:p>
          <a:p>
            <a:r>
              <a:t>Mistake Watch: Check prepositions with dates, by / until, and include (transitive).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price includes of delivery.  →  ✓ The price includes delivery.  (include 及物)</a:t>
            </a:r>
          </a:p>
          <a:p>
            <a:r>
              <a:t>✗ The contract is depend on approval.  →  ✓ The contract depends on approval.  (动词形式)</a:t>
            </a:r>
          </a:p>
          <a:p>
            <a:r>
              <a:t>✗ The quantity are 500.  →  ✓ The quantity is 500.  (单数)</a:t>
            </a:r>
          </a:p>
          <a:p>
            <a:r>
              <a:t>Mistake Watch: Check prepositions with dates, by / until, and include (transitive).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Dates: UK 15/03/2026 vs US 03/15/2026. Write the month in words in international contracts to avoid mistakes.</a:t>
            </a:r>
          </a:p>
          <a:p>
            <a:r>
              <a:t>VAT / tax: Always state whether prices include or exclude tax.</a:t>
            </a:r>
          </a:p>
          <a:p>
            <a:r>
              <a:t>Incoterms: International trade uses standard terms (e.g. FOB, CIF) for delivery responsibilities.</a:t>
            </a:r>
          </a:p>
          <a:p>
            <a:r>
              <a:t>on Monday,in March,by Friday(不迟于)/ until Friday(持续到)。include 是及物动词,后面不加 of。日期格式英美不同,国际文件把月份写成英文单词更安全。</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discuss detailed terms (price, quantity, delivery, payment).</a:t>
            </a:r>
          </a:p>
          <a:p>
            <a:r>
              <a:t>I can clarify and confirm with polite phrases.</a:t>
            </a:r>
          </a:p>
          <a:p>
            <a:r>
              <a:t>I can say numbers and dates clearly.</a:t>
            </a:r>
          </a:p>
          <a:p>
            <a:r>
              <a:t>I can use prepositions of time and by / until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prepositions of time, by / until, and verbs followed directly by objects (include).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58 · Reaching Agreement 达成一致</a:t>
            </a:r>
          </a:p>
          <a:p>
            <a:r>
              <a:t>Goal: close a negotiation: summarise the agreement, confirm commitments, deal with last-minute issues and build relationship after the deal.</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close a deal = 达成交易。wrap up = 总结收尾。第 3 题:last-minute = 最后一刻出现的。follow up = 后续跟进。</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Close a negotiation with a summary and next steps.</a:t>
            </a:r>
          </a:p>
          <a:p>
            <a:r>
              <a:t>Say: summarise → check agreement → next steps → thank</a:t>
            </a:r>
          </a:p>
          <a:p>
            <a:r>
              <a:t>Useful starters: “So, if I’ve understood correctly…” / “Shall we shake on it?” / “I’ll send the paperwork by…”</a:t>
            </a:r>
          </a:p>
          <a:p>
            <a:r>
              <a:t>shake on it = 握手成交。If I’ve understood correctly 用于核对。paperwork = 书面文件。</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Reaching agreement is not the end of a negotiation; it is the start of a relationship. The closing stage has three tasks. First, summarise what has been agreed, point by point, so that both sides confirm they have the same understanding. Second, deal with any last-minute problems calmly. If the other party suddenly asks for something new, you can say, “If I include that, I’ll need something in return.” Third, agree the next steps: who prepares the contract, who signs, and by when. Finish on a positive note by thanking the other side and acknowledging the effort they have made. After the meeting, send a short email recording the key points, and then deliver on your promises. Reputation is built after the signature, not before it.</a:t>
            </a:r>
          </a:p>
          <a:p>
            <a:r>
              <a:t>acknowledging = 肯定/感谢。”deliver on promises” = 兑现承诺。last-minute = 最后一刻的。point by point = 逐点。</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are the three closing tasks?</a:t>
            </a:r>
          </a:p>
          <a:p>
            <a:r>
              <a:t>A: Summarise, handle last-minute problems, and agree next steps.</a:t>
            </a:r>
          </a:p>
          <a:p>
            <a:r>
              <a:t>Q2. What can you say if the other side asks for something new at the last minute?</a:t>
            </a:r>
          </a:p>
          <a:p>
            <a:r>
              <a:t>A: “If I include that, I’ll need something in return.”</a:t>
            </a:r>
          </a:p>
          <a:p>
            <a:r>
              <a:t>Q3. When is reputation built?</a:t>
            </a:r>
          </a:p>
          <a:p>
            <a:r>
              <a:t>A: After the signature, by delivering on promises.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Closing language 收尾用语</a:t>
            </a:r>
          </a:p>
          <a:p>
            <a:r>
              <a:t>领读 → 学员跟读 → 请学员用表达造一个和自己工作相关的句子。</a:t>
            </a:r>
          </a:p>
          <a:p>
            <a:r>
              <a:t>agreement (noun) 协议 — “We reached an agreement.”</a:t>
            </a:r>
          </a:p>
          <a:p>
            <a:r>
              <a:t>commitment (noun) 承诺 — “They made a firm commitment.”</a:t>
            </a:r>
          </a:p>
          <a:p>
            <a:r>
              <a:t>next steps (noun phrase) 后续步骤 — “The next steps are clear.”</a:t>
            </a:r>
          </a:p>
          <a:p>
            <a:r>
              <a:t>finalise (verb) 最终确定 — “We’ll finalise the contract next week.”</a:t>
            </a:r>
          </a:p>
          <a:p>
            <a:r>
              <a:t>confirm (verb) 确认 — “I’ll confirm by email.”</a:t>
            </a:r>
          </a:p>
          <a:p>
            <a:r>
              <a:t>deal / agree a deal (noun) 交易 — “We closed the deal.”</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Sealing the deal ★ 促成交易</a:t>
            </a:r>
          </a:p>
          <a:p>
            <a:r>
              <a:t>领读 → 学员跟读 → 请学员用表达造一个和自己工作相关的句子。</a:t>
            </a:r>
          </a:p>
          <a:p>
            <a:r>
              <a:t>★ shake on it (idiom) 握手成交 — “Shall we shake on it?”</a:t>
            </a:r>
          </a:p>
          <a:p>
            <a:r>
              <a:t>★ seal the deal (idiom) 敲定交易 — “The discount sealed the deal.”</a:t>
            </a:r>
          </a:p>
          <a:p>
            <a:r>
              <a:t>★ iron out (phrasal verb) 解决细节 — “We’ll iron out the final details.”</a:t>
            </a:r>
          </a:p>
          <a:p>
            <a:r>
              <a:t>★ come to terms (collocation) 达成条款一致 — “They came to terms on price.”</a:t>
            </a:r>
          </a:p>
          <a:p>
            <a:r>
              <a:t>★ on the same page (idiom) 想法一致 — “I think we’re on the same page.”</a:t>
            </a:r>
          </a:p>
          <a:p>
            <a:r>
              <a:t>★ follow through on (phrasal verb) 落实 — “We follow through on every promise.”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commitment / next steps / finalise / shake on it / seal the deal / follow through</a:t>
            </a:r>
          </a:p>
          <a:p>
            <a:r>
              <a:t>1. They made a strong _______ to deliver on time. → commitment</a:t>
            </a:r>
          </a:p>
          <a:p>
            <a:r>
              <a:t>2. Let’s agree the _______ before we leave. → next steps</a:t>
            </a:r>
          </a:p>
          <a:p>
            <a:r>
              <a:t>3. We will _______ the contract next week. → finalise</a:t>
            </a:r>
          </a:p>
          <a:p>
            <a:r>
              <a:t>4. We agree on all points. Shall we _______? → shake on it</a:t>
            </a:r>
          </a:p>
          <a:p>
            <a:r>
              <a:t>5. A last-minute discount helped to _______. → seal the deal</a:t>
            </a:r>
          </a:p>
          <a:p>
            <a:r>
              <a:t>6. It’s important to _______ on what you promise. → follow through</a:t>
            </a:r>
          </a:p>
          <a:p>
            <a:r>
              <a:t>Mistake Watch (拼写与搭配): agreement (not “aggrement”), commitment (double m, t), finalise (UK; US finalize). Reach / come to an agreement, close / seal a deal. Agree on a price, agree to a proposal. Shake hands / shake on it.</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a negotiation 结束谈判</a:t>
            </a:r>
          </a:p>
          <a:p>
            <a:r>
              <a:t>情景：After a long negotiation you summarise the agreement with a client representative, Ms Reed.</a:t>
            </a:r>
          </a:p>
          <a:p>
            <a:r>
              <a:t>Role A: Alan Tse, sales manager (you) Role B: Ms Reed, client representative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(Alan): Ms Reed, if I’ve understood correctly, we’ve agreed 500 units a month for a year at £18 each.</a:t>
            </a:r>
          </a:p>
          <a:p>
            <a:r>
              <a:t>B (Ms Reed): Yes, with delivery included and payment at forty-five days.</a:t>
            </a:r>
          </a:p>
          <a:p>
            <a:r>
              <a:t>A: Exactly. And the first shipment goes out on 4 November.</a:t>
            </a:r>
          </a:p>
          <a:p>
            <a:r>
              <a:t>B: Correct. There’s one last thing: could you add a free installation visit?</a:t>
            </a:r>
          </a:p>
          <a:p>
            <a:r>
              <a:t>A: If we include that, we’d need a twelve-month commitment rather than a rolling contract.</a:t>
            </a:r>
          </a:p>
          <a:p>
            <a:r>
              <a:t>B: That’s reasonable. We were planning twelve months anyway.</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Then I’m happy to include it. Shall we shake on it?</a:t>
            </a:r>
          </a:p>
          <a:p>
            <a:r>
              <a:t>B: Gladly. I think we’re on the same page.</a:t>
            </a:r>
          </a:p>
          <a:p>
            <a:r>
              <a:t>A: I’ll send the contract by Friday, and you could return it signed by the end of next week.</a:t>
            </a:r>
          </a:p>
          <a:p>
            <a:r>
              <a:t>B: That works. Who should I contact about installation?</a:t>
            </a:r>
          </a:p>
          <a:p>
            <a:r>
              <a:t>A: Our service manager, Bea. I’ll introduce you by email today.</a:t>
            </a:r>
          </a:p>
          <a:p>
            <a:r>
              <a:t>B: Thank you, Alan. It’s been a pleasure working with you.</a:t>
            </a:r>
          </a:p>
          <a:p>
            <a:r>
              <a:t>A: Likewise. We’ll make sure we deliver.</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58 | </a:t>
            </a:r>
          </a:p>
          <a:p>
            <a:r>
              <a:t>Situation | You close a negotiation.</a:t>
            </a:r>
          </a:p>
          <a:p>
            <a:r>
              <a:t>Your role (A) | Seller. Terms: ______________</a:t>
            </a:r>
          </a:p>
          <a:p>
            <a:r>
              <a:t>Partner’s role (B) | Client. Add one last-minute request.</a:t>
            </a:r>
          </a:p>
          <a:p>
            <a:r>
              <a:t>Must use (4 or more) | if I’ve understood correctly · agreed · shake on it · next steps · on the same page · deliver</a:t>
            </a:r>
          </a:p>
          <a:p>
            <a:r>
              <a:t>Goal | Summarise, handle the last request and confirm next steps.</a:t>
            </a:r>
          </a:p>
          <a:p>
            <a:r>
              <a:t>My notes | ____________________________________________</a:t>
            </a:r>
          </a:p>
          <a:p>
            <a:r>
              <a:t>Ms Reed raises another request. Respond with “if… in return”.</a:t>
            </a:r>
          </a:p>
          <a:p>
            <a:r>
              <a:t>Write a short email confirming the agreement.</a:t>
            </a:r>
          </a:p>
          <a:p>
            <a:r>
              <a:t>Explain to a colleague how to follow up after a deal.</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do you close a negotiation successfully? | “I summarise… and confirm…”</a:t>
            </a:r>
          </a:p>
          <a:p>
            <a:r>
              <a:t>2. How important is the relationship after a deal? | “It matters because… / Future deals depend on…”</a:t>
            </a:r>
          </a:p>
          <a:p>
            <a:r>
              <a:t>3. Should agreements always be in writing? | “Yes, because… / Verbal agreements can…”</a:t>
            </a:r>
          </a:p>
          <a:p>
            <a:r>
              <a:t>4. What can go wrong after a deal is agreed? | “Misunderstandings, delays or… / One side may…”</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“Verbal agreements can be binding in some situations, but they’re difficult to prove, so I think important agreements should always be in writing. People remember things differently, and circumstances change. A written contract protects both sides and clarifies what happens if something goes wrong. Even a short confirmation email after a meeting is helpful, because it records the key points while they are fresh.”</a:t>
            </a:r>
          </a:p>
          <a:p>
            <a:r>
              <a:t>binding = 有约束力的。”circumstances change” = 情况变化。clarify = 澄清。fresh = 还记得清楚的。</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OK, we agree. | I think we have a deal. | 地道</a:t>
            </a:r>
          </a:p>
          <a:p>
            <a:r>
              <a:t>Let’s sign. | Shall we put it in writing? | 礼貌</a:t>
            </a:r>
          </a:p>
          <a:p>
            <a:r>
              <a:t>Thank you for your time. | Thank you; it’s been a productive discussion. | 具体</a:t>
            </a:r>
          </a:p>
          <a:p>
            <a:r>
              <a:t>See you. | We’ll be in touch with the details. | 后续</a:t>
            </a:r>
          </a:p>
          <a:p>
            <a:r>
              <a:t>We will do it. | You have our commitment. | 强调</a:t>
            </a:r>
          </a:p>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Summarising: To sum up, / So we’ve agreed that… / Let me recap.</a:t>
            </a:r>
          </a:p>
          <a:p>
            <a:r>
              <a:t>Future arrangements: will for promises and decisions, going to for plans, present continuous for fixed arrangements (“We’re meeting on Friday”).</a:t>
            </a:r>
          </a:p>
          <a:p>
            <a:r>
              <a:t>Linking additions to a condition: provided that, as long as, on condition that.</a:t>
            </a:r>
          </a:p>
          <a:p>
            <a:r>
              <a:t>Closing politely: It’s been a pleasure. / I look forward to working with you.</a:t>
            </a:r>
          </a:p>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will make the contract.  →  ✓ We will draw up the contract.  (draw up)</a:t>
            </a:r>
          </a:p>
          <a:p>
            <a:r>
              <a:t>✗ I look forward to work with you.  →  ✓ I look forward to working with you.  (to + -ing)</a:t>
            </a:r>
          </a:p>
          <a:p>
            <a:r>
              <a:t>✗ As long as you will pay on time, we sign.  →  ✓ As long as you pay on time, we’ll sign.  (现在时)</a:t>
            </a:r>
          </a:p>
          <a:p>
            <a:r>
              <a:t>Mistake Watch: Check look forward to + -ing, agree on, and as long as + present.</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agree in the price.  →  ✓ We agree on the price.  (agree on)</a:t>
            </a:r>
          </a:p>
          <a:p>
            <a:r>
              <a:t>✗ The meeting finished successfully.  →  ✓ The meeting ended successfully. / We closed the deal successfully.  (更自然)</a:t>
            </a:r>
          </a:p>
          <a:p>
            <a:r>
              <a:t>✗ I’m pleasure to work with you.  →  ✓ It’s a pleasure to work with you.  (a pleasure)</a:t>
            </a:r>
          </a:p>
          <a:p>
            <a:r>
              <a:t>Mistake Watch: Check look forward to + -ing, agree on, and as long as + present.</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Handshake: In many countries a handshake marks agreement; in others a written contract is the only commitment.</a:t>
            </a:r>
          </a:p>
          <a:p>
            <a:r>
              <a:t>Politeness: Thanking the other side warmly is normal, even after tough negotiation.</a:t>
            </a:r>
          </a:p>
          <a:p>
            <a:r>
              <a:t>Follow up in 24 hours: Sending a summary the same day shows professionalism.</a:t>
            </a:r>
          </a:p>
          <a:p>
            <a:r>
              <a:t>look forward to + -ing(to 是介词);agree on a price;as long as 后用现在时代替将来。draw up a contract = 起草合同。</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summarise an agreement and confirm next steps.</a:t>
            </a:r>
          </a:p>
          <a:p>
            <a:r>
              <a:t>I can handle a last-minute request.</a:t>
            </a:r>
          </a:p>
          <a:p>
            <a:r>
              <a:t>I can use as long as / provided that.</a:t>
            </a:r>
          </a:p>
          <a:p>
            <a:r>
              <a:t>I can use look forward to + -ing and agree on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look forward to + -ing, agree on, and as long as with present tense.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59 · Winning Over Important Clients 赢得重要客户</a:t>
            </a:r>
          </a:p>
          <a:p>
            <a:r>
              <a:t>Goal: build relationships with important clients: first meetings, understanding their needs, presenting value and keeping a long-term partnership.</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win over = 争取到(使支持);long-term partnership = 长期合作。client 与 customer:client 多指专业服务的客户。</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Present your company’s value to an important prospective client.</a:t>
            </a:r>
          </a:p>
          <a:p>
            <a:r>
              <a:t>Say: thank → understand their needs → show relevant value → proof → next step</a:t>
            </a:r>
          </a:p>
          <a:p>
            <a:r>
              <a:t>Useful starters: “What are your biggest priorities right now?” / “What sets us apart is…” / “We’ve helped companies like yours to…”</a:t>
            </a:r>
          </a:p>
          <a:p>
            <a:r>
              <a:t>What sets us apart is… = 我们的独特之处。helped companies like yours 用案例增加可信度。</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When a salesperson meets an important prospective client, the instinct is to talk about the company: its history, products, awards. But clients care about their own problems. The most effective approach is to ask first. What keeps them awake at night? What have they tried before? How do they measure success? Only then should you present your offer, linking each feature to a benefit for them. Evidence helps: a short case study of a similar client carries more weight than a long brochure. Trust grows through small signs of reliability, such as arriving prepared, following up promptly and admitting what you do not know. Winning a client is only the beginning. The relationship deepens when you check in regularly, share useful ideas and solve problems before they are noticed.</a:t>
            </a:r>
          </a:p>
          <a:p>
            <a:r>
              <a:t>instinct = 本能。”keeps them awake at night” = 让他们夜不能寐。case study = 案例研究。weight = 分量。</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the common instinct of a salesperson?</a:t>
            </a:r>
          </a:p>
          <a:p>
            <a:r>
              <a:t>A: To talk about the company’s history, products and awards.</a:t>
            </a:r>
          </a:p>
          <a:p>
            <a:r>
              <a:t>Q2. What is the more effective approach?</a:t>
            </a:r>
          </a:p>
          <a:p>
            <a:r>
              <a:t>A: Ask questions about the client’s problems first, then link the offer to their benefits.</a:t>
            </a:r>
          </a:p>
          <a:p>
            <a:r>
              <a:t>Q3. How does the relationship deepen?</a:t>
            </a:r>
          </a:p>
          <a:p>
            <a:r>
              <a:t>A: By checking in regularly, sharing ideas and solving problems before they are noticed.</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Client relationships 客户关系</a:t>
            </a:r>
          </a:p>
          <a:p>
            <a:r>
              <a:t>领读 → 学员跟读 → 请学员用表达造一个和自己工作相关的句子。</a:t>
            </a:r>
          </a:p>
          <a:p>
            <a:r>
              <a:t>prospective client (noun phrase) 潜在客户 — “We have a meeting with a prospective client.”</a:t>
            </a:r>
          </a:p>
          <a:p>
            <a:r>
              <a:t>needs analysis (noun) 需求分析 — “We start with a needs analysis.”</a:t>
            </a:r>
          </a:p>
          <a:p>
            <a:r>
              <a:t>value proposition (noun phrase) 价值主张 — “Our value proposition is simple.”</a:t>
            </a:r>
          </a:p>
          <a:p>
            <a:r>
              <a:t>account manager (noun) 客户经理 — “The account manager is your contact.”</a:t>
            </a:r>
          </a:p>
          <a:p>
            <a:r>
              <a:t>case study (noun) 案例研究 — “Here’s a case study of a similar client.”</a:t>
            </a:r>
          </a:p>
          <a:p>
            <a:r>
              <a:t>loyalty (noun) 忠诚度 — “Customer loyalty is valuable.”</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Winning trust ★ 赢得信任</a:t>
            </a:r>
          </a:p>
          <a:p>
            <a:r>
              <a:t>领读 → 学员跟读 → 请学员用表达造一个和自己工作相关的句子。</a:t>
            </a:r>
          </a:p>
          <a:p>
            <a:r>
              <a:t>★ build rapport (collocation) 建立融洽关系 — “I try to build rapport early.”</a:t>
            </a:r>
          </a:p>
          <a:p>
            <a:r>
              <a:t>★ stand out (phrasal verb) 脱颖而出 — “We stand out for service.”</a:t>
            </a:r>
          </a:p>
          <a:p>
            <a:r>
              <a:t>★ go the extra mile (idiom) 额外努力 — “We go the extra mile for clients.”</a:t>
            </a:r>
          </a:p>
          <a:p>
            <a:r>
              <a:t>★ win (someone) over (phrasal verb) 争取到 — “Her presentation won them over.”</a:t>
            </a:r>
          </a:p>
          <a:p>
            <a:r>
              <a:t>★ long-term partnership (noun phrase) 长期合作 — “We want a long-term partnership.”</a:t>
            </a:r>
          </a:p>
          <a:p>
            <a:r>
              <a:t>★ a track record of (noun phrase) 往绩 — “We have a track record of on-time delivery.”</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prospective / needs analysis / value proposition / case study / build rapport / track record</a:t>
            </a:r>
          </a:p>
          <a:p>
            <a:r>
              <a:t>1. We’re meeting a _______ client tomorrow. → prospective</a:t>
            </a:r>
          </a:p>
          <a:p>
            <a:r>
              <a:t>2. First, we’ll do a _______ to understand your priorities. → needs analysis</a:t>
            </a:r>
          </a:p>
          <a:p>
            <a:r>
              <a:t>3. Our _______ is simple: lower costs without losing quality. → value proposition</a:t>
            </a:r>
          </a:p>
          <a:p>
            <a:r>
              <a:t>4. Here’s a _______ of a company similar to yours. → case study</a:t>
            </a:r>
          </a:p>
          <a:p>
            <a:r>
              <a:t>5. It’s important to _______ early in the relationship. → build rapport</a:t>
            </a:r>
          </a:p>
          <a:p>
            <a:r>
              <a:t>6. We have a _______ of delivering on time. → track record</a:t>
            </a:r>
          </a:p>
          <a:p>
            <a:r>
              <a:t>Mistake Watch (拼写与搭配): prospective (not “prospect client”), loyalty, proposition. Win / gain / attract a client; retain a client. Rapport is uncountable: “build good rapport”. Customer vs client. Have experience of / in. Care about.</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meeting with an important client 与重要客户的首次会面</a:t>
            </a:r>
          </a:p>
          <a:p>
            <a:r>
              <a:t>情景：You meet a potential client, Ms Bai, for the first time to understand her needs and introduce your services.</a:t>
            </a:r>
          </a:p>
          <a:p>
            <a:r>
              <a:t>Role A: Eric Zhou, account director (you) Role B: Ms Bai, procurement director at a retail chain</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(Eric): Ms Bai, thank you for meeting us. Before I talk about us, I’d like to understand your priorities. What’s your biggest challenge right now?</a:t>
            </a:r>
          </a:p>
          <a:p>
            <a:r>
              <a:t>B (Ms Bai): Delivery reliability. We’ve had too many late shipments, and customers are complaining.</a:t>
            </a:r>
          </a:p>
          <a:p>
            <a:r>
              <a:t>A: That sounds frustrating. How often does it happen?</a:t>
            </a:r>
          </a:p>
          <a:p>
            <a:r>
              <a:t>B: About one in six orders. It’s affecting our reputation.</a:t>
            </a:r>
          </a:p>
          <a:p>
            <a:r>
              <a:t>A: Thank you for being open. We’ve helped companies like yours with this. For example, a retailer last year cut late deliveries by half.</a:t>
            </a:r>
          </a:p>
          <a:p>
            <a:r>
              <a:t>B: Interesting. How?</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By tracking every shipment in real time and giving early warning of delays.</a:t>
            </a:r>
          </a:p>
          <a:p>
            <a:r>
              <a:t>B: That sounds useful. But what sets you apart from other logistics providers?</a:t>
            </a:r>
          </a:p>
          <a:p>
            <a:r>
              <a:t>A: Our account managers are available around the clock, and we have a track record of ninety-seven per cent on-time delivery.</a:t>
            </a:r>
          </a:p>
          <a:p>
            <a:r>
              <a:t>B: Those are strong numbers. Could you send me the case study?</a:t>
            </a:r>
          </a:p>
          <a:p>
            <a:r>
              <a:t>A: Of course. I’ll send it today. Could we arrange a trial on one route?</a:t>
            </a:r>
          </a:p>
          <a:p>
            <a:r>
              <a:t>B: That could work. Let’s talk next week.</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59 | </a:t>
            </a:r>
          </a:p>
          <a:p>
            <a:r>
              <a:t>Situation | You win over an important client.</a:t>
            </a:r>
          </a:p>
          <a:p>
            <a:r>
              <a:t>Your role (A) | Account director. Your service: ______________</a:t>
            </a:r>
          </a:p>
          <a:p>
            <a:r>
              <a:t>Partner’s role (B) | Client. Challenge and doubts: ______________</a:t>
            </a:r>
          </a:p>
          <a:p>
            <a:r>
              <a:t>Must use (4 or more) | biggest priority · we’ve helped companies like yours · what sets us apart · track record · case study · trial</a:t>
            </a:r>
          </a:p>
          <a:p>
            <a:r>
              <a:t>Goal | Ask questions first, link your service to her needs and suggest a trial.</a:t>
            </a:r>
          </a:p>
          <a:p>
            <a:r>
              <a:t>My notes | ____________________________________________</a:t>
            </a:r>
          </a:p>
          <a:p>
            <a:r>
              <a:t>Ms Bai says: “Your competitor is cheaper.” Respond.</a:t>
            </a:r>
          </a:p>
          <a:p>
            <a:r>
              <a:t>Write a follow-up email after the first meeting.</a:t>
            </a:r>
          </a:p>
          <a:p>
            <a:r>
              <a:t>Describe how you keep a client happy for years.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makes a client choose one supplier over another? | “I think the key factors are… / Price matters but…”</a:t>
            </a:r>
          </a:p>
          <a:p>
            <a:r>
              <a:t>2. How do you build trust with someone you’ve just met? | “By being prepared… / Listening before…”</a:t>
            </a:r>
          </a:p>
          <a:p>
            <a:r>
              <a:t>3. Is it better to sell on price or on value? | “Price wins short-term, but… / Value creates…”</a:t>
            </a:r>
          </a:p>
          <a:p>
            <a:r>
              <a:t>4. How do you keep clients happy long-term? | “By staying in touch… / Anticipating needs…”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“Selling on price is easy to understand but hard to sustain, because a competitor can always undercut you. Value is more durable: if you solve a client’s real problem, they will pay more for it and stay longer. So I’d focus on demonstrating how we save them time, money or risk, and use price as only one part of the discussion.”</a:t>
            </a:r>
          </a:p>
          <a:p>
            <a:r>
              <a:t>undercut = 以更低价格抢生意。durable = 持久的。sustain = 维持。”as only one part” 价格只是其中一部分。</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Please buy from us. | We’d welcome the chance to work with you. | 礼貌</a:t>
            </a:r>
          </a:p>
          <a:p>
            <a:r>
              <a:t>We are the best. | We have a strong track record in this area. | 有依据</a:t>
            </a:r>
          </a:p>
          <a:p>
            <a:r>
              <a:t>What do you want? | What are your key priorities? | 礼貌</a:t>
            </a:r>
          </a:p>
          <a:p>
            <a:r>
              <a:t>Our price is cheap. | We offer very competitive pricing. | 专业</a:t>
            </a:r>
          </a:p>
          <a:p>
            <a:r>
              <a:t>I will call you. | I’ll follow up with you early next week. | 具体</a:t>
            </a:r>
          </a:p>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Open questions: What… How… Could you tell me more about…?</a:t>
            </a:r>
          </a:p>
          <a:p>
            <a:r>
              <a:t>Present perfect for experience: “We’ve helped many retailers.” (relevant to now)</a:t>
            </a:r>
          </a:p>
          <a:p>
            <a:r>
              <a:t>Benefits language: This means that… / As a result, you can… / So you’ll…</a:t>
            </a:r>
          </a:p>
          <a:p>
            <a:r>
              <a:t>Comparatives: faster than, more reliable than, as flexible as.</a:t>
            </a:r>
          </a:p>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have a long relationship with ABC.  →  ✓ We have a long-standing relationship with ABC.  (搭配)</a:t>
            </a:r>
          </a:p>
          <a:p>
            <a:r>
              <a:t>✗ This product is suitable to you.  →  ✓ This product is suitable for you.  (suitable for)</a:t>
            </a:r>
          </a:p>
          <a:p>
            <a:r>
              <a:t>✗ I am looking forward your reply.  →  ✓ I look forward to your reply.  (look forward to)</a:t>
            </a:r>
          </a:p>
          <a:p>
            <a:r>
              <a:t>Mistake Watch: Check suitable for, uncountable help, and introduce (transitive).</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Our service is more cheaper.  →  ✓ Our service is cheaper.  (cheaper)</a:t>
            </a:r>
          </a:p>
          <a:p>
            <a:r>
              <a:t>✗ We can offer you many helps.  →  ✓ We can offer you plenty of help.  (help 不可数)</a:t>
            </a:r>
          </a:p>
          <a:p>
            <a:r>
              <a:t>✗ I want to introduce about our company.  →  ✓ I’d like to introduce our company.  (introduce 及物)</a:t>
            </a:r>
          </a:p>
          <a:p>
            <a:r>
              <a:t>Mistake Watch: Check suitable for, uncountable help, and introduce (transitive).</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Relationship vs transaction: In many markets business relationships begin socially; in others the focus is on the offer from the start.</a:t>
            </a:r>
          </a:p>
          <a:p>
            <a:r>
              <a:t>Gift-giving: Corporate gift rules vary; many companies have strict anti-bribery policies.</a:t>
            </a:r>
          </a:p>
          <a:p>
            <a:r>
              <a:t>Follow up: Send a thank-you email within 24 hours with a clear next step.</a:t>
            </a:r>
          </a:p>
          <a:p>
            <a:r>
              <a:t>suitable for sb;introduce sth 不加 about;help 不可数。与客户沟通:先问需求,再讲方案;用具体案例比泛泛而谈有说服力。</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ask questions to understand a client’s needs.</a:t>
            </a:r>
          </a:p>
          <a:p>
            <a:r>
              <a:t>I can link my offer to benefits and give evidence.</a:t>
            </a:r>
          </a:p>
          <a:p>
            <a:r>
              <a:t>I can discuss price vs value.</a:t>
            </a:r>
          </a:p>
          <a:p>
            <a:r>
              <a:t>I can use suitable for, introduce and look forward to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suitable for, introduce (transitive) and benefit language.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60 · Signing Contracts 签订合同</a:t>
            </a:r>
          </a:p>
          <a:p>
            <a:r>
              <a:t>Goal: talk about contracts: key clauses, obligations, risks, review before signing and formal language.</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clause = 条款;party = 当事方;terminate = 终止;breach = 违反。注意:contract 的动词用法 “sign / draw up / enter into / renew a contract”。</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Discuss key clauses in a contract with a colleague or lawyer.</a:t>
            </a:r>
          </a:p>
          <a:p>
            <a:r>
              <a:t>Say: scope → price/payment → duration → termination → liability → next steps</a:t>
            </a:r>
          </a:p>
          <a:p>
            <a:r>
              <a:t>Useful starters: “Could you walk me through clause 7?” / “What happens if…?” / “I’d like to propose an amendment.”</a:t>
            </a:r>
          </a:p>
          <a:p>
            <a:r>
              <a:t>clause = 条款;amendment = 修订;walk me through = 逐步说明。注意时态和被动语态正式感。</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 contract is a written promise that the law will enforce. It describes who does what, for how much, by when and what happens if something goes wrong. Typical clauses cover the scope of work, price and payment terms, duration and renewal, confidentiality, liability and how the agreement can be ended. Contracts are written in formal language to avoid ambiguity, but that makes them hard to read, so it is wise to have a lawyer review important ones. Pay special attention to automatic renewal, penalties for late delivery and limits on liability. If something is unclear, ask for it to be rewritten in plain words. Never sign under pressure, and never rely on verbal promises that are not in the document. Once signed, keep a copy, diarise key dates and review compliance regularly.</a:t>
            </a:r>
          </a:p>
          <a:p>
            <a:r>
              <a:t>enforce = 执行。ambiguity = 含糊。diarise = 记入日程(英)。compliance = 合规履行。</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does a contract describe?</a:t>
            </a:r>
          </a:p>
          <a:p>
            <a:r>
              <a:t>A: Who does what, for how much, by when, and what happens if something goes wrong.</a:t>
            </a:r>
          </a:p>
          <a:p>
            <a:r>
              <a:t>Q2. What should you pay special attention to?</a:t>
            </a:r>
          </a:p>
          <a:p>
            <a:r>
              <a:t>A: Automatic renewal, penalties for late delivery and limits on liability.</a:t>
            </a:r>
          </a:p>
          <a:p>
            <a:r>
              <a:t>Q3. What should you do once the contract is signed?</a:t>
            </a:r>
          </a:p>
          <a:p>
            <a:r>
              <a:t>A: Keep a copy, diarise key dates and review compliance regularly.</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Contract language 合同用语</a:t>
            </a:r>
          </a:p>
          <a:p>
            <a:r>
              <a:t>领读 → 学员跟读 → 请学员用表达造一个和自己工作相关的句子。</a:t>
            </a:r>
          </a:p>
          <a:p>
            <a:r>
              <a:t>clause (noun) 条款 — “See clause 12.”</a:t>
            </a:r>
          </a:p>
          <a:p>
            <a:r>
              <a:t>party (noun) 当事方 — “Both parties agree.”</a:t>
            </a:r>
          </a:p>
          <a:p>
            <a:r>
              <a:t>obligation (noun) 义务 — “Each party has obligations.”</a:t>
            </a:r>
          </a:p>
          <a:p>
            <a:r>
              <a:t>terminate (verb) 终止 — “Either party may terminate with notice.”</a:t>
            </a:r>
          </a:p>
          <a:p>
            <a:r>
              <a:t>renew (verb) 续约 — “The contract renews automatically.”</a:t>
            </a:r>
          </a:p>
          <a:p>
            <a:r>
              <a:t>confidentiality (noun) 保密 — “A confidentiality clause protects data.”</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Reviewing and signing ★ 审查与签署</a:t>
            </a:r>
          </a:p>
          <a:p>
            <a:r>
              <a:t>领读 → 学员跟读 → 请学员用表达造一个和自己工作相关的句子。</a:t>
            </a:r>
          </a:p>
          <a:p>
            <a:r>
              <a:t>★ breach of contract (noun phrase) 违约 — “Late delivery is a breach of contract.”</a:t>
            </a:r>
          </a:p>
          <a:p>
            <a:r>
              <a:t>★ liable for (adjective phrase) 对……负责 — “The supplier is liable for damages.”</a:t>
            </a:r>
          </a:p>
          <a:p>
            <a:r>
              <a:t>★ the small print (idiom) 小字条款 — “Always read the small print.”</a:t>
            </a:r>
          </a:p>
          <a:p>
            <a:r>
              <a:t>★ draw up (phrasal verb) 起草 — “The lawyer drew up the contract.”</a:t>
            </a:r>
          </a:p>
          <a:p>
            <a:r>
              <a:t>★ enter into (phrasal verb) 签订 — “They entered into an agreement.”</a:t>
            </a:r>
          </a:p>
          <a:p>
            <a:r>
              <a:t>★ amend (verb) 修订 — “We’d like to amend this clause.”</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clause / parties / obligations / terminate / breach / amend</a:t>
            </a:r>
          </a:p>
          <a:p>
            <a:r>
              <a:t>1. Please read _______ 9, which covers payment. → clause</a:t>
            </a:r>
          </a:p>
          <a:p>
            <a:r>
              <a:t>2. Both _______ must sign the agreement. → parties</a:t>
            </a:r>
          </a:p>
          <a:p>
            <a:r>
              <a:t>3. Each side has legal _______ under the contract. → obligations</a:t>
            </a:r>
          </a:p>
          <a:p>
            <a:r>
              <a:t>4. Either party may _______ with 30 days’ notice. → terminate</a:t>
            </a:r>
          </a:p>
          <a:p>
            <a:r>
              <a:t>5. Delivering late would be a _______ of contract. → breach</a:t>
            </a:r>
          </a:p>
          <a:p>
            <a:r>
              <a:t>6. We’d like to _______ the clause on liability. → amend</a:t>
            </a:r>
          </a:p>
          <a:p>
            <a:r>
              <a:t>Mistake Watch (拼写与搭配): contract (noun /ˈkɒntrækt/, verb /kənˈtrækt/), liable, liability. Sign / enter into / draw up a contract, terminate / cancel, a breach of contract. Confidential / confidentiality. Read the small print (UK) / fine print (US). Under the terms of.</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Reviewing a contract before signing 签约前审阅合同</a:t>
            </a:r>
          </a:p>
          <a:p>
            <a:r>
              <a:t>情景：Before signing, you discuss clauses with your company’s legal adviser, Sam.</a:t>
            </a:r>
          </a:p>
          <a:p>
            <a:r>
              <a:t>Role A: Dana Zhu, manager (you) Role B: Sam Roy, legal adviser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(Dana): Sam, thanks for reviewing this. Could you walk me through the main risks?</a:t>
            </a:r>
          </a:p>
          <a:p>
            <a:r>
              <a:t>B (Sam): Of course. First, clause 7: automatic renewal. If you don’t give notice sixty days before the end, it renews for another year.</a:t>
            </a:r>
          </a:p>
          <a:p>
            <a:r>
              <a:t>A: I’d prefer to renew only after confirmation. Can we amend that?</a:t>
            </a:r>
          </a:p>
          <a:p>
            <a:r>
              <a:t>B: We can propose it. Next, clause 11 limits their liability to the value of one month’s fees.</a:t>
            </a:r>
          </a:p>
          <a:p>
            <a:r>
              <a:t>A: That seems low if their error damages our data.</a:t>
            </a:r>
          </a:p>
          <a:p>
            <a:r>
              <a:t>B: Agreed. I’d suggest asking for a higher cap in the case of serious breach.</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And what about termination?</a:t>
            </a:r>
          </a:p>
          <a:p>
            <a:r>
              <a:t>B: Either party may terminate with thirty days’ notice. That’s reasonable.</a:t>
            </a:r>
          </a:p>
          <a:p>
            <a:r>
              <a:t>A: What happens if they miss a deadline?</a:t>
            </a:r>
          </a:p>
          <a:p>
            <a:r>
              <a:t>B: There’s no penalty clause. You could ask for service credits.</a:t>
            </a:r>
          </a:p>
          <a:p>
            <a:r>
              <a:t>A: Good idea. Could you draft the amendments?</a:t>
            </a:r>
          </a:p>
          <a:p>
            <a:r>
              <a:t>B: Yes. I’ll send them by tomorrow so you can sign by Friday.</a:t>
            </a:r>
          </a:p>
          <a:p>
            <a:r>
              <a:t>A: Thank you. I won’t sign until we’ve agreed those points.</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60 | </a:t>
            </a:r>
          </a:p>
          <a:p>
            <a:r>
              <a:t>Situation | You review a contract with a legal adviser.</a:t>
            </a:r>
          </a:p>
          <a:p>
            <a:r>
              <a:t>Your role (A) | Manager. Clause you are worried about: ______________</a:t>
            </a:r>
          </a:p>
          <a:p>
            <a:r>
              <a:t>Partner’s role (B) | Adviser. Explain the risk and a possible amendment.</a:t>
            </a:r>
          </a:p>
          <a:p>
            <a:r>
              <a:t>Must use (4 or more) | walk me through · clause · liability · terminate · amend · breach</a:t>
            </a:r>
          </a:p>
          <a:p>
            <a:r>
              <a:t>Goal | Ask about three clauses and agree the changes to propose.</a:t>
            </a:r>
          </a:p>
          <a:p>
            <a:r>
              <a:t>My notes | ____________________________________________</a:t>
            </a:r>
          </a:p>
          <a:p>
            <a:r>
              <a:t>The other party refuses your amendment. Suggest a compromise.</a:t>
            </a:r>
          </a:p>
          <a:p>
            <a:r>
              <a:t>Ask a lawyer to explain a clause in plain English.</a:t>
            </a:r>
          </a:p>
          <a:p>
            <a:r>
              <a:t>Explain why you read the small print.</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are the most important clauses in a contract? | “In my view, the most important are… because…”</a:t>
            </a:r>
          </a:p>
          <a:p>
            <a:r>
              <a:t>2. Should you hire a lawyer for every contract? | “Not for small deals, but for… / It depends on the risk.”</a:t>
            </a:r>
          </a:p>
          <a:p>
            <a:r>
              <a:t>3. Is a verbal promise as good as a written contract? | “Legally it can be… but in practice…”</a:t>
            </a:r>
          </a:p>
          <a:p>
            <a:r>
              <a:t>4. How can you ensure that everyone understands the contract? | “By using plain language… / Holding a briefing…”</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“Not for small, routine deals, as the cost may outweigh the benefit. But for contracts that involve significant money, long commitments or legal risk, I think a lawyer’s review is worth it. A lawyer can spot unfavourable terms, such as automatic renewal or unlimited liability, that a non-specialist might miss. It’s cheaper to fix a clause before signing than to fight over it afterwards.”</a:t>
            </a:r>
          </a:p>
          <a:p>
            <a:r>
              <a:t>outweigh = 超过。unfavourable = 不利的。”non-specialist” = 外行。”fight over it” = 为此争执。</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Please read it. | Could you take a look at the draft? | 礼貌</a:t>
            </a:r>
          </a:p>
          <a:p>
            <a:r>
              <a:t>Change this. | We’d like to propose an amendment to this clause. | 正式</a:t>
            </a:r>
          </a:p>
          <a:p>
            <a:r>
              <a:t>If you don’t pay, we stop. | Failure to pay may result in suspension of service. | 合同语言</a:t>
            </a:r>
          </a:p>
          <a:p>
            <a:r>
              <a:t>It ends in June. | The agreement expires on 30 June. | 术语</a:t>
            </a:r>
          </a:p>
          <a:p>
            <a:r>
              <a:t>We can leave. | Either party may terminate the agreement. | 正式</a:t>
            </a:r>
          </a:p>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Modal verbs in contracts: shall (obligation), may (permission), must (requirement): “The Supplier shall deliver the goods by 1 March.”</a:t>
            </a:r>
          </a:p>
          <a:p>
            <a:r>
              <a:t>Passive voice in formal documents: “The goods will be delivered…”, “Payment is due within 30 days.”</a:t>
            </a:r>
          </a:p>
          <a:p>
            <a:r>
              <a:t>Formal connectors: in the event of, provided that, notwithstanding, hereby. Learn to recognise them.</a:t>
            </a:r>
          </a:p>
          <a:p>
            <a:r>
              <a:t>Conditionals with unless: “unless otherwise agreed” = if not agreed otherwise.</a:t>
            </a:r>
          </a:p>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sign the contract in next week.  →  ✓ We will sign the contract next week.  (next week 前无 in)</a:t>
            </a:r>
          </a:p>
          <a:p>
            <a:r>
              <a:t>✗ The contract is expired.  →  ✓ The contract has expired.  (expire 不及物)</a:t>
            </a:r>
          </a:p>
          <a:p>
            <a:r>
              <a:t>✗ Make a contract  →  ✓ Draw up / sign a contract  (搭配)</a:t>
            </a:r>
          </a:p>
          <a:p>
            <a:r>
              <a:t>Mistake Watch: Check explain sth to sb, expire (intransitive), and consist of (no passive).</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They break the contract.  →  ✓ They breached the contract. / They broke the contract.  (过去式)</a:t>
            </a:r>
          </a:p>
          <a:p>
            <a:r>
              <a:t>✗ Please explain me this clause.  →  ✓ Please explain this clause to me.  (explain sth to sb)</a:t>
            </a:r>
          </a:p>
          <a:p>
            <a:r>
              <a:t>✗ The contract is consist of 20 pages.  →  ✓ The contract consists of 20 pages.  (consist of)</a:t>
            </a:r>
          </a:p>
          <a:p>
            <a:r>
              <a:t>Mistake Watch: Check explain sth to sb, expire (intransitive), and consist of (no passive).</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Contract law varies: Contracts may be interpreted differently under English law, US law or other systems. Check which law applies.</a:t>
            </a:r>
          </a:p>
          <a:p>
            <a:r>
              <a:t>Electronic signatures: E-signatures are widely accepted, but some documents still need wet ink.</a:t>
            </a:r>
          </a:p>
          <a:p>
            <a:r>
              <a:t>Relationship vs paper: In some cultures, a contract is a starting point rather than a final word. Clarify expectations.</a:t>
            </a:r>
          </a:p>
          <a:p>
            <a:r>
              <a:t>explain sth to sb(不能 explain me);expire 不用被动;consist of 不用被动。合同用语正式,多用被动与 shall / may。签约前一定读小字条款。</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discuss key contract clauses.</a:t>
            </a:r>
          </a:p>
          <a:p>
            <a:r>
              <a:t>I can ask for an amendment politely.</a:t>
            </a:r>
          </a:p>
          <a:p>
            <a:r>
              <a:t>I can recognise formal contract language (shall, may, in the event of).</a:t>
            </a:r>
          </a:p>
          <a:p>
            <a:r>
              <a:t>I can use explain sth to sb, expire and consist of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explain sth to sb, intransitive expire, and formal modals (shall / may).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61 · Comparing Services 比较服务</a:t>
            </a:r>
          </a:p>
          <a:p>
            <a:r>
              <a:t>Goal: compare services or suppliers using criteria: price, quality, reliability, support and value, and recommend one.</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compare A with B / compare A to B 都可;criteria 复数。第 2 题答案可用 “It depends on…”。</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Compare two suppliers and recommend one.</a:t>
            </a:r>
          </a:p>
          <a:p>
            <a:r>
              <a:t>Say: criteria → supplier A → supplier B → recommendation</a:t>
            </a:r>
          </a:p>
          <a:p>
            <a:r>
              <a:t>Useful starters: “In terms of price…” / “Whereas Supplier A is…, Supplier B is…” / “On balance, I’d recommend…”</a:t>
            </a:r>
          </a:p>
          <a:p>
            <a:r>
              <a:t>in terms of = 就……而言。whereas = 然而(对比)。on balance = 综合考虑。</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Comparing services is rarely as simple as picking the cheapest. A low price may hide extra charges, slow support or poor reliability. A fair comparison starts with criteria that reflect what matters to your business, such as price, quality, delivery time, flexibility, customer support and financial stability. Give each criterion a weight, score each supplier, and look at the total, but also at the risks behind the numbers. Ask for references from existing clients and, if possible, run a small trial. Be careful to compare like with like: one quote may include installation while another does not. Present your recommendation clearly, with the reasons and the trade-offs. A good supplier decision should be easy to explain to colleagues who were not part of the process.</a:t>
            </a:r>
          </a:p>
          <a:p>
            <a:r>
              <a:t>weight = 权重。”like with like” = 同类相比。financial stability = 财务稳定性。reference = 推荐/参考客户。</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isn’t the cheapest option always best?</a:t>
            </a:r>
          </a:p>
          <a:p>
            <a:r>
              <a:t>A: A low price may hide extra charges, slow support or poor reliability.</a:t>
            </a:r>
          </a:p>
          <a:p>
            <a:r>
              <a:t>Q2. How can you make the comparison fair?</a:t>
            </a:r>
          </a:p>
          <a:p>
            <a:r>
              <a:t>A: Use weighted criteria, check references, run a trial and compare like with like.</a:t>
            </a:r>
          </a:p>
          <a:p>
            <a:r>
              <a:t>Q3. What should a recommendation include?</a:t>
            </a:r>
          </a:p>
          <a:p>
            <a:r>
              <a:t>A: Clear reasons and the trade-offs.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Comparing options 比较选项</a:t>
            </a:r>
          </a:p>
          <a:p>
            <a:r>
              <a:t>领读 → 学员跟读 → 请学员用表达造一个和自己工作相关的句子。</a:t>
            </a:r>
          </a:p>
          <a:p>
            <a:r>
              <a:t>criteria (noun (plural)) 评判标准 — “The criteria are price and support.”</a:t>
            </a:r>
          </a:p>
          <a:p>
            <a:r>
              <a:t>reliable (adjective) 可靠的 — “The service is very reliable.”</a:t>
            </a:r>
          </a:p>
          <a:p>
            <a:r>
              <a:t>competitive (adjective) 有竞争力的 — “The prices are competitive.”</a:t>
            </a:r>
          </a:p>
          <a:p>
            <a:r>
              <a:t>flexible (adjective) 灵活的 — “Their terms are more flexible.”</a:t>
            </a:r>
          </a:p>
          <a:p>
            <a:r>
              <a:t>customer support (noun) 客户支持 — “Customer support is available 24/7.”</a:t>
            </a:r>
          </a:p>
          <a:p>
            <a:r>
              <a:t>value for money (noun phrase) 物有所值 — “It offers great value for money.”</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Evaluating and recommending ★ 评估与推荐</a:t>
            </a:r>
          </a:p>
          <a:p>
            <a:r>
              <a:t>领读 → 学员跟读 → 请学员用表达造一个和自己工作相关的句子。</a:t>
            </a:r>
          </a:p>
          <a:p>
            <a:r>
              <a:t>★ compare favourably with (collocation) 比……更有优势 — “Our service compares favourably with theirs.”</a:t>
            </a:r>
          </a:p>
          <a:p>
            <a:r>
              <a:t>★ hidden costs (noun phrase) 隐性成本 — “Watch for hidden costs.”</a:t>
            </a:r>
          </a:p>
          <a:p>
            <a:r>
              <a:t>★ the pros and cons (noun phrase) 利弊 — “Let’s weigh up the pros and cons.”</a:t>
            </a:r>
          </a:p>
          <a:p>
            <a:r>
              <a:t>★ stack up against (phrasal verb) 与……相比 — “How does it stack up against the competitor?”</a:t>
            </a:r>
          </a:p>
          <a:p>
            <a:r>
              <a:t>★ outperform (verb) 表现更好 — “Supplier A outperforms B on delivery.”</a:t>
            </a:r>
          </a:p>
          <a:p>
            <a:r>
              <a:t>★ on balance (adverbial phrase) 综合来看 — “On balance, I’d choose A.”</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criteria / reliable / competitive / value for money / hidden costs / outperforms</a:t>
            </a:r>
          </a:p>
          <a:p>
            <a:r>
              <a:t>1. What are the main _______ for choosing a supplier? → criteria</a:t>
            </a:r>
          </a:p>
          <a:p>
            <a:r>
              <a:t>2. Their service is cheap but not very _______. → reliable</a:t>
            </a:r>
          </a:p>
          <a:p>
            <a:r>
              <a:t>3. Their prices are very _______ compared with others. → competitive</a:t>
            </a:r>
          </a:p>
          <a:p>
            <a:r>
              <a:t>4. Supplier B is more expensive, but it offers better _______. → value for money</a:t>
            </a:r>
          </a:p>
          <a:p>
            <a:r>
              <a:t>5. Check the contract for _______ such as set-up fees. → hidden costs</a:t>
            </a:r>
          </a:p>
          <a:p>
            <a:r>
              <a:t>6. Supplier A _______ Supplier B on delivery speed. → outperforms</a:t>
            </a:r>
          </a:p>
          <a:p>
            <a:r>
              <a:t>Mistake Watch (拼写与搭配): compare with / compare to; compared with (UK usage for similarities and differences), in comparison with. Reliable (not “relyable”), competitive. Cheaper than, more expensive than, as good as, the best of the three. Quote / quotation.</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two suppliers and recommending one 比较两家供应商并推荐</a:t>
            </a:r>
          </a:p>
          <a:p>
            <a:r>
              <a:t>情景：You present a comparison of two cloud-service providers to your manager.</a:t>
            </a:r>
          </a:p>
          <a:p>
            <a:r>
              <a:t>Role A: Ivy Sun, IT analyst (you) Role B: Mr Hale, IT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(Ivy): Mr Hale, I’ve compared the two providers against four criteria: price, reliability, support and flexibility.</a:t>
            </a:r>
          </a:p>
          <a:p>
            <a:r>
              <a:t>B (Mr Hale): Good. Start with price.</a:t>
            </a:r>
          </a:p>
          <a:p>
            <a:r>
              <a:t>A: In terms of price, Provider A is cheaper, at £2,000 a month compared with £2,600 for Provider B.</a:t>
            </a:r>
          </a:p>
          <a:p>
            <a:r>
              <a:t>B: And reliability?</a:t>
            </a:r>
          </a:p>
          <a:p>
            <a:r>
              <a:t>A: Provider B performs better. It has had 99.9% uptime over the last year, whereas Provider A has had two outages.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That’s important for us. What about support?</a:t>
            </a:r>
          </a:p>
          <a:p>
            <a:r>
              <a:t>A: Provider B offers twenty-four-hour support. Provider A is office hours only.</a:t>
            </a:r>
          </a:p>
          <a:p>
            <a:r>
              <a:t>B: Are there hidden costs?</a:t>
            </a:r>
          </a:p>
          <a:p>
            <a:r>
              <a:t>A: Provider A charges extra for data transfer, which could narrow the price gap.</a:t>
            </a:r>
          </a:p>
          <a:p>
            <a:r>
              <a:t>B: So on balance?</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I’d recommend Provider B. It’s more expensive, but it’s more reliable and offers better value for money.</a:t>
            </a:r>
          </a:p>
          <a:p>
            <a:r>
              <a:t>B: Reasonable. Can we ask B for a trial period?</a:t>
            </a:r>
          </a:p>
          <a:p>
            <a:r>
              <a:t>A: Yes, I’ll ask for a three-month trial.</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61 | </a:t>
            </a:r>
          </a:p>
          <a:p>
            <a:r>
              <a:t>Situation | You compare two options and recommend one.</a:t>
            </a:r>
          </a:p>
          <a:p>
            <a:r>
              <a:t>Your role (A) | Analyst. Options: ______________</a:t>
            </a:r>
          </a:p>
          <a:p>
            <a:r>
              <a:t>Partner’s role (B) | Manager. Ask about price, reliability and hidden costs.</a:t>
            </a:r>
          </a:p>
          <a:p>
            <a:r>
              <a:t>Must use (4 or more) | in terms of · whereas · hidden costs · compared with · on balance · I’d recommend</a:t>
            </a:r>
          </a:p>
          <a:p>
            <a:r>
              <a:t>Goal | Compare on three criteria and recommend with reasons.</a:t>
            </a:r>
          </a:p>
          <a:p>
            <a:r>
              <a:t>My notes | ____________________________________________</a:t>
            </a:r>
          </a:p>
          <a:p>
            <a:r>
              <a:t>Mr Hale prefers the cheaper option. Persuade him with a risk.</a:t>
            </a:r>
          </a:p>
          <a:p>
            <a:r>
              <a:t>Add a third provider to the comparison in one sentence.</a:t>
            </a:r>
          </a:p>
          <a:p>
            <a:r>
              <a:t>Write a two-sentence recommendation for an email.</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matters most when choosing a service? | “For me, the top priority is…”</a:t>
            </a:r>
          </a:p>
          <a:p>
            <a:r>
              <a:t>2. Is the cheapest option ever the best? | “Sometimes, if… but usually…”</a:t>
            </a:r>
          </a:p>
          <a:p>
            <a:r>
              <a:t>3. How do you check if a supplier is reliable? | “I’d ask for references… / Read reviews…”</a:t>
            </a:r>
          </a:p>
          <a:p>
            <a:r>
              <a:t>4. Describe a service you changed and why. | “I switched from… to… because…”</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“Sometimes, if the service is simple and the risks are low, the cheapest option is perfectly fine. But for anything critical, such as payroll or IT systems, a failure would cost far more than the savings. So I look beyond price to reliability, support and total cost over time. A slightly higher price is often a good investment if it avoids problems.”</a:t>
            </a:r>
          </a:p>
          <a:p>
            <a:r>
              <a:t>critical = 关键的。payroll = 薪资发放。total cost = 总成本。”look beyond” = 不仅看。</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A is more better. | Provider B is the better choice. | 比较级</a:t>
            </a:r>
          </a:p>
          <a:p>
            <a:r>
              <a:t>A is cheap, but B is good. | Provider A is cheaper, whereas B is more reliable. | 对比</a:t>
            </a:r>
          </a:p>
          <a:p>
            <a:r>
              <a:t>A has many problems. | A has had two outages this year. | 具体</a:t>
            </a:r>
          </a:p>
          <a:p>
            <a:r>
              <a:t>I think we take B. | I’d recommend going with B. | 地道</a:t>
            </a:r>
          </a:p>
          <a:p>
            <a:r>
              <a:t>The price is same. | The prices are about the same. | 复数</a:t>
            </a:r>
          </a:p>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Comparatives: one-syllable: cheaper, faster; two+ syllables: more reliable, less flexible.</a:t>
            </a:r>
          </a:p>
          <a:p>
            <a:r>
              <a:t>Superlatives: the cheapest, the most reliable of the three.</a:t>
            </a:r>
          </a:p>
          <a:p>
            <a:r>
              <a:t>Contrast linkers: whereas, while, on the other hand, in contrast.</a:t>
            </a:r>
          </a:p>
          <a:p>
            <a:r>
              <a:t>Showing small differences: slightly, a bit, considerably, far more.</a:t>
            </a:r>
          </a:p>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Provider A is more cheap.  →  ✓ Provider A is cheaper.  (cheap 单音节)</a:t>
            </a:r>
          </a:p>
          <a:p>
            <a:r>
              <a:t>✗ It is the most good option.  →  ✓ It’s the best option.  (不规则比较级)</a:t>
            </a:r>
          </a:p>
          <a:p>
            <a:r>
              <a:t>✗ This is cheaper that the other one.  →  ✓ This is cheaper than the other one.  (than)</a:t>
            </a:r>
          </a:p>
          <a:p>
            <a:r>
              <a:t>Mistake Watch: Check comparative forms, parallel comparison (that of), and as… as.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price of A is higher than B.  →  ✓ The price of A is higher than that of B. / A costs more than B.  (对比对象一致)</a:t>
            </a:r>
          </a:p>
          <a:p>
            <a:r>
              <a:t>✗ A as good as B.  →  ✓ A is as good as B.  (缺少系动词)</a:t>
            </a:r>
          </a:p>
          <a:p>
            <a:r>
              <a:t>✗ Compared A with B, A is cheaper.  →  ✓ Compared with B, A is cheaper.  (分词短语)</a:t>
            </a:r>
          </a:p>
          <a:p>
            <a:r>
              <a:t>Mistake Watch: Check comparative forms, parallel comparison (that of), and as… as.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Compare with data: Presenting a table or score sheet makes comparisons easier to follow.</a:t>
            </a:r>
          </a:p>
          <a:p>
            <a:r>
              <a:t>Brands: Avoid personal opinions about named competitors in public. Stick to facts.</a:t>
            </a:r>
          </a:p>
          <a:p>
            <a:r>
              <a:t>Transparent process: Many organisations have procurement rules requiring multiple quotes.</a:t>
            </a:r>
          </a:p>
          <a:p>
            <a:r>
              <a:t>比较的对象要一致:the price of A is higher than that of B。cheap → cheaper(不是 more cheap);good → better → best。</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compare options using clear criteria.</a:t>
            </a:r>
          </a:p>
          <a:p>
            <a:r>
              <a:t>I can recommend one with reasons.</a:t>
            </a:r>
          </a:p>
          <a:p>
            <a:r>
              <a:t>I can use comparatives and contrast linkers accurately.</a:t>
            </a:r>
          </a:p>
          <a:p>
            <a:r>
              <a:t>I can make the compared items parallel (that of).</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comparatives and superlatives, parallel comparisons, and contrast linkers.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62 · Complaints and Challenges 投诉和质疑</a:t>
            </a:r>
          </a:p>
          <a:p>
            <a:r>
              <a:t>Goal: handle complaints and challenges from customers or clients professionally: listen, empathise, investigate, offer solutions and follow up.</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complaint = 投诉;challenge 在这里指客户的质疑/挑战。第 3 题答案:先倾听,再道歉,再解决。escalate = 升级处理。</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Respond to a customer complaint step by step.</a:t>
            </a:r>
          </a:p>
          <a:p>
            <a:r>
              <a:t>Say: listen → empathise → clarify → solution → follow up</a:t>
            </a:r>
          </a:p>
          <a:p>
            <a:r>
              <a:t>Useful starters: “I’m sorry to hear that.” / “Let me make sure I understand…” / “What I can do is…”</a:t>
            </a:r>
          </a:p>
          <a:p>
            <a:r>
              <a:t>先共情再解决。What I can do is… 提供可行方案,避免只说 “I can’t”。</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Most unhappy customers never complain; they simply leave. That is why a complaint, though unpleasant, is a gift: it tells you what went wrong and offers a chance to repair the relationship. Handling it well follows a simple sequence. First, listen without interrupting, and let the person finish. Second, show you understand: “I can see why that was frustrating.” Third, apologise sincerely for the experience, even if the cause is not clear yet. Fourth, ask questions to find the facts. Fifth, offer a solution, or explain clearly what you will do and by when. Finally, follow up to check the customer is satisfied. Studies suggest that customers whose problems are solved quickly can become more loyal than those who never had a problem. Whatever the outcome, treat every complaint as feedback.</a:t>
            </a:r>
          </a:p>
          <a:p>
            <a:r>
              <a:t>“simply leave” = 悄悄流失。sincerely = 真诚地。sequence = 顺序。loyal = 忠诚的。</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is a complaint described as a gift?</a:t>
            </a:r>
          </a:p>
          <a:p>
            <a:r>
              <a:t>A: It reveals what went wrong and gives a chance to repair the relationship.</a:t>
            </a:r>
          </a:p>
          <a:p>
            <a:r>
              <a:t>Q2. What is the first step in handling a complaint?</a:t>
            </a:r>
          </a:p>
          <a:p>
            <a:r>
              <a:t>A: Listen without interrupting.</a:t>
            </a:r>
          </a:p>
          <a:p>
            <a:r>
              <a:t>Q3. Why follow up?</a:t>
            </a:r>
          </a:p>
          <a:p>
            <a:r>
              <a:t>A: To check that the customer is satisfied.</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Handling complaints 处理投诉</a:t>
            </a:r>
          </a:p>
          <a:p>
            <a:r>
              <a:t>领读 → 学员跟读 → 请学员用表达造一个和自己工作相关的句子。</a:t>
            </a:r>
          </a:p>
          <a:p>
            <a:r>
              <a:t>complaint (noun) 投诉 — “We received a complaint about the delay.”</a:t>
            </a:r>
          </a:p>
          <a:p>
            <a:r>
              <a:t>refund (noun / verb) 退款 — “We’ll issue a full refund.”</a:t>
            </a:r>
          </a:p>
          <a:p>
            <a:r>
              <a:t>replacement (noun) 更换品 — “We’ll send a replacement.”</a:t>
            </a:r>
          </a:p>
          <a:p>
            <a:r>
              <a:t>compensation (noun) 赔偿 — “The customer asked for compensation.”</a:t>
            </a:r>
          </a:p>
          <a:p>
            <a:r>
              <a:t>resolve (verb) 解决 — “We resolved the issue within a day.”</a:t>
            </a:r>
          </a:p>
          <a:p>
            <a:r>
              <a:t>escalate (verb) 上报 — “I’ll escalate this to my manager.”</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Professional responses ★ 专业回应</a:t>
            </a:r>
          </a:p>
          <a:p>
            <a:r>
              <a:t>领读 → 学员跟读 → 请学员用表达造一个和自己工作相关的句子。</a:t>
            </a:r>
          </a:p>
          <a:p>
            <a:r>
              <a:t>★ apologise for the inconvenience (collocation) 为不便道歉 — “We apologise for the inconvenience.”</a:t>
            </a:r>
          </a:p>
          <a:p>
            <a:r>
              <a:t>★ look into (phrasal verb) 调查 — “I’ll look into it straight away.”</a:t>
            </a:r>
          </a:p>
          <a:p>
            <a:r>
              <a:t>★ get to the bottom of (idiom) 查明原因 — “We’ll get to the bottom of it.”</a:t>
            </a:r>
          </a:p>
          <a:p>
            <a:r>
              <a:t>★ make it right (collocation) 弥补 — “We want to make it right.”</a:t>
            </a:r>
          </a:p>
          <a:p>
            <a:r>
              <a:t>★ goodwill gesture (noun phrase) 善意补偿 — “We’re offering a voucher as a goodwill gesture.”</a:t>
            </a:r>
          </a:p>
          <a:p>
            <a:r>
              <a:t>★ take full responsibility (collocation) 全面承担责任 — “We take full responsibility for the mistake.”</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complaint / refund / replacement / compensation / escalate / goodwill gesture</a:t>
            </a:r>
          </a:p>
          <a:p>
            <a:r>
              <a:t>1. We received a _______ about the late delivery. → complaint</a:t>
            </a:r>
          </a:p>
          <a:p>
            <a:r>
              <a:t>2. I’m very sorry. We’ll issue a full _______ today. → refund</a:t>
            </a:r>
          </a:p>
          <a:p>
            <a:r>
              <a:t>3. We’ll send a _______ by courier tomorrow. → replacement</a:t>
            </a:r>
          </a:p>
          <a:p>
            <a:r>
              <a:t>4. The customer asked for _______ for the damage. → compensation</a:t>
            </a:r>
          </a:p>
          <a:p>
            <a:r>
              <a:t>5. If it’s not solved, I’ll _______ it to my manager. → escalate</a:t>
            </a:r>
          </a:p>
          <a:p>
            <a:r>
              <a:t>6. We’re offering a voucher as a _______. → goodwill gesture</a:t>
            </a:r>
          </a:p>
          <a:p>
            <a:r>
              <a:t>Mistake Watch (拼写与搭配): complaint (noun) vs complain (verb: “complain about”), apologise (UK) / apologize (US), compensation (not “compesation”). Complain about sth, to sb. Apologise to sb for sth. Make / file / lodge a complaint. Refund /ˈriːfʌnd/ (noun), /rɪˈfʌnd/ (verb).</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Handling an angry customer 处理愤怒的客户</a:t>
            </a:r>
          </a:p>
          <a:p>
            <a:r>
              <a:t>情景：You work in customer service. A customer, Mr Bose, calls because a laptop arrived damaged.</a:t>
            </a:r>
          </a:p>
          <a:p>
            <a:r>
              <a:t>Role A: Leah Yan, customer service agent (you) Role B: Mr Bose, customer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(Leah): Good afternoon, this is Leah. How can I help?</a:t>
            </a:r>
          </a:p>
          <a:p>
            <a:r>
              <a:t>B (Mr Bose): I’m extremely unhappy. My laptop arrived with a cracked screen, and no one has contacted me for a week.</a:t>
            </a:r>
          </a:p>
          <a:p>
            <a:r>
              <a:t>A: I’m very sorry to hear that, Mr Bose. That must be frustrating. Let me make sure I understand: the laptop arrived damaged, and you’ve been waiting for a response?</a:t>
            </a:r>
          </a:p>
          <a:p>
            <a:r>
              <a:t>B: Exactly. I’ve sent three emails.</a:t>
            </a:r>
          </a:p>
          <a:p>
            <a:r>
              <a:t>A: I apologise for the delay and for the damage. I’ll look into it right away.</a:t>
            </a:r>
          </a:p>
          <a:p>
            <a:r>
              <a:t>B: What are you going to do about it?</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I can do is send a replacement by express delivery, free of charge, and arrange collection of the damaged one.</a:t>
            </a:r>
          </a:p>
          <a:p>
            <a:r>
              <a:t>B: When would I get it?</a:t>
            </a:r>
          </a:p>
          <a:p>
            <a:r>
              <a:t>A: Tomorrow before noon. I’ll also add a discount voucher as a goodwill gesture.</a:t>
            </a:r>
          </a:p>
          <a:p>
            <a:r>
              <a:t>B: All right, that’s fair. But please make sure it actually arrives.</a:t>
            </a:r>
          </a:p>
          <a:p>
            <a:r>
              <a:t>A: I will personally track it, and I’ll call you tomorrow afternoon to confirm. Is that okay?</a:t>
            </a:r>
          </a:p>
          <a:p>
            <a:r>
              <a:t>B: Yes, thank you.</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62 | </a:t>
            </a:r>
          </a:p>
          <a:p>
            <a:r>
              <a:t>Situation | You handle a complaint.</a:t>
            </a:r>
          </a:p>
          <a:p>
            <a:r>
              <a:t>Your role (A) | Agent. Problem: ______________</a:t>
            </a:r>
          </a:p>
          <a:p>
            <a:r>
              <a:t>Partner’s role (B) | Customer. Frustrated. Wants a solution.</a:t>
            </a:r>
          </a:p>
          <a:p>
            <a:r>
              <a:t>Must use (4 or more) | I’m sorry to hear · let me make sure I understand · look into · what I can do is · goodwill gesture · follow up</a:t>
            </a:r>
          </a:p>
          <a:p>
            <a:r>
              <a:t>Goal | Listen, apologise, offer a solution and agree a follow-up.</a:t>
            </a:r>
          </a:p>
          <a:p>
            <a:r>
              <a:t>My notes | ____________________________________________</a:t>
            </a:r>
          </a:p>
          <a:p>
            <a:r>
              <a:t>The customer asks for a refund and you cannot give one. Offer alternatives.</a:t>
            </a:r>
          </a:p>
          <a:p>
            <a:r>
              <a:t>The customer says: “I want to speak to your manager.” Respond.</a:t>
            </a:r>
          </a:p>
          <a:p>
            <a:r>
              <a:t>Write a short reply to a complaint email.</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should businesses handle complaints? | “They should… / It’s important to…”</a:t>
            </a:r>
          </a:p>
          <a:p>
            <a:r>
              <a:t>2. Do you complain when you’re unhappy with a service? | “I usually… / I’d rather…”</a:t>
            </a:r>
          </a:p>
          <a:p>
            <a:r>
              <a:t>3. When is compensation appropriate? | “When the company is clearly at fault…”</a:t>
            </a:r>
          </a:p>
          <a:p>
            <a:r>
              <a:t>4. How can you stay calm with an angry customer? | “I try to… / Remembering that…”</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“To stay calm, I try to remember that the customer is angry about the situation, not about me personally. I listen without interrupting and lower my voice, even when they raise theirs. Taking a breath before I answer helps. And I focus on what I can do rather than on what I can’t. Once the customer feels heard, the tension usually drops.”</a:t>
            </a:r>
          </a:p>
          <a:p>
            <a:r>
              <a:t>personally = 针对个人。”lower my voice” = 压低声音。tension = 紧张气氛。”feels heard” = 感到被倾听。</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Sorry. | I’m very sorry for the inconvenience. | 正式</a:t>
            </a:r>
          </a:p>
          <a:p>
            <a:r>
              <a:t>I can’t do that. | What I can do is… | 积极</a:t>
            </a:r>
          </a:p>
          <a:p>
            <a:r>
              <a:t>It’s not our fault. | Let me find out what happened. | 避免推责</a:t>
            </a:r>
          </a:p>
          <a:p>
            <a:r>
              <a:t>Wait a moment. | Could you bear with me while I check? | 礼貌</a:t>
            </a:r>
          </a:p>
          <a:p>
            <a:r>
              <a:t>Your problem will be fixed. | I’ll make sure this is resolved by tomorrow. | 承诺具体</a:t>
            </a:r>
          </a:p>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Apologies: I’m sorry to hear that. / I apologise for the inconvenience. / Please accept our apologies.</a:t>
            </a:r>
          </a:p>
          <a:p>
            <a:r>
              <a:t>Empathy: I can see why you’re upset. / I understand how frustrating this is.</a:t>
            </a:r>
          </a:p>
          <a:p>
            <a:r>
              <a:t>Promises with will/going to: “I’ll look into it.” (decision now) / “We’re going to investigate.” (plan)</a:t>
            </a:r>
          </a:p>
          <a:p>
            <a:r>
              <a:t>Avoid blame: use passive or neutral phrases: “A mistake was made in the warehouse.”</a:t>
            </a:r>
          </a:p>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regret for the problem.  →  ✓ I’m sorry about the problem. / I regret the problem.  (regret 动词)</a:t>
            </a:r>
          </a:p>
          <a:p>
            <a:r>
              <a:t>✗ We apologize you.  →  ✓ We apologise to you.  (apologise to)</a:t>
            </a:r>
          </a:p>
          <a:p>
            <a:r>
              <a:t>✗ Sorry to make you wait.  →  ✓ I’m sorry to have kept you waiting.  (完成时)</a:t>
            </a:r>
          </a:p>
          <a:p>
            <a:r>
              <a:t>Mistake Watch: Check apologise to sb for sth, complain to / about, and refund as a verb.</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It’s your fault.  →  ✓ It looks like there was a mix-up.  (避免指责)</a:t>
            </a:r>
          </a:p>
          <a:p>
            <a:r>
              <a:t>✗ We will send you back the money.  →  ✓ We will refund your money.  (refund)</a:t>
            </a:r>
          </a:p>
          <a:p>
            <a:r>
              <a:t>✗ He complained me.  →  ✓ He complained to me.  (complain to)</a:t>
            </a:r>
          </a:p>
          <a:p>
            <a:r>
              <a:t>Mistake Watch: Check apologise to sb for sth, complain to / about, and refund as a verb.</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Complaint culture: In the UK, people often apologise a lot. In the US, firm but friendly service is expected.</a:t>
            </a:r>
          </a:p>
          <a:p>
            <a:r>
              <a:t>Social media: Complaints on social media spread fast. Respond politely and move the conversation to private messages.</a:t>
            </a:r>
          </a:p>
          <a:p>
            <a:r>
              <a:t>Legal rights: Consumers have legal rights to refunds in many countries. Check them.</a:t>
            </a:r>
          </a:p>
          <a:p>
            <a:r>
              <a:t>complain to sb about sth;apologise to sb for sth;refund 作动词不用 for 引进钱。不要说 It’s your fault。</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respond to a complaint with empathy.</a:t>
            </a:r>
          </a:p>
          <a:p>
            <a:r>
              <a:t>I can offer a solution and follow up.</a:t>
            </a:r>
          </a:p>
          <a:p>
            <a:r>
              <a:t>I can use apologies and empathy phrases.</a:t>
            </a:r>
          </a:p>
          <a:p>
            <a:r>
              <a:t>I can use complain to / about and apologise to / for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complain to / about, apologise to / for, and neutral language.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63 · Complaining and Apologising 投诉和道歉</a:t>
            </a:r>
          </a:p>
          <a:p>
            <a:r>
              <a:t>Goal: make a professional complaint yourself and give a sincere apology when you are at fault, in spoken and written form.</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complain 与 apologise 是相对的一对。注意 “I apologise” 与 “I’m sorry” 的正式程度不同。</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Make a polite but firm complaint to a supplier, and then give an apology.</a:t>
            </a:r>
          </a:p>
          <a:p>
            <a:r>
              <a:t>Say: describe the problem → impact → what you expect → deadline</a:t>
            </a:r>
          </a:p>
          <a:p>
            <a:r>
              <a:t>Useful starters: “I’m writing to complain about…” / “I would appreciate it if you could…” / “I look forward to hearing from you.”</a:t>
            </a:r>
          </a:p>
          <a:p>
            <a:r>
              <a:t>I’m writing to complain about… 是投诉邮件的标准开头。I would appreciate it if… 是礼貌而坚定的要求。</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 good complaint is clear, calm and specific. State what happened, when it happened and how it affected you. Say what you expect: a refund, a repair or an explanation. Give a reasonable deadline. Avoid anger and personal attacks, because they make people defensive and rarely improve the result. A good apology is just as clear. It names the mistake, takes responsibility, explains briefly what will change and offers to make amends. “I’m sorry you feel that way” is not an apology, because it blames the listener. A better version is: “I’m sorry we missed the deadline. It was our mistake. We have changed the process so that it won’t happen again.” In both cases, tone matters as much as words. Be direct, respectful and constructive.</a:t>
            </a:r>
          </a:p>
          <a:p>
            <a:r>
              <a:t>defensive = 防御的。make amends = 弥补。constructive = 建设性的。”blames the listener” = 怪听众。</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should a good complaint include?</a:t>
            </a:r>
          </a:p>
          <a:p>
            <a:r>
              <a:t>A: What happened, when, the impact, what you expect and a deadline.</a:t>
            </a:r>
          </a:p>
          <a:p>
            <a:r>
              <a:t>Q2. Why is “I’m sorry you feel that way” not a real apology?</a:t>
            </a:r>
          </a:p>
          <a:p>
            <a:r>
              <a:t>A: It blames the listener instead of taking responsibility.</a:t>
            </a:r>
          </a:p>
          <a:p>
            <a:r>
              <a:t>Q3. What makes a good apology?</a:t>
            </a:r>
          </a:p>
          <a:p>
            <a:r>
              <a:t>A: Naming the mistake, taking responsibility, explaining what will change and offering to make amends.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Complaining formally 正式投诉</a:t>
            </a:r>
          </a:p>
          <a:p>
            <a:r>
              <a:t>领读 → 学员跟读 → 请学员用表达造一个和自己工作相关的句子。</a:t>
            </a:r>
          </a:p>
          <a:p>
            <a:r>
              <a:t>I’m writing to complain (phrase) 我写信是想投诉 — “I’m writing to complain about the service.”</a:t>
            </a:r>
          </a:p>
          <a:p>
            <a:r>
              <a:t>dissatisfied (adjective) 不满意的 — “We are dissatisfied with the quality.”</a:t>
            </a:r>
          </a:p>
          <a:p>
            <a:r>
              <a:t>unacceptable (adjective) 不可接受的 — “This level of service is unacceptable.”</a:t>
            </a:r>
          </a:p>
          <a:p>
            <a:r>
              <a:t>remedy (noun / verb) 补救措施 — “We expect a prompt remedy.”</a:t>
            </a:r>
          </a:p>
          <a:p>
            <a:r>
              <a:t>deadline (noun) 期限 — “Please reply by the deadline.”</a:t>
            </a:r>
          </a:p>
          <a:p>
            <a:r>
              <a:t>formal complaint (noun phrase) 正式投诉 — “We will make a formal complaint.”</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Apologising sincerely ★ 真诚道歉</a:t>
            </a:r>
          </a:p>
          <a:p>
            <a:r>
              <a:t>领读 → 学员跟读 → 请学员用表达造一个和自己工作相关的句子。</a:t>
            </a:r>
          </a:p>
          <a:p>
            <a:r>
              <a:t>★ take responsibility (collocation) 承担责任 — “We take responsibility for the error.”</a:t>
            </a:r>
          </a:p>
          <a:p>
            <a:r>
              <a:t>★ make amends (idiom) 弥补 — “We’d like to make amends.”</a:t>
            </a:r>
          </a:p>
          <a:p>
            <a:r>
              <a:t>★ it won’t happen again (phrase) 不会再发生 — “It won’t happen again.”</a:t>
            </a:r>
          </a:p>
          <a:p>
            <a:r>
              <a:t>★ owe someone an apology (collocation) 欠某人一个道歉 — “I owe you an apology.”</a:t>
            </a:r>
          </a:p>
          <a:p>
            <a:r>
              <a:t>★ fall short of (collocation) 未达到(标准) — “We fell short of your expectations.”</a:t>
            </a:r>
          </a:p>
          <a:p>
            <a:r>
              <a:t>★ put things right (phrase) 纠正 — “We’ll put things right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dissatisfied / unacceptable / remedy / take responsibility / make amends / fell short</a:t>
            </a:r>
          </a:p>
          <a:p>
            <a:r>
              <a:t>1. We are _______ with the quality of the goods. → dissatisfied</a:t>
            </a:r>
          </a:p>
          <a:p>
            <a:r>
              <a:t>2. Waiting three weeks for a reply is _______. → unacceptable</a:t>
            </a:r>
          </a:p>
          <a:p>
            <a:r>
              <a:t>3. We expect a prompt _______ to this problem. → remedy</a:t>
            </a:r>
          </a:p>
          <a:p>
            <a:r>
              <a:t>4. I want to _______ for the error. → take responsibility</a:t>
            </a:r>
          </a:p>
          <a:p>
            <a:r>
              <a:t>5. We would like to _______ for the inconvenience. → make amends</a:t>
            </a:r>
          </a:p>
          <a:p>
            <a:r>
              <a:t>6. Our service _______ of your expectations. → fell short</a:t>
            </a:r>
          </a:p>
          <a:p>
            <a:r>
              <a:t>Mistake Watch (拼写与搭配): dissatisfied (one s in “dis-sat-is-fied”), apologise, unacceptable. Complain about sth; apologise for sth. Express dissatisfaction with. We regret to inform you. Don’t write “sorry for troubling you” in a formal complaint; use “I would appreciate it if…”.</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Writing a complaint and an apology 书面投诉与回复</a:t>
            </a:r>
          </a:p>
          <a:p>
            <a:r>
              <a:t>情景：You phone a supplier to complain about a missed delivery, and the supplier’s manager apologises.</a:t>
            </a:r>
          </a:p>
          <a:p>
            <a:r>
              <a:t>Role A: Gary Tan, buyer (you) Role B: Ms Ford, supplier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(Gary): Ms Ford, I’m calling to complain about our order, which was due on Monday. It still hasn’t arrived.</a:t>
            </a:r>
          </a:p>
          <a:p>
            <a:r>
              <a:t>B (Ms Ford): I’m sorry to hear that. Can you give me the order number?</a:t>
            </a:r>
          </a:p>
          <a:p>
            <a:r>
              <a:t>A: It’s 48213. This is the second time this quarter. We have a production line waiting for those parts.</a:t>
            </a:r>
          </a:p>
          <a:p>
            <a:r>
              <a:t>B: I understand, and I apologise. That’s unacceptable on our part.</a:t>
            </a:r>
          </a:p>
          <a:p>
            <a:r>
              <a:t>A: It has cost us two days of production. I’d appreciate it if you could deliver by tomorrow, and explain what happened.</a:t>
            </a:r>
          </a:p>
          <a:p>
            <a:r>
              <a:t>B: I’ll check with the warehouse. We seem to have shipped to an old address. It was our mistake, and I take full responsibility.</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Thank you for being straightforward. What will you do?</a:t>
            </a:r>
          </a:p>
          <a:p>
            <a:r>
              <a:t>B: We’ll send it by express courier today, at our cost, and I’ll give you a ten per cent discount on this order.</a:t>
            </a:r>
          </a:p>
          <a:p>
            <a:r>
              <a:t>A: That’s helpful. And how will you prevent it from happening again?</a:t>
            </a:r>
          </a:p>
          <a:p>
            <a:r>
              <a:t>B: We’re updating our address records and adding a second check before dispatch.</a:t>
            </a:r>
          </a:p>
          <a:p>
            <a:r>
              <a:t>A: Good. Please confirm in writing today.</a:t>
            </a:r>
          </a:p>
          <a:p>
            <a:r>
              <a:t>B: I will. Again, I’m very sorry, Mr Tan.</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63 | </a:t>
            </a:r>
          </a:p>
          <a:p>
            <a:r>
              <a:t>Situation | You make a complaint and receive an apology.</a:t>
            </a:r>
          </a:p>
          <a:p>
            <a:r>
              <a:t>Your role (A) | Buyer. Problem: ______________</a:t>
            </a:r>
          </a:p>
          <a:p>
            <a:r>
              <a:t>Partner’s role (B) | Supplier. Apologise, explain and offer a remedy.</a:t>
            </a:r>
          </a:p>
          <a:p>
            <a:r>
              <a:t>Must use (4 or more) | I’m calling to complain · unacceptable · I’d appreciate it if · take responsibility · it won’t happen again · in writing</a:t>
            </a:r>
          </a:p>
          <a:p>
            <a:r>
              <a:t>Goal | Complain firmly, accept the apology and agree a remedy.</a:t>
            </a:r>
          </a:p>
          <a:p>
            <a:r>
              <a:t>My notes | ____________________________________________</a:t>
            </a:r>
          </a:p>
          <a:p>
            <a:r>
              <a:t>The supplier blames the courier. Respond.</a:t>
            </a:r>
          </a:p>
          <a:p>
            <a:r>
              <a:t>Write a three-sentence complaint email.</a:t>
            </a:r>
          </a:p>
          <a:p>
            <a:r>
              <a:t>Write a short apology email after missing a deadline.</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makes a complaint effective? | “It should be… / It helps if you…”</a:t>
            </a:r>
          </a:p>
          <a:p>
            <a:r>
              <a:t>2. Why do some apologies sound insincere? | “They sound insincere when… / Because they often…”</a:t>
            </a:r>
          </a:p>
          <a:p>
            <a:r>
              <a:t>3. Is it important to apologise quickly? | “Yes, because… / Delaying can make things worse.”</a:t>
            </a:r>
          </a:p>
          <a:p>
            <a:r>
              <a:t>4. How should a company apologise to customers publicly? | “It should… / The message must…”</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“Apologies sound insincere when they are vague, defensive or blame the other person: “I’m sorry if you were offended.” A sincere apology names what went wrong, accepts responsibility without excuses and explains how the problem will be fixed. It also comes quickly, because delay suggests that the person doesn’t care. And of course the actions after the apology must match the words.”</a:t>
            </a:r>
          </a:p>
          <a:p>
            <a:r>
              <a:t>vague = 含糊的。defensive = 防御的。”names what went wrong” 指出具体错误。”match the words” = 言行一致。</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I’m unhappy. | I’m disappointed with the level of service. | 正式</a:t>
            </a:r>
          </a:p>
          <a:p>
            <a:r>
              <a:t>This is terrible. | This is not up to the standard we expected. | 委婉</a:t>
            </a:r>
          </a:p>
          <a:p>
            <a:r>
              <a:t>Sorry, my mistake. | I apologise. It was my mistake, and I’ll put it right. | 完整</a:t>
            </a:r>
          </a:p>
          <a:p>
            <a:r>
              <a:t>I’ll do better. | I’ll make sure it doesn’t happen again. | 承诺</a:t>
            </a:r>
          </a:p>
          <a:p>
            <a:r>
              <a:t>Please answer. | I look forward to your reply by Friday. | 礼貌带期限</a:t>
            </a:r>
          </a:p>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Formal complaint email: Dear…, I am writing to… / I would be grateful if… / I look forward to hearing from you. / Yours sincerely,</a:t>
            </a:r>
          </a:p>
          <a:p>
            <a:r>
              <a:t>Present perfect for ongoing problem: “We still haven’t received the order.” / “This has happened twice.”</a:t>
            </a:r>
          </a:p>
          <a:p>
            <a:r>
              <a:t>Third conditional (regret): “If we had checked the address, this wouldn’t have happened.”</a:t>
            </a:r>
          </a:p>
          <a:p>
            <a:r>
              <a:t>Tone: I’m afraid, Unfortunately, I would appreciate it if soften a firm message.</a:t>
            </a:r>
          </a:p>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want to complain you.  →  ✓ I want to complain to you.  (complain to)</a:t>
            </a:r>
          </a:p>
          <a:p>
            <a:r>
              <a:t>✗ I am sorry for the delay to deliver.  →  ✓ I’m sorry for the delay in delivering.  (delay in -ing)</a:t>
            </a:r>
          </a:p>
          <a:p>
            <a:r>
              <a:t>✗ This is not acceptable for me.  →  ✓ This is not acceptable to me.  (acceptable to)</a:t>
            </a:r>
          </a:p>
          <a:p>
            <a:r>
              <a:t>Mistake Watch: Check complain to / about, delay in + -ing, and acceptable to.</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apologise for the inconvenience caused you.  →  ✓ We apologise for the inconvenience caused to you.  (caused to)</a:t>
            </a:r>
          </a:p>
          <a:p>
            <a:r>
              <a:t>✗ I am complaining your service.  →  ✓ I am complaining about your service.  (complain about)</a:t>
            </a:r>
          </a:p>
          <a:p>
            <a:r>
              <a:t>✗ We will not do it again.  →  ✓ It will not happen again.  (习惯表达)</a:t>
            </a:r>
          </a:p>
          <a:p>
            <a:r>
              <a:t>Mistake Watch: Check complain to / about, delay in + -ing, and acceptable to.</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Tone of complaint letters: In English, formal letters are polite even when firm. “I would be grateful if…” is stronger than it sounds.</a:t>
            </a:r>
          </a:p>
          <a:p>
            <a:r>
              <a:t>Apologies and liability: Some companies avoid apologising in writing for legal reasons; “We regret…” is a safer form.</a:t>
            </a:r>
          </a:p>
          <a:p>
            <a:r>
              <a:t>Rewrite: If you write angry, wait an hour before sending.</a:t>
            </a:r>
          </a:p>
          <a:p>
            <a:r>
              <a:t>complain to sb about sth;delay in doing sth;acceptable to sb。投诉邮件要具体、冷静、给期限;道歉要承认错误、说明补救、保证不再发生。</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make a firm but polite complaint.</a:t>
            </a:r>
          </a:p>
          <a:p>
            <a:r>
              <a:t>I can apologise sincerely.</a:t>
            </a:r>
          </a:p>
          <a:p>
            <a:r>
              <a:t>I can write a short formal complaint or apology.</a:t>
            </a:r>
          </a:p>
          <a:p>
            <a:r>
              <a:t>I can use complain to / about and delay in -ing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complain to / about, delay in -ing, and formal polite phrases.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“签订” in English? → enter into</a:t>
            </a:r>
          </a:p>
          <a:p>
            <a:r>
              <a:t>“确认” in English? → confirm</a:t>
            </a:r>
          </a:p>
          <a:p>
            <a:r>
              <a:t>“上报” in English? → escalate</a:t>
            </a:r>
          </a:p>
          <a:p>
            <a:r>
              <a:t>Fix it: This is my lowest price. I can’t more. → That’s my lowest price; I can’t go any lower.</a:t>
            </a:r>
          </a:p>
          <a:p>
            <a:r>
              <a:t>Fix it: I want to complain you. → I want to complain to you.</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26.xml"/><Relationship Id="rId5" Type="http://schemas.openxmlformats.org/officeDocument/2006/relationships/slide" Target="slide48.xml"/><Relationship Id="rId6" Type="http://schemas.openxmlformats.org/officeDocument/2006/relationships/slide" Target="slide70.xml"/><Relationship Id="rId7" Type="http://schemas.openxmlformats.org/officeDocument/2006/relationships/slide" Target="slide92.xml"/><Relationship Id="rId8" Type="http://schemas.openxmlformats.org/officeDocument/2006/relationships/slide" Target="slide114.xml"/><Relationship Id="rId9" Type="http://schemas.openxmlformats.org/officeDocument/2006/relationships/slide" Target="slide136.xml"/><Relationship Id="rId10" Type="http://schemas.openxmlformats.org/officeDocument/2006/relationships/slide" Target="slide158.xml"/><Relationship Id="rId11" Type="http://schemas.openxmlformats.org/officeDocument/2006/relationships/slide" Target="slide181.xml"/><Relationship Id="rId12" Type="http://schemas.openxmlformats.org/officeDocument/2006/relationships/slide" Target="slide20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5.xml"/><Relationship Id="rId4" Type="http://schemas.openxmlformats.org/officeDocument/2006/relationships/slide" Target="slide226.xml"/><Relationship Id="rId5" Type="http://schemas.openxmlformats.org/officeDocument/2006/relationships/slide" Target="slide227.xml"/><Relationship Id="rId6" Type="http://schemas.openxmlformats.org/officeDocument/2006/relationships/slide" Target="slide228.xml"/><Relationship Id="rId7" Type="http://schemas.openxmlformats.org/officeDocument/2006/relationships/slide" Target="slide229.xml"/><Relationship Id="rId8" Type="http://schemas.openxmlformats.org/officeDocument/2006/relationships/slide" Target="slide230.xml"/><Relationship Id="rId9" Type="http://schemas.openxmlformats.org/officeDocument/2006/relationships/slide" Target="slide231.xml"/><Relationship Id="rId10" Type="http://schemas.openxmlformats.org/officeDocument/2006/relationships/slide" Target="slide232.xml"/><Relationship Id="rId11" Type="http://schemas.openxmlformats.org/officeDocument/2006/relationships/slide" Target="slide233.xml"/><Relationship Id="rId12" Type="http://schemas.openxmlformats.org/officeDocument/2006/relationships/slide" Target="slide234.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25.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25.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25.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25.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25.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25.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25.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25.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25.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6.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6</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9-10 · UNIT 6</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5200" b="1">
                <a:solidFill>
                  <a:srgbClr val="FFFFFF"/>
                </a:solidFill>
                <a:latin typeface="Arial"/>
                <a:ea typeface="Microsoft YaHei"/>
              </a:rPr>
              <a:t>Negotiations and Client Relations</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645920"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10 Lessons</a:t>
            </a:r>
          </a:p>
        </p:txBody>
      </p:sp>
      <p:sp>
        <p:nvSpPr>
          <p:cNvPr id="12" name="Rounded Rectangle 11"/>
          <p:cNvSpPr/>
          <p:nvPr/>
        </p:nvSpPr>
        <p:spPr>
          <a:xfrm>
            <a:off x="4389120"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L54 Preparing to Negotiate · L55 Mastering Negotiations · L56 Hardball Negotiation Tactics · L57 Getting Down to the Nitty-Gritty · L58 Reaching Agreement · L59 Winning Over Important Clients · L60 Signing Contracts · L61 Comparing Services  +2 more</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2636443"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6400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54</a:t>
            </a:r>
          </a:p>
        </p:txBody>
      </p:sp>
      <p:sp>
        <p:nvSpPr>
          <p:cNvPr id="9" name="TextBox 8"/>
          <p:cNvSpPr txBox="1"/>
          <p:nvPr/>
        </p:nvSpPr>
        <p:spPr>
          <a:xfrm>
            <a:off x="1417320" y="158191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Preparing to Negotiate</a:t>
            </a:r>
          </a:p>
          <a:p>
            <a:pPr algn="l">
              <a:lnSpc>
                <a:spcPct val="100000"/>
              </a:lnSpc>
              <a:spcAft>
                <a:spcPts val="800"/>
              </a:spcAft>
            </a:pPr>
            <a:r>
              <a:rPr sz="1400" b="0">
                <a:solidFill>
                  <a:srgbClr val="5F677A"/>
                </a:solidFill>
                <a:latin typeface="Arial"/>
                <a:ea typeface="Microsoft YaHei"/>
              </a:rPr>
              <a:t>准备谈判</a:t>
            </a:r>
          </a:p>
        </p:txBody>
      </p:sp>
      <p:sp>
        <p:nvSpPr>
          <p:cNvPr id="10" name="Rounded Rectangle 9">
            <a:hlinkClick action="ppaction://hlinksldjump" r:id="rId4"/>
          </p:cNvPr>
          <p:cNvSpPr/>
          <p:nvPr/>
        </p:nvSpPr>
        <p:spPr>
          <a:xfrm>
            <a:off x="3367963" y="1554480"/>
            <a:ext cx="2636443"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77691" y="1851660"/>
            <a:ext cx="6400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55</a:t>
            </a:r>
          </a:p>
        </p:txBody>
      </p:sp>
      <p:sp>
        <p:nvSpPr>
          <p:cNvPr id="12" name="TextBox 11"/>
          <p:cNvSpPr txBox="1"/>
          <p:nvPr/>
        </p:nvSpPr>
        <p:spPr>
          <a:xfrm>
            <a:off x="4236643" y="158191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Mastering Negotiations</a:t>
            </a:r>
          </a:p>
          <a:p>
            <a:pPr algn="l">
              <a:lnSpc>
                <a:spcPct val="100000"/>
              </a:lnSpc>
              <a:spcAft>
                <a:spcPts val="800"/>
              </a:spcAft>
            </a:pPr>
            <a:r>
              <a:rPr sz="1400" b="0">
                <a:solidFill>
                  <a:srgbClr val="5F677A"/>
                </a:solidFill>
                <a:latin typeface="Arial"/>
                <a:ea typeface="Microsoft YaHei"/>
              </a:rPr>
              <a:t>掌握谈判技巧</a:t>
            </a:r>
          </a:p>
        </p:txBody>
      </p:sp>
      <p:sp>
        <p:nvSpPr>
          <p:cNvPr id="13" name="Rounded Rectangle 12">
            <a:hlinkClick action="ppaction://hlinksldjump" r:id="rId5"/>
          </p:cNvPr>
          <p:cNvSpPr/>
          <p:nvPr/>
        </p:nvSpPr>
        <p:spPr>
          <a:xfrm>
            <a:off x="6187286" y="1554480"/>
            <a:ext cx="2636443"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97014" y="1851660"/>
            <a:ext cx="6400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56</a:t>
            </a:r>
          </a:p>
        </p:txBody>
      </p:sp>
      <p:sp>
        <p:nvSpPr>
          <p:cNvPr id="15" name="TextBox 14"/>
          <p:cNvSpPr txBox="1"/>
          <p:nvPr/>
        </p:nvSpPr>
        <p:spPr>
          <a:xfrm>
            <a:off x="7055966" y="1581912"/>
            <a:ext cx="1676323" cy="1179576"/>
          </a:xfrm>
          <a:prstGeom prst="rect">
            <a:avLst/>
          </a:prstGeom>
          <a:noFill/>
        </p:spPr>
        <p:txBody>
          <a:bodyPr wrap="square" anchor="ctr">
            <a:spAutoFit/>
          </a:bodyPr>
          <a:lstStyle/>
          <a:p>
            <a:pPr algn="l">
              <a:lnSpc>
                <a:spcPct val="100000"/>
              </a:lnSpc>
              <a:spcAft>
                <a:spcPts val="100"/>
              </a:spcAft>
            </a:pPr>
            <a:r>
              <a:rPr sz="1500" b="1">
                <a:solidFill>
                  <a:srgbClr val="1F2A44"/>
                </a:solidFill>
                <a:latin typeface="Arial"/>
                <a:ea typeface="Microsoft YaHei"/>
              </a:rPr>
              <a:t>Hardball Negotiation Tactics</a:t>
            </a:r>
          </a:p>
          <a:p>
            <a:pPr algn="l">
              <a:lnSpc>
                <a:spcPct val="100000"/>
              </a:lnSpc>
              <a:spcAft>
                <a:spcPts val="800"/>
              </a:spcAft>
            </a:pPr>
            <a:r>
              <a:rPr sz="1100" b="0">
                <a:solidFill>
                  <a:srgbClr val="5F677A"/>
                </a:solidFill>
                <a:latin typeface="Arial"/>
                <a:ea typeface="Microsoft YaHei"/>
              </a:rPr>
              <a:t>识破谈判中的强硬策略</a:t>
            </a:r>
          </a:p>
        </p:txBody>
      </p:sp>
      <p:sp>
        <p:nvSpPr>
          <p:cNvPr id="16" name="Rounded Rectangle 15">
            <a:hlinkClick action="ppaction://hlinksldjump" r:id="rId6"/>
          </p:cNvPr>
          <p:cNvSpPr/>
          <p:nvPr/>
        </p:nvSpPr>
        <p:spPr>
          <a:xfrm>
            <a:off x="9006609" y="1554480"/>
            <a:ext cx="2636443"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16337" y="1851660"/>
            <a:ext cx="6400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57</a:t>
            </a:r>
          </a:p>
        </p:txBody>
      </p:sp>
      <p:sp>
        <p:nvSpPr>
          <p:cNvPr id="18" name="TextBox 17"/>
          <p:cNvSpPr txBox="1"/>
          <p:nvPr/>
        </p:nvSpPr>
        <p:spPr>
          <a:xfrm>
            <a:off x="9875289" y="158191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Getting Down to the Nitty-Gritty</a:t>
            </a:r>
          </a:p>
          <a:p>
            <a:pPr algn="l">
              <a:lnSpc>
                <a:spcPct val="100000"/>
              </a:lnSpc>
              <a:spcAft>
                <a:spcPts val="800"/>
              </a:spcAft>
            </a:pPr>
            <a:r>
              <a:rPr sz="1400" b="0">
                <a:solidFill>
                  <a:srgbClr val="5F677A"/>
                </a:solidFill>
                <a:latin typeface="Arial"/>
                <a:ea typeface="Microsoft YaHei"/>
              </a:rPr>
              <a:t>深入细节</a:t>
            </a:r>
          </a:p>
        </p:txBody>
      </p:sp>
      <p:sp>
        <p:nvSpPr>
          <p:cNvPr id="19" name="Rounded Rectangle 18">
            <a:hlinkClick action="ppaction://hlinksldjump" r:id="rId7"/>
          </p:cNvPr>
          <p:cNvSpPr/>
          <p:nvPr/>
        </p:nvSpPr>
        <p:spPr>
          <a:xfrm>
            <a:off x="548640" y="2971800"/>
            <a:ext cx="2636443"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8368" y="3268980"/>
            <a:ext cx="6400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58</a:t>
            </a:r>
          </a:p>
        </p:txBody>
      </p:sp>
      <p:sp>
        <p:nvSpPr>
          <p:cNvPr id="21" name="TextBox 20"/>
          <p:cNvSpPr txBox="1"/>
          <p:nvPr/>
        </p:nvSpPr>
        <p:spPr>
          <a:xfrm>
            <a:off x="1417320" y="299923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Reaching Agreement</a:t>
            </a:r>
          </a:p>
          <a:p>
            <a:pPr algn="l">
              <a:lnSpc>
                <a:spcPct val="100000"/>
              </a:lnSpc>
              <a:spcAft>
                <a:spcPts val="800"/>
              </a:spcAft>
            </a:pPr>
            <a:r>
              <a:rPr sz="1400" b="0">
                <a:solidFill>
                  <a:srgbClr val="5F677A"/>
                </a:solidFill>
                <a:latin typeface="Arial"/>
                <a:ea typeface="Microsoft YaHei"/>
              </a:rPr>
              <a:t>达成一致</a:t>
            </a:r>
          </a:p>
        </p:txBody>
      </p:sp>
      <p:sp>
        <p:nvSpPr>
          <p:cNvPr id="22" name="Rounded Rectangle 21">
            <a:hlinkClick action="ppaction://hlinksldjump" r:id="rId8"/>
          </p:cNvPr>
          <p:cNvSpPr/>
          <p:nvPr/>
        </p:nvSpPr>
        <p:spPr>
          <a:xfrm>
            <a:off x="3367963" y="2971800"/>
            <a:ext cx="2636443"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477691" y="3268980"/>
            <a:ext cx="6400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59</a:t>
            </a:r>
          </a:p>
        </p:txBody>
      </p:sp>
      <p:sp>
        <p:nvSpPr>
          <p:cNvPr id="24" name="TextBox 23"/>
          <p:cNvSpPr txBox="1"/>
          <p:nvPr/>
        </p:nvSpPr>
        <p:spPr>
          <a:xfrm>
            <a:off x="4236643" y="299923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Winning Over Important Clients</a:t>
            </a:r>
          </a:p>
          <a:p>
            <a:pPr algn="l">
              <a:lnSpc>
                <a:spcPct val="100000"/>
              </a:lnSpc>
              <a:spcAft>
                <a:spcPts val="800"/>
              </a:spcAft>
            </a:pPr>
            <a:r>
              <a:rPr sz="1400" b="0">
                <a:solidFill>
                  <a:srgbClr val="5F677A"/>
                </a:solidFill>
                <a:latin typeface="Arial"/>
                <a:ea typeface="Microsoft YaHei"/>
              </a:rPr>
              <a:t>赢得重要客户</a:t>
            </a:r>
          </a:p>
        </p:txBody>
      </p:sp>
      <p:sp>
        <p:nvSpPr>
          <p:cNvPr id="25" name="Rounded Rectangle 24">
            <a:hlinkClick action="ppaction://hlinksldjump" r:id="rId9"/>
          </p:cNvPr>
          <p:cNvSpPr/>
          <p:nvPr/>
        </p:nvSpPr>
        <p:spPr>
          <a:xfrm>
            <a:off x="6187286" y="2971800"/>
            <a:ext cx="2636443"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97014" y="3268980"/>
            <a:ext cx="6400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60</a:t>
            </a:r>
          </a:p>
        </p:txBody>
      </p:sp>
      <p:sp>
        <p:nvSpPr>
          <p:cNvPr id="27" name="TextBox 26"/>
          <p:cNvSpPr txBox="1"/>
          <p:nvPr/>
        </p:nvSpPr>
        <p:spPr>
          <a:xfrm>
            <a:off x="7055966" y="299923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Signing Contracts</a:t>
            </a:r>
          </a:p>
          <a:p>
            <a:pPr algn="l">
              <a:lnSpc>
                <a:spcPct val="100000"/>
              </a:lnSpc>
              <a:spcAft>
                <a:spcPts val="800"/>
              </a:spcAft>
            </a:pPr>
            <a:r>
              <a:rPr sz="1400" b="0">
                <a:solidFill>
                  <a:srgbClr val="5F677A"/>
                </a:solidFill>
                <a:latin typeface="Arial"/>
                <a:ea typeface="Microsoft YaHei"/>
              </a:rPr>
              <a:t>签订合同</a:t>
            </a:r>
          </a:p>
        </p:txBody>
      </p:sp>
      <p:sp>
        <p:nvSpPr>
          <p:cNvPr id="28" name="Rounded Rectangle 27">
            <a:hlinkClick action="ppaction://hlinksldjump" r:id="rId10"/>
          </p:cNvPr>
          <p:cNvSpPr/>
          <p:nvPr/>
        </p:nvSpPr>
        <p:spPr>
          <a:xfrm>
            <a:off x="9006609" y="2971800"/>
            <a:ext cx="2636443"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116337" y="3268980"/>
            <a:ext cx="6400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61</a:t>
            </a:r>
          </a:p>
        </p:txBody>
      </p:sp>
      <p:sp>
        <p:nvSpPr>
          <p:cNvPr id="30" name="TextBox 29"/>
          <p:cNvSpPr txBox="1"/>
          <p:nvPr/>
        </p:nvSpPr>
        <p:spPr>
          <a:xfrm>
            <a:off x="9875289" y="299923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Comparing Services</a:t>
            </a:r>
          </a:p>
          <a:p>
            <a:pPr algn="l">
              <a:lnSpc>
                <a:spcPct val="100000"/>
              </a:lnSpc>
              <a:spcAft>
                <a:spcPts val="800"/>
              </a:spcAft>
            </a:pPr>
            <a:r>
              <a:rPr sz="1400" b="0">
                <a:solidFill>
                  <a:srgbClr val="5F677A"/>
                </a:solidFill>
                <a:latin typeface="Arial"/>
                <a:ea typeface="Microsoft YaHei"/>
              </a:rPr>
              <a:t>比较服务</a:t>
            </a:r>
          </a:p>
        </p:txBody>
      </p:sp>
      <p:sp>
        <p:nvSpPr>
          <p:cNvPr id="31" name="Rounded Rectangle 30">
            <a:hlinkClick action="ppaction://hlinksldjump" r:id="rId11"/>
          </p:cNvPr>
          <p:cNvSpPr/>
          <p:nvPr/>
        </p:nvSpPr>
        <p:spPr>
          <a:xfrm>
            <a:off x="548640" y="4389120"/>
            <a:ext cx="2636443"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8368" y="4686300"/>
            <a:ext cx="6400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62</a:t>
            </a:r>
          </a:p>
        </p:txBody>
      </p:sp>
      <p:sp>
        <p:nvSpPr>
          <p:cNvPr id="33" name="TextBox 32"/>
          <p:cNvSpPr txBox="1"/>
          <p:nvPr/>
        </p:nvSpPr>
        <p:spPr>
          <a:xfrm>
            <a:off x="1417320" y="441655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Complaints and Challenges</a:t>
            </a:r>
          </a:p>
          <a:p>
            <a:pPr algn="l">
              <a:lnSpc>
                <a:spcPct val="100000"/>
              </a:lnSpc>
              <a:spcAft>
                <a:spcPts val="800"/>
              </a:spcAft>
            </a:pPr>
            <a:r>
              <a:rPr sz="1400" b="0">
                <a:solidFill>
                  <a:srgbClr val="5F677A"/>
                </a:solidFill>
                <a:latin typeface="Arial"/>
                <a:ea typeface="Microsoft YaHei"/>
              </a:rPr>
              <a:t>投诉和质疑</a:t>
            </a:r>
          </a:p>
        </p:txBody>
      </p:sp>
      <p:sp>
        <p:nvSpPr>
          <p:cNvPr id="34" name="Rounded Rectangle 33">
            <a:hlinkClick action="ppaction://hlinksldjump" r:id="rId12"/>
          </p:cNvPr>
          <p:cNvSpPr/>
          <p:nvPr/>
        </p:nvSpPr>
        <p:spPr>
          <a:xfrm>
            <a:off x="3367963" y="4389120"/>
            <a:ext cx="2636443"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3477691" y="4686300"/>
            <a:ext cx="6400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63</a:t>
            </a:r>
          </a:p>
        </p:txBody>
      </p:sp>
      <p:sp>
        <p:nvSpPr>
          <p:cNvPr id="36" name="TextBox 35"/>
          <p:cNvSpPr txBox="1"/>
          <p:nvPr/>
        </p:nvSpPr>
        <p:spPr>
          <a:xfrm>
            <a:off x="4236643" y="441655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Complaining and Apologising</a:t>
            </a:r>
          </a:p>
          <a:p>
            <a:pPr algn="l">
              <a:lnSpc>
                <a:spcPct val="100000"/>
              </a:lnSpc>
              <a:spcAft>
                <a:spcPts val="800"/>
              </a:spcAft>
            </a:pPr>
            <a:r>
              <a:rPr sz="1400" b="0">
                <a:solidFill>
                  <a:srgbClr val="5F677A"/>
                </a:solidFill>
                <a:latin typeface="Arial"/>
                <a:ea typeface="Microsoft YaHei"/>
              </a:rPr>
              <a:t>投诉和道歉</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6 · Lesson 54 Preparing to Negotiate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54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Preparing to Negotiate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准备谈判</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prepare for a business negotiation: set objectives, research the other side, identify your limits and alternatives, and plan an opening position.</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54 Preparing to Negotiate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8307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negotiated at work or when buying something big? What happened?</a:t>
            </a:r>
          </a:p>
        </p:txBody>
      </p:sp>
      <p:sp>
        <p:nvSpPr>
          <p:cNvPr id="12" name="Oval 11"/>
          <p:cNvSpPr/>
          <p:nvPr/>
        </p:nvSpPr>
        <p:spPr>
          <a:xfrm>
            <a:off x="548640" y="267004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62432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432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prepare before an important negotiation?</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does “win-win” mean in a negotiation?</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would you do if the other side refused to move at all?</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much should you share about your limits?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negotiate 的名词是 negotiation,人是 negotiator。bottom line = 底线。第 4 题可用 “I’d walk away if…”。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54 Preparing to Negotiate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your preparation plan for a negotiation.</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your goal</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their likely interests</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your limits</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alternatives</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opening offer</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Our main objective is…   💬 Their priority is probably…   💬 If we can’t agree, our fallback is…</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fallback = 后备方案。priority = 首要事项。probably 表示推测。</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Win Before You Walk In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128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54 Preparing to Negotiate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Many negotiations are decided before the first handshake. Skilled negotiators spend more time preparing than talking. They begin by defining their objective: the ideal outcome, a realistic target and the point beyond which they will walk away. Then they study the other side, asking what they need, what pressures they face and what alternatives they have. Knowing your best alternative, often called a BATNA, gives you confidence because you are never forced to accept a bad deal. Good preparation also means listing what you can trade. A concession that costs you little may be valuable to the other party, such as faster payment or a longer contract. Finally, plan your opening. Starting too low may waste goodwill, while an ambitious but justified first offer leaves room to move.</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54 Preparing to Negotiate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When are many negotiations decided?</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Before the meeting, during preparation.</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a BATNA?</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Your best alternative to a negotiated agreement, which gives confidence.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list what you can trade?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concession cheap for you may be valuable to the other side.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Negotiation basics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54 Preparing to Negotiate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谈判基础</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objective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目标</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objective is a two-year contract.”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bottom line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底线</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bottom line is 8% margin.”</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concession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让步</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made a concession on delivery.”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leverage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筹码/杠杆</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more leverage than they think.”</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proposal</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提案</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sent them a proposal.”</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terms</a:t>
            </a:r>
          </a:p>
          <a:p>
            <a:pPr algn="l">
              <a:lnSpc>
                <a:spcPct val="115000"/>
              </a:lnSpc>
              <a:spcAft>
                <a:spcPts val="800"/>
              </a:spcAft>
            </a:pPr>
            <a:r>
              <a:rPr sz="1300" b="0">
                <a:solidFill>
                  <a:srgbClr val="5F677A"/>
                </a:solidFill>
                <a:latin typeface="Arial"/>
                <a:ea typeface="Microsoft YaHei"/>
              </a:rPr>
              <a:t>noun (plural)</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条款</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terms are not yet agreed.”</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Planning your position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54 Preparing to Negotiate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规划立场</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fallback position</a:t>
            </a:r>
          </a:p>
          <a:p>
            <a:pPr algn="l">
              <a:lnSpc>
                <a:spcPct val="115000"/>
              </a:lnSpc>
              <a:spcAft>
                <a:spcPts val="800"/>
              </a:spcAft>
            </a:pPr>
            <a:r>
              <a:rPr sz="1300" b="0">
                <a:solidFill>
                  <a:srgbClr val="5F677A"/>
                </a:solidFill>
                <a:latin typeface="Arial"/>
                <a:ea typeface="Microsoft YaHei"/>
              </a:rPr>
              <a:t>noun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后备方案</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fallback position is a smaller order.”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walk away</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退出谈判</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ready to walk away.”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room to manoeuvre</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回旋余地</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room to manoeuvre on price.”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red line</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不可逾越的底线</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“Safety is our red line.”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trade-off</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取舍</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 trade-off between price and quality.”</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open with</a:t>
            </a:r>
          </a:p>
          <a:p>
            <a:pPr algn="l">
              <a:lnSpc>
                <a:spcPct val="115000"/>
              </a:lnSpc>
              <a:spcAft>
                <a:spcPts val="800"/>
              </a:spcAft>
            </a:pPr>
            <a:r>
              <a:rPr sz="1300" b="0">
                <a:solidFill>
                  <a:srgbClr val="5F677A"/>
                </a:solidFill>
                <a:latin typeface="Arial"/>
                <a:ea typeface="Microsoft YaHei"/>
              </a:rPr>
              <a:t>phrasal 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以……开场</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open with a strong offer.”</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54 Preparing to Negotiate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以……开场</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open with</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回旋余地</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room to manoeuvre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目标</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objective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筹码/杠杆</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leverage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退出谈判</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walk away</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后备方案</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fallback position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取舍</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trade-off</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条款</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terms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54 Preparing to Negotiate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objective</a:t>
            </a:r>
          </a:p>
        </p:txBody>
      </p:sp>
      <p:sp>
        <p:nvSpPr>
          <p:cNvPr id="10" name="Rounded Rectangle 9"/>
          <p:cNvSpPr/>
          <p:nvPr/>
        </p:nvSpPr>
        <p:spPr>
          <a:xfrm>
            <a:off x="3456432" y="987552"/>
            <a:ext cx="1572767"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bottom line</a:t>
            </a:r>
          </a:p>
        </p:txBody>
      </p:sp>
      <p:sp>
        <p:nvSpPr>
          <p:cNvPr id="11" name="Rounded Rectangle 10"/>
          <p:cNvSpPr/>
          <p:nvPr/>
        </p:nvSpPr>
        <p:spPr>
          <a:xfrm>
            <a:off x="5120639"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concession</a:t>
            </a:r>
          </a:p>
        </p:txBody>
      </p:sp>
      <p:sp>
        <p:nvSpPr>
          <p:cNvPr id="12" name="Rounded Rectangle 11"/>
          <p:cNvSpPr/>
          <p:nvPr/>
        </p:nvSpPr>
        <p:spPr>
          <a:xfrm>
            <a:off x="6675119"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leverage</a:t>
            </a:r>
          </a:p>
        </p:txBody>
      </p:sp>
      <p:sp>
        <p:nvSpPr>
          <p:cNvPr id="13" name="Rounded Rectangle 12"/>
          <p:cNvSpPr/>
          <p:nvPr/>
        </p:nvSpPr>
        <p:spPr>
          <a:xfrm>
            <a:off x="8010143"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red line</a:t>
            </a:r>
          </a:p>
        </p:txBody>
      </p:sp>
      <p:sp>
        <p:nvSpPr>
          <p:cNvPr id="14" name="Rounded Rectangle 13"/>
          <p:cNvSpPr/>
          <p:nvPr/>
        </p:nvSpPr>
        <p:spPr>
          <a:xfrm>
            <a:off x="9345167"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trade-off</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Our main _______ is a long-term partnership.</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objective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Our _______ is a 5% profit margin; we can’t go lower.</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bottom line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They made a _______ on the delivery date.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concession</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Having another supplier gives us more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leverage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Safety standards are a _______ for us. We won’t compromise.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red line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There’s always a _______ between speed and cost.</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trade-off</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negotiate (not “negociate”), manoeuvre (UK; US “maneuver”), concession. Negotiate a deal / negotiate with sb (no “to”). Make / grant a concession. Reach / strike a deal. Terms and conditions (plural).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Planning a negotiation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54 Preparing to Negotiate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与同事商量谈判策略</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and a colleague prepare to negotiate a supply contract with a key supplier.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Tara Chen, procurement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Leo Ward, sales director (colleague)</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Planning a negotiation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54 Preparing to Negotiate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Tara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Leo, before we meet the supplier on Thursday, let’s agree our objectives.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Leo</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Ideally, I’d like a 10% price reduction.</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our target. Realistically, I’d say 6% would be acceptable, with better payment terms.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What’s our bottom line?</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Below 4% we should look elsewhere. We do have another quote, which gives us leverage.</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what do they want from us?</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Planning a negotiation with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54 Preparing to Negotiate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longer contract and bigger volumes. We could offer a two-year deal in return for the discount.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useful trade-off. What’s our red line?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Quality. We won’t accept lower standards for a lower price.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How should we open?</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With the 10%, supported by the competing quote and a clear case for volume.</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I’ll prepare the numbers.</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Planning a negotiation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54 Preparing to Negotiate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prepare a negotiation.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Procurement manager. Target: ______________ Bottom line: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Ask about alternatives.</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objective · target · bottom line · leverage · red line · trade-off</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Agree your target, limit, trade-offs and opening move.</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Leo wants to reveal your bottom line early. Disagree politely.</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List three things you could trade with a supplier.</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your best alternative if the negotiation fails.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54 Preparing to Negotiate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prepare for a negotiation?</a:t>
            </a:r>
          </a:p>
          <a:p>
            <a:pPr algn="l">
              <a:lnSpc>
                <a:spcPct val="115000"/>
              </a:lnSpc>
              <a:spcAft>
                <a:spcPts val="800"/>
              </a:spcAft>
            </a:pPr>
            <a:r>
              <a:rPr sz="1400" b="0">
                <a:solidFill>
                  <a:srgbClr val="5F677A"/>
                </a:solidFill>
                <a:latin typeface="Arial"/>
                <a:ea typeface="Microsoft YaHei"/>
              </a:rPr>
              <a:t>💬 “I begin by… / Knowing my limits…”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you open with a high demand?</a:t>
            </a:r>
          </a:p>
          <a:p>
            <a:pPr algn="l">
              <a:lnSpc>
                <a:spcPct val="115000"/>
              </a:lnSpc>
              <a:spcAft>
                <a:spcPts val="800"/>
              </a:spcAft>
            </a:pPr>
            <a:r>
              <a:rPr sz="1400" b="0">
                <a:solidFill>
                  <a:srgbClr val="5F677A"/>
                </a:solidFill>
                <a:latin typeface="Arial"/>
                <a:ea typeface="Microsoft YaHei"/>
              </a:rPr>
              <a:t>💬 “It can work if it’s justified… / The risk is…”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a good concession?</a:t>
            </a:r>
          </a:p>
          <a:p>
            <a:pPr algn="l">
              <a:lnSpc>
                <a:spcPct val="115000"/>
              </a:lnSpc>
              <a:spcAft>
                <a:spcPts val="800"/>
              </a:spcAft>
            </a:pPr>
            <a:r>
              <a:rPr sz="1400" b="0">
                <a:solidFill>
                  <a:srgbClr val="5F677A"/>
                </a:solidFill>
                <a:latin typeface="Arial"/>
                <a:ea typeface="Microsoft YaHei"/>
              </a:rPr>
              <a:t>💬 “One that costs little but… / Something valued by…”</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When should you walk away?</a:t>
            </a:r>
          </a:p>
          <a:p>
            <a:pPr algn="l">
              <a:lnSpc>
                <a:spcPct val="115000"/>
              </a:lnSpc>
              <a:spcAft>
                <a:spcPts val="800"/>
              </a:spcAft>
            </a:pPr>
            <a:r>
              <a:rPr sz="1400" b="0">
                <a:solidFill>
                  <a:srgbClr val="5F677A"/>
                </a:solidFill>
                <a:latin typeface="Arial"/>
                <a:ea typeface="Microsoft YaHei"/>
              </a:rPr>
              <a:t>💬 “When the deal falls below… / If the other side…”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54 Preparing to Negotiate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You should walk away when the deal no longer meets your minimum needs, or when the other side negotiates in bad faith. Staying in a bad deal usually costs more than leaving. That’s why it’s essential to know your alternative before you start: if you have a good option, walking away is easier and less risky. It’s also better to leave politely and keep the door open, because circumstances can change.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in bad faith = 不诚信。”keep the door open” = 保留以后合作的可能。circumstances = 情况。minimum needs = 最低需求。</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54 Preparing to Negotiate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 want the cheapest price.</a:t>
                      </a:r>
                    </a:p>
                  </a:txBody>
                  <a:tcPr anchor="ctr">
                    <a:solidFill>
                      <a:srgbClr val="FFFFFF"/>
                    </a:solidFill>
                  </a:tcPr>
                </a:tc>
                <a:tc>
                  <a:txBody>
                    <a:bodyPr wrap="square"/>
                    <a:lstStyle/>
                    <a:p>
                      <a:r>
                        <a:rPr sz="1600" b="0">
                          <a:solidFill>
                            <a:srgbClr val="1F2A44"/>
                          </a:solidFill>
                          <a:latin typeface="Arial"/>
                          <a:ea typeface="Microsoft YaHei"/>
                        </a:rPr>
                        <a:t>We’re looking for a more competitive price.</a:t>
                      </a:r>
                    </a:p>
                  </a:txBody>
                  <a:tcPr anchor="ctr">
                    <a:solidFill>
                      <a:srgbClr val="FFFFFF"/>
                    </a:solidFill>
                  </a:tcPr>
                </a:tc>
                <a:tc>
                  <a:txBody>
                    <a:bodyPr wrap="square"/>
                    <a:lstStyle/>
                    <a:p>
                      <a:r>
                        <a:rPr sz="1600" b="0">
                          <a:solidFill>
                            <a:srgbClr val="FF6B5B"/>
                          </a:solidFill>
                          <a:latin typeface="Arial"/>
                          <a:ea typeface="Microsoft YaHei"/>
                        </a:rPr>
                        <a:t>礼貌</a:t>
                      </a:r>
                    </a:p>
                  </a:txBody>
                  <a:tcPr anchor="ctr">
                    <a:solidFill>
                      <a:srgbClr val="FFFFFF"/>
                    </a:solidFill>
                  </a:tcPr>
                </a:tc>
              </a:tr>
              <a:tr h="652272">
                <a:tc>
                  <a:txBody>
                    <a:bodyPr wrap="square"/>
                    <a:lstStyle/>
                    <a:p>
                      <a:r>
                        <a:rPr sz="1600" b="1">
                          <a:solidFill>
                            <a:srgbClr val="1F2A44"/>
                          </a:solidFill>
                          <a:latin typeface="Arial"/>
                          <a:ea typeface="Microsoft YaHei"/>
                        </a:rPr>
                        <a:t>We can’t give more.</a:t>
                      </a:r>
                    </a:p>
                  </a:txBody>
                  <a:tcPr anchor="ctr">
                    <a:solidFill>
                      <a:srgbClr val="FFEFD9"/>
                    </a:solidFill>
                  </a:tcPr>
                </a:tc>
                <a:tc>
                  <a:txBody>
                    <a:bodyPr wrap="square"/>
                    <a:lstStyle/>
                    <a:p>
                      <a:r>
                        <a:rPr sz="1600" b="0">
                          <a:solidFill>
                            <a:srgbClr val="1F2A44"/>
                          </a:solidFill>
                          <a:latin typeface="Arial"/>
                          <a:ea typeface="Microsoft YaHei"/>
                        </a:rPr>
                        <a:t>That’s about as far as we can go.</a:t>
                      </a:r>
                    </a:p>
                  </a:txBody>
                  <a:tcPr anchor="ctr">
                    <a:solidFill>
                      <a:srgbClr val="FFEFD9"/>
                    </a:solidFill>
                  </a:tcPr>
                </a:tc>
                <a:tc>
                  <a:txBody>
                    <a:bodyPr wrap="square"/>
                    <a:lstStyle/>
                    <a:p>
                      <a:r>
                        <a:rPr sz="1600" b="0">
                          <a:solidFill>
                            <a:srgbClr val="FF6B5B"/>
                          </a:solidFill>
                          <a:latin typeface="Arial"/>
                          <a:ea typeface="Microsoft YaHei"/>
                        </a:rPr>
                        <a:t>委婉</a:t>
                      </a:r>
                    </a:p>
                  </a:txBody>
                  <a:tcPr anchor="ctr">
                    <a:solidFill>
                      <a:srgbClr val="FFEFD9"/>
                    </a:solidFill>
                  </a:tcPr>
                </a:tc>
              </a:tr>
              <a:tr h="408432">
                <a:tc>
                  <a:txBody>
                    <a:bodyPr wrap="square"/>
                    <a:lstStyle/>
                    <a:p>
                      <a:r>
                        <a:rPr sz="1600" b="1">
                          <a:solidFill>
                            <a:srgbClr val="1F2A44"/>
                          </a:solidFill>
                          <a:latin typeface="Arial"/>
                          <a:ea typeface="Microsoft YaHei"/>
                        </a:rPr>
                        <a:t>We have other options.</a:t>
                      </a:r>
                    </a:p>
                  </a:txBody>
                  <a:tcPr anchor="ctr">
                    <a:solidFill>
                      <a:srgbClr val="FFFFFF"/>
                    </a:solidFill>
                  </a:tcPr>
                </a:tc>
                <a:tc>
                  <a:txBody>
                    <a:bodyPr wrap="square"/>
                    <a:lstStyle/>
                    <a:p>
                      <a:r>
                        <a:rPr sz="1600" b="0">
                          <a:solidFill>
                            <a:srgbClr val="1F2A44"/>
                          </a:solidFill>
                          <a:latin typeface="Arial"/>
                          <a:ea typeface="Microsoft YaHei"/>
                        </a:rPr>
                        <a:t>We do have alternatives.</a:t>
                      </a:r>
                    </a:p>
                  </a:txBody>
                  <a:tcPr anchor="ctr">
                    <a:solidFill>
                      <a:srgbClr val="FFFFFF"/>
                    </a:solidFill>
                  </a:tcPr>
                </a:tc>
                <a:tc>
                  <a:txBody>
                    <a:bodyPr wrap="square"/>
                    <a:lstStyle/>
                    <a:p>
                      <a:r>
                        <a:rPr sz="1600" b="0">
                          <a:solidFill>
                            <a:srgbClr val="FF6B5B"/>
                          </a:solidFill>
                          <a:latin typeface="Arial"/>
                          <a:ea typeface="Microsoft YaHei"/>
                        </a:rPr>
                        <a:t>稳重</a:t>
                      </a:r>
                    </a:p>
                  </a:txBody>
                  <a:tcPr anchor="ctr">
                    <a:solidFill>
                      <a:srgbClr val="FFFFFF"/>
                    </a:solidFill>
                  </a:tcPr>
                </a:tc>
              </a:tr>
              <a:tr h="408432">
                <a:tc>
                  <a:txBody>
                    <a:bodyPr wrap="square"/>
                    <a:lstStyle/>
                    <a:p>
                      <a:r>
                        <a:rPr sz="1600" b="1">
                          <a:solidFill>
                            <a:srgbClr val="1F2A44"/>
                          </a:solidFill>
                          <a:latin typeface="Arial"/>
                          <a:ea typeface="Microsoft YaHei"/>
                        </a:rPr>
                        <a:t>What do you want?</a:t>
                      </a:r>
                    </a:p>
                  </a:txBody>
                  <a:tcPr anchor="ctr">
                    <a:solidFill>
                      <a:srgbClr val="FFEFD9"/>
                    </a:solidFill>
                  </a:tcPr>
                </a:tc>
                <a:tc>
                  <a:txBody>
                    <a:bodyPr wrap="square"/>
                    <a:lstStyle/>
                    <a:p>
                      <a:r>
                        <a:rPr sz="1600" b="0">
                          <a:solidFill>
                            <a:srgbClr val="1F2A44"/>
                          </a:solidFill>
                          <a:latin typeface="Arial"/>
                          <a:ea typeface="Microsoft YaHei"/>
                        </a:rPr>
                        <a:t>What are your main priorities?</a:t>
                      </a:r>
                    </a:p>
                  </a:txBody>
                  <a:tcPr anchor="ctr">
                    <a:solidFill>
                      <a:srgbClr val="FFEFD9"/>
                    </a:solidFill>
                  </a:tcPr>
                </a:tc>
                <a:tc>
                  <a:txBody>
                    <a:bodyPr wrap="square"/>
                    <a:lstStyle/>
                    <a:p>
                      <a:r>
                        <a:rPr sz="1600" b="0">
                          <a:solidFill>
                            <a:srgbClr val="FF6B5B"/>
                          </a:solidFill>
                          <a:latin typeface="Arial"/>
                          <a:ea typeface="Microsoft YaHei"/>
                        </a:rPr>
                        <a:t>开放问题</a:t>
                      </a:r>
                    </a:p>
                  </a:txBody>
                  <a:tcPr anchor="ctr">
                    <a:solidFill>
                      <a:srgbClr val="FFEFD9"/>
                    </a:solidFill>
                  </a:tcPr>
                </a:tc>
              </a:tr>
              <a:tr h="408432">
                <a:tc>
                  <a:txBody>
                    <a:bodyPr wrap="square"/>
                    <a:lstStyle/>
                    <a:p>
                      <a:r>
                        <a:rPr sz="1600" b="1">
                          <a:solidFill>
                            <a:srgbClr val="1F2A44"/>
                          </a:solidFill>
                          <a:latin typeface="Arial"/>
                          <a:ea typeface="Microsoft YaHei"/>
                        </a:rPr>
                        <a:t>We will leave.</a:t>
                      </a:r>
                    </a:p>
                  </a:txBody>
                  <a:tcPr anchor="ctr">
                    <a:solidFill>
                      <a:srgbClr val="FFFFFF"/>
                    </a:solidFill>
                  </a:tcPr>
                </a:tc>
                <a:tc>
                  <a:txBody>
                    <a:bodyPr wrap="square"/>
                    <a:lstStyle/>
                    <a:p>
                      <a:r>
                        <a:rPr sz="1600" b="0">
                          <a:solidFill>
                            <a:srgbClr val="1F2A44"/>
                          </a:solidFill>
                          <a:latin typeface="Arial"/>
                          <a:ea typeface="Microsoft YaHei"/>
                        </a:rPr>
                        <a:t>We may have to look elsewhere.</a:t>
                      </a:r>
                    </a:p>
                  </a:txBody>
                  <a:tcPr anchor="ctr">
                    <a:solidFill>
                      <a:srgbClr val="FFFFFF"/>
                    </a:solidFill>
                  </a:tcPr>
                </a:tc>
                <a:tc>
                  <a:txBody>
                    <a:bodyPr wrap="square"/>
                    <a:lstStyle/>
                    <a:p>
                      <a:r>
                        <a:rPr sz="1600" b="0">
                          <a:solidFill>
                            <a:srgbClr val="FF6B5B"/>
                          </a:solidFill>
                          <a:latin typeface="Arial"/>
                          <a:ea typeface="Microsoft YaHei"/>
                        </a:rPr>
                        <a:t>委婉施压</a:t>
                      </a:r>
                    </a:p>
                  </a:txBody>
                  <a:tcPr anchor="ctr">
                    <a:solidFill>
                      <a:srgbClr val="FFFFFF"/>
                    </a:solidFill>
                  </a:tcPr>
                </a:tc>
              </a:tr>
            </a:tbl>
          </a:graphicData>
        </a:graphic>
      </p:graphicFrame>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54 Preparing to Negotiate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Hypothetical language: </a:t>
            </a:r>
            <a:r>
              <a:rPr sz="1700" b="0">
                <a:solidFill>
                  <a:srgbClr val="1F2A44"/>
                </a:solidFill>
                <a:latin typeface="Arial"/>
                <a:ea typeface="Microsoft YaHei"/>
              </a:rPr>
              <a:t>If we offered X, would you consider Y? (second conditional)</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Hedging: </a:t>
            </a:r>
            <a:r>
              <a:rPr sz="1700" b="0">
                <a:solidFill>
                  <a:srgbClr val="1F2A44"/>
                </a:solidFill>
                <a:latin typeface="Arial"/>
                <a:ea typeface="Microsoft YaHei"/>
              </a:rPr>
              <a:t>I’d say, we might be able to, it could be possible.</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Ordering priorities: </a:t>
            </a:r>
            <a:r>
              <a:rPr sz="1700" b="0">
                <a:solidFill>
                  <a:srgbClr val="1F2A44"/>
                </a:solidFill>
                <a:latin typeface="Arial"/>
                <a:ea typeface="Microsoft YaHei"/>
              </a:rPr>
              <a:t>first and foremost, secondly, as a last resort.</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Modal verbs of ability: </a:t>
            </a:r>
            <a:r>
              <a:rPr sz="1700" b="0">
                <a:solidFill>
                  <a:srgbClr val="1F2A44"/>
                </a:solidFill>
                <a:latin typeface="Arial"/>
                <a:ea typeface="Microsoft YaHei"/>
              </a:rPr>
              <a:t>we can / we could / we’d be able to: “We’d be able to offer…”</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54 Preparing to Negotiate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negotiate to the supplier.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negotiate with the supplier.</a:t>
            </a:r>
          </a:p>
          <a:p>
            <a:pPr algn="l">
              <a:spcAft>
                <a:spcPts val="200"/>
              </a:spcAft>
            </a:pPr>
            <a:r>
              <a:rPr sz="1200" b="0">
                <a:solidFill>
                  <a:srgbClr val="FFFFFF"/>
                </a:solidFill>
                <a:latin typeface="Arial"/>
                <a:ea typeface="Microsoft YaHei"/>
              </a:rPr>
              <a:t>negotiate with</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want to discuss about price.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want to discuss the price.</a:t>
            </a:r>
          </a:p>
          <a:p>
            <a:pPr algn="l">
              <a:spcAft>
                <a:spcPts val="200"/>
              </a:spcAft>
            </a:pPr>
            <a:r>
              <a:rPr sz="1200" b="0">
                <a:solidFill>
                  <a:srgbClr val="FFFFFF"/>
                </a:solidFill>
                <a:latin typeface="Arial"/>
                <a:ea typeface="Microsoft YaHei"/>
              </a:rPr>
              <a:t>discuss</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Our target is get 10% off.</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Our target is to get 10% off.</a:t>
            </a:r>
          </a:p>
          <a:p>
            <a:pPr algn="l">
              <a:spcAft>
                <a:spcPts val="200"/>
              </a:spcAft>
            </a:pPr>
            <a:r>
              <a:rPr sz="1200" b="0">
                <a:solidFill>
                  <a:srgbClr val="FFFFFF"/>
                </a:solidFill>
                <a:latin typeface="Arial"/>
                <a:ea typeface="Microsoft YaHei"/>
              </a:rPr>
              <a:t>不定式</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54 Preparing to Negotiate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make a deal with them.</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struck a deal with them.</a:t>
            </a:r>
          </a:p>
          <a:p>
            <a:pPr algn="l">
              <a:spcAft>
                <a:spcPts val="200"/>
              </a:spcAft>
            </a:pPr>
            <a:r>
              <a:rPr sz="1200" b="0">
                <a:solidFill>
                  <a:srgbClr val="FFFFFF"/>
                </a:solidFill>
                <a:latin typeface="Arial"/>
                <a:ea typeface="Microsoft YaHei"/>
              </a:rPr>
              <a:t>strike a deal</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has a good bargain skill.</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has good negotiating skills.</a:t>
            </a:r>
          </a:p>
          <a:p>
            <a:pPr algn="l">
              <a:spcAft>
                <a:spcPts val="200"/>
              </a:spcAft>
            </a:pPr>
            <a:r>
              <a:rPr sz="1200" b="0">
                <a:solidFill>
                  <a:srgbClr val="FFFFFF"/>
                </a:solidFill>
                <a:latin typeface="Arial"/>
                <a:ea typeface="Microsoft YaHei"/>
              </a:rPr>
              <a:t>negotiating skills</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This is my lowest price. I can’t more.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That’s my lowest price; I can’t go any lower.</a:t>
            </a:r>
          </a:p>
          <a:p>
            <a:pPr algn="l">
              <a:spcAft>
                <a:spcPts val="200"/>
              </a:spcAft>
            </a:pPr>
            <a:r>
              <a:rPr sz="1200" b="0">
                <a:solidFill>
                  <a:srgbClr val="FFFFFF"/>
                </a:solidFill>
                <a:latin typeface="Arial"/>
                <a:ea typeface="Microsoft YaHei"/>
              </a:rPr>
              <a:t>完整</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negotiate with, discuss (no about), and noun forms (negotiating skills).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54 Preparing to Negotiate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Preparation: </a:t>
            </a:r>
            <a:r>
              <a:rPr sz="1700" b="0">
                <a:solidFill>
                  <a:srgbClr val="1F2A44"/>
                </a:solidFill>
                <a:latin typeface="Arial"/>
                <a:ea typeface="Microsoft YaHei"/>
              </a:rPr>
              <a:t>In some cultures (e.g. Germany) detailed preparation and data are expected; in others relationship comes first.</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Silence: </a:t>
            </a:r>
            <a:r>
              <a:rPr sz="1700" b="0">
                <a:solidFill>
                  <a:srgbClr val="1F2A44"/>
                </a:solidFill>
                <a:latin typeface="Arial"/>
                <a:ea typeface="Microsoft YaHei"/>
              </a:rPr>
              <a:t>Silence can be a tactic. Don’t fill it with concessions.</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Anchoring: </a:t>
            </a:r>
            <a:r>
              <a:rPr sz="1700" b="0">
                <a:solidFill>
                  <a:srgbClr val="1F2A44"/>
                </a:solidFill>
                <a:latin typeface="Arial"/>
                <a:ea typeface="Microsoft YaHei"/>
              </a:rPr>
              <a:t>The first number often sets the range. Prepare your opening carefully.</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negotiate with sb;discuss 后不加 about;target is to do sth。策略:了解自己的底线与替代方案(BATNA)。</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54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54 Preparing to Negotiate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plan a negotiation (target, limit, alternatives).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hypothetical language to explore options.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concessions and trade-offs.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negotiate with and discuss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54 Preparing to Negotiate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negotiate with, discuss without about, and second conditional for offers.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6 · Lesson 55 Mastering Negotiations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55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Mastering Negotiations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掌握谈判技巧</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use effective negotiating techniques: questioning, listening, bargaining, making and responding to proposals and keeping good relationships.</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55 Mastering Negotiations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think makes a good negotiator?</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better to be tough or friendly in negotiations?</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do when the other person says “no”?</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you keep a good relationship while bargaining hard?</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learned any negotiation tips? Which?</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bargain = 讨价还价。”split the difference” = 折中。第 2 题的答案:既强硬又友好,”firm on the issue, soft on the person”。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55 Mastering Negotiations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Make and respond to a proposal in a negotiation.</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ask about interests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make a conditional offer</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respond to a counter-offer</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reach a compromise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If you could…, we would be willing to…   💬 What would it take to…?   💬 Let’s see if we can find a middle ground.</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What would it take to…? = 怎样才能……? middle ground = 折中。条件句保持灵活。</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Reading · Tough on Issues, Kind to People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55 Mastering Negotiations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The best negotiators do not see the table as a battlefield. They look for outcomes that satisfy both sides, because agreements that feel fair are more likely to last. This begins with asking questions and listening carefully. Behind every demand lies an interest: a client who insists on a lower price may really be worried about budget approval, which opens the door to other solutions. Skilled negotiators tie concessions to conditions: “If you can commit to a larger volume, we could improve the price.” They avoid giving something away for nothing, and they summarise regularly to check understanding. When emotions rise, they take a break. Throughout, they stay firm on the issues while remaining respectful towards the people. A deal that damages the relationship is rarely a good deal.</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55 Mastering Negotiations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look for outcomes that satisfy both sides?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Agreements that feel fair are more likely to last.</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hidden behind a demand?</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An interest, such as concern about budget approval.</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should concessions be tied to?</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Conditions, e.g. “If you commit to a larger volume…”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Bargaining language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55 Mastering Negotiations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讨价还价</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counter-offer</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还价</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made a counter-offer.”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bargain</a:t>
            </a:r>
          </a:p>
          <a:p>
            <a:pPr algn="l">
              <a:lnSpc>
                <a:spcPct val="115000"/>
              </a:lnSpc>
              <a:spcAft>
                <a:spcPts val="800"/>
              </a:spcAft>
            </a:pPr>
            <a:r>
              <a:rPr sz="1300" b="0">
                <a:solidFill>
                  <a:srgbClr val="5F677A"/>
                </a:solidFill>
                <a:latin typeface="Arial"/>
                <a:ea typeface="Microsoft YaHei"/>
              </a:rPr>
              <a:t>verb / 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讨价还价 / 便宜货</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bargained for an hour.”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compromise</a:t>
            </a:r>
          </a:p>
          <a:p>
            <a:pPr algn="l">
              <a:lnSpc>
                <a:spcPct val="115000"/>
              </a:lnSpc>
              <a:spcAft>
                <a:spcPts val="800"/>
              </a:spcAft>
            </a:pPr>
            <a:r>
              <a:rPr sz="1300" b="0">
                <a:solidFill>
                  <a:srgbClr val="5F677A"/>
                </a:solidFill>
                <a:latin typeface="Arial"/>
                <a:ea typeface="Microsoft YaHei"/>
              </a:rPr>
              <a:t>noun /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折中</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reached a compromise.”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offer</a:t>
            </a:r>
          </a:p>
          <a:p>
            <a:pPr algn="l">
              <a:lnSpc>
                <a:spcPct val="115000"/>
              </a:lnSpc>
              <a:spcAft>
                <a:spcPts val="800"/>
              </a:spcAft>
            </a:pPr>
            <a:r>
              <a:rPr sz="1300" b="0">
                <a:solidFill>
                  <a:srgbClr val="5F677A"/>
                </a:solidFill>
                <a:latin typeface="Arial"/>
                <a:ea typeface="Microsoft YaHei"/>
              </a:rPr>
              <a:t>noun /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报价</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offer a 5% discount.”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accept / reject</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接受 / 拒绝</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rejected the offer.”</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deadlock</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僵局</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talks reached a deadlock.”</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Chunk 2: Moving the talks forward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55 Mastering Negotiations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推进谈判</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meet halfway</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各让一步</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meet halfway.”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split the difference</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折中</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split the difference.”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break the deadlock</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打破僵局</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new proposal broke the deadlock.”</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sweeten the deal</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增加吸引力</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added free training to sweeten the deal.”</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put (something) on the table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提出</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put a new offer on the table.”</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win-win situation</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双赢局面</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aim for a win-win situation.”</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55 Mastering Negotiations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打破僵局</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break the deadlock</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报价</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offer</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接受 / 拒绝</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accept / reject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折中</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compromise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双赢局面</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win-win situation</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提出</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put (something) on the table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各让一步</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meet halfway</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还价</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counter-offer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55 Mastering Negotiations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79222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counter-offer</a:t>
            </a:r>
          </a:p>
        </p:txBody>
      </p:sp>
      <p:sp>
        <p:nvSpPr>
          <p:cNvPr id="10" name="Rounded Rectangle 9"/>
          <p:cNvSpPr/>
          <p:nvPr/>
        </p:nvSpPr>
        <p:spPr>
          <a:xfrm>
            <a:off x="3895344"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bargain</a:t>
            </a:r>
          </a:p>
        </p:txBody>
      </p:sp>
      <p:sp>
        <p:nvSpPr>
          <p:cNvPr id="11" name="Rounded Rectangle 10"/>
          <p:cNvSpPr/>
          <p:nvPr/>
        </p:nvSpPr>
        <p:spPr>
          <a:xfrm>
            <a:off x="5120640"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compromise</a:t>
            </a:r>
          </a:p>
        </p:txBody>
      </p:sp>
      <p:sp>
        <p:nvSpPr>
          <p:cNvPr id="12" name="Rounded Rectangle 11"/>
          <p:cNvSpPr/>
          <p:nvPr/>
        </p:nvSpPr>
        <p:spPr>
          <a:xfrm>
            <a:off x="6675120"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deadlock</a:t>
            </a:r>
          </a:p>
        </p:txBody>
      </p:sp>
      <p:sp>
        <p:nvSpPr>
          <p:cNvPr id="13" name="Rounded Rectangle 12"/>
          <p:cNvSpPr/>
          <p:nvPr/>
        </p:nvSpPr>
        <p:spPr>
          <a:xfrm>
            <a:off x="8010144" y="987552"/>
            <a:ext cx="256032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split the difference</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They rejected our offer and made a _______.</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counter-offer</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We’ll _______ for the best price.</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bargain</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After hours of talks, we finally reached a _______.</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compromise</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 negotiations reached a _______ over delivery dates.</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deadlock</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You want 10% and we offer 6%. Let’s _______ at 8%.</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split the difference</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We could _______ the deal with free training.</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sweeten</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negotiation, compromise (not “compramise”), deadlock. Reach a compromise / agreement, make an offer, put something on the table. Agree to a proposal, agree with a person. Counteroffer can be one word or hyphenated.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Bargaining over price and terms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55 Mastering Negotiations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就价格与条款讨价还价</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are buying software for your company. The sales representative, Mr Kim, offers a price you consider high.</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Nadia Hu, buyer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Kim, sales representative</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Bargaining over price and terms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55 Mastering Negotiations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Nadia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Mr Kim, thank you for the proposal. The price is higher than we expected.</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Kim</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reflects the quality and support. What number did you have in mind?</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were thinking of £40,000 a year. What would it take to get there?</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quite a drop. I could do £46,000 on a standard contract.</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If we signed for three years, would you be willing to go lower?</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three-year commitment would make a difference. I could offer £43,000.</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Bargaining over price and terms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55 Mastering Negotiations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We’d also need free training for ten staff.</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Hmm. Training is expensive. I could include five places.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Could we meet halfway? £42,000 with seven training places.</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 me check with my manager. I think we can find a middle ground.</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If we agree today, I can confirm the order this week.</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helpful. I’ll come back to you within the hour.</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Bargaining over price and terms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55 Mastering Negotiations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bargain over price and terms.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Buyer. Target: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Seller. Price: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what would it take · if you could · meet halfway · middle ground · counter-offer · commit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what is possible, make conditional offers and settle on a compromise.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Mr Kim says: “That’s my final offer.”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Break a deadlock by putting a new option on the table.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Summarise the agreement in three sentences.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55 Mastering Negotiations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better to be tough or friendly in a negotiation?</a:t>
            </a:r>
          </a:p>
          <a:p>
            <a:pPr algn="l">
              <a:lnSpc>
                <a:spcPct val="115000"/>
              </a:lnSpc>
              <a:spcAft>
                <a:spcPts val="800"/>
              </a:spcAft>
            </a:pPr>
            <a:r>
              <a:rPr sz="1400" b="0">
                <a:solidFill>
                  <a:srgbClr val="5F677A"/>
                </a:solidFill>
                <a:latin typeface="Arial"/>
                <a:ea typeface="Microsoft YaHei"/>
              </a:rPr>
              <a:t>💬 “I’d say a mix: firm on… but…”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mistakes do people make in negotiations?</a:t>
            </a:r>
          </a:p>
          <a:p>
            <a:pPr algn="l">
              <a:lnSpc>
                <a:spcPct val="115000"/>
              </a:lnSpc>
              <a:spcAft>
                <a:spcPts val="800"/>
              </a:spcAft>
            </a:pPr>
            <a:r>
              <a:rPr sz="1400" b="0">
                <a:solidFill>
                  <a:srgbClr val="5F677A"/>
                </a:solidFill>
                <a:latin typeface="Arial"/>
                <a:ea typeface="Microsoft YaHei"/>
              </a:rPr>
              <a:t>💬 “A common mistake is… / Many people…”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appropriate to negotiate everything?</a:t>
            </a:r>
          </a:p>
          <a:p>
            <a:pPr algn="l">
              <a:lnSpc>
                <a:spcPct val="115000"/>
              </a:lnSpc>
              <a:spcAft>
                <a:spcPts val="800"/>
              </a:spcAft>
            </a:pPr>
            <a:r>
              <a:rPr sz="1400" b="0">
                <a:solidFill>
                  <a:srgbClr val="5F677A"/>
                </a:solidFill>
                <a:latin typeface="Arial"/>
                <a:ea typeface="Microsoft YaHei"/>
              </a:rPr>
              <a:t>💬 “Not necessarily… / It depends on the culture.”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handle a negotiator who is aggressive?</a:t>
            </a:r>
          </a:p>
          <a:p>
            <a:pPr algn="l">
              <a:lnSpc>
                <a:spcPct val="115000"/>
              </a:lnSpc>
              <a:spcAft>
                <a:spcPts val="800"/>
              </a:spcAft>
            </a:pPr>
            <a:r>
              <a:rPr sz="1400" b="0">
                <a:solidFill>
                  <a:srgbClr val="5F677A"/>
                </a:solidFill>
                <a:latin typeface="Arial"/>
                <a:ea typeface="Microsoft YaHei"/>
              </a:rPr>
              <a:t>💬 “I’d stay calm and…”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55 Mastering Negotiations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With an aggressive negotiator, I’d stay calm and avoid reacting emotionally. I’d acknowledge their position, for example “I understand this is important to you”, and then bring the discussion back to the facts and shared interests. If the pressure continues, I’d suggest taking a short break. Sometimes people use aggression as a tactic, and it loses power when you don’t respond to it.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acknowledge = 承认/认可。”bring… back to” = 把……拉回。tactic = 策略。”loses power” = 失去效力。</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55 Mastering Negotiations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66979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Your price is too high.</a:t>
                      </a:r>
                    </a:p>
                  </a:txBody>
                  <a:tcPr anchor="ctr">
                    <a:solidFill>
                      <a:srgbClr val="FFFFFF"/>
                    </a:solidFill>
                  </a:tcPr>
                </a:tc>
                <a:tc>
                  <a:txBody>
                    <a:bodyPr wrap="square"/>
                    <a:lstStyle/>
                    <a:p>
                      <a:r>
                        <a:rPr sz="1600" b="0">
                          <a:solidFill>
                            <a:srgbClr val="1F2A44"/>
                          </a:solidFill>
                          <a:latin typeface="Arial"/>
                          <a:ea typeface="Microsoft YaHei"/>
                        </a:rPr>
                        <a:t>The price is a bit above our budget.</a:t>
                      </a:r>
                    </a:p>
                  </a:txBody>
                  <a:tcPr anchor="ctr">
                    <a:solidFill>
                      <a:srgbClr val="FFFFFF"/>
                    </a:solidFill>
                  </a:tcPr>
                </a:tc>
                <a:tc>
                  <a:txBody>
                    <a:bodyPr wrap="square"/>
                    <a:lstStyle/>
                    <a:p>
                      <a:r>
                        <a:rPr sz="1600" b="0">
                          <a:solidFill>
                            <a:srgbClr val="FF6B5B"/>
                          </a:solidFill>
                          <a:latin typeface="Arial"/>
                          <a:ea typeface="Microsoft YaHei"/>
                        </a:rPr>
                        <a:t>委婉</a:t>
                      </a:r>
                    </a:p>
                  </a:txBody>
                  <a:tcPr anchor="ctr">
                    <a:solidFill>
                      <a:srgbClr val="FFFFFF"/>
                    </a:solidFill>
                  </a:tcPr>
                </a:tc>
              </a:tr>
              <a:tr h="652272">
                <a:tc>
                  <a:txBody>
                    <a:bodyPr wrap="square"/>
                    <a:lstStyle/>
                    <a:p>
                      <a:r>
                        <a:rPr sz="1600" b="1">
                          <a:solidFill>
                            <a:srgbClr val="1F2A44"/>
                          </a:solidFill>
                          <a:latin typeface="Arial"/>
                          <a:ea typeface="Microsoft YaHei"/>
                        </a:rPr>
                        <a:t>We cannot accept.</a:t>
                      </a:r>
                    </a:p>
                  </a:txBody>
                  <a:tcPr anchor="ctr">
                    <a:solidFill>
                      <a:srgbClr val="FFEFD9"/>
                    </a:solidFill>
                  </a:tcPr>
                </a:tc>
                <a:tc>
                  <a:txBody>
                    <a:bodyPr wrap="square"/>
                    <a:lstStyle/>
                    <a:p>
                      <a:r>
                        <a:rPr sz="1600" b="0">
                          <a:solidFill>
                            <a:srgbClr val="1F2A44"/>
                          </a:solidFill>
                          <a:latin typeface="Arial"/>
                          <a:ea typeface="Microsoft YaHei"/>
                        </a:rPr>
                        <a:t>I’m afraid that doesn’t work for us.</a:t>
                      </a:r>
                    </a:p>
                  </a:txBody>
                  <a:tcPr anchor="ctr">
                    <a:solidFill>
                      <a:srgbClr val="FFEFD9"/>
                    </a:solidFill>
                  </a:tcPr>
                </a:tc>
                <a:tc>
                  <a:txBody>
                    <a:bodyPr wrap="square"/>
                    <a:lstStyle/>
                    <a:p>
                      <a:r>
                        <a:rPr sz="1600" b="0">
                          <a:solidFill>
                            <a:srgbClr val="FF6B5B"/>
                          </a:solidFill>
                          <a:latin typeface="Arial"/>
                          <a:ea typeface="Microsoft YaHei"/>
                        </a:rPr>
                        <a:t>委婉</a:t>
                      </a:r>
                    </a:p>
                  </a:txBody>
                  <a:tcPr anchor="ctr">
                    <a:solidFill>
                      <a:srgbClr val="FFEFD9"/>
                    </a:solidFill>
                  </a:tcPr>
                </a:tc>
              </a:tr>
              <a:tr h="652272">
                <a:tc>
                  <a:txBody>
                    <a:bodyPr wrap="square"/>
                    <a:lstStyle/>
                    <a:p>
                      <a:r>
                        <a:rPr sz="1600" b="1">
                          <a:solidFill>
                            <a:srgbClr val="1F2A44"/>
                          </a:solidFill>
                          <a:latin typeface="Arial"/>
                          <a:ea typeface="Microsoft YaHei"/>
                        </a:rPr>
                        <a:t>Give us a discount.</a:t>
                      </a:r>
                    </a:p>
                  </a:txBody>
                  <a:tcPr anchor="ctr">
                    <a:solidFill>
                      <a:srgbClr val="FFFFFF"/>
                    </a:solidFill>
                  </a:tcPr>
                </a:tc>
                <a:tc>
                  <a:txBody>
                    <a:bodyPr wrap="square"/>
                    <a:lstStyle/>
                    <a:p>
                      <a:r>
                        <a:rPr sz="1600" b="0">
                          <a:solidFill>
                            <a:srgbClr val="1F2A44"/>
                          </a:solidFill>
                          <a:latin typeface="Arial"/>
                          <a:ea typeface="Microsoft YaHei"/>
                        </a:rPr>
                        <a:t>Is there any flexibility on the price?</a:t>
                      </a:r>
                    </a:p>
                  </a:txBody>
                  <a:tcPr anchor="ctr">
                    <a:solidFill>
                      <a:srgbClr val="FFFFFF"/>
                    </a:solidFill>
                  </a:tcPr>
                </a:tc>
                <a:tc>
                  <a:txBody>
                    <a:bodyPr wrap="square"/>
                    <a:lstStyle/>
                    <a:p>
                      <a:r>
                        <a:rPr sz="1600" b="0">
                          <a:solidFill>
                            <a:srgbClr val="FF6B5B"/>
                          </a:solidFill>
                          <a:latin typeface="Arial"/>
                          <a:ea typeface="Microsoft YaHei"/>
                        </a:rPr>
                        <a:t>礼貌</a:t>
                      </a:r>
                    </a:p>
                  </a:txBody>
                  <a:tcPr anchor="ctr">
                    <a:solidFill>
                      <a:srgbClr val="FFFFFF"/>
                    </a:solidFill>
                  </a:tcPr>
                </a:tc>
              </a:tr>
              <a:tr h="652272">
                <a:tc>
                  <a:txBody>
                    <a:bodyPr wrap="square"/>
                    <a:lstStyle/>
                    <a:p>
                      <a:r>
                        <a:rPr sz="1600" b="1">
                          <a:solidFill>
                            <a:srgbClr val="1F2A44"/>
                          </a:solidFill>
                          <a:latin typeface="Arial"/>
                          <a:ea typeface="Microsoft YaHei"/>
                        </a:rPr>
                        <a:t>OK, deal.</a:t>
                      </a:r>
                    </a:p>
                  </a:txBody>
                  <a:tcPr anchor="ctr">
                    <a:solidFill>
                      <a:srgbClr val="FFEFD9"/>
                    </a:solidFill>
                  </a:tcPr>
                </a:tc>
                <a:tc>
                  <a:txBody>
                    <a:bodyPr wrap="square"/>
                    <a:lstStyle/>
                    <a:p>
                      <a:r>
                        <a:rPr sz="1600" b="0">
                          <a:solidFill>
                            <a:srgbClr val="1F2A44"/>
                          </a:solidFill>
                          <a:latin typeface="Arial"/>
                          <a:ea typeface="Microsoft YaHei"/>
                        </a:rPr>
                        <a:t>That sounds acceptable. Shall we confirm?</a:t>
                      </a:r>
                    </a:p>
                  </a:txBody>
                  <a:tcPr anchor="ctr">
                    <a:solidFill>
                      <a:srgbClr val="FFEFD9"/>
                    </a:solidFill>
                  </a:tcPr>
                </a:tc>
                <a:tc>
                  <a:txBody>
                    <a:bodyPr wrap="square"/>
                    <a:lstStyle/>
                    <a:p>
                      <a:r>
                        <a:rPr sz="1600" b="0">
                          <a:solidFill>
                            <a:srgbClr val="FF6B5B"/>
                          </a:solidFill>
                          <a:latin typeface="Arial"/>
                          <a:ea typeface="Microsoft YaHei"/>
                        </a:rPr>
                        <a:t>正式</a:t>
                      </a:r>
                    </a:p>
                  </a:txBody>
                  <a:tcPr anchor="ctr">
                    <a:solidFill>
                      <a:srgbClr val="FFEFD9"/>
                    </a:solidFill>
                  </a:tcPr>
                </a:tc>
              </a:tr>
              <a:tr h="652272">
                <a:tc>
                  <a:txBody>
                    <a:bodyPr wrap="square"/>
                    <a:lstStyle/>
                    <a:p>
                      <a:r>
                        <a:rPr sz="1600" b="1">
                          <a:solidFill>
                            <a:srgbClr val="1F2A44"/>
                          </a:solidFill>
                          <a:latin typeface="Arial"/>
                          <a:ea typeface="Microsoft YaHei"/>
                        </a:rPr>
                        <a:t>Let me think.</a:t>
                      </a:r>
                    </a:p>
                  </a:txBody>
                  <a:tcPr anchor="ctr">
                    <a:solidFill>
                      <a:srgbClr val="FFFFFF"/>
                    </a:solidFill>
                  </a:tcPr>
                </a:tc>
                <a:tc>
                  <a:txBody>
                    <a:bodyPr wrap="square"/>
                    <a:lstStyle/>
                    <a:p>
                      <a:r>
                        <a:rPr sz="1600" b="0">
                          <a:solidFill>
                            <a:srgbClr val="1F2A44"/>
                          </a:solidFill>
                          <a:latin typeface="Arial"/>
                          <a:ea typeface="Microsoft YaHei"/>
                        </a:rPr>
                        <a:t>Let me check with my team and get back to you.</a:t>
                      </a:r>
                    </a:p>
                  </a:txBody>
                  <a:tcPr anchor="ctr">
                    <a:solidFill>
                      <a:srgbClr val="FFFFFF"/>
                    </a:solidFill>
                  </a:tcPr>
                </a:tc>
                <a:tc>
                  <a:txBody>
                    <a:bodyPr wrap="square"/>
                    <a:lstStyle/>
                    <a:p>
                      <a:r>
                        <a:rPr sz="1600" b="0">
                          <a:solidFill>
                            <a:srgbClr val="FF6B5B"/>
                          </a:solidFill>
                          <a:latin typeface="Arial"/>
                          <a:ea typeface="Microsoft YaHei"/>
                        </a:rPr>
                        <a:t>缓冲</a:t>
                      </a:r>
                    </a:p>
                  </a:txBody>
                  <a:tcPr anchor="ctr">
                    <a:solidFill>
                      <a:srgbClr val="FFFFFF"/>
                    </a:solidFill>
                  </a:tcPr>
                </a:tc>
              </a:tr>
            </a:tbl>
          </a:graphicData>
        </a:graphic>
      </p:graphicFrame>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55 Mastering Negotiations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Conditional offers: </a:t>
            </a:r>
            <a:r>
              <a:rPr sz="1700" b="0">
                <a:solidFill>
                  <a:srgbClr val="1F2A44"/>
                </a:solidFill>
                <a:latin typeface="Arial"/>
                <a:ea typeface="Microsoft YaHei"/>
              </a:rPr>
              <a:t>If you…, we’ll… (real possibility) / If you were to…, we would… (more formal, less certain).</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Softening refusals: </a:t>
            </a:r>
            <a:r>
              <a:rPr sz="1700" b="0">
                <a:solidFill>
                  <a:srgbClr val="1F2A44"/>
                </a:solidFill>
                <a:latin typeface="Arial"/>
                <a:ea typeface="Microsoft YaHei"/>
              </a:rPr>
              <a:t>I’m afraid…, Unfortunately…, With respect…</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Checking agreement: </a:t>
            </a:r>
            <a:r>
              <a:rPr sz="1700" b="0">
                <a:solidFill>
                  <a:srgbClr val="1F2A44"/>
                </a:solidFill>
                <a:latin typeface="Arial"/>
                <a:ea typeface="Microsoft YaHei"/>
              </a:rPr>
              <a:t>Are we agreed on…? Can we take that as agreed?</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Making a counter-proposal: </a:t>
            </a:r>
            <a:r>
              <a:rPr sz="1700" b="0">
                <a:solidFill>
                  <a:srgbClr val="1F2A44"/>
                </a:solidFill>
                <a:latin typeface="Arial"/>
                <a:ea typeface="Microsoft YaHei"/>
              </a:rPr>
              <a:t>How about…? What if we…? Could we consider…?</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55 Mastering Negotiations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If you will reduce the price, we will sign.</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If you reduce the price, we will sign.</a:t>
            </a:r>
          </a:p>
          <a:p>
            <a:pPr algn="l">
              <a:spcAft>
                <a:spcPts val="200"/>
              </a:spcAft>
            </a:pPr>
            <a:r>
              <a:rPr sz="1200" b="0">
                <a:solidFill>
                  <a:srgbClr val="FFFFFF"/>
                </a:solidFill>
                <a:latin typeface="Arial"/>
                <a:ea typeface="Microsoft YaHei"/>
              </a:rPr>
              <a:t>if 从句用现在时</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can give you 10% discount.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can give you a 10% discount.</a:t>
            </a:r>
          </a:p>
          <a:p>
            <a:pPr algn="l">
              <a:spcAft>
                <a:spcPts val="200"/>
              </a:spcAft>
            </a:pPr>
            <a:r>
              <a:rPr sz="1200" b="0">
                <a:solidFill>
                  <a:srgbClr val="FFFFFF"/>
                </a:solidFill>
                <a:latin typeface="Arial"/>
                <a:ea typeface="Microsoft YaHei"/>
              </a:rPr>
              <a:t>冠词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agree with your proposal.</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agree to your proposal.</a:t>
            </a:r>
          </a:p>
          <a:p>
            <a:pPr algn="l">
              <a:spcAft>
                <a:spcPts val="200"/>
              </a:spcAft>
            </a:pPr>
            <a:r>
              <a:rPr sz="1200" b="0">
                <a:solidFill>
                  <a:srgbClr val="FFFFFF"/>
                </a:solidFill>
                <a:latin typeface="Arial"/>
                <a:ea typeface="Microsoft YaHei"/>
              </a:rPr>
              <a:t>agree to + 提议</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55 Mastering Negotiations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is no possible.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That isn’t possible.</a:t>
            </a:r>
          </a:p>
          <a:p>
            <a:pPr algn="l">
              <a:spcAft>
                <a:spcPts val="200"/>
              </a:spcAft>
            </a:pPr>
            <a:r>
              <a:rPr sz="1200" b="0">
                <a:solidFill>
                  <a:srgbClr val="FFFFFF"/>
                </a:solidFill>
                <a:latin typeface="Arial"/>
                <a:ea typeface="Microsoft YaHei"/>
              </a:rPr>
              <a:t>否定</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Can you lower the price little?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you lower the price a little?</a:t>
            </a:r>
          </a:p>
          <a:p>
            <a:pPr algn="l">
              <a:spcAft>
                <a:spcPts val="200"/>
              </a:spcAft>
            </a:pPr>
            <a:r>
              <a:rPr sz="1200" b="0">
                <a:solidFill>
                  <a:srgbClr val="FFFFFF"/>
                </a:solidFill>
                <a:latin typeface="Arial"/>
                <a:ea typeface="Microsoft YaHei"/>
              </a:rPr>
              <a:t>a little</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are in a deadlock since Monday.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have been in deadlock since Monday.</a:t>
            </a:r>
          </a:p>
          <a:p>
            <a:pPr algn="l">
              <a:spcAft>
                <a:spcPts val="200"/>
              </a:spcAft>
            </a:pPr>
            <a:r>
              <a:rPr sz="1200" b="0">
                <a:solidFill>
                  <a:srgbClr val="FFFFFF"/>
                </a:solidFill>
                <a:latin typeface="Arial"/>
                <a:ea typeface="Microsoft YaHei"/>
              </a:rPr>
              <a:t>完成时 + since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if + present in conditionals, articles with discount, and agree to / with.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55 Mastering Negotiations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Haggling: </a:t>
            </a:r>
            <a:r>
              <a:rPr sz="1700" b="0">
                <a:solidFill>
                  <a:srgbClr val="1F2A44"/>
                </a:solidFill>
                <a:latin typeface="Arial"/>
                <a:ea typeface="Microsoft YaHei"/>
              </a:rPr>
              <a:t>In some markets haggling is expected, but in most Western B2B contexts negotiation is more structured.</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Concessions: </a:t>
            </a:r>
            <a:r>
              <a:rPr sz="1700" b="0">
                <a:solidFill>
                  <a:srgbClr val="1F2A44"/>
                </a:solidFill>
                <a:latin typeface="Arial"/>
                <a:ea typeface="Microsoft YaHei"/>
              </a:rPr>
              <a:t>Make small concessions slowly. Large early concessions teach the other side to push harder.</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1">
                <a:solidFill>
                  <a:srgbClr val="3CC49A"/>
                </a:solidFill>
                <a:latin typeface="Arial"/>
                <a:ea typeface="Microsoft YaHei"/>
              </a:rPr>
              <a:t>Follow-up: </a:t>
            </a:r>
            <a:r>
              <a:rPr sz="1700" b="0">
                <a:solidFill>
                  <a:srgbClr val="1F2A44"/>
                </a:solidFill>
                <a:latin typeface="Arial"/>
                <a:ea typeface="Microsoft YaHei"/>
              </a:rPr>
              <a:t>Always confirm agreements in writing afterwards.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if 从句不用 will(If you reduce…, we will…)。agree to + 提议,agree with + 人/观点。a 10% discount 要加冠词。</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55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55 Mastering Negotiations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make conditional offers and counter-offers.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respond to a refusal diplomatically.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idioms such as meet halfway and split the difference.</a:t>
            </a:r>
          </a:p>
        </p:txBody>
      </p:sp>
      <p:sp>
        <p:nvSpPr>
          <p:cNvPr id="20" name="TextBox 19"/>
          <p:cNvSpPr txBox="1"/>
          <p:nvPr/>
        </p:nvSpPr>
        <p:spPr>
          <a:xfrm>
            <a:off x="9539935" y="27035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first/second conditionals and agree to / with correctly.</a:t>
            </a:r>
          </a:p>
        </p:txBody>
      </p:sp>
      <p:sp>
        <p:nvSpPr>
          <p:cNvPr id="24" name="TextBox 23"/>
          <p:cNvSpPr txBox="1"/>
          <p:nvPr/>
        </p:nvSpPr>
        <p:spPr>
          <a:xfrm>
            <a:off x="9539935" y="36057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079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079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079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5079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55 Mastering Negotiations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first conditional (if + present), agree to / with, and articles with discount.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6 · Lesson 56 Hardball Negotiation Tactics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56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300" b="1">
                <a:solidFill>
                  <a:srgbClr val="FFFFFF"/>
                </a:solidFill>
                <a:latin typeface="Arial"/>
                <a:ea typeface="Microsoft YaHei"/>
              </a:rPr>
              <a:t>Hardball Negotiation Tactics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识破谈判中的强硬策略</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recognise common hardball tactics (high-low, good cop/bad cop, deadlines, nibbling) and respond calmly and professionally.</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56 Hardball Negotiation Tactics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experienced pressure tactics in a negotiation?</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“good cop, bad cop”?</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would you respond to a “take it or leave it” offer?</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using tough tactics ever acceptable?</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you protect yourself from being pushed into a bad deal?</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hardball = 强硬手段。nibble = 零敲碎打地提要求。第 3 题 take it or leave it = 要么接受要么拉倒。</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56 Hardball Negotiation Tactics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Respond to a pressure tactic without losing the relationship.</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recognise</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stay calm</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name it politely</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refocus on interests</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suggest next step</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I’d like to take a moment to consider that.   💬 I’m not comfortable deciding under pressure.   💬 Can we revisit the numbers?</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I’m not comfortable… 礼貌地拒绝压力。revisit = 重新审视。take a moment = 稍作思考。</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Playing Hardball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56 Hardball Negotiation Tactics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Not everyone negotiates in good faith. Some use pressure tactics designed to rush you into a poor decision. A common one is the artificial deadline: “This price is only valid until five o’clock.” Another is good cop, bad cop, where one person is aggressive and the other appears reasonable, so that you feel relieved to agree with the friendly one. Some negotiators nibble: after the deal is almost done, they ask for one small extra, and then another. Others start with an extreme demand to make their real position seem moderate. The best defence is calm. Do not respond immediately. Ask questions, test whether the deadline is real and be prepared to walk away. Naming the tactic politely can also help: “It sounds like you need an answer today. Let me see what I can do.”</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56 Hardball Negotiation Tactics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an artificial deadline?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false time limit to rush you into a decision.</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“nibbling”?</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Asking for small extras after the deal is almost done.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the best defence?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Staying calm, asking questions, testing the deadline and being ready to walk away.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Pressure tactics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56 Hardball Negotiation Tactics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施压策略</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ultimatum</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最后通牒</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gave us an ultimatum.”</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pressure</a:t>
            </a:r>
          </a:p>
          <a:p>
            <a:pPr algn="l">
              <a:lnSpc>
                <a:spcPct val="115000"/>
              </a:lnSpc>
              <a:spcAft>
                <a:spcPts val="800"/>
              </a:spcAft>
            </a:pPr>
            <a:r>
              <a:rPr sz="1300" b="0">
                <a:solidFill>
                  <a:srgbClr val="5F677A"/>
                </a:solidFill>
                <a:latin typeface="Arial"/>
                <a:ea typeface="Microsoft YaHei"/>
              </a:rPr>
              <a:t>noun /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压力 / 施压</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put pressure on us.”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bluff</a:t>
            </a:r>
          </a:p>
          <a:p>
            <a:pPr algn="l">
              <a:lnSpc>
                <a:spcPct val="115000"/>
              </a:lnSpc>
              <a:spcAft>
                <a:spcPts val="800"/>
              </a:spcAft>
            </a:pPr>
            <a:r>
              <a:rPr sz="1300" b="0">
                <a:solidFill>
                  <a:srgbClr val="5F677A"/>
                </a:solidFill>
                <a:latin typeface="Arial"/>
                <a:ea typeface="Microsoft YaHei"/>
              </a:rPr>
              <a:t>noun /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虚张声势</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think he’s bluffing.”</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demand</a:t>
            </a:r>
          </a:p>
          <a:p>
            <a:pPr algn="l">
              <a:lnSpc>
                <a:spcPct val="115000"/>
              </a:lnSpc>
              <a:spcAft>
                <a:spcPts val="800"/>
              </a:spcAft>
            </a:pPr>
            <a:r>
              <a:rPr sz="1300" b="0">
                <a:solidFill>
                  <a:srgbClr val="5F677A"/>
                </a:solidFill>
                <a:latin typeface="Arial"/>
                <a:ea typeface="Microsoft YaHei"/>
              </a:rPr>
              <a:t>noun /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要求</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made unreasonable demands.”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it or leave it</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要么接受要么拉倒</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take it or leave it.”</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final offer</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最终报价</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“This is our final offer.”</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Responding calmly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56 Hardball Negotiation Tactics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冷静应对</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call someone’s bluff</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揭穿虚张声势</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called their bluff, and they backed down.”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back down</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让步</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backed down on price.”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stand your ground</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坚持立场</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stood our ground.”</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play for time</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拖延时间</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“He’s playing for time.”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raise the stakes</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加大筹码</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raised the stakes by threatening to leave.”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hold firm</a:t>
            </a:r>
          </a:p>
          <a:p>
            <a:pPr algn="l">
              <a:lnSpc>
                <a:spcPct val="115000"/>
              </a:lnSpc>
              <a:spcAft>
                <a:spcPts val="800"/>
              </a:spcAft>
            </a:pPr>
            <a:r>
              <a:rPr sz="1300" b="0">
                <a:solidFill>
                  <a:srgbClr val="5F677A"/>
                </a:solidFill>
                <a:latin typeface="Arial"/>
                <a:ea typeface="Microsoft YaHei"/>
              </a:rPr>
              <a:t>collocation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坚守立场</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held firm on quality.”</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56 Hardball Negotiation Tactics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坚守立场</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hold firm</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加大筹码</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raise the stakes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虚张声势</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bluff</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要求</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demand</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让步</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back down</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拖延时间</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play for time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压力 / 施压</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pressure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最后通牒</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ultimatum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56 Hardball Negotiation Tactics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ultimatum</a:t>
            </a:r>
          </a:p>
        </p:txBody>
      </p:sp>
      <p:sp>
        <p:nvSpPr>
          <p:cNvPr id="10" name="Rounded Rectangle 9"/>
          <p:cNvSpPr/>
          <p:nvPr/>
        </p:nvSpPr>
        <p:spPr>
          <a:xfrm>
            <a:off x="3456432"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bluffing</a:t>
            </a:r>
          </a:p>
        </p:txBody>
      </p:sp>
      <p:sp>
        <p:nvSpPr>
          <p:cNvPr id="11" name="Rounded Rectangle 10"/>
          <p:cNvSpPr/>
          <p:nvPr/>
        </p:nvSpPr>
        <p:spPr>
          <a:xfrm>
            <a:off x="4791456" y="987552"/>
            <a:ext cx="2450591"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Take it or leave it</a:t>
            </a:r>
          </a:p>
        </p:txBody>
      </p:sp>
      <p:sp>
        <p:nvSpPr>
          <p:cNvPr id="12" name="Rounded Rectangle 11"/>
          <p:cNvSpPr/>
          <p:nvPr/>
        </p:nvSpPr>
        <p:spPr>
          <a:xfrm>
            <a:off x="7333487" y="987552"/>
            <a:ext cx="212140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call their bluff</a:t>
            </a:r>
          </a:p>
        </p:txBody>
      </p:sp>
      <p:sp>
        <p:nvSpPr>
          <p:cNvPr id="13" name="Rounded Rectangle 12"/>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They gave us an _______: sign today or lose the deal.</a:t>
            </a:r>
          </a:p>
        </p:txBody>
      </p:sp>
      <p:sp>
        <p:nvSpPr>
          <p:cNvPr id="15" name="Rounded Rectangle 14"/>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ultimatum</a:t>
            </a:r>
          </a:p>
        </p:txBody>
      </p:sp>
      <p:sp>
        <p:nvSpPr>
          <p:cNvPr id="16" name="Rounded Rectangle 15"/>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 don’t think he’ll walk away; he’s probably _______.</a:t>
            </a:r>
          </a:p>
        </p:txBody>
      </p:sp>
      <p:sp>
        <p:nvSpPr>
          <p:cNvPr id="18" name="Rounded Rectangle 17"/>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bluffing</a:t>
            </a:r>
          </a:p>
        </p:txBody>
      </p:sp>
      <p:sp>
        <p:nvSpPr>
          <p:cNvPr id="19" name="Rounded Rectangle 18"/>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“£50,000. _______.” That’s their final position.</a:t>
            </a:r>
          </a:p>
        </p:txBody>
      </p:sp>
      <p:sp>
        <p:nvSpPr>
          <p:cNvPr id="21" name="Rounded Rectangle 20"/>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it or leave it</a:t>
            </a:r>
          </a:p>
        </p:txBody>
      </p:sp>
      <p:sp>
        <p:nvSpPr>
          <p:cNvPr id="22" name="Rounded Rectangle 21"/>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If we _______, they might back down.</a:t>
            </a:r>
          </a:p>
        </p:txBody>
      </p:sp>
      <p:sp>
        <p:nvSpPr>
          <p:cNvPr id="24" name="Rounded Rectangle 23"/>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call their bluff</a:t>
            </a:r>
          </a:p>
        </p:txBody>
      </p:sp>
      <p:sp>
        <p:nvSpPr>
          <p:cNvPr id="25" name="Rounded Rectangle 24"/>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 decided to _______ and not accept lower quality.</a:t>
            </a:r>
          </a:p>
        </p:txBody>
      </p:sp>
      <p:sp>
        <p:nvSpPr>
          <p:cNvPr id="27" name="Rounded Rectangle 26"/>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stand our ground</a:t>
            </a:r>
          </a:p>
        </p:txBody>
      </p:sp>
      <p:sp>
        <p:nvSpPr>
          <p:cNvPr id="28" name="Rounded Rectangle 27"/>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The threat of a lawsuit _______ in the talks.</a:t>
            </a:r>
          </a:p>
        </p:txBody>
      </p:sp>
      <p:sp>
        <p:nvSpPr>
          <p:cNvPr id="30" name="Rounded Rectangle 29"/>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raised the stakes</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ultimatum (not “ultimatom”), pressure, tactic (not “tatic”). Put pressure on sb, under pressure. Bluff (verb): “He is bluffing.” Back down (not “back off down”). Insist on + -ing (not “insist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4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8"/>
                                        </p:tgtEl>
                                        <p:attrNameLst>
                                          <p:attrName>style.visibility</p:attrName>
                                        </p:attrNameLst>
                                      </p:cBhvr>
                                      <p:to>
                                        <p:strVal val="visible"/>
                                      </p:to>
                                    </p:set>
                                    <p:animEffect transition="in" filter="fade">
                                      <p:cBhvr>
                                        <p:cTn id="9" dur="4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4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4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Responding to a deadline tactic</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56 Hardball Negotiation Tactics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回应限时施压</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supplier, Mr Dunn, says his offer expires at the end of the day. You think it’s a tactic.</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Fay Liu, buyer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Dunn, supplier</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Responding to a deadline tactic</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56 Hardball Negotiation Tactics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Fay</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Mr Dunn, thanks for the revised quote. I understand the offer expires today.</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Dunn</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right. The price is only valid until five. After that it goes up 8%.</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Can I ask why it needs to be today?</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Our costs are changing, and I can’t guarantee anything tomorrow.</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appreciate that. But I’m not comfortable deciding under pressure on a contract this size.</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just being straightforward with you.</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Responding to a deadline tactic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56 Hardball Negotiation Tactics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Could we agree to hold the price until Friday? That would give me time to review it with my team.</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difficult. I’d have to ask my manager.</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Please do. If it’s not possible, we may have to look at other options.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 me see what I can do. I might be able to extend it to Thursday.</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help. Thank you for being flexible.</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confirm by email within the hour.</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Responding to a deadline tactic</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56 Hardball Negotiation Tactics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respond to a pressure tactic.</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Buyer. Deadline offer: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Seller. Presses for fast decision.</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valid until · I’m not comfortable · revisit · hold the price · other options · extend</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Stay calm, test the deadline and ask for more time.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Mr Dunn says: “My colleague will be more difficult than me.”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 negotiator keeps adding small requests. Say stop politely.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in 30 seconds how you would handle a “take it or leave it” offer.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56 Hardball Negotiation Tactics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pressure tactics have you seen?</a:t>
            </a:r>
          </a:p>
          <a:p>
            <a:pPr algn="l">
              <a:lnSpc>
                <a:spcPct val="115000"/>
              </a:lnSpc>
              <a:spcAft>
                <a:spcPts val="800"/>
              </a:spcAft>
            </a:pPr>
            <a:r>
              <a:rPr sz="1400" b="0">
                <a:solidFill>
                  <a:srgbClr val="5F677A"/>
                </a:solidFill>
                <a:latin typeface="Arial"/>
                <a:ea typeface="Microsoft YaHei"/>
              </a:rPr>
              <a:t>💬 “I’ve seen… for example when…”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ethical to use tactics like bluffing?</a:t>
            </a:r>
          </a:p>
          <a:p>
            <a:pPr algn="l">
              <a:lnSpc>
                <a:spcPct val="115000"/>
              </a:lnSpc>
              <a:spcAft>
                <a:spcPts val="800"/>
              </a:spcAft>
            </a:pPr>
            <a:r>
              <a:rPr sz="1400" b="0">
                <a:solidFill>
                  <a:srgbClr val="5F677A"/>
                </a:solidFill>
                <a:latin typeface="Arial"/>
                <a:ea typeface="Microsoft YaHei"/>
              </a:rPr>
              <a:t>💬 “I think it’s questionable because… / Some argue that…”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protect yourself against manipulation?</a:t>
            </a:r>
          </a:p>
          <a:p>
            <a:pPr algn="l">
              <a:lnSpc>
                <a:spcPct val="115000"/>
              </a:lnSpc>
              <a:spcAft>
                <a:spcPts val="800"/>
              </a:spcAft>
            </a:pPr>
            <a:r>
              <a:rPr sz="1400" b="0">
                <a:solidFill>
                  <a:srgbClr val="5F677A"/>
                </a:solidFill>
                <a:latin typeface="Arial"/>
                <a:ea typeface="Microsoft YaHei"/>
              </a:rPr>
              <a:t>💬 “By preparing… / Staying calm…”</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you walk away from an aggressive negotiator?</a:t>
            </a:r>
          </a:p>
          <a:p>
            <a:pPr algn="l">
              <a:lnSpc>
                <a:spcPct val="115000"/>
              </a:lnSpc>
              <a:spcAft>
                <a:spcPts val="800"/>
              </a:spcAft>
            </a:pPr>
            <a:r>
              <a:rPr sz="1400" b="0">
                <a:solidFill>
                  <a:srgbClr val="5F677A"/>
                </a:solidFill>
                <a:latin typeface="Arial"/>
                <a:ea typeface="Microsoft YaHei"/>
              </a:rPr>
              <a:t>💬 “Sometimes yes, if… / It depends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56 Hardball Negotiation Tactics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bluffing is questionable because it relies on deception and can destroy trust if it’s discovered. Negotiators who bluff may win once, but they risk their reputation, which matters if you want long-term partners. That said, keeping your limits private is not the same as lying. It’s fine not to reveal your bottom line, but it’s wrong to invent a competing offer that doesn’t exist.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deception = 欺骗。”relies on” = 依赖。reputation = 声誉。”That said” = 话虽如此。</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56 Hardball Negotiation Tactics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913631"/>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You are lying.</a:t>
                      </a:r>
                    </a:p>
                  </a:txBody>
                  <a:tcPr anchor="ctr">
                    <a:solidFill>
                      <a:srgbClr val="FFFFFF"/>
                    </a:solidFill>
                  </a:tcPr>
                </a:tc>
                <a:tc>
                  <a:txBody>
                    <a:bodyPr wrap="square"/>
                    <a:lstStyle/>
                    <a:p>
                      <a:r>
                        <a:rPr sz="1600" b="0">
                          <a:solidFill>
                            <a:srgbClr val="1F2A44"/>
                          </a:solidFill>
                          <a:latin typeface="Arial"/>
                          <a:ea typeface="Microsoft YaHei"/>
                        </a:rPr>
                        <a:t>I’m not sure that’s the full picture.</a:t>
                      </a:r>
                    </a:p>
                  </a:txBody>
                  <a:tcPr anchor="ctr">
                    <a:solidFill>
                      <a:srgbClr val="FFFFFF"/>
                    </a:solidFill>
                  </a:tcPr>
                </a:tc>
                <a:tc>
                  <a:txBody>
                    <a:bodyPr wrap="square"/>
                    <a:lstStyle/>
                    <a:p>
                      <a:r>
                        <a:rPr sz="1600" b="0">
                          <a:solidFill>
                            <a:srgbClr val="FF6B5B"/>
                          </a:solidFill>
                          <a:latin typeface="Arial"/>
                          <a:ea typeface="Microsoft YaHei"/>
                        </a:rPr>
                        <a:t>委婉质疑</a:t>
                      </a:r>
                    </a:p>
                  </a:txBody>
                  <a:tcPr anchor="ctr">
                    <a:solidFill>
                      <a:srgbClr val="FFFFFF"/>
                    </a:solidFill>
                  </a:tcPr>
                </a:tc>
              </a:tr>
              <a:tr h="652272">
                <a:tc>
                  <a:txBody>
                    <a:bodyPr wrap="square"/>
                    <a:lstStyle/>
                    <a:p>
                      <a:r>
                        <a:rPr sz="1600" b="1">
                          <a:solidFill>
                            <a:srgbClr val="1F2A44"/>
                          </a:solidFill>
                          <a:latin typeface="Arial"/>
                          <a:ea typeface="Microsoft YaHei"/>
                        </a:rPr>
                        <a:t>Don’t push me.</a:t>
                      </a:r>
                    </a:p>
                  </a:txBody>
                  <a:tcPr anchor="ctr">
                    <a:solidFill>
                      <a:srgbClr val="FFEFD9"/>
                    </a:solidFill>
                  </a:tcPr>
                </a:tc>
                <a:tc>
                  <a:txBody>
                    <a:bodyPr wrap="square"/>
                    <a:lstStyle/>
                    <a:p>
                      <a:r>
                        <a:rPr sz="1600" b="0">
                          <a:solidFill>
                            <a:srgbClr val="1F2A44"/>
                          </a:solidFill>
                          <a:latin typeface="Arial"/>
                          <a:ea typeface="Microsoft YaHei"/>
                        </a:rPr>
                        <a:t>I’d rather not rush this decision.</a:t>
                      </a:r>
                    </a:p>
                  </a:txBody>
                  <a:tcPr anchor="ctr">
                    <a:solidFill>
                      <a:srgbClr val="FFEFD9"/>
                    </a:solidFill>
                  </a:tcPr>
                </a:tc>
                <a:tc>
                  <a:txBody>
                    <a:bodyPr wrap="square"/>
                    <a:lstStyle/>
                    <a:p>
                      <a:r>
                        <a:rPr sz="1600" b="0">
                          <a:solidFill>
                            <a:srgbClr val="FF6B5B"/>
                          </a:solidFill>
                          <a:latin typeface="Arial"/>
                          <a:ea typeface="Microsoft YaHei"/>
                        </a:rPr>
                        <a:t>礼貌</a:t>
                      </a:r>
                    </a:p>
                  </a:txBody>
                  <a:tcPr anchor="ctr">
                    <a:solidFill>
                      <a:srgbClr val="FFEFD9"/>
                    </a:solidFill>
                  </a:tcPr>
                </a:tc>
              </a:tr>
              <a:tr h="652272">
                <a:tc>
                  <a:txBody>
                    <a:bodyPr wrap="square"/>
                    <a:lstStyle/>
                    <a:p>
                      <a:r>
                        <a:rPr sz="1600" b="1">
                          <a:solidFill>
                            <a:srgbClr val="1F2A44"/>
                          </a:solidFill>
                          <a:latin typeface="Arial"/>
                          <a:ea typeface="Microsoft YaHei"/>
                        </a:rPr>
                        <a:t>Your offer is trash.</a:t>
                      </a:r>
                    </a:p>
                  </a:txBody>
                  <a:tcPr anchor="ctr">
                    <a:solidFill>
                      <a:srgbClr val="FFFFFF"/>
                    </a:solidFill>
                  </a:tcPr>
                </a:tc>
                <a:tc>
                  <a:txBody>
                    <a:bodyPr wrap="square"/>
                    <a:lstStyle/>
                    <a:p>
                      <a:r>
                        <a:rPr sz="1600" b="0">
                          <a:solidFill>
                            <a:srgbClr val="1F2A44"/>
                          </a:solidFill>
                          <a:latin typeface="Arial"/>
                          <a:ea typeface="Microsoft YaHei"/>
                        </a:rPr>
                        <a:t>That’s well below what we had in mind.</a:t>
                      </a:r>
                    </a:p>
                  </a:txBody>
                  <a:tcPr anchor="ctr">
                    <a:solidFill>
                      <a:srgbClr val="FFFFFF"/>
                    </a:solidFill>
                  </a:tcPr>
                </a:tc>
                <a:tc>
                  <a:txBody>
                    <a:bodyPr wrap="square"/>
                    <a:lstStyle/>
                    <a:p>
                      <a:r>
                        <a:rPr sz="1600" b="0">
                          <a:solidFill>
                            <a:srgbClr val="FF6B5B"/>
                          </a:solidFill>
                          <a:latin typeface="Arial"/>
                          <a:ea typeface="Microsoft YaHei"/>
                        </a:rPr>
                        <a:t>不贬低</a:t>
                      </a:r>
                    </a:p>
                  </a:txBody>
                  <a:tcPr anchor="ctr">
                    <a:solidFill>
                      <a:srgbClr val="FFFFFF"/>
                    </a:solidFill>
                  </a:tcPr>
                </a:tc>
              </a:tr>
              <a:tr h="896111">
                <a:tc>
                  <a:txBody>
                    <a:bodyPr wrap="square"/>
                    <a:lstStyle/>
                    <a:p>
                      <a:r>
                        <a:rPr sz="1600" b="1">
                          <a:solidFill>
                            <a:srgbClr val="1F2A44"/>
                          </a:solidFill>
                          <a:latin typeface="Arial"/>
                          <a:ea typeface="Microsoft YaHei"/>
                        </a:rPr>
                        <a:t>I won’t talk with him.</a:t>
                      </a:r>
                    </a:p>
                  </a:txBody>
                  <a:tcPr anchor="ctr">
                    <a:solidFill>
                      <a:srgbClr val="FFEFD9"/>
                    </a:solidFill>
                  </a:tcPr>
                </a:tc>
                <a:tc>
                  <a:txBody>
                    <a:bodyPr wrap="square"/>
                    <a:lstStyle/>
                    <a:p>
                      <a:r>
                        <a:rPr sz="1600" b="0">
                          <a:solidFill>
                            <a:srgbClr val="1F2A44"/>
                          </a:solidFill>
                          <a:latin typeface="Arial"/>
                          <a:ea typeface="Microsoft YaHei"/>
                        </a:rPr>
                        <a:t>I’d prefer to continue with someone who has decision-making authority.</a:t>
                      </a:r>
                    </a:p>
                  </a:txBody>
                  <a:tcPr anchor="ctr">
                    <a:solidFill>
                      <a:srgbClr val="FFEFD9"/>
                    </a:solidFill>
                  </a:tcPr>
                </a:tc>
                <a:tc>
                  <a:txBody>
                    <a:bodyPr wrap="square"/>
                    <a:lstStyle/>
                    <a:p>
                      <a:r>
                        <a:rPr sz="1600" b="0">
                          <a:solidFill>
                            <a:srgbClr val="FF6B5B"/>
                          </a:solidFill>
                          <a:latin typeface="Arial"/>
                          <a:ea typeface="Microsoft YaHei"/>
                        </a:rPr>
                        <a:t>专业</a:t>
                      </a:r>
                    </a:p>
                  </a:txBody>
                  <a:tcPr anchor="ctr">
                    <a:solidFill>
                      <a:srgbClr val="FFEFD9"/>
                    </a:solidFill>
                  </a:tcPr>
                </a:tc>
              </a:tr>
              <a:tr h="652272">
                <a:tc>
                  <a:txBody>
                    <a:bodyPr wrap="square"/>
                    <a:lstStyle/>
                    <a:p>
                      <a:r>
                        <a:rPr sz="1600" b="1">
                          <a:solidFill>
                            <a:srgbClr val="1F2A44"/>
                          </a:solidFill>
                          <a:latin typeface="Arial"/>
                          <a:ea typeface="Microsoft YaHei"/>
                        </a:rPr>
                        <a:t>Stop adding things.</a:t>
                      </a:r>
                    </a:p>
                  </a:txBody>
                  <a:tcPr anchor="ctr">
                    <a:solidFill>
                      <a:srgbClr val="FFFFFF"/>
                    </a:solidFill>
                  </a:tcPr>
                </a:tc>
                <a:tc>
                  <a:txBody>
                    <a:bodyPr wrap="square"/>
                    <a:lstStyle/>
                    <a:p>
                      <a:r>
                        <a:rPr sz="1600" b="0">
                          <a:solidFill>
                            <a:srgbClr val="1F2A44"/>
                          </a:solidFill>
                          <a:latin typeface="Arial"/>
                          <a:ea typeface="Microsoft YaHei"/>
                        </a:rPr>
                        <a:t>We agreed the package earlier; I’d like to keep it as it is.</a:t>
                      </a:r>
                    </a:p>
                  </a:txBody>
                  <a:tcPr anchor="ctr">
                    <a:solidFill>
                      <a:srgbClr val="FFFFFF"/>
                    </a:solidFill>
                  </a:tcPr>
                </a:tc>
                <a:tc>
                  <a:txBody>
                    <a:bodyPr wrap="square"/>
                    <a:lstStyle/>
                    <a:p>
                      <a:r>
                        <a:rPr sz="1600" b="0">
                          <a:solidFill>
                            <a:srgbClr val="FF6B5B"/>
                          </a:solidFill>
                          <a:latin typeface="Arial"/>
                          <a:ea typeface="Microsoft YaHei"/>
                        </a:rPr>
                        <a:t>坚定</a:t>
                      </a:r>
                    </a:p>
                  </a:txBody>
                  <a:tcPr anchor="ctr">
                    <a:solidFill>
                      <a:srgbClr val="FFFFFF"/>
                    </a:solidFill>
                  </a:tcPr>
                </a:tc>
              </a:tr>
            </a:tbl>
          </a:graphicData>
        </a:graphic>
      </p:graphicFrame>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56 Hardball Negotiation Tactics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Politely firm language: </a:t>
            </a:r>
            <a:r>
              <a:rPr sz="1700" b="0">
                <a:solidFill>
                  <a:srgbClr val="1F2A44"/>
                </a:solidFill>
                <a:latin typeface="Arial"/>
                <a:ea typeface="Microsoft YaHei"/>
              </a:rPr>
              <a:t>I’m afraid I can’t…, I’d prefer not to…, That doesn’t work for us.</a:t>
            </a:r>
          </a:p>
        </p:txBody>
      </p:sp>
      <p:sp>
        <p:nvSpPr>
          <p:cNvPr id="11" name="Rounded Rectangle 10"/>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701039"/>
          </a:xfrm>
          <a:prstGeom prst="rect">
            <a:avLst/>
          </a:prstGeom>
          <a:noFill/>
        </p:spPr>
        <p:txBody>
          <a:bodyPr wrap="square" anchor="ctr">
            <a:spAutoFit/>
          </a:bodyPr>
          <a:lstStyle/>
          <a:p>
            <a:r>
              <a:rPr sz="1700" b="1">
                <a:solidFill>
                  <a:srgbClr val="4A90E2"/>
                </a:solidFill>
                <a:latin typeface="Arial"/>
                <a:ea typeface="Microsoft YaHei"/>
              </a:rPr>
              <a:t>Passive for avoidance of blame: </a:t>
            </a:r>
            <a:r>
              <a:rPr sz="1700" b="0">
                <a:solidFill>
                  <a:srgbClr val="1F2A44"/>
                </a:solidFill>
                <a:latin typeface="Arial"/>
                <a:ea typeface="Microsoft YaHei"/>
              </a:rPr>
              <a:t>“The price is only valid until five.” / “The terms were agreed last week.”</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Reported speech: </a:t>
            </a:r>
            <a:r>
              <a:rPr sz="1700" b="0">
                <a:solidFill>
                  <a:srgbClr val="1F2A44"/>
                </a:solidFill>
                <a:latin typeface="Arial"/>
                <a:ea typeface="Microsoft YaHei"/>
              </a:rPr>
              <a:t>“He said the offer would expire today.”</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Modals of possibility: </a:t>
            </a:r>
            <a:r>
              <a:rPr sz="1700" b="0">
                <a:solidFill>
                  <a:srgbClr val="1F2A44"/>
                </a:solidFill>
                <a:latin typeface="Arial"/>
                <a:ea typeface="Microsoft YaHei"/>
              </a:rPr>
              <a:t>He might be bluffing, It could be a tactic, They may need an answer.</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56 Hardball Negotiation Tactics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insisted me to sign.</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insisted that I sign. / He insisted on me signing.</a:t>
            </a:r>
          </a:p>
          <a:p>
            <a:pPr algn="l">
              <a:spcAft>
                <a:spcPts val="200"/>
              </a:spcAft>
            </a:pPr>
            <a:r>
              <a:rPr sz="1200" b="0">
                <a:solidFill>
                  <a:srgbClr val="FFFFFF"/>
                </a:solidFill>
                <a:latin typeface="Arial"/>
                <a:ea typeface="Microsoft YaHei"/>
              </a:rPr>
              <a:t>insist that</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not agree with you.</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don’t agree.</a:t>
            </a:r>
          </a:p>
          <a:p>
            <a:pPr algn="l">
              <a:spcAft>
                <a:spcPts val="200"/>
              </a:spcAft>
            </a:pPr>
            <a:r>
              <a:rPr sz="1200" b="0">
                <a:solidFill>
                  <a:srgbClr val="FFFFFF"/>
                </a:solidFill>
                <a:latin typeface="Arial"/>
                <a:ea typeface="Microsoft YaHei"/>
              </a:rPr>
              <a:t>agree 动词</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put me pressure.</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put pressure on me.</a:t>
            </a:r>
          </a:p>
          <a:p>
            <a:pPr algn="l">
              <a:spcAft>
                <a:spcPts val="200"/>
              </a:spcAft>
            </a:pPr>
            <a:r>
              <a:rPr sz="1200" b="0">
                <a:solidFill>
                  <a:srgbClr val="FFFFFF"/>
                </a:solidFill>
                <a:latin typeface="Arial"/>
                <a:ea typeface="Microsoft YaHei"/>
              </a:rPr>
              <a:t>put pressure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56 Hardball Negotiation Tactics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said me the offer was limited.</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told me the offer was limited.</a:t>
            </a:r>
          </a:p>
          <a:p>
            <a:pPr algn="l">
              <a:spcAft>
                <a:spcPts val="200"/>
              </a:spcAft>
            </a:pPr>
            <a:r>
              <a:rPr sz="1200" b="0">
                <a:solidFill>
                  <a:srgbClr val="FFFFFF"/>
                </a:solidFill>
                <a:latin typeface="Arial"/>
                <a:ea typeface="Microsoft YaHei"/>
              </a:rPr>
              <a:t>say/tell</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can’t decide in rush.</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can’t decide in a rush. / We can’t decide in haste.</a:t>
            </a:r>
          </a:p>
          <a:p>
            <a:pPr algn="l">
              <a:spcAft>
                <a:spcPts val="200"/>
              </a:spcAft>
            </a:pPr>
            <a:r>
              <a:rPr sz="1200" b="0">
                <a:solidFill>
                  <a:srgbClr val="FFFFFF"/>
                </a:solidFill>
                <a:latin typeface="Arial"/>
                <a:ea typeface="Microsoft YaHei"/>
              </a:rPr>
              <a:t>in a rush</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not honest negotiation.</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That’s not an honest way to negotiate.</a:t>
            </a:r>
          </a:p>
          <a:p>
            <a:pPr algn="l">
              <a:spcAft>
                <a:spcPts val="200"/>
              </a:spcAft>
            </a:pPr>
            <a:r>
              <a:rPr sz="1200" b="0">
                <a:solidFill>
                  <a:srgbClr val="FFFFFF"/>
                </a:solidFill>
                <a:latin typeface="Arial"/>
                <a:ea typeface="Microsoft YaHei"/>
              </a:rPr>
              <a:t>地道</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say / tell, insist that, and in a rush.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56 Hardball Negotiation Tactics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Ethics: </a:t>
            </a:r>
            <a:r>
              <a:rPr sz="1700" b="0">
                <a:solidFill>
                  <a:srgbClr val="1F2A44"/>
                </a:solidFill>
                <a:latin typeface="Arial"/>
                <a:ea typeface="Microsoft YaHei"/>
              </a:rPr>
              <a:t>Many companies have codes of conduct about negotiating honestly. Know your own limits.</a:t>
            </a:r>
          </a:p>
        </p:txBody>
      </p:sp>
      <p:sp>
        <p:nvSpPr>
          <p:cNvPr id="12" name="Rounded Rectangle 11"/>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701039"/>
          </a:xfrm>
          <a:prstGeom prst="rect">
            <a:avLst/>
          </a:prstGeom>
          <a:noFill/>
        </p:spPr>
        <p:txBody>
          <a:bodyPr wrap="square" anchor="ctr">
            <a:spAutoFit/>
          </a:bodyPr>
          <a:lstStyle/>
          <a:p>
            <a:r>
              <a:rPr sz="1700" b="1">
                <a:solidFill>
                  <a:srgbClr val="4A90E2"/>
                </a:solidFill>
                <a:latin typeface="Arial"/>
                <a:ea typeface="Microsoft YaHei"/>
              </a:rPr>
              <a:t>Cultural differences: </a:t>
            </a:r>
            <a:r>
              <a:rPr sz="1700" b="0">
                <a:solidFill>
                  <a:srgbClr val="1F2A44"/>
                </a:solidFill>
                <a:latin typeface="Arial"/>
                <a:ea typeface="Microsoft YaHei"/>
              </a:rPr>
              <a:t>Deadlines may be real or a tactic. In some cultures, urgency is built into the negotiation style.</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Take time: </a:t>
            </a:r>
            <a:r>
              <a:rPr sz="1700" b="0">
                <a:solidFill>
                  <a:srgbClr val="1F2A44"/>
                </a:solidFill>
                <a:latin typeface="Arial"/>
                <a:ea typeface="Microsoft YaHei"/>
              </a:rPr>
              <a:t>Saying “I’ll get back to you” is entirely normal in business.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say 与 tell 区别:tell sb sth;say sth (to sb)。insist that + 动词原形。put pressure on sb。应对施压的最好办法是冷静、争取时间、问问题。</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56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56 Hardball Negotiation Tactics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recognise common hardball tactics.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respond to pressure calmly and politely.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say / tell and reported speech correctly.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idioms such as call their bluff and stand our ground.</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56 Hardball Negotiation Tactics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say / tell, reported speech, and put pressure on.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6 · Lesson 57 Getting Down to the Nitty-Gritty</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70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57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700" b="1">
                <a:solidFill>
                  <a:srgbClr val="FFFFFF"/>
                </a:solidFill>
                <a:latin typeface="Arial"/>
                <a:ea typeface="Microsoft YaHei"/>
              </a:rPr>
              <a:t>Getting Down to the Nitty-Gritty</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深入细节</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specific details of a deal: prices, quantities, delivery, payment terms and responsibilities, using precise language to avoid misunderstanding.</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57 Getting Down to the Nitty-Gritty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details do you need to agree on before signing a deal?</a:t>
            </a:r>
          </a:p>
        </p:txBody>
      </p:sp>
      <p:sp>
        <p:nvSpPr>
          <p:cNvPr id="12" name="Oval 11"/>
          <p:cNvSpPr/>
          <p:nvPr/>
        </p:nvSpPr>
        <p:spPr>
          <a:xfrm>
            <a:off x="548640" y="248716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had a misunderstanding about the details of an agreement?</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make sure everyone understands the same thing?</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details are often forgotten?</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discuss numbers clearly on the phone?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nitty-gritty = 具体细节/关键细节。第 2 题答案常含 “assume/assumption”。clarify = 澄清。</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57 Getting Down to the Nitty-Gritty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Agree the detailed terms of a supply deal.</a:t>
            </a:r>
          </a:p>
        </p:txBody>
      </p:sp>
      <p:sp>
        <p:nvSpPr>
          <p:cNvPr id="10" name="Rounded Rectangle 9"/>
          <p:cNvSpPr/>
          <p:nvPr/>
        </p:nvSpPr>
        <p:spPr>
          <a:xfrm>
            <a:off x="548640" y="3017520"/>
            <a:ext cx="156210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quantities</a:t>
            </a:r>
          </a:p>
        </p:txBody>
      </p:sp>
      <p:sp>
        <p:nvSpPr>
          <p:cNvPr id="11" name="Rounded Rectangle 10"/>
          <p:cNvSpPr/>
          <p:nvPr/>
        </p:nvSpPr>
        <p:spPr>
          <a:xfrm>
            <a:off x="2247900" y="3017520"/>
            <a:ext cx="156210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price</a:t>
            </a:r>
          </a:p>
        </p:txBody>
      </p:sp>
      <p:sp>
        <p:nvSpPr>
          <p:cNvPr id="12" name="Rounded Rectangle 11"/>
          <p:cNvSpPr/>
          <p:nvPr/>
        </p:nvSpPr>
        <p:spPr>
          <a:xfrm>
            <a:off x="3947160" y="3017520"/>
            <a:ext cx="156210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delivery</a:t>
            </a:r>
          </a:p>
        </p:txBody>
      </p:sp>
      <p:sp>
        <p:nvSpPr>
          <p:cNvPr id="13" name="Rounded Rectangle 12"/>
          <p:cNvSpPr/>
          <p:nvPr/>
        </p:nvSpPr>
        <p:spPr>
          <a:xfrm>
            <a:off x="5646420" y="3017520"/>
            <a:ext cx="156210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payment</a:t>
            </a:r>
          </a:p>
        </p:txBody>
      </p:sp>
      <p:sp>
        <p:nvSpPr>
          <p:cNvPr id="14" name="Rounded Rectangle 13"/>
          <p:cNvSpPr/>
          <p:nvPr/>
        </p:nvSpPr>
        <p:spPr>
          <a:xfrm>
            <a:off x="7345680" y="3017520"/>
            <a:ext cx="1562100"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responsibilities</a:t>
            </a:r>
          </a:p>
        </p:txBody>
      </p:sp>
      <p:sp>
        <p:nvSpPr>
          <p:cNvPr id="15" name="Rounded Rectangle 14"/>
          <p:cNvSpPr/>
          <p:nvPr/>
        </p:nvSpPr>
        <p:spPr>
          <a:xfrm>
            <a:off x="9044940" y="3017520"/>
            <a:ext cx="156210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6. confirm</a:t>
            </a:r>
          </a:p>
        </p:txBody>
      </p:sp>
      <p:sp>
        <p:nvSpPr>
          <p:cNvPr id="16" name="TextBox 15"/>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7" name="TextBox 16"/>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Let’s go through the details.   💬 Just to clarify…   💬 So, to confirm…</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Just to clarify = 确认一下。To confirm = 总结确认。重复数字和日期是好习惯。</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The Devil Is in the Detail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57 Getting Down to the Nitty-Gritty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After the big decisions are agreed, many deals still fall apart over small things. Who pays for shipping? What happens if goods arrive damaged? Is the price quoted before or after tax? Misunderstandings often arise because each side assumes something different. Careful negotiators go through each point methodically: quantity, quality, price, delivery date, payment terms, and who is responsible when something goes wrong. They repeat key numbers and dates aloud, ask clarifying questions and write down what has been agreed. It also helps to confirm in writing the same day. This may feel slow, but it saves time later. When a detail cannot be agreed, it is better to say so openly and mark it as an open point than to leave it vague and hope for the best.</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57 Getting Down to the Nitty-Gritty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do deals sometimes fall apart over small things?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Each side assumes something different about details such as shipping or damages.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do careful negotiators do?</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Go through each point, repeat numbers and dates, ask questions and write things down.</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should be done with a detail that cannot be agreed?</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Say so openly and mark it as an open point.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Terms of a deal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57 Getting Down to the Nitty-Gritty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交易条款</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unit price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单价</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unit price is £12.”</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quantity</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数量</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minimum quantity is 500.”</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delivery date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交货日期</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delivery date is 15 March.”</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payment terms</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付款条件</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payment terms are 30 days.”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warranty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保修</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 is a two-year warranty.”</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liability</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责任</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supplier has liability for damages.”</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2: Clarifying and confirming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57 Getting Down to the Nitty-Gritty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澄清与确认</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to be clear</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说明白一点</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“To be clear, shipping is included.”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spell out</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详细说明</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spell out the terms.”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iron out</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解决(细节问题)</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to iron out a few details.”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 writing</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书面</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confirm in writing.”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subject to</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取决于/以……为条件</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price is subject to approval.”</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ballpark figure</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大致数字</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 you give me a ballpark figure?”</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57 Getting Down to the Nitty-Gritty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解决(细节问题)</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iron out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说明白一点</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 be clear</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单价</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unit price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付款条件</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payment terms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大致数字</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ballpark figure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取决于/以……为条件</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subject to</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详细说明</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spell out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责任</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liability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57 Getting Down to the Nitty-Gritty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unit price</a:t>
            </a:r>
          </a:p>
        </p:txBody>
      </p:sp>
      <p:sp>
        <p:nvSpPr>
          <p:cNvPr id="10" name="Rounded Rectangle 9"/>
          <p:cNvSpPr/>
          <p:nvPr/>
        </p:nvSpPr>
        <p:spPr>
          <a:xfrm>
            <a:off x="3566160"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quantity</a:t>
            </a:r>
          </a:p>
        </p:txBody>
      </p:sp>
      <p:sp>
        <p:nvSpPr>
          <p:cNvPr id="11" name="Rounded Rectangle 10"/>
          <p:cNvSpPr/>
          <p:nvPr/>
        </p:nvSpPr>
        <p:spPr>
          <a:xfrm>
            <a:off x="4901184" y="987552"/>
            <a:ext cx="179222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payment terms</a:t>
            </a:r>
          </a:p>
        </p:txBody>
      </p:sp>
      <p:sp>
        <p:nvSpPr>
          <p:cNvPr id="12" name="Rounded Rectangle 11"/>
          <p:cNvSpPr/>
          <p:nvPr/>
        </p:nvSpPr>
        <p:spPr>
          <a:xfrm>
            <a:off x="6784848"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warranty</a:t>
            </a:r>
          </a:p>
        </p:txBody>
      </p:sp>
      <p:sp>
        <p:nvSpPr>
          <p:cNvPr id="13" name="Rounded Rectangle 12"/>
          <p:cNvSpPr/>
          <p:nvPr/>
        </p:nvSpPr>
        <p:spPr>
          <a:xfrm>
            <a:off x="8119872" y="987552"/>
            <a:ext cx="146304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subject to</a:t>
            </a:r>
          </a:p>
        </p:txBody>
      </p:sp>
      <p:sp>
        <p:nvSpPr>
          <p:cNvPr id="14" name="Rounded Rectangle 13"/>
          <p:cNvSpPr/>
          <p:nvPr/>
        </p:nvSpPr>
        <p:spPr>
          <a:xfrm>
            <a:off x="9674352"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iron out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 _______ is £12, excluding tax.</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unit price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We need a minimum _______ of 500 units.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quantity</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Our standard _______ are 30 days from the invoice date.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payment terms</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 product comes with a two-year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warranty</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The offer is _______ contract approval.</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subject to</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We still need to _______ a few details.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iron out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quantity, warranty (not “warrenty”), liability (not “liabilty”). Per unit, a unit price. Exclude / include tax (VAT in UK). Deliver on a date / by a date. Quote a price, give a quote. Say numbers clearly: 15 vs 50 (“fifteen” vs “fifty”).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Role Play · Agreeing detailed terms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57 Getting Down to the Nitty-Gritty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商定具体条款</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and a supplier’s representative go through the details of an order.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Ola Wu, buyer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Hart, supplier representative</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Agreeing detailed terms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57 Getting Down to the Nitty-Gritty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Ola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Mr Hart, now that we’ve agreed the headline price, shall we go through the details?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Hart</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Quantity first?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Just to clarify, we want 2,000 units in the first order, then 1,000 per month.</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Understood. The unit price is £14, excluding VAT.</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 be clear, that includes delivery to our warehouse?</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Delivery is extra. It’s £300 per shipment.</a:t>
            </a:r>
          </a:p>
        </p:txBody>
      </p:sp>
      <p:sp>
        <p:nvSpPr>
          <p:cNvPr id="26" name="Rounded Rectangle 25"/>
          <p:cNvSpPr/>
          <p:nvPr/>
        </p:nvSpPr>
        <p:spPr>
          <a:xfrm>
            <a:off x="548640" y="53980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8369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53980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Hmm. Could we include delivery for orders over 1,500 units?</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Agreeing detailed terms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57 Getting Down to the Nitty-Gritty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can do that for the first order only.</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Fine. What about payment terms?</a:t>
            </a:r>
          </a:p>
        </p:txBody>
      </p:sp>
      <p:sp>
        <p:nvSpPr>
          <p:cNvPr id="14" name="Rounded Rectangle 13"/>
          <p:cNvSpPr/>
          <p:nvPr/>
        </p:nvSpPr>
        <p:spPr>
          <a:xfrm>
            <a:off x="10911535" y="249021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49021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Thirty days from invoice.</a:t>
            </a:r>
          </a:p>
        </p:txBody>
      </p:sp>
      <p:sp>
        <p:nvSpPr>
          <p:cNvPr id="17" name="Rounded Rectangle 16"/>
          <p:cNvSpPr/>
          <p:nvPr/>
        </p:nvSpPr>
        <p:spPr>
          <a:xfrm>
            <a:off x="548640" y="307238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07238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Could we say forty-five? That would help our cash flow.</a:t>
            </a:r>
          </a:p>
        </p:txBody>
      </p:sp>
      <p:sp>
        <p:nvSpPr>
          <p:cNvPr id="20" name="Rounded Rectangle 19"/>
          <p:cNvSpPr/>
          <p:nvPr/>
        </p:nvSpPr>
        <p:spPr>
          <a:xfrm>
            <a:off x="10911535" y="365455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3654552"/>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need to check, but I think we can agree to forty-five for this year.</a:t>
            </a:r>
          </a:p>
        </p:txBody>
      </p:sp>
      <p:sp>
        <p:nvSpPr>
          <p:cNvPr id="23" name="Rounded Rectangle 22"/>
          <p:cNvSpPr/>
          <p:nvPr/>
        </p:nvSpPr>
        <p:spPr>
          <a:xfrm>
            <a:off x="548640" y="45262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4" name="TextBox 23"/>
          <p:cNvSpPr txBox="1"/>
          <p:nvPr/>
        </p:nvSpPr>
        <p:spPr>
          <a:xfrm>
            <a:off x="274320"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1463040" y="45262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So, to confirm: 2,000 units at £14, free delivery on the first order and forty-five days to pay. I’ll send this by email today.</a:t>
            </a:r>
          </a:p>
        </p:txBody>
      </p:sp>
      <p:sp>
        <p:nvSpPr>
          <p:cNvPr id="26" name="Rounded Rectangle 25"/>
          <p:cNvSpPr/>
          <p:nvPr/>
        </p:nvSpPr>
        <p:spPr>
          <a:xfrm>
            <a:off x="10911535" y="53980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7" name="TextBox 26"/>
          <p:cNvSpPr txBox="1"/>
          <p:nvPr/>
        </p:nvSpPr>
        <p:spPr>
          <a:xfrm>
            <a:off x="10637215" y="58369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2133295" y="53980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Correct. Please include the warranty clause too.</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Your Turn · Agreeing detailed terms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57 Getting Down to the Nitty-Gritty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agree the details of an order.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Buyer. Order: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Supplier. Know your price, delivery and payment terms.</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just to clarify · to confirm · unit price · delivery · payment terms · in writing</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Go through each term, clarify and confirm in writing.</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Mr Hart changes a price you had agreed. Respond.</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Read numbers aloud correctly: 15, 50, 1,250, 0.5%, £3.99.</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confirmation email with five key terms.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57 Getting Down to the Nitty-Gritty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are details so important in business agreements?</a:t>
            </a:r>
          </a:p>
          <a:p>
            <a:pPr algn="l">
              <a:lnSpc>
                <a:spcPct val="115000"/>
              </a:lnSpc>
              <a:spcAft>
                <a:spcPts val="800"/>
              </a:spcAft>
            </a:pPr>
            <a:r>
              <a:rPr sz="1400" b="0">
                <a:solidFill>
                  <a:srgbClr val="5F677A"/>
                </a:solidFill>
                <a:latin typeface="Arial"/>
                <a:ea typeface="Microsoft YaHei"/>
              </a:rPr>
              <a:t>💬 “Because misunderstandings can lead to… / Small details can…”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avoid misunderstandings?</a:t>
            </a:r>
          </a:p>
          <a:p>
            <a:pPr algn="l">
              <a:lnSpc>
                <a:spcPct val="115000"/>
              </a:lnSpc>
              <a:spcAft>
                <a:spcPts val="800"/>
              </a:spcAft>
            </a:pPr>
            <a:r>
              <a:rPr sz="1400" b="0">
                <a:solidFill>
                  <a:srgbClr val="5F677A"/>
                </a:solidFill>
                <a:latin typeface="Arial"/>
                <a:ea typeface="Microsoft YaHei"/>
              </a:rPr>
              <a:t>💬 “I repeat… and confirm… / I put things in writing.”</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happens if one side doesn’t deliver as agreed?</a:t>
            </a:r>
          </a:p>
          <a:p>
            <a:pPr algn="l">
              <a:lnSpc>
                <a:spcPct val="115000"/>
              </a:lnSpc>
              <a:spcAft>
                <a:spcPts val="800"/>
              </a:spcAft>
            </a:pPr>
            <a:r>
              <a:rPr sz="1400" b="0">
                <a:solidFill>
                  <a:srgbClr val="5F677A"/>
                </a:solidFill>
                <a:latin typeface="Arial"/>
                <a:ea typeface="Microsoft YaHei"/>
              </a:rPr>
              <a:t>💬 “There may be penalties… / The contract should state…”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everything be written down?</a:t>
            </a:r>
          </a:p>
          <a:p>
            <a:pPr algn="l">
              <a:lnSpc>
                <a:spcPct val="115000"/>
              </a:lnSpc>
              <a:spcAft>
                <a:spcPts val="800"/>
              </a:spcAft>
            </a:pPr>
            <a:r>
              <a:rPr sz="1400" b="0">
                <a:solidFill>
                  <a:srgbClr val="5F677A"/>
                </a:solidFill>
                <a:latin typeface="Arial"/>
                <a:ea typeface="Microsoft YaHei"/>
              </a:rPr>
              <a:t>💬 “Ideally yes, because… / Except for…”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57 Getting Down to the Nitty-Gritty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Details matter because most business disputes arise from differences in what each side believed was agreed. If the contract is vague about delivery dates, quality standards or who pays for damaged goods, each party can interpret it in its own favour. Clear terms protect both sides, save time and preserve the relationship, because there is less room for argument.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dispute = 争议。”in its own favour” = 对自己有利。preserve = 保护。”room for argument” = 争论的余地。</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57 Getting Down to the Nitty-Gritty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What’s the price?</a:t>
                      </a:r>
                    </a:p>
                  </a:txBody>
                  <a:tcPr anchor="ctr">
                    <a:solidFill>
                      <a:srgbClr val="FFFFFF"/>
                    </a:solidFill>
                  </a:tcPr>
                </a:tc>
                <a:tc>
                  <a:txBody>
                    <a:bodyPr wrap="square"/>
                    <a:lstStyle/>
                    <a:p>
                      <a:r>
                        <a:rPr sz="1600" b="0">
                          <a:solidFill>
                            <a:srgbClr val="1F2A44"/>
                          </a:solidFill>
                          <a:latin typeface="Arial"/>
                          <a:ea typeface="Microsoft YaHei"/>
                        </a:rPr>
                        <a:t>Could you confirm the unit price?</a:t>
                      </a:r>
                    </a:p>
                  </a:txBody>
                  <a:tcPr anchor="ctr">
                    <a:solidFill>
                      <a:srgbClr val="FFFFFF"/>
                    </a:solidFill>
                  </a:tcPr>
                </a:tc>
                <a:tc>
                  <a:txBody>
                    <a:bodyPr wrap="square"/>
                    <a:lstStyle/>
                    <a:p>
                      <a:r>
                        <a:rPr sz="1600" b="0">
                          <a:solidFill>
                            <a:srgbClr val="FF6B5B"/>
                          </a:solidFill>
                          <a:latin typeface="Arial"/>
                          <a:ea typeface="Microsoft YaHei"/>
                        </a:rPr>
                        <a:t>礼貌</a:t>
                      </a:r>
                    </a:p>
                  </a:txBody>
                  <a:tcPr anchor="ctr">
                    <a:solidFill>
                      <a:srgbClr val="FFFFFF"/>
                    </a:solidFill>
                  </a:tcPr>
                </a:tc>
              </a:tr>
              <a:tr h="408432">
                <a:tc>
                  <a:txBody>
                    <a:bodyPr wrap="square"/>
                    <a:lstStyle/>
                    <a:p>
                      <a:r>
                        <a:rPr sz="1600" b="1">
                          <a:solidFill>
                            <a:srgbClr val="1F2A44"/>
                          </a:solidFill>
                          <a:latin typeface="Arial"/>
                          <a:ea typeface="Microsoft YaHei"/>
                        </a:rPr>
                        <a:t>When do you send?</a:t>
                      </a:r>
                    </a:p>
                  </a:txBody>
                  <a:tcPr anchor="ctr">
                    <a:solidFill>
                      <a:srgbClr val="FFEFD9"/>
                    </a:solidFill>
                  </a:tcPr>
                </a:tc>
                <a:tc>
                  <a:txBody>
                    <a:bodyPr wrap="square"/>
                    <a:lstStyle/>
                    <a:p>
                      <a:r>
                        <a:rPr sz="1600" b="0">
                          <a:solidFill>
                            <a:srgbClr val="1F2A44"/>
                          </a:solidFill>
                          <a:latin typeface="Arial"/>
                          <a:ea typeface="Microsoft YaHei"/>
                        </a:rPr>
                        <a:t>What’s the delivery date?</a:t>
                      </a:r>
                    </a:p>
                  </a:txBody>
                  <a:tcPr anchor="ctr">
                    <a:solidFill>
                      <a:srgbClr val="FFEFD9"/>
                    </a:solidFill>
                  </a:tcPr>
                </a:tc>
                <a:tc>
                  <a:txBody>
                    <a:bodyPr wrap="square"/>
                    <a:lstStyle/>
                    <a:p>
                      <a:r>
                        <a:rPr sz="1600" b="0">
                          <a:solidFill>
                            <a:srgbClr val="FF6B5B"/>
                          </a:solidFill>
                          <a:latin typeface="Arial"/>
                          <a:ea typeface="Microsoft YaHei"/>
                        </a:rPr>
                        <a:t>完整</a:t>
                      </a:r>
                    </a:p>
                  </a:txBody>
                  <a:tcPr anchor="ctr">
                    <a:solidFill>
                      <a:srgbClr val="FFEFD9"/>
                    </a:solidFill>
                  </a:tcPr>
                </a:tc>
              </a:tr>
              <a:tr h="652272">
                <a:tc>
                  <a:txBody>
                    <a:bodyPr wrap="square"/>
                    <a:lstStyle/>
                    <a:p>
                      <a:r>
                        <a:rPr sz="1600" b="1">
                          <a:solidFill>
                            <a:srgbClr val="1F2A44"/>
                          </a:solidFill>
                          <a:latin typeface="Arial"/>
                          <a:ea typeface="Microsoft YaHei"/>
                        </a:rPr>
                        <a:t>Pay later.</a:t>
                      </a:r>
                    </a:p>
                  </a:txBody>
                  <a:tcPr anchor="ctr">
                    <a:solidFill>
                      <a:srgbClr val="FFFFFF"/>
                    </a:solidFill>
                  </a:tcPr>
                </a:tc>
                <a:tc>
                  <a:txBody>
                    <a:bodyPr wrap="square"/>
                    <a:lstStyle/>
                    <a:p>
                      <a:r>
                        <a:rPr sz="1600" b="0">
                          <a:solidFill>
                            <a:srgbClr val="1F2A44"/>
                          </a:solidFill>
                          <a:latin typeface="Arial"/>
                          <a:ea typeface="Microsoft YaHei"/>
                        </a:rPr>
                        <a:t>Could we extend the payment terms?</a:t>
                      </a:r>
                    </a:p>
                  </a:txBody>
                  <a:tcPr anchor="ctr">
                    <a:solidFill>
                      <a:srgbClr val="FFFFFF"/>
                    </a:solidFill>
                  </a:tcPr>
                </a:tc>
                <a:tc>
                  <a:txBody>
                    <a:bodyPr wrap="square"/>
                    <a:lstStyle/>
                    <a:p>
                      <a:r>
                        <a:rPr sz="1600" b="0">
                          <a:solidFill>
                            <a:srgbClr val="FF6B5B"/>
                          </a:solidFill>
                          <a:latin typeface="Arial"/>
                          <a:ea typeface="Microsoft YaHei"/>
                        </a:rPr>
                        <a:t>专业</a:t>
                      </a:r>
                    </a:p>
                  </a:txBody>
                  <a:tcPr anchor="ctr">
                    <a:solidFill>
                      <a:srgbClr val="FFFFFF"/>
                    </a:solidFill>
                  </a:tcPr>
                </a:tc>
              </a:tr>
              <a:tr h="652272">
                <a:tc>
                  <a:txBody>
                    <a:bodyPr wrap="square"/>
                    <a:lstStyle/>
                    <a:p>
                      <a:r>
                        <a:rPr sz="1600" b="1">
                          <a:solidFill>
                            <a:srgbClr val="1F2A44"/>
                          </a:solidFill>
                          <a:latin typeface="Arial"/>
                          <a:ea typeface="Microsoft YaHei"/>
                        </a:rPr>
                        <a:t>Is it OK?</a:t>
                      </a:r>
                    </a:p>
                  </a:txBody>
                  <a:tcPr anchor="ctr">
                    <a:solidFill>
                      <a:srgbClr val="FFEFD9"/>
                    </a:solidFill>
                  </a:tcPr>
                </a:tc>
                <a:tc>
                  <a:txBody>
                    <a:bodyPr wrap="square"/>
                    <a:lstStyle/>
                    <a:p>
                      <a:r>
                        <a:rPr sz="1600" b="0">
                          <a:solidFill>
                            <a:srgbClr val="1F2A44"/>
                          </a:solidFill>
                          <a:latin typeface="Arial"/>
                          <a:ea typeface="Microsoft YaHei"/>
                        </a:rPr>
                        <a:t>Is that agreed? / Can we take that as agreed?</a:t>
                      </a:r>
                    </a:p>
                  </a:txBody>
                  <a:tcPr anchor="ctr">
                    <a:solidFill>
                      <a:srgbClr val="FFEFD9"/>
                    </a:solidFill>
                  </a:tcPr>
                </a:tc>
                <a:tc>
                  <a:txBody>
                    <a:bodyPr wrap="square"/>
                    <a:lstStyle/>
                    <a:p>
                      <a:r>
                        <a:rPr sz="1600" b="0">
                          <a:solidFill>
                            <a:srgbClr val="FF6B5B"/>
                          </a:solidFill>
                          <a:latin typeface="Arial"/>
                          <a:ea typeface="Microsoft YaHei"/>
                        </a:rPr>
                        <a:t>确认</a:t>
                      </a:r>
                    </a:p>
                  </a:txBody>
                  <a:tcPr anchor="ctr">
                    <a:solidFill>
                      <a:srgbClr val="FFEFD9"/>
                    </a:solidFill>
                  </a:tcPr>
                </a:tc>
              </a:tr>
              <a:tr h="408432">
                <a:tc>
                  <a:txBody>
                    <a:bodyPr wrap="square"/>
                    <a:lstStyle/>
                    <a:p>
                      <a:r>
                        <a:rPr sz="1600" b="1">
                          <a:solidFill>
                            <a:srgbClr val="1F2A44"/>
                          </a:solidFill>
                          <a:latin typeface="Arial"/>
                          <a:ea typeface="Microsoft YaHei"/>
                        </a:rPr>
                        <a:t>Write it.</a:t>
                      </a:r>
                    </a:p>
                  </a:txBody>
                  <a:tcPr anchor="ctr">
                    <a:solidFill>
                      <a:srgbClr val="FFFFFF"/>
                    </a:solidFill>
                  </a:tcPr>
                </a:tc>
                <a:tc>
                  <a:txBody>
                    <a:bodyPr wrap="square"/>
                    <a:lstStyle/>
                    <a:p>
                      <a:r>
                        <a:rPr sz="1600" b="0">
                          <a:solidFill>
                            <a:srgbClr val="1F2A44"/>
                          </a:solidFill>
                          <a:latin typeface="Arial"/>
                          <a:ea typeface="Microsoft YaHei"/>
                        </a:rPr>
                        <a:t>Could you put that in writing?</a:t>
                      </a:r>
                    </a:p>
                  </a:txBody>
                  <a:tcPr anchor="ctr">
                    <a:solidFill>
                      <a:srgbClr val="FFFFFF"/>
                    </a:solidFill>
                  </a:tcPr>
                </a:tc>
                <a:tc>
                  <a:txBody>
                    <a:bodyPr wrap="square"/>
                    <a:lstStyle/>
                    <a:p>
                      <a:r>
                        <a:rPr sz="1600" b="0">
                          <a:solidFill>
                            <a:srgbClr val="FF6B5B"/>
                          </a:solidFill>
                          <a:latin typeface="Arial"/>
                          <a:ea typeface="Microsoft YaHei"/>
                        </a:rPr>
                        <a:t>礼貌</a:t>
                      </a:r>
                    </a:p>
                  </a:txBody>
                  <a:tcPr anchor="ctr">
                    <a:solidFill>
                      <a:srgbClr val="FFFFFF"/>
                    </a:solidFill>
                  </a:tcPr>
                </a:tc>
              </a:tr>
            </a:tbl>
          </a:graphicData>
        </a:graphic>
      </p:graphicFrame>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57 Getting Down to the Nitty-Gritty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Saying numbers: </a:t>
            </a:r>
            <a:r>
              <a:rPr sz="1700" b="0">
                <a:solidFill>
                  <a:srgbClr val="1F2A44"/>
                </a:solidFill>
                <a:latin typeface="Arial"/>
                <a:ea typeface="Microsoft YaHei"/>
              </a:rPr>
              <a:t>£14.50 = “fourteen pounds fifty”; 0.5% = “zero point five per cent”; 2,000 = “two thousand”.</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Dates: </a:t>
            </a:r>
            <a:r>
              <a:rPr sz="1700" b="0">
                <a:solidFill>
                  <a:srgbClr val="1F2A44"/>
                </a:solidFill>
                <a:latin typeface="Arial"/>
                <a:ea typeface="Microsoft YaHei"/>
              </a:rPr>
              <a:t>15 March (UK) = “the fifteenth of March”; 3/15 (US) = “March fifteenth”.</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Clarifying: </a:t>
            </a:r>
            <a:r>
              <a:rPr sz="1700" b="0">
                <a:solidFill>
                  <a:srgbClr val="1F2A44"/>
                </a:solidFill>
                <a:latin typeface="Arial"/>
                <a:ea typeface="Microsoft YaHei"/>
              </a:rPr>
              <a:t>Do you mean…? / So, if I understand correctly… / Could you spell that out?</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Subject to: </a:t>
            </a:r>
            <a:r>
              <a:rPr sz="1700" b="0">
                <a:solidFill>
                  <a:srgbClr val="1F2A44"/>
                </a:solidFill>
                <a:latin typeface="Arial"/>
                <a:ea typeface="Microsoft YaHei"/>
              </a:rPr>
              <a:t>“Subject to approval, we’ll sign next week.”</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57 Getting Down to the Nitty-Gritty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delivery will arrive in Monday.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delivery will arrive on Monday.</a:t>
            </a:r>
          </a:p>
          <a:p>
            <a:pPr algn="l">
              <a:spcAft>
                <a:spcPts val="200"/>
              </a:spcAft>
            </a:pPr>
            <a:r>
              <a:rPr sz="1200" b="0">
                <a:solidFill>
                  <a:srgbClr val="FFFFFF"/>
                </a:solidFill>
                <a:latin typeface="Arial"/>
                <a:ea typeface="Microsoft YaHei"/>
              </a:rPr>
              <a:t>on + 日期</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send to you the details.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will send you the details.</a:t>
            </a:r>
          </a:p>
          <a:p>
            <a:pPr algn="l">
              <a:spcAft>
                <a:spcPts val="200"/>
              </a:spcAft>
            </a:pPr>
            <a:r>
              <a:rPr sz="1200" b="0">
                <a:solidFill>
                  <a:srgbClr val="FFFFFF"/>
                </a:solidFill>
                <a:latin typeface="Arial"/>
                <a:ea typeface="Microsoft YaHei"/>
              </a:rPr>
              <a:t>send sb sth</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need the payment until Friday.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need the payment by Friday.</a:t>
            </a:r>
          </a:p>
          <a:p>
            <a:pPr algn="l">
              <a:spcAft>
                <a:spcPts val="200"/>
              </a:spcAft>
            </a:pPr>
            <a:r>
              <a:rPr sz="1200" b="0">
                <a:solidFill>
                  <a:srgbClr val="FFFFFF"/>
                </a:solidFill>
                <a:latin typeface="Arial"/>
                <a:ea typeface="Microsoft YaHei"/>
              </a:rPr>
              <a:t>by vs until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57 Getting Down to the Nitty-Gritty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price includes of delivery.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price includes delivery.</a:t>
            </a:r>
          </a:p>
          <a:p>
            <a:pPr algn="l">
              <a:spcAft>
                <a:spcPts val="200"/>
              </a:spcAft>
            </a:pPr>
            <a:r>
              <a:rPr sz="1200" b="0">
                <a:solidFill>
                  <a:srgbClr val="FFFFFF"/>
                </a:solidFill>
                <a:latin typeface="Arial"/>
                <a:ea typeface="Microsoft YaHei"/>
              </a:rPr>
              <a:t>include 及物</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contract is depend on approval.</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contract depends on approval.</a:t>
            </a:r>
          </a:p>
          <a:p>
            <a:pPr algn="l">
              <a:spcAft>
                <a:spcPts val="200"/>
              </a:spcAft>
            </a:pPr>
            <a:r>
              <a:rPr sz="1200" b="0">
                <a:solidFill>
                  <a:srgbClr val="FFFFFF"/>
                </a:solidFill>
                <a:latin typeface="Arial"/>
                <a:ea typeface="Microsoft YaHei"/>
              </a:rPr>
              <a:t>动词形式</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quantity are 500.</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quantity is 500.</a:t>
            </a:r>
          </a:p>
          <a:p>
            <a:pPr algn="l">
              <a:spcAft>
                <a:spcPts val="200"/>
              </a:spcAft>
            </a:pPr>
            <a:r>
              <a:rPr sz="1200" b="0">
                <a:solidFill>
                  <a:srgbClr val="FFFFFF"/>
                </a:solidFill>
                <a:latin typeface="Arial"/>
                <a:ea typeface="Microsoft YaHei"/>
              </a:rPr>
              <a:t>单数</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prepositions with dates, by / until, and include (transitive).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57 Getting Down to the Nitty-Gritty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Dates: </a:t>
            </a:r>
            <a:r>
              <a:rPr sz="1700" b="0">
                <a:solidFill>
                  <a:srgbClr val="1F2A44"/>
                </a:solidFill>
                <a:latin typeface="Arial"/>
                <a:ea typeface="Microsoft YaHei"/>
              </a:rPr>
              <a:t>UK 15/03/2026 vs US 03/15/2026. Write the month in words in international contracts to avoid mistakes.</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VAT / tax: </a:t>
            </a:r>
            <a:r>
              <a:rPr sz="1700" b="0">
                <a:solidFill>
                  <a:srgbClr val="1F2A44"/>
                </a:solidFill>
                <a:latin typeface="Arial"/>
                <a:ea typeface="Microsoft YaHei"/>
              </a:rPr>
              <a:t>Always state whether prices include or exclude tax.</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Incoterms: </a:t>
            </a:r>
            <a:r>
              <a:rPr sz="1700" b="0">
                <a:solidFill>
                  <a:srgbClr val="1F2A44"/>
                </a:solidFill>
                <a:latin typeface="Arial"/>
                <a:ea typeface="Microsoft YaHei"/>
              </a:rPr>
              <a:t>International trade uses standard terms (e.g. FOB, CIF) for delivery responsibilities.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on Monday,in March,by Friday(不迟于)/ until Friday(持续到)。include 是及物动词,后面不加 of。日期格式英美不同,国际文件把月份写成英文单词更安全。</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57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57 Getting Down to the Nitty-Gritty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detailed terms (price, quantity, delivery, payment).</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clarify and confirm with polite phrases.</a:t>
            </a:r>
          </a:p>
        </p:txBody>
      </p:sp>
      <p:sp>
        <p:nvSpPr>
          <p:cNvPr id="16" name="TextBox 15"/>
          <p:cNvSpPr txBox="1"/>
          <p:nvPr/>
        </p:nvSpPr>
        <p:spPr>
          <a:xfrm>
            <a:off x="9539935" y="24109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say numbers and dates clearly.</a:t>
            </a:r>
          </a:p>
        </p:txBody>
      </p:sp>
      <p:sp>
        <p:nvSpPr>
          <p:cNvPr id="20" name="TextBox 19"/>
          <p:cNvSpPr txBox="1"/>
          <p:nvPr/>
        </p:nvSpPr>
        <p:spPr>
          <a:xfrm>
            <a:off x="9539935" y="30083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prepositions of time and by / until correctly.</a:t>
            </a:r>
          </a:p>
        </p:txBody>
      </p:sp>
      <p:sp>
        <p:nvSpPr>
          <p:cNvPr id="24" name="TextBox 23"/>
          <p:cNvSpPr txBox="1"/>
          <p:nvPr/>
        </p:nvSpPr>
        <p:spPr>
          <a:xfrm>
            <a:off x="9539935" y="36057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57 Getting Down to the Nitty-Gritty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prepositions of time, by / until, and verbs followed directly by objects (include).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6 · Lesson 58 Reaching Agreement</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92</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58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Reaching Agreement</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达成一致</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close a negotiation: summarise the agreement, confirm commitments, deal with last-minute issues and build relationship after the deal.</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58 Reaching Agreement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know when a negotiation is ready to close?</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summarise an agreement?</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say when a last-minute problem comes up?</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celebrate or mark a deal?</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should happen after the handshake?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close a deal = 达成交易。wrap up = 总结收尾。第 3 题:last-minute = 最后一刻出现的。follow up = 后续跟进。</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58 Reaching Agreement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Close a negotiation with a summary and next steps.</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summarise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check agreement</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next steps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thank</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So, if I’ve understood correctly…   💬 Shall we shake on it?   💬 I’ll send the paperwork by…</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shake on it = 握手成交。If I’ve understood correctly 用于核对。paperwork = 书面文件。</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Closing the Deal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58 Reaching Agreement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Reaching agreement is not the end of a negotiation; it is the start of a relationship. The closing stage has three tasks. First, summarise what has been agreed, point by point, so that both sides confirm they have the same understanding. Second, deal with any last-minute problems calmly. If the other party suddenly asks for something new, you can say, “If I include that, I’ll need something in return.” Third, agree the next steps: who prepares the contract, who signs, and by when. Finish on a positive note by thanking the other side and acknowledging the effort they have made. After the meeting, send a short email recording the key points, and then deliver on your promises. Reputation is built after the signature, not before it.</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58 Reaching Agreement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are the three closing tasks?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Summarise, handle last-minute problems, and agree next steps.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can you say if the other side asks for something new at the last minute?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“If I include that, I’ll need something in return.”</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When is reputation built?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After the signature, by delivering on promises.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Closing language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58 Reaching Agreement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收尾用语</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agreement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协议</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reached an agreement.”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commitment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承诺</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made a firm commitment.”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next steps</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后续步骤</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next steps are clear.”</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finalise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最终确定</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finalise the contract next week.”</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confirm</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确认</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confirm by email.”</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deal / agree a deal</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交易</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closed the deal.”</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Sealing the deal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58 Reaching Agreement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促成交易</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shake on it</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握手成交</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“Shall we shake on it?”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seal the deal</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敲定交易</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discount sealed the deal.”</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iron out</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解决细节</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iron out the final details.”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come to terms</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达成条款一致</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came to terms on price.”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on the same page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想法一致</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think we’re on the same page.”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follow through on</a:t>
            </a:r>
          </a:p>
          <a:p>
            <a:pPr algn="l">
              <a:lnSpc>
                <a:spcPct val="115000"/>
              </a:lnSpc>
              <a:spcAft>
                <a:spcPts val="800"/>
              </a:spcAft>
            </a:pPr>
            <a:r>
              <a:rPr sz="1300" b="0">
                <a:solidFill>
                  <a:srgbClr val="5F677A"/>
                </a:solidFill>
                <a:latin typeface="Arial"/>
                <a:ea typeface="Microsoft YaHei"/>
              </a:rPr>
              <a:t>phrasal 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落实</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follow through on every promise.”</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58 Reaching Agreement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握手成交</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shake on it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想法一致</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 the same page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达成条款一致</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come to terms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后续步骤</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next steps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承诺</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commitment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落实</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follow through on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敲定交易</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seal the deal</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解决细节</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iron out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58 Reaching Agreement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commitment</a:t>
            </a:r>
          </a:p>
        </p:txBody>
      </p:sp>
      <p:sp>
        <p:nvSpPr>
          <p:cNvPr id="10" name="Rounded Rectangle 9"/>
          <p:cNvSpPr/>
          <p:nvPr/>
        </p:nvSpPr>
        <p:spPr>
          <a:xfrm>
            <a:off x="3566160" y="987552"/>
            <a:ext cx="146304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next steps</a:t>
            </a:r>
          </a:p>
        </p:txBody>
      </p:sp>
      <p:sp>
        <p:nvSpPr>
          <p:cNvPr id="11" name="Rounded Rectangle 10"/>
          <p:cNvSpPr/>
          <p:nvPr/>
        </p:nvSpPr>
        <p:spPr>
          <a:xfrm>
            <a:off x="5120640"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finalise</a:t>
            </a:r>
          </a:p>
        </p:txBody>
      </p:sp>
      <p:sp>
        <p:nvSpPr>
          <p:cNvPr id="12" name="Rounded Rectangle 11"/>
          <p:cNvSpPr/>
          <p:nvPr/>
        </p:nvSpPr>
        <p:spPr>
          <a:xfrm>
            <a:off x="6455664" y="987552"/>
            <a:ext cx="1572767"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shake on it</a:t>
            </a:r>
          </a:p>
        </p:txBody>
      </p:sp>
      <p:sp>
        <p:nvSpPr>
          <p:cNvPr id="13" name="Rounded Rectangle 12"/>
          <p:cNvSpPr/>
          <p:nvPr/>
        </p:nvSpPr>
        <p:spPr>
          <a:xfrm>
            <a:off x="8119871" y="987552"/>
            <a:ext cx="179222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seal the deal</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They made a strong _______ to deliver on time.</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commitment</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Let’s agree the _______ before we leave.</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next steps</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 will _______ the contract next week.</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finalise</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We agree on all points. Shall we _______?</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shake on it</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A last-minute discount helped to _______.</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seal the deal</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It’s important to _______ on what you promise.</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follow through</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agreement (not “aggrement”), commitment (double m, t), finalise (UK; US finalize). Reach / come to an agreement, close / seal a deal. Agree on a price, agree to a proposal. Shake hands / shake on 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Closing a negotiation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58 Reaching Agreement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结束谈判</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After a long negotiation you summarise the agreement with a client representative, Ms Reed.</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Alan Tse, sales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Ms Reed, client representative</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Model Dialogue · Closing a negotiation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58 Reaching Agreement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Alan</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Ms Reed, if I’ve understood correctly, we’ve agreed 500 units a month for a year at £18 each.</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Ms Reed</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with delivery included and payment at forty-five days.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And the first shipment goes out on 4 November.</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Correct. There’s one last thing: could you add a free installation visit?</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If we include that, we’d need a twelve-month commitment rather than a rolling contract.</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reasonable. We were planning twelve months anyway.</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Closing a negotiation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58 Reaching Agreement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Then I’m happy to include it. Shall we shake on it?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Gladly. I think we’re on the same page.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send the contract by Friday, and you could return it signed by the end of next week.</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works. Who should I contact about installation?</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Our service manager, Bea. I’ll introduce you by email today.</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Alan. It’s been a pleasure working with you.</a:t>
            </a:r>
          </a:p>
        </p:txBody>
      </p:sp>
      <p:sp>
        <p:nvSpPr>
          <p:cNvPr id="26" name="Rounded Rectangle 25"/>
          <p:cNvSpPr/>
          <p:nvPr/>
        </p:nvSpPr>
        <p:spPr>
          <a:xfrm>
            <a:off x="548640" y="51084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5473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510844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Likewise. We’ll make sure we deliver.</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Closing a negotiation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58 Reaching Agreement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close a negotiation.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Seller. Terms: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 Add one last-minute request.</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if I’ve understood correctly · agreed · shake on it · next steps · on the same page · deliver</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Summarise, handle the last request and confirm next steps.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Ms Reed raises another request. Respond with “if… in return”.</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short email confirming the agreement.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to a colleague how to follow up after a deal.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58 Reaching Agreement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close a negotiation successfully?</a:t>
            </a:r>
          </a:p>
          <a:p>
            <a:pPr algn="l">
              <a:lnSpc>
                <a:spcPct val="115000"/>
              </a:lnSpc>
              <a:spcAft>
                <a:spcPts val="800"/>
              </a:spcAft>
            </a:pPr>
            <a:r>
              <a:rPr sz="1400" b="0">
                <a:solidFill>
                  <a:srgbClr val="5F677A"/>
                </a:solidFill>
                <a:latin typeface="Arial"/>
                <a:ea typeface="Microsoft YaHei"/>
              </a:rPr>
              <a:t>💬 “I summarise… and confirm…”</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important is the relationship after a deal?</a:t>
            </a:r>
          </a:p>
          <a:p>
            <a:pPr algn="l">
              <a:lnSpc>
                <a:spcPct val="115000"/>
              </a:lnSpc>
              <a:spcAft>
                <a:spcPts val="800"/>
              </a:spcAft>
            </a:pPr>
            <a:r>
              <a:rPr sz="1400" b="0">
                <a:solidFill>
                  <a:srgbClr val="5F677A"/>
                </a:solidFill>
                <a:latin typeface="Arial"/>
                <a:ea typeface="Microsoft YaHei"/>
              </a:rPr>
              <a:t>💬 “It matters because… / Future deals depend on…”</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agreements always be in writing?</a:t>
            </a:r>
          </a:p>
          <a:p>
            <a:pPr algn="l">
              <a:lnSpc>
                <a:spcPct val="115000"/>
              </a:lnSpc>
              <a:spcAft>
                <a:spcPts val="800"/>
              </a:spcAft>
            </a:pPr>
            <a:r>
              <a:rPr sz="1400" b="0">
                <a:solidFill>
                  <a:srgbClr val="5F677A"/>
                </a:solidFill>
                <a:latin typeface="Arial"/>
                <a:ea typeface="Microsoft YaHei"/>
              </a:rPr>
              <a:t>💬 “Yes, because… / Verbal agreements can…”</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can go wrong after a deal is agreed?</a:t>
            </a:r>
          </a:p>
          <a:p>
            <a:pPr algn="l">
              <a:lnSpc>
                <a:spcPct val="115000"/>
              </a:lnSpc>
              <a:spcAft>
                <a:spcPts val="800"/>
              </a:spcAft>
            </a:pPr>
            <a:r>
              <a:rPr sz="1400" b="0">
                <a:solidFill>
                  <a:srgbClr val="5F677A"/>
                </a:solidFill>
                <a:latin typeface="Arial"/>
                <a:ea typeface="Microsoft YaHei"/>
              </a:rPr>
              <a:t>💬 “Misunderstandings, delays or… / One side may…”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58 Reaching Agreement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Verbal agreements can be binding in some situations, but they’re difficult to prove, so I think important agreements should always be in writing. People remember things differently, and circumstances change. A written contract protects both sides and clarifies what happens if something goes wrong. Even a short confirmation email after a meeting is helpful, because it records the key points while they are fresh.</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binding = 有约束力的。”circumstances change” = 情况变化。clarify = 澄清。fresh = 还记得清楚的。</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58 Reaching Agreement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OK, we agree.</a:t>
                      </a:r>
                    </a:p>
                  </a:txBody>
                  <a:tcPr anchor="ctr">
                    <a:solidFill>
                      <a:srgbClr val="FFFFFF"/>
                    </a:solidFill>
                  </a:tcPr>
                </a:tc>
                <a:tc>
                  <a:txBody>
                    <a:bodyPr wrap="square"/>
                    <a:lstStyle/>
                    <a:p>
                      <a:r>
                        <a:rPr sz="1600" b="0">
                          <a:solidFill>
                            <a:srgbClr val="1F2A44"/>
                          </a:solidFill>
                          <a:latin typeface="Arial"/>
                          <a:ea typeface="Microsoft YaHei"/>
                        </a:rPr>
                        <a:t>I think we have a deal.</a:t>
                      </a:r>
                    </a:p>
                  </a:txBody>
                  <a:tcPr anchor="ctr">
                    <a:solidFill>
                      <a:srgbClr val="FFFFFF"/>
                    </a:solidFill>
                  </a:tcPr>
                </a:tc>
                <a:tc>
                  <a:txBody>
                    <a:bodyPr wrap="square"/>
                    <a:lstStyle/>
                    <a:p>
                      <a:r>
                        <a:rPr sz="1600" b="0">
                          <a:solidFill>
                            <a:srgbClr val="FF6B5B"/>
                          </a:solidFill>
                          <a:latin typeface="Arial"/>
                          <a:ea typeface="Microsoft YaHei"/>
                        </a:rPr>
                        <a:t>地道</a:t>
                      </a:r>
                    </a:p>
                  </a:txBody>
                  <a:tcPr anchor="ctr">
                    <a:solidFill>
                      <a:srgbClr val="FFFFFF"/>
                    </a:solidFill>
                  </a:tcPr>
                </a:tc>
              </a:tr>
              <a:tr h="408432">
                <a:tc>
                  <a:txBody>
                    <a:bodyPr wrap="square"/>
                    <a:lstStyle/>
                    <a:p>
                      <a:r>
                        <a:rPr sz="1600" b="1">
                          <a:solidFill>
                            <a:srgbClr val="1F2A44"/>
                          </a:solidFill>
                          <a:latin typeface="Arial"/>
                          <a:ea typeface="Microsoft YaHei"/>
                        </a:rPr>
                        <a:t>Let’s sign.</a:t>
                      </a:r>
                    </a:p>
                  </a:txBody>
                  <a:tcPr anchor="ctr">
                    <a:solidFill>
                      <a:srgbClr val="FFEFD9"/>
                    </a:solidFill>
                  </a:tcPr>
                </a:tc>
                <a:tc>
                  <a:txBody>
                    <a:bodyPr wrap="square"/>
                    <a:lstStyle/>
                    <a:p>
                      <a:r>
                        <a:rPr sz="1600" b="0">
                          <a:solidFill>
                            <a:srgbClr val="1F2A44"/>
                          </a:solidFill>
                          <a:latin typeface="Arial"/>
                          <a:ea typeface="Microsoft YaHei"/>
                        </a:rPr>
                        <a:t>Shall we put it in writing?</a:t>
                      </a:r>
                    </a:p>
                  </a:txBody>
                  <a:tcPr anchor="ctr">
                    <a:solidFill>
                      <a:srgbClr val="FFEFD9"/>
                    </a:solidFill>
                  </a:tcPr>
                </a:tc>
                <a:tc>
                  <a:txBody>
                    <a:bodyPr wrap="square"/>
                    <a:lstStyle/>
                    <a:p>
                      <a:r>
                        <a:rPr sz="1600" b="0">
                          <a:solidFill>
                            <a:srgbClr val="FF6B5B"/>
                          </a:solidFill>
                          <a:latin typeface="Arial"/>
                          <a:ea typeface="Microsoft YaHei"/>
                        </a:rPr>
                        <a:t>礼貌</a:t>
                      </a:r>
                    </a:p>
                  </a:txBody>
                  <a:tcPr anchor="ctr">
                    <a:solidFill>
                      <a:srgbClr val="FFEFD9"/>
                    </a:solidFill>
                  </a:tcPr>
                </a:tc>
              </a:tr>
              <a:tr h="652272">
                <a:tc>
                  <a:txBody>
                    <a:bodyPr wrap="square"/>
                    <a:lstStyle/>
                    <a:p>
                      <a:r>
                        <a:rPr sz="1600" b="1">
                          <a:solidFill>
                            <a:srgbClr val="1F2A44"/>
                          </a:solidFill>
                          <a:latin typeface="Arial"/>
                          <a:ea typeface="Microsoft YaHei"/>
                        </a:rPr>
                        <a:t>Thank you for your time.</a:t>
                      </a:r>
                    </a:p>
                  </a:txBody>
                  <a:tcPr anchor="ctr">
                    <a:solidFill>
                      <a:srgbClr val="FFFFFF"/>
                    </a:solidFill>
                  </a:tcPr>
                </a:tc>
                <a:tc>
                  <a:txBody>
                    <a:bodyPr wrap="square"/>
                    <a:lstStyle/>
                    <a:p>
                      <a:r>
                        <a:rPr sz="1600" b="0">
                          <a:solidFill>
                            <a:srgbClr val="1F2A44"/>
                          </a:solidFill>
                          <a:latin typeface="Arial"/>
                          <a:ea typeface="Microsoft YaHei"/>
                        </a:rPr>
                        <a:t>Thank you; it’s been a productive discussion.</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652272">
                <a:tc>
                  <a:txBody>
                    <a:bodyPr wrap="square"/>
                    <a:lstStyle/>
                    <a:p>
                      <a:r>
                        <a:rPr sz="1600" b="1">
                          <a:solidFill>
                            <a:srgbClr val="1F2A44"/>
                          </a:solidFill>
                          <a:latin typeface="Arial"/>
                          <a:ea typeface="Microsoft YaHei"/>
                        </a:rPr>
                        <a:t>See you.</a:t>
                      </a:r>
                    </a:p>
                  </a:txBody>
                  <a:tcPr anchor="ctr">
                    <a:solidFill>
                      <a:srgbClr val="FFEFD9"/>
                    </a:solidFill>
                  </a:tcPr>
                </a:tc>
                <a:tc>
                  <a:txBody>
                    <a:bodyPr wrap="square"/>
                    <a:lstStyle/>
                    <a:p>
                      <a:r>
                        <a:rPr sz="1600" b="0">
                          <a:solidFill>
                            <a:srgbClr val="1F2A44"/>
                          </a:solidFill>
                          <a:latin typeface="Arial"/>
                          <a:ea typeface="Microsoft YaHei"/>
                        </a:rPr>
                        <a:t>We’ll be in touch with the details.</a:t>
                      </a:r>
                    </a:p>
                  </a:txBody>
                  <a:tcPr anchor="ctr">
                    <a:solidFill>
                      <a:srgbClr val="FFEFD9"/>
                    </a:solidFill>
                  </a:tcPr>
                </a:tc>
                <a:tc>
                  <a:txBody>
                    <a:bodyPr wrap="square"/>
                    <a:lstStyle/>
                    <a:p>
                      <a:r>
                        <a:rPr sz="1600" b="0">
                          <a:solidFill>
                            <a:srgbClr val="FF6B5B"/>
                          </a:solidFill>
                          <a:latin typeface="Arial"/>
                          <a:ea typeface="Microsoft YaHei"/>
                        </a:rPr>
                        <a:t>后续</a:t>
                      </a:r>
                    </a:p>
                  </a:txBody>
                  <a:tcPr anchor="ctr">
                    <a:solidFill>
                      <a:srgbClr val="FFEFD9"/>
                    </a:solidFill>
                  </a:tcPr>
                </a:tc>
              </a:tr>
              <a:tr h="408432">
                <a:tc>
                  <a:txBody>
                    <a:bodyPr wrap="square"/>
                    <a:lstStyle/>
                    <a:p>
                      <a:r>
                        <a:rPr sz="1600" b="1">
                          <a:solidFill>
                            <a:srgbClr val="1F2A44"/>
                          </a:solidFill>
                          <a:latin typeface="Arial"/>
                          <a:ea typeface="Microsoft YaHei"/>
                        </a:rPr>
                        <a:t>We will do it.</a:t>
                      </a:r>
                    </a:p>
                  </a:txBody>
                  <a:tcPr anchor="ctr">
                    <a:solidFill>
                      <a:srgbClr val="FFFFFF"/>
                    </a:solidFill>
                  </a:tcPr>
                </a:tc>
                <a:tc>
                  <a:txBody>
                    <a:bodyPr wrap="square"/>
                    <a:lstStyle/>
                    <a:p>
                      <a:r>
                        <a:rPr sz="1600" b="0">
                          <a:solidFill>
                            <a:srgbClr val="1F2A44"/>
                          </a:solidFill>
                          <a:latin typeface="Arial"/>
                          <a:ea typeface="Microsoft YaHei"/>
                        </a:rPr>
                        <a:t>You have our commitment.</a:t>
                      </a:r>
                    </a:p>
                  </a:txBody>
                  <a:tcPr anchor="ctr">
                    <a:solidFill>
                      <a:srgbClr val="FFFFFF"/>
                    </a:solidFill>
                  </a:tcPr>
                </a:tc>
                <a:tc>
                  <a:txBody>
                    <a:bodyPr wrap="square"/>
                    <a:lstStyle/>
                    <a:p>
                      <a:r>
                        <a:rPr sz="1600" b="0">
                          <a:solidFill>
                            <a:srgbClr val="FF6B5B"/>
                          </a:solidFill>
                          <a:latin typeface="Arial"/>
                          <a:ea typeface="Microsoft YaHei"/>
                        </a:rPr>
                        <a:t>强调</a:t>
                      </a:r>
                    </a:p>
                  </a:txBody>
                  <a:tcPr anchor="ctr">
                    <a:solidFill>
                      <a:srgbClr val="FFFFFF"/>
                    </a:solidFill>
                  </a:tcPr>
                </a:tc>
              </a:tr>
            </a:tbl>
          </a:graphicData>
        </a:graphic>
      </p:graphicFrame>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58 Reaching Agreement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Summarising: </a:t>
            </a:r>
            <a:r>
              <a:rPr sz="1700" b="0">
                <a:solidFill>
                  <a:srgbClr val="1F2A44"/>
                </a:solidFill>
                <a:latin typeface="Arial"/>
                <a:ea typeface="Microsoft YaHei"/>
              </a:rPr>
              <a:t>To sum up, / So we’ve agreed that… / Let me recap.</a:t>
            </a:r>
          </a:p>
        </p:txBody>
      </p:sp>
      <p:sp>
        <p:nvSpPr>
          <p:cNvPr id="11" name="Rounded Rectangle 10"/>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701039"/>
          </a:xfrm>
          <a:prstGeom prst="rect">
            <a:avLst/>
          </a:prstGeom>
          <a:noFill/>
        </p:spPr>
        <p:txBody>
          <a:bodyPr wrap="square" anchor="ctr">
            <a:spAutoFit/>
          </a:bodyPr>
          <a:lstStyle/>
          <a:p>
            <a:r>
              <a:rPr sz="1700" b="1">
                <a:solidFill>
                  <a:srgbClr val="4A90E2"/>
                </a:solidFill>
                <a:latin typeface="Arial"/>
                <a:ea typeface="Microsoft YaHei"/>
              </a:rPr>
              <a:t>Future arrangements: </a:t>
            </a:r>
            <a:r>
              <a:rPr sz="1700" b="0">
                <a:solidFill>
                  <a:srgbClr val="1F2A44"/>
                </a:solidFill>
                <a:latin typeface="Arial"/>
                <a:ea typeface="Microsoft YaHei"/>
              </a:rPr>
              <a:t>will for promises and decisions, going to for plans, present continuous for fixed arrangements (“We’re meeting on Friday”).</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Linking additions to a condition: </a:t>
            </a:r>
            <a:r>
              <a:rPr sz="1700" b="0">
                <a:solidFill>
                  <a:srgbClr val="1F2A44"/>
                </a:solidFill>
                <a:latin typeface="Arial"/>
                <a:ea typeface="Microsoft YaHei"/>
              </a:rPr>
              <a:t>provided that, as long as, on condition that.</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Closing politely: </a:t>
            </a:r>
            <a:r>
              <a:rPr sz="1700" b="0">
                <a:solidFill>
                  <a:srgbClr val="1F2A44"/>
                </a:solidFill>
                <a:latin typeface="Arial"/>
                <a:ea typeface="Microsoft YaHei"/>
              </a:rPr>
              <a:t>It’s been a pleasure. / I look forward to working with you.</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58 Reaching Agreement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will make the contract.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will draw up the contract.</a:t>
            </a:r>
          </a:p>
          <a:p>
            <a:pPr algn="l">
              <a:spcAft>
                <a:spcPts val="200"/>
              </a:spcAft>
            </a:pPr>
            <a:r>
              <a:rPr sz="1200" b="0">
                <a:solidFill>
                  <a:srgbClr val="FFFFFF"/>
                </a:solidFill>
                <a:latin typeface="Arial"/>
                <a:ea typeface="Microsoft YaHei"/>
              </a:rPr>
              <a:t>draw up</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look forward to work with you.</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look forward to working with you.</a:t>
            </a:r>
          </a:p>
          <a:p>
            <a:pPr algn="l">
              <a:spcAft>
                <a:spcPts val="200"/>
              </a:spcAft>
            </a:pPr>
            <a:r>
              <a:rPr sz="1200" b="0">
                <a:solidFill>
                  <a:srgbClr val="FFFFFF"/>
                </a:solidFill>
                <a:latin typeface="Arial"/>
                <a:ea typeface="Microsoft YaHei"/>
              </a:rPr>
              <a:t>to + -ing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As long as you will pay on time, we sign.</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As long as you pay on time, we’ll sign.</a:t>
            </a:r>
          </a:p>
          <a:p>
            <a:pPr algn="l">
              <a:spcAft>
                <a:spcPts val="200"/>
              </a:spcAft>
            </a:pPr>
            <a:r>
              <a:rPr sz="1200" b="0">
                <a:solidFill>
                  <a:srgbClr val="FFFFFF"/>
                </a:solidFill>
                <a:latin typeface="Arial"/>
                <a:ea typeface="Microsoft YaHei"/>
              </a:rPr>
              <a:t>现在时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58 Reaching Agreement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agree in the price.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agree on the price.</a:t>
            </a:r>
          </a:p>
          <a:p>
            <a:pPr algn="l">
              <a:spcAft>
                <a:spcPts val="200"/>
              </a:spcAft>
            </a:pPr>
            <a:r>
              <a:rPr sz="1200" b="0">
                <a:solidFill>
                  <a:srgbClr val="FFFFFF"/>
                </a:solidFill>
                <a:latin typeface="Arial"/>
                <a:ea typeface="Microsoft YaHei"/>
              </a:rPr>
              <a:t>agree on</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meeting finished successfully.</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meeting ended successfully. / We closed the deal successfully.</a:t>
            </a:r>
          </a:p>
          <a:p>
            <a:pPr algn="l">
              <a:spcAft>
                <a:spcPts val="200"/>
              </a:spcAft>
            </a:pPr>
            <a:r>
              <a:rPr sz="1200" b="0">
                <a:solidFill>
                  <a:srgbClr val="FFFFFF"/>
                </a:solidFill>
                <a:latin typeface="Arial"/>
                <a:ea typeface="Microsoft YaHei"/>
              </a:rPr>
              <a:t>更自然</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pleasure to work with you.</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a pleasure to work with you.</a:t>
            </a:r>
          </a:p>
          <a:p>
            <a:pPr algn="l">
              <a:spcAft>
                <a:spcPts val="200"/>
              </a:spcAft>
            </a:pPr>
            <a:r>
              <a:rPr sz="1200" b="0">
                <a:solidFill>
                  <a:srgbClr val="FFFFFF"/>
                </a:solidFill>
                <a:latin typeface="Arial"/>
                <a:ea typeface="Microsoft YaHei"/>
              </a:rPr>
              <a:t>a pleasure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look forward to + -ing, agree on, and as long as + present.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58 Reaching Agreement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Handshake: </a:t>
            </a:r>
            <a:r>
              <a:rPr sz="1700" b="0">
                <a:solidFill>
                  <a:srgbClr val="1F2A44"/>
                </a:solidFill>
                <a:latin typeface="Arial"/>
                <a:ea typeface="Microsoft YaHei"/>
              </a:rPr>
              <a:t>In many countries a handshake marks agreement; in others a written contract is the only commitment.</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Politeness: </a:t>
            </a:r>
            <a:r>
              <a:rPr sz="1700" b="0">
                <a:solidFill>
                  <a:srgbClr val="1F2A44"/>
                </a:solidFill>
                <a:latin typeface="Arial"/>
                <a:ea typeface="Microsoft YaHei"/>
              </a:rPr>
              <a:t>Thanking the other side warmly is normal, even after tough negotiation.</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Follow up in 24 hours: </a:t>
            </a:r>
            <a:r>
              <a:rPr sz="1700" b="0">
                <a:solidFill>
                  <a:srgbClr val="1F2A44"/>
                </a:solidFill>
                <a:latin typeface="Arial"/>
                <a:ea typeface="Microsoft YaHei"/>
              </a:rPr>
              <a:t>Sending a summary the same day shows professionalism.</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look forward to + -ing(to 是介词);agree on a price;as long as 后用现在时代替将来。draw up a contract = 起草合同。</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58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58 Reaching Agreement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summarise an agreement and confirm next steps.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handle a last-minute request.</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as long as / provided that.</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look forward to + -ing and agree on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58 Reaching Agreement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look forward to + -ing, agree on, and as long as with present tense.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6 · Lesson 59 Winning Over Important Clients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114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59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000" b="1">
                <a:solidFill>
                  <a:srgbClr val="FFFFFF"/>
                </a:solidFill>
                <a:latin typeface="Arial"/>
                <a:ea typeface="Microsoft YaHei"/>
              </a:rPr>
              <a:t>Winning Over Important Clients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赢得重要客户</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build relationships with important clients: first meetings, understanding their needs, presenting value and keeping a long-term partnership.</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59 Winning Over Important Clients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makes a client choose one company over another?</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learn about a client’s needs?</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build trust with a new client?</a:t>
            </a:r>
          </a:p>
        </p:txBody>
      </p:sp>
      <p:sp>
        <p:nvSpPr>
          <p:cNvPr id="18" name="Oval 17"/>
          <p:cNvSpPr/>
          <p:nvPr/>
        </p:nvSpPr>
        <p:spPr>
          <a:xfrm>
            <a:off x="548640" y="389534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difference between selling a product and solving a problem?</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keep a client for the long term?</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win over = 争取到(使支持);long-term partnership = 长期合作。client 与 customer:client 多指专业服务的客户。</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59 Winning Over Important Clients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Present your company’s value to an important prospective client.</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thank</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understand their needs</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show relevant value</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proof</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next step</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What are your biggest priorities right now?   💬 What sets us apart is…   💬 We’ve helped companies like yours to…</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What sets us apart is… = 我们的独特之处。helped companies like yours 用案例增加可信度。</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It Is Not About You</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59 Winning Over Important Clients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When a salesperson meets an important prospective client, the instinct is to talk about the company: its history, products, awards. But clients care about their own problems. The most effective approach is to ask first. What keeps them awake at night? What have they tried before? How do they measure success? Only then should you present your offer, linking each feature to a benefit for them. Evidence helps: a short case study of a similar client carries more weight than a long brochure. Trust grows through small signs of reliability, such as arriving prepared, following up promptly and admitting what you do not know. Winning a client is only the beginning. The relationship deepens when you check in regularly, share useful ideas and solve problems before they are noticed.</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59 Winning Over Important Clients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the common instinct of a salesperson?</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To talk about the company’s history, products and awards.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the more effective approach?</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Ask questions about the client’s problems first, then link the offer to their benefits.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How does the relationship deepen?</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By checking in regularly, sharing ideas and solving problems before they are noticed.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Client relationships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59 Winning Over Important Clients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客户关系</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prospective client</a:t>
            </a:r>
          </a:p>
          <a:p>
            <a:pPr algn="l">
              <a:lnSpc>
                <a:spcPct val="115000"/>
              </a:lnSpc>
              <a:spcAft>
                <a:spcPts val="800"/>
              </a:spcAft>
            </a:pPr>
            <a:r>
              <a:rPr sz="1300" b="0">
                <a:solidFill>
                  <a:srgbClr val="5F677A"/>
                </a:solidFill>
                <a:latin typeface="Arial"/>
                <a:ea typeface="Microsoft YaHei"/>
              </a:rPr>
              <a:t>noun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潜在客户</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meeting with a prospective client.”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needs analysis</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需求分析</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start with a needs analysis.”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value proposition</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价值主张</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value proposition is simple.”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account manager</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客户经理</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account manager is your contact.”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case study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案例研究</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“Here’s a case study of a similar client.”</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loyalty</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忠诚度</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“Customer loyalty is valuable.”</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Winning trust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59 Winning Over Important Clients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赢得信任</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build rapport</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建立融洽关系</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try to build rapport early.”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stand out</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脱颖而出</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stand out for service.”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go the extra mile</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额外努力</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go the extra mile for clients.”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win (someone) over</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争取到</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“Her presentation won them over.”</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long-term partnership</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长期合作</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want a long-term partnership.”</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track record of</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往绩</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track record of on-time delivery.”</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59 Winning Over Important Clients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潜在客户</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prospective client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案例研究</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case study</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建立融洽关系</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build rapport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价值主张</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value proposition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往绩</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track record of</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客户经理</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account manager</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争取到</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win (someone) over</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忠诚度</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loyalty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59 Winning Over Important Clients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prospective</a:t>
            </a:r>
          </a:p>
        </p:txBody>
      </p:sp>
      <p:sp>
        <p:nvSpPr>
          <p:cNvPr id="10" name="Rounded Rectangle 9"/>
          <p:cNvSpPr/>
          <p:nvPr/>
        </p:nvSpPr>
        <p:spPr>
          <a:xfrm>
            <a:off x="3675887" y="987552"/>
            <a:ext cx="190195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needs analysis</a:t>
            </a:r>
          </a:p>
        </p:txBody>
      </p:sp>
      <p:sp>
        <p:nvSpPr>
          <p:cNvPr id="11" name="Rounded Rectangle 10"/>
          <p:cNvSpPr/>
          <p:nvPr/>
        </p:nvSpPr>
        <p:spPr>
          <a:xfrm>
            <a:off x="5669279" y="987552"/>
            <a:ext cx="223113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value proposition</a:t>
            </a:r>
          </a:p>
        </p:txBody>
      </p:sp>
      <p:sp>
        <p:nvSpPr>
          <p:cNvPr id="12" name="Rounded Rectangle 11"/>
          <p:cNvSpPr/>
          <p:nvPr/>
        </p:nvSpPr>
        <p:spPr>
          <a:xfrm>
            <a:off x="7991855" y="987552"/>
            <a:ext cx="146304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case study</a:t>
            </a:r>
          </a:p>
        </p:txBody>
      </p:sp>
      <p:sp>
        <p:nvSpPr>
          <p:cNvPr id="13" name="Rounded Rectangle 12"/>
          <p:cNvSpPr/>
          <p:nvPr/>
        </p:nvSpPr>
        <p:spPr>
          <a:xfrm>
            <a:off x="9546335" y="987552"/>
            <a:ext cx="179222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build rapport</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We’re meeting a _______ client tomorrow.</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prospective</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First, we’ll do a _______ to understand your priorities.</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needs analysis</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Our _______ is simple: lower costs without losing quality.</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value proposition</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Here’s a _______ of a company similar to yours.</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case study</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It’s important to _______ early in the relationship.</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build rapport</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We have a _______ of delivering on time.</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track record</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prospective (not “prospect client”), loyalty, proposition. Win / gain / attract a client; retain a client. Rapport is uncountable: “build good rapport”. Customer vs client. Have experience of / in. Care about.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First meeting with an important client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59 Winning Over Important Clients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与重要客户的首次会面</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meet a potential client, Ms Bai, for the first time to understand her needs and introduce your services.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Eric Zhou, account director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Ms Bai, procurement director at a retail chain</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First meeting with an important client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59 Winning Over Important Clients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Eric</a:t>
            </a:r>
          </a:p>
        </p:txBody>
      </p:sp>
      <p:sp>
        <p:nvSpPr>
          <p:cNvPr id="10" name="Rounded Rectangle 9"/>
          <p:cNvSpPr/>
          <p:nvPr/>
        </p:nvSpPr>
        <p:spPr>
          <a:xfrm>
            <a:off x="1463040" y="1325880"/>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Ms Bai, thank you for meeting us. Before I talk about us, I’d like to understand your priorities. What’s your biggest challenge right now?</a:t>
            </a:r>
          </a:p>
        </p:txBody>
      </p:sp>
      <p:sp>
        <p:nvSpPr>
          <p:cNvPr id="11" name="Rounded Rectangle 10"/>
          <p:cNvSpPr/>
          <p:nvPr/>
        </p:nvSpPr>
        <p:spPr>
          <a:xfrm>
            <a:off x="10911535" y="2487167"/>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926079"/>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Ms Bai</a:t>
            </a:r>
          </a:p>
        </p:txBody>
      </p:sp>
      <p:sp>
        <p:nvSpPr>
          <p:cNvPr id="13" name="Rounded Rectangle 12"/>
          <p:cNvSpPr/>
          <p:nvPr/>
        </p:nvSpPr>
        <p:spPr>
          <a:xfrm>
            <a:off x="2133295" y="2487167"/>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Delivery reliability. We’ve had too many late shipments, and customers are complaining.</a:t>
            </a:r>
          </a:p>
        </p:txBody>
      </p:sp>
      <p:sp>
        <p:nvSpPr>
          <p:cNvPr id="14" name="Rounded Rectangle 13"/>
          <p:cNvSpPr/>
          <p:nvPr/>
        </p:nvSpPr>
        <p:spPr>
          <a:xfrm>
            <a:off x="548640" y="3358895"/>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797807"/>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358895"/>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frustrating. How often does it happen?</a:t>
            </a:r>
          </a:p>
        </p:txBody>
      </p:sp>
      <p:sp>
        <p:nvSpPr>
          <p:cNvPr id="17" name="Rounded Rectangle 16"/>
          <p:cNvSpPr/>
          <p:nvPr/>
        </p:nvSpPr>
        <p:spPr>
          <a:xfrm>
            <a:off x="10911535" y="3941063"/>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5"/>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3"/>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About one in six orders. It’s affecting our reputation.</a:t>
            </a:r>
          </a:p>
        </p:txBody>
      </p:sp>
      <p:sp>
        <p:nvSpPr>
          <p:cNvPr id="20" name="Rounded Rectangle 19"/>
          <p:cNvSpPr/>
          <p:nvPr/>
        </p:nvSpPr>
        <p:spPr>
          <a:xfrm>
            <a:off x="548640" y="4523231"/>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3"/>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1"/>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being open. We’ve helped companies like yours with this. For example, a retailer last year cut late deliveries by half.</a:t>
            </a:r>
          </a:p>
        </p:txBody>
      </p:sp>
      <p:sp>
        <p:nvSpPr>
          <p:cNvPr id="23" name="Rounded Rectangle 22"/>
          <p:cNvSpPr/>
          <p:nvPr/>
        </p:nvSpPr>
        <p:spPr>
          <a:xfrm>
            <a:off x="10911535" y="5394959"/>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833871"/>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394959"/>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Interesting. How?</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First meeting with an important client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59 Winning Over Important Clients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By tracking every shipment in real time and giving early warning of delays.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useful. But what sets you apart from other logistics providers?</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Our account managers are available around the clock, and we have a track record of ninety-seven per cent on-time delivery.</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Those are strong numbers. Could you send me the case study?</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I’ll send it today. Could we arrange a trial on one route?</a:t>
            </a:r>
          </a:p>
        </p:txBody>
      </p:sp>
      <p:sp>
        <p:nvSpPr>
          <p:cNvPr id="23" name="Rounded Rectangle 22"/>
          <p:cNvSpPr/>
          <p:nvPr/>
        </p:nvSpPr>
        <p:spPr>
          <a:xfrm>
            <a:off x="10911535" y="539496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83387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39496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could work. Let’s talk next week.</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First meeting with an important client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59 Winning Over Important Clients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win over an important client.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Account director. Your service: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 Challenge and doubts: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biggest priority · we’ve helped companies like yours · what sets us apart · track record · case study · trial</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questions first, link your service to her needs and suggest a trial.</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Ms Bai says: “Your competitor is cheaper.”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follow-up email after the first meeting.</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how you keep a client happy for years.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59 Winning Over Important Clients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client choose one supplier over another?</a:t>
            </a:r>
          </a:p>
          <a:p>
            <a:pPr algn="l">
              <a:lnSpc>
                <a:spcPct val="115000"/>
              </a:lnSpc>
              <a:spcAft>
                <a:spcPts val="800"/>
              </a:spcAft>
            </a:pPr>
            <a:r>
              <a:rPr sz="1400" b="0">
                <a:solidFill>
                  <a:srgbClr val="5F677A"/>
                </a:solidFill>
                <a:latin typeface="Arial"/>
                <a:ea typeface="Microsoft YaHei"/>
              </a:rPr>
              <a:t>💬 “I think the key factors are… / Price matters but…”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build trust with someone you’ve just met?</a:t>
            </a:r>
          </a:p>
          <a:p>
            <a:pPr algn="l">
              <a:lnSpc>
                <a:spcPct val="115000"/>
              </a:lnSpc>
              <a:spcAft>
                <a:spcPts val="800"/>
              </a:spcAft>
            </a:pPr>
            <a:r>
              <a:rPr sz="1400" b="0">
                <a:solidFill>
                  <a:srgbClr val="5F677A"/>
                </a:solidFill>
                <a:latin typeface="Arial"/>
                <a:ea typeface="Microsoft YaHei"/>
              </a:rPr>
              <a:t>💬 “By being prepared… / Listening before…”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better to sell on price or on value?</a:t>
            </a:r>
          </a:p>
          <a:p>
            <a:pPr algn="l">
              <a:lnSpc>
                <a:spcPct val="115000"/>
              </a:lnSpc>
              <a:spcAft>
                <a:spcPts val="800"/>
              </a:spcAft>
            </a:pPr>
            <a:r>
              <a:rPr sz="1400" b="0">
                <a:solidFill>
                  <a:srgbClr val="5F677A"/>
                </a:solidFill>
                <a:latin typeface="Arial"/>
                <a:ea typeface="Microsoft YaHei"/>
              </a:rPr>
              <a:t>💬 “Price wins short-term, but… / Value creates…”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keep clients happy long-term?</a:t>
            </a:r>
          </a:p>
          <a:p>
            <a:pPr algn="l">
              <a:lnSpc>
                <a:spcPct val="115000"/>
              </a:lnSpc>
              <a:spcAft>
                <a:spcPts val="800"/>
              </a:spcAft>
            </a:pPr>
            <a:r>
              <a:rPr sz="1400" b="0">
                <a:solidFill>
                  <a:srgbClr val="5F677A"/>
                </a:solidFill>
                <a:latin typeface="Arial"/>
                <a:ea typeface="Microsoft YaHei"/>
              </a:rPr>
              <a:t>💬 “By staying in touch… / Anticipating needs…”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59 Winning Over Important Clients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Selling on price is easy to understand but hard to sustain, because a competitor can always undercut you. Value is more durable: if you solve a client’s real problem, they will pay more for it and stay longer. So I’d focus on demonstrating how we save them time, money or risk, and use price as only one part of the discussion.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undercut = 以更低价格抢生意。durable = 持久的。sustain = 维持。”as only one part” 价格只是其中一部分。</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59 Winning Over Important Clients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Please buy from us.</a:t>
                      </a:r>
                    </a:p>
                  </a:txBody>
                  <a:tcPr anchor="ctr">
                    <a:solidFill>
                      <a:srgbClr val="FFFFFF"/>
                    </a:solidFill>
                  </a:tcPr>
                </a:tc>
                <a:tc>
                  <a:txBody>
                    <a:bodyPr wrap="square"/>
                    <a:lstStyle/>
                    <a:p>
                      <a:r>
                        <a:rPr sz="1600" b="0">
                          <a:solidFill>
                            <a:srgbClr val="1F2A44"/>
                          </a:solidFill>
                          <a:latin typeface="Arial"/>
                          <a:ea typeface="Microsoft YaHei"/>
                        </a:rPr>
                        <a:t>We’d welcome the chance to work with you.</a:t>
                      </a:r>
                    </a:p>
                  </a:txBody>
                  <a:tcPr anchor="ctr">
                    <a:solidFill>
                      <a:srgbClr val="FFFFFF"/>
                    </a:solidFill>
                  </a:tcPr>
                </a:tc>
                <a:tc>
                  <a:txBody>
                    <a:bodyPr wrap="square"/>
                    <a:lstStyle/>
                    <a:p>
                      <a:r>
                        <a:rPr sz="1600" b="0">
                          <a:solidFill>
                            <a:srgbClr val="FF6B5B"/>
                          </a:solidFill>
                          <a:latin typeface="Arial"/>
                          <a:ea typeface="Microsoft YaHei"/>
                        </a:rPr>
                        <a:t>礼貌</a:t>
                      </a:r>
                    </a:p>
                  </a:txBody>
                  <a:tcPr anchor="ctr">
                    <a:solidFill>
                      <a:srgbClr val="FFFFFF"/>
                    </a:solidFill>
                  </a:tcPr>
                </a:tc>
              </a:tr>
              <a:tr h="652272">
                <a:tc>
                  <a:txBody>
                    <a:bodyPr wrap="square"/>
                    <a:lstStyle/>
                    <a:p>
                      <a:r>
                        <a:rPr sz="1600" b="1">
                          <a:solidFill>
                            <a:srgbClr val="1F2A44"/>
                          </a:solidFill>
                          <a:latin typeface="Arial"/>
                          <a:ea typeface="Microsoft YaHei"/>
                        </a:rPr>
                        <a:t>We are the best.</a:t>
                      </a:r>
                    </a:p>
                  </a:txBody>
                  <a:tcPr anchor="ctr">
                    <a:solidFill>
                      <a:srgbClr val="FFEFD9"/>
                    </a:solidFill>
                  </a:tcPr>
                </a:tc>
                <a:tc>
                  <a:txBody>
                    <a:bodyPr wrap="square"/>
                    <a:lstStyle/>
                    <a:p>
                      <a:r>
                        <a:rPr sz="1600" b="0">
                          <a:solidFill>
                            <a:srgbClr val="1F2A44"/>
                          </a:solidFill>
                          <a:latin typeface="Arial"/>
                          <a:ea typeface="Microsoft YaHei"/>
                        </a:rPr>
                        <a:t>We have a strong track record in this area.</a:t>
                      </a:r>
                    </a:p>
                  </a:txBody>
                  <a:tcPr anchor="ctr">
                    <a:solidFill>
                      <a:srgbClr val="FFEFD9"/>
                    </a:solidFill>
                  </a:tcPr>
                </a:tc>
                <a:tc>
                  <a:txBody>
                    <a:bodyPr wrap="square"/>
                    <a:lstStyle/>
                    <a:p>
                      <a:r>
                        <a:rPr sz="1600" b="0">
                          <a:solidFill>
                            <a:srgbClr val="FF6B5B"/>
                          </a:solidFill>
                          <a:latin typeface="Arial"/>
                          <a:ea typeface="Microsoft YaHei"/>
                        </a:rPr>
                        <a:t>有依据</a:t>
                      </a:r>
                    </a:p>
                  </a:txBody>
                  <a:tcPr anchor="ctr">
                    <a:solidFill>
                      <a:srgbClr val="FFEFD9"/>
                    </a:solidFill>
                  </a:tcPr>
                </a:tc>
              </a:tr>
              <a:tr h="408432">
                <a:tc>
                  <a:txBody>
                    <a:bodyPr wrap="square"/>
                    <a:lstStyle/>
                    <a:p>
                      <a:r>
                        <a:rPr sz="1600" b="1">
                          <a:solidFill>
                            <a:srgbClr val="1F2A44"/>
                          </a:solidFill>
                          <a:latin typeface="Arial"/>
                          <a:ea typeface="Microsoft YaHei"/>
                        </a:rPr>
                        <a:t>What do you want?</a:t>
                      </a:r>
                    </a:p>
                  </a:txBody>
                  <a:tcPr anchor="ctr">
                    <a:solidFill>
                      <a:srgbClr val="FFFFFF"/>
                    </a:solidFill>
                  </a:tcPr>
                </a:tc>
                <a:tc>
                  <a:txBody>
                    <a:bodyPr wrap="square"/>
                    <a:lstStyle/>
                    <a:p>
                      <a:r>
                        <a:rPr sz="1600" b="0">
                          <a:solidFill>
                            <a:srgbClr val="1F2A44"/>
                          </a:solidFill>
                          <a:latin typeface="Arial"/>
                          <a:ea typeface="Microsoft YaHei"/>
                        </a:rPr>
                        <a:t>What are your key priorities?</a:t>
                      </a:r>
                    </a:p>
                  </a:txBody>
                  <a:tcPr anchor="ctr">
                    <a:solidFill>
                      <a:srgbClr val="FFFFFF"/>
                    </a:solidFill>
                  </a:tcPr>
                </a:tc>
                <a:tc>
                  <a:txBody>
                    <a:bodyPr wrap="square"/>
                    <a:lstStyle/>
                    <a:p>
                      <a:r>
                        <a:rPr sz="1600" b="0">
                          <a:solidFill>
                            <a:srgbClr val="FF6B5B"/>
                          </a:solidFill>
                          <a:latin typeface="Arial"/>
                          <a:ea typeface="Microsoft YaHei"/>
                        </a:rPr>
                        <a:t>礼貌</a:t>
                      </a:r>
                    </a:p>
                  </a:txBody>
                  <a:tcPr anchor="ctr">
                    <a:solidFill>
                      <a:srgbClr val="FFFFFF"/>
                    </a:solidFill>
                  </a:tcPr>
                </a:tc>
              </a:tr>
              <a:tr h="652272">
                <a:tc>
                  <a:txBody>
                    <a:bodyPr wrap="square"/>
                    <a:lstStyle/>
                    <a:p>
                      <a:r>
                        <a:rPr sz="1600" b="1">
                          <a:solidFill>
                            <a:srgbClr val="1F2A44"/>
                          </a:solidFill>
                          <a:latin typeface="Arial"/>
                          <a:ea typeface="Microsoft YaHei"/>
                        </a:rPr>
                        <a:t>Our price is cheap.</a:t>
                      </a:r>
                    </a:p>
                  </a:txBody>
                  <a:tcPr anchor="ctr">
                    <a:solidFill>
                      <a:srgbClr val="FFEFD9"/>
                    </a:solidFill>
                  </a:tcPr>
                </a:tc>
                <a:tc>
                  <a:txBody>
                    <a:bodyPr wrap="square"/>
                    <a:lstStyle/>
                    <a:p>
                      <a:r>
                        <a:rPr sz="1600" b="0">
                          <a:solidFill>
                            <a:srgbClr val="1F2A44"/>
                          </a:solidFill>
                          <a:latin typeface="Arial"/>
                          <a:ea typeface="Microsoft YaHei"/>
                        </a:rPr>
                        <a:t>We offer very competitive pricing.</a:t>
                      </a:r>
                    </a:p>
                  </a:txBody>
                  <a:tcPr anchor="ctr">
                    <a:solidFill>
                      <a:srgbClr val="FFEFD9"/>
                    </a:solidFill>
                  </a:tcPr>
                </a:tc>
                <a:tc>
                  <a:txBody>
                    <a:bodyPr wrap="square"/>
                    <a:lstStyle/>
                    <a:p>
                      <a:r>
                        <a:rPr sz="1600" b="0">
                          <a:solidFill>
                            <a:srgbClr val="FF6B5B"/>
                          </a:solidFill>
                          <a:latin typeface="Arial"/>
                          <a:ea typeface="Microsoft YaHei"/>
                        </a:rPr>
                        <a:t>专业</a:t>
                      </a:r>
                    </a:p>
                  </a:txBody>
                  <a:tcPr anchor="ctr">
                    <a:solidFill>
                      <a:srgbClr val="FFEFD9"/>
                    </a:solidFill>
                  </a:tcPr>
                </a:tc>
              </a:tr>
              <a:tr h="652272">
                <a:tc>
                  <a:txBody>
                    <a:bodyPr wrap="square"/>
                    <a:lstStyle/>
                    <a:p>
                      <a:r>
                        <a:rPr sz="1600" b="1">
                          <a:solidFill>
                            <a:srgbClr val="1F2A44"/>
                          </a:solidFill>
                          <a:latin typeface="Arial"/>
                          <a:ea typeface="Microsoft YaHei"/>
                        </a:rPr>
                        <a:t>I will call you.</a:t>
                      </a:r>
                    </a:p>
                  </a:txBody>
                  <a:tcPr anchor="ctr">
                    <a:solidFill>
                      <a:srgbClr val="FFFFFF"/>
                    </a:solidFill>
                  </a:tcPr>
                </a:tc>
                <a:tc>
                  <a:txBody>
                    <a:bodyPr wrap="square"/>
                    <a:lstStyle/>
                    <a:p>
                      <a:r>
                        <a:rPr sz="1600" b="0">
                          <a:solidFill>
                            <a:srgbClr val="1F2A44"/>
                          </a:solidFill>
                          <a:latin typeface="Arial"/>
                          <a:ea typeface="Microsoft YaHei"/>
                        </a:rPr>
                        <a:t>I’ll follow up with you early next week.</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bl>
          </a:graphicData>
        </a:graphic>
      </p:graphicFrame>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59 Winning Over Important Clients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Open questions: </a:t>
            </a:r>
            <a:r>
              <a:rPr sz="1700" b="0">
                <a:solidFill>
                  <a:srgbClr val="1F2A44"/>
                </a:solidFill>
                <a:latin typeface="Arial"/>
                <a:ea typeface="Microsoft YaHei"/>
              </a:rPr>
              <a:t>What… How… Could you tell me more about…?</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Present perfect for experience: </a:t>
            </a:r>
            <a:r>
              <a:rPr sz="1700" b="0">
                <a:solidFill>
                  <a:srgbClr val="1F2A44"/>
                </a:solidFill>
                <a:latin typeface="Arial"/>
                <a:ea typeface="Microsoft YaHei"/>
              </a:rPr>
              <a:t>“We’ve helped many retailers.” (relevant to now)</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Benefits language: </a:t>
            </a:r>
            <a:r>
              <a:rPr sz="1700" b="0">
                <a:solidFill>
                  <a:srgbClr val="1F2A44"/>
                </a:solidFill>
                <a:latin typeface="Arial"/>
                <a:ea typeface="Microsoft YaHei"/>
              </a:rPr>
              <a:t>This means that… / As a result, you can… / So you’ll…</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Comparatives: </a:t>
            </a:r>
            <a:r>
              <a:rPr sz="1700" b="0">
                <a:solidFill>
                  <a:srgbClr val="1F2A44"/>
                </a:solidFill>
                <a:latin typeface="Arial"/>
                <a:ea typeface="Microsoft YaHei"/>
              </a:rPr>
              <a:t>faster than, more reliable than, as flexible as.</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59 Winning Over Important Clients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a long relationship with ABC.</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have a long-standing relationship with ABC.</a:t>
            </a:r>
          </a:p>
          <a:p>
            <a:pPr algn="l">
              <a:spcAft>
                <a:spcPts val="200"/>
              </a:spcAft>
            </a:pPr>
            <a:r>
              <a:rPr sz="1200" b="0">
                <a:solidFill>
                  <a:srgbClr val="FFFFFF"/>
                </a:solidFill>
                <a:latin typeface="Arial"/>
                <a:ea typeface="Microsoft YaHei"/>
              </a:rPr>
              <a:t>搭配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This product is suitable to you.</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This product is suitable for you.</a:t>
            </a:r>
          </a:p>
          <a:p>
            <a:pPr algn="l">
              <a:spcAft>
                <a:spcPts val="200"/>
              </a:spcAft>
            </a:pPr>
            <a:r>
              <a:rPr sz="1200" b="0">
                <a:solidFill>
                  <a:srgbClr val="FFFFFF"/>
                </a:solidFill>
                <a:latin typeface="Arial"/>
                <a:ea typeface="Microsoft YaHei"/>
              </a:rPr>
              <a:t>suitable for</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looking forward your reply.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look forward to your reply.</a:t>
            </a:r>
          </a:p>
          <a:p>
            <a:pPr algn="l">
              <a:spcAft>
                <a:spcPts val="200"/>
              </a:spcAft>
            </a:pPr>
            <a:r>
              <a:rPr sz="1200" b="0">
                <a:solidFill>
                  <a:srgbClr val="FFFFFF"/>
                </a:solidFill>
                <a:latin typeface="Arial"/>
                <a:ea typeface="Microsoft YaHei"/>
              </a:rPr>
              <a:t>look forward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59 Winning Over Important Clients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Our service is more cheaper.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Our service is cheaper.</a:t>
            </a:r>
          </a:p>
          <a:p>
            <a:pPr algn="l">
              <a:spcAft>
                <a:spcPts val="200"/>
              </a:spcAft>
            </a:pPr>
            <a:r>
              <a:rPr sz="1200" b="0">
                <a:solidFill>
                  <a:srgbClr val="FFFFFF"/>
                </a:solidFill>
                <a:latin typeface="Arial"/>
                <a:ea typeface="Microsoft YaHei"/>
              </a:rPr>
              <a:t>cheaper</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can offer you many helps.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can offer you plenty of help.</a:t>
            </a:r>
          </a:p>
          <a:p>
            <a:pPr algn="l">
              <a:spcAft>
                <a:spcPts val="200"/>
              </a:spcAft>
            </a:pPr>
            <a:r>
              <a:rPr sz="1200" b="0">
                <a:solidFill>
                  <a:srgbClr val="FFFFFF"/>
                </a:solidFill>
                <a:latin typeface="Arial"/>
                <a:ea typeface="Microsoft YaHei"/>
              </a:rPr>
              <a:t>help 不可数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introduce about our company.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like to introduce our company.</a:t>
            </a:r>
          </a:p>
          <a:p>
            <a:pPr algn="l">
              <a:spcAft>
                <a:spcPts val="200"/>
              </a:spcAft>
            </a:pPr>
            <a:r>
              <a:rPr sz="1200" b="0">
                <a:solidFill>
                  <a:srgbClr val="FFFFFF"/>
                </a:solidFill>
                <a:latin typeface="Arial"/>
                <a:ea typeface="Microsoft YaHei"/>
              </a:rPr>
              <a:t>introduce 及物</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suitable for, uncountable help, and introduce (transitive).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59 Winning Over Important Clients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Relationship vs transaction: </a:t>
            </a:r>
            <a:r>
              <a:rPr sz="1700" b="0">
                <a:solidFill>
                  <a:srgbClr val="1F2A44"/>
                </a:solidFill>
                <a:latin typeface="Arial"/>
                <a:ea typeface="Microsoft YaHei"/>
              </a:rPr>
              <a:t>In many markets business relationships begin socially; in others the focus is on the offer from the start.</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Gift-giving: </a:t>
            </a:r>
            <a:r>
              <a:rPr sz="1700" b="0">
                <a:solidFill>
                  <a:srgbClr val="1F2A44"/>
                </a:solidFill>
                <a:latin typeface="Arial"/>
                <a:ea typeface="Microsoft YaHei"/>
              </a:rPr>
              <a:t>Corporate gift rules vary; many companies have strict anti-bribery policies.</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Follow up: </a:t>
            </a:r>
            <a:r>
              <a:rPr sz="1700" b="0">
                <a:solidFill>
                  <a:srgbClr val="1F2A44"/>
                </a:solidFill>
                <a:latin typeface="Arial"/>
                <a:ea typeface="Microsoft YaHei"/>
              </a:rPr>
              <a:t>Send a thank-you email within 24 hours with a clear next step.</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suitable for sb;introduce sth 不加 about;help 不可数。与客户沟通:先问需求,再讲方案;用具体案例比泛泛而谈有说服力。</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59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59 Winning Over Important Clients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questions to understand a client’s needs.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link my offer to benefits and give evidence.</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price vs value.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suitable for, introduce and look forward to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59 Winning Over Important Clients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suitable for, introduce (transitive) and benefit language.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6 · Lesson 60 Signing Contracts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136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60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Signing Contracts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签订合同</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contracts: key clauses, obligations, risks, review before signing and formal language.</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60 Signing Contracts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signed an important contract? What was in it?</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clauses are usually in a business contract?</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should you read a contract carefully?</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happens if one side breaks a contract?</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should check a contract before it is signed?</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clause = 条款;party = 当事方;terminate = 终止;breach = 违反。注意:contract 的动词用法 “sign / draw up / enter into / renew a contract”。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60 Signing Contracts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Discuss key clauses in a contract with a colleague or lawyer.</a:t>
            </a:r>
          </a:p>
        </p:txBody>
      </p:sp>
      <p:sp>
        <p:nvSpPr>
          <p:cNvPr id="10" name="Rounded Rectangle 9"/>
          <p:cNvSpPr/>
          <p:nvPr/>
        </p:nvSpPr>
        <p:spPr>
          <a:xfrm>
            <a:off x="548640" y="3017520"/>
            <a:ext cx="156210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scope</a:t>
            </a:r>
          </a:p>
        </p:txBody>
      </p:sp>
      <p:sp>
        <p:nvSpPr>
          <p:cNvPr id="11" name="Rounded Rectangle 10"/>
          <p:cNvSpPr/>
          <p:nvPr/>
        </p:nvSpPr>
        <p:spPr>
          <a:xfrm>
            <a:off x="2247900" y="3017520"/>
            <a:ext cx="156210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price/payment</a:t>
            </a:r>
          </a:p>
        </p:txBody>
      </p:sp>
      <p:sp>
        <p:nvSpPr>
          <p:cNvPr id="12" name="Rounded Rectangle 11"/>
          <p:cNvSpPr/>
          <p:nvPr/>
        </p:nvSpPr>
        <p:spPr>
          <a:xfrm>
            <a:off x="3947160" y="3017520"/>
            <a:ext cx="156210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duration</a:t>
            </a:r>
          </a:p>
        </p:txBody>
      </p:sp>
      <p:sp>
        <p:nvSpPr>
          <p:cNvPr id="13" name="Rounded Rectangle 12"/>
          <p:cNvSpPr/>
          <p:nvPr/>
        </p:nvSpPr>
        <p:spPr>
          <a:xfrm>
            <a:off x="5646420" y="3017520"/>
            <a:ext cx="156210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termination</a:t>
            </a:r>
          </a:p>
        </p:txBody>
      </p:sp>
      <p:sp>
        <p:nvSpPr>
          <p:cNvPr id="14" name="Rounded Rectangle 13"/>
          <p:cNvSpPr/>
          <p:nvPr/>
        </p:nvSpPr>
        <p:spPr>
          <a:xfrm>
            <a:off x="7345680" y="3017520"/>
            <a:ext cx="1562100"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liability</a:t>
            </a:r>
          </a:p>
        </p:txBody>
      </p:sp>
      <p:sp>
        <p:nvSpPr>
          <p:cNvPr id="15" name="Rounded Rectangle 14"/>
          <p:cNvSpPr/>
          <p:nvPr/>
        </p:nvSpPr>
        <p:spPr>
          <a:xfrm>
            <a:off x="9044940" y="3017520"/>
            <a:ext cx="156210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6. next steps</a:t>
            </a:r>
          </a:p>
        </p:txBody>
      </p:sp>
      <p:sp>
        <p:nvSpPr>
          <p:cNvPr id="16" name="TextBox 15"/>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7" name="TextBox 16"/>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Could you walk me through clause 7?   💬 What happens if…?   💬 I’d like to propose an amendment.</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clause = 条款;amendment = 修订;walk me through = 逐步说明。注意时态和被动语态正式感。</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Read Before You Sign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60 Signing Contracts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 contract is a written promise that the law will enforce. It describes who does what, for how much, by when and what happens if something goes wrong. Typical clauses cover the scope of work, price and payment terms, duration and renewal, confidentiality, liability and how the agreement can be ended. Contracts are written in formal language to avoid ambiguity, but that makes them hard to read, so it is wise to have a lawyer review important ones. Pay special attention to automatic renewal, penalties for late delivery and limits on liability. If something is unclear, ask for it to be rewritten in plain words. Never sign under pressure, and never rely on verbal promises that are not in the document. Once signed, keep a copy, diarise key dates and review compliance regularly.</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60 Signing Contracts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does a contract describe?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Who does what, for how much, by when, and what happens if something goes wrong.</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should you pay special attention to?</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Automatic renewal, penalties for late delivery and limits on liability.</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should you do once the contract is signed?</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Keep a copy, diarise key dates and review compliance regularly.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Contract language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60 Signing Contracts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合同用语</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clause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条款</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“See clause 12.”</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party</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当事方</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“Both parties agree.”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obligation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义务</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“Each party has obligations.”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terminate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终止</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“Either party may terminate with notice.”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renew</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续约</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contract renews automatically.”</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confidentiality</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保密</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confidentiality clause protects data.”</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Reviewing and signing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60 Signing Contracts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审查与签署</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breach of contract</a:t>
            </a:r>
          </a:p>
          <a:p>
            <a:pPr algn="l">
              <a:lnSpc>
                <a:spcPct val="115000"/>
              </a:lnSpc>
              <a:spcAft>
                <a:spcPts val="800"/>
              </a:spcAft>
            </a:pPr>
            <a:r>
              <a:rPr sz="1300" b="0">
                <a:solidFill>
                  <a:srgbClr val="5F677A"/>
                </a:solidFill>
                <a:latin typeface="Arial"/>
                <a:ea typeface="Microsoft YaHei"/>
              </a:rPr>
              <a:t>noun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违约</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“Late delivery is a breach of contract.”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liable for</a:t>
            </a:r>
          </a:p>
          <a:p>
            <a:pPr algn="l">
              <a:lnSpc>
                <a:spcPct val="115000"/>
              </a:lnSpc>
              <a:spcAft>
                <a:spcPts val="800"/>
              </a:spcAft>
            </a:pPr>
            <a:r>
              <a:rPr sz="1300" b="0">
                <a:solidFill>
                  <a:srgbClr val="5F677A"/>
                </a:solidFill>
                <a:latin typeface="Arial"/>
                <a:ea typeface="Microsoft YaHei"/>
              </a:rPr>
              <a:t>adjective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对……负责</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supplier is liable for damages.”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small print</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小字条款</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“Always read the small print.”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draw up</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起草</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lawyer drew up the contract.”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enter into</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签订</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entered into an agreement.”</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amend</a:t>
            </a:r>
          </a:p>
          <a:p>
            <a:pPr algn="l">
              <a:lnSpc>
                <a:spcPct val="115000"/>
              </a:lnSpc>
              <a:spcAft>
                <a:spcPts val="800"/>
              </a:spcAft>
            </a:pPr>
            <a:r>
              <a:rPr sz="1300" b="0">
                <a:solidFill>
                  <a:srgbClr val="5F677A"/>
                </a:solidFill>
                <a:latin typeface="Arial"/>
                <a:ea typeface="Microsoft YaHei"/>
              </a:rPr>
              <a:t>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修订</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“We’d like to amend this clause.”</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60 Signing Contracts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修订</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amend</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当事方</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party</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终止</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terminate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小字条款</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small print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违约</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breach of contract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义务</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obligation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签订</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enter into</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对……负责</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liable for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60 Signing Contracts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clause</a:t>
            </a:r>
          </a:p>
        </p:txBody>
      </p:sp>
      <p:sp>
        <p:nvSpPr>
          <p:cNvPr id="10" name="Rounded Rectangle 9"/>
          <p:cNvSpPr/>
          <p:nvPr/>
        </p:nvSpPr>
        <p:spPr>
          <a:xfrm>
            <a:off x="3127248"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parties</a:t>
            </a:r>
          </a:p>
        </p:txBody>
      </p:sp>
      <p:sp>
        <p:nvSpPr>
          <p:cNvPr id="11" name="Rounded Rectangle 10"/>
          <p:cNvSpPr/>
          <p:nvPr/>
        </p:nvSpPr>
        <p:spPr>
          <a:xfrm>
            <a:off x="4352544" y="987552"/>
            <a:ext cx="1572767"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obligations</a:t>
            </a:r>
          </a:p>
        </p:txBody>
      </p:sp>
      <p:sp>
        <p:nvSpPr>
          <p:cNvPr id="12" name="Rounded Rectangle 11"/>
          <p:cNvSpPr/>
          <p:nvPr/>
        </p:nvSpPr>
        <p:spPr>
          <a:xfrm>
            <a:off x="6016751"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terminate</a:t>
            </a:r>
          </a:p>
        </p:txBody>
      </p:sp>
      <p:sp>
        <p:nvSpPr>
          <p:cNvPr id="13" name="Rounded Rectangle 12"/>
          <p:cNvSpPr/>
          <p:nvPr/>
        </p:nvSpPr>
        <p:spPr>
          <a:xfrm>
            <a:off x="7461503"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breach</a:t>
            </a:r>
          </a:p>
        </p:txBody>
      </p:sp>
      <p:sp>
        <p:nvSpPr>
          <p:cNvPr id="14" name="Rounded Rectangle 13"/>
          <p:cNvSpPr/>
          <p:nvPr/>
        </p:nvSpPr>
        <p:spPr>
          <a:xfrm>
            <a:off x="8577071"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amend</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Please read _______ 9, which covers payment.</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clause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Both _______ must sign the agreement.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parties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Each side has legal _______ under the contract.</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obligations</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Either party may _______ with 30 days’ notice.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terminate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Delivering late would be a _______ of contract.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breach</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We’d like to _______ the clause on liability.</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amend</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contract (noun /ˈkɒntrækt/, verb /kənˈtrækt/), liable, liability. Sign / enter into / draw up a contract, terminate / cancel, a breach of contract. Confidential / confidentiality. Read the small print (UK) / fine print (US). Under the terms of.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Role Play · Reviewing a contract before signing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60 Signing Contracts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签约前审阅合同</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Before signing, you discuss clauses with your company’s legal adviser, Sam.</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Dana Zhu, manager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Sam Roy, legal adviser</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Reviewing a contract before signing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60 Signing Contracts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Sam, thanks for reviewing this. Could you walk me through the main risks?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Sam</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First, clause 7: automatic renewal. If you don’t give notice sixty days before the end, it renews for another year.</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prefer to renew only after confirmation. Can we amend that?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can propose it. Next, clause 11 limits their liability to the value of one month’s fees.</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seems low if their error damages our data.</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I’d suggest asking for a higher cap in the case of serious breach.</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Reviewing a contract before signing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60 Signing Contracts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what about termination?</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Either party may terminate with thirty days’ notice. That’s reasonable.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happens if they miss a deadline?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There’s no penalty clause. You could ask for service credits.</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Could you draft the amendments?</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I’ll send them by tomorrow so you can sign by Friday.</a:t>
            </a:r>
          </a:p>
        </p:txBody>
      </p:sp>
      <p:sp>
        <p:nvSpPr>
          <p:cNvPr id="26" name="Rounded Rectangle 25"/>
          <p:cNvSpPr/>
          <p:nvPr/>
        </p:nvSpPr>
        <p:spPr>
          <a:xfrm>
            <a:off x="548640" y="51084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5473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510844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 won’t sign until we’ve agreed those points.</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Your Turn · Reviewing a contract before signing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60 Signing Contracts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review a contract with a legal adviser.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Clause you are worried about: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Adviser. Explain the risk and a possible amendment.</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walk me through · clause · liability · terminate · amend · breach</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about three clauses and agree the changes to propose.</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other party refuses your amendment. Suggest a compromise.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 lawyer to explain a clause in plain English.</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why you read the small print.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60 Signing Contracts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most important clauses in a contract?</a:t>
            </a:r>
          </a:p>
          <a:p>
            <a:pPr algn="l">
              <a:lnSpc>
                <a:spcPct val="115000"/>
              </a:lnSpc>
              <a:spcAft>
                <a:spcPts val="800"/>
              </a:spcAft>
            </a:pPr>
            <a:r>
              <a:rPr sz="1400" b="0">
                <a:solidFill>
                  <a:srgbClr val="5F677A"/>
                </a:solidFill>
                <a:latin typeface="Arial"/>
                <a:ea typeface="Microsoft YaHei"/>
              </a:rPr>
              <a:t>💬 “In my view, the most important are…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you hire a lawyer for every contract?</a:t>
            </a:r>
          </a:p>
          <a:p>
            <a:pPr algn="l">
              <a:lnSpc>
                <a:spcPct val="115000"/>
              </a:lnSpc>
              <a:spcAft>
                <a:spcPts val="800"/>
              </a:spcAft>
            </a:pPr>
            <a:r>
              <a:rPr sz="1400" b="0">
                <a:solidFill>
                  <a:srgbClr val="5F677A"/>
                </a:solidFill>
                <a:latin typeface="Arial"/>
                <a:ea typeface="Microsoft YaHei"/>
              </a:rPr>
              <a:t>💬 “Not for small deals, but for… / It depends on the risk.”</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a verbal promise as good as a written contract?</a:t>
            </a:r>
          </a:p>
          <a:p>
            <a:pPr algn="l">
              <a:lnSpc>
                <a:spcPct val="115000"/>
              </a:lnSpc>
              <a:spcAft>
                <a:spcPts val="800"/>
              </a:spcAft>
            </a:pPr>
            <a:r>
              <a:rPr sz="1400" b="0">
                <a:solidFill>
                  <a:srgbClr val="5F677A"/>
                </a:solidFill>
                <a:latin typeface="Arial"/>
                <a:ea typeface="Microsoft YaHei"/>
              </a:rPr>
              <a:t>💬 “Legally it can be… but in practice…”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ensure that everyone understands the contract?</a:t>
            </a:r>
          </a:p>
          <a:p>
            <a:pPr algn="l">
              <a:lnSpc>
                <a:spcPct val="115000"/>
              </a:lnSpc>
              <a:spcAft>
                <a:spcPts val="800"/>
              </a:spcAft>
            </a:pPr>
            <a:r>
              <a:rPr sz="1400" b="0">
                <a:solidFill>
                  <a:srgbClr val="5F677A"/>
                </a:solidFill>
                <a:latin typeface="Arial"/>
                <a:ea typeface="Microsoft YaHei"/>
              </a:rPr>
              <a:t>💬 “By using plain language… / Holding a briefing…”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60 Signing Contracts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Not for small, routine deals, as the cost may outweigh the benefit. But for contracts that involve significant money, long commitments or legal risk, I think a lawyer’s review is worth it. A lawyer can spot unfavourable terms, such as automatic renewal or unlimited liability, that a non-specialist might miss. It’s cheaper to fix a clause before signing than to fight over it afterwards.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outweigh = 超过。unfavourable = 不利的。”non-specialist” = 外行。”fight over it” = 为此争执。</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60 Signing Contracts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66979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Please read it.</a:t>
                      </a:r>
                    </a:p>
                  </a:txBody>
                  <a:tcPr anchor="ctr">
                    <a:solidFill>
                      <a:srgbClr val="FFFFFF"/>
                    </a:solidFill>
                  </a:tcPr>
                </a:tc>
                <a:tc>
                  <a:txBody>
                    <a:bodyPr wrap="square"/>
                    <a:lstStyle/>
                    <a:p>
                      <a:r>
                        <a:rPr sz="1600" b="0">
                          <a:solidFill>
                            <a:srgbClr val="1F2A44"/>
                          </a:solidFill>
                          <a:latin typeface="Arial"/>
                          <a:ea typeface="Microsoft YaHei"/>
                        </a:rPr>
                        <a:t>Could you take a look at the draft?</a:t>
                      </a:r>
                    </a:p>
                  </a:txBody>
                  <a:tcPr anchor="ctr">
                    <a:solidFill>
                      <a:srgbClr val="FFFFFF"/>
                    </a:solidFill>
                  </a:tcPr>
                </a:tc>
                <a:tc>
                  <a:txBody>
                    <a:bodyPr wrap="square"/>
                    <a:lstStyle/>
                    <a:p>
                      <a:r>
                        <a:rPr sz="1600" b="0">
                          <a:solidFill>
                            <a:srgbClr val="FF6B5B"/>
                          </a:solidFill>
                          <a:latin typeface="Arial"/>
                          <a:ea typeface="Microsoft YaHei"/>
                        </a:rPr>
                        <a:t>礼貌</a:t>
                      </a:r>
                    </a:p>
                  </a:txBody>
                  <a:tcPr anchor="ctr">
                    <a:solidFill>
                      <a:srgbClr val="FFFFFF"/>
                    </a:solidFill>
                  </a:tcPr>
                </a:tc>
              </a:tr>
              <a:tr h="652272">
                <a:tc>
                  <a:txBody>
                    <a:bodyPr wrap="square"/>
                    <a:lstStyle/>
                    <a:p>
                      <a:r>
                        <a:rPr sz="1600" b="1">
                          <a:solidFill>
                            <a:srgbClr val="1F2A44"/>
                          </a:solidFill>
                          <a:latin typeface="Arial"/>
                          <a:ea typeface="Microsoft YaHei"/>
                        </a:rPr>
                        <a:t>Change this.</a:t>
                      </a:r>
                    </a:p>
                  </a:txBody>
                  <a:tcPr anchor="ctr">
                    <a:solidFill>
                      <a:srgbClr val="FFEFD9"/>
                    </a:solidFill>
                  </a:tcPr>
                </a:tc>
                <a:tc>
                  <a:txBody>
                    <a:bodyPr wrap="square"/>
                    <a:lstStyle/>
                    <a:p>
                      <a:r>
                        <a:rPr sz="1600" b="0">
                          <a:solidFill>
                            <a:srgbClr val="1F2A44"/>
                          </a:solidFill>
                          <a:latin typeface="Arial"/>
                          <a:ea typeface="Microsoft YaHei"/>
                        </a:rPr>
                        <a:t>We’d like to propose an amendment to this clause.</a:t>
                      </a:r>
                    </a:p>
                  </a:txBody>
                  <a:tcPr anchor="ctr">
                    <a:solidFill>
                      <a:srgbClr val="FFEFD9"/>
                    </a:solidFill>
                  </a:tcPr>
                </a:tc>
                <a:tc>
                  <a:txBody>
                    <a:bodyPr wrap="square"/>
                    <a:lstStyle/>
                    <a:p>
                      <a:r>
                        <a:rPr sz="1600" b="0">
                          <a:solidFill>
                            <a:srgbClr val="FF6B5B"/>
                          </a:solidFill>
                          <a:latin typeface="Arial"/>
                          <a:ea typeface="Microsoft YaHei"/>
                        </a:rPr>
                        <a:t>正式</a:t>
                      </a:r>
                    </a:p>
                  </a:txBody>
                  <a:tcPr anchor="ctr">
                    <a:solidFill>
                      <a:srgbClr val="FFEFD9"/>
                    </a:solidFill>
                  </a:tcPr>
                </a:tc>
              </a:tr>
              <a:tr h="652272">
                <a:tc>
                  <a:txBody>
                    <a:bodyPr wrap="square"/>
                    <a:lstStyle/>
                    <a:p>
                      <a:r>
                        <a:rPr sz="1600" b="1">
                          <a:solidFill>
                            <a:srgbClr val="1F2A44"/>
                          </a:solidFill>
                          <a:latin typeface="Arial"/>
                          <a:ea typeface="Microsoft YaHei"/>
                        </a:rPr>
                        <a:t>If you don’t pay, we stop.</a:t>
                      </a:r>
                    </a:p>
                  </a:txBody>
                  <a:tcPr anchor="ctr">
                    <a:solidFill>
                      <a:srgbClr val="FFFFFF"/>
                    </a:solidFill>
                  </a:tcPr>
                </a:tc>
                <a:tc>
                  <a:txBody>
                    <a:bodyPr wrap="square"/>
                    <a:lstStyle/>
                    <a:p>
                      <a:r>
                        <a:rPr sz="1600" b="0">
                          <a:solidFill>
                            <a:srgbClr val="1F2A44"/>
                          </a:solidFill>
                          <a:latin typeface="Arial"/>
                          <a:ea typeface="Microsoft YaHei"/>
                        </a:rPr>
                        <a:t>Failure to pay may result in suspension of service.</a:t>
                      </a:r>
                    </a:p>
                  </a:txBody>
                  <a:tcPr anchor="ctr">
                    <a:solidFill>
                      <a:srgbClr val="FFFFFF"/>
                    </a:solidFill>
                  </a:tcPr>
                </a:tc>
                <a:tc>
                  <a:txBody>
                    <a:bodyPr wrap="square"/>
                    <a:lstStyle/>
                    <a:p>
                      <a:r>
                        <a:rPr sz="1600" b="0">
                          <a:solidFill>
                            <a:srgbClr val="FF6B5B"/>
                          </a:solidFill>
                          <a:latin typeface="Arial"/>
                          <a:ea typeface="Microsoft YaHei"/>
                        </a:rPr>
                        <a:t>合同语言</a:t>
                      </a:r>
                    </a:p>
                  </a:txBody>
                  <a:tcPr anchor="ctr">
                    <a:solidFill>
                      <a:srgbClr val="FFFFFF"/>
                    </a:solidFill>
                  </a:tcPr>
                </a:tc>
              </a:tr>
              <a:tr h="652272">
                <a:tc>
                  <a:txBody>
                    <a:bodyPr wrap="square"/>
                    <a:lstStyle/>
                    <a:p>
                      <a:r>
                        <a:rPr sz="1600" b="1">
                          <a:solidFill>
                            <a:srgbClr val="1F2A44"/>
                          </a:solidFill>
                          <a:latin typeface="Arial"/>
                          <a:ea typeface="Microsoft YaHei"/>
                        </a:rPr>
                        <a:t>It ends in June.</a:t>
                      </a:r>
                    </a:p>
                  </a:txBody>
                  <a:tcPr anchor="ctr">
                    <a:solidFill>
                      <a:srgbClr val="FFEFD9"/>
                    </a:solidFill>
                  </a:tcPr>
                </a:tc>
                <a:tc>
                  <a:txBody>
                    <a:bodyPr wrap="square"/>
                    <a:lstStyle/>
                    <a:p>
                      <a:r>
                        <a:rPr sz="1600" b="0">
                          <a:solidFill>
                            <a:srgbClr val="1F2A44"/>
                          </a:solidFill>
                          <a:latin typeface="Arial"/>
                          <a:ea typeface="Microsoft YaHei"/>
                        </a:rPr>
                        <a:t>The agreement expires on 30 June.</a:t>
                      </a:r>
                    </a:p>
                  </a:txBody>
                  <a:tcPr anchor="ctr">
                    <a:solidFill>
                      <a:srgbClr val="FFEFD9"/>
                    </a:solidFill>
                  </a:tcPr>
                </a:tc>
                <a:tc>
                  <a:txBody>
                    <a:bodyPr wrap="square"/>
                    <a:lstStyle/>
                    <a:p>
                      <a:r>
                        <a:rPr sz="1600" b="0">
                          <a:solidFill>
                            <a:srgbClr val="FF6B5B"/>
                          </a:solidFill>
                          <a:latin typeface="Arial"/>
                          <a:ea typeface="Microsoft YaHei"/>
                        </a:rPr>
                        <a:t>术语</a:t>
                      </a:r>
                    </a:p>
                  </a:txBody>
                  <a:tcPr anchor="ctr">
                    <a:solidFill>
                      <a:srgbClr val="FFEFD9"/>
                    </a:solidFill>
                  </a:tcPr>
                </a:tc>
              </a:tr>
              <a:tr h="652272">
                <a:tc>
                  <a:txBody>
                    <a:bodyPr wrap="square"/>
                    <a:lstStyle/>
                    <a:p>
                      <a:r>
                        <a:rPr sz="1600" b="1">
                          <a:solidFill>
                            <a:srgbClr val="1F2A44"/>
                          </a:solidFill>
                          <a:latin typeface="Arial"/>
                          <a:ea typeface="Microsoft YaHei"/>
                        </a:rPr>
                        <a:t>We can leave.</a:t>
                      </a:r>
                    </a:p>
                  </a:txBody>
                  <a:tcPr anchor="ctr">
                    <a:solidFill>
                      <a:srgbClr val="FFFFFF"/>
                    </a:solidFill>
                  </a:tcPr>
                </a:tc>
                <a:tc>
                  <a:txBody>
                    <a:bodyPr wrap="square"/>
                    <a:lstStyle/>
                    <a:p>
                      <a:r>
                        <a:rPr sz="1600" b="0">
                          <a:solidFill>
                            <a:srgbClr val="1F2A44"/>
                          </a:solidFill>
                          <a:latin typeface="Arial"/>
                          <a:ea typeface="Microsoft YaHei"/>
                        </a:rPr>
                        <a:t>Either party may terminate the agreement.</a:t>
                      </a:r>
                    </a:p>
                  </a:txBody>
                  <a:tcPr anchor="ctr">
                    <a:solidFill>
                      <a:srgbClr val="FFFFFF"/>
                    </a:solidFill>
                  </a:tcPr>
                </a:tc>
                <a:tc>
                  <a:txBody>
                    <a:bodyPr wrap="square"/>
                    <a:lstStyle/>
                    <a:p>
                      <a:r>
                        <a:rPr sz="1600" b="0">
                          <a:solidFill>
                            <a:srgbClr val="FF6B5B"/>
                          </a:solidFill>
                          <a:latin typeface="Arial"/>
                          <a:ea typeface="Microsoft YaHei"/>
                        </a:rPr>
                        <a:t>正式</a:t>
                      </a:r>
                    </a:p>
                  </a:txBody>
                  <a:tcPr anchor="ctr">
                    <a:solidFill>
                      <a:srgbClr val="FFFFFF"/>
                    </a:solidFill>
                  </a:tcPr>
                </a:tc>
              </a:tr>
            </a:tbl>
          </a:graphicData>
        </a:graphic>
      </p:graphicFrame>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60 Signing Contracts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Modal verbs in contracts: </a:t>
            </a:r>
            <a:r>
              <a:rPr sz="1700" b="0">
                <a:solidFill>
                  <a:srgbClr val="1F2A44"/>
                </a:solidFill>
                <a:latin typeface="Arial"/>
                <a:ea typeface="Microsoft YaHei"/>
              </a:rPr>
              <a:t>shall (obligation), may (permission), must (requirement): “The Supplier shall deliver the goods by 1 March.”</a:t>
            </a:r>
          </a:p>
        </p:txBody>
      </p:sp>
      <p:sp>
        <p:nvSpPr>
          <p:cNvPr id="11" name="Rounded Rectangle 10"/>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Passive voice in formal documents: </a:t>
            </a:r>
            <a:r>
              <a:rPr sz="1700" b="0">
                <a:solidFill>
                  <a:srgbClr val="1F2A44"/>
                </a:solidFill>
                <a:latin typeface="Arial"/>
                <a:ea typeface="Microsoft YaHei"/>
              </a:rPr>
              <a:t>“The goods will be delivered…”, “Payment is due within 30 days.”</a:t>
            </a:r>
          </a:p>
        </p:txBody>
      </p:sp>
      <p:sp>
        <p:nvSpPr>
          <p:cNvPr id="14" name="Rounded Rectangle 13"/>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Formal connectors: </a:t>
            </a:r>
            <a:r>
              <a:rPr sz="1700" b="0">
                <a:solidFill>
                  <a:srgbClr val="1F2A44"/>
                </a:solidFill>
                <a:latin typeface="Arial"/>
                <a:ea typeface="Microsoft YaHei"/>
              </a:rPr>
              <a:t>in the event of, provided that, notwithstanding, hereby. Learn to recognise them.</a:t>
            </a:r>
          </a:p>
        </p:txBody>
      </p:sp>
      <p:sp>
        <p:nvSpPr>
          <p:cNvPr id="17" name="Rounded Rectangle 16"/>
          <p:cNvSpPr/>
          <p:nvPr/>
        </p:nvSpPr>
        <p:spPr>
          <a:xfrm>
            <a:off x="548640" y="379475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79475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794757"/>
            <a:ext cx="10728655" cy="441959"/>
          </a:xfrm>
          <a:prstGeom prst="rect">
            <a:avLst/>
          </a:prstGeom>
          <a:noFill/>
        </p:spPr>
        <p:txBody>
          <a:bodyPr wrap="square" anchor="ctr">
            <a:spAutoFit/>
          </a:bodyPr>
          <a:lstStyle/>
          <a:p>
            <a:r>
              <a:rPr sz="1700" b="1">
                <a:solidFill>
                  <a:srgbClr val="FFC857"/>
                </a:solidFill>
                <a:latin typeface="Arial"/>
                <a:ea typeface="Microsoft YaHei"/>
              </a:rPr>
              <a:t>Conditionals with unless: </a:t>
            </a:r>
            <a:r>
              <a:rPr sz="1700" b="0">
                <a:solidFill>
                  <a:srgbClr val="1F2A44"/>
                </a:solidFill>
                <a:latin typeface="Arial"/>
                <a:ea typeface="Microsoft YaHei"/>
              </a:rPr>
              <a:t>“unless otherwise agreed” = if not agreed otherwise.</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60 Signing Contracts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sign the contract in next week.</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will sign the contract next week.</a:t>
            </a:r>
          </a:p>
          <a:p>
            <a:pPr algn="l">
              <a:spcAft>
                <a:spcPts val="200"/>
              </a:spcAft>
            </a:pPr>
            <a:r>
              <a:rPr sz="1200" b="0">
                <a:solidFill>
                  <a:srgbClr val="FFFFFF"/>
                </a:solidFill>
                <a:latin typeface="Arial"/>
                <a:ea typeface="Microsoft YaHei"/>
              </a:rPr>
              <a:t>next week 前无 in</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contract is expired.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contract has expired.</a:t>
            </a:r>
          </a:p>
          <a:p>
            <a:pPr algn="l">
              <a:spcAft>
                <a:spcPts val="200"/>
              </a:spcAft>
            </a:pPr>
            <a:r>
              <a:rPr sz="1200" b="0">
                <a:solidFill>
                  <a:srgbClr val="FFFFFF"/>
                </a:solidFill>
                <a:latin typeface="Arial"/>
                <a:ea typeface="Microsoft YaHei"/>
              </a:rPr>
              <a:t>expire 不及物</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Make a contract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Draw up / sign a contract</a:t>
            </a:r>
          </a:p>
          <a:p>
            <a:pPr algn="l">
              <a:spcAft>
                <a:spcPts val="200"/>
              </a:spcAft>
            </a:pPr>
            <a:r>
              <a:rPr sz="1200" b="0">
                <a:solidFill>
                  <a:srgbClr val="FFFFFF"/>
                </a:solidFill>
                <a:latin typeface="Arial"/>
                <a:ea typeface="Microsoft YaHei"/>
              </a:rPr>
              <a:t>搭配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60 Signing Contracts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break the contract.</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breached the contract. / They broke the contract.</a:t>
            </a:r>
          </a:p>
          <a:p>
            <a:pPr algn="l">
              <a:spcAft>
                <a:spcPts val="200"/>
              </a:spcAft>
            </a:pPr>
            <a:r>
              <a:rPr sz="1200" b="0">
                <a:solidFill>
                  <a:srgbClr val="FFFFFF"/>
                </a:solidFill>
                <a:latin typeface="Arial"/>
                <a:ea typeface="Microsoft YaHei"/>
              </a:rPr>
              <a:t>过去式</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explain me this clause.</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explain this clause to me.</a:t>
            </a:r>
          </a:p>
          <a:p>
            <a:pPr algn="l">
              <a:spcAft>
                <a:spcPts val="200"/>
              </a:spcAft>
            </a:pPr>
            <a:r>
              <a:rPr sz="1200" b="0">
                <a:solidFill>
                  <a:srgbClr val="FFFFFF"/>
                </a:solidFill>
                <a:latin typeface="Arial"/>
                <a:ea typeface="Microsoft YaHei"/>
              </a:rPr>
              <a:t>explain sth to sb</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contract is consist of 20 pages.</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contract consists of 20 pages.</a:t>
            </a:r>
          </a:p>
          <a:p>
            <a:pPr algn="l">
              <a:spcAft>
                <a:spcPts val="200"/>
              </a:spcAft>
            </a:pPr>
            <a:r>
              <a:rPr sz="1200" b="0">
                <a:solidFill>
                  <a:srgbClr val="FFFFFF"/>
                </a:solidFill>
                <a:latin typeface="Arial"/>
                <a:ea typeface="Microsoft YaHei"/>
              </a:rPr>
              <a:t>consist of</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explain sth to sb, expire (intransitive), and consist of (no passive).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60 Signing Contracts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Contract law varies: </a:t>
            </a:r>
            <a:r>
              <a:rPr sz="1700" b="0">
                <a:solidFill>
                  <a:srgbClr val="1F2A44"/>
                </a:solidFill>
                <a:latin typeface="Arial"/>
                <a:ea typeface="Microsoft YaHei"/>
              </a:rPr>
              <a:t>Contracts may be interpreted differently under English law, US law or other systems. Check which law applies.</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Electronic signatures: </a:t>
            </a:r>
            <a:r>
              <a:rPr sz="1700" b="0">
                <a:solidFill>
                  <a:srgbClr val="1F2A44"/>
                </a:solidFill>
                <a:latin typeface="Arial"/>
                <a:ea typeface="Microsoft YaHei"/>
              </a:rPr>
              <a:t>E-signatures are widely accepted, but some documents still need wet ink.</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Relationship vs paper: </a:t>
            </a:r>
            <a:r>
              <a:rPr sz="1700" b="0">
                <a:solidFill>
                  <a:srgbClr val="1F2A44"/>
                </a:solidFill>
                <a:latin typeface="Arial"/>
                <a:ea typeface="Microsoft YaHei"/>
              </a:rPr>
              <a:t>In some cultures, a contract is a starting point rather than a final word. Clarify expectations.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explain sth to sb(不能 explain me);expire 不用被动;consist of 不用被动。合同用语正式,多用被动与 shall / may。签约前一定读小字条款。</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60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60 Signing Contracts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key contract clauses.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for an amendment politely.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recognise formal contract language (shall, may, in the event of).</a:t>
            </a:r>
          </a:p>
        </p:txBody>
      </p:sp>
      <p:sp>
        <p:nvSpPr>
          <p:cNvPr id="20" name="TextBox 19"/>
          <p:cNvSpPr txBox="1"/>
          <p:nvPr/>
        </p:nvSpPr>
        <p:spPr>
          <a:xfrm>
            <a:off x="9539935" y="27035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explain sth to sb, expire and consist of correctly.</a:t>
            </a:r>
          </a:p>
        </p:txBody>
      </p:sp>
      <p:sp>
        <p:nvSpPr>
          <p:cNvPr id="24" name="TextBox 23"/>
          <p:cNvSpPr txBox="1"/>
          <p:nvPr/>
        </p:nvSpPr>
        <p:spPr>
          <a:xfrm>
            <a:off x="9539935" y="36057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60 Signing Contracts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explain sth to sb, intransitive expire, and formal modals (shall / may).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6 · Lesson 61 Comparing Services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158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61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Comparing Services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比较服务</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compare services or suppliers using criteria: price, quality, reliability, support and value, and recommend one.</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61 Comparing Services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8307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choose between two similar services (e.g. banks, internet providers)?</a:t>
            </a:r>
          </a:p>
        </p:txBody>
      </p:sp>
      <p:sp>
        <p:nvSpPr>
          <p:cNvPr id="12" name="Oval 11"/>
          <p:cNvSpPr/>
          <p:nvPr/>
        </p:nvSpPr>
        <p:spPr>
          <a:xfrm>
            <a:off x="548640" y="267004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62432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432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compare first: price or quality?</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changed supplier? Why?</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information do you need to compare options fairly?</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present a comparison to a manager?</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compare A with B / compare A to B 都可;criteria 复数。第 2 题答案可用 “It depends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61 Comparing Services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Compare two suppliers and recommend one.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criteria</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supplier A</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supplier B</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recommendation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In terms of price…   💬 Whereas Supplier A is…, Supplier B is…   💬 On balance, I’d recommend…</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in terms of = 就……而言。whereas = 然而(对比)。on balance = 综合考虑。</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Choosing a Supplier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125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61 Comparing Services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Comparing services is rarely as simple as picking the cheapest. A low price may hide extra charges, slow support or poor reliability. A fair comparison starts with criteria that reflect what matters to your business, such as price, quality, delivery time, flexibility, customer support and financial stability. Give each criterion a weight, score each supplier, and look at the total, but also at the risks behind the numbers. Ask for references from existing clients and, if possible, run a small trial. Be careful to compare like with like: one quote may include installation while another does not. Present your recommendation clearly, with the reasons and the trade-offs. A good supplier decision should be easy to explain to colleagues who were not part of the process.</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61 Comparing Services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isn’t the cheapest option always best?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low price may hide extra charges, slow support or poor reliability.</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can you make the comparison fair?</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Use weighted criteria, check references, run a trial and compare like with like.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should a recommendation include?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Clear reasons and the trade-offs.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Comparing options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61 Comparing Services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比较选项</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criteria</a:t>
            </a:r>
          </a:p>
          <a:p>
            <a:pPr algn="l">
              <a:lnSpc>
                <a:spcPct val="115000"/>
              </a:lnSpc>
              <a:spcAft>
                <a:spcPts val="800"/>
              </a:spcAft>
            </a:pPr>
            <a:r>
              <a:rPr sz="1300" b="0">
                <a:solidFill>
                  <a:srgbClr val="5F677A"/>
                </a:solidFill>
                <a:latin typeface="Arial"/>
                <a:ea typeface="Microsoft YaHei"/>
              </a:rPr>
              <a:t>noun (plural)</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评判标准</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criteria are price and support.”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reliable</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可靠的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service is very reliable.”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competitive</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有竞争力的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prices are competitive.”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flexible</a:t>
            </a:r>
          </a:p>
          <a:p>
            <a:pPr algn="l">
              <a:lnSpc>
                <a:spcPct val="115000"/>
              </a:lnSpc>
              <a:spcAft>
                <a:spcPts val="800"/>
              </a:spcAft>
            </a:pPr>
            <a:r>
              <a:rPr sz="1300" b="0">
                <a:solidFill>
                  <a:srgbClr val="5F677A"/>
                </a:solidFill>
                <a:latin typeface="Arial"/>
                <a:ea typeface="Microsoft YaHei"/>
              </a:rPr>
              <a:t>adjective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灵活的</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“Their terms are more flexible.”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customer support</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客户支持</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“Customer support is available 24/7.”</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value for money</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物有所值</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offers great value for money.”</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Chunk 2: Evaluating and recommending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61 Comparing Services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评估与推荐</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compare favourably with</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比……更有优势</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service compares favourably with theirs.”</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hidden costs</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隐性成本</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“Watch for hidden costs.”</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pros and cons</a:t>
            </a:r>
          </a:p>
          <a:p>
            <a:pPr algn="l">
              <a:lnSpc>
                <a:spcPct val="115000"/>
              </a:lnSpc>
              <a:spcAft>
                <a:spcPts val="800"/>
              </a:spcAft>
            </a:pPr>
            <a:r>
              <a:rPr sz="1300" b="0">
                <a:solidFill>
                  <a:srgbClr val="5F677A"/>
                </a:solidFill>
                <a:latin typeface="Arial"/>
                <a:ea typeface="Microsoft YaHei"/>
              </a:rPr>
              <a:t>noun phrase</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利弊</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weigh up the pros and cons.”</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stack up against</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与……相比</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“How does it stack up against the competitor?”</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outperform</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表现更好</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“Supplier A outperforms B on delivery.”</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on balance</a:t>
            </a:r>
          </a:p>
          <a:p>
            <a:pPr algn="l">
              <a:lnSpc>
                <a:spcPct val="115000"/>
              </a:lnSpc>
              <a:spcAft>
                <a:spcPts val="800"/>
              </a:spcAft>
            </a:pPr>
            <a:r>
              <a:rPr sz="1300" b="0">
                <a:solidFill>
                  <a:srgbClr val="5F677A"/>
                </a:solidFill>
                <a:latin typeface="Arial"/>
                <a:ea typeface="Microsoft YaHei"/>
              </a:rPr>
              <a:t>adverbial phrase</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综合来看</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“On balance, I’d choose A.”</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61 Comparing Services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利弊</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pros and cons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比……更有优势</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compare favourably with</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客户支持</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customer support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物有所值</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value for money</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有竞争力的</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competitive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表现更好</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outperform</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可靠的</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reliable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与……相比</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stack up against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61 Comparing Services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criteria</a:t>
            </a:r>
          </a:p>
        </p:txBody>
      </p:sp>
      <p:sp>
        <p:nvSpPr>
          <p:cNvPr id="10" name="Rounded Rectangle 9"/>
          <p:cNvSpPr/>
          <p:nvPr/>
        </p:nvSpPr>
        <p:spPr>
          <a:xfrm>
            <a:off x="3346704"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reliable</a:t>
            </a:r>
          </a:p>
        </p:txBody>
      </p:sp>
      <p:sp>
        <p:nvSpPr>
          <p:cNvPr id="11" name="Rounded Rectangle 10"/>
          <p:cNvSpPr/>
          <p:nvPr/>
        </p:nvSpPr>
        <p:spPr>
          <a:xfrm>
            <a:off x="4681728" y="987552"/>
            <a:ext cx="1572767"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competitive</a:t>
            </a:r>
          </a:p>
        </p:txBody>
      </p:sp>
      <p:sp>
        <p:nvSpPr>
          <p:cNvPr id="12" name="Rounded Rectangle 11"/>
          <p:cNvSpPr/>
          <p:nvPr/>
        </p:nvSpPr>
        <p:spPr>
          <a:xfrm>
            <a:off x="6345935" y="987552"/>
            <a:ext cx="2011679"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value for money</a:t>
            </a:r>
          </a:p>
        </p:txBody>
      </p:sp>
      <p:sp>
        <p:nvSpPr>
          <p:cNvPr id="13" name="Rounded Rectangle 12"/>
          <p:cNvSpPr/>
          <p:nvPr/>
        </p:nvSpPr>
        <p:spPr>
          <a:xfrm>
            <a:off x="8449054" y="987552"/>
            <a:ext cx="1682495"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hidden costs</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What are the main _______ for choosing a supplier?</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criteria</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Their service is cheap but not very _______.</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reliable</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Their prices are very _______ compared with others.</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competitive</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Supplier B is more expensive, but it offers better _______.</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value for money</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Check the contract for _______ such as set-up fees.</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hidden costs</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Supplier A _______ Supplier B on delivery speed.</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outperforms</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compare with / compare to; compared with (UK usage for similarities and differences), in comparison with. Reliable (not “relyable”), competitive. Cheaper than, more expensive than, as good as, the best of the three. Quote / quotation.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Comparing two suppliers and recommending one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61 Comparing Services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比较两家供应商并推荐</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present a comparison of two cloud-service providers to your manager.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Ivy Sun, IT analyst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Hale, IT manager</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Comparing two suppliers and recommending one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61 Comparing Services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Ivy</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Mr Hale, I’ve compared the two providers against four criteria: price, reliability, support and flexibility.</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Hale</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Start with price.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 terms of price, Provider A is cheaper, at £2,000 a month compared with £2,600 for Provider B.</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reliability?</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Provider B performs better. It has had 99.9% uptime over the last year, whereas Provider A has had two outages.</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Comparing two suppliers and recommending one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61 Comparing Services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important for us. What about support?</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Provider B offers twenty-four-hour support. Provider A is office hours only.</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Are there hidden costs?</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Provider A charges extra for data transfer, which could narrow the price gap.</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on balance?</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Comparing two suppliers and recommending one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61 Comparing Services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recommend Provider B. It’s more expensive, but it’s more reliable and offers better value for money.</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Reasonable. Can we ask B for a trial period?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I’ll ask for a three-month trial.</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Comparing two suppliers and recommending one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61 Comparing Services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compare two options and recommend one.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Analyst. Options: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Ask about price, reliability and hidden costs.</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 terms of · whereas · hidden costs · compared with · on balance · I’d recommend</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Compare on three criteria and recommend with reasons.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Mr Hale prefers the cheaper option. Persuade him with a risk.</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third provider to the comparison in one sentence.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two-sentence recommendation for an email.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61 Comparing Services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matters most when choosing a service?</a:t>
            </a:r>
          </a:p>
          <a:p>
            <a:pPr algn="l">
              <a:lnSpc>
                <a:spcPct val="115000"/>
              </a:lnSpc>
              <a:spcAft>
                <a:spcPts val="800"/>
              </a:spcAft>
            </a:pPr>
            <a:r>
              <a:rPr sz="1400" b="0">
                <a:solidFill>
                  <a:srgbClr val="5F677A"/>
                </a:solidFill>
                <a:latin typeface="Arial"/>
                <a:ea typeface="Microsoft YaHei"/>
              </a:rPr>
              <a:t>💬 “For me, the top priority is…”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the cheapest option ever the best?</a:t>
            </a:r>
          </a:p>
          <a:p>
            <a:pPr algn="l">
              <a:lnSpc>
                <a:spcPct val="115000"/>
              </a:lnSpc>
              <a:spcAft>
                <a:spcPts val="800"/>
              </a:spcAft>
            </a:pPr>
            <a:r>
              <a:rPr sz="1400" b="0">
                <a:solidFill>
                  <a:srgbClr val="5F677A"/>
                </a:solidFill>
                <a:latin typeface="Arial"/>
                <a:ea typeface="Microsoft YaHei"/>
              </a:rPr>
              <a:t>💬 “Sometimes, if… but usually…”</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check if a supplier is reliable?</a:t>
            </a:r>
          </a:p>
          <a:p>
            <a:pPr algn="l">
              <a:lnSpc>
                <a:spcPct val="115000"/>
              </a:lnSpc>
              <a:spcAft>
                <a:spcPts val="800"/>
              </a:spcAft>
            </a:pPr>
            <a:r>
              <a:rPr sz="1400" b="0">
                <a:solidFill>
                  <a:srgbClr val="5F677A"/>
                </a:solidFill>
                <a:latin typeface="Arial"/>
                <a:ea typeface="Microsoft YaHei"/>
              </a:rPr>
              <a:t>💬 “I’d ask for references… / Read reviews…”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Describe a service you changed and why.</a:t>
            </a:r>
          </a:p>
          <a:p>
            <a:pPr algn="l">
              <a:lnSpc>
                <a:spcPct val="115000"/>
              </a:lnSpc>
              <a:spcAft>
                <a:spcPts val="800"/>
              </a:spcAft>
            </a:pPr>
            <a:r>
              <a:rPr sz="1400" b="0">
                <a:solidFill>
                  <a:srgbClr val="5F677A"/>
                </a:solidFill>
                <a:latin typeface="Arial"/>
                <a:ea typeface="Microsoft YaHei"/>
              </a:rPr>
              <a:t>💬 “I switched from… to…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61 Comparing Services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Sometimes, if the service is simple and the risks are low, the cheapest option is perfectly fine. But for anything critical, such as payroll or IT systems, a failure would cost far more than the savings. So I look beyond price to reliability, support and total cost over time. A slightly higher price is often a good investment if it avoids problems.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critical = 关键的。payroll = 薪资发放。total cost = 总成本。”look beyond” = 不仅看。</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61 Comparing Services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69443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A is more better.</a:t>
                      </a:r>
                    </a:p>
                  </a:txBody>
                  <a:tcPr anchor="ctr">
                    <a:solidFill>
                      <a:srgbClr val="FFFFFF"/>
                    </a:solidFill>
                  </a:tcPr>
                </a:tc>
                <a:tc>
                  <a:txBody>
                    <a:bodyPr wrap="square"/>
                    <a:lstStyle/>
                    <a:p>
                      <a:r>
                        <a:rPr sz="1600" b="0">
                          <a:solidFill>
                            <a:srgbClr val="1F2A44"/>
                          </a:solidFill>
                          <a:latin typeface="Arial"/>
                          <a:ea typeface="Microsoft YaHei"/>
                        </a:rPr>
                        <a:t>Provider B is the better choice.</a:t>
                      </a:r>
                    </a:p>
                  </a:txBody>
                  <a:tcPr anchor="ctr">
                    <a:solidFill>
                      <a:srgbClr val="FFFFFF"/>
                    </a:solidFill>
                  </a:tcPr>
                </a:tc>
                <a:tc>
                  <a:txBody>
                    <a:bodyPr wrap="square"/>
                    <a:lstStyle/>
                    <a:p>
                      <a:r>
                        <a:rPr sz="1600" b="0">
                          <a:solidFill>
                            <a:srgbClr val="FF6B5B"/>
                          </a:solidFill>
                          <a:latin typeface="Arial"/>
                          <a:ea typeface="Microsoft YaHei"/>
                        </a:rPr>
                        <a:t>比较级</a:t>
                      </a:r>
                    </a:p>
                  </a:txBody>
                  <a:tcPr anchor="ctr">
                    <a:solidFill>
                      <a:srgbClr val="FFFFFF"/>
                    </a:solidFill>
                  </a:tcPr>
                </a:tc>
              </a:tr>
              <a:tr h="652272">
                <a:tc>
                  <a:txBody>
                    <a:bodyPr wrap="square"/>
                    <a:lstStyle/>
                    <a:p>
                      <a:r>
                        <a:rPr sz="1600" b="1">
                          <a:solidFill>
                            <a:srgbClr val="1F2A44"/>
                          </a:solidFill>
                          <a:latin typeface="Arial"/>
                          <a:ea typeface="Microsoft YaHei"/>
                        </a:rPr>
                        <a:t>A is cheap, but B is good.</a:t>
                      </a:r>
                    </a:p>
                  </a:txBody>
                  <a:tcPr anchor="ctr">
                    <a:solidFill>
                      <a:srgbClr val="FFEFD9"/>
                    </a:solidFill>
                  </a:tcPr>
                </a:tc>
                <a:tc>
                  <a:txBody>
                    <a:bodyPr wrap="square"/>
                    <a:lstStyle/>
                    <a:p>
                      <a:r>
                        <a:rPr sz="1600" b="0">
                          <a:solidFill>
                            <a:srgbClr val="1F2A44"/>
                          </a:solidFill>
                          <a:latin typeface="Arial"/>
                          <a:ea typeface="Microsoft YaHei"/>
                        </a:rPr>
                        <a:t>Provider A is cheaper, whereas B is more reliable.</a:t>
                      </a:r>
                    </a:p>
                  </a:txBody>
                  <a:tcPr anchor="ctr">
                    <a:solidFill>
                      <a:srgbClr val="FFEFD9"/>
                    </a:solidFill>
                  </a:tcPr>
                </a:tc>
                <a:tc>
                  <a:txBody>
                    <a:bodyPr wrap="square"/>
                    <a:lstStyle/>
                    <a:p>
                      <a:r>
                        <a:rPr sz="1600" b="0">
                          <a:solidFill>
                            <a:srgbClr val="FF6B5B"/>
                          </a:solidFill>
                          <a:latin typeface="Arial"/>
                          <a:ea typeface="Microsoft YaHei"/>
                        </a:rPr>
                        <a:t>对比</a:t>
                      </a:r>
                    </a:p>
                  </a:txBody>
                  <a:tcPr anchor="ctr">
                    <a:solidFill>
                      <a:srgbClr val="FFEFD9"/>
                    </a:solidFill>
                  </a:tcPr>
                </a:tc>
              </a:tr>
              <a:tr h="408432">
                <a:tc>
                  <a:txBody>
                    <a:bodyPr wrap="square"/>
                    <a:lstStyle/>
                    <a:p>
                      <a:r>
                        <a:rPr sz="1600" b="1">
                          <a:solidFill>
                            <a:srgbClr val="1F2A44"/>
                          </a:solidFill>
                          <a:latin typeface="Arial"/>
                          <a:ea typeface="Microsoft YaHei"/>
                        </a:rPr>
                        <a:t>A has many problems.</a:t>
                      </a:r>
                    </a:p>
                  </a:txBody>
                  <a:tcPr anchor="ctr">
                    <a:solidFill>
                      <a:srgbClr val="FFFFFF"/>
                    </a:solidFill>
                  </a:tcPr>
                </a:tc>
                <a:tc>
                  <a:txBody>
                    <a:bodyPr wrap="square"/>
                    <a:lstStyle/>
                    <a:p>
                      <a:r>
                        <a:rPr sz="1600" b="0">
                          <a:solidFill>
                            <a:srgbClr val="1F2A44"/>
                          </a:solidFill>
                          <a:latin typeface="Arial"/>
                          <a:ea typeface="Microsoft YaHei"/>
                        </a:rPr>
                        <a:t>A has had two outages this year.</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408432">
                <a:tc>
                  <a:txBody>
                    <a:bodyPr wrap="square"/>
                    <a:lstStyle/>
                    <a:p>
                      <a:r>
                        <a:rPr sz="1600" b="1">
                          <a:solidFill>
                            <a:srgbClr val="1F2A44"/>
                          </a:solidFill>
                          <a:latin typeface="Arial"/>
                          <a:ea typeface="Microsoft YaHei"/>
                        </a:rPr>
                        <a:t>I think we take B.</a:t>
                      </a:r>
                    </a:p>
                  </a:txBody>
                  <a:tcPr anchor="ctr">
                    <a:solidFill>
                      <a:srgbClr val="FFEFD9"/>
                    </a:solidFill>
                  </a:tcPr>
                </a:tc>
                <a:tc>
                  <a:txBody>
                    <a:bodyPr wrap="square"/>
                    <a:lstStyle/>
                    <a:p>
                      <a:r>
                        <a:rPr sz="1600" b="0">
                          <a:solidFill>
                            <a:srgbClr val="1F2A44"/>
                          </a:solidFill>
                          <a:latin typeface="Arial"/>
                          <a:ea typeface="Microsoft YaHei"/>
                        </a:rPr>
                        <a:t>I’d recommend going with B.</a:t>
                      </a:r>
                    </a:p>
                  </a:txBody>
                  <a:tcPr anchor="ctr">
                    <a:solidFill>
                      <a:srgbClr val="FFEFD9"/>
                    </a:solidFill>
                  </a:tcPr>
                </a:tc>
                <a:tc>
                  <a:txBody>
                    <a:bodyPr wrap="square"/>
                    <a:lstStyle/>
                    <a:p>
                      <a:r>
                        <a:rPr sz="1600" b="0">
                          <a:solidFill>
                            <a:srgbClr val="FF6B5B"/>
                          </a:solidFill>
                          <a:latin typeface="Arial"/>
                          <a:ea typeface="Microsoft YaHei"/>
                        </a:rPr>
                        <a:t>地道</a:t>
                      </a:r>
                    </a:p>
                  </a:txBody>
                  <a:tcPr anchor="ctr">
                    <a:solidFill>
                      <a:srgbClr val="FFEFD9"/>
                    </a:solidFill>
                  </a:tcPr>
                </a:tc>
              </a:tr>
              <a:tr h="408432">
                <a:tc>
                  <a:txBody>
                    <a:bodyPr wrap="square"/>
                    <a:lstStyle/>
                    <a:p>
                      <a:r>
                        <a:rPr sz="1600" b="1">
                          <a:solidFill>
                            <a:srgbClr val="1F2A44"/>
                          </a:solidFill>
                          <a:latin typeface="Arial"/>
                          <a:ea typeface="Microsoft YaHei"/>
                        </a:rPr>
                        <a:t>The price is same.</a:t>
                      </a:r>
                    </a:p>
                  </a:txBody>
                  <a:tcPr anchor="ctr">
                    <a:solidFill>
                      <a:srgbClr val="FFFFFF"/>
                    </a:solidFill>
                  </a:tcPr>
                </a:tc>
                <a:tc>
                  <a:txBody>
                    <a:bodyPr wrap="square"/>
                    <a:lstStyle/>
                    <a:p>
                      <a:r>
                        <a:rPr sz="1600" b="0">
                          <a:solidFill>
                            <a:srgbClr val="1F2A44"/>
                          </a:solidFill>
                          <a:latin typeface="Arial"/>
                          <a:ea typeface="Microsoft YaHei"/>
                        </a:rPr>
                        <a:t>The prices are about the same.</a:t>
                      </a:r>
                    </a:p>
                  </a:txBody>
                  <a:tcPr anchor="ctr">
                    <a:solidFill>
                      <a:srgbClr val="FFFFFF"/>
                    </a:solidFill>
                  </a:tcPr>
                </a:tc>
                <a:tc>
                  <a:txBody>
                    <a:bodyPr wrap="square"/>
                    <a:lstStyle/>
                    <a:p>
                      <a:r>
                        <a:rPr sz="1600" b="0">
                          <a:solidFill>
                            <a:srgbClr val="FF6B5B"/>
                          </a:solidFill>
                          <a:latin typeface="Arial"/>
                          <a:ea typeface="Microsoft YaHei"/>
                        </a:rPr>
                        <a:t>复数</a:t>
                      </a:r>
                    </a:p>
                  </a:txBody>
                  <a:tcPr anchor="ctr">
                    <a:solidFill>
                      <a:srgbClr val="FFFFFF"/>
                    </a:solidFill>
                  </a:tcPr>
                </a:tc>
              </a:tr>
            </a:tbl>
          </a:graphicData>
        </a:graphic>
      </p:graphicFrame>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61 Comparing Services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Comparatives: </a:t>
            </a:r>
            <a:r>
              <a:rPr sz="1700" b="0">
                <a:solidFill>
                  <a:srgbClr val="1F2A44"/>
                </a:solidFill>
                <a:latin typeface="Arial"/>
                <a:ea typeface="Microsoft YaHei"/>
              </a:rPr>
              <a:t>one-syllable: cheaper, faster; two+ syllables: more reliable, less flexible.</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Superlatives: </a:t>
            </a:r>
            <a:r>
              <a:rPr sz="1700" b="0">
                <a:solidFill>
                  <a:srgbClr val="1F2A44"/>
                </a:solidFill>
                <a:latin typeface="Arial"/>
                <a:ea typeface="Microsoft YaHei"/>
              </a:rPr>
              <a:t>the cheapest, the most reliable of the three.</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Contrast linkers: </a:t>
            </a:r>
            <a:r>
              <a:rPr sz="1700" b="0">
                <a:solidFill>
                  <a:srgbClr val="1F2A44"/>
                </a:solidFill>
                <a:latin typeface="Arial"/>
                <a:ea typeface="Microsoft YaHei"/>
              </a:rPr>
              <a:t>whereas, while, on the other hand, in contrast.</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Showing small differences: </a:t>
            </a:r>
            <a:r>
              <a:rPr sz="1700" b="0">
                <a:solidFill>
                  <a:srgbClr val="1F2A44"/>
                </a:solidFill>
                <a:latin typeface="Arial"/>
                <a:ea typeface="Microsoft YaHei"/>
              </a:rPr>
              <a:t>slightly, a bit, considerably, far more.</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61 Comparing Services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Provider A is more cheap.</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Provider A is cheaper.</a:t>
            </a:r>
          </a:p>
          <a:p>
            <a:pPr algn="l">
              <a:spcAft>
                <a:spcPts val="200"/>
              </a:spcAft>
            </a:pPr>
            <a:r>
              <a:rPr sz="1200" b="0">
                <a:solidFill>
                  <a:srgbClr val="FFFFFF"/>
                </a:solidFill>
                <a:latin typeface="Arial"/>
                <a:ea typeface="Microsoft YaHei"/>
              </a:rPr>
              <a:t>cheap 单音节</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is the most good option.</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the best option.</a:t>
            </a:r>
          </a:p>
          <a:p>
            <a:pPr algn="l">
              <a:spcAft>
                <a:spcPts val="200"/>
              </a:spcAft>
            </a:pPr>
            <a:r>
              <a:rPr sz="1200" b="0">
                <a:solidFill>
                  <a:srgbClr val="FFFFFF"/>
                </a:solidFill>
                <a:latin typeface="Arial"/>
                <a:ea typeface="Microsoft YaHei"/>
              </a:rPr>
              <a:t>不规则比较级</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This is cheaper that the other one.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This is cheaper than the other one.</a:t>
            </a:r>
          </a:p>
          <a:p>
            <a:pPr algn="l">
              <a:spcAft>
                <a:spcPts val="200"/>
              </a:spcAft>
            </a:pPr>
            <a:r>
              <a:rPr sz="1200" b="0">
                <a:solidFill>
                  <a:srgbClr val="FFFFFF"/>
                </a:solidFill>
                <a:latin typeface="Arial"/>
                <a:ea typeface="Microsoft YaHei"/>
              </a:rPr>
              <a:t>than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61 Comparing Services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price of A is higher than B.</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price of A is higher than that of B. / A costs more than B.</a:t>
            </a:r>
          </a:p>
          <a:p>
            <a:pPr algn="l">
              <a:spcAft>
                <a:spcPts val="200"/>
              </a:spcAft>
            </a:pPr>
            <a:r>
              <a:rPr sz="1200" b="0">
                <a:solidFill>
                  <a:srgbClr val="FFFFFF"/>
                </a:solidFill>
                <a:latin typeface="Arial"/>
                <a:ea typeface="Microsoft YaHei"/>
              </a:rPr>
              <a:t>对比对象一致</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 as good as B.</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 is as good as B.</a:t>
            </a:r>
          </a:p>
          <a:p>
            <a:pPr algn="l">
              <a:spcAft>
                <a:spcPts val="200"/>
              </a:spcAft>
            </a:pPr>
            <a:r>
              <a:rPr sz="1200" b="0">
                <a:solidFill>
                  <a:srgbClr val="FFFFFF"/>
                </a:solidFill>
                <a:latin typeface="Arial"/>
                <a:ea typeface="Microsoft YaHei"/>
              </a:rPr>
              <a:t>缺少系动词</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Compared A with B, A is cheaper.</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Compared with B, A is cheaper.</a:t>
            </a:r>
          </a:p>
          <a:p>
            <a:pPr algn="l">
              <a:spcAft>
                <a:spcPts val="200"/>
              </a:spcAft>
            </a:pPr>
            <a:r>
              <a:rPr sz="1200" b="0">
                <a:solidFill>
                  <a:srgbClr val="FFFFFF"/>
                </a:solidFill>
                <a:latin typeface="Arial"/>
                <a:ea typeface="Microsoft YaHei"/>
              </a:rPr>
              <a:t>分词短语</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comparative forms, parallel comparison (that of), and as… as.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61 Comparing Services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Compare with data: </a:t>
            </a:r>
            <a:r>
              <a:rPr sz="1700" b="0">
                <a:solidFill>
                  <a:srgbClr val="1F2A44"/>
                </a:solidFill>
                <a:latin typeface="Arial"/>
                <a:ea typeface="Microsoft YaHei"/>
              </a:rPr>
              <a:t>Presenting a table or score sheet makes comparisons easier to follow.</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Brands: </a:t>
            </a:r>
            <a:r>
              <a:rPr sz="1700" b="0">
                <a:solidFill>
                  <a:srgbClr val="1F2A44"/>
                </a:solidFill>
                <a:latin typeface="Arial"/>
                <a:ea typeface="Microsoft YaHei"/>
              </a:rPr>
              <a:t>Avoid personal opinions about named competitors in public. Stick to facts.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Transparent process: </a:t>
            </a:r>
            <a:r>
              <a:rPr sz="1700" b="0">
                <a:solidFill>
                  <a:srgbClr val="1F2A44"/>
                </a:solidFill>
                <a:latin typeface="Arial"/>
                <a:ea typeface="Microsoft YaHei"/>
              </a:rPr>
              <a:t>Many organisations have procurement rules requiring multiple quotes.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比较的对象要一致:the price of A is higher than that of B。cheap → cheaper(不是 more cheap);good → better → best。</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61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61 Comparing Services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compare options using clear criteria.</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recommend one with reasons.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comparatives and contrast linkers accurately.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make the compared items parallel (that of).</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61 Comparing Services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comparatives and superlatives, parallel comparisons, and contrast linkers.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6 · Lesson 62 Complaints and Challenges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181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62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Complaints and Challenges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投诉和质疑</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handle complaints and challenges from customers or clients professionally: listen, empathise, investigate, offer solutions and follow up.</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62 Complaints and Challenges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8307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received a complaint at work? How did you handle it?</a:t>
            </a:r>
          </a:p>
        </p:txBody>
      </p:sp>
      <p:sp>
        <p:nvSpPr>
          <p:cNvPr id="12" name="Oval 11"/>
          <p:cNvSpPr/>
          <p:nvPr/>
        </p:nvSpPr>
        <p:spPr>
          <a:xfrm>
            <a:off x="548640" y="267004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62432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432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most common complaint in your industry?</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do when a customer is angry?</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complaints help a business?</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should a complaint be escalated to a manager?</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complaint = 投诉;challenge 在这里指客户的质疑/挑战。第 3 题答案:先倾听,再道歉,再解决。escalate = 升级处理。</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62 Complaints and Challenges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Respond to a customer complaint step by step.</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listen</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empathise</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clarify</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solution</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follow up</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I’m sorry to hear that.   💬 Let me make sure I understand…   💬 What I can do is…</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先共情再解决。What I can do is… 提供可行方案,避免只说 “I can’t”。</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Reading · Turning Complaints into Opportunities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62 Complaints and Challenges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Most unhappy customers never complain; they simply leave. That is why a complaint, though unpleasant, is a gift: it tells you what went wrong and offers a chance to repair the relationship. Handling it well follows a simple sequence. First, listen without interrupting, and let the person finish. Second, show you understand: “I can see why that was frustrating.” Third, apologise sincerely for the experience, even if the cause is not clear yet. Fourth, ask questions to find the facts. Fifth, offer a solution, or explain clearly what you will do and by when. Finally, follow up to check the customer is satisfied. Studies suggest that customers whose problems are solved quickly can become more loyal than those who never had a problem. Whatever the outcome, treat every complaint as feedback.</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62 Complaints and Challenges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is a complaint described as a gift?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 reveals what went wrong and gives a chance to repair the relationship.</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the first step in handling a complaint?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Listen without interrupting.</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follow up?</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To check that the customer is satisfied.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Handling complaints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62 Complaints and Challenges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处理投诉</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complaint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投诉</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received a complaint about the delay.”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refund</a:t>
            </a:r>
          </a:p>
          <a:p>
            <a:pPr algn="l">
              <a:lnSpc>
                <a:spcPct val="115000"/>
              </a:lnSpc>
              <a:spcAft>
                <a:spcPts val="800"/>
              </a:spcAft>
            </a:pPr>
            <a:r>
              <a:rPr sz="1300" b="0">
                <a:solidFill>
                  <a:srgbClr val="5F677A"/>
                </a:solidFill>
                <a:latin typeface="Arial"/>
                <a:ea typeface="Microsoft YaHei"/>
              </a:rPr>
              <a:t>noun /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退款</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issue a full refund.”</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replacement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更换品</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send a replacement.”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compensation</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赔偿</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customer asked for compensation.”</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resolve</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解决</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resolved the issue within a day.”</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escalate</a:t>
            </a:r>
          </a:p>
          <a:p>
            <a:pPr algn="l">
              <a:lnSpc>
                <a:spcPct val="115000"/>
              </a:lnSpc>
              <a:spcAft>
                <a:spcPts val="800"/>
              </a:spcAft>
            </a:pPr>
            <a:r>
              <a:rPr sz="1300" b="0">
                <a:solidFill>
                  <a:srgbClr val="5F677A"/>
                </a:solidFill>
                <a:latin typeface="Arial"/>
                <a:ea typeface="Microsoft YaHei"/>
              </a:rPr>
              <a:t>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上报</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escalate this to my manager.”</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Professional responses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62 Complaints and Challenges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专业回应</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apologise for the inconvenience</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为不便道歉</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apologise for the inconvenience.”</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look into</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调查</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look into it straight away.”</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to the bottom of</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查明原因</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get to the bottom of it.”</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make it right</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弥补</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want to make it right.”</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goodwill gesture</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善意补偿</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offering a voucher as a goodwill gesture.”</a:t>
            </a:r>
          </a:p>
        </p:txBody>
      </p:sp>
      <p:sp>
        <p:nvSpPr>
          <p:cNvPr id="34" name="Rounded Rectangle 33"/>
          <p:cNvSpPr/>
          <p:nvPr/>
        </p:nvSpPr>
        <p:spPr>
          <a:xfrm>
            <a:off x="548640" y="52400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full responsibility</a:t>
            </a:r>
          </a:p>
          <a:p>
            <a:pPr algn="l">
              <a:lnSpc>
                <a:spcPct val="115000"/>
              </a:lnSpc>
              <a:spcAft>
                <a:spcPts val="800"/>
              </a:spcAft>
            </a:pPr>
            <a:r>
              <a:rPr sz="1300" b="0">
                <a:solidFill>
                  <a:srgbClr val="5F677A"/>
                </a:solidFill>
                <a:latin typeface="Arial"/>
                <a:ea typeface="Microsoft YaHei"/>
              </a:rPr>
              <a:t>collocation</a:t>
            </a:r>
          </a:p>
        </p:txBody>
      </p:sp>
      <p:sp>
        <p:nvSpPr>
          <p:cNvPr id="37" name="TextBox 36"/>
          <p:cNvSpPr txBox="1"/>
          <p:nvPr/>
        </p:nvSpPr>
        <p:spPr>
          <a:xfrm>
            <a:off x="4206240" y="52857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全面承担责任</a:t>
            </a:r>
          </a:p>
        </p:txBody>
      </p:sp>
      <p:sp>
        <p:nvSpPr>
          <p:cNvPr id="38" name="TextBox 37"/>
          <p:cNvSpPr txBox="1"/>
          <p:nvPr/>
        </p:nvSpPr>
        <p:spPr>
          <a:xfrm>
            <a:off x="6675120" y="52857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take full responsibility for the mistake.”</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62 Complaints and Challenges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上报</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escalate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调查</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look into</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弥补</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make it right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退款</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refund</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投诉</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complaint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全面承担责任</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full responsibility</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为不便道歉</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apologise for the inconvenience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更换品</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replacement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62 Complaints and Challenges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complaint</a:t>
            </a:r>
          </a:p>
        </p:txBody>
      </p:sp>
      <p:sp>
        <p:nvSpPr>
          <p:cNvPr id="10" name="Rounded Rectangle 9"/>
          <p:cNvSpPr/>
          <p:nvPr/>
        </p:nvSpPr>
        <p:spPr>
          <a:xfrm>
            <a:off x="3456432"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refund</a:t>
            </a:r>
          </a:p>
        </p:txBody>
      </p:sp>
      <p:sp>
        <p:nvSpPr>
          <p:cNvPr id="11" name="Rounded Rectangle 10"/>
          <p:cNvSpPr/>
          <p:nvPr/>
        </p:nvSpPr>
        <p:spPr>
          <a:xfrm>
            <a:off x="4572000" y="987552"/>
            <a:ext cx="1572767"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replacement</a:t>
            </a:r>
          </a:p>
        </p:txBody>
      </p:sp>
      <p:sp>
        <p:nvSpPr>
          <p:cNvPr id="12" name="Rounded Rectangle 11"/>
          <p:cNvSpPr/>
          <p:nvPr/>
        </p:nvSpPr>
        <p:spPr>
          <a:xfrm>
            <a:off x="6236207" y="987552"/>
            <a:ext cx="1682495"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compensation</a:t>
            </a:r>
          </a:p>
        </p:txBody>
      </p:sp>
      <p:sp>
        <p:nvSpPr>
          <p:cNvPr id="13" name="Rounded Rectangle 12"/>
          <p:cNvSpPr/>
          <p:nvPr/>
        </p:nvSpPr>
        <p:spPr>
          <a:xfrm>
            <a:off x="8010142"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escalate</a:t>
            </a:r>
          </a:p>
        </p:txBody>
      </p:sp>
      <p:sp>
        <p:nvSpPr>
          <p:cNvPr id="14" name="Rounded Rectangle 13"/>
          <p:cNvSpPr/>
          <p:nvPr/>
        </p:nvSpPr>
        <p:spPr>
          <a:xfrm>
            <a:off x="9345166" y="987552"/>
            <a:ext cx="212140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goodwill gesture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 received a _______ about the late delivery.</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complaint</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I’m very sorry. We’ll issue a full _______ today.</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refund</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We’ll send a _______ by courier tomorrow.</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replacement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 customer asked for _______ for the damage.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compensation</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If it’s not solved, I’ll _______ it to my manager.</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escalate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We’re offering a voucher as a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goodwill gesture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complaint (noun) vs complain (verb: “complain about”), apologise (UK) / apologize (US), compensation (not “compesation”). Complain about sth, to sb. Apologise to sb for sth. Make / file / lodge a complaint. Refund /ˈriːfʌnd/ (noun), /rɪˈfʌnd/ (verb).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Role Play · Handling an angry customer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62 Complaints and Challenges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处理愤怒的客户</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work in customer service. A customer, Mr Bose, calls because a laptop arrived damaged.</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Leah Yan, customer service agent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Bose, customer</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Handling an angry customer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62 Complaints and Challenges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Leah</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afternoon, this is Leah. How can I help?</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Bose</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extremely unhappy. My laptop arrived with a cracked screen, and no one has contacted me for a week.</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very sorry to hear that, Mr Bose. That must be frustrating. Let me make sure I understand: the laptop arrived damaged, and you’ve been waiting for a response?</a:t>
            </a:r>
          </a:p>
        </p:txBody>
      </p:sp>
      <p:sp>
        <p:nvSpPr>
          <p:cNvPr id="17" name="Rounded Rectangle 16"/>
          <p:cNvSpPr/>
          <p:nvPr/>
        </p:nvSpPr>
        <p:spPr>
          <a:xfrm>
            <a:off x="10911535" y="3941063"/>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5"/>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3"/>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I’ve sent three emails.</a:t>
            </a:r>
          </a:p>
        </p:txBody>
      </p:sp>
      <p:sp>
        <p:nvSpPr>
          <p:cNvPr id="20" name="Rounded Rectangle 19"/>
          <p:cNvSpPr/>
          <p:nvPr/>
        </p:nvSpPr>
        <p:spPr>
          <a:xfrm>
            <a:off x="548640" y="4523231"/>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3"/>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1"/>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apologise for the delay and for the damage. I’ll look into it right away.</a:t>
            </a:r>
          </a:p>
        </p:txBody>
      </p:sp>
      <p:sp>
        <p:nvSpPr>
          <p:cNvPr id="23" name="Rounded Rectangle 22"/>
          <p:cNvSpPr/>
          <p:nvPr/>
        </p:nvSpPr>
        <p:spPr>
          <a:xfrm>
            <a:off x="10911535" y="5394959"/>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833871"/>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394959"/>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are you going to do about it?</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Handling an angry customer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62 Complaints and Challenges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I can do is send a replacement by express delivery, free of charge, and arrange collection of the damaged one.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When would I get it?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Tomorrow before noon. I’ll also add a discount voucher as a goodwill gesture.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All right, that’s fair. But please make sure it actually arrives.</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will personally track it, and I’ll call you tomorrow afternoon to confirm. Is that okay?</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thank you.</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Your Turn · Handling an angry customer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62 Complaints and Challenges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handle a complaint.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Agent. Problem: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Customer. Frustrated. Wants a solution.</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sorry to hear · let me make sure I understand · look into · what I can do is · goodwill gesture · follow up</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Listen, apologise, offer a solution and agree a follow-up.</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customer asks for a refund and you cannot give one. Offer alternatives.</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customer says: “I want to speak to your manager.” Respond.</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short reply to a complaint email.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62 Complaints and Challenges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businesses handle complaints?</a:t>
            </a:r>
          </a:p>
          <a:p>
            <a:pPr algn="l">
              <a:lnSpc>
                <a:spcPct val="115000"/>
              </a:lnSpc>
              <a:spcAft>
                <a:spcPts val="800"/>
              </a:spcAft>
            </a:pPr>
            <a:r>
              <a:rPr sz="1400" b="0">
                <a:solidFill>
                  <a:srgbClr val="5F677A"/>
                </a:solidFill>
                <a:latin typeface="Arial"/>
                <a:ea typeface="Microsoft YaHei"/>
              </a:rPr>
              <a:t>💬 “They should… / It’s important to…”</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complain when you’re unhappy with a service?</a:t>
            </a:r>
          </a:p>
          <a:p>
            <a:pPr algn="l">
              <a:lnSpc>
                <a:spcPct val="115000"/>
              </a:lnSpc>
              <a:spcAft>
                <a:spcPts val="800"/>
              </a:spcAft>
            </a:pPr>
            <a:r>
              <a:rPr sz="1400" b="0">
                <a:solidFill>
                  <a:srgbClr val="5F677A"/>
                </a:solidFill>
                <a:latin typeface="Arial"/>
                <a:ea typeface="Microsoft YaHei"/>
              </a:rPr>
              <a:t>💬 “I usually… / I’d rather…”</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When is compensation appropriate?</a:t>
            </a:r>
          </a:p>
          <a:p>
            <a:pPr algn="l">
              <a:lnSpc>
                <a:spcPct val="115000"/>
              </a:lnSpc>
              <a:spcAft>
                <a:spcPts val="800"/>
              </a:spcAft>
            </a:pPr>
            <a:r>
              <a:rPr sz="1400" b="0">
                <a:solidFill>
                  <a:srgbClr val="5F677A"/>
                </a:solidFill>
                <a:latin typeface="Arial"/>
                <a:ea typeface="Microsoft YaHei"/>
              </a:rPr>
              <a:t>💬 “When the company is clearly at fault…”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stay calm with an angry customer?</a:t>
            </a:r>
          </a:p>
          <a:p>
            <a:pPr algn="l">
              <a:lnSpc>
                <a:spcPct val="115000"/>
              </a:lnSpc>
              <a:spcAft>
                <a:spcPts val="800"/>
              </a:spcAft>
            </a:pPr>
            <a:r>
              <a:rPr sz="1400" b="0">
                <a:solidFill>
                  <a:srgbClr val="5F677A"/>
                </a:solidFill>
                <a:latin typeface="Arial"/>
                <a:ea typeface="Microsoft YaHei"/>
              </a:rPr>
              <a:t>💬 “I try to… / Remembering that…”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62 Complaints and Challenges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To stay calm, I try to remember that the customer is angry about the situation, not about me personally. I listen without interrupting and lower my voice, even when they raise theirs. Taking a breath before I answer helps. And I focus on what I can do rather than on what I can’t. Once the customer feels heard, the tension usually drops.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personally = 针对个人。”lower my voice” = 压低声音。tension = 紧张气氛。”feels heard” = 感到被倾听。</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62 Complaints and Challenges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Sorry.</a:t>
                      </a:r>
                    </a:p>
                  </a:txBody>
                  <a:tcPr anchor="ctr">
                    <a:solidFill>
                      <a:srgbClr val="FFFFFF"/>
                    </a:solidFill>
                  </a:tcPr>
                </a:tc>
                <a:tc>
                  <a:txBody>
                    <a:bodyPr wrap="square"/>
                    <a:lstStyle/>
                    <a:p>
                      <a:r>
                        <a:rPr sz="1600" b="0">
                          <a:solidFill>
                            <a:srgbClr val="1F2A44"/>
                          </a:solidFill>
                          <a:latin typeface="Arial"/>
                          <a:ea typeface="Microsoft YaHei"/>
                        </a:rPr>
                        <a:t>I’m very sorry for the inconvenience.</a:t>
                      </a:r>
                    </a:p>
                  </a:txBody>
                  <a:tcPr anchor="ctr">
                    <a:solidFill>
                      <a:srgbClr val="FFFFFF"/>
                    </a:solidFill>
                  </a:tcPr>
                </a:tc>
                <a:tc>
                  <a:txBody>
                    <a:bodyPr wrap="square"/>
                    <a:lstStyle/>
                    <a:p>
                      <a:r>
                        <a:rPr sz="1600" b="0">
                          <a:solidFill>
                            <a:srgbClr val="FF6B5B"/>
                          </a:solidFill>
                          <a:latin typeface="Arial"/>
                          <a:ea typeface="Microsoft YaHei"/>
                        </a:rPr>
                        <a:t>正式</a:t>
                      </a:r>
                    </a:p>
                  </a:txBody>
                  <a:tcPr anchor="ctr">
                    <a:solidFill>
                      <a:srgbClr val="FFFFFF"/>
                    </a:solidFill>
                  </a:tcPr>
                </a:tc>
              </a:tr>
              <a:tr h="408432">
                <a:tc>
                  <a:txBody>
                    <a:bodyPr wrap="square"/>
                    <a:lstStyle/>
                    <a:p>
                      <a:r>
                        <a:rPr sz="1600" b="1">
                          <a:solidFill>
                            <a:srgbClr val="1F2A44"/>
                          </a:solidFill>
                          <a:latin typeface="Arial"/>
                          <a:ea typeface="Microsoft YaHei"/>
                        </a:rPr>
                        <a:t>I can’t do that.</a:t>
                      </a:r>
                    </a:p>
                  </a:txBody>
                  <a:tcPr anchor="ctr">
                    <a:solidFill>
                      <a:srgbClr val="FFEFD9"/>
                    </a:solidFill>
                  </a:tcPr>
                </a:tc>
                <a:tc>
                  <a:txBody>
                    <a:bodyPr wrap="square"/>
                    <a:lstStyle/>
                    <a:p>
                      <a:r>
                        <a:rPr sz="1600" b="0">
                          <a:solidFill>
                            <a:srgbClr val="1F2A44"/>
                          </a:solidFill>
                          <a:latin typeface="Arial"/>
                          <a:ea typeface="Microsoft YaHei"/>
                        </a:rPr>
                        <a:t>What I can do is…</a:t>
                      </a:r>
                    </a:p>
                  </a:txBody>
                  <a:tcPr anchor="ctr">
                    <a:solidFill>
                      <a:srgbClr val="FFEFD9"/>
                    </a:solidFill>
                  </a:tcPr>
                </a:tc>
                <a:tc>
                  <a:txBody>
                    <a:bodyPr wrap="square"/>
                    <a:lstStyle/>
                    <a:p>
                      <a:r>
                        <a:rPr sz="1600" b="0">
                          <a:solidFill>
                            <a:srgbClr val="FF6B5B"/>
                          </a:solidFill>
                          <a:latin typeface="Arial"/>
                          <a:ea typeface="Microsoft YaHei"/>
                        </a:rPr>
                        <a:t>积极</a:t>
                      </a:r>
                    </a:p>
                  </a:txBody>
                  <a:tcPr anchor="ctr">
                    <a:solidFill>
                      <a:srgbClr val="FFEFD9"/>
                    </a:solidFill>
                  </a:tcPr>
                </a:tc>
              </a:tr>
              <a:tr h="408432">
                <a:tc>
                  <a:txBody>
                    <a:bodyPr wrap="square"/>
                    <a:lstStyle/>
                    <a:p>
                      <a:r>
                        <a:rPr sz="1600" b="1">
                          <a:solidFill>
                            <a:srgbClr val="1F2A44"/>
                          </a:solidFill>
                          <a:latin typeface="Arial"/>
                          <a:ea typeface="Microsoft YaHei"/>
                        </a:rPr>
                        <a:t>It’s not our fault.</a:t>
                      </a:r>
                    </a:p>
                  </a:txBody>
                  <a:tcPr anchor="ctr">
                    <a:solidFill>
                      <a:srgbClr val="FFFFFF"/>
                    </a:solidFill>
                  </a:tcPr>
                </a:tc>
                <a:tc>
                  <a:txBody>
                    <a:bodyPr wrap="square"/>
                    <a:lstStyle/>
                    <a:p>
                      <a:r>
                        <a:rPr sz="1600" b="0">
                          <a:solidFill>
                            <a:srgbClr val="1F2A44"/>
                          </a:solidFill>
                          <a:latin typeface="Arial"/>
                          <a:ea typeface="Microsoft YaHei"/>
                        </a:rPr>
                        <a:t>Let me find out what happened.</a:t>
                      </a:r>
                    </a:p>
                  </a:txBody>
                  <a:tcPr anchor="ctr">
                    <a:solidFill>
                      <a:srgbClr val="FFFFFF"/>
                    </a:solidFill>
                  </a:tcPr>
                </a:tc>
                <a:tc>
                  <a:txBody>
                    <a:bodyPr wrap="square"/>
                    <a:lstStyle/>
                    <a:p>
                      <a:r>
                        <a:rPr sz="1600" b="0">
                          <a:solidFill>
                            <a:srgbClr val="FF6B5B"/>
                          </a:solidFill>
                          <a:latin typeface="Arial"/>
                          <a:ea typeface="Microsoft YaHei"/>
                        </a:rPr>
                        <a:t>避免推责</a:t>
                      </a:r>
                    </a:p>
                  </a:txBody>
                  <a:tcPr anchor="ctr">
                    <a:solidFill>
                      <a:srgbClr val="FFFFFF"/>
                    </a:solidFill>
                  </a:tcPr>
                </a:tc>
              </a:tr>
              <a:tr h="652272">
                <a:tc>
                  <a:txBody>
                    <a:bodyPr wrap="square"/>
                    <a:lstStyle/>
                    <a:p>
                      <a:r>
                        <a:rPr sz="1600" b="1">
                          <a:solidFill>
                            <a:srgbClr val="1F2A44"/>
                          </a:solidFill>
                          <a:latin typeface="Arial"/>
                          <a:ea typeface="Microsoft YaHei"/>
                        </a:rPr>
                        <a:t>Wait a moment.</a:t>
                      </a:r>
                    </a:p>
                  </a:txBody>
                  <a:tcPr anchor="ctr">
                    <a:solidFill>
                      <a:srgbClr val="FFEFD9"/>
                    </a:solidFill>
                  </a:tcPr>
                </a:tc>
                <a:tc>
                  <a:txBody>
                    <a:bodyPr wrap="square"/>
                    <a:lstStyle/>
                    <a:p>
                      <a:r>
                        <a:rPr sz="1600" b="0">
                          <a:solidFill>
                            <a:srgbClr val="1F2A44"/>
                          </a:solidFill>
                          <a:latin typeface="Arial"/>
                          <a:ea typeface="Microsoft YaHei"/>
                        </a:rPr>
                        <a:t>Could you bear with me while I check?</a:t>
                      </a:r>
                    </a:p>
                  </a:txBody>
                  <a:tcPr anchor="ctr">
                    <a:solidFill>
                      <a:srgbClr val="FFEFD9"/>
                    </a:solidFill>
                  </a:tcPr>
                </a:tc>
                <a:tc>
                  <a:txBody>
                    <a:bodyPr wrap="square"/>
                    <a:lstStyle/>
                    <a:p>
                      <a:r>
                        <a:rPr sz="1600" b="0">
                          <a:solidFill>
                            <a:srgbClr val="FF6B5B"/>
                          </a:solidFill>
                          <a:latin typeface="Arial"/>
                          <a:ea typeface="Microsoft YaHei"/>
                        </a:rPr>
                        <a:t>礼貌</a:t>
                      </a:r>
                    </a:p>
                  </a:txBody>
                  <a:tcPr anchor="ctr">
                    <a:solidFill>
                      <a:srgbClr val="FFEFD9"/>
                    </a:solidFill>
                  </a:tcPr>
                </a:tc>
              </a:tr>
              <a:tr h="652272">
                <a:tc>
                  <a:txBody>
                    <a:bodyPr wrap="square"/>
                    <a:lstStyle/>
                    <a:p>
                      <a:r>
                        <a:rPr sz="1600" b="1">
                          <a:solidFill>
                            <a:srgbClr val="1F2A44"/>
                          </a:solidFill>
                          <a:latin typeface="Arial"/>
                          <a:ea typeface="Microsoft YaHei"/>
                        </a:rPr>
                        <a:t>Your problem will be fixed.</a:t>
                      </a:r>
                    </a:p>
                  </a:txBody>
                  <a:tcPr anchor="ctr">
                    <a:solidFill>
                      <a:srgbClr val="FFFFFF"/>
                    </a:solidFill>
                  </a:tcPr>
                </a:tc>
                <a:tc>
                  <a:txBody>
                    <a:bodyPr wrap="square"/>
                    <a:lstStyle/>
                    <a:p>
                      <a:r>
                        <a:rPr sz="1600" b="0">
                          <a:solidFill>
                            <a:srgbClr val="1F2A44"/>
                          </a:solidFill>
                          <a:latin typeface="Arial"/>
                          <a:ea typeface="Microsoft YaHei"/>
                        </a:rPr>
                        <a:t>I’ll make sure this is resolved by tomorrow.</a:t>
                      </a:r>
                    </a:p>
                  </a:txBody>
                  <a:tcPr anchor="ctr">
                    <a:solidFill>
                      <a:srgbClr val="FFFFFF"/>
                    </a:solidFill>
                  </a:tcPr>
                </a:tc>
                <a:tc>
                  <a:txBody>
                    <a:bodyPr wrap="square"/>
                    <a:lstStyle/>
                    <a:p>
                      <a:r>
                        <a:rPr sz="1600" b="0">
                          <a:solidFill>
                            <a:srgbClr val="FF6B5B"/>
                          </a:solidFill>
                          <a:latin typeface="Arial"/>
                          <a:ea typeface="Microsoft YaHei"/>
                        </a:rPr>
                        <a:t>承诺具体</a:t>
                      </a:r>
                    </a:p>
                  </a:txBody>
                  <a:tcPr anchor="ctr">
                    <a:solidFill>
                      <a:srgbClr val="FFFFFF"/>
                    </a:solidFill>
                  </a:tcPr>
                </a:tc>
              </a:tr>
            </a:tbl>
          </a:graphicData>
        </a:graphic>
      </p:graphicFrame>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62 Complaints and Challenges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Apologies: </a:t>
            </a:r>
            <a:r>
              <a:rPr sz="1700" b="0">
                <a:solidFill>
                  <a:srgbClr val="1F2A44"/>
                </a:solidFill>
                <a:latin typeface="Arial"/>
                <a:ea typeface="Microsoft YaHei"/>
              </a:rPr>
              <a:t>I’m sorry to hear that. / I apologise for the inconvenience. / Please accept our apologies.</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Empathy: </a:t>
            </a:r>
            <a:r>
              <a:rPr sz="1700" b="0">
                <a:solidFill>
                  <a:srgbClr val="1F2A44"/>
                </a:solidFill>
                <a:latin typeface="Arial"/>
                <a:ea typeface="Microsoft YaHei"/>
              </a:rPr>
              <a:t>I can see why you’re upset. / I understand how frustrating this is.</a:t>
            </a:r>
          </a:p>
        </p:txBody>
      </p:sp>
      <p:sp>
        <p:nvSpPr>
          <p:cNvPr id="14" name="Rounded Rectangle 13"/>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Promises with will/going to: </a:t>
            </a:r>
            <a:r>
              <a:rPr sz="1700" b="0">
                <a:solidFill>
                  <a:srgbClr val="1F2A44"/>
                </a:solidFill>
                <a:latin typeface="Arial"/>
                <a:ea typeface="Microsoft YaHei"/>
              </a:rPr>
              <a:t>“I’ll look into it.” (decision now) / “We’re going to investigate.” (plan)</a:t>
            </a:r>
          </a:p>
        </p:txBody>
      </p:sp>
      <p:sp>
        <p:nvSpPr>
          <p:cNvPr id="17" name="Rounded Rectangle 16"/>
          <p:cNvSpPr/>
          <p:nvPr/>
        </p:nvSpPr>
        <p:spPr>
          <a:xfrm>
            <a:off x="548640" y="353567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53567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535677"/>
            <a:ext cx="10728655" cy="441959"/>
          </a:xfrm>
          <a:prstGeom prst="rect">
            <a:avLst/>
          </a:prstGeom>
          <a:noFill/>
        </p:spPr>
        <p:txBody>
          <a:bodyPr wrap="square" anchor="ctr">
            <a:spAutoFit/>
          </a:bodyPr>
          <a:lstStyle/>
          <a:p>
            <a:r>
              <a:rPr sz="1700" b="1">
                <a:solidFill>
                  <a:srgbClr val="FFC857"/>
                </a:solidFill>
                <a:latin typeface="Arial"/>
                <a:ea typeface="Microsoft YaHei"/>
              </a:rPr>
              <a:t>Avoid blame: </a:t>
            </a:r>
            <a:r>
              <a:rPr sz="1700" b="0">
                <a:solidFill>
                  <a:srgbClr val="1F2A44"/>
                </a:solidFill>
                <a:latin typeface="Arial"/>
                <a:ea typeface="Microsoft YaHei"/>
              </a:rPr>
              <a:t>use passive or neutral phrases: “A mistake was made in the warehouse.”</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62 Complaints and Challenges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regret for the problem.</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sorry about the problem. / I regret the problem.</a:t>
            </a:r>
          </a:p>
          <a:p>
            <a:pPr algn="l">
              <a:spcAft>
                <a:spcPts val="200"/>
              </a:spcAft>
            </a:pPr>
            <a:r>
              <a:rPr sz="1200" b="0">
                <a:solidFill>
                  <a:srgbClr val="FFFFFF"/>
                </a:solidFill>
                <a:latin typeface="Arial"/>
                <a:ea typeface="Microsoft YaHei"/>
              </a:rPr>
              <a:t>regret 动词</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apologize you.</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apologise to you.</a:t>
            </a:r>
          </a:p>
          <a:p>
            <a:pPr algn="l">
              <a:spcAft>
                <a:spcPts val="200"/>
              </a:spcAft>
            </a:pPr>
            <a:r>
              <a:rPr sz="1200" b="0">
                <a:solidFill>
                  <a:srgbClr val="FFFFFF"/>
                </a:solidFill>
                <a:latin typeface="Arial"/>
                <a:ea typeface="Microsoft YaHei"/>
              </a:rPr>
              <a:t>apologise to</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Sorry to make you wait.</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sorry to have kept you waiting.</a:t>
            </a:r>
          </a:p>
          <a:p>
            <a:pPr algn="l">
              <a:spcAft>
                <a:spcPts val="200"/>
              </a:spcAft>
            </a:pPr>
            <a:r>
              <a:rPr sz="1200" b="0">
                <a:solidFill>
                  <a:srgbClr val="FFFFFF"/>
                </a:solidFill>
                <a:latin typeface="Arial"/>
                <a:ea typeface="Microsoft YaHei"/>
              </a:rPr>
              <a:t>完成时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62 Complaints and Challenges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your fault.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looks like there was a mix-up.</a:t>
            </a:r>
          </a:p>
          <a:p>
            <a:pPr algn="l">
              <a:spcAft>
                <a:spcPts val="200"/>
              </a:spcAft>
            </a:pPr>
            <a:r>
              <a:rPr sz="1200" b="0">
                <a:solidFill>
                  <a:srgbClr val="FFFFFF"/>
                </a:solidFill>
                <a:latin typeface="Arial"/>
                <a:ea typeface="Microsoft YaHei"/>
              </a:rPr>
              <a:t>避免指责</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will send you back the money.</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will refund your money.</a:t>
            </a:r>
          </a:p>
          <a:p>
            <a:pPr algn="l">
              <a:spcAft>
                <a:spcPts val="200"/>
              </a:spcAft>
            </a:pPr>
            <a:r>
              <a:rPr sz="1200" b="0">
                <a:solidFill>
                  <a:srgbClr val="FFFFFF"/>
                </a:solidFill>
                <a:latin typeface="Arial"/>
                <a:ea typeface="Microsoft YaHei"/>
              </a:rPr>
              <a:t>refund</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complained me.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complained to me.</a:t>
            </a:r>
          </a:p>
          <a:p>
            <a:pPr algn="l">
              <a:spcAft>
                <a:spcPts val="200"/>
              </a:spcAft>
            </a:pPr>
            <a:r>
              <a:rPr sz="1200" b="0">
                <a:solidFill>
                  <a:srgbClr val="FFFFFF"/>
                </a:solidFill>
                <a:latin typeface="Arial"/>
                <a:ea typeface="Microsoft YaHei"/>
              </a:rPr>
              <a:t>complain to</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apologise to sb for sth, complain to / about, and refund as a verb.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62 Complaints and Challenges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Complaint culture: </a:t>
            </a:r>
            <a:r>
              <a:rPr sz="1700" b="0">
                <a:solidFill>
                  <a:srgbClr val="1F2A44"/>
                </a:solidFill>
                <a:latin typeface="Arial"/>
                <a:ea typeface="Microsoft YaHei"/>
              </a:rPr>
              <a:t>In the UK, people often apologise a lot. In the US, firm but friendly service is expected.</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Social media: </a:t>
            </a:r>
            <a:r>
              <a:rPr sz="1700" b="0">
                <a:solidFill>
                  <a:srgbClr val="1F2A44"/>
                </a:solidFill>
                <a:latin typeface="Arial"/>
                <a:ea typeface="Microsoft YaHei"/>
              </a:rPr>
              <a:t>Complaints on social media spread fast. Respond politely and move the conversation to private messages.</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1">
                <a:solidFill>
                  <a:srgbClr val="3CC49A"/>
                </a:solidFill>
                <a:latin typeface="Arial"/>
                <a:ea typeface="Microsoft YaHei"/>
              </a:rPr>
              <a:t>Legal rights: </a:t>
            </a:r>
            <a:r>
              <a:rPr sz="1700" b="0">
                <a:solidFill>
                  <a:srgbClr val="1F2A44"/>
                </a:solidFill>
                <a:latin typeface="Arial"/>
                <a:ea typeface="Microsoft YaHei"/>
              </a:rPr>
              <a:t>Consumers have legal rights to refunds in many countries. Check them.</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complain to sb about sth;apologise to sb for sth;refund 作动词不用 for 引进钱。不要说 It’s your fault。</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62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62 Complaints and Challenges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respond to a complaint with empathy.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offer a solution and follow up.</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apologies and empathy phrases.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complain to / about and apologise to / for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62 Complaints and Challenges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complain to / about, apologise to / for, and neutral language.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6 · Lesson 63 Complaining and Apologising</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203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63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Complaining and Apologising</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投诉和道歉</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make a professional complaint yourself and give a sincere apology when you are at fault, in spoken and written form.</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63 Complaining and Apologising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did you last make a complaint? What was it about?</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make a complaint without being rude?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makes an apology sincere?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apologise by email?</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ever wrong to apologise?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complain 与 apologise 是相对的一对。注意 “I apologise” 与 “I’m sorry” 的正式程度不同。</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63 Complaining and Apologising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Make a polite but firm complaint to a supplier, and then give an apology.</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describe the problem</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impact</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 you expect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deadline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I’m writing to complain about…   💬 I would appreciate it if you could…   💬 I look forward to hearing from you.</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I’m writing to complain about… 是投诉邮件的标准开头。I would appreciate it if… 是礼貌而坚定的要求。</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Reading · How to Complain, How to Apologise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63 Complaining and Apologising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 good complaint is clear, calm and specific. State what happened, when it happened and how it affected you. Say what you expect: a refund, a repair or an explanation. Give a reasonable deadline. Avoid anger and personal attacks, because they make people defensive and rarely improve the result. A good apology is just as clear. It names the mistake, takes responsibility, explains briefly what will change and offers to make amends. “I’m sorry you feel that way” is not an apology, because it blames the listener. A better version is: “I’m sorry we missed the deadline. It was our mistake. We have changed the process so that it won’t happen again.” In both cases, tone matters as much as words. Be direct, respectful and constructive.</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63 Complaining and Apologising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should a good complaint include?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What happened, when, the impact, what you expect and a deadline.</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is “I’m sorry you feel that way” not a real apology?</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 blames the listener instead of taking responsibility.</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makes a good apology?</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Naming the mistake, taking responsibility, explaining what will change and offering to make amends.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Complaining formally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63 Complaining and Apologising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正式投诉</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writing to complain</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我写信是想投诉</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writing to complain about the service.”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dissatisfied</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不满意的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are dissatisfied with the quality.”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unacceptable</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不可接受的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“This level of service is unacceptable.”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remedy</a:t>
            </a:r>
          </a:p>
          <a:p>
            <a:pPr algn="l">
              <a:lnSpc>
                <a:spcPct val="115000"/>
              </a:lnSpc>
              <a:spcAft>
                <a:spcPts val="800"/>
              </a:spcAft>
            </a:pPr>
            <a:r>
              <a:rPr sz="1300" b="0">
                <a:solidFill>
                  <a:srgbClr val="5F677A"/>
                </a:solidFill>
                <a:latin typeface="Arial"/>
                <a:ea typeface="Microsoft YaHei"/>
              </a:rPr>
              <a:t>noun /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补救措施</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expect a prompt remedy.”</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deadline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期限</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reply by the deadline.”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formal complaint</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正式投诉</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will make a formal complaint.”</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Apologising sincerely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63 Complaining and Apologising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真诚道歉</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responsibility</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承担责任</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take responsibility for the error.”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make amends</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弥补</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“We’d like to make amends.”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it won’t happen again</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不会再发生</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won’t happen again.”</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owe someone an apology</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欠某人一个道歉</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owe you an apology.”</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fall short of</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未达到(标准)</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fell short of your expectations.”</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put things right</a:t>
            </a:r>
          </a:p>
          <a:p>
            <a:pPr algn="l">
              <a:lnSpc>
                <a:spcPct val="115000"/>
              </a:lnSpc>
              <a:spcAft>
                <a:spcPts val="800"/>
              </a:spcAft>
            </a:pPr>
            <a:r>
              <a:rPr sz="1300" b="0">
                <a:solidFill>
                  <a:srgbClr val="5F677A"/>
                </a:solidFill>
                <a:latin typeface="Arial"/>
                <a:ea typeface="Microsoft YaHei"/>
              </a:rPr>
              <a:t>phrase</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纠正</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put things right immediately.”</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63 Complaining and Apologising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正式投诉</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formal complaint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期限</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deadline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承担责任</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responsibility</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我写信是想投诉</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writing to complain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不会再发生</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 won’t happen again</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欠某人一个道歉</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owe someone an apology</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不可接受的</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unacceptable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弥补</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make amends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63 Complaining and Apologising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682495"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dissatisfied</a:t>
            </a:r>
          </a:p>
        </p:txBody>
      </p:sp>
      <p:sp>
        <p:nvSpPr>
          <p:cNvPr id="10" name="Rounded Rectangle 9"/>
          <p:cNvSpPr/>
          <p:nvPr/>
        </p:nvSpPr>
        <p:spPr>
          <a:xfrm>
            <a:off x="3785615" y="987552"/>
            <a:ext cx="1682495"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unacceptable</a:t>
            </a:r>
          </a:p>
        </p:txBody>
      </p:sp>
      <p:sp>
        <p:nvSpPr>
          <p:cNvPr id="11" name="Rounded Rectangle 10"/>
          <p:cNvSpPr/>
          <p:nvPr/>
        </p:nvSpPr>
        <p:spPr>
          <a:xfrm>
            <a:off x="5559550"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remedy</a:t>
            </a:r>
          </a:p>
        </p:txBody>
      </p:sp>
      <p:sp>
        <p:nvSpPr>
          <p:cNvPr id="12" name="Rounded Rectangle 11"/>
          <p:cNvSpPr/>
          <p:nvPr/>
        </p:nvSpPr>
        <p:spPr>
          <a:xfrm>
            <a:off x="6675118" y="987552"/>
            <a:ext cx="2450591"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take responsibility</a:t>
            </a:r>
          </a:p>
        </p:txBody>
      </p:sp>
      <p:sp>
        <p:nvSpPr>
          <p:cNvPr id="13" name="Rounded Rectangle 12"/>
          <p:cNvSpPr/>
          <p:nvPr/>
        </p:nvSpPr>
        <p:spPr>
          <a:xfrm>
            <a:off x="9217149" y="987552"/>
            <a:ext cx="1572767"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make amends</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 are _______ with the quality of the goods.</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dissatisfied</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Waiting three weeks for a reply is _______.</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unacceptable</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 expect a prompt _______ to this problem.</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remedy</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 want to _______ for the error.</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responsibility</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 would like to _______ for the inconvenience.</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make amends</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Our service _______ of your expectations.</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fell short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dissatisfied (one s in “dis-sat-is-fied”), apologise, unacceptable. Complain about sth; apologise for sth. Express dissatisfaction with. We regret to inform you. Don’t write “sorry for troubling you” in a formal complaint; use “I would appreciate it if…”.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Role Play · Writing a complaint and an apology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63 Complaining and Apologising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书面投诉与回复</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phone a supplier to complain about a missed delivery, and the supplier’s manager apologises.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Gary Tan, buyer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Ms Ford, supplier manager</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Writing a complaint and an apology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63 Complaining and Apologising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Gary</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Ms Ford, I’m calling to complain about our order, which was due on Monday. It still hasn’t arrived.</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Ms Ford</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sorry to hear that. Can you give me the order number?</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48213. This is the second time this quarter. We have a production line waiting for those parts.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and I apologise. That’s unacceptable on our part.</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has cost us two days of production. I’d appreciate it if you could deliver by tomorrow, and explain what happened.</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check with the warehouse. We seem to have shipped to an old address. It was our mistake, and I take full responsibility.</a:t>
            </a:r>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Writing a complaint and an apology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63 Complaining and Apologising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being straightforward. What will you do?</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We’ll send it by express courier today, at our cost, and I’ll give you a ten per cent discount on this order.</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helpful. And how will you prevent it from happening again?</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We’re updating our address records and adding a second check before dispatch.</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Please confirm in writing today.</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will. Again, I’m very sorry, Mr Tan.</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Your Turn · Writing a complaint and an apology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63 Complaining and Apologising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make a complaint and receive an apology.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Buyer. Problem: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Supplier. Apologise, explain and offer a remedy.</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calling to complain · unacceptable · I’d appreciate it if · take responsibility · it won’t happen again · in writing</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Complain firmly, accept the apology and agree a remedy.</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supplier blames the courier.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three-sentence complaint email.</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short apology email after missing a deadline.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63 Complaining and Apologising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complaint effective?</a:t>
            </a:r>
          </a:p>
          <a:p>
            <a:pPr algn="l">
              <a:lnSpc>
                <a:spcPct val="115000"/>
              </a:lnSpc>
              <a:spcAft>
                <a:spcPts val="800"/>
              </a:spcAft>
            </a:pPr>
            <a:r>
              <a:rPr sz="1400" b="0">
                <a:solidFill>
                  <a:srgbClr val="5F677A"/>
                </a:solidFill>
                <a:latin typeface="Arial"/>
                <a:ea typeface="Microsoft YaHei"/>
              </a:rPr>
              <a:t>💬 “It should be… / It helps if you…”</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some apologies sound insincere?</a:t>
            </a:r>
          </a:p>
          <a:p>
            <a:pPr algn="l">
              <a:lnSpc>
                <a:spcPct val="115000"/>
              </a:lnSpc>
              <a:spcAft>
                <a:spcPts val="800"/>
              </a:spcAft>
            </a:pPr>
            <a:r>
              <a:rPr sz="1400" b="0">
                <a:solidFill>
                  <a:srgbClr val="5F677A"/>
                </a:solidFill>
                <a:latin typeface="Arial"/>
                <a:ea typeface="Microsoft YaHei"/>
              </a:rPr>
              <a:t>💬 “They sound insincere when… / Because they often…”</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important to apologise quickly?</a:t>
            </a:r>
          </a:p>
          <a:p>
            <a:pPr algn="l">
              <a:lnSpc>
                <a:spcPct val="115000"/>
              </a:lnSpc>
              <a:spcAft>
                <a:spcPts val="800"/>
              </a:spcAft>
            </a:pPr>
            <a:r>
              <a:rPr sz="1400" b="0">
                <a:solidFill>
                  <a:srgbClr val="5F677A"/>
                </a:solidFill>
                <a:latin typeface="Arial"/>
                <a:ea typeface="Microsoft YaHei"/>
              </a:rPr>
              <a:t>💬 “Yes, because… / Delaying can make things worse.”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a company apologise to customers publicly?</a:t>
            </a:r>
          </a:p>
          <a:p>
            <a:pPr algn="l">
              <a:lnSpc>
                <a:spcPct val="115000"/>
              </a:lnSpc>
              <a:spcAft>
                <a:spcPts val="800"/>
              </a:spcAft>
            </a:pPr>
            <a:r>
              <a:rPr sz="1400" b="0">
                <a:solidFill>
                  <a:srgbClr val="5F677A"/>
                </a:solidFill>
                <a:latin typeface="Arial"/>
                <a:ea typeface="Microsoft YaHei"/>
              </a:rPr>
              <a:t>💬 “It should… / The message must…”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63 Complaining and Apologising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Apologies sound insincere when they are vague, defensive or blame the other person: “I’m sorry if you were offended.” A sincere apology names what went wrong, accepts responsibility without excuses and explains how the problem will be fixed. It also comes quickly, because delay suggests that the person doesn’t care. And of course the actions after the apology must match the words.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vague = 含糊的。defensive = 防御的。”names what went wrong” 指出具体错误。”match the words” = 言行一致。</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63 Complaining and Apologising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66979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I’m unhappy.</a:t>
                      </a:r>
                    </a:p>
                  </a:txBody>
                  <a:tcPr anchor="ctr">
                    <a:solidFill>
                      <a:srgbClr val="FFFFFF"/>
                    </a:solidFill>
                  </a:tcPr>
                </a:tc>
                <a:tc>
                  <a:txBody>
                    <a:bodyPr wrap="square"/>
                    <a:lstStyle/>
                    <a:p>
                      <a:r>
                        <a:rPr sz="1600" b="0">
                          <a:solidFill>
                            <a:srgbClr val="1F2A44"/>
                          </a:solidFill>
                          <a:latin typeface="Arial"/>
                          <a:ea typeface="Microsoft YaHei"/>
                        </a:rPr>
                        <a:t>I’m disappointed with the level of service.</a:t>
                      </a:r>
                    </a:p>
                  </a:txBody>
                  <a:tcPr anchor="ctr">
                    <a:solidFill>
                      <a:srgbClr val="FFFFFF"/>
                    </a:solidFill>
                  </a:tcPr>
                </a:tc>
                <a:tc>
                  <a:txBody>
                    <a:bodyPr wrap="square"/>
                    <a:lstStyle/>
                    <a:p>
                      <a:r>
                        <a:rPr sz="1600" b="0">
                          <a:solidFill>
                            <a:srgbClr val="FF6B5B"/>
                          </a:solidFill>
                          <a:latin typeface="Arial"/>
                          <a:ea typeface="Microsoft YaHei"/>
                        </a:rPr>
                        <a:t>正式</a:t>
                      </a:r>
                    </a:p>
                  </a:txBody>
                  <a:tcPr anchor="ctr">
                    <a:solidFill>
                      <a:srgbClr val="FFFFFF"/>
                    </a:solidFill>
                  </a:tcPr>
                </a:tc>
              </a:tr>
              <a:tr h="652272">
                <a:tc>
                  <a:txBody>
                    <a:bodyPr wrap="square"/>
                    <a:lstStyle/>
                    <a:p>
                      <a:r>
                        <a:rPr sz="1600" b="1">
                          <a:solidFill>
                            <a:srgbClr val="1F2A44"/>
                          </a:solidFill>
                          <a:latin typeface="Arial"/>
                          <a:ea typeface="Microsoft YaHei"/>
                        </a:rPr>
                        <a:t>This is terrible.</a:t>
                      </a:r>
                    </a:p>
                  </a:txBody>
                  <a:tcPr anchor="ctr">
                    <a:solidFill>
                      <a:srgbClr val="FFEFD9"/>
                    </a:solidFill>
                  </a:tcPr>
                </a:tc>
                <a:tc>
                  <a:txBody>
                    <a:bodyPr wrap="square"/>
                    <a:lstStyle/>
                    <a:p>
                      <a:r>
                        <a:rPr sz="1600" b="0">
                          <a:solidFill>
                            <a:srgbClr val="1F2A44"/>
                          </a:solidFill>
                          <a:latin typeface="Arial"/>
                          <a:ea typeface="Microsoft YaHei"/>
                        </a:rPr>
                        <a:t>This is not up to the standard we expected.</a:t>
                      </a:r>
                    </a:p>
                  </a:txBody>
                  <a:tcPr anchor="ctr">
                    <a:solidFill>
                      <a:srgbClr val="FFEFD9"/>
                    </a:solidFill>
                  </a:tcPr>
                </a:tc>
                <a:tc>
                  <a:txBody>
                    <a:bodyPr wrap="square"/>
                    <a:lstStyle/>
                    <a:p>
                      <a:r>
                        <a:rPr sz="1600" b="0">
                          <a:solidFill>
                            <a:srgbClr val="FF6B5B"/>
                          </a:solidFill>
                          <a:latin typeface="Arial"/>
                          <a:ea typeface="Microsoft YaHei"/>
                        </a:rPr>
                        <a:t>委婉</a:t>
                      </a:r>
                    </a:p>
                  </a:txBody>
                  <a:tcPr anchor="ctr">
                    <a:solidFill>
                      <a:srgbClr val="FFEFD9"/>
                    </a:solidFill>
                  </a:tcPr>
                </a:tc>
              </a:tr>
              <a:tr h="652272">
                <a:tc>
                  <a:txBody>
                    <a:bodyPr wrap="square"/>
                    <a:lstStyle/>
                    <a:p>
                      <a:r>
                        <a:rPr sz="1600" b="1">
                          <a:solidFill>
                            <a:srgbClr val="1F2A44"/>
                          </a:solidFill>
                          <a:latin typeface="Arial"/>
                          <a:ea typeface="Microsoft YaHei"/>
                        </a:rPr>
                        <a:t>Sorry, my mistake.</a:t>
                      </a:r>
                    </a:p>
                  </a:txBody>
                  <a:tcPr anchor="ctr">
                    <a:solidFill>
                      <a:srgbClr val="FFFFFF"/>
                    </a:solidFill>
                  </a:tcPr>
                </a:tc>
                <a:tc>
                  <a:txBody>
                    <a:bodyPr wrap="square"/>
                    <a:lstStyle/>
                    <a:p>
                      <a:r>
                        <a:rPr sz="1600" b="0">
                          <a:solidFill>
                            <a:srgbClr val="1F2A44"/>
                          </a:solidFill>
                          <a:latin typeface="Arial"/>
                          <a:ea typeface="Microsoft YaHei"/>
                        </a:rPr>
                        <a:t>I apologise. It was my mistake, and I’ll put it right.</a:t>
                      </a:r>
                    </a:p>
                  </a:txBody>
                  <a:tcPr anchor="ctr">
                    <a:solidFill>
                      <a:srgbClr val="FFFFFF"/>
                    </a:solidFill>
                  </a:tcPr>
                </a:tc>
                <a:tc>
                  <a:txBody>
                    <a:bodyPr wrap="square"/>
                    <a:lstStyle/>
                    <a:p>
                      <a:r>
                        <a:rPr sz="1600" b="0">
                          <a:solidFill>
                            <a:srgbClr val="FF6B5B"/>
                          </a:solidFill>
                          <a:latin typeface="Arial"/>
                          <a:ea typeface="Microsoft YaHei"/>
                        </a:rPr>
                        <a:t>完整</a:t>
                      </a:r>
                    </a:p>
                  </a:txBody>
                  <a:tcPr anchor="ctr">
                    <a:solidFill>
                      <a:srgbClr val="FFFFFF"/>
                    </a:solidFill>
                  </a:tcPr>
                </a:tc>
              </a:tr>
              <a:tr h="652272">
                <a:tc>
                  <a:txBody>
                    <a:bodyPr wrap="square"/>
                    <a:lstStyle/>
                    <a:p>
                      <a:r>
                        <a:rPr sz="1600" b="1">
                          <a:solidFill>
                            <a:srgbClr val="1F2A44"/>
                          </a:solidFill>
                          <a:latin typeface="Arial"/>
                          <a:ea typeface="Microsoft YaHei"/>
                        </a:rPr>
                        <a:t>I’ll do better.</a:t>
                      </a:r>
                    </a:p>
                  </a:txBody>
                  <a:tcPr anchor="ctr">
                    <a:solidFill>
                      <a:srgbClr val="FFEFD9"/>
                    </a:solidFill>
                  </a:tcPr>
                </a:tc>
                <a:tc>
                  <a:txBody>
                    <a:bodyPr wrap="square"/>
                    <a:lstStyle/>
                    <a:p>
                      <a:r>
                        <a:rPr sz="1600" b="0">
                          <a:solidFill>
                            <a:srgbClr val="1F2A44"/>
                          </a:solidFill>
                          <a:latin typeface="Arial"/>
                          <a:ea typeface="Microsoft YaHei"/>
                        </a:rPr>
                        <a:t>I’ll make sure it doesn’t happen again.</a:t>
                      </a:r>
                    </a:p>
                  </a:txBody>
                  <a:tcPr anchor="ctr">
                    <a:solidFill>
                      <a:srgbClr val="FFEFD9"/>
                    </a:solidFill>
                  </a:tcPr>
                </a:tc>
                <a:tc>
                  <a:txBody>
                    <a:bodyPr wrap="square"/>
                    <a:lstStyle/>
                    <a:p>
                      <a:r>
                        <a:rPr sz="1600" b="0">
                          <a:solidFill>
                            <a:srgbClr val="FF6B5B"/>
                          </a:solidFill>
                          <a:latin typeface="Arial"/>
                          <a:ea typeface="Microsoft YaHei"/>
                        </a:rPr>
                        <a:t>承诺</a:t>
                      </a:r>
                    </a:p>
                  </a:txBody>
                  <a:tcPr anchor="ctr">
                    <a:solidFill>
                      <a:srgbClr val="FFEFD9"/>
                    </a:solidFill>
                  </a:tcPr>
                </a:tc>
              </a:tr>
              <a:tr h="652272">
                <a:tc>
                  <a:txBody>
                    <a:bodyPr wrap="square"/>
                    <a:lstStyle/>
                    <a:p>
                      <a:r>
                        <a:rPr sz="1600" b="1">
                          <a:solidFill>
                            <a:srgbClr val="1F2A44"/>
                          </a:solidFill>
                          <a:latin typeface="Arial"/>
                          <a:ea typeface="Microsoft YaHei"/>
                        </a:rPr>
                        <a:t>Please answer.</a:t>
                      </a:r>
                    </a:p>
                  </a:txBody>
                  <a:tcPr anchor="ctr">
                    <a:solidFill>
                      <a:srgbClr val="FFFFFF"/>
                    </a:solidFill>
                  </a:tcPr>
                </a:tc>
                <a:tc>
                  <a:txBody>
                    <a:bodyPr wrap="square"/>
                    <a:lstStyle/>
                    <a:p>
                      <a:r>
                        <a:rPr sz="1600" b="0">
                          <a:solidFill>
                            <a:srgbClr val="1F2A44"/>
                          </a:solidFill>
                          <a:latin typeface="Arial"/>
                          <a:ea typeface="Microsoft YaHei"/>
                        </a:rPr>
                        <a:t>I look forward to your reply by Friday.</a:t>
                      </a:r>
                    </a:p>
                  </a:txBody>
                  <a:tcPr anchor="ctr">
                    <a:solidFill>
                      <a:srgbClr val="FFFFFF"/>
                    </a:solidFill>
                  </a:tcPr>
                </a:tc>
                <a:tc>
                  <a:txBody>
                    <a:bodyPr wrap="square"/>
                    <a:lstStyle/>
                    <a:p>
                      <a:r>
                        <a:rPr sz="1600" b="0">
                          <a:solidFill>
                            <a:srgbClr val="FF6B5B"/>
                          </a:solidFill>
                          <a:latin typeface="Arial"/>
                          <a:ea typeface="Microsoft YaHei"/>
                        </a:rPr>
                        <a:t>礼貌带期限</a:t>
                      </a:r>
                    </a:p>
                  </a:txBody>
                  <a:tcPr anchor="ctr">
                    <a:solidFill>
                      <a:srgbClr val="FFFFFF"/>
                    </a:solidFill>
                  </a:tcPr>
                </a:tc>
              </a:tr>
            </a:tbl>
          </a:graphicData>
        </a:graphic>
      </p:graphicFrame>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63 Complaining and Apologising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Formal complaint email: </a:t>
            </a:r>
            <a:r>
              <a:rPr sz="1700" b="0">
                <a:solidFill>
                  <a:srgbClr val="1F2A44"/>
                </a:solidFill>
                <a:latin typeface="Arial"/>
                <a:ea typeface="Microsoft YaHei"/>
              </a:rPr>
              <a:t>Dear…, I am writing to… / I would be grateful if… / I look forward to hearing from you. / Yours sincerely,</a:t>
            </a:r>
          </a:p>
        </p:txBody>
      </p:sp>
      <p:sp>
        <p:nvSpPr>
          <p:cNvPr id="11" name="Rounded Rectangle 10"/>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Present perfect for ongoing problem: </a:t>
            </a:r>
            <a:r>
              <a:rPr sz="1700" b="0">
                <a:solidFill>
                  <a:srgbClr val="1F2A44"/>
                </a:solidFill>
                <a:latin typeface="Arial"/>
                <a:ea typeface="Microsoft YaHei"/>
              </a:rPr>
              <a:t>“We still haven’t received the order.” / “This has happened twice.”</a:t>
            </a:r>
          </a:p>
        </p:txBody>
      </p:sp>
      <p:sp>
        <p:nvSpPr>
          <p:cNvPr id="14" name="Rounded Rectangle 13"/>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002278"/>
            <a:ext cx="10728655" cy="441959"/>
          </a:xfrm>
          <a:prstGeom prst="rect">
            <a:avLst/>
          </a:prstGeom>
          <a:noFill/>
        </p:spPr>
        <p:txBody>
          <a:bodyPr wrap="square" anchor="ctr">
            <a:spAutoFit/>
          </a:bodyPr>
          <a:lstStyle/>
          <a:p>
            <a:r>
              <a:rPr sz="1700" b="1">
                <a:solidFill>
                  <a:srgbClr val="3CC49A"/>
                </a:solidFill>
                <a:latin typeface="Arial"/>
                <a:ea typeface="Microsoft YaHei"/>
              </a:rPr>
              <a:t>Third conditional (regret): </a:t>
            </a:r>
            <a:r>
              <a:rPr sz="1700" b="0">
                <a:solidFill>
                  <a:srgbClr val="1F2A44"/>
                </a:solidFill>
                <a:latin typeface="Arial"/>
                <a:ea typeface="Microsoft YaHei"/>
              </a:rPr>
              <a:t>“If we had checked the address, this wouldn’t have happened.”</a:t>
            </a:r>
          </a:p>
        </p:txBody>
      </p:sp>
      <p:sp>
        <p:nvSpPr>
          <p:cNvPr id="17" name="Rounded Rectangle 16"/>
          <p:cNvSpPr/>
          <p:nvPr/>
        </p:nvSpPr>
        <p:spPr>
          <a:xfrm>
            <a:off x="548640" y="353567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53567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535677"/>
            <a:ext cx="10728655" cy="441959"/>
          </a:xfrm>
          <a:prstGeom prst="rect">
            <a:avLst/>
          </a:prstGeom>
          <a:noFill/>
        </p:spPr>
        <p:txBody>
          <a:bodyPr wrap="square" anchor="ctr">
            <a:spAutoFit/>
          </a:bodyPr>
          <a:lstStyle/>
          <a:p>
            <a:r>
              <a:rPr sz="1700" b="1">
                <a:solidFill>
                  <a:srgbClr val="FFC857"/>
                </a:solidFill>
                <a:latin typeface="Arial"/>
                <a:ea typeface="Microsoft YaHei"/>
              </a:rPr>
              <a:t>Tone: </a:t>
            </a:r>
            <a:r>
              <a:rPr sz="1700" b="0">
                <a:solidFill>
                  <a:srgbClr val="1F2A44"/>
                </a:solidFill>
                <a:latin typeface="Arial"/>
                <a:ea typeface="Microsoft YaHei"/>
              </a:rPr>
              <a:t>I’m afraid, Unfortunately, I would appreciate it if soften a firm message.</a:t>
            </a:r>
          </a:p>
        </p:txBody>
      </p:sp>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63 Complaining and Apologising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complain you.</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want to complain to you.</a:t>
            </a:r>
          </a:p>
          <a:p>
            <a:pPr algn="l">
              <a:spcAft>
                <a:spcPts val="200"/>
              </a:spcAft>
            </a:pPr>
            <a:r>
              <a:rPr sz="1200" b="0">
                <a:solidFill>
                  <a:srgbClr val="FFFFFF"/>
                </a:solidFill>
                <a:latin typeface="Arial"/>
                <a:ea typeface="Microsoft YaHei"/>
              </a:rPr>
              <a:t>complain to</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sorry for the delay to deliver.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sorry for the delay in delivering.</a:t>
            </a:r>
          </a:p>
          <a:p>
            <a:pPr algn="l">
              <a:spcAft>
                <a:spcPts val="200"/>
              </a:spcAft>
            </a:pPr>
            <a:r>
              <a:rPr sz="1200" b="0">
                <a:solidFill>
                  <a:srgbClr val="FFFFFF"/>
                </a:solidFill>
                <a:latin typeface="Arial"/>
                <a:ea typeface="Microsoft YaHei"/>
              </a:rPr>
              <a:t>delay in -ing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This is not acceptable for me.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This is not acceptable to me.</a:t>
            </a:r>
          </a:p>
          <a:p>
            <a:pPr algn="l">
              <a:spcAft>
                <a:spcPts val="200"/>
              </a:spcAft>
            </a:pPr>
            <a:r>
              <a:rPr sz="1200" b="0">
                <a:solidFill>
                  <a:srgbClr val="FFFFFF"/>
                </a:solidFill>
                <a:latin typeface="Arial"/>
                <a:ea typeface="Microsoft YaHei"/>
              </a:rPr>
              <a:t>acceptable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63 Complaining and Apologising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apologise for the inconvenience caused you.</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apologise for the inconvenience caused to you.</a:t>
            </a:r>
          </a:p>
          <a:p>
            <a:pPr algn="l">
              <a:spcAft>
                <a:spcPts val="200"/>
              </a:spcAft>
            </a:pPr>
            <a:r>
              <a:rPr sz="1200" b="0">
                <a:solidFill>
                  <a:srgbClr val="FFFFFF"/>
                </a:solidFill>
                <a:latin typeface="Arial"/>
                <a:ea typeface="Microsoft YaHei"/>
              </a:rPr>
              <a:t>caused to</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complaining your service.</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am complaining about your service.</a:t>
            </a:r>
          </a:p>
          <a:p>
            <a:pPr algn="l">
              <a:spcAft>
                <a:spcPts val="200"/>
              </a:spcAft>
            </a:pPr>
            <a:r>
              <a:rPr sz="1200" b="0">
                <a:solidFill>
                  <a:srgbClr val="FFFFFF"/>
                </a:solidFill>
                <a:latin typeface="Arial"/>
                <a:ea typeface="Microsoft YaHei"/>
              </a:rPr>
              <a:t>complain about</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will not do it again.</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will not happen again.</a:t>
            </a:r>
          </a:p>
          <a:p>
            <a:pPr algn="l">
              <a:spcAft>
                <a:spcPts val="200"/>
              </a:spcAft>
            </a:pPr>
            <a:r>
              <a:rPr sz="1200" b="0">
                <a:solidFill>
                  <a:srgbClr val="FFFFFF"/>
                </a:solidFill>
                <a:latin typeface="Arial"/>
                <a:ea typeface="Microsoft YaHei"/>
              </a:rPr>
              <a:t>习惯表达</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complain to / about, delay in + -ing, and acceptable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63 Complaining and Apologising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Tone of complaint letters: </a:t>
            </a:r>
            <a:r>
              <a:rPr sz="1700" b="0">
                <a:solidFill>
                  <a:srgbClr val="1F2A44"/>
                </a:solidFill>
                <a:latin typeface="Arial"/>
                <a:ea typeface="Microsoft YaHei"/>
              </a:rPr>
              <a:t>In English, formal letters are polite even when firm. “I would be grateful if…” is stronger than it sounds.</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Apologies and liability: </a:t>
            </a:r>
            <a:r>
              <a:rPr sz="1700" b="0">
                <a:solidFill>
                  <a:srgbClr val="1F2A44"/>
                </a:solidFill>
                <a:latin typeface="Arial"/>
                <a:ea typeface="Microsoft YaHei"/>
              </a:rPr>
              <a:t>Some companies avoid apologising in writing for legal reasons; “We regret…” is a safer form.</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1">
                <a:solidFill>
                  <a:srgbClr val="3CC49A"/>
                </a:solidFill>
                <a:latin typeface="Arial"/>
                <a:ea typeface="Microsoft YaHei"/>
              </a:rPr>
              <a:t>Rewrite: </a:t>
            </a:r>
            <a:r>
              <a:rPr sz="1700" b="0">
                <a:solidFill>
                  <a:srgbClr val="1F2A44"/>
                </a:solidFill>
                <a:latin typeface="Arial"/>
                <a:ea typeface="Microsoft YaHei"/>
              </a:rPr>
              <a:t>If you write angry, wait an hour before sending.</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complain to sb about sth;delay in doing sth;acceptable to sb。投诉邮件要具体、冷静、给期限;道歉要承认错误、说明补救、保证不再发生。</a:t>
            </a:r>
          </a:p>
        </p:txBody>
      </p:sp>
    </p:spTree>
  </p:cSld>
  <p:clrMapOvr>
    <a:masterClrMapping/>
  </p:clrMapOvr>
  <p:transition spd="med">
    <p:fade/>
  </p:transition>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63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63 Complaining and Apologising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make a firm but polite complaint.</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apologise sincerely.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write a short formal complaint or apology.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complain to / about and delay in -ing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 · Lesson 63 Complaining and Apologising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complain to / about, delay in -ing, and formal polite phrases.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22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物有所值</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value for money</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227</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2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228</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2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229</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3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We apologise for the inconvenience caused you.</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We apologise for the inconvenience caused to you.</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折中</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compromise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232</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期限</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deadline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iron out</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We need to iron out a few details.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make amends</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We’d like to make amends.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“签订”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enter into</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“确认”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confirm</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“上报”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escalate</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This is my lowest price. I can’t more.</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That’s my lowest price; I can’t go any lower.</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I want to complain you.</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want to complain to you.</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6</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236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6</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237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6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