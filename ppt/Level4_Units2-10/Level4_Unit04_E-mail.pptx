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4</a:t>
            </a:r>
          </a:p>
          <a:p>
            <a:r>
              <a:t>Unit 4: E-mail — Self-Study Workbook (Lessons 11–16)</a:t>
            </a:r>
          </a:p>
          <a:p/>
          <a:p>
            <a:r>
              <a:t>开场：简单介绍本单元的主题和要完成的 6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11 · An inquiry by email 电子邮件查询</a:t>
            </a:r>
          </a:p>
          <a:p>
            <a:r>
              <a:t>Goal: write a clear, polite inquiry email (subject line, opening, purpose, specific questions, deadline, closing) so that you get a timely and accurate reply.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题讲过去的事,请用过去式(sent, got, received)。第 5 题可以用 “I always need to know…”。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write an inquiry email that gets a quick, useful answer.</a:t>
            </a:r>
          </a:p>
          <a:p>
            <a:r>
              <a:t>Say: the subject line → who you are and why you are writing → your specific questions → your deadline → a polite closing.</a:t>
            </a:r>
          </a:p>
          <a:p>
            <a:r>
              <a:t>Useful starters: “First, I write a clear subject line, for example…” / “Then I explain why I’m writing…” / “I always ask for… and I give a date.”</a:t>
            </a:r>
          </a:p>
          <a:p>
            <a:r>
              <a:t>说明步骤时用 first / then / finally。提问越具体,对方回复越快:不要只问 “Please send information”,要问价格、数量、交货期。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and purpose 开头与目的</a:t>
            </a:r>
          </a:p>
          <a:p>
            <a:r>
              <a:t>领读 → 学员跟读 → 请学员用表达造一个和自己工作相关的句子。</a:t>
            </a:r>
          </a:p>
          <a:p>
            <a:r>
              <a:t>I am writing to enquire about… (phrase) 我写信是想咨询…… — “I am writing to enquire about your LED panel lights.”</a:t>
            </a:r>
          </a:p>
          <a:p>
            <a:r>
              <a:t>I’m writing to ask about… (phrase) 我写信是想询问…… — “I’m writing to ask about your delivery times to Europe.”</a:t>
            </a:r>
          </a:p>
          <a:p>
            <a:r>
              <a:t>★ I came across your website / your name was given to me by… (phrase) 我在贵公司网站看到…… / 某人向我推荐了您 — “I came across your website and was impressed by your range.”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and purpose 开头与目的</a:t>
            </a:r>
          </a:p>
          <a:p>
            <a:r>
              <a:t>领读 → 学员跟读 → 请学员用表达造一个和自己工作相关的句子。</a:t>
            </a:r>
          </a:p>
          <a:p>
            <a:r>
              <a:t>We are currently looking into… (phrase) 我们目前正在考虑/研究…… — “We are currently looking into new packaging suppliers.”</a:t>
            </a:r>
          </a:p>
          <a:p>
            <a:r>
              <a:t>We are a (Shanghai-based) company that… (phrase) 我们是一家(位于上海的)……公司 — “We are a Shanghai-based company that sells kitchen equipment.”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for information 询问信息</a:t>
            </a:r>
          </a:p>
          <a:p>
            <a:r>
              <a:t>领读 → 学员跟读 → 请学员用表达造一个和自己工作相关的句子。</a:t>
            </a:r>
          </a:p>
          <a:p>
            <a:r>
              <a:t>Could you please send me… ? (phrase) 请问您能否寄给我……? — “Could you please send me your latest catalogue and price list?”</a:t>
            </a:r>
          </a:p>
          <a:p>
            <a:r>
              <a:t>★ I’d be grateful if you could… (phrase (formal)) 如果您能……我将不胜感激 — “I’d be grateful if you could confirm the minimum order quantity.”</a:t>
            </a:r>
          </a:p>
          <a:p>
            <a:r>
              <a:t>Could you let me know… ? (phrase) 请告知我…… — “Could you let me know the lead time for 500 units?”</a:t>
            </a:r>
          </a:p>
          <a:p>
            <a:r>
              <a:t>quotation / quote (noun) 报价单 — “Could you send me a quotation for 500 units?”</a:t>
            </a:r>
          </a:p>
          <a:p>
            <a:r>
              <a:t>★ minimum order quantity (MOQ) (noun phrase) 最小起订量 — “What is your minimum order quantity for this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Deadlines and closing 期限与结尾</a:t>
            </a:r>
          </a:p>
          <a:p>
            <a:r>
              <a:t>领读 → 学员跟读 → 请学员用表达造一个和自己工作相关的句子。</a:t>
            </a:r>
          </a:p>
          <a:p>
            <a:r>
              <a:t>I would appreciate a reply by… (phrase) 如能在……前回复,我将不胜感激 — “I would appreciate a reply by Friday, 9 October.”</a:t>
            </a:r>
          </a:p>
          <a:p>
            <a:r>
              <a:t>Please find attached… (phrase) 请查收附件…… — “Please find attached our product requirements.”</a:t>
            </a:r>
          </a:p>
          <a:p>
            <a:r>
              <a:t>★ Thank you in advance for your help. (phrase) 先谢谢您的帮助 — “Thank you in advance for your help.”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Deadlines and closing 期限与结尾</a:t>
            </a:r>
          </a:p>
          <a:p>
            <a:r>
              <a:t>领读 → 学员跟读 → 请学员用表达造一个和自己工作相关的句子。</a:t>
            </a:r>
          </a:p>
          <a:p>
            <a:r>
              <a:t>★ I look forward to hearing from you. (phrase) 期待您的回复 — “I look forward to hearing from you.”</a:t>
            </a:r>
          </a:p>
          <a:p>
            <a:r>
              <a:t>★ Please don’t hesitate to contact me if you need anything further. (phrase) 如需更多信息,请随时与我联系 — “Please don’t hesitate to contact me if you need anything further.”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grateful / enquire / quotation / forward / attached / minimum</a:t>
            </a:r>
          </a:p>
          <a:p>
            <a:r>
              <a:t>1. I am writing to _______ about your range of LED lights. → enquire</a:t>
            </a:r>
          </a:p>
          <a:p>
            <a:r>
              <a:t>2. Could you please send me a _______ for 500 units? → quotation</a:t>
            </a:r>
          </a:p>
          <a:p>
            <a:r>
              <a:t>3. I’d be _______ if you could confirm the delivery time. → grateful</a:t>
            </a:r>
          </a:p>
          <a:p>
            <a:r>
              <a:t>4. What is your _______ order quantity? → minimum</a:t>
            </a:r>
          </a:p>
          <a:p>
            <a:r>
              <a:t>5. Please find _______ our requirements. → attached</a:t>
            </a:r>
          </a:p>
          <a:p>
            <a:r>
              <a:t>6. I look _______ to hearing from you. → forward</a:t>
            </a:r>
          </a:p>
          <a:p>
            <a:r>
              <a:t>Mistake Watch (拼写与标点): enquire / inquire (both correct; “enquire” is more British), quotation (not “quatation”), grateful (not “greatful”), attached (tt). Put a comma after “Dear Ms Lin,” and after “Kind regards,”.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an inquiry email 写一封询价邮件</a:t>
            </a:r>
          </a:p>
          <a:p>
            <a:r>
              <a:t>情景：You work for a Shanghai company that sells kitchen equipment. You want to buy stainless-steel food containers from a new supplier and you need prices, minimum order, and delivery time.</a:t>
            </a:r>
          </a:p>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17 | </a:t>
            </a:r>
          </a:p>
          <a:p>
            <a:r>
              <a:t>Situation | You need information from a new supplier.</a:t>
            </a:r>
          </a:p>
          <a:p>
            <a:r>
              <a:t>Your role | Writer. Your company and what you want to buy: ______________</a:t>
            </a:r>
          </a:p>
          <a:p>
            <a:r>
              <a:t>Reader | Sales manager of the supplier. Name: ______________</a:t>
            </a:r>
          </a:p>
          <a:p>
            <a:r>
              <a:t>Must use (4 or more) | I am writing to enquire about… · Could you please let me know…? · I’d be grateful if you could… · I would appreciate a reply by… · I look forward to hearing from you.</a:t>
            </a:r>
          </a:p>
          <a:p>
            <a:r>
              <a:t>Goal | A clear subject line + 3 specific questions + a deadline. 100–140 words.</a:t>
            </a:r>
          </a:p>
          <a:p>
            <a:r>
              <a:t>My notes | ____________________________________________</a:t>
            </a:r>
          </a:p>
          <a:p>
            <a:r>
              <a:t>Cut your email to 80 words without losing the questions.</a:t>
            </a:r>
          </a:p>
          <a:p>
            <a:r>
              <a:t>Add attached files: “Please find attached our specifications.”</a:t>
            </a:r>
          </a:p>
          <a:p>
            <a:r>
              <a:t>Change the style for someone you already know: “Hi Anna, Hope you’re well. Could you send 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Checking a draft with a colleague 和同事检查邮件草稿</a:t>
            </a:r>
          </a:p>
          <a:p>
            <a:r>
              <a:t>情景：Before you send the inquiry, you ask a colleague to check your draft. He suggests changes.</a:t>
            </a:r>
          </a:p>
          <a:p>
            <a:r>
              <a:t>Role A: Li Wei (writer) Role B: Dan Reed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do you have a minute? Could you take a quick look at my email before I send it?</a:t>
            </a:r>
          </a:p>
          <a:p>
            <a:r>
              <a:t>B (Dan): Sure. Let me see. … It looks good, but the subject line is a bit vague. “Inquiry” on its own doesn’t say much.</a:t>
            </a:r>
          </a:p>
          <a:p>
            <a:r>
              <a:t>A: Good point. How about “Inquiry about stainless-steel food containers (500 units)”?</a:t>
            </a:r>
          </a:p>
          <a:p>
            <a:r>
              <a:t>B: Much better. And I’d ask for the lead time as well.</a:t>
            </a:r>
          </a:p>
          <a:p>
            <a:r>
              <a:t>A: I already did. It’s the third question.</a:t>
            </a:r>
          </a:p>
          <a:p>
            <a:r>
              <a:t>B: Oh yes, sorry. One more thing: you wrote “Please reply me as soon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Right. It sounds a bit demanding, doesn’t it?</a:t>
            </a:r>
          </a:p>
          <a:p>
            <a:r>
              <a:t>B: A little. Try “I would appreciate a reply by Friday.” It gives a clear date and sounds polite.</a:t>
            </a:r>
          </a:p>
          <a:p>
            <a:r>
              <a:t>A: That’s much better. Thanks. Anything else?</a:t>
            </a:r>
          </a:p>
          <a:p>
            <a:r>
              <a:t>B: Just add your phone number below your name. In case she wants to call.</a:t>
            </a:r>
          </a:p>
          <a:p>
            <a:r>
              <a:t>A: Good idea. I’ll send it now.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18 | </a:t>
            </a:r>
          </a:p>
          <a:p>
            <a:r>
              <a:t>Situation | A colleague checks your email draft.</a:t>
            </a:r>
          </a:p>
          <a:p>
            <a:r>
              <a:t>Your role (A) | Writer. Ask for feedback and make changes.</a:t>
            </a:r>
          </a:p>
          <a:p>
            <a:r>
              <a:t>Partner’s role (B) | Colleague. Gives 3 suggestions (subject, tone, missing information).</a:t>
            </a:r>
          </a:p>
          <a:p>
            <a:r>
              <a:t>Must use (3 or more) | Could you take a quick look at…? · It sounds a bit… · How about…? · In case…</a:t>
            </a:r>
          </a:p>
          <a:p>
            <a:r>
              <a:t>Goal | Agree on 3 improvements to the email.</a:t>
            </a:r>
          </a:p>
          <a:p>
            <a:r>
              <a:t>My notes | ____________________________________________</a:t>
            </a:r>
          </a:p>
          <a:p>
            <a:r>
              <a:t>Disagree politely: “I see what you mean, but I’d rather keep it short.”</a:t>
            </a:r>
          </a:p>
          <a:p>
            <a:r>
              <a:t>Check the email for typos: “There’s a typo here. It should be ‘quotation’.”</a:t>
            </a:r>
          </a:p>
          <a:p>
            <a:r>
              <a:t>Suggest a better opening: “How about starting with ‘I came across your website’?”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is better for an inquiry: an email or a phone call? Why? | “I prefer… because I can…” / “An email is better when…”</a:t>
            </a:r>
          </a:p>
          <a:p>
            <a:r>
              <a:t>2. What should a good subject line include? | “A good subject line is short and…” / “It should say what the email is about, for example…”</a:t>
            </a:r>
          </a:p>
          <a:p>
            <a:r>
              <a:t>3. How long should a first email to a new supplier be? | “I think 100 to 150 words is…” / “If it is too long, the reader may…”</a:t>
            </a:r>
          </a:p>
          <a:p>
            <a:r>
              <a:t>4. How often do you check your inbox? Is it a good habit? | “I check my emails every… because…” / “I’m trying to check less often so that I can…”</a:t>
            </a:r>
          </a:p>
          <a:p>
            <a:r>
              <a:t>5. How do you ask for a reply without sounding pushy? | “I give a date and say ‘I would appreciate a reply by…’” / “I explain why I need it, for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good subject line is short and specific. It should tell the reader what the email is about and what you want, for example,”Inquiry about stainless-steel food containers (500 units)“. Many people read their subject lines first and decide in a few seconds whether to open the email. A vague subject, such as”Hello” or “Question”, can easily be ignored.”</a:t>
            </a:r>
          </a:p>
          <a:p>
            <a:r>
              <a:t>“tell the reader what the email is about” 中 what 引导宾语从句,不要写成 “what is the email about”。“easily be ignored”(很容易被忽略)是被动语态。</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inquiry 询价邮件模板</a:t>
            </a:r>
          </a:p>
          <a:p>
            <a:r>
              <a:t>Part | Template</a:t>
            </a:r>
          </a:p>
          <a:p>
            <a:r>
              <a:t>Subject | Inquiry about [product] – [quantity] / Request for quotation: [product]</a:t>
            </a:r>
          </a:p>
          <a:p>
            <a:r>
              <a:t>Opening | Dear Ms / Mr [Surname], (or Dear [First name], if you know them)</a:t>
            </a:r>
          </a:p>
          <a:p>
            <a:r>
              <a:t>Reason | I am writing to enquire about… / I came across your website and…</a:t>
            </a:r>
          </a:p>
          <a:p>
            <a:r>
              <a:t>Who you are | We are a [type of] company based in [city] and we are looking for…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inquiry 询价邮件模板</a:t>
            </a:r>
          </a:p>
          <a:p>
            <a:r>
              <a:t>Part | Template</a:t>
            </a:r>
          </a:p>
          <a:p>
            <a:r>
              <a:t>Questions | Could you please let me know: 1. … 2. … 3. …</a:t>
            </a:r>
          </a:p>
          <a:p>
            <a:r>
              <a:t>Deadline | I would appreciate a reply by [date].</a:t>
            </a:r>
          </a:p>
          <a:p>
            <a:r>
              <a:t>Closing | Thank you in advance for your help. I look forward to hearing from you.</a:t>
            </a:r>
          </a:p>
          <a:p>
            <a:r>
              <a:t>Sign-off | Kind regards, / Best regards, + name, job title, phone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inquiry emails 常用句型库</a:t>
            </a:r>
          </a:p>
          <a:p>
            <a:r>
              <a:t>Function | Formal ★ | Neutral</a:t>
            </a:r>
          </a:p>
          <a:p>
            <a:r>
              <a:t>Start | I am writing to enquire about… | I’m writing to ask about…</a:t>
            </a:r>
          </a:p>
          <a:p>
            <a:r>
              <a:t>Ask | I’d be grateful if you could send… | Could you send me…?</a:t>
            </a:r>
          </a:p>
          <a:p>
            <a:r>
              <a:t>Deadline | I would appreciate a reply by… | Could you reply by…?</a:t>
            </a:r>
          </a:p>
          <a:p>
            <a:r>
              <a:t>Thanks | Thank you in advance for your help. | Thanks for your help.</a:t>
            </a:r>
          </a:p>
          <a:p>
            <a:r>
              <a:t>End | I look forward to hearing from you. | Talk soon. (to a colleague)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inquiry emails 常用句型库</a:t>
            </a:r>
          </a:p>
          <a:p>
            <a:r>
              <a:t>Formal to unknown contacts: Dear Ms Berg + Kind regards. Semi-formal: Hi Anna + Best. Match the style the other person uses.</a:t>
            </a:r>
          </a:p>
          <a:p>
            <a:r>
              <a:t>Number your questions. A numbered list is easy to answer and shows what you need.</a:t>
            </a:r>
          </a:p>
          <a:p>
            <a:r>
              <a:t>One email, one topic. Don’t ask about five different things at once.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inquiry your price.  →  ✓ I’d like to enquire about your prices. / I’d like to make an inquiry.  (inquiry 是名词,inquire 是动词)</a:t>
            </a:r>
          </a:p>
          <a:p>
            <a:r>
              <a:t>✗ Dear Manager Wang,  →  ✓ Dear Mr Wang,  (英语里不用职位当称呼)</a:t>
            </a:r>
          </a:p>
          <a:p>
            <a:r>
              <a:t>✗ Hello Dear Mr Berg,  →  ✓ Dear Mr Berg, / Hello Mr Berg,  (不要把 Hello 和 Dear 叠用)</a:t>
            </a:r>
          </a:p>
          <a:p>
            <a:r>
              <a:t>✗ Please reply me ASAP.  →  ✓ Could you reply by Friday? / I would appreciate a reply by Friday.  (reply 后不直接接人;ASAP 显得催促)</a:t>
            </a:r>
          </a:p>
          <a:p>
            <a:r>
              <a:t>Mistake Watch: Check your email for (1) Dear Ms Berg, (comma), (2) look forward to hearing, (3) a clear deadline with a date.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Waiting for your reply.  →  ✓ I look forward to hearing from you.  (用完整句子,更自然、更礼貌)</a:t>
            </a:r>
          </a:p>
          <a:p>
            <a:r>
              <a:t>✗ Looking forward your reply.  →  ✓ Looking forward to your reply. / I look forward to hearing from you.  (look forward to + 名词/-ing)</a:t>
            </a:r>
          </a:p>
          <a:p>
            <a:r>
              <a:t>✗ Please send me your catalog list price.  →  ✓ Please send me your catalogue and price list.  (用 and 连接并列名词)</a:t>
            </a:r>
          </a:p>
          <a:p>
            <a:r>
              <a:t>✗ I send the file attach.  →  ✓ I’ve attached the file. / Please find the file attached.  (attach 的形式)</a:t>
            </a:r>
          </a:p>
          <a:p>
            <a:r>
              <a:t>Mistake Watch: Check your email for (1) Dear Ms Berg, (comma), (2) look forward to hearing, (3) a clear deadline with a date.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Thanks for your attention.  →  ✓ Thank you for your help. / Thank you for your time.  (for your attention 是演讲结束语,不是邮件结束语)</a:t>
            </a:r>
          </a:p>
          <a:p>
            <a:r>
              <a:t>✗ greatful / quatation  →  ✓ grateful / quotation  (拼写)</a:t>
            </a:r>
          </a:p>
          <a:p>
            <a:r>
              <a:t>Mistake Watch: Check your email for (1) Dear Ms Berg, (comma), (2) look forward to hearing, (3) a clear deadline with a date.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direct but polite. English emails state the purpose in the first two sentences. A long introduction (“I hope you are in good health and everything is going well…”) is unnecessary.</a:t>
            </a:r>
          </a:p>
          <a:p>
            <a:r>
              <a:t>Use titles with surnames: Dear Mr Berg. If the person signs with a first name, you can use it. If you don’t know the gender of the person, use the full name: Dear Alex Morgan.</a:t>
            </a:r>
          </a:p>
          <a:p>
            <a:r>
              <a:t>Avoid “Dear Sir or Madam” if you can find a name. Check the website or LinkedIn.</a:t>
            </a:r>
          </a:p>
          <a:p>
            <a:r>
              <a:t>Don’t write in capital letters. CAPITALS look like shouting. Use bold or a clear date instead.</a:t>
            </a:r>
          </a:p>
          <a:p>
            <a:r>
              <a:t>ASAP can sound pushy. Say “by Friday” or “by the end of the day” instead.</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write a clear, specific subject line.</a:t>
            </a:r>
          </a:p>
          <a:p>
            <a:r>
              <a:t>I can open with I am writing to enquire about… and say who I am.</a:t>
            </a:r>
          </a:p>
          <a:p>
            <a:r>
              <a:t>I can ask 3 specific questions with Could you please let me know…? and I’d be grateful if you could…</a:t>
            </a:r>
          </a:p>
          <a:p>
            <a:r>
              <a:t>I can give a deadline and close with I look forward to hearing from you.</a:t>
            </a:r>
          </a:p>
          <a:p>
            <a:r>
              <a:t>I can use Dear Ms + surname,, look forward to + -ing and correct spelling (quotation, grateful).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subject line, polite requests, look forward to hearing, punctuation and spelling.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12 · A reply to an inquiry 回复查询</a:t>
            </a:r>
          </a:p>
          <a:p>
            <a:r>
              <a:t>Goal: reply to an inquiry email: thank the sender, answer each question clearly, give prices and terms, handle things you cannot offer, and invite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题讲过去的事,请用过去式(had to, wrote, said)。第 3 题可以说 “A reply must include…”。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reply to a customer’s price inquiry.</a:t>
            </a:r>
          </a:p>
          <a:p>
            <a:r>
              <a:t>Say: thanks and a reference to their email → answers to each question → attached files → an offer or next step → a polite closing.</a:t>
            </a:r>
          </a:p>
          <a:p>
            <a:r>
              <a:t>Useful starters: “First, I thank them for…” / “Then I answer their questions one by one.” / “Finally, I suggest the next step, for example…”</a:t>
            </a:r>
          </a:p>
          <a:p>
            <a:r>
              <a:t>回复要逐条回答对方的问题。用 as requested / as you asked 连接。避免只写 “See attached”。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 reply 回复的开头</a:t>
            </a:r>
          </a:p>
          <a:p>
            <a:r>
              <a:t>领读 → 学员跟读 → 请学员用表达造一个和自己工作相关的句子。</a:t>
            </a:r>
          </a:p>
          <a:p>
            <a:r>
              <a:t>Thank you for your email of 3 October. (phrase) 感谢您 10 月 3 日的邮件 — “Thank you for your email of 3 October.”</a:t>
            </a:r>
          </a:p>
          <a:p>
            <a:r>
              <a:t>Thank you for your interest in… (phrase) 感谢您对……感兴趣 — “Thank you for your interest in our products.”</a:t>
            </a:r>
          </a:p>
          <a:p>
            <a:r>
              <a:t>★ In response to your inquiry about… (phrase) 关于您询问的…… — “In response to your inquiry about our containers, please see below.”</a:t>
            </a:r>
          </a:p>
          <a:p>
            <a:r>
              <a:t>As requested, … (phrase) 按您的要求,…… — “As requested, I have attached our latest catalogue.”</a:t>
            </a:r>
          </a:p>
          <a:p>
            <a:r>
              <a:t>I’m pleased to confirm that… (phrase) 我很高兴确认…… — “I’m pleased to confirm that we can supply 500 units.”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Giving prices and terms 报价与条款</a:t>
            </a:r>
          </a:p>
          <a:p>
            <a:r>
              <a:t>领读 → 学员跟读 → 请学员用表达造一个和自己工作相关的句子。</a:t>
            </a:r>
          </a:p>
          <a:p>
            <a:r>
              <a:t>The price is $12 per unit, excluding VAT. (phrase) 单价 12 美元,不含增值税 — “The price is $12 per unit, excluding VAT.”</a:t>
            </a:r>
          </a:p>
          <a:p>
            <a:r>
              <a:t>lead time (noun) 交货期,生产周期 — “The lead time is three to four weeks.”</a:t>
            </a:r>
          </a:p>
          <a:p>
            <a:r>
              <a:t>★ This quotation is valid for 30 days. (phrase) 本报价 30 天内有效 — “This quotation is valid for 30 days.”</a:t>
            </a:r>
          </a:p>
          <a:p>
            <a:r>
              <a:t>★ We can offer a discount of 5% on orders over 1,000 units. (phrase) 订单超过 1000 件可享 5% 折扣 — “We can offer a discount of 5% on orders over 1,000 units.”</a:t>
            </a:r>
          </a:p>
          <a:p>
            <a:r>
              <a:t>payment terms (noun phrase) 付款条款 — “Our payment terms are 30% in advance, and 70% before shipment.”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Saying no and next steps 拒绝与下一步</a:t>
            </a:r>
          </a:p>
          <a:p>
            <a:r>
              <a:t>领读 → 学员跟读 → 请学员用表达造一个和自己工作相关的句子。</a:t>
            </a:r>
          </a:p>
          <a:p>
            <a:r>
              <a:t>Unfortunately, … is currently out of stock. (phrase) 很遗憾,……目前缺货 — “Unfortunately, the 2-litre size is currently out of stock.”</a:t>
            </a:r>
          </a:p>
          <a:p>
            <a:r>
              <a:t>★ I’m afraid we are unable to… , but we could… (phrase) 恐怕我们无法……,但我们可以…… — “I’m afraid we are unable to deliver by 1 November, but we could deliver by 12 November.”</a:t>
            </a:r>
          </a:p>
          <a:p>
            <a:r>
              <a:t>★ I’d be happy to arrange a call. (phrase) 我很乐意安排一次通话 — “I’d be happy to arrange a call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Saying no and next steps 拒绝与下一步</a:t>
            </a:r>
          </a:p>
          <a:p>
            <a:r>
              <a:t>领读 → 学员跟读 → 请学员用表达造一个和自己工作相关的句子。</a:t>
            </a:r>
          </a:p>
          <a:p>
            <a:r>
              <a:t>Please let me know if you need any further information. (phrase) 如需更多信息请告诉我 — “Please let me know if you need any further information.”</a:t>
            </a:r>
          </a:p>
          <a:p>
            <a:r>
              <a:t>★ We would welcome the opportunity to work with you. (phrase (formal)) 我们希望有机会与贵公司合作 — “We would welcome the opportunity to work with you.”</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arrange / As / interest / Unfortunately / excluding / valid</a:t>
            </a:r>
          </a:p>
          <a:p>
            <a:r>
              <a:t>1. Thank you for your _______ in our products. → interest</a:t>
            </a:r>
          </a:p>
          <a:p>
            <a:r>
              <a:t>2. _______ requested, I have attached our catalogue. → As</a:t>
            </a:r>
          </a:p>
          <a:p>
            <a:r>
              <a:t>3. The price is $12 per unit, _______ VAT. → excluding</a:t>
            </a:r>
          </a:p>
          <a:p>
            <a:r>
              <a:t>4. This quotation is _______ for 30 days. → valid</a:t>
            </a:r>
          </a:p>
          <a:p>
            <a:r>
              <a:t>5. _______, the 2-litre size is out of stock. → Unfortunately</a:t>
            </a:r>
          </a:p>
          <a:p>
            <a:r>
              <a:t>6. I’d be happy to _______ a call. → arrange</a:t>
            </a:r>
          </a:p>
          <a:p>
            <a:r>
              <a:t>Mistake Watch (拼写与词汇): unfortunately (not “unfortunatly”), excluding (not “exclude” after a comma), quotation, discount (not “descount”). Say “valid for 30 days” (not “in 30 days” for validity).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Replying with a quotation 回复并报价</a:t>
            </a:r>
          </a:p>
          <a:p>
            <a:r>
              <a:t>情景：You are Anna Berg at Nordic Steel. Reply to Li Wei’s inquiry from Lesson 11.</a:t>
            </a:r>
          </a:p>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19 | </a:t>
            </a:r>
          </a:p>
          <a:p>
            <a:r>
              <a:t>Situation | You reply to a customer’s inquiry with prices and terms.</a:t>
            </a:r>
          </a:p>
          <a:p>
            <a:r>
              <a:t>Your role | Writer (supplier). Your product and prices: ______________</a:t>
            </a:r>
          </a:p>
          <a:p>
            <a:r>
              <a:t>Reader | Buyer. Asked 3 questions about price, minimum order and delivery.</a:t>
            </a:r>
          </a:p>
          <a:p>
            <a:r>
              <a:t>Must use (4 or more) | Thank you for your email of… · As requested, … · valid for… · Unfortunately, … · I’d be happy to arrange a call.</a:t>
            </a:r>
          </a:p>
          <a:p>
            <a:r>
              <a:t>Goal | Answer all questions, mention one problem and a solution, and suggest the next step. 120–160 words.</a:t>
            </a:r>
          </a:p>
          <a:p>
            <a:r>
              <a:t>My notes | ____________________________________________</a:t>
            </a:r>
          </a:p>
          <a:p>
            <a:r>
              <a:t>Offer a discount to win the order: “We can offer a discount of 5% on orders over 1,000 units.”</a:t>
            </a:r>
          </a:p>
          <a:p>
            <a:r>
              <a:t>Your price is higher than the competitor’s. Explain the value: “Our containers last longer and come with a two-year guarantee.”</a:t>
            </a:r>
          </a:p>
          <a:p>
            <a:r>
              <a:t>Write the reply in a more informal, friendly style for a repeat customer.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Phoning to discuss the quotation 打电话讨论报价</a:t>
            </a:r>
          </a:p>
          <a:p>
            <a:r>
              <a:t>情景：After the email, Li Wei calls Anna to ask about the price and delivery date.</a:t>
            </a:r>
          </a:p>
          <a:p>
            <a:r>
              <a:t>Role A: Anna Berg, supplier Role B: Li Wei, buyer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(Anna): Nordic Steel, Anna Berg speaking.</a:t>
            </a:r>
          </a:p>
          <a:p>
            <a:r>
              <a:t>B (Li Wei): Hello, Anna. It’s Li Wei from Orion Kitchen. Thank you for your quotation. I have a couple of questions.</a:t>
            </a:r>
          </a:p>
          <a:p>
            <a:r>
              <a:t>A: Of course. How can I help?</a:t>
            </a:r>
          </a:p>
          <a:p>
            <a:r>
              <a:t>B: The price for 500 units is a little higher than we expected. Is there any room for negotiation?</a:t>
            </a:r>
          </a:p>
          <a:p>
            <a:r>
              <a:t>A: I understand. Could you tell me what price you had in mind?</a:t>
            </a:r>
          </a:p>
          <a:p>
            <a:r>
              <a:t>B: We were hoping for something nearer $11.50 per unit.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afraid I can’t go that low at 500 units, but I could offer $11.80 if you order 800 units.</a:t>
            </a:r>
          </a:p>
          <a:p>
            <a:r>
              <a:t>B: That’s interesting. Let me check with my manager and get back to you by Friday.</a:t>
            </a:r>
          </a:p>
          <a:p>
            <a:r>
              <a:t>A: Of course. I’ll send you the revised quotation by email so you have everything in writing.</a:t>
            </a:r>
          </a:p>
          <a:p>
            <a:r>
              <a:t>B: Perfect. And is the delivery time still four weeks?</a:t>
            </a:r>
          </a:p>
          <a:p>
            <a:r>
              <a:t>A: Yes, four weeks from payment. I’ll put that in the email too.</a:t>
            </a:r>
          </a:p>
          <a:p>
            <a:r>
              <a:t>B: Great. Thank you for your help, Anna.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20 | </a:t>
            </a:r>
          </a:p>
          <a:p>
            <a:r>
              <a:t>Situation | A customer calls about a quotation you sent by email.</a:t>
            </a:r>
          </a:p>
          <a:p>
            <a:r>
              <a:t>Your role (A) | Supplier. Explain the price and offer a deal.</a:t>
            </a:r>
          </a:p>
          <a:p>
            <a:r>
              <a:t>Partner’s role (B) | Buyer. Wants a better price and a clear delivery date.</a:t>
            </a:r>
          </a:p>
          <a:p>
            <a:r>
              <a:t>Must use (3 or more) | Is there any room for…? · I’m afraid I can’t… but I could… · get back to you · in writing</a:t>
            </a:r>
          </a:p>
          <a:p>
            <a:r>
              <a:t>Goal | Agree on the next step and say you will confirm by email.</a:t>
            </a:r>
          </a:p>
          <a:p>
            <a:r>
              <a:t>My notes | ____________________________________________</a:t>
            </a:r>
          </a:p>
          <a:p>
            <a:r>
              <a:t>The buyer wants a lower price and a shorter lead time. Choose one: “I can do one of those, but not both.”</a:t>
            </a:r>
          </a:p>
          <a:p>
            <a:r>
              <a:t>Summarize at the end: “So, to confirm, 800 units at $11.80, delivery in four weeks.”</a:t>
            </a:r>
          </a:p>
          <a:p>
            <a:r>
              <a:t>Ask for the buyer’s decision by a date: “Could you let me know by next Friday?”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do you check before you send a reply to a customer? | “I always check…” / “Before I click Send, I read it again to make sure…”</a:t>
            </a:r>
          </a:p>
          <a:p>
            <a:r>
              <a:t>2. What do you do when you do not have the information the customer wants? | “I tell them honestly that… and I say when I will get back to them.” / “I ask a colleague who…”</a:t>
            </a:r>
          </a:p>
          <a:p>
            <a:r>
              <a:t>3. How do you say “no” in an email without losing the customer? | “I start with a thank-you, then explain…” / “I offer an alternative such as…”</a:t>
            </a:r>
          </a:p>
          <a:p>
            <a:r>
              <a:t>4. Should you reply to every inquiry, even if you cannot help? Why? | “Yes, because it shows…” / “Even a short reply is better than silence because…”</a:t>
            </a:r>
          </a:p>
          <a:p>
            <a:r>
              <a:t>5. How fast should you reply to a customer email? | “Within… hours, ideally.” / “If I need more time, I send a quick message saying…”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start by thanking the customer, so they know I appreciate their interest. Then I explain clearly what I can’t do, and why, without too much detail. The most important part is the alternative. For example,”I’m afraid we can’t deliver by 1 November, but we could deliver by 12 November.” Then the customer can still say yes. I always end with an offer to help, such as “I’d be happy to arrange a call.””</a:t>
            </a:r>
          </a:p>
          <a:p>
            <a:r>
              <a:t>“so they know…”(以便他们知道……)表示目的。“without too much detail”(不过多说明)用 without + 名词。“The most important part is the alternative” 把重点放到解决办法上,是好用的写作思路。</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reply to an inquiry 回复询价邮件模板</a:t>
            </a:r>
          </a:p>
          <a:p>
            <a:r>
              <a:t>Part | Template</a:t>
            </a:r>
          </a:p>
          <a:p>
            <a:r>
              <a:t>Subject | RE: [Original subject] (keep it, so the thread stays together)</a:t>
            </a:r>
          </a:p>
          <a:p>
            <a:r>
              <a:t>Opening | Dear Mr / Ms [Surname],</a:t>
            </a:r>
          </a:p>
          <a:p>
            <a:r>
              <a:t>Thanks | Thank you for your email of [date] and for your interest in [company / product].</a:t>
            </a:r>
          </a:p>
          <a:p>
            <a:r>
              <a:t>Answers | I am pleased to answer your questions below. 1. Price: … 2. Minimum order: … 3. Lead time: …</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reply to an inquiry 回复询价邮件模板</a:t>
            </a:r>
          </a:p>
          <a:p>
            <a:r>
              <a:t>Part | Template</a:t>
            </a:r>
          </a:p>
          <a:p>
            <a:r>
              <a:t>Attachments | As requested, I have attached our [catalogue / price list].</a:t>
            </a:r>
          </a:p>
          <a:p>
            <a:r>
              <a:t>Problem + alternative | Unfortunately, … is out of stock, but we could offer…</a:t>
            </a:r>
          </a:p>
          <a:p>
            <a:r>
              <a:t>Next step | I’d be happy to arrange a call. / Please let me know if you would like to go ahead.</a:t>
            </a:r>
          </a:p>
          <a:p>
            <a:r>
              <a:t>Closing | Kind regards, + name, job title, company, phone</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reply emails 常用句型库</a:t>
            </a:r>
          </a:p>
          <a:p>
            <a:r>
              <a:t>Function | Say this</a:t>
            </a:r>
          </a:p>
          <a:p>
            <a:r>
              <a:t>Thank | Thank you for contacting us. / Thank you for your inquiry about…</a:t>
            </a:r>
          </a:p>
          <a:p>
            <a:r>
              <a:t>Attach | Please find attached… / I have attached…</a:t>
            </a:r>
          </a:p>
          <a:p>
            <a:r>
              <a:t>Price | Our price is… per unit, excluding / including VAT and shipping.</a:t>
            </a:r>
          </a:p>
          <a:p>
            <a:r>
              <a:t>Time | The lead time is about four weeks. / We can ship within ten working days.</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reply emails 常用句型库</a:t>
            </a:r>
          </a:p>
          <a:p>
            <a:r>
              <a:t>Function | Say this</a:t>
            </a:r>
          </a:p>
          <a:p>
            <a:r>
              <a:t>Limit | I’m afraid the minimum order is… / This offer is valid until… ★</a:t>
            </a:r>
          </a:p>
          <a:p>
            <a:r>
              <a:t>Alternative | What I could suggest is… ★ / Would an alternative work for you?</a:t>
            </a:r>
          </a:p>
          <a:p>
            <a:r>
              <a:t>Next step | If you would like to go ahead, please… ★ / Shall I send a pro forma invoice?</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attached the catalogue in the email.  →  ✓ I have attached the catalogue. / Please find the catalogue attached.  (不需要 in the email)</a:t>
            </a:r>
          </a:p>
          <a:p>
            <a:r>
              <a:t>✗ The price is 12 dollars per one.  →  ✓ The price is $12 per unit.  (per unit / each)</a:t>
            </a:r>
          </a:p>
          <a:p>
            <a:r>
              <a:t>✗ The price include VAT.  →  ✓ The price includes VAT. / The price is inclusive of VAT.  (第三人称单数 -s)</a:t>
            </a:r>
          </a:p>
          <a:p>
            <a:r>
              <a:t>Mistake Watch: Reply to every question in the same order as the inquiry. Use the same numbers (1, 2, 3). Check: includes (-s), valid for, deliver (verb) / delivery (noun).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cannot to give you a discount.  →  ✓ We cannot give you a discount. / I’m afraid we can’t offer a discount at this quantity.  (cannot 后不加 to;委婉一点)</a:t>
            </a:r>
          </a:p>
          <a:p>
            <a:r>
              <a:t>✗ This quotation is effective in 30 days.  →  ✓ This quotation is valid for 30 days.  (valid for + 时间)</a:t>
            </a:r>
          </a:p>
          <a:p>
            <a:r>
              <a:t>✗ We will delivery in four weeks.  →  ✓ We will deliver in four weeks. / The delivery will take four weeks.  (动词 deliver,名词 delivery)</a:t>
            </a:r>
          </a:p>
          <a:p>
            <a:r>
              <a:t>Mistake Watch: Reply to every question in the same order as the inquiry. Use the same numbers (1, 2, 3). Check: includes (-s), valid for, deliver (verb) / delivery (noun).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Sorry, we don’t have the 2-litre size.  →  ✓ Unfortunately, the 2-litre size is out of stock.  (商务邮件里用 Unfortunately)</a:t>
            </a:r>
          </a:p>
          <a:p>
            <a:r>
              <a:t>✗ Hope to cooperate with you.  →  ✓ We look forward to working with you. / We would welcome the opportunity to work with you.  (完整句子)</a:t>
            </a:r>
          </a:p>
          <a:p>
            <a:r>
              <a:t>✗ disscount / unfortunatly  →  ✓ discount / unfortunately  (拼写)</a:t>
            </a:r>
          </a:p>
          <a:p>
            <a:r>
              <a:t>Mistake Watch: Reply to every question in the same order as the inquiry. Use the same numbers (1, 2, 3). Check: includes (-s), valid for, deliver (verb) / delivery (noun).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Reply within 24 hours (one working day) in most Western companies, even if only to say “I’ll get back to you by Friday.”</a:t>
            </a:r>
          </a:p>
          <a:p>
            <a:r>
              <a:t>Be specific with numbers: currency ($, €, RMB), unit, VAT, shipping terms (EXW, FOB). Vague answers like “reasonable price” cause extra emails.</a:t>
            </a:r>
          </a:p>
          <a:p>
            <a:r>
              <a:t>Say what you can do before what you can’t. “I can offer 800 units at $11.80” is better than “No discount”.</a:t>
            </a:r>
          </a:p>
          <a:p>
            <a:r>
              <a:t>Reply to all only when everyone needs the answer. Keep the previous email below your reply so the history is clear.</a:t>
            </a:r>
          </a:p>
          <a:p>
            <a:r>
              <a:t>Tone: A friendly, human tone (“I’d be happy to…”) works better than a stiff one (“We hereby inform you that…”).</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 reply with Thank you for your email of… and refer to the inquiry.</a:t>
            </a:r>
          </a:p>
          <a:p>
            <a:r>
              <a:t>I can answer questions in order with prices, terms and the lead time.</a:t>
            </a:r>
          </a:p>
          <a:p>
            <a:r>
              <a:t>I can say “no” with Unfortunately… / I’m afraid we are unable to… but we could…</a:t>
            </a:r>
          </a:p>
          <a:p>
            <a:r>
              <a:t>I can suggest the next step (I’d be happy to arrange a call).</a:t>
            </a:r>
          </a:p>
          <a:p>
            <a:r>
              <a:t>I can use valid for, includes (-s) and deliver / delivery correctly.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answers in order, valid for, -s on includes, deliver / delivery, and spelling.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13 · A follow-up email 跟进邮件</a:t>
            </a:r>
          </a:p>
          <a:p>
            <a:r>
              <a:t>Goal: write polite follow-up emails that remind, ask for an update, or confirm actions after a meeting or call, without sounding pushy, and keep good relations with the other person.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题讲过去的事,请用过去式(helped, got, sent)。第 2 题可以说 “I usually write…”。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follow up politely when a client has not replied.</a:t>
            </a:r>
          </a:p>
          <a:p>
            <a:r>
              <a:t>Say: when to follow up → what to write → how to keep a polite tone → what to do if there is still no reply.</a:t>
            </a:r>
          </a:p>
          <a:p>
            <a:r>
              <a:t>Useful starters: “I usually wait… days before I…” / “In the email I say…” / “If there’s still no reply, I…”</a:t>
            </a:r>
          </a:p>
          <a:p>
            <a:r>
              <a:t>催促别人要保持礼貌:用 “just wanted to check”、“a gentle reminder”。理由要写在邮件里:because we need to book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 follow-up 跟进的开头</a:t>
            </a:r>
          </a:p>
          <a:p>
            <a:r>
              <a:t>领读 → 学员跟读 → 请学员用表达造一个和自己工作相关的句子。</a:t>
            </a:r>
          </a:p>
          <a:p>
            <a:r>
              <a:t>I’m writing to follow up on… (phrase) 我写信是想跟进…… — “I’m writing to follow up on the quotation I sent on 5 October.”</a:t>
            </a:r>
          </a:p>
          <a:p>
            <a:r>
              <a:t>I just wanted to check whether you received… (phrase) 我只是想确认您是否收到了…… — “I just wanted to check whether you received my email.”</a:t>
            </a:r>
          </a:p>
          <a:p>
            <a:r>
              <a:t>★ I wanted to touch base about… (phrase) 我想和您联系一下…… — “I wanted to touch base about the contract.”</a:t>
            </a:r>
          </a:p>
          <a:p>
            <a:r>
              <a:t>★ Further to our call / meeting on Tuesday, … (phrase (formal)) 就周二的通话/会议而言…… — “Further to our meeting on Tuesday, here are the action points.”</a:t>
            </a:r>
          </a:p>
          <a:p>
            <a:r>
              <a:t>As discussed, … (phrase) 正如我们讨论的,…… — “As discussed, I’ll send the draft contract by Friday.”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for an update 询问进展</a:t>
            </a:r>
          </a:p>
          <a:p>
            <a:r>
              <a:t>领读 → 学员跟读 → 请学员用表达造一个和自己工作相关的句子。</a:t>
            </a:r>
          </a:p>
          <a:p>
            <a:r>
              <a:t>Have you had a chance to look at…? (phrase) 您有机会看一下……了吗? — “Have you had a chance to look at the quotation yet?”</a:t>
            </a:r>
          </a:p>
          <a:p>
            <a:r>
              <a:t>Could you give me an update on…? (phrase) 请告诉我……的最新进展 — “Could you give me an update on the order?”</a:t>
            </a:r>
          </a:p>
          <a:p>
            <a:r>
              <a:t>★ I haven’t heard back from you. (phrase) 我还没收到您的回复 — “I haven’t heard back from you, so I wanted to check 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Asking for an update 询问进展</a:t>
            </a:r>
          </a:p>
          <a:p>
            <a:r>
              <a:t>领读 → 学员跟读 → 请学员用表达造一个和自己工作相关的句子。</a:t>
            </a:r>
          </a:p>
          <a:p>
            <a:r>
              <a:t>★ This is just a gentle reminder. (phrase) 这只是一个温和的提醒 — “This is just a gentle reminder that the deadline is Friday.”</a:t>
            </a:r>
          </a:p>
          <a:p>
            <a:r>
              <a:t>★ I understand you’re very busy. (phrase) 我知道您很忙 — “I understand you’re very busy, so I’ll keep this short.”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Next steps and closing 下一步与结尾</a:t>
            </a:r>
          </a:p>
          <a:p>
            <a:r>
              <a:t>领读 → 学员跟读 → 请学员用表达造一个和自己工作相关的句子。</a:t>
            </a:r>
          </a:p>
          <a:p>
            <a:r>
              <a:t>Could you let me know by…? (phrase) 请在……前告知我 — “Could you let me know by Wednesday?”</a:t>
            </a:r>
          </a:p>
          <a:p>
            <a:r>
              <a:t>★ If now isn’t a good time, … (phrase) 如果现在不方便,…… — “If now isn’t a good time, I’m happy to call next week.”</a:t>
            </a:r>
          </a:p>
          <a:p>
            <a:r>
              <a:t>I’d appreciate it if you could… (phrase) 如果您能……我将不胜感激 — “I’d appreciate it if you could confirm by Friday.”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Next steps and closing 下一步与结尾</a:t>
            </a:r>
          </a:p>
          <a:p>
            <a:r>
              <a:t>领读 → 学员跟读 → 请学员用表达造一个和自己工作相关的句子。</a:t>
            </a:r>
          </a:p>
          <a:p>
            <a:r>
              <a:t>Let me know if you need anything from us. (phrase) 如果需要我们提供什么,请告诉我 — “Let me know if you need anything from us.”</a:t>
            </a:r>
          </a:p>
          <a:p>
            <a:r>
              <a:t>★ I’ll chase this up on Thursday. (phrasal verb) 我周四再催一下这件事 — “I’ll chase this up on Thursday if I haven’t heard from the factory.”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heard / up / update / chance / As / reminder</a:t>
            </a:r>
          </a:p>
          <a:p>
            <a:r>
              <a:t>1. I’m writing to follow _______ on the quotation I sent on 5 October. → up</a:t>
            </a:r>
          </a:p>
          <a:p>
            <a:r>
              <a:t>2. Have you had a _______ to look at it? → chance</a:t>
            </a:r>
          </a:p>
          <a:p>
            <a:r>
              <a:t>3. This is just a gentle _______ that the deadline is Friday. → reminder</a:t>
            </a:r>
          </a:p>
          <a:p>
            <a:r>
              <a:t>4. I haven’t _______ back from you. → heard</a:t>
            </a:r>
          </a:p>
          <a:p>
            <a:r>
              <a:t>5. Could you give me an _______ on the order? → update</a:t>
            </a:r>
          </a:p>
          <a:p>
            <a:r>
              <a:t>6. _______ discussed, I will send the contract on Friday. → As</a:t>
            </a:r>
          </a:p>
          <a:p>
            <a:r>
              <a:t>Mistake Watch (拼写与时态): received (i before e except after c: receive), follow-up (noun: hyphen) vs follow up (verb: two words), update (one word). Present perfect: “I haven’t heard from you” (not “I didn’t hear”).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follow-up after no reply 对方没回复时的跟进</a:t>
            </a:r>
          </a:p>
          <a:p>
            <a:r>
              <a:t>情景：You sent a quotation to Mr Lee last week. He has not replied and your sales manager asks you to follow up.</a:t>
            </a:r>
          </a:p>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21 | </a:t>
            </a:r>
          </a:p>
          <a:p>
            <a:r>
              <a:t>Situation | A customer has not replied to your quotation or proposal.</a:t>
            </a:r>
          </a:p>
          <a:p>
            <a:r>
              <a:t>Your role | Writer. Your product and date sent: ______________</a:t>
            </a:r>
          </a:p>
          <a:p>
            <a:r>
              <a:t>Reader | Buyer. Busy, no answer yet.</a:t>
            </a:r>
          </a:p>
          <a:p>
            <a:r>
              <a:t>Must use (4 or more) | I’m writing to follow up on… · I haven’t heard back from you. · Have you had a chance to…? · Could you let me know by…? · I understand you’re very busy.</a:t>
            </a:r>
          </a:p>
          <a:p>
            <a:r>
              <a:t>Goal | A polite reminder with a reason, a deadline and an offer to help. 80–120 words.</a:t>
            </a:r>
          </a:p>
          <a:p>
            <a:r>
              <a:t>My notes | ____________________________________________</a:t>
            </a:r>
          </a:p>
          <a:p>
            <a:r>
              <a:t>This is your second follow-up. Be a little more direct: “I’d appreciate it if you could let me know whether you’d like to go ahead.”</a:t>
            </a:r>
          </a:p>
          <a:p>
            <a:r>
              <a:t>Add a reason for the deadline: “We need to confirm the shipping slot by Friday.”</a:t>
            </a:r>
          </a:p>
          <a:p>
            <a:r>
              <a:t>Write a three-line version for a close colleague.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Confirming action points after a meeting 会后邮件确认行动事项</a:t>
            </a:r>
          </a:p>
          <a:p>
            <a:r>
              <a:t>情景：Right after a meeting, you phone your colleague to agree what to put in the follow-up email.</a:t>
            </a:r>
          </a:p>
          <a:p>
            <a:r>
              <a:t>Role A: Li Wei Role B: Sophie Zhou, team leader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Sophie, shall I send the follow-up email to BlueSea this afternoon?</a:t>
            </a:r>
          </a:p>
          <a:p>
            <a:r>
              <a:t>B (Sophie): Yes, please. Keep it short, and list the action points.</a:t>
            </a:r>
          </a:p>
          <a:p>
            <a:r>
              <a:t>A: Good. I’ll start with “Further to our meeting this morning”. Then the three points.</a:t>
            </a:r>
          </a:p>
          <a:p>
            <a:r>
              <a:t>B: What are they, again?</a:t>
            </a:r>
          </a:p>
          <a:p>
            <a:r>
              <a:t>A: First, we send the revised quotation by Thursday. Second, BlueSea confirms the quantity by next Monday. Third, we arrange a factory visit in November.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That’s right. Add who is responsible for each point, so there is no confusion.</a:t>
            </a:r>
          </a:p>
          <a:p>
            <a:r>
              <a:t>A: Good idea. Shall I copy you in?</a:t>
            </a:r>
          </a:p>
          <a:p>
            <a:r>
              <a:t>B: Please do. And add a line at the end: “Please let me know if I have missed anything.”</a:t>
            </a:r>
          </a:p>
          <a:p>
            <a:r>
              <a:t>A: That’s a nice touch. I’ll send it by three o’clock.</a:t>
            </a:r>
          </a:p>
          <a:p>
            <a:r>
              <a:t>B: Great. Thanks, Li Wei.</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22 | </a:t>
            </a:r>
          </a:p>
          <a:p>
            <a:r>
              <a:t>Situation | You discuss the follow-up email after a meeting.</a:t>
            </a:r>
          </a:p>
          <a:p>
            <a:r>
              <a:t>Your role (A) | Writer. Explain what the email will contain.</a:t>
            </a:r>
          </a:p>
          <a:p>
            <a:r>
              <a:t>Partner’s role (B) | Team leader. Gives advice and asks questions.</a:t>
            </a:r>
          </a:p>
          <a:p>
            <a:r>
              <a:t>Must use (3 or more) | Further to… · action points · responsible for · copy you in · Please let me know if I have missed anything.</a:t>
            </a:r>
          </a:p>
          <a:p>
            <a:r>
              <a:t>Goal | Agree the 3 main points, who does what and when.</a:t>
            </a:r>
          </a:p>
          <a:p>
            <a:r>
              <a:t>My notes | ____________________________________________</a:t>
            </a:r>
          </a:p>
          <a:p>
            <a:r>
              <a:t>Your boss changes one deadline. Say: “Would you mind if I changed that to Friday?”</a:t>
            </a:r>
          </a:p>
          <a:p>
            <a:r>
              <a:t>Ask to be copied in: “Could you copy me in, please?”</a:t>
            </a:r>
          </a:p>
          <a:p>
            <a:r>
              <a:t>Rewrite the three action points as bullet points, each with a name and a date.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soon after a meeting should you send a follow-up email? Why? | “I try to send it within… because…” / “The sooner the better, since…”</a:t>
            </a:r>
          </a:p>
          <a:p>
            <a:r>
              <a:t>2. Is it OK to send a second or third reminder? How do you word it? | “A second reminder is fine if…” / “I usually write ‘Just checking in…’”</a:t>
            </a:r>
          </a:p>
          <a:p>
            <a:r>
              <a:t>3. How do you stay polite when someone is slow to reply? | “I assume they are busy.” / “I never blame them. I just say…”</a:t>
            </a:r>
          </a:p>
          <a:p>
            <a:r>
              <a:t>4. What details should a follow-up email after a meeting include? | “It should include…” / “Who is doing what, and by when.”</a:t>
            </a:r>
          </a:p>
          <a:p>
            <a:r>
              <a:t>5. What would you do if there is still no reply after two reminders? | “I would pick up the phone and…” / “I’d ask a colleague who knows them to…”</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a follow-up email after a meeting should be short and clear. It needs three things: what we agreed, who is doing what, and by when. For example,”Anna will send the revised quotation by Thursday.” I also like to add a line such as “Please let me know if I have missed anything.” That way, everyone can correct me, and there is less risk of misunderstandings later.”</a:t>
            </a:r>
          </a:p>
          <a:p>
            <a:r>
              <a:t>“That way, …” 表示“这样一来……”,是很自然的连接语。“there is less risk of misunderstandings”(减少误解的风险)用 less risk of + 名词。</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follow-up 跟进邮件模板</a:t>
            </a:r>
          </a:p>
          <a:p>
            <a:r>
              <a:t>Part | Template</a:t>
            </a:r>
          </a:p>
          <a:p>
            <a:r>
              <a:t>Subject | Follow-up: [topic] ([date]) / Action points from today’s meeting</a:t>
            </a:r>
          </a:p>
          <a:p>
            <a:r>
              <a:t>Opening | Dear Mr / Ms [Surname], / Hi [First name],</a:t>
            </a:r>
          </a:p>
          <a:p>
            <a:r>
              <a:t>Reference | I’m writing to follow up on… / Further to our meeting on [day], …</a:t>
            </a:r>
          </a:p>
          <a:p>
            <a:r>
              <a:t>Check | I just wanted to check whether you received… / Have you had a chance to look at…?</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follow-up 跟进邮件模板</a:t>
            </a:r>
          </a:p>
          <a:p>
            <a:r>
              <a:t>Part | Template</a:t>
            </a:r>
          </a:p>
          <a:p>
            <a:r>
              <a:t>Reason + deadline | It would be helpful to hear from you by [date], so that we can…</a:t>
            </a:r>
          </a:p>
          <a:p>
            <a:r>
              <a:t>Soft close | I understand you’re very busy. / If now isn’t a good time, I’m happy to call next week.</a:t>
            </a:r>
          </a:p>
          <a:p>
            <a:r>
              <a:t>Sign-off | Kind regards, / Best regards, + name</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polite reminders 礼貌提醒句型库</a:t>
            </a:r>
          </a:p>
          <a:p>
            <a:r>
              <a:t>Strength | Say this</a:t>
            </a:r>
          </a:p>
          <a:p>
            <a:r>
              <a:t>1st reminder (soft) | Just a quick note to check you received my last email. / I wanted to touch base. ★</a:t>
            </a:r>
          </a:p>
          <a:p>
            <a:r>
              <a:t>2nd reminder | I’m following up on my email of [date]. Could you let me know by…?</a:t>
            </a:r>
          </a:p>
          <a:p>
            <a:r>
              <a:t>3rd (firm but polite) | I’d appreciate it if you could confirm by Friday, as we need to finalise the plan.</a:t>
            </a:r>
          </a:p>
          <a:p>
            <a:r>
              <a:t>After a meeting | Further to our meeting, here is a summary of what we agreed. ★</a:t>
            </a:r>
          </a:p>
          <a:p>
            <a:r>
              <a:t>Offering help | Please let me know if you need anything from us.</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polite reminders 礼貌提醒句型库</a:t>
            </a:r>
          </a:p>
          <a:p>
            <a:r>
              <a:t>Follow up (verb) vs follow-up (noun / adjective): “I’ll follow up next week.” / “Here is a follow-up email.”</a:t>
            </a:r>
          </a:p>
          <a:p>
            <a:r>
              <a:t>Check in / touch base / chase up: friendly business verbs. Chase up is mostly British. Use chase for tasks (“chase the supplier”), not for people.</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You didn’t reply my email.  →  ✓ I haven’t heard back from you. / I haven’t received a reply yet.  (避免指责;reply 后要加 to)</a:t>
            </a:r>
          </a:p>
          <a:p>
            <a:r>
              <a:t>✗ I urge you to reply.  →  ✓ It would be helpful to hear from you by Friday.  (urge 太强硬)</a:t>
            </a:r>
          </a:p>
          <a:p>
            <a:r>
              <a:t>✗ Please reply me soon.  →  ✓ Could you let me know by Friday?  (给出具体日期)</a:t>
            </a:r>
          </a:p>
          <a:p>
            <a:r>
              <a:t>✗ I sent you a quotation yesterday and you didn’t answer.  →  ✓ I sent you a quotation on Monday and haven’t heard back.  (没有结果用现在完成时)</a:t>
            </a:r>
          </a:p>
          <a:p>
            <a:r>
              <a:t>✗ I’m follow up the order.  →  ✓ I’m following up on the order.  (进行时 + on)</a:t>
            </a:r>
          </a:p>
          <a:p>
            <a:r>
              <a:t>Mistake Watch: Use the present perfect for no news until now: “I haven’t heard from you.” Don’t write “you didn’t reply”. It sounds like blame.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Have you seen my email already?  →  ✓ Have you had a chance to look at my email yet?  (疑问句用 yet)</a:t>
            </a:r>
          </a:p>
          <a:p>
            <a:r>
              <a:t>✗ I want to remind you about the meeting.  →  ✓ I just wanted to remind you about the meeting. / This is a reminder that…  (want 太直接,加 just wanted to)</a:t>
            </a:r>
          </a:p>
          <a:p>
            <a:r>
              <a:t>✗ Looking forward your early reply.  →  ✓ I look forward to hearing from you.  (forward to + -ing)</a:t>
            </a:r>
          </a:p>
          <a:p>
            <a:r>
              <a:t>✗ I will chase you every day.  →  ✓ I’ll follow up again on Thursday.  (语气:chase you 像追债)</a:t>
            </a:r>
          </a:p>
          <a:p>
            <a:r>
              <a:t>✗ folow-up / recieved  →  ✓ follow-up / received  (拼写)</a:t>
            </a:r>
          </a:p>
          <a:p>
            <a:r>
              <a:t>Mistake Watch: Use the present perfect for no news until now: “I haven’t heard from you.” Don’t write “you didn’t reply”. It sounds like blame.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Don’t blame. Western business culture avoids “You didn’t answer”. Assume the person is busy or the email got lost: “In case my last email got lost…” ★</a:t>
            </a:r>
          </a:p>
          <a:p>
            <a:r>
              <a:t>Wait the right time: 3–5 working days for a quotation, 1–2 days for an urgent request. A reminder after only one day can look impatient.</a:t>
            </a:r>
          </a:p>
          <a:p>
            <a:r>
              <a:t>Give a reason for the deadline. “So that I can reserve the stock” is better than “Please reply quickly”.</a:t>
            </a:r>
          </a:p>
          <a:p>
            <a:r>
              <a:t>Phone after two emails. Many people respond to a call more quickly than to a third email.</a:t>
            </a:r>
          </a:p>
          <a:p>
            <a:r>
              <a:t>Short and kind wins. “I understand you’re very busy” costs five words and keeps the relationship warm.</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start a follow-up with I’m writing to follow up on… or Further to…</a:t>
            </a:r>
          </a:p>
          <a:p>
            <a:r>
              <a:t>I can ask for an update politely (Have you had a chance to…? Could you give me an update?).</a:t>
            </a:r>
          </a:p>
          <a:p>
            <a:r>
              <a:t>I can give a reason and a date for the reply.</a:t>
            </a:r>
          </a:p>
          <a:p>
            <a:r>
              <a:t>I can write action points after a meeting (who, what, when).</a:t>
            </a:r>
          </a:p>
          <a:p>
            <a:r>
              <a:t>I can use the present perfect (I haven’t heard back) and follow up / follow-up correctly.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present perfect (haven’t heard), follow up / follow-up, a polite tone (no blame), and spelling (received).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14 · A reply to a follow-up email 回复跟进邮件</a:t>
            </a:r>
          </a:p>
          <a:p>
            <a:r>
              <a:t>Goal: reply to a follow-up email: apologize for a delay, give a clear update, explain what happens next, and say “not yet” or “no” politely while keeping the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题讲过去的事,请用过去式(forgot, wrote, called)。第 1 题:remind 的名词是 reminder。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answer a customer who has asked “Have you had a chance to look at our proposal?”</a:t>
            </a:r>
          </a:p>
          <a:p>
            <a:r>
              <a:t>Say: apologize → explain briefly → give an update → give a new date → thank them for their patience.</a:t>
            </a:r>
          </a:p>
          <a:p>
            <a:r>
              <a:t>Useful starters: “I would start by apologizing for…” / “Then I’d explain…” / “I’d give a new date, for example…”</a:t>
            </a:r>
          </a:p>
          <a:p>
            <a:r>
              <a:t>道歉要简短,不要连说三个 sorry。解释一句话就够,重点是给出新的时间。</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Apologizing for the delay 为延迟道歉</a:t>
            </a:r>
          </a:p>
          <a:p>
            <a:r>
              <a:t>领读 → 学员跟读 → 请学员用表达造一个和自己工作相关的句子。</a:t>
            </a:r>
          </a:p>
          <a:p>
            <a:r>
              <a:t>Apologies for the delay in getting back to you. (phrase (formal)) 抱歉这么晚才回复您 — “Apologies for the delay in getting back to you.”</a:t>
            </a:r>
          </a:p>
          <a:p>
            <a:r>
              <a:t>Thank you for following up. (phrase) 谢谢您跟进 — “Thank you for following up on my last email.”</a:t>
            </a:r>
          </a:p>
          <a:p>
            <a:r>
              <a:t>I’ve been out of the office. (phrase) 我之前不在办公室 — “I’ve been out of the office since Monday.”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Apologizing for the delay 为延迟道歉</a:t>
            </a:r>
          </a:p>
          <a:p>
            <a:r>
              <a:t>领读 → 学员跟读 → 请学员用表达造一个和自己工作相关的句子。</a:t>
            </a:r>
          </a:p>
          <a:p>
            <a:r>
              <a:t>★ I’ve been tied up with… (phrase) 我一直在忙……(走不开) — “I’ve been tied up with the year-end audit.”</a:t>
            </a:r>
          </a:p>
          <a:p>
            <a:r>
              <a:t>★ Your email slipped through the net. (idiom) 您的邮件被我漏掉了 — “I’m sorry, your email slipped through the net.”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Giving an update 说明最新进展</a:t>
            </a:r>
          </a:p>
          <a:p>
            <a:r>
              <a:t>领读 → 学员跟读 → 请学员用表达造一个和自己工作相关的句子。</a:t>
            </a:r>
          </a:p>
          <a:p>
            <a:r>
              <a:t>We have now had a chance to review… (phrase) 我们现在已经审阅了…… — “We have now had a chance to review your proposal.”</a:t>
            </a:r>
          </a:p>
          <a:p>
            <a:r>
              <a:t>I’m happy to confirm that… (phrase) 我很高兴确认…… — “I’m happy to confirm that we can start in January.”</a:t>
            </a:r>
          </a:p>
          <a:p>
            <a:r>
              <a:t>We’re still waiting for approval from… (phrase) 我们仍在等……的批准 — “We’re still waiting for approval from our finance team.”</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Giving an update 说明最新进展</a:t>
            </a:r>
          </a:p>
          <a:p>
            <a:r>
              <a:t>领读 → 学员跟读 → 请学员用表达造一个和自己工作相关的句子。</a:t>
            </a:r>
          </a:p>
          <a:p>
            <a:r>
              <a:t>★ The decision is still pending. (phrase) 决定尚未做出 — “The decision is still pending until the board meets.”</a:t>
            </a:r>
          </a:p>
          <a:p>
            <a:r>
              <a:t>★ We’ll have a better idea by next week. (phrase) 下周我们会更清楚 — “We’ll have a better idea by next week.”</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Next steps and closing 下一步与结尾</a:t>
            </a:r>
          </a:p>
          <a:p>
            <a:r>
              <a:t>领读 → 学员跟读 → 请学员用表达造一个和自己工作相关的句子。</a:t>
            </a:r>
          </a:p>
          <a:p>
            <a:r>
              <a:t>I’ll get back to you by Friday. (phrase) 我周五前回复您 — “I’ll get back to you by Friday with a final answer.”</a:t>
            </a:r>
          </a:p>
          <a:p>
            <a:r>
              <a:t>★ Thank you for bearing with us. (phrase) 感谢您的耐心等待 — “Thank you for bearing with us.”</a:t>
            </a:r>
          </a:p>
          <a:p>
            <a:r>
              <a:t>★ We’ve decided to hold off on… (phrasal verb) 我们决定暂缓…… — “We’ve decided to hold off on the order until January.”</a:t>
            </a:r>
          </a:p>
          <a:p>
            <a:r>
              <a:t>Please keep me updated. (phrase) 请随时告诉我最新情况 — “Please keep me updated on the delivery.”</a:t>
            </a:r>
          </a:p>
          <a:p>
            <a:r>
              <a:t>I appreciate your patience. (phrase) 感谢您的耐心 — “I appreciate your patience.”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bearing / approval / pending / following / by / Apologies</a:t>
            </a:r>
          </a:p>
          <a:p>
            <a:r>
              <a:t>1. _______ for the delay in getting back to you. → Apologies</a:t>
            </a:r>
          </a:p>
          <a:p>
            <a:r>
              <a:t>2. Thank you for _______ up on my last email. → following</a:t>
            </a:r>
          </a:p>
          <a:p>
            <a:r>
              <a:t>3. We’re still waiting for _______ from our finance team. → approval</a:t>
            </a:r>
          </a:p>
          <a:p>
            <a:r>
              <a:t>4. The decision is still _______. → pending</a:t>
            </a:r>
          </a:p>
          <a:p>
            <a:r>
              <a:t>5. I’ll get back to you _______ Friday. → by</a:t>
            </a:r>
          </a:p>
          <a:p>
            <a:r>
              <a:t>6. Thank you for _______ with us. → bearing</a:t>
            </a:r>
          </a:p>
          <a:p>
            <a:r>
              <a:t>Mistake Watch (拼写与搭配): apologies (plural) / apology (singular), patience (not “patients”), pending, approval (one p after r). Say “Apologies for the delay in getting back to you” (not “to get back”).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Apologizing and giving an update 道歉并说明进展</a:t>
            </a:r>
          </a:p>
          <a:p>
            <a:r>
              <a:t>情景：Mr Lee has chased you about the quotation. You reply with an apology and an honest update.</a:t>
            </a:r>
          </a:p>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23 | </a:t>
            </a:r>
          </a:p>
          <a:p>
            <a:r>
              <a:t>Situation | A supplier has chased you for an answer and you need more time.</a:t>
            </a:r>
          </a:p>
          <a:p>
            <a:r>
              <a:t>Your role | Writer (customer). What are you waiting for? ______________</a:t>
            </a:r>
          </a:p>
          <a:p>
            <a:r>
              <a:t>Reader | Supplier. Polite but eager.</a:t>
            </a:r>
          </a:p>
          <a:p>
            <a:r>
              <a:t>Must use (4 or more) | Apologies for the delay… · Thank you for following up. · We’re still waiting for… · I’ll get back to you by… · Thank you for bearing with us.</a:t>
            </a:r>
          </a:p>
          <a:p>
            <a:r>
              <a:t>Goal | One-sentence apology, an honest update, a new date. 70–100 words.</a:t>
            </a:r>
          </a:p>
          <a:p>
            <a:r>
              <a:t>My notes | ____________________________________________</a:t>
            </a:r>
          </a:p>
          <a:p>
            <a:r>
              <a:t>Give good news instead: “I’m happy to confirm that we would like to go ahead.”</a:t>
            </a:r>
          </a:p>
          <a:p>
            <a:r>
              <a:t>Say you are not interested: “After careful consideration, we’ve decided not to proceed at this time.”</a:t>
            </a:r>
          </a:p>
          <a:p>
            <a:r>
              <a:t>Add a request: “In the meantime, could you hold the stock for us?”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Saying no politely to a supplier 礼貌地回绝供应商</a:t>
            </a:r>
          </a:p>
          <a:p>
            <a:r>
              <a:t>情景：Your company has decided not to order this season. You phone the supplier before sending an email.</a:t>
            </a:r>
          </a:p>
          <a:p>
            <a:r>
              <a:t>Role A: Henry Lee, customer Role B: Li Wei, supplier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(Henry): Hello, Li Wei. It’s Henry Lee from BlueSea. I’m calling about your quotation.</a:t>
            </a:r>
          </a:p>
          <a:p>
            <a:r>
              <a:t>B (Li Wei): Hello, Henry. Thanks for calling. I’ve been hoping to hear from you.</a:t>
            </a:r>
          </a:p>
          <a:p>
            <a:r>
              <a:t>A: I’m sorry I haven’t been in touch earlier. I wanted to give you a straight answer. We’ve decided to hold off on the order until January.</a:t>
            </a:r>
          </a:p>
          <a:p>
            <a:r>
              <a:t>B: I see. May I ask what’s behind the decision?</a:t>
            </a:r>
          </a:p>
          <a:p>
            <a:r>
              <a:t>A: Mostly budget. Our finance team wants to wait until the new financial year.</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That makes sense. Is the price an issue as well?</a:t>
            </a:r>
          </a:p>
          <a:p>
            <a:r>
              <a:t>A: Not really. Your prices are competitive. It’s purely a timing issue.</a:t>
            </a:r>
          </a:p>
          <a:p>
            <a:r>
              <a:t>B: OK, thank you for telling me directly. Shall I keep the quotation open until January?</a:t>
            </a:r>
          </a:p>
          <a:p>
            <a:r>
              <a:t>A: That would be very kind. Could you extend it to the end of January?</a:t>
            </a:r>
          </a:p>
          <a:p>
            <a:r>
              <a:t>B: Of course. I’ll confirm that in writing today.</a:t>
            </a:r>
          </a:p>
          <a:p>
            <a:r>
              <a:t>A: Thank you. I appreciate your understanding.</a:t>
            </a:r>
          </a:p>
          <a:p>
            <a:r>
              <a:t>B: Not at all. Let’s talk again in early January.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24 | </a:t>
            </a:r>
          </a:p>
          <a:p>
            <a:r>
              <a:t>Situation | You tell a supplier that you must delay or cancel an order.</a:t>
            </a:r>
          </a:p>
          <a:p>
            <a:r>
              <a:t>Your role (A) | Customer. Give the reason and a new time frame.</a:t>
            </a:r>
          </a:p>
          <a:p>
            <a:r>
              <a:t>Partner’s role (B) | Supplier. Stays positive and asks about next steps.</a:t>
            </a:r>
          </a:p>
          <a:p>
            <a:r>
              <a:t>Must use (3 or more) | We’ve decided to hold off on… · It’s purely a timing issue. · I appreciate your understanding. · Shall I keep… open?</a:t>
            </a:r>
          </a:p>
          <a:p>
            <a:r>
              <a:t>Goal | Give bad news clearly and kindly, and agree on a next step.</a:t>
            </a:r>
          </a:p>
          <a:p>
            <a:r>
              <a:t>My notes | ____________________________________________</a:t>
            </a:r>
          </a:p>
          <a:p>
            <a:r>
              <a:t>The supplier asks for a reason and you cannot say. Say: “I’m afraid I can’t go into details, but it’s not about price.”</a:t>
            </a:r>
          </a:p>
          <a:p>
            <a:r>
              <a:t>Leave the door open: “I’d like to stay in touch for the next season.”</a:t>
            </a:r>
          </a:p>
          <a:p>
            <a:r>
              <a:t>Confirm the call by email in three lines.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good apology in a business email? | “A good apology is short and…” / “It should say what went wrong and what happens next.”</a:t>
            </a:r>
          </a:p>
          <a:p>
            <a:r>
              <a:t>2. Is it OK to say “I forgot”? What can you say instead? | “I would rather say… because…” / “It’s better to say ‘your email slipped through the net’.”</a:t>
            </a:r>
          </a:p>
          <a:p>
            <a:r>
              <a:t>3. How do you give someone bad news in a calm and respectful way? | “I always start with…” / “I try to be honest and offer…”</a:t>
            </a:r>
          </a:p>
          <a:p>
            <a:r>
              <a:t>4. How much detail should you give when you delay a decision? | “I give only the key information, such as…” / “If the reason is confidential, I say…”</a:t>
            </a:r>
          </a:p>
          <a:p>
            <a:r>
              <a:t>5. How can you keep the relationship warm after saying “not now”? | “I thank them for their patience and say…” / “I suggest a date to talk again.”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would say”I’m sorry for the delay” or “Your email slipped through the net.” The second one is honest, but it doesn’t sound too serious. I try not to make excuses like “I was too busy”, because it can sound as if the customer was not important. After that, I move to the useful part: what I can do now and by when.”</a:t>
            </a:r>
          </a:p>
          <a:p>
            <a:r>
              <a:t>“slipped through the net”(漏掉了)是地道说法。“make excuses”(找借口),“as if…”(好像……)是 B2 常用结构,后面用过去式表示不真实:as if the customer was not important。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reply to a follow-up 回复跟进邮件模板</a:t>
            </a:r>
          </a:p>
          <a:p>
            <a:r>
              <a:t>Part | Template</a:t>
            </a:r>
          </a:p>
          <a:p>
            <a:r>
              <a:t>Subject | RE: [Original subject]</a:t>
            </a:r>
          </a:p>
          <a:p>
            <a:r>
              <a:t>Opening | Dear Mr / Ms [Surname], / Hi [First name],</a:t>
            </a:r>
          </a:p>
          <a:p>
            <a:r>
              <a:t>Apology | Apologies for the delay in getting back to you. (one sentence)</a:t>
            </a:r>
          </a:p>
          <a:p>
            <a:r>
              <a:t>Thanks | Thank you for following up. / Thank you for your patience.</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reply to a follow-up 回复跟进邮件模板</a:t>
            </a:r>
          </a:p>
          <a:p>
            <a:r>
              <a:t>Part | Template</a:t>
            </a:r>
          </a:p>
          <a:p>
            <a:r>
              <a:t>Update | We have now reviewed… / I’m happy to confirm… / We’re still waiting for…</a:t>
            </a:r>
          </a:p>
          <a:p>
            <a:r>
              <a:t>New date | I’ll get back to you by [day].</a:t>
            </a:r>
          </a:p>
          <a:p>
            <a:r>
              <a:t>Close | Thank you for bearing with us. / Please keep me updated.</a:t>
            </a:r>
          </a:p>
          <a:p>
            <a:r>
              <a:t>Sign-off | Best regards, + name</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updates and delays 进度与延迟句型库</a:t>
            </a:r>
          </a:p>
          <a:p>
            <a:r>
              <a:t>Function | Say this</a:t>
            </a:r>
          </a:p>
          <a:p>
            <a:r>
              <a:t>Good news | I’m happy to confirm that… / I’m pleased to let you know that…</a:t>
            </a:r>
          </a:p>
          <a:p>
            <a:r>
              <a:t>Delay | We’ve run into a small delay with… ★ / It’s taking longer than expected.</a:t>
            </a:r>
          </a:p>
          <a:p>
            <a:r>
              <a:t>Cause | This is because… / This is due to…</a:t>
            </a:r>
          </a:p>
          <a:p>
            <a:r>
              <a:t>Solution | The good news is that… / In the meantime, we could…</a:t>
            </a:r>
          </a:p>
          <a:p>
            <a:r>
              <a:t>Decision | We’ve decided to go ahead with… / We’ve decided not to proceed. ★</a:t>
            </a:r>
          </a:p>
          <a:p>
            <a:r>
              <a:t>Hold | We’d like to put this on hold until… ★</a:t>
            </a:r>
          </a:p>
          <a:p>
            <a:r>
              <a:t>Date | You will have an answer by… / I’ll get back to you on…</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Sorry for I reply late.  →  ✓ Sorry for the late reply. / Apologies for replying late.  (for + 名词 / -ing)</a:t>
            </a:r>
          </a:p>
          <a:p>
            <a:r>
              <a:t>✗ Sorry to be late to reply.  →  ✓ Apologies for the delay in getting back to you.  (用 delay in + -ing)</a:t>
            </a:r>
          </a:p>
          <a:p>
            <a:r>
              <a:t>✗ I’m very very sorry sorry.  →  ✓ I apologize for the delay. (once)  (道歉一次就够)</a:t>
            </a:r>
          </a:p>
          <a:p>
            <a:r>
              <a:t>✗ We are waiting approval.  →  ✓ We’re waiting for approval.  (wait for)</a:t>
            </a:r>
          </a:p>
          <a:p>
            <a:r>
              <a:t>✗ We will give you the answer in Friday.  →  ✓ We’ll give you an answer by Friday.  (by + 截止时间,on + 星期几)</a:t>
            </a:r>
          </a:p>
          <a:p>
            <a:r>
              <a:t>Mistake Watch: wait for, consider (no “about”), by Friday (deadline) vs on Friday (a fixed time), patience (noun) vs patient (adjective).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are still considering about your proposal.  →  ✓ We’re still considering your proposal.  (consider 后不加 about)</a:t>
            </a:r>
          </a:p>
          <a:p>
            <a:r>
              <a:t>✗ Thanks for your patient.  →  ✓ Thank you for your patience.  (patient 是形容词,patience 是名词)</a:t>
            </a:r>
          </a:p>
          <a:p>
            <a:r>
              <a:t>✗ We refuse your proposal.  →  ✓ We’ve decided not to proceed at this time.  (refuse 太强硬)</a:t>
            </a:r>
          </a:p>
          <a:p>
            <a:r>
              <a:t>✗ We can’t accept your price.  →  ✓ The price is a bit higher than we expected.  (委婉地表达)</a:t>
            </a:r>
          </a:p>
          <a:p>
            <a:r>
              <a:t>✗ pationce / aproval  →  ✓ patience / approval  (拼写)</a:t>
            </a:r>
          </a:p>
          <a:p>
            <a:r>
              <a:t>Mistake Watch: wait for, consider (no “about”), by Friday (deadline) vs on Friday (a fixed time), patience (noun) vs patient (adjective).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Apologize once. Repeated apologies sound weak. One clear “Apologies for the delay” is enough in a business email.</a:t>
            </a:r>
          </a:p>
          <a:p>
            <a:r>
              <a:t>Honest news is better than silence. In English business culture “We’re still waiting for approval” is acceptable. Long silence is not.</a:t>
            </a:r>
          </a:p>
          <a:p>
            <a:r>
              <a:t>“No” with a reason. In Western business, a clear “no” with a short reason is respected. A vague “We will consider” can mean “no” to Chinese readers, but a Western reader may wait for months.</a:t>
            </a:r>
          </a:p>
          <a:p>
            <a:r>
              <a:t>Keep the door open. “Not at this time” and “Let’s talk again in January” protect the relationship.</a:t>
            </a:r>
          </a:p>
          <a:p>
            <a:r>
              <a:t>Confirm in writing after a phone call. A short email avoids misunderstandings.</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apologize for a late reply in one sentence (Apologies for the delay in getting back to you).</a:t>
            </a:r>
          </a:p>
          <a:p>
            <a:r>
              <a:t>I can give an honest update with we’re still waiting for… / the decision is pending.</a:t>
            </a:r>
          </a:p>
          <a:p>
            <a:r>
              <a:t>I can give a new date with I’ll get back to you by…</a:t>
            </a:r>
          </a:p>
          <a:p>
            <a:r>
              <a:t>I can say “not now” or “no” politely with We’ve decided to hold off on…</a:t>
            </a:r>
          </a:p>
          <a:p>
            <a:r>
              <a:t>I can use wait for, by / on, and patience correctly.</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wait for, by Friday, patience / patient, and a one-sentence apology.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15 · Invitations 邀请</a:t>
            </a:r>
          </a:p>
          <a:p>
            <a:r>
              <a:t>Goal: write and say clear, polite invitations to meetings, events and meals, with all the key details (what, when, where, dress code, RSVP date) so the other person knows exactly what to do.</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3 题讲过去的事,请用过去式(invited, came, sent)。第 5 题可以用 “I’d like to invite you to…”。</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Invite a client to a product launch. Give all the details.</a:t>
            </a:r>
          </a:p>
          <a:p>
            <a:r>
              <a:t>Say: purpose → date and time → place → who else is coming → what to do next (reply by a date).</a:t>
            </a:r>
          </a:p>
          <a:p>
            <a:r>
              <a:t>Useful starters: “We would like to invite you to…” / “The event will take place on… at…” / “Please let us know by… if you can attend.”</a:t>
            </a:r>
          </a:p>
          <a:p>
            <a:r>
              <a:t>邀请需要包含 5 个信息:what / when / where / who / how to reply。时间和地点前的介词:on Friday, at 6 p.m., at the Grand Hotel, in Shanghai。</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Inviting 发出邀请</a:t>
            </a:r>
          </a:p>
          <a:p>
            <a:r>
              <a:t>领读 → 学员跟读 → 请学员用表达造一个和自己工作相关的句子。</a:t>
            </a:r>
          </a:p>
          <a:p>
            <a:r>
              <a:t>We would like to invite you to… (phrase (formal)) 我们诚邀您参加…… — “We would like to invite you to our product launch.”</a:t>
            </a:r>
          </a:p>
          <a:p>
            <a:r>
              <a:t>I’d like to invite you and your colleagues to… (phrase) 我想邀请您和同事参加…… — “I’d like to invite you and your colleagues to a dinner.”</a:t>
            </a:r>
          </a:p>
          <a:p>
            <a:r>
              <a:t>★ We’d be delighted if you could join us. (phrase (formal)) 如果您能参加,我们将非常荣幸 — “We’d be delighted if you could join us for the opening.”</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Inviting 发出邀请</a:t>
            </a:r>
          </a:p>
          <a:p>
            <a:r>
              <a:t>领读 → 学员跟读 → 请学员用表达造一个和自己工作相关的句子。</a:t>
            </a:r>
          </a:p>
          <a:p>
            <a:r>
              <a:t>Would you be able to come? (phrase) 您能来吗? — “Would you be able to come on the 12th?”</a:t>
            </a:r>
          </a:p>
          <a:p>
            <a:r>
              <a:t>★ It would be a pleasure to welcome you. (phrase (formal)) 我们很荣幸欢迎您的到来 — “It would be a pleasure to welcome you to our Shanghai office.”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Giving the details 说明细节</a:t>
            </a:r>
          </a:p>
          <a:p>
            <a:r>
              <a:t>领读 → 学员跟读 → 请学员用表达造一个和自己工作相关的句子。</a:t>
            </a:r>
          </a:p>
          <a:p>
            <a:r>
              <a:t>The event will take place on… at… (phrase) 活动将于……在……举行 — “The event will take place on 12 November at the Grand Hotel.”</a:t>
            </a:r>
          </a:p>
          <a:p>
            <a:r>
              <a:t>venue (noun) 活动场地 — “The venue is close to the metro station.”</a:t>
            </a:r>
          </a:p>
          <a:p>
            <a:r>
              <a:t>dress code (noun) 着装要求 — “The dress code is business casual.”</a:t>
            </a:r>
          </a:p>
          <a:p>
            <a:r>
              <a:t>★ Light refreshments will be provided. (phrase) 将提供茶点 — “Light refreshments will be provided.”</a:t>
            </a:r>
          </a:p>
          <a:p>
            <a:r>
              <a:t>★ Please save the date. (phrase) 请预留这个日期 — “Please save the date: 12 November.”</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Asking for a reply 请对方回复</a:t>
            </a:r>
          </a:p>
          <a:p>
            <a:r>
              <a:t>领读 → 学员跟读 → 请学员用表达造一个和自己工作相关的句子。</a:t>
            </a:r>
          </a:p>
          <a:p>
            <a:r>
              <a:t>RSVP / Please let us know by… (phrase) 请在……前回复 — “Please let us know by 1 November if you can attend.”</a:t>
            </a:r>
          </a:p>
          <a:p>
            <a:r>
              <a:t>Kindly confirm your attendance. (phrase (formal)) 请确认您是否出席 — “Kindly confirm your attendance by 1 November.”</a:t>
            </a:r>
          </a:p>
          <a:p>
            <a:r>
              <a:t>Please feel free to bring a colleague. (phrase) 欢迎您带一位同事 — “Please feel free to bring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Asking for a reply 请对方回复</a:t>
            </a:r>
          </a:p>
          <a:p>
            <a:r>
              <a:t>领读 → 学员跟读 → 请学员用表达造一个和自己工作相关的句子。</a:t>
            </a:r>
          </a:p>
          <a:p>
            <a:r>
              <a:t>★ I hope you will be able to join us. (phrase) 希望您能参加 — “I hope you will be able to join us.”</a:t>
            </a:r>
          </a:p>
          <a:p>
            <a:r>
              <a:t>★ Please let me know if you have any dietary requirements. (phrase) 如有饮食要求,请告诉我 — “Please let me know if you have any dietary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delighted / code / save / RSVP / invite / place</a:t>
            </a:r>
          </a:p>
          <a:p>
            <a:r>
              <a:t>1. We would like to _______ you to our product launch. → invite</a:t>
            </a:r>
          </a:p>
          <a:p>
            <a:r>
              <a:t>2. The event will take _______ on 12 November. → place</a:t>
            </a:r>
          </a:p>
          <a:p>
            <a:r>
              <a:t>3. The dress _______ is business casual. → code</a:t>
            </a:r>
          </a:p>
          <a:p>
            <a:r>
              <a:t>4. Please _______ the date: 12 November. → save</a:t>
            </a:r>
          </a:p>
          <a:p>
            <a:r>
              <a:t>5. Please let us know by 1 November. _______ means “please reply”. → RSVP</a:t>
            </a:r>
          </a:p>
          <a:p>
            <a:r>
              <a:t>6. We’d be _______ if you could join us. → delighted</a:t>
            </a:r>
          </a:p>
          <a:p>
            <a:r>
              <a:t>Mistake Watch (拼写与介词): invitation (not “invatation”), refreshments (not “refreshment”), attendance (-ance), venue. Use on + date, at + time/place, in + city: “on 12 November, at 6 p.m., at the Grand Hotel, in Shanghai”.</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formal email invitation 正式邀请函</a:t>
            </a:r>
          </a:p>
          <a:p>
            <a:r>
              <a:t>情景：Your company is holding a product launch. You invite a key client by email.</a:t>
            </a:r>
          </a:p>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25 | </a:t>
            </a:r>
          </a:p>
          <a:p>
            <a:r>
              <a:t>Situation | You invite a client to a business event by email.</a:t>
            </a:r>
          </a:p>
          <a:p>
            <a:r>
              <a:t>Your role | Writer. Event, date, place: ______________</a:t>
            </a:r>
          </a:p>
          <a:p>
            <a:r>
              <a:t>Reader | Client. Check the date and ask a question.</a:t>
            </a:r>
          </a:p>
          <a:p>
            <a:r>
              <a:t>Must use (4 or more) | We would like to invite you to… · The event will take place on… · The dress code is… · Please let us know by… · I hope you will be able to join us.</a:t>
            </a:r>
          </a:p>
          <a:p>
            <a:r>
              <a:t>Goal | An invitation with what / when / where / dress code / RSVP. 100–140 words.</a:t>
            </a:r>
          </a:p>
          <a:p>
            <a:r>
              <a:t>My notes | ____________________________________________</a:t>
            </a:r>
          </a:p>
          <a:p>
            <a:r>
              <a:t>Add parking and transport: “There is free parking, and the nearest metro station is Line 2, East Nanjing Road.”</a:t>
            </a:r>
          </a:p>
          <a:p>
            <a:r>
              <a:t>Invite a speaker: “We would be honoured if you could say a few words.”</a:t>
            </a:r>
          </a:p>
          <a:p>
            <a:r>
              <a:t>Write a shorter, informal version for a client you know well.</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spoken invitation 口头邀请</a:t>
            </a:r>
          </a:p>
          <a:p>
            <a:r>
              <a:t>情景：You meet a client at the end of a meeting and invite her to dinner.</a:t>
            </a:r>
          </a:p>
          <a:p>
            <a:r>
              <a:t>Role A: Fiona Gao Role B: Karen Ortiz</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(Fiona): Karen, before you leave, are you free for dinner tomorrow night?</a:t>
            </a:r>
          </a:p>
          <a:p>
            <a:r>
              <a:t>B (Karen): Tomorrow? I think so. What did you have in mind?</a:t>
            </a:r>
          </a:p>
          <a:p>
            <a:r>
              <a:t>A: I’d like to invite you and your colleague Mark to a dinner at a restaurant near your hotel. It’s a small place, but the food is excellent.</a:t>
            </a:r>
          </a:p>
          <a:p>
            <a:r>
              <a:t>B: That sounds lovely. What time?</a:t>
            </a:r>
          </a:p>
          <a:p>
            <a:r>
              <a:t>A: How about seven? I can send a car for you at half past six.</a:t>
            </a:r>
          </a:p>
          <a:p>
            <a:r>
              <a:t>B: That’s very kind. Is there a dress code?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No, it’s casual. Just come as you are. Do you or Mark have any dietary requirements?</a:t>
            </a:r>
          </a:p>
          <a:p>
            <a:r>
              <a:t>B: Mark is vegetarian. I eat everything.</a:t>
            </a:r>
          </a:p>
          <a:p>
            <a:r>
              <a:t>A: No problem. I’ll let the restaurant know. Shall I send you the details by email tonight?</a:t>
            </a:r>
          </a:p>
          <a:p>
            <a:r>
              <a:t>B: Yes, please. Could you copy Mark in?</a:t>
            </a:r>
          </a:p>
          <a:p>
            <a:r>
              <a:t>A: Of course. I’ll write to you both. I hope you can both join us.</a:t>
            </a:r>
          </a:p>
          <a:p>
            <a:r>
              <a:t>B: We’d love to. Thank you for inviting us.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26 | </a:t>
            </a:r>
          </a:p>
          <a:p>
            <a:r>
              <a:t>Situation | You invite a client to dinner after a meeting.</a:t>
            </a:r>
          </a:p>
          <a:p>
            <a:r>
              <a:t>Your role (A) | Host. Give the time, place, dress code, and ask about dietary needs.</a:t>
            </a:r>
          </a:p>
          <a:p>
            <a:r>
              <a:t>Partner’s role (B) | Client. Accepts, and asks 2 questions.</a:t>
            </a:r>
          </a:p>
          <a:p>
            <a:r>
              <a:t>Must use (3 or more) | Are you free on…? · I’d like to invite you… · How about…? · Is there a dress code? · I hope you can join us.</a:t>
            </a:r>
          </a:p>
          <a:p>
            <a:r>
              <a:t>Goal | Make the invitation clear in 60 seconds, and say you will confirm by email.</a:t>
            </a:r>
          </a:p>
          <a:p>
            <a:r>
              <a:t>My notes | ____________________________________________</a:t>
            </a:r>
          </a:p>
          <a:p>
            <a:r>
              <a:t>The client already has plans. Offer a different day: “How about Thursday instead?”</a:t>
            </a:r>
          </a:p>
          <a:p>
            <a:r>
              <a:t>Invite a group and ask them to confirm numbers by a deadline.</a:t>
            </a:r>
          </a:p>
          <a:p>
            <a:r>
              <a:t>Use ★ language: “We’d be delighted if you could join us.”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details must an invitation include? | “An invitation should include…” / “Without the date and place, people…”</a:t>
            </a:r>
          </a:p>
          <a:p>
            <a:r>
              <a:t>2. Is it better to invite by email, by phone or in person? | “For formal events, I prefer…” / “In person is better when…”</a:t>
            </a:r>
          </a:p>
          <a:p>
            <a:r>
              <a:t>3. What are the risks of a business dinner invitation? | “A risk is that…” / “Guests may not like…”</a:t>
            </a:r>
          </a:p>
          <a:p>
            <a:r>
              <a:t>4. What would you do if an invited guest does not reply? | “I would send a reminder one week before.” / “I would call them and ask…”</a:t>
            </a:r>
          </a:p>
          <a:p>
            <a:r>
              <a:t>5. How formal should an invitation be in your company? | “In my company, invitations are usually…” / “It depends on the guest and the event.”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“An invitation should include five things: what the event is, when and where it takes place, who is invited, and how to reply. I would also add the dress code and any special information, such as parking or dietary options. Without this information, people will have to write back with questions, which is a waste of time for everyone. A clear invitation also makes the host look professional.”</a:t>
            </a:r>
          </a:p>
          <a:p>
            <a:r>
              <a:t>“Without this information, people will have to…” 是 without 引导的条件句。“a waste of time” 注意用 a waste of time,不是 “waste time” 作名词。</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invitation 邀请函模板</a:t>
            </a:r>
          </a:p>
          <a:p>
            <a:r>
              <a:t>Part | Template</a:t>
            </a:r>
          </a:p>
          <a:p>
            <a:r>
              <a:t>Subject | Invitation: [event], [date], [city]</a:t>
            </a:r>
          </a:p>
          <a:p>
            <a:r>
              <a:t>Opening | Dear Ms / Mr [Surname],</a:t>
            </a:r>
          </a:p>
          <a:p>
            <a:r>
              <a:t>Invite | We would like to invite you to [event] on [day, date] at [venue], [city].</a:t>
            </a:r>
          </a:p>
          <a:p>
            <a:r>
              <a:t>Time | The event will start at [time] and finish at [time].</a:t>
            </a:r>
          </a:p>
          <a:p>
            <a:r>
              <a:t>Programme | The evening will include… / A programme is attached.</a:t>
            </a:r>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invitation 邀请函模板</a:t>
            </a:r>
          </a:p>
          <a:p>
            <a:r>
              <a:t>Part | Template</a:t>
            </a:r>
          </a:p>
          <a:p>
            <a:r>
              <a:t>Details | The dress code is… / Parking is available at… / Light refreshments will be provided.</a:t>
            </a:r>
          </a:p>
          <a:p>
            <a:r>
              <a:t>Reply | Please let us know by [date] whether you can attend (RSVP).</a:t>
            </a:r>
          </a:p>
          <a:p>
            <a:r>
              <a:t>Closing | I hope you will be able to join us. / We look forward to seeing you.</a:t>
            </a:r>
          </a:p>
          <a:p>
            <a:r>
              <a:t>Sign-off | Kind regards, + name</a:t>
            </a:r>
          </a:p>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invitations 邀请句型库</a:t>
            </a:r>
          </a:p>
          <a:p>
            <a:r>
              <a:t>Formal ★ | Neutral | Informal</a:t>
            </a:r>
          </a:p>
          <a:p>
            <a:r>
              <a:t>We would like to invite you to… | I’d like to invite you to… | Are you free on Friday?</a:t>
            </a:r>
          </a:p>
          <a:p>
            <a:r>
              <a:t>It would be a pleasure to welcome you. | I hope you can come. | Hope you can make it!</a:t>
            </a:r>
          </a:p>
          <a:p>
            <a:r>
              <a:t>Kindly confirm your attendance by… | Please let us know by… | Let me know if you can come.</a:t>
            </a:r>
          </a:p>
          <a:p>
            <a:r>
              <a:t>Please save the date. | Please note the date. | Pop it in your diary.</a:t>
            </a:r>
          </a:p>
          <a:p>
            <a:r>
              <a:t>The dress code is smart casual. | Dress is casual. | Just come as you are.</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invitations 邀请句型库</a:t>
            </a:r>
          </a:p>
          <a:p>
            <a:r>
              <a:t>Invite someone to + event: “invite you to dinner” (not “invite you dinner”).</a:t>
            </a:r>
          </a:p>
          <a:p>
            <a:r>
              <a:t>Date style: UK 12 November or 12th November; US November 15. Write the month in words to avoid confusion (10/11 = 10 November in the UK, 11 October in the US).</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invite you dinner.  →  ✓ I’d like to invite you to dinner.  (invite sb to sth)</a:t>
            </a:r>
          </a:p>
          <a:p>
            <a:r>
              <a:t>✗ We invite you to attend our the product launch.  →  ✓ We would like to invite you to our product launch.  (不要叠加 the 和 our)</a:t>
            </a:r>
          </a:p>
          <a:p>
            <a:r>
              <a:t>✗ The event is in 12 November in 6 p.m.  →  ✓ The event is on 12 November at 6 p.m.  (on 日期 / at 钟点)</a:t>
            </a:r>
          </a:p>
          <a:p>
            <a:r>
              <a:t>✗ We will hold a party in the Grand Hotel.  →  ✓ We will hold a party at the Grand Hotel.  (地点 at)</a:t>
            </a:r>
          </a:p>
          <a:p>
            <a:r>
              <a:t>✗ Welcome you to come.  →  ✓ We look forward to welcoming you. / It would be a pleasure to welcome you.  (welcome 的完整用法)</a:t>
            </a:r>
          </a:p>
          <a:p>
            <a:r>
              <a:t>Mistake Watch: invite sb to sth, on + date, at + time/place, reply by + date. Do not write “Your presence is expected”.</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reply me before 1 November.  →  ✓ Please reply by 1 November. / Please let us know by 1 November.  (reply 后加 to + 人 / by)</a:t>
            </a:r>
          </a:p>
          <a:p>
            <a:r>
              <a:t>✗ Your presence is highly expected.  →  ✓ We would be delighted if you could join us.  (expect 在英文里不礼貌,像命令)</a:t>
            </a:r>
          </a:p>
          <a:p>
            <a:r>
              <a:t>✗ Please come on time. We will not wait.  →  ✓ The event will start promptly at 6 p.m.  (用中性说法)</a:t>
            </a:r>
          </a:p>
          <a:p>
            <a:r>
              <a:t>✗ Would you like to coming?  →  ✓ Would you like to come?  (like to + 动词原形)</a:t>
            </a:r>
          </a:p>
          <a:p>
            <a:r>
              <a:t>✗ invatation / refreshment list  →  ✓ invitation / refreshments  (拼写)</a:t>
            </a:r>
          </a:p>
          <a:p>
            <a:r>
              <a:t>Mistake Watch: invite sb to sth, on + date, at + time/place, reply by + date. Do not write “Your presence is expected”.</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RSVP is an obligation. “RSVP” means please reply, even if the answer is “no”. Don’t leave the host guessing.</a:t>
            </a:r>
          </a:p>
          <a:p>
            <a:r>
              <a:t>Plus-ones: Western invitations clearly say whether you can bring a guest. Chinese hosts often assume that everyone knows. Always write: “Please feel free to bring a colleague” or “Invitation for one person only”.</a:t>
            </a:r>
          </a:p>
          <a:p>
            <a:r>
              <a:t>Dress code: Business casual = no suit and tie, but smart. Smart casual = no jeans or trainers. Black tie = evening dress or tuxedo.</a:t>
            </a:r>
          </a:p>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Time of the day: After-work receptions are often 6–8 p.m. and usually finish before 9 p.m. Breakfast meetings are common in the US.</a:t>
            </a:r>
          </a:p>
          <a:p>
            <a:r>
              <a:t>Dinner invitations: Say clearly who is paying. “Dinner is on us” (we are paying). Otherwise, guests may worry.</a:t>
            </a:r>
          </a:p>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invite someone with We would like to invite you to… and Are you free on…?</a:t>
            </a:r>
          </a:p>
          <a:p>
            <a:r>
              <a:t>I can give the key details: what, when, where, dress code, how to reply.</a:t>
            </a:r>
          </a:p>
          <a:p>
            <a:r>
              <a:t>I can ask for a reply with Please let us know by… / RSVP.</a:t>
            </a:r>
          </a:p>
          <a:p>
            <a:r>
              <a:t>I can use on / at / in correctly for dates, times and places.</a:t>
            </a:r>
          </a:p>
          <a:p>
            <a:r>
              <a:t>I can write the format “invite sb to sth” and “reply by + date” without mistakes.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invite … to, on / at / in, reply by, and spelling (invitation, refreshments).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16 · Replies to invitations 回复邀请</a:t>
            </a:r>
          </a:p>
          <a:p>
            <a:r>
              <a:t>Goal: reply to an invitation: accept, decline or say “maybe” politely, ask about the details, confirm attendance, and keep a good relationship even when you must say no.</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题讲过去的事,请用过去式(declined, said, wrote)。第 2 题可以说 “It is (not) easy for me because…”。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Show how to accept one invitation and decline another.</a:t>
            </a:r>
          </a:p>
          <a:p>
            <a:r>
              <a:t>Say: thank them → accept or decline → give a short reason (if needed) → ask about details or offer an alternative → a polite closing.</a:t>
            </a:r>
          </a:p>
          <a:p>
            <a:r>
              <a:t>Useful starters: “Thank you very much for your invitation.” / “I’d be delighted to…” / “Unfortunately, I won’t be able to… because…”</a:t>
            </a:r>
          </a:p>
          <a:p>
            <a:r>
              <a:t>拒绝时:先感谢 → 再说 “I’m afraid I can’t” → 简短原因 → 提出别的可能(Maybe next time)。won’t be able to 比 can’t 更委婉。</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Accepting 接受邀请</a:t>
            </a:r>
          </a:p>
          <a:p>
            <a:r>
              <a:t>领读 → 学员跟读 → 请学员用表达造一个和自己工作相关的句子。</a:t>
            </a:r>
          </a:p>
          <a:p>
            <a:r>
              <a:t>Thank you for the kind invitation. (phrase) 感谢您的盛情邀请 — “Thank you for the kind invitation to your product launch.”</a:t>
            </a:r>
          </a:p>
          <a:p>
            <a:r>
              <a:t>I’d be delighted to attend. (phrase) 我很乐意参加 — “I’d be delighted to attend.”</a:t>
            </a:r>
          </a:p>
          <a:p>
            <a:r>
              <a:t>★ Please count me in. (phrase) 算我一个 — “Please count me in for dinner on Friday.”</a:t>
            </a:r>
          </a:p>
          <a:p>
            <a:r>
              <a:t>I’m looking forward to it. (phrase) 我很期待 — “I’m looking forward to it.”</a:t>
            </a:r>
          </a:p>
          <a:p>
            <a:r>
              <a:t>I can confirm that two of us will attend. (phrase) 我确认我们两人会出席 — “I can confirm that two of us will attend.”</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Declining politely 礼貌拒绝</a:t>
            </a:r>
          </a:p>
          <a:p>
            <a:r>
              <a:t>领读 → 学员跟读 → 请学员用表达造一个和自己工作相关的句子。</a:t>
            </a:r>
          </a:p>
          <a:p>
            <a:r>
              <a:t>Unfortunately, I won’t be able to make it. (phrase) 很遗憾,我去不了 — “Unfortunately, I won’t be able to make it on the 12th.”</a:t>
            </a:r>
          </a:p>
          <a:p>
            <a:r>
              <a:t>★ I’m afraid I have a prior commitment. (phrase (formal)) 恐怕我已有安排 — “I’m afraid I have a prior commitment on that evening.”</a:t>
            </a:r>
          </a:p>
          <a:p>
            <a:r>
              <a:t>★ I’m already booked up that week. (phrase) 那一周我的日程已排满 — “I’m already booked up that week.”</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Declining politely 礼貌拒绝</a:t>
            </a:r>
          </a:p>
          <a:p>
            <a:r>
              <a:t>领读 → 学员跟读 → 请学员用表达造一个和自己工作相关的句子。</a:t>
            </a:r>
          </a:p>
          <a:p>
            <a:r>
              <a:t>★ Please send my apologies to… (phrase) 请代我向……致歉 — “Please send my apologies to the team.”</a:t>
            </a:r>
          </a:p>
          <a:p>
            <a:r>
              <a:t>Maybe next time. / I hope we can meet soon. (phrase) 希望下次有机会 — “Thank you for thinking of me. Maybe next time.”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Asking about details 询问细节</a:t>
            </a:r>
          </a:p>
          <a:p>
            <a:r>
              <a:t>领读 → 学员跟读 → 请学员用表达造一个和自己工作相关的句子。</a:t>
            </a:r>
          </a:p>
          <a:p>
            <a:r>
              <a:t>Could you tell me more about…? (phrase) 您能多告诉我一些关于……的信息吗? — “Could you tell me more about the programme?”</a:t>
            </a:r>
          </a:p>
          <a:p>
            <a:r>
              <a:t>Is there a dress code? (phrase) 有着装要求吗? — “Is there a dress code?”</a:t>
            </a:r>
          </a:p>
          <a:p>
            <a:r>
              <a:t>Would it be possible to bring a colleague? (phrase) 可以带一位同事吗? — “Would it be possible to bring a colleague?”</a:t>
            </a:r>
          </a:p>
          <a:p>
            <a:r>
              <a:t>★ Can I get back to you on that by Friday? (phrase) 我可以周五前再答复您吗? — “Can I get back to you on that by Friday?”</a:t>
            </a:r>
          </a:p>
          <a:p>
            <a:r>
              <a:t>★ I’ll have to check my diary and confirm. (phrase) 我得查一下日程再确认 — “I’ll have to check my diary and confirm tomorrow.”</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kind / on / delighted / apologies / commitment / it</a:t>
            </a:r>
          </a:p>
          <a:p>
            <a:r>
              <a:t>1. Thank you for the _______ invitation. → kind</a:t>
            </a:r>
          </a:p>
          <a:p>
            <a:r>
              <a:t>2. I’d be _______ to attend. → delighted</a:t>
            </a:r>
          </a:p>
          <a:p>
            <a:r>
              <a:t>3. Unfortunately, I won’t be able to make _______. → it</a:t>
            </a:r>
          </a:p>
          <a:p>
            <a:r>
              <a:t>4. I’m afraid I have a prior _______. → commitment</a:t>
            </a:r>
          </a:p>
          <a:p>
            <a:r>
              <a:t>5. Please send my _______ to the team. → apologies</a:t>
            </a:r>
          </a:p>
          <a:p>
            <a:r>
              <a:t>6. Can I get back to you _______ that by Friday? → on</a:t>
            </a:r>
          </a:p>
          <a:p>
            <a:r>
              <a:t>Mistake Watch (拼写与时态): commitment (double m, one t), apologies, delighted (not “delited”), definitely (not “definately”). After won’t be able to use the base verb: “I won’t be able to attend.”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Accepting and asking a question 接受邀请并询问细节</a:t>
            </a:r>
          </a:p>
          <a:p>
            <a:r>
              <a:t>情景：Ms Ortiz replies to Fiona’s invitation to the product launch. She accepts and asks about logistics.</a:t>
            </a:r>
          </a:p>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27 | </a:t>
            </a:r>
          </a:p>
          <a:p>
            <a:r>
              <a:t>Situation | You accept an invitation to a business event.</a:t>
            </a:r>
          </a:p>
          <a:p>
            <a:r>
              <a:t>Your role | Writer. The event you accept: ______________</a:t>
            </a:r>
          </a:p>
          <a:p>
            <a:r>
              <a:t>Reader | Host. Reads your reply and answers your question.</a:t>
            </a:r>
          </a:p>
          <a:p>
            <a:r>
              <a:t>Must use (4 or more) | Thank you for the kind invitation. · I’d be delighted to attend. · I can confirm that… · Could you tell me…? · I’m looking forward to it.</a:t>
            </a:r>
          </a:p>
          <a:p>
            <a:r>
              <a:t>Goal | Accept, confirm numbers, ask 2 questions. 80–110 words.</a:t>
            </a:r>
          </a:p>
          <a:p>
            <a:r>
              <a:t>My notes | ____________________________________________</a:t>
            </a:r>
          </a:p>
          <a:p>
            <a:r>
              <a:t>You are not sure yet. Write: “Can I get back to you by Friday? I need to check my diary.”</a:t>
            </a:r>
          </a:p>
          <a:p>
            <a:r>
              <a:t>You want to bring a guest: “Would it be possible to bring a colleague?”</a:t>
            </a:r>
          </a:p>
          <a:p>
            <a:r>
              <a:t>Add a personal line: “I’ve heard great things about your new range.”</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Declining politely and suggesting an alternative 礼貌拒绝并提出替代方案</a:t>
            </a:r>
          </a:p>
          <a:p>
            <a:r>
              <a:t>情景：You cannot go to the dinner because of a trip. You decline by phone and suggest a different date.</a:t>
            </a:r>
          </a:p>
          <a:p>
            <a:r>
              <a:t>Role A: Fiona Gao, host Role B: Mr Park,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(Fiona): Hello, Mr Park. It’s Fiona from Orion. I’m calling about the dinner on Friday. Have you had a chance to check your diary?</a:t>
            </a:r>
          </a:p>
          <a:p>
            <a:r>
              <a:t>B (Park): Hello, Fiona. Yes, I have. Thank you so much for the invitation, but I’m afraid I won’t be able to make it.</a:t>
            </a:r>
          </a:p>
          <a:p>
            <a:r>
              <a:t>A: Oh, that’s a shame. Is it a work trip?</a:t>
            </a:r>
          </a:p>
          <a:p>
            <a:r>
              <a:t>B: Yes. I have a prior commitment in Busan that evening. I’m really sorry.</a:t>
            </a:r>
          </a:p>
          <a:p>
            <a:r>
              <a:t>A: Not at all. I completely understand. Thank you for letting me know.</a:t>
            </a:r>
          </a:p>
          <a:p>
            <a:r>
              <a:t>B: I’d really like to meet the team, though. Would it be possible to meet during my next visit?</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Of course. When are you next in Shanghai?</a:t>
            </a:r>
          </a:p>
          <a:p>
            <a:r>
              <a:t>B: Probably the first week of December. I could do a lunch instead of a dinner.</a:t>
            </a:r>
          </a:p>
          <a:p>
            <a:r>
              <a:t>A: Perfect. Lunch on the third or fourth would suit us fine. I’ll send you a new invitation.</a:t>
            </a:r>
          </a:p>
          <a:p>
            <a:r>
              <a:t>B: That would be great. Please send my apologies to the team on Friday.</a:t>
            </a:r>
          </a:p>
          <a:p>
            <a:r>
              <a:t>A: I will. Have a good trip!</a:t>
            </a:r>
          </a:p>
          <a:p>
            <a:r>
              <a:t>B: Thank you. See you in December.</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28 | </a:t>
            </a:r>
          </a:p>
          <a:p>
            <a:r>
              <a:t>Situation | You decline an invitation but want to keep the relationship.</a:t>
            </a:r>
          </a:p>
          <a:p>
            <a:r>
              <a:t>Your role (B) | Invited guest. Decline and suggest an alternative.</a:t>
            </a:r>
          </a:p>
          <a:p>
            <a:r>
              <a:t>Partner’s role (A) | Host. Disappointed but understanding.</a:t>
            </a:r>
          </a:p>
          <a:p>
            <a:r>
              <a:t>Must use (4 or more) | I’m afraid I won’t be able to make it. · prior commitment · Please send my apologies. · Maybe next time. · Would it be possible…?</a:t>
            </a:r>
          </a:p>
          <a:p>
            <a:r>
              <a:t>Goal | Say no kindly, give a short reason, and keep the next date open.</a:t>
            </a:r>
          </a:p>
          <a:p>
            <a:r>
              <a:t>My notes | ____________________________________________</a:t>
            </a:r>
          </a:p>
          <a:p>
            <a:r>
              <a:t>Decline without a reason: “I’m afraid I won’t be able to join, but thank you for thinking of me.”</a:t>
            </a:r>
          </a:p>
          <a:p>
            <a:r>
              <a:t>The host asks again: “Are you sure you can’t move it?” Stay polite: “I wish I could, but it’s fixed.”</a:t>
            </a:r>
          </a:p>
          <a:p>
            <a:r>
              <a:t>Write the same reply as a 3-line email.</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it OK to decline a business invitation? When? | “It’s fine to decline if…” / “I think it is important to go when…”</a:t>
            </a:r>
          </a:p>
          <a:p>
            <a:r>
              <a:t>2. How do you decline without hurting the relationship? | “I always say thank you first.” / “I suggest another date.”</a:t>
            </a:r>
          </a:p>
          <a:p>
            <a:r>
              <a:t>3. How soon should you reply to an invitation? | “As soon as I know, ideally within…” / “If I can’t decide, I say ‘I’ll confirm by…’.”</a:t>
            </a:r>
          </a:p>
          <a:p>
            <a:r>
              <a:t>4. Should you give a reason when you say no? | “A short reason is helpful, such as…” / “I don’t give details if it’s private.”</a:t>
            </a:r>
          </a:p>
          <a:p>
            <a:r>
              <a:t>5. What would you do if you accepted an invitation and then could not go? | “I would tell the host immediately and say…” / “I’d apologize and, if possible, send a colleague.”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is easier for me to say no when I think about the other person’s feelings. First, I thank them. Then I say,”I’m afraid I won’t be able to make it”, with a short reason, for example, “I have a prior commitment.” Finally, I suggest another time, like “Maybe next time” or “Could we have lunch next month?” This way, the other person feels that I value the relationship, not only the event.”</a:t>
            </a:r>
          </a:p>
          <a:p>
            <a:r>
              <a:t>“value the relationship”(重视这段关系)是商务常用搭配。“not only the event” 表示“而不仅是这次活动”。“This way,…”(这样一来)可单独用。</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reply to an invitation 回复邀请邮件模板</a:t>
            </a:r>
          </a:p>
          <a:p>
            <a:r>
              <a:t>Part | Accept ✓ | Decline ✓</a:t>
            </a:r>
          </a:p>
          <a:p>
            <a:r>
              <a:t>Subject | RE: Invitation: [event] | RE: Invitation: [event]</a:t>
            </a:r>
          </a:p>
          <a:p>
            <a:r>
              <a:t>Opening | Dear Fiona, | Dear Fiona,</a:t>
            </a:r>
          </a:p>
          <a:p>
            <a:r>
              <a:t>Thanks | Thank you very much for the kind invitation. | Thank you very much for inviting me.</a:t>
            </a:r>
          </a:p>
          <a:p>
            <a:r>
              <a:t>Answer | I’d be delighted to attend. | I’m afraid I won’t be able to make it.</a:t>
            </a:r>
          </a:p>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Email template: reply to an invitation 回复邀请邮件模板</a:t>
            </a:r>
          </a:p>
          <a:p>
            <a:r>
              <a:t>Part | Accept ✓ | Decline ✓</a:t>
            </a:r>
          </a:p>
          <a:p>
            <a:r>
              <a:t>Detail | Two of us will attend. / Could you tell me…? | I have a prior commitment that day.</a:t>
            </a:r>
          </a:p>
          <a:p>
            <a:r>
              <a:t>Alternative | — | Maybe next time. / Could we meet in December?</a:t>
            </a:r>
          </a:p>
          <a:p>
            <a:r>
              <a:t>Closing | I’m looking forward to it. | Please send my apologies to the team.</a:t>
            </a:r>
          </a:p>
          <a:p>
            <a:r>
              <a:t>Sign-off | Kind regards, + name | Kind regards, + name</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accepting, declining, maybe 句型库</a:t>
            </a:r>
          </a:p>
          <a:p>
            <a:r>
              <a:t>Answer | Say this</a:t>
            </a:r>
          </a:p>
          <a:p>
            <a:r>
              <a:t>Accept | I’d be delighted to. / I’d love to. / Please count me in. ★</a:t>
            </a:r>
          </a:p>
          <a:p>
            <a:r>
              <a:t>Accept with condition | I’d love to, as long as I can leave by 9.</a:t>
            </a:r>
          </a:p>
          <a:p>
            <a:r>
              <a:t>Maybe | I’ll have to check my diary and confirm. ★ / Can I get back to you by Friday? ★</a:t>
            </a:r>
          </a:p>
          <a:p>
            <a:r>
              <a:t>Decline (soft) | Unfortunately, I won’t be able to make it. / I’m afraid I can’t.</a:t>
            </a:r>
          </a:p>
          <a:p>
            <a:r>
              <a:t>Decline (formal) ★ | I regret that I am unable to attend due to a prior commitment.</a:t>
            </a:r>
          </a:p>
          <a:p>
            <a:r>
              <a:t>Alternative | Maybe next time. / Could we meet another day?</a:t>
            </a:r>
          </a:p>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Phrase bank: accepting, declining, maybe 句型库</a:t>
            </a:r>
          </a:p>
          <a:p>
            <a:r>
              <a:t>Won’t be able to is softer than can’t. “I can’t come” sounds flat; “I won’t be able to make it” sounds regretful.</a:t>
            </a:r>
          </a:p>
          <a:p>
            <a:r>
              <a:t>Make it = manage to attend: “I can’t make it on Friday.”</a:t>
            </a:r>
          </a:p>
          <a:p>
            <a:r>
              <a:t>After thank you for, use a noun or -ing: “Thank you for inviting me.”</a:t>
            </a:r>
          </a:p>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 you for invite me.  →  ✓ Thank you for inviting me. / Thank you for the invitation.  (for + -ing / 名词)</a:t>
            </a:r>
          </a:p>
          <a:p>
            <a:r>
              <a:t>✗ I can’t go because I very busy.  →  ✓ I won’t be able to make it because I’m very busy. / I have a prior commitment.  (缺 be 动词;委婉表达)</a:t>
            </a:r>
          </a:p>
          <a:p>
            <a:r>
              <a:t>✗ Sorry, I no time.  →  ✓ I’m afraid I’m already booked up that week.  (太直接,也缺动词)</a:t>
            </a:r>
          </a:p>
          <a:p>
            <a:r>
              <a:t>✗ I will to attend.  →  ✓ I will attend. / I’d be delighted to attend.  (will 后面不加 to)</a:t>
            </a:r>
          </a:p>
          <a:p>
            <a:r>
              <a:t>✗ I am very happy to be invited.  →  ✓ I’d be delighted to attend.  (商务邮件用 delighted)</a:t>
            </a:r>
          </a:p>
          <a:p>
            <a:r>
              <a:t>Mistake Watch: Thank you for inviting me (-ing), I’ll attend (no “to” after will), if I have time (present for future), a prior commitment.</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should check my diary.  →  ✓ I’ll have to check my diary.  (have to 表示必须去做)</a:t>
            </a:r>
          </a:p>
          <a:p>
            <a:r>
              <a:t>✗ I will go if I will have time.  →  ✓ I’ll go if I have time.  (if 从句用现在时表示将来)</a:t>
            </a:r>
          </a:p>
          <a:p>
            <a:r>
              <a:t>✗ Please excuse me to not attend.  →  ✓ Please accept my apologies for not being able to attend.  (固定表达)</a:t>
            </a:r>
          </a:p>
          <a:p>
            <a:r>
              <a:t>✗ comitment / definately  →  ✓ commitment / definitely  (拼写)</a:t>
            </a:r>
          </a:p>
          <a:p>
            <a:r>
              <a:t>Mistake Watch: Thank you for inviting me (-ing), I’ll attend (no “to” after will), if I have time (present for future), a prior commitment.</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Answer promptly. In English business culture, silence is rude. If you cannot decide, say when you will answer: “Can I confirm by Friday?”</a:t>
            </a:r>
          </a:p>
          <a:p>
            <a:r>
              <a:t>A clear “no” is fine. You don’t have to invent a reason. “I have a prior commitment” is enough and does not need more detail.</a:t>
            </a:r>
          </a:p>
          <a:p>
            <a:r>
              <a:t>Don’t ask for a plus-one unless the invitation says “and guest”. If you want to bring someone, ask: “Would it be possible to bring a colleague?”</a:t>
            </a:r>
          </a:p>
          <a:p>
            <a:r>
              <a:t>No-shows are costly. Hosts pay for catering per head. If you must cancel, do it at least 24–48 hours before and apologize.</a:t>
            </a:r>
          </a:p>
          <a:p>
            <a:r>
              <a:t>Thank-you note: After attending, a short email “Thank you for a lovely evening” is a good habit.</a:t>
            </a:r>
          </a:p>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accept an invitation with Thank you for the kind invitation. I’d be delighted to attend.</a:t>
            </a:r>
          </a:p>
          <a:p>
            <a:r>
              <a:t>I can decline politely with I’m afraid I won’t be able to make it and a short reason.</a:t>
            </a:r>
          </a:p>
          <a:p>
            <a:r>
              <a:t>I can ask about details (dress code, plus-one, parking) politely.</a:t>
            </a:r>
          </a:p>
          <a:p>
            <a:r>
              <a:t>I can buy time with Can I get back to you by Friday?</a:t>
            </a:r>
          </a:p>
          <a:p>
            <a:r>
              <a:t>I can use thank you for inviting me, will attend and if I have time correctly.</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thank you for + -ing, will + verb (no “to”), if + present, and spelling (commitment, definitely).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“如果您能……我将不胜感激” in English? → I’d appreciate it if you could…</a:t>
            </a:r>
          </a:p>
          <a:p>
            <a:r>
              <a:t>“如需更多信息,请随时与我联系” in English? → Please don’t hesitate to contact me if you need anything further.</a:t>
            </a:r>
          </a:p>
          <a:p>
            <a:r>
              <a:t>“按您的要求,……” in English? → As requested, …</a:t>
            </a:r>
          </a:p>
          <a:p>
            <a:r>
              <a:t>Fix it: Sorry, we don’t have the 2-litre size. → Unfortunately, the 2-litre size is out of stock.</a:t>
            </a:r>
          </a:p>
          <a:p>
            <a:r>
              <a:t>Fix it: Thanks for your patient. → Thank you for your patience.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2.xml"/><Relationship Id="rId5" Type="http://schemas.openxmlformats.org/officeDocument/2006/relationships/slide" Target="slide59.xml"/><Relationship Id="rId6" Type="http://schemas.openxmlformats.org/officeDocument/2006/relationships/slide" Target="slide86.xml"/><Relationship Id="rId7" Type="http://schemas.openxmlformats.org/officeDocument/2006/relationships/slide" Target="slide112.xml"/><Relationship Id="rId8" Type="http://schemas.openxmlformats.org/officeDocument/2006/relationships/slide" Target="slide14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 Id="rId4" Type="http://schemas.openxmlformats.org/officeDocument/2006/relationships/slide" Target="slide167.xml"/><Relationship Id="rId5" Type="http://schemas.openxmlformats.org/officeDocument/2006/relationships/slide" Target="slide168.xml"/><Relationship Id="rId6" Type="http://schemas.openxmlformats.org/officeDocument/2006/relationships/slide" Target="slide169.xml"/><Relationship Id="rId7" Type="http://schemas.openxmlformats.org/officeDocument/2006/relationships/slide" Target="slide170.xml"/><Relationship Id="rId8" Type="http://schemas.openxmlformats.org/officeDocument/2006/relationships/slide" Target="slide171.xml"/><Relationship Id="rId9" Type="http://schemas.openxmlformats.org/officeDocument/2006/relationships/slide" Target="slide172.xml"/><Relationship Id="rId10" Type="http://schemas.openxmlformats.org/officeDocument/2006/relationships/slide" Target="slide173.xml"/><Relationship Id="rId11" Type="http://schemas.openxmlformats.org/officeDocument/2006/relationships/slide" Target="slide174.xml"/><Relationship Id="rId12" Type="http://schemas.openxmlformats.org/officeDocument/2006/relationships/slide" Target="slide175.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6.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4 · UNIT 4</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E-mail</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6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L11 An inquiry by email · L12 A reply to an inquiry · L13 A follow-up email · L14 A reply to a follow-up email · L15 Invitations · L16 Replies to invitations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11</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An inquiry by email</a:t>
            </a:r>
          </a:p>
          <a:p>
            <a:pPr algn="l">
              <a:lnSpc>
                <a:spcPct val="100000"/>
              </a:lnSpc>
              <a:spcAft>
                <a:spcPts val="800"/>
              </a:spcAft>
            </a:pPr>
            <a:r>
              <a:rPr sz="1400" b="0">
                <a:solidFill>
                  <a:srgbClr val="5F677A"/>
                </a:solidFill>
                <a:latin typeface="Arial"/>
                <a:ea typeface="Microsoft YaHei"/>
              </a:rPr>
              <a:t>电子邮件查询</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12</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 reply to an inquiry</a:t>
            </a:r>
          </a:p>
          <a:p>
            <a:pPr algn="l">
              <a:lnSpc>
                <a:spcPct val="100000"/>
              </a:lnSpc>
              <a:spcAft>
                <a:spcPts val="800"/>
              </a:spcAft>
            </a:pPr>
            <a:r>
              <a:rPr sz="1400" b="0">
                <a:solidFill>
                  <a:srgbClr val="5F677A"/>
                </a:solidFill>
                <a:latin typeface="Arial"/>
                <a:ea typeface="Microsoft YaHei"/>
              </a:rPr>
              <a:t>回复查询</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13</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 follow-up email</a:t>
            </a:r>
          </a:p>
          <a:p>
            <a:pPr algn="l">
              <a:lnSpc>
                <a:spcPct val="100000"/>
              </a:lnSpc>
              <a:spcAft>
                <a:spcPts val="800"/>
              </a:spcAft>
            </a:pPr>
            <a:r>
              <a:rPr sz="1400" b="0">
                <a:solidFill>
                  <a:srgbClr val="5F677A"/>
                </a:solidFill>
                <a:latin typeface="Arial"/>
                <a:ea typeface="Microsoft YaHei"/>
              </a:rPr>
              <a:t>跟进邮件</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14</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 reply to a follow-up email</a:t>
            </a:r>
          </a:p>
          <a:p>
            <a:pPr algn="l">
              <a:lnSpc>
                <a:spcPct val="100000"/>
              </a:lnSpc>
              <a:spcAft>
                <a:spcPts val="800"/>
              </a:spcAft>
            </a:pPr>
            <a:r>
              <a:rPr sz="1400" b="0">
                <a:solidFill>
                  <a:srgbClr val="5F677A"/>
                </a:solidFill>
                <a:latin typeface="Arial"/>
                <a:ea typeface="Microsoft YaHei"/>
              </a:rPr>
              <a:t>回复跟进邮件</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15</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Invitations</a:t>
            </a:r>
          </a:p>
          <a:p>
            <a:pPr algn="l">
              <a:lnSpc>
                <a:spcPct val="100000"/>
              </a:lnSpc>
              <a:spcAft>
                <a:spcPts val="800"/>
              </a:spcAft>
            </a:pPr>
            <a:r>
              <a:rPr sz="1400" b="0">
                <a:solidFill>
                  <a:srgbClr val="5F677A"/>
                </a:solidFill>
                <a:latin typeface="Arial"/>
                <a:ea typeface="Microsoft YaHei"/>
              </a:rPr>
              <a:t>邀请</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16</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Replies to invitations</a:t>
            </a:r>
          </a:p>
          <a:p>
            <a:pPr algn="l">
              <a:lnSpc>
                <a:spcPct val="100000"/>
              </a:lnSpc>
              <a:spcAft>
                <a:spcPts val="800"/>
              </a:spcAft>
            </a:pPr>
            <a:r>
              <a:rPr sz="1400" b="0">
                <a:solidFill>
                  <a:srgbClr val="5F677A"/>
                </a:solidFill>
                <a:latin typeface="Arial"/>
                <a:ea typeface="Microsoft YaHei"/>
              </a:rPr>
              <a:t>回复邀请</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 · Lesson 11 An inquiry by email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An inquiry by email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电子邮件查询</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write a clear, polite inquiry email (subject line, opening, purpose, specific questions, deadline, closing) so that you get a timely and accurate reply.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373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686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6868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many work emails do you write in a week? Which ones are the hardest in English?</a:t>
            </a:r>
          </a:p>
        </p:txBody>
      </p:sp>
      <p:sp>
        <p:nvSpPr>
          <p:cNvPr id="12" name="Oval 11"/>
          <p:cNvSpPr/>
          <p:nvPr/>
        </p:nvSpPr>
        <p:spPr>
          <a:xfrm>
            <a:off x="548640" y="25557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32888"/>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32888"/>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What makes you open an email quickly? What makes you ignore one?</a:t>
            </a:r>
          </a:p>
        </p:txBody>
      </p:sp>
      <p:sp>
        <p:nvSpPr>
          <p:cNvPr id="15" name="Oval 14"/>
          <p:cNvSpPr/>
          <p:nvPr/>
        </p:nvSpPr>
        <p:spPr>
          <a:xfrm>
            <a:off x="548640" y="337413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191256"/>
            <a:ext cx="10408615" cy="8686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91256"/>
            <a:ext cx="10180015" cy="86868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When did you last send an inquiry (about a price, a product or a service)? Did you get a useful reply?</a:t>
            </a:r>
          </a:p>
        </p:txBody>
      </p:sp>
      <p:sp>
        <p:nvSpPr>
          <p:cNvPr id="18" name="Oval 17"/>
          <p:cNvSpPr/>
          <p:nvPr/>
        </p:nvSpPr>
        <p:spPr>
          <a:xfrm>
            <a:off x="548640" y="41925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69664"/>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69664"/>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Do you prefer to send an email or to phone when you need information? Why?</a:t>
            </a:r>
          </a:p>
        </p:txBody>
      </p:sp>
      <p:sp>
        <p:nvSpPr>
          <p:cNvPr id="21" name="Oval 20"/>
          <p:cNvSpPr/>
          <p:nvPr/>
        </p:nvSpPr>
        <p:spPr>
          <a:xfrm>
            <a:off x="548640" y="48508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828032"/>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828032"/>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What information do you always need before you buy from a new supplier?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题讲过去的事,请用过去式(sent, got, received)。第 5 题可以用 “I always need to know…”。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to write an inquiry email that gets a quick, useful answer.</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1. the subject line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2. who you are and why you are writing</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3. your specific questions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4. your deadline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5. a polite closing</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First, I write a clear subject line, for example…   💬 Then I explain why I’m writing…   💬 I always ask for… and I give a date.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说明步骤时用 first / then / finally。提问越具体,对方回复越快:不要只问 “Please send information”,要问价格、数量、交货期。</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and purpose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开头与目的</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am writing to enquire about…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我写信是想咨询……</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am writing to enquire about your LED panel lights.”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writing to ask about…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我写信是想询问……</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writing to ask about your delivery times to Europe.”</a:t>
            </a:r>
          </a:p>
        </p:txBody>
      </p:sp>
      <p:sp>
        <p:nvSpPr>
          <p:cNvPr id="19" name="Rounded Rectangle 18"/>
          <p:cNvSpPr/>
          <p:nvPr/>
        </p:nvSpPr>
        <p:spPr>
          <a:xfrm>
            <a:off x="548640" y="343408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came across your website / your name was given to me by…</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我在贵公司网站看到…… / 某人向我推荐了您</a:t>
            </a:r>
          </a:p>
        </p:txBody>
      </p:sp>
      <p:sp>
        <p:nvSpPr>
          <p:cNvPr id="23" name="TextBox 22"/>
          <p:cNvSpPr txBox="1"/>
          <p:nvPr/>
        </p:nvSpPr>
        <p:spPr>
          <a:xfrm>
            <a:off x="6675120" y="347980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came across your website and was impressed by your range.”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1: Opening and purpose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开头与目的</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are currently looking into…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我们目前正在考虑/研究……</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are currently looking into new packaging suppliers.”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are a (Shanghai-based) company that…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我们是一家(位于上海的)……公司</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are a Shanghai-based company that sells kitchen equipment.”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Asking for information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询问信息</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please send me… ?</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请问您能否寄给我……?</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please send me your latest catalogue and price list?”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be grateful if you could…</a:t>
            </a:r>
          </a:p>
          <a:p>
            <a:pPr algn="l">
              <a:lnSpc>
                <a:spcPct val="115000"/>
              </a:lnSpc>
              <a:spcAft>
                <a:spcPts val="800"/>
              </a:spcAft>
            </a:pPr>
            <a:r>
              <a:rPr sz="1300" b="0">
                <a:solidFill>
                  <a:srgbClr val="5F677A"/>
                </a:solidFill>
                <a:latin typeface="Arial"/>
                <a:ea typeface="Microsoft YaHei"/>
              </a:rPr>
              <a:t>phrase (formal)</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如果您能……我将不胜感激</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be grateful if you could confirm the minimum order quantity.”</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let me know… ?</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请告知我……</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let me know the lead time for 500 units?”</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quotation / quote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报价单</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send me a quotation for 500 units?”</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minimum order quantity (MOQ)</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最小起订量</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is your minimum order quantity for this model?”</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Deadlines and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期限与结尾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would appreciate a reply by…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如能在……前回复,我将不胜感激</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would appreciate a reply by Friday, 9 October.”</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find attached…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请查收附件……</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find attached our product requirements.”</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Thank you in advance for your help.</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先谢谢您的帮助</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in advance for your help.”</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3: Deadlines and closing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期限与结尾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look forward to hearing from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期待您的回复</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look forward to hearing from you.”</a:t>
            </a:r>
          </a:p>
        </p:txBody>
      </p:sp>
      <p:sp>
        <p:nvSpPr>
          <p:cNvPr id="14" name="Rounded Rectangle 13"/>
          <p:cNvSpPr/>
          <p:nvPr/>
        </p:nvSpPr>
        <p:spPr>
          <a:xfrm>
            <a:off x="548640" y="24257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don’t hesitate to contact me if you need anything further.</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如需更多信息,请随时与我联系</a:t>
            </a:r>
          </a:p>
        </p:txBody>
      </p:sp>
      <p:sp>
        <p:nvSpPr>
          <p:cNvPr id="18" name="TextBox 17"/>
          <p:cNvSpPr txBox="1"/>
          <p:nvPr/>
        </p:nvSpPr>
        <p:spPr>
          <a:xfrm>
            <a:off x="6675120" y="24714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don’t hesitate to contact me if you need anything further.”</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如果您能……我将不胜感激</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be grateful if you could…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1700" b="1">
                <a:solidFill>
                  <a:srgbClr val="1F2A44"/>
                </a:solidFill>
                <a:latin typeface="Arial"/>
                <a:ea typeface="Microsoft YaHei"/>
              </a:rPr>
              <a:t>我在贵公司网站看到…… / 某人向我推荐了您</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I came across your website / your name was given to me by…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我写信是想咨询……</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am writing to enquire about…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300" b="1">
                <a:solidFill>
                  <a:srgbClr val="1F2A44"/>
                </a:solidFill>
                <a:latin typeface="Arial"/>
                <a:ea typeface="Microsoft YaHei"/>
              </a:rPr>
              <a:t>我们是一家(位于上海的)……公司</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 are a (Shanghai-based) company that…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我们目前正在考虑/研究……</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are currently looking into…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期待您的回复</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 look forward to hearing from you.</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我写信是想询问……</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writing to ask about…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请问您能否寄给我……?</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please send me…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grateful</a:t>
            </a:r>
          </a:p>
        </p:txBody>
      </p:sp>
      <p:sp>
        <p:nvSpPr>
          <p:cNvPr id="10" name="Rounded Rectangle 9"/>
          <p:cNvSpPr/>
          <p:nvPr/>
        </p:nvSpPr>
        <p:spPr>
          <a:xfrm>
            <a:off x="334670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enquire</a:t>
            </a:r>
          </a:p>
        </p:txBody>
      </p:sp>
      <p:sp>
        <p:nvSpPr>
          <p:cNvPr id="11" name="Rounded Rectangle 10"/>
          <p:cNvSpPr/>
          <p:nvPr/>
        </p:nvSpPr>
        <p:spPr>
          <a:xfrm>
            <a:off x="4572000"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quotation</a:t>
            </a:r>
          </a:p>
        </p:txBody>
      </p:sp>
      <p:sp>
        <p:nvSpPr>
          <p:cNvPr id="12" name="Rounded Rectangle 11"/>
          <p:cNvSpPr/>
          <p:nvPr/>
        </p:nvSpPr>
        <p:spPr>
          <a:xfrm>
            <a:off x="6016752"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forward</a:t>
            </a:r>
          </a:p>
        </p:txBody>
      </p:sp>
      <p:sp>
        <p:nvSpPr>
          <p:cNvPr id="13" name="Rounded Rectangle 12"/>
          <p:cNvSpPr/>
          <p:nvPr/>
        </p:nvSpPr>
        <p:spPr>
          <a:xfrm>
            <a:off x="7242048"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attached</a:t>
            </a:r>
          </a:p>
        </p:txBody>
      </p:sp>
      <p:sp>
        <p:nvSpPr>
          <p:cNvPr id="14" name="Rounded Rectangle 13"/>
          <p:cNvSpPr/>
          <p:nvPr/>
        </p:nvSpPr>
        <p:spPr>
          <a:xfrm>
            <a:off x="8577072"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minimum</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am writing to _______ about your range of LED lights.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enquire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Could you please send me a _______ for 500 units?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quotation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I’d be _______ if you could confirm the delivery time.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grateful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What is your _______ order quantity?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Please find _______ our requirements.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attached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look _______ to hearing from you.</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forward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拼写与标点): enquire / inquire (both correct; “enquire” is more British), quotation (not “quatation”), grateful (not “greatful”), attached (tt). Put a comma after “Dear Ms Lin,” and after “Kind regards,”.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Writing an inquiry email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写一封询价邮件</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work for a Shanghai company that sells kitchen equipment. You want to buy stainless-steel food containers from a new supplier and you need prices, minimum order, and delivery time.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Writing an inquiry email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need information from a new supplier.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Your company and what you want to buy: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Reader</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Sales manager of the supplier. Name: ______________</a:t>
            </a:r>
          </a:p>
        </p:txBody>
      </p:sp>
      <p:sp>
        <p:nvSpPr>
          <p:cNvPr id="14" name="Rounded Rectangle 13"/>
          <p:cNvSpPr/>
          <p:nvPr/>
        </p:nvSpPr>
        <p:spPr>
          <a:xfrm>
            <a:off x="548640" y="2770632"/>
            <a:ext cx="2377440" cy="896111"/>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896111"/>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 am writing to enquire about… · Could you please let me know…? · I’d be grateful if you could… · I would appreciate a reply by… · I look forward to hearing from you.</a:t>
            </a:r>
          </a:p>
        </p:txBody>
      </p:sp>
      <p:sp>
        <p:nvSpPr>
          <p:cNvPr id="16" name="Rounded Rectangle 15"/>
          <p:cNvSpPr/>
          <p:nvPr/>
        </p:nvSpPr>
        <p:spPr>
          <a:xfrm>
            <a:off x="548640" y="3739895"/>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739895"/>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clear subject line + 3 specific questions + a deadline. 100–140 words.</a:t>
            </a:r>
          </a:p>
        </p:txBody>
      </p:sp>
      <p:sp>
        <p:nvSpPr>
          <p:cNvPr id="18" name="Rounded Rectangle 17"/>
          <p:cNvSpPr/>
          <p:nvPr/>
        </p:nvSpPr>
        <p:spPr>
          <a:xfrm>
            <a:off x="548640" y="4221479"/>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79"/>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3"/>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1"/>
            <a:ext cx="3576218" cy="1039369"/>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Cut your email to 80 words without losing the questions.</a:t>
            </a:r>
          </a:p>
        </p:txBody>
      </p:sp>
      <p:sp>
        <p:nvSpPr>
          <p:cNvPr id="22" name="Rounded Rectangle 21"/>
          <p:cNvSpPr/>
          <p:nvPr/>
        </p:nvSpPr>
        <p:spPr>
          <a:xfrm>
            <a:off x="4307738" y="5178551"/>
            <a:ext cx="3576218" cy="1039369"/>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Add attached files: “Please find attached our specifications.”</a:t>
            </a:r>
          </a:p>
        </p:txBody>
      </p:sp>
      <p:sp>
        <p:nvSpPr>
          <p:cNvPr id="23" name="Rounded Rectangle 22"/>
          <p:cNvSpPr/>
          <p:nvPr/>
        </p:nvSpPr>
        <p:spPr>
          <a:xfrm>
            <a:off x="8066836" y="5178551"/>
            <a:ext cx="3576218" cy="1039369"/>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Change the style for someone you already know: “Hi Anna, Hope you’re well. Could you send 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Checking a draft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和同事检查邮件草稿</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Before you send the inquiry, you ask a colleague to check your draft. He suggests changes.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(writer)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 (colleague)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Checking a draft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do you have a minute? Could you take a quick look at my email before I send 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Let me see. … It looks good, but the subject line is a bit vague. “Inquiry” on its own doesn’t say much.</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How about “Inquiry about stainless-steel food containers (500 units)”?</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Much better. And I’d ask for the lead time as well.</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already did. It’s the third question.</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yes, sorry. One more thing: you wrote “Please reply me as soon as possible.”</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Checking a draft with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It sounds a bit demanding, doesn’t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little. Try “I would appreciate a reply by Friday.” It gives a clear date and sounds polite.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much better. Thanks. Anything else?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add your phone number below your name. In case she wants to call.</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I’ll send it now.</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Checking a draft with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colleague checks your email draft.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Ask for feedback and make changes.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Gives 3 suggestions (subject, tone, missing information).</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Could you take a quick look at…? · It sounds a bit… · How about…? · In case…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on 3 improvements to the email.</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Disagree politely: “I see what you mean, but I’d rather keep it short.”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the email for typos: “There’s a typo here. It should be ‘quotation’.”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better opening: “How about starting with ‘I came across your website’?”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is better for an inquiry: an email or a phone call? Why?</a:t>
            </a:r>
          </a:p>
          <a:p>
            <a:pPr algn="l">
              <a:lnSpc>
                <a:spcPct val="115000"/>
              </a:lnSpc>
              <a:spcAft>
                <a:spcPts val="800"/>
              </a:spcAft>
            </a:pPr>
            <a:r>
              <a:rPr sz="1400" b="0">
                <a:solidFill>
                  <a:srgbClr val="5F677A"/>
                </a:solidFill>
                <a:latin typeface="Arial"/>
                <a:ea typeface="Microsoft YaHei"/>
              </a:rPr>
              <a:t>💬 “I prefer… because I can…” / “An email is better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a good subject line include?</a:t>
            </a:r>
          </a:p>
          <a:p>
            <a:pPr algn="l">
              <a:lnSpc>
                <a:spcPct val="115000"/>
              </a:lnSpc>
              <a:spcAft>
                <a:spcPts val="800"/>
              </a:spcAft>
            </a:pPr>
            <a:r>
              <a:rPr sz="1400" b="0">
                <a:solidFill>
                  <a:srgbClr val="5F677A"/>
                </a:solidFill>
                <a:latin typeface="Arial"/>
                <a:ea typeface="Microsoft YaHei"/>
              </a:rPr>
              <a:t>💬 “A good subject line is short and…” / “It should say what the email is about, for example…”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a first email to a new supplier be?</a:t>
            </a:r>
          </a:p>
          <a:p>
            <a:pPr algn="l">
              <a:lnSpc>
                <a:spcPct val="115000"/>
              </a:lnSpc>
              <a:spcAft>
                <a:spcPts val="800"/>
              </a:spcAft>
            </a:pPr>
            <a:r>
              <a:rPr sz="1400" b="0">
                <a:solidFill>
                  <a:srgbClr val="5F677A"/>
                </a:solidFill>
                <a:latin typeface="Arial"/>
                <a:ea typeface="Microsoft YaHei"/>
              </a:rPr>
              <a:t>💬 “I think 100 to 150 words is…” / “If it is too long, the reader may…”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often do you check your inbox? Is it a good habit?</a:t>
            </a:r>
          </a:p>
          <a:p>
            <a:pPr algn="l">
              <a:lnSpc>
                <a:spcPct val="115000"/>
              </a:lnSpc>
              <a:spcAft>
                <a:spcPts val="800"/>
              </a:spcAft>
            </a:pPr>
            <a:r>
              <a:rPr sz="1400" b="0">
                <a:solidFill>
                  <a:srgbClr val="5F677A"/>
                </a:solidFill>
                <a:latin typeface="Arial"/>
                <a:ea typeface="Microsoft YaHei"/>
              </a:rPr>
              <a:t>💬 “I check my emails every… because…” / “I’m trying to check less often so that I can…”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ask for a reply without sounding pushy?</a:t>
            </a:r>
          </a:p>
          <a:p>
            <a:pPr algn="l">
              <a:lnSpc>
                <a:spcPct val="115000"/>
              </a:lnSpc>
              <a:spcAft>
                <a:spcPts val="800"/>
              </a:spcAft>
            </a:pPr>
            <a:r>
              <a:rPr sz="1400" b="0">
                <a:solidFill>
                  <a:srgbClr val="5F677A"/>
                </a:solidFill>
                <a:latin typeface="Arial"/>
                <a:ea typeface="Microsoft YaHei"/>
              </a:rPr>
              <a:t>💬 “I give a date and say ‘I would appreciate a reply by…’” / “I explain why I need it, for example…”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good subject line is short and specific. It should tell the reader what the email is about and what you want, for example,”Inquiry about stainless-steel food containers (500 units)“. Many people read their subject lines first and decide in a few seconds whether to open the email. A vague subject, such as”Hello” or “Question”, can easily be ignored.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“tell the reader what the email is about” 中 what 引导宾语从句,不要写成 “what is the email about”。“easily be ignored”(很容易被忽略)是被动语态。</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Email template: inquiry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询价邮件模板</a:t>
            </a:r>
          </a:p>
        </p:txBody>
      </p:sp>
      <p:graphicFrame>
        <p:nvGraphicFramePr>
          <p:cNvPr id="9" name="Table 8"/>
          <p:cNvGraphicFramePr>
            <a:graphicFrameLocks noGrp="1"/>
          </p:cNvGraphicFramePr>
          <p:nvPr/>
        </p:nvGraphicFramePr>
        <p:xfrm>
          <a:off x="548640" y="1417320"/>
          <a:ext cx="11094415" cy="301752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652272">
                <a:tc>
                  <a:txBody>
                    <a:bodyPr wrap="square"/>
                    <a:lstStyle/>
                    <a:p>
                      <a:r>
                        <a:rPr sz="1600" b="1">
                          <a:solidFill>
                            <a:srgbClr val="1F2A44"/>
                          </a:solidFill>
                          <a:latin typeface="Arial"/>
                          <a:ea typeface="Microsoft YaHei"/>
                        </a:rPr>
                        <a:t>Subject</a:t>
                      </a:r>
                    </a:p>
                  </a:txBody>
                  <a:tcPr anchor="ctr">
                    <a:solidFill>
                      <a:srgbClr val="FFFFFF"/>
                    </a:solidFill>
                  </a:tcPr>
                </a:tc>
                <a:tc>
                  <a:txBody>
                    <a:bodyPr wrap="square"/>
                    <a:lstStyle/>
                    <a:p>
                      <a:r>
                        <a:rPr sz="1600" b="0">
                          <a:solidFill>
                            <a:srgbClr val="1F2A44"/>
                          </a:solidFill>
                          <a:latin typeface="Arial"/>
                          <a:ea typeface="Microsoft YaHei"/>
                        </a:rPr>
                        <a:t>Inquiry about [product] – [quantity] / Request for quotation: [product]</a:t>
                      </a:r>
                    </a:p>
                  </a:txBody>
                  <a:tcPr anchor="ctr">
                    <a:solidFill>
                      <a:srgbClr val="FFFFFF"/>
                    </a:solidFill>
                  </a:tcPr>
                </a:tc>
              </a:tr>
              <a:tr h="652272">
                <a:tc>
                  <a:txBody>
                    <a:bodyPr wrap="square"/>
                    <a:lstStyle/>
                    <a:p>
                      <a:r>
                        <a:rPr sz="1600" b="1">
                          <a:solidFill>
                            <a:srgbClr val="1F2A44"/>
                          </a:solidFill>
                          <a:latin typeface="Arial"/>
                          <a:ea typeface="Microsoft YaHei"/>
                        </a:rPr>
                        <a:t>Opening</a:t>
                      </a:r>
                    </a:p>
                  </a:txBody>
                  <a:tcPr anchor="ctr">
                    <a:solidFill>
                      <a:srgbClr val="FFEFD9"/>
                    </a:solidFill>
                  </a:tcPr>
                </a:tc>
                <a:tc>
                  <a:txBody>
                    <a:bodyPr wrap="square"/>
                    <a:lstStyle/>
                    <a:p>
                      <a:r>
                        <a:rPr sz="1600" b="0">
                          <a:solidFill>
                            <a:srgbClr val="1F2A44"/>
                          </a:solidFill>
                          <a:latin typeface="Arial"/>
                          <a:ea typeface="Microsoft YaHei"/>
                        </a:rPr>
                        <a:t>Dear Ms / Mr [Surname], (or Dear [First name], if you know them)</a:t>
                      </a:r>
                    </a:p>
                  </a:txBody>
                  <a:tcPr anchor="ctr">
                    <a:solidFill>
                      <a:srgbClr val="FFEFD9"/>
                    </a:solidFill>
                  </a:tcPr>
                </a:tc>
              </a:tr>
              <a:tr h="652272">
                <a:tc>
                  <a:txBody>
                    <a:bodyPr wrap="square"/>
                    <a:lstStyle/>
                    <a:p>
                      <a:r>
                        <a:rPr sz="1600" b="1">
                          <a:solidFill>
                            <a:srgbClr val="1F2A44"/>
                          </a:solidFill>
                          <a:latin typeface="Arial"/>
                          <a:ea typeface="Microsoft YaHei"/>
                        </a:rPr>
                        <a:t>Reason</a:t>
                      </a:r>
                    </a:p>
                  </a:txBody>
                  <a:tcPr anchor="ctr">
                    <a:solidFill>
                      <a:srgbClr val="FFFFFF"/>
                    </a:solidFill>
                  </a:tcPr>
                </a:tc>
                <a:tc>
                  <a:txBody>
                    <a:bodyPr wrap="square"/>
                    <a:lstStyle/>
                    <a:p>
                      <a:r>
                        <a:rPr sz="1600" b="0">
                          <a:solidFill>
                            <a:srgbClr val="1F2A44"/>
                          </a:solidFill>
                          <a:latin typeface="Arial"/>
                          <a:ea typeface="Microsoft YaHei"/>
                        </a:rPr>
                        <a:t>I am writing to enquire about… / I came across your website and…</a:t>
                      </a:r>
                    </a:p>
                  </a:txBody>
                  <a:tcPr anchor="ctr">
                    <a:solidFill>
                      <a:srgbClr val="FFFFFF"/>
                    </a:solidFill>
                  </a:tcPr>
                </a:tc>
              </a:tr>
              <a:tr h="652272">
                <a:tc>
                  <a:txBody>
                    <a:bodyPr wrap="square"/>
                    <a:lstStyle/>
                    <a:p>
                      <a:r>
                        <a:rPr sz="1600" b="1">
                          <a:solidFill>
                            <a:srgbClr val="1F2A44"/>
                          </a:solidFill>
                          <a:latin typeface="Arial"/>
                          <a:ea typeface="Microsoft YaHei"/>
                        </a:rPr>
                        <a:t>Who you are</a:t>
                      </a:r>
                    </a:p>
                  </a:txBody>
                  <a:tcPr anchor="ctr">
                    <a:solidFill>
                      <a:srgbClr val="FFEFD9"/>
                    </a:solidFill>
                  </a:tcPr>
                </a:tc>
                <a:tc>
                  <a:txBody>
                    <a:bodyPr wrap="square"/>
                    <a:lstStyle/>
                    <a:p>
                      <a:r>
                        <a:rPr sz="1600" b="0">
                          <a:solidFill>
                            <a:srgbClr val="1F2A44"/>
                          </a:solidFill>
                          <a:latin typeface="Arial"/>
                          <a:ea typeface="Microsoft YaHei"/>
                        </a:rPr>
                        <a:t>We are a [type of] company based in [city] and we are looking for…</a:t>
                      </a:r>
                    </a:p>
                  </a:txBody>
                  <a:tcPr anchor="ctr">
                    <a:solidFill>
                      <a:srgbClr val="FFEFD9"/>
                    </a:solidFill>
                  </a:tcPr>
                </a:tc>
              </a:tr>
            </a:tbl>
          </a:graphicData>
        </a:graphic>
      </p:graphicFrame>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Email template: inquiry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询价邮件模板</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408432">
                <a:tc>
                  <a:txBody>
                    <a:bodyPr wrap="square"/>
                    <a:lstStyle/>
                    <a:p>
                      <a:r>
                        <a:rPr sz="1600" b="1">
                          <a:solidFill>
                            <a:srgbClr val="1F2A44"/>
                          </a:solidFill>
                          <a:latin typeface="Arial"/>
                          <a:ea typeface="Microsoft YaHei"/>
                        </a:rPr>
                        <a:t>Questions</a:t>
                      </a:r>
                    </a:p>
                  </a:txBody>
                  <a:tcPr anchor="ctr">
                    <a:solidFill>
                      <a:srgbClr val="FFFFFF"/>
                    </a:solidFill>
                  </a:tcPr>
                </a:tc>
                <a:tc>
                  <a:txBody>
                    <a:bodyPr wrap="square"/>
                    <a:lstStyle/>
                    <a:p>
                      <a:r>
                        <a:rPr sz="1600" b="0">
                          <a:solidFill>
                            <a:srgbClr val="1F2A44"/>
                          </a:solidFill>
                          <a:latin typeface="Arial"/>
                          <a:ea typeface="Microsoft YaHei"/>
                        </a:rPr>
                        <a:t>Could you please let me know: 1. … 2. … 3. …</a:t>
                      </a:r>
                    </a:p>
                  </a:txBody>
                  <a:tcPr anchor="ctr">
                    <a:solidFill>
                      <a:srgbClr val="FFFFFF"/>
                    </a:solidFill>
                  </a:tcPr>
                </a:tc>
              </a:tr>
              <a:tr h="408432">
                <a:tc>
                  <a:txBody>
                    <a:bodyPr wrap="square"/>
                    <a:lstStyle/>
                    <a:p>
                      <a:r>
                        <a:rPr sz="1600" b="1">
                          <a:solidFill>
                            <a:srgbClr val="1F2A44"/>
                          </a:solidFill>
                          <a:latin typeface="Arial"/>
                          <a:ea typeface="Microsoft YaHei"/>
                        </a:rPr>
                        <a:t>Deadline</a:t>
                      </a:r>
                    </a:p>
                  </a:txBody>
                  <a:tcPr anchor="ctr">
                    <a:solidFill>
                      <a:srgbClr val="FFEFD9"/>
                    </a:solidFill>
                  </a:tcPr>
                </a:tc>
                <a:tc>
                  <a:txBody>
                    <a:bodyPr wrap="square"/>
                    <a:lstStyle/>
                    <a:p>
                      <a:r>
                        <a:rPr sz="1600" b="0">
                          <a:solidFill>
                            <a:srgbClr val="1F2A44"/>
                          </a:solidFill>
                          <a:latin typeface="Arial"/>
                          <a:ea typeface="Microsoft YaHei"/>
                        </a:rPr>
                        <a:t>I would appreciate a reply by [date].</a:t>
                      </a:r>
                    </a:p>
                  </a:txBody>
                  <a:tcPr anchor="ctr">
                    <a:solidFill>
                      <a:srgbClr val="FFEFD9"/>
                    </a:solidFill>
                  </a:tcPr>
                </a:tc>
              </a:tr>
              <a:tr h="652272">
                <a:tc>
                  <a:txBody>
                    <a:bodyPr wrap="square"/>
                    <a:lstStyle/>
                    <a:p>
                      <a:r>
                        <a:rPr sz="1600" b="1">
                          <a:solidFill>
                            <a:srgbClr val="1F2A44"/>
                          </a:solidFill>
                          <a:latin typeface="Arial"/>
                          <a:ea typeface="Microsoft YaHei"/>
                        </a:rPr>
                        <a:t>Closing</a:t>
                      </a:r>
                    </a:p>
                  </a:txBody>
                  <a:tcPr anchor="ctr">
                    <a:solidFill>
                      <a:srgbClr val="FFFFFF"/>
                    </a:solidFill>
                  </a:tcPr>
                </a:tc>
                <a:tc>
                  <a:txBody>
                    <a:bodyPr wrap="square"/>
                    <a:lstStyle/>
                    <a:p>
                      <a:r>
                        <a:rPr sz="1600" b="0">
                          <a:solidFill>
                            <a:srgbClr val="1F2A44"/>
                          </a:solidFill>
                          <a:latin typeface="Arial"/>
                          <a:ea typeface="Microsoft YaHei"/>
                        </a:rPr>
                        <a:t>Thank you in advance for your help. I look forward to hearing from you.</a:t>
                      </a:r>
                    </a:p>
                  </a:txBody>
                  <a:tcPr anchor="ctr">
                    <a:solidFill>
                      <a:srgbClr val="FFFFFF"/>
                    </a:solidFill>
                  </a:tcPr>
                </a:tc>
              </a:tr>
              <a:tr h="652272">
                <a:tc>
                  <a:txBody>
                    <a:bodyPr wrap="square"/>
                    <a:lstStyle/>
                    <a:p>
                      <a:r>
                        <a:rPr sz="1600" b="1">
                          <a:solidFill>
                            <a:srgbClr val="1F2A44"/>
                          </a:solidFill>
                          <a:latin typeface="Arial"/>
                          <a:ea typeface="Microsoft YaHei"/>
                        </a:rPr>
                        <a:t>Sign-off</a:t>
                      </a:r>
                    </a:p>
                  </a:txBody>
                  <a:tcPr anchor="ctr">
                    <a:solidFill>
                      <a:srgbClr val="FFEFD9"/>
                    </a:solidFill>
                  </a:tcPr>
                </a:tc>
                <a:tc>
                  <a:txBody>
                    <a:bodyPr wrap="square"/>
                    <a:lstStyle/>
                    <a:p>
                      <a:r>
                        <a:rPr sz="1600" b="0">
                          <a:solidFill>
                            <a:srgbClr val="1F2A44"/>
                          </a:solidFill>
                          <a:latin typeface="Arial"/>
                          <a:ea typeface="Microsoft YaHei"/>
                        </a:rPr>
                        <a:t>Kind regards, / Best regards, + name, job title, phone</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inquiry emails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常用句型库</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Formal ★</a:t>
                      </a:r>
                    </a:p>
                  </a:txBody>
                  <a:tcPr anchor="ctr">
                    <a:solidFill>
                      <a:srgbClr val="3CC49A"/>
                    </a:solidFill>
                  </a:tcPr>
                </a:tc>
                <a:tc>
                  <a:txBody>
                    <a:bodyPr wrap="square"/>
                    <a:lstStyle/>
                    <a:p>
                      <a:r>
                        <a:rPr sz="1600" b="1">
                          <a:solidFill>
                            <a:srgbClr val="FFFFFF"/>
                          </a:solidFill>
                          <a:latin typeface="Arial"/>
                          <a:ea typeface="Microsoft YaHei"/>
                        </a:rPr>
                        <a:t>Neutral</a:t>
                      </a:r>
                    </a:p>
                  </a:txBody>
                  <a:tcPr anchor="ctr">
                    <a:solidFill>
                      <a:srgbClr val="3CC49A"/>
                    </a:solidFill>
                  </a:tcPr>
                </a:tc>
              </a:tr>
              <a:tr h="408432">
                <a:tc>
                  <a:txBody>
                    <a:bodyPr wrap="square"/>
                    <a:lstStyle/>
                    <a:p>
                      <a:r>
                        <a:rPr sz="1600" b="1">
                          <a:solidFill>
                            <a:srgbClr val="1F2A44"/>
                          </a:solidFill>
                          <a:latin typeface="Arial"/>
                          <a:ea typeface="Microsoft YaHei"/>
                        </a:rPr>
                        <a:t>Start</a:t>
                      </a:r>
                    </a:p>
                  </a:txBody>
                  <a:tcPr anchor="ctr">
                    <a:solidFill>
                      <a:srgbClr val="FFFFFF"/>
                    </a:solidFill>
                  </a:tcPr>
                </a:tc>
                <a:tc>
                  <a:txBody>
                    <a:bodyPr wrap="square"/>
                    <a:lstStyle/>
                    <a:p>
                      <a:r>
                        <a:rPr sz="1600" b="0">
                          <a:solidFill>
                            <a:srgbClr val="1F2A44"/>
                          </a:solidFill>
                          <a:latin typeface="Arial"/>
                          <a:ea typeface="Microsoft YaHei"/>
                        </a:rPr>
                        <a:t>I am writing to enquire about…</a:t>
                      </a:r>
                    </a:p>
                  </a:txBody>
                  <a:tcPr anchor="ctr">
                    <a:solidFill>
                      <a:srgbClr val="FFFFFF"/>
                    </a:solidFill>
                  </a:tcPr>
                </a:tc>
                <a:tc>
                  <a:txBody>
                    <a:bodyPr wrap="square"/>
                    <a:lstStyle/>
                    <a:p>
                      <a:r>
                        <a:rPr sz="1600" b="0">
                          <a:solidFill>
                            <a:srgbClr val="1F2A44"/>
                          </a:solidFill>
                          <a:latin typeface="Arial"/>
                          <a:ea typeface="Microsoft YaHei"/>
                        </a:rPr>
                        <a:t>I’m writing to ask about…</a:t>
                      </a:r>
                    </a:p>
                  </a:txBody>
                  <a:tcPr anchor="ctr">
                    <a:solidFill>
                      <a:srgbClr val="FFFFFF"/>
                    </a:solidFill>
                  </a:tcPr>
                </a:tc>
              </a:tr>
              <a:tr h="652272">
                <a:tc>
                  <a:txBody>
                    <a:bodyPr wrap="square"/>
                    <a:lstStyle/>
                    <a:p>
                      <a:r>
                        <a:rPr sz="1600" b="1">
                          <a:solidFill>
                            <a:srgbClr val="1F2A44"/>
                          </a:solidFill>
                          <a:latin typeface="Arial"/>
                          <a:ea typeface="Microsoft YaHei"/>
                        </a:rPr>
                        <a:t>Ask</a:t>
                      </a:r>
                    </a:p>
                  </a:txBody>
                  <a:tcPr anchor="ctr">
                    <a:solidFill>
                      <a:srgbClr val="FFEFD9"/>
                    </a:solidFill>
                  </a:tcPr>
                </a:tc>
                <a:tc>
                  <a:txBody>
                    <a:bodyPr wrap="square"/>
                    <a:lstStyle/>
                    <a:p>
                      <a:r>
                        <a:rPr sz="1600" b="0">
                          <a:solidFill>
                            <a:srgbClr val="1F2A44"/>
                          </a:solidFill>
                          <a:latin typeface="Arial"/>
                          <a:ea typeface="Microsoft YaHei"/>
                        </a:rPr>
                        <a:t>I’d be grateful if you could send…</a:t>
                      </a:r>
                    </a:p>
                  </a:txBody>
                  <a:tcPr anchor="ctr">
                    <a:solidFill>
                      <a:srgbClr val="FFEFD9"/>
                    </a:solidFill>
                  </a:tcPr>
                </a:tc>
                <a:tc>
                  <a:txBody>
                    <a:bodyPr wrap="square"/>
                    <a:lstStyle/>
                    <a:p>
                      <a:r>
                        <a:rPr sz="1600" b="0">
                          <a:solidFill>
                            <a:srgbClr val="1F2A44"/>
                          </a:solidFill>
                          <a:latin typeface="Arial"/>
                          <a:ea typeface="Microsoft YaHei"/>
                        </a:rPr>
                        <a:t>Could you send me…?</a:t>
                      </a:r>
                    </a:p>
                  </a:txBody>
                  <a:tcPr anchor="ctr">
                    <a:solidFill>
                      <a:srgbClr val="FFEFD9"/>
                    </a:solidFill>
                  </a:tcPr>
                </a:tc>
              </a:tr>
              <a:tr h="408432">
                <a:tc>
                  <a:txBody>
                    <a:bodyPr wrap="square"/>
                    <a:lstStyle/>
                    <a:p>
                      <a:r>
                        <a:rPr sz="1600" b="1">
                          <a:solidFill>
                            <a:srgbClr val="1F2A44"/>
                          </a:solidFill>
                          <a:latin typeface="Arial"/>
                          <a:ea typeface="Microsoft YaHei"/>
                        </a:rPr>
                        <a:t>Deadline</a:t>
                      </a:r>
                    </a:p>
                  </a:txBody>
                  <a:tcPr anchor="ctr">
                    <a:solidFill>
                      <a:srgbClr val="FFFFFF"/>
                    </a:solidFill>
                  </a:tcPr>
                </a:tc>
                <a:tc>
                  <a:txBody>
                    <a:bodyPr wrap="square"/>
                    <a:lstStyle/>
                    <a:p>
                      <a:r>
                        <a:rPr sz="1600" b="0">
                          <a:solidFill>
                            <a:srgbClr val="1F2A44"/>
                          </a:solidFill>
                          <a:latin typeface="Arial"/>
                          <a:ea typeface="Microsoft YaHei"/>
                        </a:rPr>
                        <a:t>I would appreciate a reply by…</a:t>
                      </a:r>
                    </a:p>
                  </a:txBody>
                  <a:tcPr anchor="ctr">
                    <a:solidFill>
                      <a:srgbClr val="FFFFFF"/>
                    </a:solidFill>
                  </a:tcPr>
                </a:tc>
                <a:tc>
                  <a:txBody>
                    <a:bodyPr wrap="square"/>
                    <a:lstStyle/>
                    <a:p>
                      <a:r>
                        <a:rPr sz="1600" b="0">
                          <a:solidFill>
                            <a:srgbClr val="1F2A44"/>
                          </a:solidFill>
                          <a:latin typeface="Arial"/>
                          <a:ea typeface="Microsoft YaHei"/>
                        </a:rPr>
                        <a:t>Could you reply by…?</a:t>
                      </a:r>
                    </a:p>
                  </a:txBody>
                  <a:tcPr anchor="ctr">
                    <a:solidFill>
                      <a:srgbClr val="FFFFFF"/>
                    </a:solidFill>
                  </a:tcPr>
                </a:tc>
              </a:tr>
              <a:tr h="652272">
                <a:tc>
                  <a:txBody>
                    <a:bodyPr wrap="square"/>
                    <a:lstStyle/>
                    <a:p>
                      <a:r>
                        <a:rPr sz="1600" b="1">
                          <a:solidFill>
                            <a:srgbClr val="1F2A44"/>
                          </a:solidFill>
                          <a:latin typeface="Arial"/>
                          <a:ea typeface="Microsoft YaHei"/>
                        </a:rPr>
                        <a:t>Thanks</a:t>
                      </a:r>
                    </a:p>
                  </a:txBody>
                  <a:tcPr anchor="ctr">
                    <a:solidFill>
                      <a:srgbClr val="FFEFD9"/>
                    </a:solidFill>
                  </a:tcPr>
                </a:tc>
                <a:tc>
                  <a:txBody>
                    <a:bodyPr wrap="square"/>
                    <a:lstStyle/>
                    <a:p>
                      <a:r>
                        <a:rPr sz="1600" b="0">
                          <a:solidFill>
                            <a:srgbClr val="1F2A44"/>
                          </a:solidFill>
                          <a:latin typeface="Arial"/>
                          <a:ea typeface="Microsoft YaHei"/>
                        </a:rPr>
                        <a:t>Thank you in advance for your help.</a:t>
                      </a:r>
                    </a:p>
                  </a:txBody>
                  <a:tcPr anchor="ctr">
                    <a:solidFill>
                      <a:srgbClr val="FFEFD9"/>
                    </a:solidFill>
                  </a:tcPr>
                </a:tc>
                <a:tc>
                  <a:txBody>
                    <a:bodyPr wrap="square"/>
                    <a:lstStyle/>
                    <a:p>
                      <a:r>
                        <a:rPr sz="1600" b="0">
                          <a:solidFill>
                            <a:srgbClr val="1F2A44"/>
                          </a:solidFill>
                          <a:latin typeface="Arial"/>
                          <a:ea typeface="Microsoft YaHei"/>
                        </a:rPr>
                        <a:t>Thanks for your help.</a:t>
                      </a:r>
                    </a:p>
                  </a:txBody>
                  <a:tcPr anchor="ctr">
                    <a:solidFill>
                      <a:srgbClr val="FFEFD9"/>
                    </a:solidFill>
                  </a:tcPr>
                </a:tc>
              </a:tr>
              <a:tr h="652272">
                <a:tc>
                  <a:txBody>
                    <a:bodyPr wrap="square"/>
                    <a:lstStyle/>
                    <a:p>
                      <a:r>
                        <a:rPr sz="1600" b="1">
                          <a:solidFill>
                            <a:srgbClr val="1F2A44"/>
                          </a:solidFill>
                          <a:latin typeface="Arial"/>
                          <a:ea typeface="Microsoft YaHei"/>
                        </a:rPr>
                        <a:t>End</a:t>
                      </a:r>
                    </a:p>
                  </a:txBody>
                  <a:tcPr anchor="ctr">
                    <a:solidFill>
                      <a:srgbClr val="FFFFFF"/>
                    </a:solidFill>
                  </a:tcPr>
                </a:tc>
                <a:tc>
                  <a:txBody>
                    <a:bodyPr wrap="square"/>
                    <a:lstStyle/>
                    <a:p>
                      <a:r>
                        <a:rPr sz="1600" b="0">
                          <a:solidFill>
                            <a:srgbClr val="1F2A44"/>
                          </a:solidFill>
                          <a:latin typeface="Arial"/>
                          <a:ea typeface="Microsoft YaHei"/>
                        </a:rPr>
                        <a:t>I look forward to hearing from you.</a:t>
                      </a:r>
                    </a:p>
                  </a:txBody>
                  <a:tcPr anchor="ctr">
                    <a:solidFill>
                      <a:srgbClr val="FFFFFF"/>
                    </a:solidFill>
                  </a:tcPr>
                </a:tc>
                <a:tc>
                  <a:txBody>
                    <a:bodyPr wrap="square"/>
                    <a:lstStyle/>
                    <a:p>
                      <a:r>
                        <a:rPr sz="1600" b="0">
                          <a:solidFill>
                            <a:srgbClr val="1F2A44"/>
                          </a:solidFill>
                          <a:latin typeface="Arial"/>
                          <a:ea typeface="Microsoft YaHei"/>
                        </a:rPr>
                        <a:t>Talk soon. (to a colleague)</a:t>
                      </a:r>
                    </a:p>
                  </a:txBody>
                  <a:tcPr anchor="ctr">
                    <a:solidFill>
                      <a:srgbClr val="FFFFFF"/>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inquiry emails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常用句型库</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Formal to unknown contacts: </a:t>
            </a:r>
            <a:r>
              <a:rPr sz="1700" b="0">
                <a:solidFill>
                  <a:srgbClr val="1F2A44"/>
                </a:solidFill>
                <a:latin typeface="Arial"/>
                <a:ea typeface="Microsoft YaHei"/>
              </a:rPr>
              <a:t>Dear Ms Berg + Kind regards. Semi-formal: Hi Anna + Best. Match the style the other person uses.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Number your questions. A numbered list is easy to answer and shows what you need.</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One email, one topic. Don’t ask about five different things at once.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inquiry your price.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enquire about your prices. / I’d like to make an inquiry.</a:t>
            </a:r>
          </a:p>
          <a:p>
            <a:pPr algn="l">
              <a:spcAft>
                <a:spcPts val="200"/>
              </a:spcAft>
            </a:pPr>
            <a:r>
              <a:rPr sz="1200" b="0">
                <a:solidFill>
                  <a:srgbClr val="FFFFFF"/>
                </a:solidFill>
                <a:latin typeface="Arial"/>
                <a:ea typeface="Microsoft YaHei"/>
              </a:rPr>
              <a:t>inquiry 是名词,inquire 是动词</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Dear Manager Wang,</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Dear Mr Wang,</a:t>
            </a:r>
          </a:p>
          <a:p>
            <a:pPr algn="l">
              <a:spcAft>
                <a:spcPts val="200"/>
              </a:spcAft>
            </a:pPr>
            <a:r>
              <a:rPr sz="1200" b="0">
                <a:solidFill>
                  <a:srgbClr val="FFFFFF"/>
                </a:solidFill>
                <a:latin typeface="Arial"/>
                <a:ea typeface="Microsoft YaHei"/>
              </a:rPr>
              <a:t>英语里不用职位当称呼</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Hello Dear Mr Berg,</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Dear Mr Berg, / Hello Mr Berg,</a:t>
            </a:r>
          </a:p>
          <a:p>
            <a:pPr algn="l">
              <a:spcAft>
                <a:spcPts val="200"/>
              </a:spcAft>
            </a:pPr>
            <a:r>
              <a:rPr sz="1200" b="0">
                <a:solidFill>
                  <a:srgbClr val="FFFFFF"/>
                </a:solidFill>
                <a:latin typeface="Arial"/>
                <a:ea typeface="Microsoft YaHei"/>
              </a:rPr>
              <a:t>不要把 Hello 和 Dear 叠用</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reply me ASAP.</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reply by Friday? / I would appreciate a reply by Friday.</a:t>
            </a:r>
          </a:p>
          <a:p>
            <a:pPr algn="l">
              <a:spcAft>
                <a:spcPts val="200"/>
              </a:spcAft>
            </a:pPr>
            <a:r>
              <a:rPr sz="1200" b="0">
                <a:solidFill>
                  <a:srgbClr val="FFFFFF"/>
                </a:solidFill>
                <a:latin typeface="Arial"/>
                <a:ea typeface="Microsoft YaHei"/>
              </a:rPr>
              <a:t>reply 后不直接接人;ASAP 显得催促</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Waiting for your reply.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look forward to hearing from you.</a:t>
            </a:r>
          </a:p>
          <a:p>
            <a:pPr algn="l">
              <a:spcAft>
                <a:spcPts val="200"/>
              </a:spcAft>
            </a:pPr>
            <a:r>
              <a:rPr sz="1200" b="0">
                <a:solidFill>
                  <a:srgbClr val="FFFFFF"/>
                </a:solidFill>
                <a:latin typeface="Arial"/>
                <a:ea typeface="Microsoft YaHei"/>
              </a:rPr>
              <a:t>用完整句子,更自然、更礼貌</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Looking forward your reply.</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Looking forward to your reply. / I look forward to hearing from you.</a:t>
            </a:r>
          </a:p>
          <a:p>
            <a:pPr algn="l">
              <a:spcAft>
                <a:spcPts val="200"/>
              </a:spcAft>
            </a:pPr>
            <a:r>
              <a:rPr sz="1200" b="0">
                <a:solidFill>
                  <a:srgbClr val="FFFFFF"/>
                </a:solidFill>
                <a:latin typeface="Arial"/>
                <a:ea typeface="Microsoft YaHei"/>
              </a:rPr>
              <a:t>look forward to + 名词/-ing</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send me your catalog list price.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send me your catalogue and price list.</a:t>
            </a:r>
          </a:p>
          <a:p>
            <a:pPr algn="l">
              <a:spcAft>
                <a:spcPts val="200"/>
              </a:spcAft>
            </a:pPr>
            <a:r>
              <a:rPr sz="1200" b="0">
                <a:solidFill>
                  <a:srgbClr val="FFFFFF"/>
                </a:solidFill>
                <a:latin typeface="Arial"/>
                <a:ea typeface="Microsoft YaHei"/>
              </a:rPr>
              <a:t>用 and 连接并列名词</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send the file attach.</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attached the file. / Please find the file attached.</a:t>
            </a:r>
          </a:p>
          <a:p>
            <a:pPr algn="l">
              <a:spcAft>
                <a:spcPts val="200"/>
              </a:spcAft>
            </a:pPr>
            <a:r>
              <a:rPr sz="1200" b="0">
                <a:solidFill>
                  <a:srgbClr val="FFFFFF"/>
                </a:solidFill>
                <a:latin typeface="Arial"/>
                <a:ea typeface="Microsoft YaHei"/>
              </a:rPr>
              <a:t>attach 的形式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Thanks for your attention.</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help. / Thank you for your time.</a:t>
            </a:r>
          </a:p>
          <a:p>
            <a:pPr algn="l">
              <a:spcAft>
                <a:spcPts val="200"/>
              </a:spcAft>
            </a:pPr>
            <a:r>
              <a:rPr sz="1200" b="0">
                <a:solidFill>
                  <a:srgbClr val="FFFFFF"/>
                </a:solidFill>
                <a:latin typeface="Arial"/>
                <a:ea typeface="Microsoft YaHei"/>
              </a:rPr>
              <a:t>for your attention 是演讲结束语,不是邮件结束语</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greatful / quatation</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grateful / quotation</a:t>
            </a:r>
          </a:p>
          <a:p>
            <a:pPr algn="l">
              <a:spcAft>
                <a:spcPts val="200"/>
              </a:spcAft>
            </a:pPr>
            <a:r>
              <a:rPr sz="1200" b="0">
                <a:solidFill>
                  <a:srgbClr val="FFFFFF"/>
                </a:solidFill>
                <a:latin typeface="Arial"/>
                <a:ea typeface="Microsoft YaHei"/>
              </a:rPr>
              <a:t>拼写</a:t>
            </a:r>
          </a:p>
        </p:txBody>
      </p:sp>
      <p:sp>
        <p:nvSpPr>
          <p:cNvPr id="13" name="Rounded Rectangle 1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Check your email for (1) Dear Ms Berg, (comma), (2) look forward to hearing, (3) a clear deadline with a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Be direct but polite. English emails state the purpose in the first two sentences. A long introduction (“I hope you are in good health and everything is going well…”) is unnecessary.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Use titles with surnames: </a:t>
            </a:r>
            <a:r>
              <a:rPr sz="1700" b="0">
                <a:solidFill>
                  <a:srgbClr val="1F2A44"/>
                </a:solidFill>
                <a:latin typeface="Arial"/>
                <a:ea typeface="Microsoft YaHei"/>
              </a:rPr>
              <a:t>Dear Mr Berg. If the person signs with a first name, you can use it. If you don’t know the gender of the person, use the full name: Dear Alex Morgan.</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Avoid “Dear Sir or Madam” if you can find a name. Check the website or LinkedIn.</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0">
                <a:solidFill>
                  <a:srgbClr val="1F2A44"/>
                </a:solidFill>
                <a:latin typeface="Arial"/>
                <a:ea typeface="Microsoft YaHei"/>
              </a:rPr>
              <a:t>Don’t write in capital letters. CAPITALS look like shouting. Use bold or a clear date instead.</a:t>
            </a:r>
          </a:p>
        </p:txBody>
      </p:sp>
      <p:sp>
        <p:nvSpPr>
          <p:cNvPr id="21" name="Rounded Rectangle 20"/>
          <p:cNvSpPr/>
          <p:nvPr/>
        </p:nvSpPr>
        <p:spPr>
          <a:xfrm>
            <a:off x="548640" y="406907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6907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69076"/>
            <a:ext cx="10728655" cy="441959"/>
          </a:xfrm>
          <a:prstGeom prst="rect">
            <a:avLst/>
          </a:prstGeom>
          <a:noFill/>
        </p:spPr>
        <p:txBody>
          <a:bodyPr wrap="square" anchor="ctr">
            <a:spAutoFit/>
          </a:bodyPr>
          <a:lstStyle/>
          <a:p>
            <a:r>
              <a:rPr sz="1700" b="0">
                <a:solidFill>
                  <a:srgbClr val="1F2A44"/>
                </a:solidFill>
                <a:latin typeface="Arial"/>
                <a:ea typeface="Microsoft YaHei"/>
              </a:rPr>
              <a:t>ASAP can sound pushy. Say “by Friday” or “by the end of the day” instead.</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a clear, specific subject line.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open with I am writing to enquire about… and say who I am.</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3 specific questions with Could you please let me know…? and I’d be grateful if you could…</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deadline and close with I look forward to hearing from you.</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Dear Ms + surname,, look forward to + -ing and correct spelling (quotation, grateful).</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11 An inquiry by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subject line, polite requests, look forward to hearing, punctuation and spelling.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 · Lesson 12 A reply to an inquiry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 reply to an inquiry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回复查询</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reply to an inquiry email: thank the sender, answer each question clearly, give prices and terms, handle things you cannot offer, and invite the next step.</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2212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When someone sends you an inquiry, how fast do you reply? Is there a company rule?</a:t>
            </a:r>
          </a:p>
        </p:txBody>
      </p:sp>
      <p:sp>
        <p:nvSpPr>
          <p:cNvPr id="12" name="Oval 11"/>
          <p:cNvSpPr/>
          <p:nvPr/>
        </p:nvSpPr>
        <p:spPr>
          <a:xfrm>
            <a:off x="548640" y="25176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02408"/>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02408"/>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How do you feel when you get a reply that does not answer your questions?</a:t>
            </a:r>
          </a:p>
        </p:txBody>
      </p:sp>
      <p:sp>
        <p:nvSpPr>
          <p:cNvPr id="15" name="Oval 14"/>
          <p:cNvSpPr/>
          <p:nvPr/>
        </p:nvSpPr>
        <p:spPr>
          <a:xfrm>
            <a:off x="548640" y="31607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145536"/>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45536"/>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information must always be in a reply to a price inquiry?</a:t>
            </a:r>
          </a:p>
        </p:txBody>
      </p:sp>
      <p:sp>
        <p:nvSpPr>
          <p:cNvPr id="18" name="Oval 17"/>
          <p:cNvSpPr/>
          <p:nvPr/>
        </p:nvSpPr>
        <p:spPr>
          <a:xfrm>
            <a:off x="548640" y="39563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788664"/>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788664"/>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Tell me about a time you had to say “no” to a customer in an email. What did you write?</a:t>
            </a:r>
          </a:p>
        </p:txBody>
      </p:sp>
      <p:sp>
        <p:nvSpPr>
          <p:cNvPr id="21" name="Oval 20"/>
          <p:cNvSpPr/>
          <p:nvPr/>
        </p:nvSpPr>
        <p:spPr>
          <a:xfrm>
            <a:off x="548640" y="47518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92"/>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92"/>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do you add at the end of a reply to help the customer take the next step?</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题讲过去的事,请用过去式(had to, wrote, said)。第 3 题可以说 “A reply must include…”。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to reply to a customer’s price inquiry.</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1. thanks and a reference to their email</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2. answers to each question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3. attached files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4. an offer or next step</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5. a polite closing</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First, I thank them for…   💬 Then I answer their questions one by one.   💬 Finally, I suggest the next step, for example…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回复要逐条回答对方的问题。用 as requested / as you asked 连接。避免只写 “See attached”。</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a reply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回复的开头</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email of 3 October.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 10 月 3 日的邮件</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email of 3 October.”</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interest in…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感谢您对……感兴趣</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interest in our products.”</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response to your inquiry about…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关于您询问的……</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response to your inquiry about our containers, please see below.”</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 requested, …</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按您的要求,……</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requested, I have attached our latest catalogue.”</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pleased to confirm that…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我很高兴确认……</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pleased to confirm that we can supply 500 units.”</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Giving prices and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报价与条款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price is $12 per unit, excluding VAT.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单价 12 美元,不含增值税</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price is $12 per unit, excluding VAT.”</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lead time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交货期,生产周期</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lead time is three to four weeks.”</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This quotation is valid for 30 days.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本报价 30 天内有效</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quotation is valid for 30 days.”</a:t>
            </a:r>
          </a:p>
        </p:txBody>
      </p:sp>
      <p:sp>
        <p:nvSpPr>
          <p:cNvPr id="24" name="Rounded Rectangle 23"/>
          <p:cNvSpPr/>
          <p:nvPr/>
        </p:nvSpPr>
        <p:spPr>
          <a:xfrm>
            <a:off x="548640" y="413766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 can offer a discount of 5% on orders over 1,000 units.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订单超过 1000 件可享 5% 折扣</a:t>
            </a:r>
          </a:p>
        </p:txBody>
      </p:sp>
      <p:sp>
        <p:nvSpPr>
          <p:cNvPr id="28" name="TextBox 27"/>
          <p:cNvSpPr txBox="1"/>
          <p:nvPr/>
        </p:nvSpPr>
        <p:spPr>
          <a:xfrm>
            <a:off x="6675120" y="418338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can offer a discount of 5% on orders over 1,000 units.”</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payment terms</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付款条款</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payment terms are 30% in advance, and 70% before shipment.”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Saying no and next steps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拒绝与下一步</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Unfortunately, … is currently out of stock.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很遗憾,……目前缺货</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“Unfortunately, the 2-litre size is currently out of stock.”</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we are unable to… , but we could…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恐怕我们无法……,但我们可以……</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we are unable to deliver by 1 November, but we could deliver by 12 November.”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be happy to arrange a call.</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我很乐意安排一次通话</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be happy to arrange a call if you have any questions.”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3: Saying no and next steps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拒绝与下一步</a:t>
            </a:r>
          </a:p>
        </p:txBody>
      </p:sp>
      <p:sp>
        <p:nvSpPr>
          <p:cNvPr id="9" name="Rounded Rectangle 8"/>
          <p:cNvSpPr/>
          <p:nvPr/>
        </p:nvSpPr>
        <p:spPr>
          <a:xfrm>
            <a:off x="548640" y="141732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12400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let me know if you need any further information.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如需更多信息请告诉我</a:t>
            </a:r>
          </a:p>
        </p:txBody>
      </p:sp>
      <p:sp>
        <p:nvSpPr>
          <p:cNvPr id="13" name="TextBox 12"/>
          <p:cNvSpPr txBox="1"/>
          <p:nvPr/>
        </p:nvSpPr>
        <p:spPr>
          <a:xfrm>
            <a:off x="6675120" y="146304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let me know if you need any further information.”</a:t>
            </a:r>
          </a:p>
        </p:txBody>
      </p:sp>
      <p:sp>
        <p:nvSpPr>
          <p:cNvPr id="14" name="Rounded Rectangle 13"/>
          <p:cNvSpPr/>
          <p:nvPr/>
        </p:nvSpPr>
        <p:spPr>
          <a:xfrm>
            <a:off x="548640" y="27305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305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762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 would welcome the opportunity to work with you.</a:t>
            </a:r>
          </a:p>
          <a:p>
            <a:pPr algn="l">
              <a:lnSpc>
                <a:spcPct val="115000"/>
              </a:lnSpc>
              <a:spcAft>
                <a:spcPts val="800"/>
              </a:spcAft>
            </a:pPr>
            <a:r>
              <a:rPr sz="1300" b="0">
                <a:solidFill>
                  <a:srgbClr val="5F677A"/>
                </a:solidFill>
                <a:latin typeface="Arial"/>
                <a:ea typeface="Microsoft YaHei"/>
              </a:rPr>
              <a:t>phrase (formal)</a:t>
            </a:r>
          </a:p>
        </p:txBody>
      </p:sp>
      <p:sp>
        <p:nvSpPr>
          <p:cNvPr id="17" name="TextBox 16"/>
          <p:cNvSpPr txBox="1"/>
          <p:nvPr/>
        </p:nvSpPr>
        <p:spPr>
          <a:xfrm>
            <a:off x="4206240" y="27762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我们希望有机会与贵公司合作</a:t>
            </a:r>
          </a:p>
        </p:txBody>
      </p:sp>
      <p:sp>
        <p:nvSpPr>
          <p:cNvPr id="18" name="TextBox 17"/>
          <p:cNvSpPr txBox="1"/>
          <p:nvPr/>
        </p:nvSpPr>
        <p:spPr>
          <a:xfrm>
            <a:off x="6675120" y="27762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would welcome the opportunity to work with you.”</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感谢您对……感兴趣</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interest in…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关于您询问的……</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In response to your inquiry about…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按您的要求,……</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requested, …</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我很高兴确认……</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pleased to confirm that…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如需更多信息请告诉我</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Please let me know if you need any further information.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交货期,生产周期</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lead time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本报价 30 天内有效</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This quotation is valid for 30 days.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恐怕我们无法……,但我们可以……</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I’m afraid we are unable to… , but we could…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arrange</a:t>
            </a:r>
          </a:p>
        </p:txBody>
      </p:sp>
      <p:sp>
        <p:nvSpPr>
          <p:cNvPr id="10" name="Rounded Rectangle 9"/>
          <p:cNvSpPr/>
          <p:nvPr/>
        </p:nvSpPr>
        <p:spPr>
          <a:xfrm>
            <a:off x="3236976" y="987552"/>
            <a:ext cx="58521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a:t>
            </a:r>
          </a:p>
        </p:txBody>
      </p:sp>
      <p:sp>
        <p:nvSpPr>
          <p:cNvPr id="11" name="Rounded Rectangle 10"/>
          <p:cNvSpPr/>
          <p:nvPr/>
        </p:nvSpPr>
        <p:spPr>
          <a:xfrm>
            <a:off x="3913632"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interest</a:t>
            </a:r>
          </a:p>
        </p:txBody>
      </p:sp>
      <p:sp>
        <p:nvSpPr>
          <p:cNvPr id="12" name="Rounded Rectangle 11"/>
          <p:cNvSpPr/>
          <p:nvPr/>
        </p:nvSpPr>
        <p:spPr>
          <a:xfrm>
            <a:off x="5248656" y="987552"/>
            <a:ext cx="179222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Unfortunately</a:t>
            </a:r>
          </a:p>
        </p:txBody>
      </p:sp>
      <p:sp>
        <p:nvSpPr>
          <p:cNvPr id="13" name="Rounded Rectangle 12"/>
          <p:cNvSpPr/>
          <p:nvPr/>
        </p:nvSpPr>
        <p:spPr>
          <a:xfrm>
            <a:off x="7132320"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excluding</a:t>
            </a:r>
          </a:p>
        </p:txBody>
      </p:sp>
      <p:sp>
        <p:nvSpPr>
          <p:cNvPr id="14" name="Rounded Rectangle 13"/>
          <p:cNvSpPr/>
          <p:nvPr/>
        </p:nvSpPr>
        <p:spPr>
          <a:xfrm>
            <a:off x="8577072"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valid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Thank you for your _______ in our products.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interest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requested, I have attached our catalogue.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price is $12 per unit, _______ VAT.</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excluding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This quotation is _______ for 30 days.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valid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the 2-litre size is out of stock.</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Unfortunately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I’d be happy to _______ a call.</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arrange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拼写与词汇): unfortunately (not “unfortunatly”), excluding (not “exclude” after a comma), quotation, discount (not “descount”). Say “valid for 30 days” (not “in 30 days” for validity).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Replying with a quotation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回复并报价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Anna Berg at Nordic Steel. Reply to Li Wei’s inquiry from Lesson 11.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Replying with a quotation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reply to a customer’s inquiry with prices and terms.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(supplier). Your product and prices: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Reader</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Asked 3 questions about price, minimum order and delivery.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Thank you for your email of… · As requested, … · valid for… · Unfortunately, … · I’d be happy to arrange a call.</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Answer all questions, mention one problem and a solution, and suggest the next step. 120–160 words.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Offer a discount to win the order: “We can offer a discount of 5% on orders over 1,000 units.”</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Your price is higher than the competitor’s. Explain the value: “Our containers last longer and come with a two-year guarantee.”</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Write the reply in a more informal, friendly style for a repeat customer.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Phoning to discuss the quotation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打电话讨论报价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the email, Li Wei calls Anna to ask about the price and delivery date.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Anna Berg, supplier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Li Wei, buyer</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Phoning to discuss the quotation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Nordic Steel, Anna Berg speaking.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Anna. It’s Li Wei from Orion Kitchen. Thank you for your quotation. I have a couple of questions.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How can I help?</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price for 500 units is a little higher than we expected. Is there any room for negotiation?</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Could you tell me what price you had in mind?</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were hoping for something nearer $11.50 per unit.</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Phoning to discuss the quotation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I can’t go that low at 500 units, but I could offer $11.80 if you order 800 units.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interesting. Let me check with my manager and get back to you by Friday.</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you the revised quotation by email so you have everything in writing.</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And is the delivery time still four weeks?</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four weeks from payment. I’ll put that in the email too.</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Thank you for your help, Anna.</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Phoning to discuss the quotation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customer calls about a quotation you sent by email.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Explain the price and offer a deal.</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Wants a better price and a clear delivery date.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Is there any room for…? · I’m afraid I can’t… but I could… · get back to you · in writing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on the next step and say you will confirm by email.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buyer wants a lower price and a shorter lead time. Choose one: “I can do one of those, but not both.”</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Summarize at the end: “So, to confirm, 800 units at $11.80, delivery in four weeks.”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the buyer’s decision by a date: “Could you let me know by next Friday?”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check before you send a reply to a customer?</a:t>
            </a:r>
          </a:p>
          <a:p>
            <a:pPr algn="l">
              <a:lnSpc>
                <a:spcPct val="115000"/>
              </a:lnSpc>
              <a:spcAft>
                <a:spcPts val="800"/>
              </a:spcAft>
            </a:pPr>
            <a:r>
              <a:rPr sz="1400" b="0">
                <a:solidFill>
                  <a:srgbClr val="5F677A"/>
                </a:solidFill>
                <a:latin typeface="Arial"/>
                <a:ea typeface="Microsoft YaHei"/>
              </a:rPr>
              <a:t>💬 “I always check…” / “Before I click Send, I read it again to make sure…”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you do not have the information the customer wants?</a:t>
            </a:r>
          </a:p>
          <a:p>
            <a:pPr algn="l">
              <a:lnSpc>
                <a:spcPct val="115000"/>
              </a:lnSpc>
              <a:spcAft>
                <a:spcPts val="800"/>
              </a:spcAft>
            </a:pPr>
            <a:r>
              <a:rPr sz="1400" b="0">
                <a:solidFill>
                  <a:srgbClr val="5F677A"/>
                </a:solidFill>
                <a:latin typeface="Arial"/>
                <a:ea typeface="Microsoft YaHei"/>
              </a:rPr>
              <a:t>💬 “I tell them honestly that… and I say when I will get back to them.” / “I ask a colleague who…”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say “no” in an email without losing the customer?</a:t>
            </a:r>
          </a:p>
          <a:p>
            <a:pPr algn="l">
              <a:lnSpc>
                <a:spcPct val="115000"/>
              </a:lnSpc>
              <a:spcAft>
                <a:spcPts val="800"/>
              </a:spcAft>
            </a:pPr>
            <a:r>
              <a:rPr sz="1400" b="0">
                <a:solidFill>
                  <a:srgbClr val="5F677A"/>
                </a:solidFill>
                <a:latin typeface="Arial"/>
                <a:ea typeface="Microsoft YaHei"/>
              </a:rPr>
              <a:t>💬 “I start with a thank-you, then explain…” / “I offer an alternative such as…”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reply to every inquiry, even if you cannot help? Why?</a:t>
            </a:r>
          </a:p>
          <a:p>
            <a:pPr algn="l">
              <a:lnSpc>
                <a:spcPct val="115000"/>
              </a:lnSpc>
              <a:spcAft>
                <a:spcPts val="800"/>
              </a:spcAft>
            </a:pPr>
            <a:r>
              <a:rPr sz="1400" b="0">
                <a:solidFill>
                  <a:srgbClr val="5F677A"/>
                </a:solidFill>
                <a:latin typeface="Arial"/>
                <a:ea typeface="Microsoft YaHei"/>
              </a:rPr>
              <a:t>💬 “Yes, because it shows…” / “Even a short reply is better than silence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fast should you reply to a customer email?</a:t>
            </a:r>
          </a:p>
          <a:p>
            <a:pPr algn="l">
              <a:lnSpc>
                <a:spcPct val="115000"/>
              </a:lnSpc>
              <a:spcAft>
                <a:spcPts val="800"/>
              </a:spcAft>
            </a:pPr>
            <a:r>
              <a:rPr sz="1400" b="0">
                <a:solidFill>
                  <a:srgbClr val="5F677A"/>
                </a:solidFill>
                <a:latin typeface="Arial"/>
                <a:ea typeface="Microsoft YaHei"/>
              </a:rPr>
              <a:t>💬 “Within… hours, ideally.” / “If I need more time, I send a quick message saying…”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start by thanking the customer, so they know I appreciate their interest. Then I explain clearly what I can’t do, and why, without too much detail. The most important part is the alternative. For example,”I’m afraid we can’t deliver by 1 November, but we could deliver by 12 November.” Then the customer can still say yes. I always end with an offer to help, such as “I’d be happy to arrange a call.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“so they know…”(以便他们知道……)表示目的。“without too much detail”(不过多说明)用 without + 名词。“The most important part is the alternative” 把重点放到解决办法上,是好用的写作思路。</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Email template: reply to an inquiry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回复询价邮件模板</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652272">
                <a:tc>
                  <a:txBody>
                    <a:bodyPr wrap="square"/>
                    <a:lstStyle/>
                    <a:p>
                      <a:r>
                        <a:rPr sz="1600" b="1">
                          <a:solidFill>
                            <a:srgbClr val="1F2A44"/>
                          </a:solidFill>
                          <a:latin typeface="Arial"/>
                          <a:ea typeface="Microsoft YaHei"/>
                        </a:rPr>
                        <a:t>Subject</a:t>
                      </a:r>
                    </a:p>
                  </a:txBody>
                  <a:tcPr anchor="ctr">
                    <a:solidFill>
                      <a:srgbClr val="FFFFFF"/>
                    </a:solidFill>
                  </a:tcPr>
                </a:tc>
                <a:tc>
                  <a:txBody>
                    <a:bodyPr wrap="square"/>
                    <a:lstStyle/>
                    <a:p>
                      <a:r>
                        <a:rPr sz="1600" b="0">
                          <a:solidFill>
                            <a:srgbClr val="1F2A44"/>
                          </a:solidFill>
                          <a:latin typeface="Arial"/>
                          <a:ea typeface="Microsoft YaHei"/>
                        </a:rPr>
                        <a:t>RE: [Original subject] (keep it, so the thread stays together)</a:t>
                      </a:r>
                    </a:p>
                  </a:txBody>
                  <a:tcPr anchor="ctr">
                    <a:solidFill>
                      <a:srgbClr val="FFFFFF"/>
                    </a:solidFill>
                  </a:tcPr>
                </a:tc>
              </a:tr>
              <a:tr h="408432">
                <a:tc>
                  <a:txBody>
                    <a:bodyPr wrap="square"/>
                    <a:lstStyle/>
                    <a:p>
                      <a:r>
                        <a:rPr sz="1600" b="1">
                          <a:solidFill>
                            <a:srgbClr val="1F2A44"/>
                          </a:solidFill>
                          <a:latin typeface="Arial"/>
                          <a:ea typeface="Microsoft YaHei"/>
                        </a:rPr>
                        <a:t>Opening</a:t>
                      </a:r>
                    </a:p>
                  </a:txBody>
                  <a:tcPr anchor="ctr">
                    <a:solidFill>
                      <a:srgbClr val="FFEFD9"/>
                    </a:solidFill>
                  </a:tcPr>
                </a:tc>
                <a:tc>
                  <a:txBody>
                    <a:bodyPr wrap="square"/>
                    <a:lstStyle/>
                    <a:p>
                      <a:r>
                        <a:rPr sz="1600" b="0">
                          <a:solidFill>
                            <a:srgbClr val="1F2A44"/>
                          </a:solidFill>
                          <a:latin typeface="Arial"/>
                          <a:ea typeface="Microsoft YaHei"/>
                        </a:rPr>
                        <a:t>Dear Mr / Ms [Surname],</a:t>
                      </a:r>
                    </a:p>
                  </a:txBody>
                  <a:tcPr anchor="ctr">
                    <a:solidFill>
                      <a:srgbClr val="FFEFD9"/>
                    </a:solidFill>
                  </a:tcPr>
                </a:tc>
              </a:tr>
              <a:tr h="652272">
                <a:tc>
                  <a:txBody>
                    <a:bodyPr wrap="square"/>
                    <a:lstStyle/>
                    <a:p>
                      <a:r>
                        <a:rPr sz="1600" b="1">
                          <a:solidFill>
                            <a:srgbClr val="1F2A44"/>
                          </a:solidFill>
                          <a:latin typeface="Arial"/>
                          <a:ea typeface="Microsoft YaHei"/>
                        </a:rPr>
                        <a:t>Thanks</a:t>
                      </a:r>
                    </a:p>
                  </a:txBody>
                  <a:tcPr anchor="ctr">
                    <a:solidFill>
                      <a:srgbClr val="FFFFFF"/>
                    </a:solidFill>
                  </a:tcPr>
                </a:tc>
                <a:tc>
                  <a:txBody>
                    <a:bodyPr wrap="square"/>
                    <a:lstStyle/>
                    <a:p>
                      <a:r>
                        <a:rPr sz="1600" b="0">
                          <a:solidFill>
                            <a:srgbClr val="1F2A44"/>
                          </a:solidFill>
                          <a:latin typeface="Arial"/>
                          <a:ea typeface="Microsoft YaHei"/>
                        </a:rPr>
                        <a:t>Thank you for your email of [date] and for your interest in [company / product].</a:t>
                      </a:r>
                    </a:p>
                  </a:txBody>
                  <a:tcPr anchor="ctr">
                    <a:solidFill>
                      <a:srgbClr val="FFFFFF"/>
                    </a:solidFill>
                  </a:tcPr>
                </a:tc>
              </a:tr>
              <a:tr h="652272">
                <a:tc>
                  <a:txBody>
                    <a:bodyPr wrap="square"/>
                    <a:lstStyle/>
                    <a:p>
                      <a:r>
                        <a:rPr sz="1600" b="1">
                          <a:solidFill>
                            <a:srgbClr val="1F2A44"/>
                          </a:solidFill>
                          <a:latin typeface="Arial"/>
                          <a:ea typeface="Microsoft YaHei"/>
                        </a:rPr>
                        <a:t>Answers</a:t>
                      </a:r>
                    </a:p>
                  </a:txBody>
                  <a:tcPr anchor="ctr">
                    <a:solidFill>
                      <a:srgbClr val="FFEFD9"/>
                    </a:solidFill>
                  </a:tcPr>
                </a:tc>
                <a:tc>
                  <a:txBody>
                    <a:bodyPr wrap="square"/>
                    <a:lstStyle/>
                    <a:p>
                      <a:r>
                        <a:rPr sz="1600" b="0">
                          <a:solidFill>
                            <a:srgbClr val="1F2A44"/>
                          </a:solidFill>
                          <a:latin typeface="Arial"/>
                          <a:ea typeface="Microsoft YaHei"/>
                        </a:rPr>
                        <a:t>I am pleased to answer your questions below. 1. Price: … 2. Minimum order: … 3. Lead time: …</a:t>
                      </a:r>
                    </a:p>
                  </a:txBody>
                  <a:tcPr anchor="ctr">
                    <a:solidFill>
                      <a:srgbClr val="FFEFD9"/>
                    </a:solidFill>
                  </a:tcPr>
                </a:tc>
              </a:tr>
            </a:tbl>
          </a:graphicData>
        </a:graphic>
      </p:graphicFrame>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Email template: reply to an inquiry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回复询价邮件模板</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652272">
                <a:tc>
                  <a:txBody>
                    <a:bodyPr wrap="square"/>
                    <a:lstStyle/>
                    <a:p>
                      <a:r>
                        <a:rPr sz="1600" b="1">
                          <a:solidFill>
                            <a:srgbClr val="1F2A44"/>
                          </a:solidFill>
                          <a:latin typeface="Arial"/>
                          <a:ea typeface="Microsoft YaHei"/>
                        </a:rPr>
                        <a:t>Attachments</a:t>
                      </a:r>
                    </a:p>
                  </a:txBody>
                  <a:tcPr anchor="ctr">
                    <a:solidFill>
                      <a:srgbClr val="FFFFFF"/>
                    </a:solidFill>
                  </a:tcPr>
                </a:tc>
                <a:tc>
                  <a:txBody>
                    <a:bodyPr wrap="square"/>
                    <a:lstStyle/>
                    <a:p>
                      <a:r>
                        <a:rPr sz="1600" b="0">
                          <a:solidFill>
                            <a:srgbClr val="1F2A44"/>
                          </a:solidFill>
                          <a:latin typeface="Arial"/>
                          <a:ea typeface="Microsoft YaHei"/>
                        </a:rPr>
                        <a:t>As requested, I have attached our [catalogue / price list].</a:t>
                      </a:r>
                    </a:p>
                  </a:txBody>
                  <a:tcPr anchor="ctr">
                    <a:solidFill>
                      <a:srgbClr val="FFFFFF"/>
                    </a:solidFill>
                  </a:tcPr>
                </a:tc>
              </a:tr>
              <a:tr h="652272">
                <a:tc>
                  <a:txBody>
                    <a:bodyPr wrap="square"/>
                    <a:lstStyle/>
                    <a:p>
                      <a:r>
                        <a:rPr sz="1600" b="1">
                          <a:solidFill>
                            <a:srgbClr val="1F2A44"/>
                          </a:solidFill>
                          <a:latin typeface="Arial"/>
                          <a:ea typeface="Microsoft YaHei"/>
                        </a:rPr>
                        <a:t>Problem + alternative</a:t>
                      </a:r>
                    </a:p>
                  </a:txBody>
                  <a:tcPr anchor="ctr">
                    <a:solidFill>
                      <a:srgbClr val="FFEFD9"/>
                    </a:solidFill>
                  </a:tcPr>
                </a:tc>
                <a:tc>
                  <a:txBody>
                    <a:bodyPr wrap="square"/>
                    <a:lstStyle/>
                    <a:p>
                      <a:r>
                        <a:rPr sz="1600" b="0">
                          <a:solidFill>
                            <a:srgbClr val="1F2A44"/>
                          </a:solidFill>
                          <a:latin typeface="Arial"/>
                          <a:ea typeface="Microsoft YaHei"/>
                        </a:rPr>
                        <a:t>Unfortunately, … is out of stock, but we could offer…</a:t>
                      </a:r>
                    </a:p>
                  </a:txBody>
                  <a:tcPr anchor="ctr">
                    <a:solidFill>
                      <a:srgbClr val="FFEFD9"/>
                    </a:solidFill>
                  </a:tcPr>
                </a:tc>
              </a:tr>
              <a:tr h="652272">
                <a:tc>
                  <a:txBody>
                    <a:bodyPr wrap="square"/>
                    <a:lstStyle/>
                    <a:p>
                      <a:r>
                        <a:rPr sz="1600" b="1">
                          <a:solidFill>
                            <a:srgbClr val="1F2A44"/>
                          </a:solidFill>
                          <a:latin typeface="Arial"/>
                          <a:ea typeface="Microsoft YaHei"/>
                        </a:rPr>
                        <a:t>Next step</a:t>
                      </a:r>
                    </a:p>
                  </a:txBody>
                  <a:tcPr anchor="ctr">
                    <a:solidFill>
                      <a:srgbClr val="FFFFFF"/>
                    </a:solidFill>
                  </a:tcPr>
                </a:tc>
                <a:tc>
                  <a:txBody>
                    <a:bodyPr wrap="square"/>
                    <a:lstStyle/>
                    <a:p>
                      <a:r>
                        <a:rPr sz="1600" b="0">
                          <a:solidFill>
                            <a:srgbClr val="1F2A44"/>
                          </a:solidFill>
                          <a:latin typeface="Arial"/>
                          <a:ea typeface="Microsoft YaHei"/>
                        </a:rPr>
                        <a:t>I’d be happy to arrange a call. / Please let me know if you would like to go ahead.</a:t>
                      </a:r>
                    </a:p>
                  </a:txBody>
                  <a:tcPr anchor="ctr">
                    <a:solidFill>
                      <a:srgbClr val="FFFFFF"/>
                    </a:solidFill>
                  </a:tcPr>
                </a:tc>
              </a:tr>
              <a:tr h="408432">
                <a:tc>
                  <a:txBody>
                    <a:bodyPr wrap="square"/>
                    <a:lstStyle/>
                    <a:p>
                      <a:r>
                        <a:rPr sz="1600" b="1">
                          <a:solidFill>
                            <a:srgbClr val="1F2A44"/>
                          </a:solidFill>
                          <a:latin typeface="Arial"/>
                          <a:ea typeface="Microsoft YaHei"/>
                        </a:rPr>
                        <a:t>Closing</a:t>
                      </a:r>
                    </a:p>
                  </a:txBody>
                  <a:tcPr anchor="ctr">
                    <a:solidFill>
                      <a:srgbClr val="FFEFD9"/>
                    </a:solidFill>
                  </a:tcPr>
                </a:tc>
                <a:tc>
                  <a:txBody>
                    <a:bodyPr wrap="square"/>
                    <a:lstStyle/>
                    <a:p>
                      <a:r>
                        <a:rPr sz="1600" b="0">
                          <a:solidFill>
                            <a:srgbClr val="1F2A44"/>
                          </a:solidFill>
                          <a:latin typeface="Arial"/>
                          <a:ea typeface="Microsoft YaHei"/>
                        </a:rPr>
                        <a:t>Kind regards, + name, job title, company, phone</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reply emails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常用句型库</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Thank</a:t>
                      </a:r>
                    </a:p>
                  </a:txBody>
                  <a:tcPr anchor="ctr">
                    <a:solidFill>
                      <a:srgbClr val="FFFFFF"/>
                    </a:solidFill>
                  </a:tcPr>
                </a:tc>
                <a:tc>
                  <a:txBody>
                    <a:bodyPr wrap="square"/>
                    <a:lstStyle/>
                    <a:p>
                      <a:r>
                        <a:rPr sz="1600" b="0">
                          <a:solidFill>
                            <a:srgbClr val="1F2A44"/>
                          </a:solidFill>
                          <a:latin typeface="Arial"/>
                          <a:ea typeface="Microsoft YaHei"/>
                        </a:rPr>
                        <a:t>Thank you for contacting us. / Thank you for your inquiry about…</a:t>
                      </a:r>
                    </a:p>
                  </a:txBody>
                  <a:tcPr anchor="ctr">
                    <a:solidFill>
                      <a:srgbClr val="FFFFFF"/>
                    </a:solidFill>
                  </a:tcPr>
                </a:tc>
              </a:tr>
              <a:tr h="408432">
                <a:tc>
                  <a:txBody>
                    <a:bodyPr wrap="square"/>
                    <a:lstStyle/>
                    <a:p>
                      <a:r>
                        <a:rPr sz="1600" b="1">
                          <a:solidFill>
                            <a:srgbClr val="1F2A44"/>
                          </a:solidFill>
                          <a:latin typeface="Arial"/>
                          <a:ea typeface="Microsoft YaHei"/>
                        </a:rPr>
                        <a:t>Attach</a:t>
                      </a:r>
                    </a:p>
                  </a:txBody>
                  <a:tcPr anchor="ctr">
                    <a:solidFill>
                      <a:srgbClr val="FFEFD9"/>
                    </a:solidFill>
                  </a:tcPr>
                </a:tc>
                <a:tc>
                  <a:txBody>
                    <a:bodyPr wrap="square"/>
                    <a:lstStyle/>
                    <a:p>
                      <a:r>
                        <a:rPr sz="1600" b="0">
                          <a:solidFill>
                            <a:srgbClr val="1F2A44"/>
                          </a:solidFill>
                          <a:latin typeface="Arial"/>
                          <a:ea typeface="Microsoft YaHei"/>
                        </a:rPr>
                        <a:t>Please find attached… / I have attached…</a:t>
                      </a:r>
                    </a:p>
                  </a:txBody>
                  <a:tcPr anchor="ctr">
                    <a:solidFill>
                      <a:srgbClr val="FFEFD9"/>
                    </a:solidFill>
                  </a:tcPr>
                </a:tc>
              </a:tr>
              <a:tr h="652272">
                <a:tc>
                  <a:txBody>
                    <a:bodyPr wrap="square"/>
                    <a:lstStyle/>
                    <a:p>
                      <a:r>
                        <a:rPr sz="1600" b="1">
                          <a:solidFill>
                            <a:srgbClr val="1F2A44"/>
                          </a:solidFill>
                          <a:latin typeface="Arial"/>
                          <a:ea typeface="Microsoft YaHei"/>
                        </a:rPr>
                        <a:t>Price</a:t>
                      </a:r>
                    </a:p>
                  </a:txBody>
                  <a:tcPr anchor="ctr">
                    <a:solidFill>
                      <a:srgbClr val="FFFFFF"/>
                    </a:solidFill>
                  </a:tcPr>
                </a:tc>
                <a:tc>
                  <a:txBody>
                    <a:bodyPr wrap="square"/>
                    <a:lstStyle/>
                    <a:p>
                      <a:r>
                        <a:rPr sz="1600" b="0">
                          <a:solidFill>
                            <a:srgbClr val="1F2A44"/>
                          </a:solidFill>
                          <a:latin typeface="Arial"/>
                          <a:ea typeface="Microsoft YaHei"/>
                        </a:rPr>
                        <a:t>Our price is… per unit, excluding / including VAT and shipping.</a:t>
                      </a:r>
                    </a:p>
                  </a:txBody>
                  <a:tcPr anchor="ctr">
                    <a:solidFill>
                      <a:srgbClr val="FFFFFF"/>
                    </a:solidFill>
                  </a:tcPr>
                </a:tc>
              </a:tr>
              <a:tr h="652272">
                <a:tc>
                  <a:txBody>
                    <a:bodyPr wrap="square"/>
                    <a:lstStyle/>
                    <a:p>
                      <a:r>
                        <a:rPr sz="1600" b="1">
                          <a:solidFill>
                            <a:srgbClr val="1F2A44"/>
                          </a:solidFill>
                          <a:latin typeface="Arial"/>
                          <a:ea typeface="Microsoft YaHei"/>
                        </a:rPr>
                        <a:t>Time</a:t>
                      </a:r>
                    </a:p>
                  </a:txBody>
                  <a:tcPr anchor="ctr">
                    <a:solidFill>
                      <a:srgbClr val="FFEFD9"/>
                    </a:solidFill>
                  </a:tcPr>
                </a:tc>
                <a:tc>
                  <a:txBody>
                    <a:bodyPr wrap="square"/>
                    <a:lstStyle/>
                    <a:p>
                      <a:r>
                        <a:rPr sz="1600" b="0">
                          <a:solidFill>
                            <a:srgbClr val="1F2A44"/>
                          </a:solidFill>
                          <a:latin typeface="Arial"/>
                          <a:ea typeface="Microsoft YaHei"/>
                        </a:rPr>
                        <a:t>The lead time is about four weeks. / We can ship within ten working days.</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reply emails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常用句型库</a:t>
            </a:r>
          </a:p>
        </p:txBody>
      </p:sp>
      <p:graphicFrame>
        <p:nvGraphicFramePr>
          <p:cNvPr id="9" name="Table 8"/>
          <p:cNvGraphicFramePr>
            <a:graphicFrameLocks noGrp="1"/>
          </p:cNvGraphicFramePr>
          <p:nvPr/>
        </p:nvGraphicFramePr>
        <p:xfrm>
          <a:off x="548640" y="1417320"/>
          <a:ext cx="11094415" cy="236524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Limit</a:t>
                      </a:r>
                    </a:p>
                  </a:txBody>
                  <a:tcPr anchor="ctr">
                    <a:solidFill>
                      <a:srgbClr val="FFFFFF"/>
                    </a:solidFill>
                  </a:tcPr>
                </a:tc>
                <a:tc>
                  <a:txBody>
                    <a:bodyPr wrap="square"/>
                    <a:lstStyle/>
                    <a:p>
                      <a:r>
                        <a:rPr sz="1600" b="0">
                          <a:solidFill>
                            <a:srgbClr val="1F2A44"/>
                          </a:solidFill>
                          <a:latin typeface="Arial"/>
                          <a:ea typeface="Microsoft YaHei"/>
                        </a:rPr>
                        <a:t>I’m afraid the minimum order is… / This offer is valid until… ★</a:t>
                      </a:r>
                    </a:p>
                  </a:txBody>
                  <a:tcPr anchor="ctr">
                    <a:solidFill>
                      <a:srgbClr val="FFFFFF"/>
                    </a:solidFill>
                  </a:tcPr>
                </a:tc>
              </a:tr>
              <a:tr h="652272">
                <a:tc>
                  <a:txBody>
                    <a:bodyPr wrap="square"/>
                    <a:lstStyle/>
                    <a:p>
                      <a:r>
                        <a:rPr sz="1600" b="1">
                          <a:solidFill>
                            <a:srgbClr val="1F2A44"/>
                          </a:solidFill>
                          <a:latin typeface="Arial"/>
                          <a:ea typeface="Microsoft YaHei"/>
                        </a:rPr>
                        <a:t>Alternative</a:t>
                      </a:r>
                    </a:p>
                  </a:txBody>
                  <a:tcPr anchor="ctr">
                    <a:solidFill>
                      <a:srgbClr val="FFEFD9"/>
                    </a:solidFill>
                  </a:tcPr>
                </a:tc>
                <a:tc>
                  <a:txBody>
                    <a:bodyPr wrap="square"/>
                    <a:lstStyle/>
                    <a:p>
                      <a:r>
                        <a:rPr sz="1600" b="0">
                          <a:solidFill>
                            <a:srgbClr val="1F2A44"/>
                          </a:solidFill>
                          <a:latin typeface="Arial"/>
                          <a:ea typeface="Microsoft YaHei"/>
                        </a:rPr>
                        <a:t>What I could suggest is… ★ / Would an alternative work for you?</a:t>
                      </a:r>
                    </a:p>
                  </a:txBody>
                  <a:tcPr anchor="ctr">
                    <a:solidFill>
                      <a:srgbClr val="FFEFD9"/>
                    </a:solidFill>
                  </a:tcPr>
                </a:tc>
              </a:tr>
              <a:tr h="652272">
                <a:tc>
                  <a:txBody>
                    <a:bodyPr wrap="square"/>
                    <a:lstStyle/>
                    <a:p>
                      <a:r>
                        <a:rPr sz="1600" b="1">
                          <a:solidFill>
                            <a:srgbClr val="1F2A44"/>
                          </a:solidFill>
                          <a:latin typeface="Arial"/>
                          <a:ea typeface="Microsoft YaHei"/>
                        </a:rPr>
                        <a:t>Next step</a:t>
                      </a:r>
                    </a:p>
                  </a:txBody>
                  <a:tcPr anchor="ctr">
                    <a:solidFill>
                      <a:srgbClr val="FFFFFF"/>
                    </a:solidFill>
                  </a:tcPr>
                </a:tc>
                <a:tc>
                  <a:txBody>
                    <a:bodyPr wrap="square"/>
                    <a:lstStyle/>
                    <a:p>
                      <a:r>
                        <a:rPr sz="1600" b="0">
                          <a:solidFill>
                            <a:srgbClr val="1F2A44"/>
                          </a:solidFill>
                          <a:latin typeface="Arial"/>
                          <a:ea typeface="Microsoft YaHei"/>
                        </a:rPr>
                        <a:t>If you would like to go ahead, please… ★ / Shall I send a pro forma invoice?</a:t>
                      </a:r>
                    </a:p>
                  </a:txBody>
                  <a:tcPr anchor="ctr">
                    <a:solidFill>
                      <a:srgbClr val="FFFFFF"/>
                    </a:solidFill>
                  </a:tcPr>
                </a:tc>
              </a:tr>
            </a:tbl>
          </a:graphicData>
        </a:graphic>
      </p:graphicFrame>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attached the catalogue in the email.</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attached the catalogue. / Please find the catalogue attached.</a:t>
            </a:r>
          </a:p>
          <a:p>
            <a:pPr algn="l">
              <a:spcAft>
                <a:spcPts val="200"/>
              </a:spcAft>
            </a:pPr>
            <a:r>
              <a:rPr sz="1200" b="0">
                <a:solidFill>
                  <a:srgbClr val="FFFFFF"/>
                </a:solidFill>
                <a:latin typeface="Arial"/>
                <a:ea typeface="Microsoft YaHei"/>
              </a:rPr>
              <a:t>不需要 in the email</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 is 12 dollars per one.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price is $12 per unit.</a:t>
            </a:r>
          </a:p>
          <a:p>
            <a:pPr algn="l">
              <a:spcAft>
                <a:spcPts val="200"/>
              </a:spcAft>
            </a:pPr>
            <a:r>
              <a:rPr sz="1200" b="0">
                <a:solidFill>
                  <a:srgbClr val="FFFFFF"/>
                </a:solidFill>
                <a:latin typeface="Arial"/>
                <a:ea typeface="Microsoft YaHei"/>
              </a:rPr>
              <a:t>per unit / each</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price include VAT.</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price includes VAT. / The price is inclusive of VAT.</a:t>
            </a:r>
          </a:p>
          <a:p>
            <a:pPr algn="l">
              <a:spcAft>
                <a:spcPts val="200"/>
              </a:spcAft>
            </a:pPr>
            <a:r>
              <a:rPr sz="1200" b="0">
                <a:solidFill>
                  <a:srgbClr val="FFFFFF"/>
                </a:solidFill>
                <a:latin typeface="Arial"/>
                <a:ea typeface="Microsoft YaHei"/>
              </a:rPr>
              <a:t>第三人称单数 -s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cannot to give you a discount.</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cannot give you a discount. / I’m afraid we can’t offer a discount at this quantity.</a:t>
            </a:r>
          </a:p>
          <a:p>
            <a:pPr algn="l">
              <a:spcAft>
                <a:spcPts val="200"/>
              </a:spcAft>
            </a:pPr>
            <a:r>
              <a:rPr sz="1200" b="0">
                <a:solidFill>
                  <a:srgbClr val="FFFFFF"/>
                </a:solidFill>
                <a:latin typeface="Arial"/>
                <a:ea typeface="Microsoft YaHei"/>
              </a:rPr>
              <a:t>cannot 后不加 to;委婉一点</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quotation is effective in 30 days.</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quotation is valid for 30 days.</a:t>
            </a:r>
          </a:p>
          <a:p>
            <a:pPr algn="l">
              <a:spcAft>
                <a:spcPts val="200"/>
              </a:spcAft>
            </a:pPr>
            <a:r>
              <a:rPr sz="1200" b="0">
                <a:solidFill>
                  <a:srgbClr val="FFFFFF"/>
                </a:solidFill>
                <a:latin typeface="Arial"/>
                <a:ea typeface="Microsoft YaHei"/>
              </a:rPr>
              <a:t>valid for + 时间</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delivery in four weeks.</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deliver in four weeks. / The delivery will take four weeks.</a:t>
            </a:r>
          </a:p>
          <a:p>
            <a:pPr algn="l">
              <a:spcAft>
                <a:spcPts val="200"/>
              </a:spcAft>
            </a:pPr>
            <a:r>
              <a:rPr sz="1200" b="0">
                <a:solidFill>
                  <a:srgbClr val="FFFFFF"/>
                </a:solidFill>
                <a:latin typeface="Arial"/>
                <a:ea typeface="Microsoft YaHei"/>
              </a:rPr>
              <a:t>动词 deliver,名词 delivery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we don’t have the 2-litre size.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Unfortunately, the 2-litre size is out of stock.</a:t>
            </a:r>
          </a:p>
          <a:p>
            <a:pPr algn="l">
              <a:spcAft>
                <a:spcPts val="200"/>
              </a:spcAft>
            </a:pPr>
            <a:r>
              <a:rPr sz="1200" b="0">
                <a:solidFill>
                  <a:srgbClr val="FFFFFF"/>
                </a:solidFill>
                <a:latin typeface="Arial"/>
                <a:ea typeface="Microsoft YaHei"/>
              </a:rPr>
              <a:t>商务邮件里用 Unfortunately</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Hope to cooperate with you.</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look forward to working with you. / We would welcome the opportunity to work with you.</a:t>
            </a:r>
          </a:p>
          <a:p>
            <a:pPr algn="l">
              <a:spcAft>
                <a:spcPts val="200"/>
              </a:spcAft>
            </a:pPr>
            <a:r>
              <a:rPr sz="1200" b="0">
                <a:solidFill>
                  <a:srgbClr val="FFFFFF"/>
                </a:solidFill>
                <a:latin typeface="Arial"/>
                <a:ea typeface="Microsoft YaHei"/>
              </a:rPr>
              <a:t>完整句子</a:t>
            </a:r>
          </a:p>
        </p:txBody>
      </p:sp>
      <p:sp>
        <p:nvSpPr>
          <p:cNvPr id="13" name="Rounded Rectangle 12"/>
          <p:cNvSpPr/>
          <p:nvPr/>
        </p:nvSpPr>
        <p:spPr>
          <a:xfrm>
            <a:off x="548640" y="335279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disscount / unfortunatly</a:t>
            </a:r>
          </a:p>
        </p:txBody>
      </p:sp>
      <p:sp>
        <p:nvSpPr>
          <p:cNvPr id="14" name="Rounded Rectangle 13"/>
          <p:cNvSpPr/>
          <p:nvPr/>
        </p:nvSpPr>
        <p:spPr>
          <a:xfrm>
            <a:off x="6187287" y="335279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discount / unfortunately</a:t>
            </a:r>
          </a:p>
          <a:p>
            <a:pPr algn="l">
              <a:spcAft>
                <a:spcPts val="200"/>
              </a:spcAft>
            </a:pPr>
            <a:r>
              <a:rPr sz="1200" b="0">
                <a:solidFill>
                  <a:srgbClr val="FFFFFF"/>
                </a:solidFill>
                <a:latin typeface="Arial"/>
                <a:ea typeface="Microsoft YaHei"/>
              </a:rPr>
              <a:t>拼写</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Reply to every question in the same order as the inquiry. Use the same numbers (1, 2, 3). Check: includes (-s), valid for, deliver (verb) / delivery (noun).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Reply within 24 hours (one working day) in most Western companies, even if only to say “I’ll get back to you by Friday.”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Be specific with numbers: </a:t>
            </a:r>
            <a:r>
              <a:rPr sz="1700" b="0">
                <a:solidFill>
                  <a:srgbClr val="1F2A44"/>
                </a:solidFill>
                <a:latin typeface="Arial"/>
                <a:ea typeface="Microsoft YaHei"/>
              </a:rPr>
              <a:t>currency ($, €, RMB), unit, VAT, shipping terms (EXW, FOB). Vague answers like “reasonable price” cause extra emails.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Say what you can do before what you can’t. “I can offer 800 units at $11.80” is better than “No discount”.</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Reply to all only when everyone needs the answer. Keep the previous email below your reply so the history is clear.</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1">
                <a:solidFill>
                  <a:srgbClr val="9B6BE0"/>
                </a:solidFill>
                <a:latin typeface="Arial"/>
                <a:ea typeface="Microsoft YaHei"/>
              </a:rPr>
              <a:t>Tone: </a:t>
            </a:r>
            <a:r>
              <a:rPr sz="1700" b="0">
                <a:solidFill>
                  <a:srgbClr val="1F2A44"/>
                </a:solidFill>
                <a:latin typeface="Arial"/>
                <a:ea typeface="Microsoft YaHei"/>
              </a:rPr>
              <a:t>A friendly, human tone (“I’d be happy to…”) works better than a stiff one (“We hereby inform you that…”).</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open a reply with Thank you for your email of… and refer to the inquiry.</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answer questions in order with prices, terms and the lead time.</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“no” with Unfortunately… / I’m afraid we are unable to… but we could…</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the next step (I’d be happy to arrange a call).</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valid for, includes (-s) and deliver / delivery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12 A reply to an inquiry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answers in order, valid for, -s on includes, deliver / delivery, and spelling.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 · Lesson 13 A follow-up email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 follow-up email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跟进邮件</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800" b="0">
                <a:solidFill>
                  <a:srgbClr val="FFC857"/>
                </a:solidFill>
                <a:latin typeface="Arial"/>
                <a:ea typeface="Microsoft YaHei"/>
              </a:rPr>
              <a:t>🎯 write polite follow-up emails that remind, ask for an update, or confirm actions after a meeting or call, without sounding pushy, and keep good relations with the other person.</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When do you follow up on an email? After how many days?</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do you say in a follow-up email when you have not had a reply?</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feel when someone sends you three reminders in one week?</a:t>
            </a:r>
          </a:p>
        </p:txBody>
      </p:sp>
      <p:sp>
        <p:nvSpPr>
          <p:cNvPr id="18" name="Oval 17"/>
          <p:cNvSpPr/>
          <p:nvPr/>
        </p:nvSpPr>
        <p:spPr>
          <a:xfrm>
            <a:off x="548640" y="365912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Tell me about a time a follow-up email helped you get an answer.</a:t>
            </a:r>
          </a:p>
        </p:txBody>
      </p:sp>
      <p:sp>
        <p:nvSpPr>
          <p:cNvPr id="21" name="Oval 20"/>
          <p:cNvSpPr/>
          <p:nvPr/>
        </p:nvSpPr>
        <p:spPr>
          <a:xfrm>
            <a:off x="548640" y="45232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09872"/>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09872"/>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do you write in an email after a meeting to confirm the action points?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题讲过去的事,请用过去式(helped, got, sent)。第 2 题可以说 “I usually write…”。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to follow up politely when a client has not replied.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when to follow up</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to write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to keep a polite tone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to do if there is still no reply</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usually wait… days before I…   💬 In the email I say…   💬 If there’s still no reply, I…</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催促别人要保持礼貌:用 “just wanted to check”、“a gentle reminder”。理由要写在邮件里:because we need to book the factory。</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a follow-up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跟进的开头</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writing to follow up 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我写信是想跟进……</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writing to follow up on the quotation I sent on 5 October.”</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just wanted to check whether you received…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我只是想确认您是否收到了……</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just wanted to check whether you received my email.”</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wanted to touch base about…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我想和您联系一下……</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wanted to touch base about the contract.”</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Further to our call / meeting on Tuesday, …</a:t>
            </a:r>
          </a:p>
          <a:p>
            <a:pPr algn="l">
              <a:lnSpc>
                <a:spcPct val="115000"/>
              </a:lnSpc>
              <a:spcAft>
                <a:spcPts val="800"/>
              </a:spcAft>
            </a:pPr>
            <a:r>
              <a:rPr sz="1300" b="0">
                <a:solidFill>
                  <a:srgbClr val="5F677A"/>
                </a:solidFill>
                <a:latin typeface="Arial"/>
                <a:ea typeface="Microsoft YaHei"/>
              </a:rPr>
              <a:t>phrase (formal)</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就周二的通话/会议而言……</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“Further to our meeting on Tuesday, here are the action points.”</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As discussed, …</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正如我们讨论的,……</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discussed, I’ll send the draft contract by Friday.”</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Asking for an update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询问进展</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Have you had a chance to look at…?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您有机会看一下……了吗?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“Have you had a chance to look at the quotation yet?”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give me an update 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请告诉我……的最新进展</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give me an update on the order?”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haven’t heard back from you.</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我还没收到您的回复</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haven’t heard back from you, so I wanted to check in.”</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Asking for an update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询问进展</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This is just a gentle reminder.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这只是一个温和的提醒</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is just a gentle reminder that the deadline is Friday.”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understand you’re very busy.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我知道您很忙</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understand you’re very busy, so I’ll keep this short.”</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Next steps and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下一步与结尾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let me know by…?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请在……前告知我</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let me know by Wednesday?”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If now isn’t a good time, …</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如果现在不方便,……</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now isn’t a good time, I’m happy to call next week.”</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appreciate it if you could…</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如果您能……我将不胜感激</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appreciate it if you could confirm by Friday.”</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Next steps and closing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下一步与结尾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know if you need anything from us.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如果需要我们提供什么,请告诉我</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know if you need anything from us.”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chase this up on Thursday.</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我周四再催一下这件事</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chase this up on Thursday if I haven’t heard from the factory.”</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您有机会看一下……了吗?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Have you had a chance to look at…?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我知道您很忙</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understand you’re very busy.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正如我们讨论的,……</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discussed, …</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如果现在不方便,……</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If now isn’t a good time, …</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这只是一个温和的提醒</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This is just a gentle reminder.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如果您能……我将不胜感激</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appreciate it if you could…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我还没收到您的回复</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haven’t heard back from you.</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请告诉我……的最新进展</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give me an update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heard</a:t>
            </a:r>
          </a:p>
        </p:txBody>
      </p:sp>
      <p:sp>
        <p:nvSpPr>
          <p:cNvPr id="10" name="Rounded Rectangle 9"/>
          <p:cNvSpPr/>
          <p:nvPr/>
        </p:nvSpPr>
        <p:spPr>
          <a:xfrm>
            <a:off x="3017520" y="987552"/>
            <a:ext cx="58521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a:t>
            </a:r>
          </a:p>
        </p:txBody>
      </p:sp>
      <p:sp>
        <p:nvSpPr>
          <p:cNvPr id="11" name="Rounded Rectangle 10"/>
          <p:cNvSpPr/>
          <p:nvPr/>
        </p:nvSpPr>
        <p:spPr>
          <a:xfrm>
            <a:off x="3694176"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update</a:t>
            </a:r>
          </a:p>
        </p:txBody>
      </p:sp>
      <p:sp>
        <p:nvSpPr>
          <p:cNvPr id="12" name="Rounded Rectangle 11"/>
          <p:cNvSpPr/>
          <p:nvPr/>
        </p:nvSpPr>
        <p:spPr>
          <a:xfrm>
            <a:off x="4809744"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chance</a:t>
            </a:r>
          </a:p>
        </p:txBody>
      </p:sp>
      <p:sp>
        <p:nvSpPr>
          <p:cNvPr id="13" name="Rounded Rectangle 12"/>
          <p:cNvSpPr/>
          <p:nvPr/>
        </p:nvSpPr>
        <p:spPr>
          <a:xfrm>
            <a:off x="5925312" y="987552"/>
            <a:ext cx="58521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a:t>
            </a:r>
          </a:p>
        </p:txBody>
      </p:sp>
      <p:sp>
        <p:nvSpPr>
          <p:cNvPr id="14" name="Rounded Rectangle 13"/>
          <p:cNvSpPr/>
          <p:nvPr/>
        </p:nvSpPr>
        <p:spPr>
          <a:xfrm>
            <a:off x="6601968"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reminder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I’m writing to follow _______ on the quotation I sent on 5 October.</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Have you had a _______ to look at it?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chance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This is just a gentle _______ that the deadline is Friday.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reminder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I haven’t _______ back from you.</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heard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Could you give me an _______ on the order?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update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_______ discussed, I will send the contract on Friday.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拼写与时态): received (i before e except after c: receive), follow-up (noun: hyphen) vs follow up (verb: two words), update (one word). Present perfect: “I haven’t heard from you” (not “I didn’t hear”).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A follow-up after no reply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对方没回复时的跟进</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sent a quotation to Mr Lee last week. He has not replied and your sales manager asks you to follow up.</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A follow-up after no reply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customer has not replied to your quotation or proposal.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Your product and date sent: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Reader</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Buyer. Busy, no answer yet.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writing to follow up on… · I haven’t heard back from you. · Have you had a chance to…? · Could you let me know by…? · I understand you’re very busy.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polite reminder with a reason, a deadline and an offer to help. 80–120 words.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This is your second follow-up. Be a little more direct: “I’d appreciate it if you could let me know whether you’d like to go ahead.”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Add a reason for the deadline: “We need to confirm the shipping slot by Friday.”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Write a three-line version for a close colleague.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Confirming action points after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会后邮件确认行动事项</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Right after a meeting, you phone your colleague to agree what to put in the follow-up email.</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 team leader</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Confirming action points after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Sophie, shall I send the follow-up email to BlueSea this afternoon?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Keep it short, and list the action points.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I’ll start with “Further to our meeting this morning”. Then the three points.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they, again?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First, we send the revised quotation by Thursday. Second, BlueSea confirms the quantity by next Monday. Third, we arrange a factory visit in November.</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Confirming action points after a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 Add who is responsible for each point, so there is no confusion.</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Shall I copy you in?</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 And add a line at the end: “Please let me know if I have missed anything.”</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nice touch. I’ll send it by three o’clock.</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Thanks, Li Wei.</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Confirming action points after a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the follow-up email after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Explain what the email will contain.</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leader. Gives advice and asks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Further to… · action points · responsible for · copy you in · Please let me know if I have missed anything.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the 3 main points, who does what and when.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Your boss changes one deadline. Say: “Would you mind if I changed that to Friday?”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to be copied in: “Could you copy me in, please?”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Rewrite the three action points as bullet points, each with a name and a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soon after a meeting should you send a follow-up email? Why?</a:t>
            </a:r>
          </a:p>
          <a:p>
            <a:pPr algn="l">
              <a:lnSpc>
                <a:spcPct val="115000"/>
              </a:lnSpc>
              <a:spcAft>
                <a:spcPts val="800"/>
              </a:spcAft>
            </a:pPr>
            <a:r>
              <a:rPr sz="1400" b="0">
                <a:solidFill>
                  <a:srgbClr val="5F677A"/>
                </a:solidFill>
                <a:latin typeface="Arial"/>
                <a:ea typeface="Microsoft YaHei"/>
              </a:rPr>
              <a:t>💬 “I try to send it within… because…” / “The sooner the better, since…”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send a second or third reminder? How do you word it?</a:t>
            </a:r>
          </a:p>
          <a:p>
            <a:pPr algn="l">
              <a:lnSpc>
                <a:spcPct val="115000"/>
              </a:lnSpc>
              <a:spcAft>
                <a:spcPts val="800"/>
              </a:spcAft>
            </a:pPr>
            <a:r>
              <a:rPr sz="1400" b="0">
                <a:solidFill>
                  <a:srgbClr val="5F677A"/>
                </a:solidFill>
                <a:latin typeface="Arial"/>
                <a:ea typeface="Microsoft YaHei"/>
              </a:rPr>
              <a:t>💬 “A second reminder is fine if…” / “I usually write ‘Just checking in…’”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stay polite when someone is slow to reply?</a:t>
            </a:r>
          </a:p>
          <a:p>
            <a:pPr algn="l">
              <a:lnSpc>
                <a:spcPct val="115000"/>
              </a:lnSpc>
              <a:spcAft>
                <a:spcPts val="800"/>
              </a:spcAft>
            </a:pPr>
            <a:r>
              <a:rPr sz="1400" b="0">
                <a:solidFill>
                  <a:srgbClr val="5F677A"/>
                </a:solidFill>
                <a:latin typeface="Arial"/>
                <a:ea typeface="Microsoft YaHei"/>
              </a:rPr>
              <a:t>💬 “I assume they are busy.” / “I never blame them. I just say…”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details should a follow-up email after a meeting include?</a:t>
            </a:r>
          </a:p>
          <a:p>
            <a:pPr algn="l">
              <a:lnSpc>
                <a:spcPct val="115000"/>
              </a:lnSpc>
              <a:spcAft>
                <a:spcPts val="800"/>
              </a:spcAft>
            </a:pPr>
            <a:r>
              <a:rPr sz="1400" b="0">
                <a:solidFill>
                  <a:srgbClr val="5F677A"/>
                </a:solidFill>
                <a:latin typeface="Arial"/>
                <a:ea typeface="Microsoft YaHei"/>
              </a:rPr>
              <a:t>💬 “It should include…” / “Who is doing what, and by when.”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there is still no reply after two reminders?</a:t>
            </a:r>
          </a:p>
          <a:p>
            <a:pPr algn="l">
              <a:lnSpc>
                <a:spcPct val="115000"/>
              </a:lnSpc>
              <a:spcAft>
                <a:spcPts val="800"/>
              </a:spcAft>
            </a:pPr>
            <a:r>
              <a:rPr sz="1400" b="0">
                <a:solidFill>
                  <a:srgbClr val="5F677A"/>
                </a:solidFill>
                <a:latin typeface="Arial"/>
                <a:ea typeface="Microsoft YaHei"/>
              </a:rPr>
              <a:t>💬 “I would pick up the phone and…” / “I’d ask a colleague who knows them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a follow-up email after a meeting should be short and clear. It needs three things: what we agreed, who is doing what, and by when. For example,”Anna will send the revised quotation by Thursday.” I also like to add a line such as “Please let me know if I have missed anything.” That way, everyone can correct me, and there is less risk of misunderstandings later.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“That way, …” 表示“这样一来……”,是很自然的连接语。“there is less risk of misunderstandings”(减少误解的风险)用 less risk of + 名词。</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Email template: follow-up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跟进邮件模板</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652272">
                <a:tc>
                  <a:txBody>
                    <a:bodyPr wrap="square"/>
                    <a:lstStyle/>
                    <a:p>
                      <a:r>
                        <a:rPr sz="1600" b="1">
                          <a:solidFill>
                            <a:srgbClr val="1F2A44"/>
                          </a:solidFill>
                          <a:latin typeface="Arial"/>
                          <a:ea typeface="Microsoft YaHei"/>
                        </a:rPr>
                        <a:t>Subject</a:t>
                      </a:r>
                    </a:p>
                  </a:txBody>
                  <a:tcPr anchor="ctr">
                    <a:solidFill>
                      <a:srgbClr val="FFFFFF"/>
                    </a:solidFill>
                  </a:tcPr>
                </a:tc>
                <a:tc>
                  <a:txBody>
                    <a:bodyPr wrap="square"/>
                    <a:lstStyle/>
                    <a:p>
                      <a:r>
                        <a:rPr sz="1600" b="0">
                          <a:solidFill>
                            <a:srgbClr val="1F2A44"/>
                          </a:solidFill>
                          <a:latin typeface="Arial"/>
                          <a:ea typeface="Microsoft YaHei"/>
                        </a:rPr>
                        <a:t>Follow-up: [topic] ([date]) / Action points from today’s meeting</a:t>
                      </a:r>
                    </a:p>
                  </a:txBody>
                  <a:tcPr anchor="ctr">
                    <a:solidFill>
                      <a:srgbClr val="FFFFFF"/>
                    </a:solidFill>
                  </a:tcPr>
                </a:tc>
              </a:tr>
              <a:tr h="408432">
                <a:tc>
                  <a:txBody>
                    <a:bodyPr wrap="square"/>
                    <a:lstStyle/>
                    <a:p>
                      <a:r>
                        <a:rPr sz="1600" b="1">
                          <a:solidFill>
                            <a:srgbClr val="1F2A44"/>
                          </a:solidFill>
                          <a:latin typeface="Arial"/>
                          <a:ea typeface="Microsoft YaHei"/>
                        </a:rPr>
                        <a:t>Opening</a:t>
                      </a:r>
                    </a:p>
                  </a:txBody>
                  <a:tcPr anchor="ctr">
                    <a:solidFill>
                      <a:srgbClr val="FFEFD9"/>
                    </a:solidFill>
                  </a:tcPr>
                </a:tc>
                <a:tc>
                  <a:txBody>
                    <a:bodyPr wrap="square"/>
                    <a:lstStyle/>
                    <a:p>
                      <a:r>
                        <a:rPr sz="1600" b="0">
                          <a:solidFill>
                            <a:srgbClr val="1F2A44"/>
                          </a:solidFill>
                          <a:latin typeface="Arial"/>
                          <a:ea typeface="Microsoft YaHei"/>
                        </a:rPr>
                        <a:t>Dear Mr / Ms [Surname], / Hi [First name],</a:t>
                      </a:r>
                    </a:p>
                  </a:txBody>
                  <a:tcPr anchor="ctr">
                    <a:solidFill>
                      <a:srgbClr val="FFEFD9"/>
                    </a:solidFill>
                  </a:tcPr>
                </a:tc>
              </a:tr>
              <a:tr h="652272">
                <a:tc>
                  <a:txBody>
                    <a:bodyPr wrap="square"/>
                    <a:lstStyle/>
                    <a:p>
                      <a:r>
                        <a:rPr sz="1600" b="1">
                          <a:solidFill>
                            <a:srgbClr val="1F2A44"/>
                          </a:solidFill>
                          <a:latin typeface="Arial"/>
                          <a:ea typeface="Microsoft YaHei"/>
                        </a:rPr>
                        <a:t>Reference</a:t>
                      </a:r>
                    </a:p>
                  </a:txBody>
                  <a:tcPr anchor="ctr">
                    <a:solidFill>
                      <a:srgbClr val="FFFFFF"/>
                    </a:solidFill>
                  </a:tcPr>
                </a:tc>
                <a:tc>
                  <a:txBody>
                    <a:bodyPr wrap="square"/>
                    <a:lstStyle/>
                    <a:p>
                      <a:r>
                        <a:rPr sz="1600" b="0">
                          <a:solidFill>
                            <a:srgbClr val="1F2A44"/>
                          </a:solidFill>
                          <a:latin typeface="Arial"/>
                          <a:ea typeface="Microsoft YaHei"/>
                        </a:rPr>
                        <a:t>I’m writing to follow up on… / Further to our meeting on [day], …</a:t>
                      </a:r>
                    </a:p>
                  </a:txBody>
                  <a:tcPr anchor="ctr">
                    <a:solidFill>
                      <a:srgbClr val="FFFFFF"/>
                    </a:solidFill>
                  </a:tcPr>
                </a:tc>
              </a:tr>
              <a:tr h="652272">
                <a:tc>
                  <a:txBody>
                    <a:bodyPr wrap="square"/>
                    <a:lstStyle/>
                    <a:p>
                      <a:r>
                        <a:rPr sz="1600" b="1">
                          <a:solidFill>
                            <a:srgbClr val="1F2A44"/>
                          </a:solidFill>
                          <a:latin typeface="Arial"/>
                          <a:ea typeface="Microsoft YaHei"/>
                        </a:rPr>
                        <a:t>Check</a:t>
                      </a:r>
                    </a:p>
                  </a:txBody>
                  <a:tcPr anchor="ctr">
                    <a:solidFill>
                      <a:srgbClr val="FFEFD9"/>
                    </a:solidFill>
                  </a:tcPr>
                </a:tc>
                <a:tc>
                  <a:txBody>
                    <a:bodyPr wrap="square"/>
                    <a:lstStyle/>
                    <a:p>
                      <a:r>
                        <a:rPr sz="1600" b="0">
                          <a:solidFill>
                            <a:srgbClr val="1F2A44"/>
                          </a:solidFill>
                          <a:latin typeface="Arial"/>
                          <a:ea typeface="Microsoft YaHei"/>
                        </a:rPr>
                        <a:t>I just wanted to check whether you received… / Have you had a chance to look at…?</a:t>
                      </a:r>
                    </a:p>
                  </a:txBody>
                  <a:tcPr anchor="ctr">
                    <a:solidFill>
                      <a:srgbClr val="FFEFD9"/>
                    </a:solidFill>
                  </a:tcPr>
                </a:tc>
              </a:tr>
            </a:tbl>
          </a:graphicData>
        </a:graphic>
      </p:graphicFrame>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Email template: follow-up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跟进邮件模板</a:t>
            </a:r>
          </a:p>
        </p:txBody>
      </p:sp>
      <p:graphicFrame>
        <p:nvGraphicFramePr>
          <p:cNvPr id="9" name="Table 8"/>
          <p:cNvGraphicFramePr>
            <a:graphicFrameLocks noGrp="1"/>
          </p:cNvGraphicFramePr>
          <p:nvPr/>
        </p:nvGraphicFramePr>
        <p:xfrm>
          <a:off x="548640" y="1417320"/>
          <a:ext cx="11094415" cy="212140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652272">
                <a:tc>
                  <a:txBody>
                    <a:bodyPr wrap="square"/>
                    <a:lstStyle/>
                    <a:p>
                      <a:r>
                        <a:rPr sz="1600" b="1">
                          <a:solidFill>
                            <a:srgbClr val="1F2A44"/>
                          </a:solidFill>
                          <a:latin typeface="Arial"/>
                          <a:ea typeface="Microsoft YaHei"/>
                        </a:rPr>
                        <a:t>Reason + deadline</a:t>
                      </a:r>
                    </a:p>
                  </a:txBody>
                  <a:tcPr anchor="ctr">
                    <a:solidFill>
                      <a:srgbClr val="FFFFFF"/>
                    </a:solidFill>
                  </a:tcPr>
                </a:tc>
                <a:tc>
                  <a:txBody>
                    <a:bodyPr wrap="square"/>
                    <a:lstStyle/>
                    <a:p>
                      <a:r>
                        <a:rPr sz="1600" b="0">
                          <a:solidFill>
                            <a:srgbClr val="1F2A44"/>
                          </a:solidFill>
                          <a:latin typeface="Arial"/>
                          <a:ea typeface="Microsoft YaHei"/>
                        </a:rPr>
                        <a:t>It would be helpful to hear from you by [date], so that we can…</a:t>
                      </a:r>
                    </a:p>
                  </a:txBody>
                  <a:tcPr anchor="ctr">
                    <a:solidFill>
                      <a:srgbClr val="FFFFFF"/>
                    </a:solidFill>
                  </a:tcPr>
                </a:tc>
              </a:tr>
              <a:tr h="652272">
                <a:tc>
                  <a:txBody>
                    <a:bodyPr wrap="square"/>
                    <a:lstStyle/>
                    <a:p>
                      <a:r>
                        <a:rPr sz="1600" b="1">
                          <a:solidFill>
                            <a:srgbClr val="1F2A44"/>
                          </a:solidFill>
                          <a:latin typeface="Arial"/>
                          <a:ea typeface="Microsoft YaHei"/>
                        </a:rPr>
                        <a:t>Soft close</a:t>
                      </a:r>
                    </a:p>
                  </a:txBody>
                  <a:tcPr anchor="ctr">
                    <a:solidFill>
                      <a:srgbClr val="FFEFD9"/>
                    </a:solidFill>
                  </a:tcPr>
                </a:tc>
                <a:tc>
                  <a:txBody>
                    <a:bodyPr wrap="square"/>
                    <a:lstStyle/>
                    <a:p>
                      <a:r>
                        <a:rPr sz="1600" b="0">
                          <a:solidFill>
                            <a:srgbClr val="1F2A44"/>
                          </a:solidFill>
                          <a:latin typeface="Arial"/>
                          <a:ea typeface="Microsoft YaHei"/>
                        </a:rPr>
                        <a:t>I understand you’re very busy. / If now isn’t a good time, I’m happy to call next week.</a:t>
                      </a:r>
                    </a:p>
                  </a:txBody>
                  <a:tcPr anchor="ctr">
                    <a:solidFill>
                      <a:srgbClr val="FFEFD9"/>
                    </a:solidFill>
                  </a:tcPr>
                </a:tc>
              </a:tr>
              <a:tr h="408432">
                <a:tc>
                  <a:txBody>
                    <a:bodyPr wrap="square"/>
                    <a:lstStyle/>
                    <a:p>
                      <a:r>
                        <a:rPr sz="1600" b="1">
                          <a:solidFill>
                            <a:srgbClr val="1F2A44"/>
                          </a:solidFill>
                          <a:latin typeface="Arial"/>
                          <a:ea typeface="Microsoft YaHei"/>
                        </a:rPr>
                        <a:t>Sign-off</a:t>
                      </a:r>
                    </a:p>
                  </a:txBody>
                  <a:tcPr anchor="ctr">
                    <a:solidFill>
                      <a:srgbClr val="FFFFFF"/>
                    </a:solidFill>
                  </a:tcPr>
                </a:tc>
                <a:tc>
                  <a:txBody>
                    <a:bodyPr wrap="square"/>
                    <a:lstStyle/>
                    <a:p>
                      <a:r>
                        <a:rPr sz="1600" b="0">
                          <a:solidFill>
                            <a:srgbClr val="1F2A44"/>
                          </a:solidFill>
                          <a:latin typeface="Arial"/>
                          <a:ea typeface="Microsoft YaHei"/>
                        </a:rPr>
                        <a:t>Kind regards, / Best regards, + name</a:t>
                      </a:r>
                    </a:p>
                  </a:txBody>
                  <a:tcPr anchor="ctr">
                    <a:solidFill>
                      <a:srgbClr val="FFFFFF"/>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polite reminders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礼貌提醒句型库</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Strength</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1st reminder (soft)</a:t>
                      </a:r>
                    </a:p>
                  </a:txBody>
                  <a:tcPr anchor="ctr">
                    <a:solidFill>
                      <a:srgbClr val="FFFFFF"/>
                    </a:solidFill>
                  </a:tcPr>
                </a:tc>
                <a:tc>
                  <a:txBody>
                    <a:bodyPr wrap="square"/>
                    <a:lstStyle/>
                    <a:p>
                      <a:r>
                        <a:rPr sz="1600" b="0">
                          <a:solidFill>
                            <a:srgbClr val="1F2A44"/>
                          </a:solidFill>
                          <a:latin typeface="Arial"/>
                          <a:ea typeface="Microsoft YaHei"/>
                        </a:rPr>
                        <a:t>Just a quick note to check you received my last email. / I wanted to touch base. ★</a:t>
                      </a:r>
                    </a:p>
                  </a:txBody>
                  <a:tcPr anchor="ctr">
                    <a:solidFill>
                      <a:srgbClr val="FFFFFF"/>
                    </a:solidFill>
                  </a:tcPr>
                </a:tc>
              </a:tr>
              <a:tr h="652272">
                <a:tc>
                  <a:txBody>
                    <a:bodyPr wrap="square"/>
                    <a:lstStyle/>
                    <a:p>
                      <a:r>
                        <a:rPr sz="1600" b="1">
                          <a:solidFill>
                            <a:srgbClr val="1F2A44"/>
                          </a:solidFill>
                          <a:latin typeface="Arial"/>
                          <a:ea typeface="Microsoft YaHei"/>
                        </a:rPr>
                        <a:t>2nd reminder</a:t>
                      </a:r>
                    </a:p>
                  </a:txBody>
                  <a:tcPr anchor="ctr">
                    <a:solidFill>
                      <a:srgbClr val="FFEFD9"/>
                    </a:solidFill>
                  </a:tcPr>
                </a:tc>
                <a:tc>
                  <a:txBody>
                    <a:bodyPr wrap="square"/>
                    <a:lstStyle/>
                    <a:p>
                      <a:r>
                        <a:rPr sz="1600" b="0">
                          <a:solidFill>
                            <a:srgbClr val="1F2A44"/>
                          </a:solidFill>
                          <a:latin typeface="Arial"/>
                          <a:ea typeface="Microsoft YaHei"/>
                        </a:rPr>
                        <a:t>I’m following up on my email of [date]. Could you let me know by…?</a:t>
                      </a:r>
                    </a:p>
                  </a:txBody>
                  <a:tcPr anchor="ctr">
                    <a:solidFill>
                      <a:srgbClr val="FFEFD9"/>
                    </a:solidFill>
                  </a:tcPr>
                </a:tc>
              </a:tr>
              <a:tr h="652272">
                <a:tc>
                  <a:txBody>
                    <a:bodyPr wrap="square"/>
                    <a:lstStyle/>
                    <a:p>
                      <a:r>
                        <a:rPr sz="1600" b="1">
                          <a:solidFill>
                            <a:srgbClr val="1F2A44"/>
                          </a:solidFill>
                          <a:latin typeface="Arial"/>
                          <a:ea typeface="Microsoft YaHei"/>
                        </a:rPr>
                        <a:t>3rd (firm but polite)</a:t>
                      </a:r>
                    </a:p>
                  </a:txBody>
                  <a:tcPr anchor="ctr">
                    <a:solidFill>
                      <a:srgbClr val="FFFFFF"/>
                    </a:solidFill>
                  </a:tcPr>
                </a:tc>
                <a:tc>
                  <a:txBody>
                    <a:bodyPr wrap="square"/>
                    <a:lstStyle/>
                    <a:p>
                      <a:r>
                        <a:rPr sz="1600" b="0">
                          <a:solidFill>
                            <a:srgbClr val="1F2A44"/>
                          </a:solidFill>
                          <a:latin typeface="Arial"/>
                          <a:ea typeface="Microsoft YaHei"/>
                        </a:rPr>
                        <a:t>I’d appreciate it if you could confirm by Friday, as we need to finalise the plan.</a:t>
                      </a:r>
                    </a:p>
                  </a:txBody>
                  <a:tcPr anchor="ctr">
                    <a:solidFill>
                      <a:srgbClr val="FFFFFF"/>
                    </a:solidFill>
                  </a:tcPr>
                </a:tc>
              </a:tr>
              <a:tr h="652272">
                <a:tc>
                  <a:txBody>
                    <a:bodyPr wrap="square"/>
                    <a:lstStyle/>
                    <a:p>
                      <a:r>
                        <a:rPr sz="1600" b="1">
                          <a:solidFill>
                            <a:srgbClr val="1F2A44"/>
                          </a:solidFill>
                          <a:latin typeface="Arial"/>
                          <a:ea typeface="Microsoft YaHei"/>
                        </a:rPr>
                        <a:t>After a meeting</a:t>
                      </a:r>
                    </a:p>
                  </a:txBody>
                  <a:tcPr anchor="ctr">
                    <a:solidFill>
                      <a:srgbClr val="FFEFD9"/>
                    </a:solidFill>
                  </a:tcPr>
                </a:tc>
                <a:tc>
                  <a:txBody>
                    <a:bodyPr wrap="square"/>
                    <a:lstStyle/>
                    <a:p>
                      <a:r>
                        <a:rPr sz="1600" b="0">
                          <a:solidFill>
                            <a:srgbClr val="1F2A44"/>
                          </a:solidFill>
                          <a:latin typeface="Arial"/>
                          <a:ea typeface="Microsoft YaHei"/>
                        </a:rPr>
                        <a:t>Further to our meeting, here is a summary of what we agreed. ★</a:t>
                      </a:r>
                    </a:p>
                  </a:txBody>
                  <a:tcPr anchor="ctr">
                    <a:solidFill>
                      <a:srgbClr val="FFEFD9"/>
                    </a:solidFill>
                  </a:tcPr>
                </a:tc>
              </a:tr>
              <a:tr h="408432">
                <a:tc>
                  <a:txBody>
                    <a:bodyPr wrap="square"/>
                    <a:lstStyle/>
                    <a:p>
                      <a:r>
                        <a:rPr sz="1600" b="1">
                          <a:solidFill>
                            <a:srgbClr val="1F2A44"/>
                          </a:solidFill>
                          <a:latin typeface="Arial"/>
                          <a:ea typeface="Microsoft YaHei"/>
                        </a:rPr>
                        <a:t>Offering help</a:t>
                      </a:r>
                    </a:p>
                  </a:txBody>
                  <a:tcPr anchor="ctr">
                    <a:solidFill>
                      <a:srgbClr val="FFFFFF"/>
                    </a:solidFill>
                  </a:tcPr>
                </a:tc>
                <a:tc>
                  <a:txBody>
                    <a:bodyPr wrap="square"/>
                    <a:lstStyle/>
                    <a:p>
                      <a:r>
                        <a:rPr sz="1600" b="0">
                          <a:solidFill>
                            <a:srgbClr val="1F2A44"/>
                          </a:solidFill>
                          <a:latin typeface="Arial"/>
                          <a:ea typeface="Microsoft YaHei"/>
                        </a:rPr>
                        <a:t>Please let me know if you need anything from us.</a:t>
                      </a:r>
                    </a:p>
                  </a:txBody>
                  <a:tcPr anchor="ctr">
                    <a:solidFill>
                      <a:srgbClr val="FFFFFF"/>
                    </a:solidFill>
                  </a:tcPr>
                </a:tc>
              </a:tr>
            </a:tbl>
          </a:graphicData>
        </a:graphic>
      </p:graphicFrame>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polite reminders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礼貌提醒句型库</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Follow up (verb) vs follow-up (noun / adjective): </a:t>
            </a:r>
            <a:r>
              <a:rPr sz="1700" b="0">
                <a:solidFill>
                  <a:srgbClr val="1F2A44"/>
                </a:solidFill>
                <a:latin typeface="Arial"/>
                <a:ea typeface="Microsoft YaHei"/>
              </a:rPr>
              <a:t>“I’ll follow up next week.” / “Here is a follow-up email.”</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Check in / touch base / chase up: </a:t>
            </a:r>
            <a:r>
              <a:rPr sz="1700" b="0">
                <a:solidFill>
                  <a:srgbClr val="1F2A44"/>
                </a:solidFill>
                <a:latin typeface="Arial"/>
                <a:ea typeface="Microsoft YaHei"/>
              </a:rPr>
              <a:t>friendly business verbs. Chase up is mostly British. Use chase for tasks (“chase the supplier”), not for people.</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didn’t reply my email.</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haven’t heard back from you. / I haven’t received a reply yet.</a:t>
            </a:r>
          </a:p>
          <a:p>
            <a:pPr algn="l">
              <a:spcAft>
                <a:spcPts val="200"/>
              </a:spcAft>
            </a:pPr>
            <a:r>
              <a:rPr sz="1200" b="0">
                <a:solidFill>
                  <a:srgbClr val="FFFFFF"/>
                </a:solidFill>
                <a:latin typeface="Arial"/>
                <a:ea typeface="Microsoft YaHei"/>
              </a:rPr>
              <a:t>避免指责;reply 后要加 to</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urge you to reply.</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would be helpful to hear from you by Friday.</a:t>
            </a:r>
          </a:p>
          <a:p>
            <a:pPr algn="l">
              <a:spcAft>
                <a:spcPts val="200"/>
              </a:spcAft>
            </a:pPr>
            <a:r>
              <a:rPr sz="1200" b="0">
                <a:solidFill>
                  <a:srgbClr val="FFFFFF"/>
                </a:solidFill>
                <a:latin typeface="Arial"/>
                <a:ea typeface="Microsoft YaHei"/>
              </a:rPr>
              <a:t>urge 太强硬</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reply me soon.</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let me know by Friday?</a:t>
            </a:r>
          </a:p>
          <a:p>
            <a:pPr algn="l">
              <a:spcAft>
                <a:spcPts val="200"/>
              </a:spcAft>
            </a:pPr>
            <a:r>
              <a:rPr sz="1200" b="0">
                <a:solidFill>
                  <a:srgbClr val="FFFFFF"/>
                </a:solidFill>
                <a:latin typeface="Arial"/>
                <a:ea typeface="Microsoft YaHei"/>
              </a:rPr>
              <a:t>给出具体日期</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sent you a quotation yesterday and you didn’t answer.</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sent you a quotation on Monday and haven’t heard back.</a:t>
            </a:r>
          </a:p>
          <a:p>
            <a:pPr algn="l">
              <a:spcAft>
                <a:spcPts val="200"/>
              </a:spcAft>
            </a:pPr>
            <a:r>
              <a:rPr sz="1200" b="0">
                <a:solidFill>
                  <a:srgbClr val="FFFFFF"/>
                </a:solidFill>
                <a:latin typeface="Arial"/>
                <a:ea typeface="Microsoft YaHei"/>
              </a:rPr>
              <a:t>没有结果用现在完成时</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follow up the order.</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following up on the order.</a:t>
            </a:r>
          </a:p>
          <a:p>
            <a:pPr algn="l">
              <a:spcAft>
                <a:spcPts val="200"/>
              </a:spcAft>
            </a:pPr>
            <a:r>
              <a:rPr sz="1200" b="0">
                <a:solidFill>
                  <a:srgbClr val="FFFFFF"/>
                </a:solidFill>
                <a:latin typeface="Arial"/>
                <a:ea typeface="Microsoft YaHei"/>
              </a:rPr>
              <a:t>进行时 +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Have you seen my email already?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Have you had a chance to look at my email yet?</a:t>
            </a:r>
          </a:p>
          <a:p>
            <a:pPr algn="l">
              <a:spcAft>
                <a:spcPts val="200"/>
              </a:spcAft>
            </a:pPr>
            <a:r>
              <a:rPr sz="1200" b="0">
                <a:solidFill>
                  <a:srgbClr val="FFFFFF"/>
                </a:solidFill>
                <a:latin typeface="Arial"/>
                <a:ea typeface="Microsoft YaHei"/>
              </a:rPr>
              <a:t>疑问句用 yet</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remind you about the meeting.</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just wanted to remind you about the meeting. / This is a reminder that…</a:t>
            </a:r>
          </a:p>
          <a:p>
            <a:pPr algn="l">
              <a:spcAft>
                <a:spcPts val="200"/>
              </a:spcAft>
            </a:pPr>
            <a:r>
              <a:rPr sz="1200" b="0">
                <a:solidFill>
                  <a:srgbClr val="FFFFFF"/>
                </a:solidFill>
                <a:latin typeface="Arial"/>
                <a:ea typeface="Microsoft YaHei"/>
              </a:rPr>
              <a:t>want 太直接,加 just wanted to</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Looking forward your early reply.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look forward to hearing from you.</a:t>
            </a:r>
          </a:p>
          <a:p>
            <a:pPr algn="l">
              <a:spcAft>
                <a:spcPts val="200"/>
              </a:spcAft>
            </a:pPr>
            <a:r>
              <a:rPr sz="1200" b="0">
                <a:solidFill>
                  <a:srgbClr val="FFFFFF"/>
                </a:solidFill>
                <a:latin typeface="Arial"/>
                <a:ea typeface="Microsoft YaHei"/>
              </a:rPr>
              <a:t>forward to + -ing</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chase you every day.</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follow up again on Thursday.</a:t>
            </a:r>
          </a:p>
          <a:p>
            <a:pPr algn="l">
              <a:spcAft>
                <a:spcPts val="200"/>
              </a:spcAft>
            </a:pPr>
            <a:r>
              <a:rPr sz="1200" b="0">
                <a:solidFill>
                  <a:srgbClr val="FFFFFF"/>
                </a:solidFill>
                <a:latin typeface="Arial"/>
                <a:ea typeface="Microsoft YaHei"/>
              </a:rPr>
              <a:t>语气:chase you 像追债</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folow-up / recieved</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follow-up / received</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Use the present perfect for no news until now: “I haven’t heard from you.” Don’t write “you didn’t reply”. It sounds like blame.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Don’t blame. Western business culture avoids “You didn’t answer”. Assume the person is busy or the email got lost: “In case my last email got lost…” ★</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Wait the right time: </a:t>
            </a:r>
            <a:r>
              <a:rPr sz="1700" b="0">
                <a:solidFill>
                  <a:srgbClr val="1F2A44"/>
                </a:solidFill>
                <a:latin typeface="Arial"/>
                <a:ea typeface="Microsoft YaHei"/>
              </a:rPr>
              <a:t>3–5 working days for a quotation, 1–2 days for an urgent request. A reminder after only one day can look impatient.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Give a reason for the deadline. “So that I can reserve the stock” is better than “Please reply quickly”.</a:t>
            </a:r>
          </a:p>
        </p:txBody>
      </p:sp>
      <p:sp>
        <p:nvSpPr>
          <p:cNvPr id="18" name="Rounded Rectangle 17"/>
          <p:cNvSpPr/>
          <p:nvPr/>
        </p:nvSpPr>
        <p:spPr>
          <a:xfrm>
            <a:off x="548640" y="379475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441959"/>
          </a:xfrm>
          <a:prstGeom prst="rect">
            <a:avLst/>
          </a:prstGeom>
          <a:noFill/>
        </p:spPr>
        <p:txBody>
          <a:bodyPr wrap="square" anchor="ctr">
            <a:spAutoFit/>
          </a:bodyPr>
          <a:lstStyle/>
          <a:p>
            <a:r>
              <a:rPr sz="1700" b="0">
                <a:solidFill>
                  <a:srgbClr val="1F2A44"/>
                </a:solidFill>
                <a:latin typeface="Arial"/>
                <a:ea typeface="Microsoft YaHei"/>
              </a:rPr>
              <a:t>Phone after two emails. Many people respond to a call more quickly than to a third email.</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Short and kind wins. “I understand you’re very busy” costs five words and keeps the relationship warm.</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start a follow-up with I’m writing to follow up on… or Further to…</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an update politely (Have you had a chance to…? Could you give me an update?).</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reason and a date for the reply.</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action points after a meeting (who, what, when).</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present perfect (I haven’t heard back) and follow up / follow-up correctly.</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13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present perfect (haven’t heard), follow up / follow-up, a polite tone (no blame), and spelling (received).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 · Lesson 14 A reply to a follow-up email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300" b="1">
                <a:solidFill>
                  <a:srgbClr val="FFFFFF"/>
                </a:solidFill>
                <a:latin typeface="Arial"/>
                <a:ea typeface="Microsoft YaHei"/>
              </a:rPr>
              <a:t>A reply to a follow-up email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回复跟进邮件</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900" b="0">
                <a:solidFill>
                  <a:srgbClr val="FFC857"/>
                </a:solidFill>
                <a:latin typeface="Arial"/>
                <a:ea typeface="Microsoft YaHei"/>
              </a:rPr>
              <a:t>🎯 reply to a follow-up email: apologize for a delay, give a clear update, explain what happens next, and say “not yet” or “no” politely while keeping the relationship.</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you receive a reminder, how do you feel? What do you do?</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best way to apologize for a late reply?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tell a customer that a decision will take longer?</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Tell me about a time you forgot to reply to an important email. What did you do?</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information should you include to give a good update?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题讲过去的事,请用过去式(forgot, wrote, called)。第 1 题:remind 的名词是 reminder。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600" b="1">
                <a:solidFill>
                  <a:srgbClr val="1F2A44"/>
                </a:solidFill>
                <a:latin typeface="Arial"/>
                <a:ea typeface="Microsoft YaHei"/>
              </a:rPr>
              <a:t>Explain how to answer a customer who has asked “Have you had a chance to look at our proposal?”</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1. apologize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 explain briefly</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 give an update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 give a new date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 thank them for their patience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would start by apologizing for…   💬 Then I’d explain…   💬 I’d give a new date, for example…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道歉要简短,不要连说三个 sorry。解释一句话就够,重点是给出新的时间。</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Apologizing for the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为延迟道歉</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Apologies for the delay in getting back to you.</a:t>
            </a:r>
          </a:p>
          <a:p>
            <a:pPr algn="l">
              <a:lnSpc>
                <a:spcPct val="115000"/>
              </a:lnSpc>
              <a:spcAft>
                <a:spcPts val="800"/>
              </a:spcAft>
            </a:pPr>
            <a:r>
              <a:rPr sz="1300" b="0">
                <a:solidFill>
                  <a:srgbClr val="5F677A"/>
                </a:solidFill>
                <a:latin typeface="Arial"/>
                <a:ea typeface="Microsoft YaHei"/>
              </a:rPr>
              <a:t>phrase (formal)</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抱歉这么晚才回复您</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“Apologies for the delay in getting back to you.”</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following up.</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谢谢您跟进</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following up on my last email.”</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I’ve been out of the office.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我之前不在办公室</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been out of the office since Monday.”</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1: Apologizing for the delay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为延迟道歉</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I’ve been tied up with…</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我一直在忙……(走不开)</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“I’ve been tied up with the year-end audit.”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Your email slipped through the net.</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您的邮件被我漏掉了</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sorry, your email slipped through the net.”</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Giving an update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说明最新进展</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have now had a chance to review…</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我们现在已经审阅了……</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now had a chance to review your proposal.”</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happy to confirm that…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我很高兴确认……</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happy to confirm that we can start in January.”</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We’re still waiting for approval from…</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我们仍在等……的批准</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still waiting for approval from our finance team.”</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Giving an update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说明最新进展</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decision is still pending.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决定尚未做出</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decision is still pending until the board meets.”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We’ll have a better idea by next week.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下周我们会更清楚</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have a better idea by next week.”</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Next steps and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下一步与结尾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get back to you by Friday.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我周五前回复您</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get back to you by Friday with a final answer.”</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Thank you for bearing with us.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感谢您的耐心等待</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bearing with us.”</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We’ve decided to hold off 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我们决定暂缓……</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“We’ve decided to hold off on the order until January.”</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keep me updated.</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请随时告诉我最新情况</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keep me updated on the delivery.”</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appreciate your patience.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感谢您的耐心</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appreciate your patience.”</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谢谢您跟进</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following up.</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感谢您的耐心等待</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bearing with us.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我们决定暂缓……</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We’ve decided to hold off 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我们现在已经审阅了……</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We have now had a chance to review…</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感谢您的耐心</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appreciate your patience.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请随时告诉我最新情况</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keep me updated.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您的邮件被我漏掉了</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Your email slipped through the net.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我一直在忙……(走不开)</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I’ve been tied up with…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bearing</a:t>
            </a:r>
          </a:p>
        </p:txBody>
      </p:sp>
      <p:sp>
        <p:nvSpPr>
          <p:cNvPr id="10" name="Rounded Rectangle 9"/>
          <p:cNvSpPr/>
          <p:nvPr/>
        </p:nvSpPr>
        <p:spPr>
          <a:xfrm>
            <a:off x="3236976"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approval</a:t>
            </a:r>
          </a:p>
        </p:txBody>
      </p:sp>
      <p:sp>
        <p:nvSpPr>
          <p:cNvPr id="11" name="Rounded Rectangle 10"/>
          <p:cNvSpPr/>
          <p:nvPr/>
        </p:nvSpPr>
        <p:spPr>
          <a:xfrm>
            <a:off x="457200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pending</a:t>
            </a:r>
          </a:p>
        </p:txBody>
      </p:sp>
      <p:sp>
        <p:nvSpPr>
          <p:cNvPr id="12" name="Rounded Rectangle 11"/>
          <p:cNvSpPr/>
          <p:nvPr/>
        </p:nvSpPr>
        <p:spPr>
          <a:xfrm>
            <a:off x="5797296"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following</a:t>
            </a:r>
          </a:p>
        </p:txBody>
      </p:sp>
      <p:sp>
        <p:nvSpPr>
          <p:cNvPr id="13" name="Rounded Rectangle 12"/>
          <p:cNvSpPr/>
          <p:nvPr/>
        </p:nvSpPr>
        <p:spPr>
          <a:xfrm>
            <a:off x="7242048" y="987552"/>
            <a:ext cx="58521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by</a:t>
            </a:r>
          </a:p>
        </p:txBody>
      </p:sp>
      <p:sp>
        <p:nvSpPr>
          <p:cNvPr id="14" name="Rounded Rectangle 13"/>
          <p:cNvSpPr/>
          <p:nvPr/>
        </p:nvSpPr>
        <p:spPr>
          <a:xfrm>
            <a:off x="7918704"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Apologies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for the delay in getting back to you.</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Apologies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Thank you for _______ up on my last email.</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following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We’re still waiting for _______ from our finance team.</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approval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decision is still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pending</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I’ll get back to you _______ Friday.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Thank you for _______ with us.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bearing</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apologies (plural) / apology (singular), patience (not “patients”), pending, approval (one p after r). Say “Apologies for the delay in getting back to you” (not “to get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Apologizing and giving an update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道歉并说明进展</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Mr Lee has chased you about the quotation. You reply with an apology and an honest update.</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Apologizing and giving an update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supplier has chased you for an answer and you need more time.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(customer). What are you waiting for?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Reader</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Polite but eager.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Apologies for the delay… · Thank you for following up. · We’re still waiting for… · I’ll get back to you by… · Thank you for bearing with us.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One-sentence apology, an honest update, a new date. 70–100 words.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good news instead: “I’m happy to confirm that we would like to go ahead.”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you are not interested: “After careful consideration, we’ve decided not to proceed at this time.”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request: “In the meantime, could you hold the stock for 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Saying no politely to a supplier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礼貌地回绝供应商</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company has decided not to order this season. You phone the supplier before sending an email.</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Henry Lee, customer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Li Wei, supplier</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Saying no politely to a supplier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Henry</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Li Wei. It’s Henry Lee from BlueSea. I’m calling about your quotation.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Henry. Thanks for calling. I’ve been hoping to hear from you.</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I haven’t been in touch earlier. I wanted to give you a straight answer. We’ve decided to hold off on the order until January.</a:t>
            </a:r>
          </a:p>
        </p:txBody>
      </p:sp>
      <p:sp>
        <p:nvSpPr>
          <p:cNvPr id="17" name="Rounded Rectangle 16"/>
          <p:cNvSpPr/>
          <p:nvPr/>
        </p:nvSpPr>
        <p:spPr>
          <a:xfrm>
            <a:off x="10911535" y="423062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66953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423062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May I ask what’s behind the decision?</a:t>
            </a:r>
          </a:p>
        </p:txBody>
      </p:sp>
      <p:sp>
        <p:nvSpPr>
          <p:cNvPr id="20" name="Rounded Rectangle 19"/>
          <p:cNvSpPr/>
          <p:nvPr/>
        </p:nvSpPr>
        <p:spPr>
          <a:xfrm>
            <a:off x="548640" y="481279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1"/>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budget. Our finance team wants to wait until the new financial year.</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Saying no politely to a supplier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 Is the price an issue as well?</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really. Your prices are competitive. It’s purely a timing issue.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thank you for telling me directly. Shall I keep the quotation open until January?</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very kind. Could you extend it to the end of January?</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confirm that in writing today.</a:t>
            </a:r>
          </a:p>
        </p:txBody>
      </p:sp>
      <p:sp>
        <p:nvSpPr>
          <p:cNvPr id="23" name="Rounded Rectangle 22"/>
          <p:cNvSpPr/>
          <p:nvPr/>
        </p:nvSpPr>
        <p:spPr>
          <a:xfrm>
            <a:off x="548640" y="481584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81584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 appreciate your understanding.</a:t>
            </a:r>
          </a:p>
        </p:txBody>
      </p:sp>
      <p:sp>
        <p:nvSpPr>
          <p:cNvPr id="26" name="Rounded Rectangle 25"/>
          <p:cNvSpPr/>
          <p:nvPr/>
        </p:nvSpPr>
        <p:spPr>
          <a:xfrm>
            <a:off x="10911535" y="53980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7" name="TextBox 26"/>
          <p:cNvSpPr txBox="1"/>
          <p:nvPr/>
        </p:nvSpPr>
        <p:spPr>
          <a:xfrm>
            <a:off x="10637215"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2133295" y="53980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all. Let’s talk again in early January.</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Saying no politely to a supplier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tell a supplier that you must delay or cancel an order.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 Give the reason and a new time frame.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Stays positive and asks about next steps.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We’ve decided to hold off on… · It’s purely a timing issue. · I appreciate your understanding. · Shall I keep… open?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bad news clearly and kindly, and agree on a next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supplier asks for a reason and you cannot say. Say: “I’m afraid I can’t go into details, but it’s not about price.”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Leave the door open: “I’d like to stay in touch for the next season.”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Confirm the call by email in three lines.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apology in a business email?</a:t>
            </a:r>
          </a:p>
          <a:p>
            <a:pPr algn="l">
              <a:lnSpc>
                <a:spcPct val="115000"/>
              </a:lnSpc>
              <a:spcAft>
                <a:spcPts val="800"/>
              </a:spcAft>
            </a:pPr>
            <a:r>
              <a:rPr sz="1400" b="0">
                <a:solidFill>
                  <a:srgbClr val="5F677A"/>
                </a:solidFill>
                <a:latin typeface="Arial"/>
                <a:ea typeface="Microsoft YaHei"/>
              </a:rPr>
              <a:t>💬 “A good apology is short and…” / “It should say what went wrong and what happens next.”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say “I forgot”? What can you say instead?</a:t>
            </a:r>
          </a:p>
          <a:p>
            <a:pPr algn="l">
              <a:lnSpc>
                <a:spcPct val="115000"/>
              </a:lnSpc>
              <a:spcAft>
                <a:spcPts val="800"/>
              </a:spcAft>
            </a:pPr>
            <a:r>
              <a:rPr sz="1400" b="0">
                <a:solidFill>
                  <a:srgbClr val="5F677A"/>
                </a:solidFill>
                <a:latin typeface="Arial"/>
                <a:ea typeface="Microsoft YaHei"/>
              </a:rPr>
              <a:t>💬 “I would rather say… because…” / “It’s better to say ‘your email slipped through the net’.”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give someone bad news in a calm and respectful way?</a:t>
            </a:r>
          </a:p>
          <a:p>
            <a:pPr algn="l">
              <a:lnSpc>
                <a:spcPct val="115000"/>
              </a:lnSpc>
              <a:spcAft>
                <a:spcPts val="800"/>
              </a:spcAft>
            </a:pPr>
            <a:r>
              <a:rPr sz="1400" b="0">
                <a:solidFill>
                  <a:srgbClr val="5F677A"/>
                </a:solidFill>
                <a:latin typeface="Arial"/>
                <a:ea typeface="Microsoft YaHei"/>
              </a:rPr>
              <a:t>💬 “I always start with…” / “I try to be honest and offer…”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much detail should you give when you delay a decision?</a:t>
            </a:r>
          </a:p>
          <a:p>
            <a:pPr algn="l">
              <a:lnSpc>
                <a:spcPct val="115000"/>
              </a:lnSpc>
              <a:spcAft>
                <a:spcPts val="800"/>
              </a:spcAft>
            </a:pPr>
            <a:r>
              <a:rPr sz="1400" b="0">
                <a:solidFill>
                  <a:srgbClr val="5F677A"/>
                </a:solidFill>
                <a:latin typeface="Arial"/>
                <a:ea typeface="Microsoft YaHei"/>
              </a:rPr>
              <a:t>💬 “I give only the key information, such as…” / “If the reason is confidential, I say…”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keep the relationship warm after saying “not now”?</a:t>
            </a:r>
          </a:p>
          <a:p>
            <a:pPr algn="l">
              <a:lnSpc>
                <a:spcPct val="115000"/>
              </a:lnSpc>
              <a:spcAft>
                <a:spcPts val="800"/>
              </a:spcAft>
            </a:pPr>
            <a:r>
              <a:rPr sz="1400" b="0">
                <a:solidFill>
                  <a:srgbClr val="5F677A"/>
                </a:solidFill>
                <a:latin typeface="Arial"/>
                <a:ea typeface="Microsoft YaHei"/>
              </a:rPr>
              <a:t>💬 “I thank them for their patience and say…” / “I suggest a date to talk again.”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would say”I’m sorry for the delay” or “Your email slipped through the net.” The second one is honest, but it doesn’t sound too serious. I try not to make excuses like “I was too busy”, because it can sound as if the customer was not important. After that, I move to the useful part: what I can do now and by when.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“slipped through the net”(漏掉了)是地道说法。“make excuses”(找借口),“as if…”(好像……)是 B2 常用结构,后面用过去式表示不真实:as if the customer was not important。</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Email template: reply to a follow-up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回复跟进邮件模板</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408432">
                <a:tc>
                  <a:txBody>
                    <a:bodyPr wrap="square"/>
                    <a:lstStyle/>
                    <a:p>
                      <a:r>
                        <a:rPr sz="1600" b="1">
                          <a:solidFill>
                            <a:srgbClr val="1F2A44"/>
                          </a:solidFill>
                          <a:latin typeface="Arial"/>
                          <a:ea typeface="Microsoft YaHei"/>
                        </a:rPr>
                        <a:t>Subject</a:t>
                      </a:r>
                    </a:p>
                  </a:txBody>
                  <a:tcPr anchor="ctr">
                    <a:solidFill>
                      <a:srgbClr val="FFFFFF"/>
                    </a:solidFill>
                  </a:tcPr>
                </a:tc>
                <a:tc>
                  <a:txBody>
                    <a:bodyPr wrap="square"/>
                    <a:lstStyle/>
                    <a:p>
                      <a:r>
                        <a:rPr sz="1600" b="0">
                          <a:solidFill>
                            <a:srgbClr val="1F2A44"/>
                          </a:solidFill>
                          <a:latin typeface="Arial"/>
                          <a:ea typeface="Microsoft YaHei"/>
                        </a:rPr>
                        <a:t>RE: [Original subject]</a:t>
                      </a:r>
                    </a:p>
                  </a:txBody>
                  <a:tcPr anchor="ctr">
                    <a:solidFill>
                      <a:srgbClr val="FFFFFF"/>
                    </a:solidFill>
                  </a:tcPr>
                </a:tc>
              </a:tr>
              <a:tr h="408432">
                <a:tc>
                  <a:txBody>
                    <a:bodyPr wrap="square"/>
                    <a:lstStyle/>
                    <a:p>
                      <a:r>
                        <a:rPr sz="1600" b="1">
                          <a:solidFill>
                            <a:srgbClr val="1F2A44"/>
                          </a:solidFill>
                          <a:latin typeface="Arial"/>
                          <a:ea typeface="Microsoft YaHei"/>
                        </a:rPr>
                        <a:t>Opening</a:t>
                      </a:r>
                    </a:p>
                  </a:txBody>
                  <a:tcPr anchor="ctr">
                    <a:solidFill>
                      <a:srgbClr val="FFEFD9"/>
                    </a:solidFill>
                  </a:tcPr>
                </a:tc>
                <a:tc>
                  <a:txBody>
                    <a:bodyPr wrap="square"/>
                    <a:lstStyle/>
                    <a:p>
                      <a:r>
                        <a:rPr sz="1600" b="0">
                          <a:solidFill>
                            <a:srgbClr val="1F2A44"/>
                          </a:solidFill>
                          <a:latin typeface="Arial"/>
                          <a:ea typeface="Microsoft YaHei"/>
                        </a:rPr>
                        <a:t>Dear Mr / Ms [Surname], / Hi [First name],</a:t>
                      </a:r>
                    </a:p>
                  </a:txBody>
                  <a:tcPr anchor="ctr">
                    <a:solidFill>
                      <a:srgbClr val="FFEFD9"/>
                    </a:solidFill>
                  </a:tcPr>
                </a:tc>
              </a:tr>
              <a:tr h="652272">
                <a:tc>
                  <a:txBody>
                    <a:bodyPr wrap="square"/>
                    <a:lstStyle/>
                    <a:p>
                      <a:r>
                        <a:rPr sz="1600" b="1">
                          <a:solidFill>
                            <a:srgbClr val="1F2A44"/>
                          </a:solidFill>
                          <a:latin typeface="Arial"/>
                          <a:ea typeface="Microsoft YaHei"/>
                        </a:rPr>
                        <a:t>Apology</a:t>
                      </a:r>
                    </a:p>
                  </a:txBody>
                  <a:tcPr anchor="ctr">
                    <a:solidFill>
                      <a:srgbClr val="FFFFFF"/>
                    </a:solidFill>
                  </a:tcPr>
                </a:tc>
                <a:tc>
                  <a:txBody>
                    <a:bodyPr wrap="square"/>
                    <a:lstStyle/>
                    <a:p>
                      <a:r>
                        <a:rPr sz="1600" b="0">
                          <a:solidFill>
                            <a:srgbClr val="1F2A44"/>
                          </a:solidFill>
                          <a:latin typeface="Arial"/>
                          <a:ea typeface="Microsoft YaHei"/>
                        </a:rPr>
                        <a:t>Apologies for the delay in getting back to you. (one sentence)</a:t>
                      </a:r>
                    </a:p>
                  </a:txBody>
                  <a:tcPr anchor="ctr">
                    <a:solidFill>
                      <a:srgbClr val="FFFFFF"/>
                    </a:solidFill>
                  </a:tcPr>
                </a:tc>
              </a:tr>
              <a:tr h="652272">
                <a:tc>
                  <a:txBody>
                    <a:bodyPr wrap="square"/>
                    <a:lstStyle/>
                    <a:p>
                      <a:r>
                        <a:rPr sz="1600" b="1">
                          <a:solidFill>
                            <a:srgbClr val="1F2A44"/>
                          </a:solidFill>
                          <a:latin typeface="Arial"/>
                          <a:ea typeface="Microsoft YaHei"/>
                        </a:rPr>
                        <a:t>Thanks</a:t>
                      </a:r>
                    </a:p>
                  </a:txBody>
                  <a:tcPr anchor="ctr">
                    <a:solidFill>
                      <a:srgbClr val="FFEFD9"/>
                    </a:solidFill>
                  </a:tcPr>
                </a:tc>
                <a:tc>
                  <a:txBody>
                    <a:bodyPr wrap="square"/>
                    <a:lstStyle/>
                    <a:p>
                      <a:r>
                        <a:rPr sz="1600" b="0">
                          <a:solidFill>
                            <a:srgbClr val="1F2A44"/>
                          </a:solidFill>
                          <a:latin typeface="Arial"/>
                          <a:ea typeface="Microsoft YaHei"/>
                        </a:rPr>
                        <a:t>Thank you for following up. / Thank you for your patience.</a:t>
                      </a:r>
                    </a:p>
                  </a:txBody>
                  <a:tcPr anchor="ctr">
                    <a:solidFill>
                      <a:srgbClr val="FFEFD9"/>
                    </a:solidFill>
                  </a:tcPr>
                </a:tc>
              </a:tr>
            </a:tbl>
          </a:graphicData>
        </a:graphic>
      </p:graphicFrame>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Email template: reply to a follow-up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回复跟进邮件模板</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652272">
                <a:tc>
                  <a:txBody>
                    <a:bodyPr wrap="square"/>
                    <a:lstStyle/>
                    <a:p>
                      <a:r>
                        <a:rPr sz="1600" b="1">
                          <a:solidFill>
                            <a:srgbClr val="1F2A44"/>
                          </a:solidFill>
                          <a:latin typeface="Arial"/>
                          <a:ea typeface="Microsoft YaHei"/>
                        </a:rPr>
                        <a:t>Update</a:t>
                      </a:r>
                    </a:p>
                  </a:txBody>
                  <a:tcPr anchor="ctr">
                    <a:solidFill>
                      <a:srgbClr val="FFFFFF"/>
                    </a:solidFill>
                  </a:tcPr>
                </a:tc>
                <a:tc>
                  <a:txBody>
                    <a:bodyPr wrap="square"/>
                    <a:lstStyle/>
                    <a:p>
                      <a:r>
                        <a:rPr sz="1600" b="0">
                          <a:solidFill>
                            <a:srgbClr val="1F2A44"/>
                          </a:solidFill>
                          <a:latin typeface="Arial"/>
                          <a:ea typeface="Microsoft YaHei"/>
                        </a:rPr>
                        <a:t>We have now reviewed… / I’m happy to confirm… / We’re still waiting for…</a:t>
                      </a:r>
                    </a:p>
                  </a:txBody>
                  <a:tcPr anchor="ctr">
                    <a:solidFill>
                      <a:srgbClr val="FFFFFF"/>
                    </a:solidFill>
                  </a:tcPr>
                </a:tc>
              </a:tr>
              <a:tr h="408432">
                <a:tc>
                  <a:txBody>
                    <a:bodyPr wrap="square"/>
                    <a:lstStyle/>
                    <a:p>
                      <a:r>
                        <a:rPr sz="1600" b="1">
                          <a:solidFill>
                            <a:srgbClr val="1F2A44"/>
                          </a:solidFill>
                          <a:latin typeface="Arial"/>
                          <a:ea typeface="Microsoft YaHei"/>
                        </a:rPr>
                        <a:t>New date</a:t>
                      </a:r>
                    </a:p>
                  </a:txBody>
                  <a:tcPr anchor="ctr">
                    <a:solidFill>
                      <a:srgbClr val="FFEFD9"/>
                    </a:solidFill>
                  </a:tcPr>
                </a:tc>
                <a:tc>
                  <a:txBody>
                    <a:bodyPr wrap="square"/>
                    <a:lstStyle/>
                    <a:p>
                      <a:r>
                        <a:rPr sz="1600" b="0">
                          <a:solidFill>
                            <a:srgbClr val="1F2A44"/>
                          </a:solidFill>
                          <a:latin typeface="Arial"/>
                          <a:ea typeface="Microsoft YaHei"/>
                        </a:rPr>
                        <a:t>I’ll get back to you by [day].</a:t>
                      </a:r>
                    </a:p>
                  </a:txBody>
                  <a:tcPr anchor="ctr">
                    <a:solidFill>
                      <a:srgbClr val="FFEFD9"/>
                    </a:solidFill>
                  </a:tcPr>
                </a:tc>
              </a:tr>
              <a:tr h="652272">
                <a:tc>
                  <a:txBody>
                    <a:bodyPr wrap="square"/>
                    <a:lstStyle/>
                    <a:p>
                      <a:r>
                        <a:rPr sz="1600" b="1">
                          <a:solidFill>
                            <a:srgbClr val="1F2A44"/>
                          </a:solidFill>
                          <a:latin typeface="Arial"/>
                          <a:ea typeface="Microsoft YaHei"/>
                        </a:rPr>
                        <a:t>Close</a:t>
                      </a:r>
                    </a:p>
                  </a:txBody>
                  <a:tcPr anchor="ctr">
                    <a:solidFill>
                      <a:srgbClr val="FFFFFF"/>
                    </a:solidFill>
                  </a:tcPr>
                </a:tc>
                <a:tc>
                  <a:txBody>
                    <a:bodyPr wrap="square"/>
                    <a:lstStyle/>
                    <a:p>
                      <a:r>
                        <a:rPr sz="1600" b="0">
                          <a:solidFill>
                            <a:srgbClr val="1F2A44"/>
                          </a:solidFill>
                          <a:latin typeface="Arial"/>
                          <a:ea typeface="Microsoft YaHei"/>
                        </a:rPr>
                        <a:t>Thank you for bearing with us. / Please keep me updated.</a:t>
                      </a:r>
                    </a:p>
                  </a:txBody>
                  <a:tcPr anchor="ctr">
                    <a:solidFill>
                      <a:srgbClr val="FFFFFF"/>
                    </a:solidFill>
                  </a:tcPr>
                </a:tc>
              </a:tr>
              <a:tr h="408432">
                <a:tc>
                  <a:txBody>
                    <a:bodyPr wrap="square"/>
                    <a:lstStyle/>
                    <a:p>
                      <a:r>
                        <a:rPr sz="1600" b="1">
                          <a:solidFill>
                            <a:srgbClr val="1F2A44"/>
                          </a:solidFill>
                          <a:latin typeface="Arial"/>
                          <a:ea typeface="Microsoft YaHei"/>
                        </a:rPr>
                        <a:t>Sign-off</a:t>
                      </a:r>
                    </a:p>
                  </a:txBody>
                  <a:tcPr anchor="ctr">
                    <a:solidFill>
                      <a:srgbClr val="FFEFD9"/>
                    </a:solidFill>
                  </a:tcPr>
                </a:tc>
                <a:tc>
                  <a:txBody>
                    <a:bodyPr wrap="square"/>
                    <a:lstStyle/>
                    <a:p>
                      <a:r>
                        <a:rPr sz="1600" b="0">
                          <a:solidFill>
                            <a:srgbClr val="1F2A44"/>
                          </a:solidFill>
                          <a:latin typeface="Arial"/>
                          <a:ea typeface="Microsoft YaHei"/>
                        </a:rPr>
                        <a:t>Best regards, + name</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updates and delays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进度与延迟句型库</a:t>
            </a:r>
          </a:p>
        </p:txBody>
      </p:sp>
      <p:graphicFrame>
        <p:nvGraphicFramePr>
          <p:cNvPr id="9" name="Table 8"/>
          <p:cNvGraphicFramePr>
            <a:graphicFrameLocks noGrp="1"/>
          </p:cNvGraphicFramePr>
          <p:nvPr/>
        </p:nvGraphicFramePr>
        <p:xfrm>
          <a:off x="548640" y="1417320"/>
          <a:ext cx="11094415" cy="4242816"/>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Good news</a:t>
                      </a:r>
                    </a:p>
                  </a:txBody>
                  <a:tcPr anchor="ctr">
                    <a:solidFill>
                      <a:srgbClr val="FFFFFF"/>
                    </a:solidFill>
                  </a:tcPr>
                </a:tc>
                <a:tc>
                  <a:txBody>
                    <a:bodyPr wrap="square"/>
                    <a:lstStyle/>
                    <a:p>
                      <a:r>
                        <a:rPr sz="1600" b="0">
                          <a:solidFill>
                            <a:srgbClr val="1F2A44"/>
                          </a:solidFill>
                          <a:latin typeface="Arial"/>
                          <a:ea typeface="Microsoft YaHei"/>
                        </a:rPr>
                        <a:t>I’m happy to confirm that… / I’m pleased to let you know that…</a:t>
                      </a:r>
                    </a:p>
                  </a:txBody>
                  <a:tcPr anchor="ctr">
                    <a:solidFill>
                      <a:srgbClr val="FFFFFF"/>
                    </a:solidFill>
                  </a:tcPr>
                </a:tc>
              </a:tr>
              <a:tr h="652272">
                <a:tc>
                  <a:txBody>
                    <a:bodyPr wrap="square"/>
                    <a:lstStyle/>
                    <a:p>
                      <a:r>
                        <a:rPr sz="1600" b="1">
                          <a:solidFill>
                            <a:srgbClr val="1F2A44"/>
                          </a:solidFill>
                          <a:latin typeface="Arial"/>
                          <a:ea typeface="Microsoft YaHei"/>
                        </a:rPr>
                        <a:t>Delay</a:t>
                      </a:r>
                    </a:p>
                  </a:txBody>
                  <a:tcPr anchor="ctr">
                    <a:solidFill>
                      <a:srgbClr val="FFEFD9"/>
                    </a:solidFill>
                  </a:tcPr>
                </a:tc>
                <a:tc>
                  <a:txBody>
                    <a:bodyPr wrap="square"/>
                    <a:lstStyle/>
                    <a:p>
                      <a:r>
                        <a:rPr sz="1600" b="0">
                          <a:solidFill>
                            <a:srgbClr val="1F2A44"/>
                          </a:solidFill>
                          <a:latin typeface="Arial"/>
                          <a:ea typeface="Microsoft YaHei"/>
                        </a:rPr>
                        <a:t>We’ve run into a small delay with… ★ / It’s taking longer than expected.</a:t>
                      </a:r>
                    </a:p>
                  </a:txBody>
                  <a:tcPr anchor="ctr">
                    <a:solidFill>
                      <a:srgbClr val="FFEFD9"/>
                    </a:solidFill>
                  </a:tcPr>
                </a:tc>
              </a:tr>
              <a:tr h="408432">
                <a:tc>
                  <a:txBody>
                    <a:bodyPr wrap="square"/>
                    <a:lstStyle/>
                    <a:p>
                      <a:r>
                        <a:rPr sz="1600" b="1">
                          <a:solidFill>
                            <a:srgbClr val="1F2A44"/>
                          </a:solidFill>
                          <a:latin typeface="Arial"/>
                          <a:ea typeface="Microsoft YaHei"/>
                        </a:rPr>
                        <a:t>Cause</a:t>
                      </a:r>
                    </a:p>
                  </a:txBody>
                  <a:tcPr anchor="ctr">
                    <a:solidFill>
                      <a:srgbClr val="FFFFFF"/>
                    </a:solidFill>
                  </a:tcPr>
                </a:tc>
                <a:tc>
                  <a:txBody>
                    <a:bodyPr wrap="square"/>
                    <a:lstStyle/>
                    <a:p>
                      <a:r>
                        <a:rPr sz="1600" b="0">
                          <a:solidFill>
                            <a:srgbClr val="1F2A44"/>
                          </a:solidFill>
                          <a:latin typeface="Arial"/>
                          <a:ea typeface="Microsoft YaHei"/>
                        </a:rPr>
                        <a:t>This is because… / This is due to…</a:t>
                      </a:r>
                    </a:p>
                  </a:txBody>
                  <a:tcPr anchor="ctr">
                    <a:solidFill>
                      <a:srgbClr val="FFFFFF"/>
                    </a:solidFill>
                  </a:tcPr>
                </a:tc>
              </a:tr>
              <a:tr h="408432">
                <a:tc>
                  <a:txBody>
                    <a:bodyPr wrap="square"/>
                    <a:lstStyle/>
                    <a:p>
                      <a:r>
                        <a:rPr sz="1600" b="1">
                          <a:solidFill>
                            <a:srgbClr val="1F2A44"/>
                          </a:solidFill>
                          <a:latin typeface="Arial"/>
                          <a:ea typeface="Microsoft YaHei"/>
                        </a:rPr>
                        <a:t>Solution</a:t>
                      </a:r>
                    </a:p>
                  </a:txBody>
                  <a:tcPr anchor="ctr">
                    <a:solidFill>
                      <a:srgbClr val="FFEFD9"/>
                    </a:solidFill>
                  </a:tcPr>
                </a:tc>
                <a:tc>
                  <a:txBody>
                    <a:bodyPr wrap="square"/>
                    <a:lstStyle/>
                    <a:p>
                      <a:r>
                        <a:rPr sz="1600" b="0">
                          <a:solidFill>
                            <a:srgbClr val="1F2A44"/>
                          </a:solidFill>
                          <a:latin typeface="Arial"/>
                          <a:ea typeface="Microsoft YaHei"/>
                        </a:rPr>
                        <a:t>The good news is that… / In the meantime, we could…</a:t>
                      </a:r>
                    </a:p>
                  </a:txBody>
                  <a:tcPr anchor="ctr">
                    <a:solidFill>
                      <a:srgbClr val="FFEFD9"/>
                    </a:solidFill>
                  </a:tcPr>
                </a:tc>
              </a:tr>
              <a:tr h="652272">
                <a:tc>
                  <a:txBody>
                    <a:bodyPr wrap="square"/>
                    <a:lstStyle/>
                    <a:p>
                      <a:r>
                        <a:rPr sz="1600" b="1">
                          <a:solidFill>
                            <a:srgbClr val="1F2A44"/>
                          </a:solidFill>
                          <a:latin typeface="Arial"/>
                          <a:ea typeface="Microsoft YaHei"/>
                        </a:rPr>
                        <a:t>Decision</a:t>
                      </a:r>
                    </a:p>
                  </a:txBody>
                  <a:tcPr anchor="ctr">
                    <a:solidFill>
                      <a:srgbClr val="FFFFFF"/>
                    </a:solidFill>
                  </a:tcPr>
                </a:tc>
                <a:tc>
                  <a:txBody>
                    <a:bodyPr wrap="square"/>
                    <a:lstStyle/>
                    <a:p>
                      <a:r>
                        <a:rPr sz="1600" b="0">
                          <a:solidFill>
                            <a:srgbClr val="1F2A44"/>
                          </a:solidFill>
                          <a:latin typeface="Arial"/>
                          <a:ea typeface="Microsoft YaHei"/>
                        </a:rPr>
                        <a:t>We’ve decided to go ahead with… / We’ve decided not to proceed. ★</a:t>
                      </a:r>
                    </a:p>
                  </a:txBody>
                  <a:tcPr anchor="ctr">
                    <a:solidFill>
                      <a:srgbClr val="FFFFFF"/>
                    </a:solidFill>
                  </a:tcPr>
                </a:tc>
              </a:tr>
              <a:tr h="408432">
                <a:tc>
                  <a:txBody>
                    <a:bodyPr wrap="square"/>
                    <a:lstStyle/>
                    <a:p>
                      <a:r>
                        <a:rPr sz="1600" b="1">
                          <a:solidFill>
                            <a:srgbClr val="1F2A44"/>
                          </a:solidFill>
                          <a:latin typeface="Arial"/>
                          <a:ea typeface="Microsoft YaHei"/>
                        </a:rPr>
                        <a:t>Hold</a:t>
                      </a:r>
                    </a:p>
                  </a:txBody>
                  <a:tcPr anchor="ctr">
                    <a:solidFill>
                      <a:srgbClr val="FFEFD9"/>
                    </a:solidFill>
                  </a:tcPr>
                </a:tc>
                <a:tc>
                  <a:txBody>
                    <a:bodyPr wrap="square"/>
                    <a:lstStyle/>
                    <a:p>
                      <a:r>
                        <a:rPr sz="1600" b="0">
                          <a:solidFill>
                            <a:srgbClr val="1F2A44"/>
                          </a:solidFill>
                          <a:latin typeface="Arial"/>
                          <a:ea typeface="Microsoft YaHei"/>
                        </a:rPr>
                        <a:t>We’d like to put this on hold until… ★</a:t>
                      </a:r>
                    </a:p>
                  </a:txBody>
                  <a:tcPr anchor="ctr">
                    <a:solidFill>
                      <a:srgbClr val="FFEFD9"/>
                    </a:solidFill>
                  </a:tcPr>
                </a:tc>
              </a:tr>
              <a:tr h="652272">
                <a:tc>
                  <a:txBody>
                    <a:bodyPr wrap="square"/>
                    <a:lstStyle/>
                    <a:p>
                      <a:r>
                        <a:rPr sz="1600" b="1">
                          <a:solidFill>
                            <a:srgbClr val="1F2A44"/>
                          </a:solidFill>
                          <a:latin typeface="Arial"/>
                          <a:ea typeface="Microsoft YaHei"/>
                        </a:rPr>
                        <a:t>Date</a:t>
                      </a:r>
                    </a:p>
                  </a:txBody>
                  <a:tcPr anchor="ctr">
                    <a:solidFill>
                      <a:srgbClr val="FFFFFF"/>
                    </a:solidFill>
                  </a:tcPr>
                </a:tc>
                <a:tc>
                  <a:txBody>
                    <a:bodyPr wrap="square"/>
                    <a:lstStyle/>
                    <a:p>
                      <a:r>
                        <a:rPr sz="1600" b="0">
                          <a:solidFill>
                            <a:srgbClr val="1F2A44"/>
                          </a:solidFill>
                          <a:latin typeface="Arial"/>
                          <a:ea typeface="Microsoft YaHei"/>
                        </a:rPr>
                        <a:t>You will have an answer by… / I’ll get back to you on…</a:t>
                      </a:r>
                    </a:p>
                  </a:txBody>
                  <a:tcPr anchor="ctr">
                    <a:solidFill>
                      <a:srgbClr val="FFFFFF"/>
                    </a:solidFill>
                  </a:tcPr>
                </a:tc>
              </a:tr>
            </a:tbl>
          </a:graphicData>
        </a:graphic>
      </p:graphicFrame>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for I reply late.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for the late reply. / Apologies for replying late.</a:t>
            </a:r>
          </a:p>
          <a:p>
            <a:pPr algn="l">
              <a:spcAft>
                <a:spcPts val="200"/>
              </a:spcAft>
            </a:pPr>
            <a:r>
              <a:rPr sz="1200" b="0">
                <a:solidFill>
                  <a:srgbClr val="FFFFFF"/>
                </a:solidFill>
                <a:latin typeface="Arial"/>
                <a:ea typeface="Microsoft YaHei"/>
              </a:rPr>
              <a:t>for + 名词 / -ing</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to be late to reply.</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Apologies for the delay in getting back to you.</a:t>
            </a:r>
          </a:p>
          <a:p>
            <a:pPr algn="l">
              <a:spcAft>
                <a:spcPts val="200"/>
              </a:spcAft>
            </a:pPr>
            <a:r>
              <a:rPr sz="1200" b="0">
                <a:solidFill>
                  <a:srgbClr val="FFFFFF"/>
                </a:solidFill>
                <a:latin typeface="Arial"/>
                <a:ea typeface="Microsoft YaHei"/>
              </a:rPr>
              <a:t>用 delay in + -ing</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very very sorry sorry.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apologize for the delay. (once)</a:t>
            </a:r>
          </a:p>
          <a:p>
            <a:pPr algn="l">
              <a:spcAft>
                <a:spcPts val="200"/>
              </a:spcAft>
            </a:pPr>
            <a:r>
              <a:rPr sz="1200" b="0">
                <a:solidFill>
                  <a:srgbClr val="FFFFFF"/>
                </a:solidFill>
                <a:latin typeface="Arial"/>
                <a:ea typeface="Microsoft YaHei"/>
              </a:rPr>
              <a:t>道歉一次就够</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waiting approval.</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waiting for approval.</a:t>
            </a:r>
          </a:p>
          <a:p>
            <a:pPr algn="l">
              <a:spcAft>
                <a:spcPts val="200"/>
              </a:spcAft>
            </a:pPr>
            <a:r>
              <a:rPr sz="1200" b="0">
                <a:solidFill>
                  <a:srgbClr val="FFFFFF"/>
                </a:solidFill>
                <a:latin typeface="Arial"/>
                <a:ea typeface="Microsoft YaHei"/>
              </a:rPr>
              <a:t>wait for</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give you the answer in Friday.</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give you an answer by Friday.</a:t>
            </a:r>
          </a:p>
          <a:p>
            <a:pPr algn="l">
              <a:spcAft>
                <a:spcPts val="200"/>
              </a:spcAft>
            </a:pPr>
            <a:r>
              <a:rPr sz="1200" b="0">
                <a:solidFill>
                  <a:srgbClr val="FFFFFF"/>
                </a:solidFill>
                <a:latin typeface="Arial"/>
                <a:ea typeface="Microsoft YaHei"/>
              </a:rPr>
              <a:t>by + 截止时间,on + 星期几</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still considering about your proposal.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We’re still considering your proposal.</a:t>
            </a:r>
          </a:p>
          <a:p>
            <a:pPr algn="l">
              <a:spcAft>
                <a:spcPts val="200"/>
              </a:spcAft>
            </a:pPr>
            <a:r>
              <a:rPr sz="1200" b="0">
                <a:solidFill>
                  <a:srgbClr val="FFFFFF"/>
                </a:solidFill>
                <a:latin typeface="Arial"/>
                <a:ea typeface="Microsoft YaHei"/>
              </a:rPr>
              <a:t>consider 后不加 about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Thanks for your patient.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patience.</a:t>
            </a:r>
          </a:p>
          <a:p>
            <a:pPr algn="l">
              <a:spcAft>
                <a:spcPts val="200"/>
              </a:spcAft>
            </a:pPr>
            <a:r>
              <a:rPr sz="1200" b="0">
                <a:solidFill>
                  <a:srgbClr val="FFFFFF"/>
                </a:solidFill>
                <a:latin typeface="Arial"/>
                <a:ea typeface="Microsoft YaHei"/>
              </a:rPr>
              <a:t>patient 是形容词,patience 是名词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refuse your proposal.</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We’ve decided not to proceed at this time.</a:t>
            </a:r>
          </a:p>
          <a:p>
            <a:pPr algn="l">
              <a:spcAft>
                <a:spcPts val="200"/>
              </a:spcAft>
            </a:pPr>
            <a:r>
              <a:rPr sz="1200" b="0">
                <a:solidFill>
                  <a:srgbClr val="FFFFFF"/>
                </a:solidFill>
                <a:latin typeface="Arial"/>
                <a:ea typeface="Microsoft YaHei"/>
              </a:rPr>
              <a:t>refuse 太强硬</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can’t accept your price.</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price is a bit higher than we expected.</a:t>
            </a:r>
          </a:p>
          <a:p>
            <a:pPr algn="l">
              <a:spcAft>
                <a:spcPts val="200"/>
              </a:spcAft>
            </a:pPr>
            <a:r>
              <a:rPr sz="1200" b="0">
                <a:solidFill>
                  <a:srgbClr val="FFFFFF"/>
                </a:solidFill>
                <a:latin typeface="Arial"/>
                <a:ea typeface="Microsoft YaHei"/>
              </a:rPr>
              <a:t>委婉地表达</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pationce / aproval</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patience / approval</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wait for, consider (no “about”), by Friday (deadline) vs on Friday (a fixed time), patience (noun) vs patient (adjective).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Apologize once. Repeated apologies sound weak. One clear “Apologies for the delay” is enough in a business email.</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Honest news is better than silence. In English business culture “We’re still waiting for approval” is acceptable. Long silence is not.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“No” with a reason. In Western business, a clear “no” with a short reason is respected. A vague “We will consider” can mean “no” to Chinese readers, but a Western reader may wait for months.</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Keep the door open. “Not at this time” and “Let’s talk again in January” protect the relationship.</a:t>
            </a:r>
          </a:p>
        </p:txBody>
      </p:sp>
      <p:sp>
        <p:nvSpPr>
          <p:cNvPr id="21" name="Rounded Rectangle 20"/>
          <p:cNvSpPr/>
          <p:nvPr/>
        </p:nvSpPr>
        <p:spPr>
          <a:xfrm>
            <a:off x="548640" y="458723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441959"/>
          </a:xfrm>
          <a:prstGeom prst="rect">
            <a:avLst/>
          </a:prstGeom>
          <a:noFill/>
        </p:spPr>
        <p:txBody>
          <a:bodyPr wrap="square" anchor="ctr">
            <a:spAutoFit/>
          </a:bodyPr>
          <a:lstStyle/>
          <a:p>
            <a:r>
              <a:rPr sz="1700" b="0">
                <a:solidFill>
                  <a:srgbClr val="1F2A44"/>
                </a:solidFill>
                <a:latin typeface="Arial"/>
                <a:ea typeface="Microsoft YaHei"/>
              </a:rPr>
              <a:t>Confirm in writing after a phone call. A short email avoids misunderstandings.</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apologize for a late reply in one sentence (Apologies for the delay in getting back to you).</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an honest update with we’re still waiting for… / the decision is pending.</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new date with I’ll get back to you by…</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“not now” or “no” politely with We’ve decided to hold off on…</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wait for, by / on, and patience correctly.</a:t>
            </a:r>
          </a:p>
        </p:txBody>
      </p:sp>
      <p:sp>
        <p:nvSpPr>
          <p:cNvPr id="28" name="TextBox 27"/>
          <p:cNvSpPr txBox="1"/>
          <p:nvPr/>
        </p:nvSpPr>
        <p:spPr>
          <a:xfrm>
            <a:off x="9539935" y="4812792"/>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14 A reply to a follow-up email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wait for, by Friday, patience / patient, and a one-sentence apology.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 · Lesson 15 Invitations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Invitations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邀请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write and say clear, polite invitations to meetings, events and meals, with all the key details (what, when, where, dress code, RSVP date) so the other person knows exactly what to do.</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business events does your company invite clients to? How do you invite them?</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information do you always want in an invitation?</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When did you last invite someone to a business event? Did they come?</a:t>
            </a:r>
          </a:p>
        </p:txBody>
      </p:sp>
      <p:sp>
        <p:nvSpPr>
          <p:cNvPr id="18" name="Oval 17"/>
          <p:cNvSpPr/>
          <p:nvPr/>
        </p:nvSpPr>
        <p:spPr>
          <a:xfrm>
            <a:off x="548640" y="394106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the difference between a formal and an informal invitation?</a:t>
            </a:r>
          </a:p>
        </p:txBody>
      </p:sp>
      <p:sp>
        <p:nvSpPr>
          <p:cNvPr id="21" name="Oval 20"/>
          <p:cNvSpPr/>
          <p:nvPr/>
        </p:nvSpPr>
        <p:spPr>
          <a:xfrm>
            <a:off x="548640" y="478231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84192"/>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84192"/>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would you say if you wanted to invite a client to dinner after a meeting?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3 题讲过去的事,请用过去式(invited, came, sent)。第 5 题可以用 “I’d like to invite you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Invite a client to a product launch. Give all the details.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1. purpose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2. date and time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3. place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4. who else is coming</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5. what to do next (reply by a date)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We would like to invite you to…   💬 The event will take place on… at…   💬 Please let us know by… if you can attend.</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邀请需要包含 5 个信息:what / when / where / who / how to reply。时间和地点前的介词:on Friday, at 6 p.m., at the Grand Hotel, in Shanghai。</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Inviting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发出邀请</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would like to invite you to…</a:t>
            </a:r>
          </a:p>
          <a:p>
            <a:pPr algn="l">
              <a:lnSpc>
                <a:spcPct val="115000"/>
              </a:lnSpc>
              <a:spcAft>
                <a:spcPts val="800"/>
              </a:spcAft>
            </a:pPr>
            <a:r>
              <a:rPr sz="1300" b="0">
                <a:solidFill>
                  <a:srgbClr val="5F677A"/>
                </a:solidFill>
                <a:latin typeface="Arial"/>
                <a:ea typeface="Microsoft YaHei"/>
              </a:rPr>
              <a:t>phrase (formal)</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我们诚邀您参加……</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would like to invite you to our product launch.”</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like to invite you and your colleagues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我想邀请您和同事参加……</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invite you and your colleagues to a dinner.”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We’d be delighted if you could join us.</a:t>
            </a:r>
          </a:p>
          <a:p>
            <a:pPr algn="l">
              <a:lnSpc>
                <a:spcPct val="115000"/>
              </a:lnSpc>
              <a:spcAft>
                <a:spcPts val="800"/>
              </a:spcAft>
            </a:pPr>
            <a:r>
              <a:rPr sz="1300" b="0">
                <a:solidFill>
                  <a:srgbClr val="5F677A"/>
                </a:solidFill>
                <a:latin typeface="Arial"/>
                <a:ea typeface="Microsoft YaHei"/>
              </a:rPr>
              <a:t>phrase (formal)</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如果您能参加,我们将非常荣幸</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“We’d be delighted if you could join us for the opening.”</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Inviting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发出邀请</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Would you be able to come?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您能来吗?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you be able to come on the 12th?”</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would be a pleasure to welcome you.</a:t>
            </a:r>
          </a:p>
          <a:p>
            <a:pPr algn="l">
              <a:lnSpc>
                <a:spcPct val="115000"/>
              </a:lnSpc>
              <a:spcAft>
                <a:spcPts val="800"/>
              </a:spcAft>
            </a:pPr>
            <a:r>
              <a:rPr sz="1300" b="0">
                <a:solidFill>
                  <a:srgbClr val="5F677A"/>
                </a:solidFill>
                <a:latin typeface="Arial"/>
                <a:ea typeface="Microsoft YaHei"/>
              </a:rPr>
              <a:t>phrase (formal)</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我们很荣幸欢迎您的到来</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would be a pleasure to welcome you to our Shanghai office.”</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Giving the details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说明细节</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event will take place on… at…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活动将于……在……举行</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event will take place on 12 November at the Grand Hotel.”</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venue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活动场地</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venue is close to the metro station.”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dress code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着装要求</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dress code is business casual.”</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Light refreshments will be provided.</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将提供茶点</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“Light refreshments will be provided.”</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save the date.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请预留这个日期</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save the date: 12 November.”</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Asking for a reply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请对方回复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RSVP / Please let us know by…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请在……前回复</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let us know by 1 November if you can attend.”</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Kindly confirm your attendance.</a:t>
            </a:r>
          </a:p>
          <a:p>
            <a:pPr algn="l">
              <a:lnSpc>
                <a:spcPct val="115000"/>
              </a:lnSpc>
              <a:spcAft>
                <a:spcPts val="800"/>
              </a:spcAft>
            </a:pPr>
            <a:r>
              <a:rPr sz="1300" b="0">
                <a:solidFill>
                  <a:srgbClr val="5F677A"/>
                </a:solidFill>
                <a:latin typeface="Arial"/>
                <a:ea typeface="Microsoft YaHei"/>
              </a:rPr>
              <a:t>phrase (formal)</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请确认您是否出席</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“Kindly confirm your attendance by 1 November.”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feel free to bring a colleague.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欢迎您带一位同事</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feel free to bring a colleague.”</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3: Asking for a reply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请对方回复</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hope you will be able to join us.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希望您能参加</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hope you will be able to join us.”</a:t>
            </a:r>
          </a:p>
        </p:txBody>
      </p:sp>
      <p:sp>
        <p:nvSpPr>
          <p:cNvPr id="14" name="Rounded Rectangle 13"/>
          <p:cNvSpPr/>
          <p:nvPr/>
        </p:nvSpPr>
        <p:spPr>
          <a:xfrm>
            <a:off x="548640" y="242570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let me know if you have any dietary requirements.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如有饮食要求,请告诉我</a:t>
            </a:r>
          </a:p>
        </p:txBody>
      </p:sp>
      <p:sp>
        <p:nvSpPr>
          <p:cNvPr id="18" name="TextBox 17"/>
          <p:cNvSpPr txBox="1"/>
          <p:nvPr/>
        </p:nvSpPr>
        <p:spPr>
          <a:xfrm>
            <a:off x="6675120" y="247142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let me know if you have any dietary requirements.”</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如有饮食要求,请告诉我</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Please let me know if you have any dietary requirements.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请预留这个日期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save the date.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希望您能参加</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I hope you will be able to join us.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将提供茶点</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Light refreshments will be provided.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我们诚邀您参加……</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would like to invite you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我们很荣幸欢迎您的到来</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It would be a pleasure to welcome you.</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如果您能参加,我们将非常荣幸</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We’d be delighted if you could join us.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活动场地</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venue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delighted</a:t>
            </a:r>
          </a:p>
        </p:txBody>
      </p:sp>
      <p:sp>
        <p:nvSpPr>
          <p:cNvPr id="10" name="Rounded Rectangle 9"/>
          <p:cNvSpPr/>
          <p:nvPr/>
        </p:nvSpPr>
        <p:spPr>
          <a:xfrm>
            <a:off x="3456432"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code</a:t>
            </a:r>
          </a:p>
        </p:txBody>
      </p:sp>
      <p:sp>
        <p:nvSpPr>
          <p:cNvPr id="11" name="Rounded Rectangle 10"/>
          <p:cNvSpPr/>
          <p:nvPr/>
        </p:nvSpPr>
        <p:spPr>
          <a:xfrm>
            <a:off x="4352544"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save</a:t>
            </a:r>
          </a:p>
        </p:txBody>
      </p:sp>
      <p:sp>
        <p:nvSpPr>
          <p:cNvPr id="12" name="Rounded Rectangle 11"/>
          <p:cNvSpPr/>
          <p:nvPr/>
        </p:nvSpPr>
        <p:spPr>
          <a:xfrm>
            <a:off x="5248656"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RSVP</a:t>
            </a:r>
          </a:p>
        </p:txBody>
      </p:sp>
      <p:sp>
        <p:nvSpPr>
          <p:cNvPr id="13" name="Rounded Rectangle 12"/>
          <p:cNvSpPr/>
          <p:nvPr/>
        </p:nvSpPr>
        <p:spPr>
          <a:xfrm>
            <a:off x="6144768"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invite</a:t>
            </a:r>
          </a:p>
        </p:txBody>
      </p:sp>
      <p:sp>
        <p:nvSpPr>
          <p:cNvPr id="14" name="Rounded Rectangle 13"/>
          <p:cNvSpPr/>
          <p:nvPr/>
        </p:nvSpPr>
        <p:spPr>
          <a:xfrm>
            <a:off x="726033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place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1.  We would like to _______ you to our product launch.</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invite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2.  The event will take _______ on 12 November.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place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3.  The dress _______ is business casual.</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code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4.  Please _______ the date: 12 November.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save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5.  Please let us know by 1 November. _______ means “please reply”.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RSVP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6.  We’d be _______ if you could join us.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delighted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拼写与介词): invitation (not “invatation”), refreshments (not “refreshment”), attendance (-ance), venue. Use on + date, at + time/place, in + city: “on 12 November, at 6 p.m., at the Grand Hotel, in Shanghai”.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A formal email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正式邀请函</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company is holding a product launch. You invite a key client by email.</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A formal email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invite a client to a business event by email.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Event, date, place: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Reader</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Check the date and ask a question.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 would like to invite you to… · The event will take place on… · The dress code is… · Please let us know by… · I hope you will be able to join us.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 invitation with what / when / where / dress code / RSVP. 100–140 words.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parking and transport: “There is free parking, and the nearest metro station is Line 2, East Nanjing Road.”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Invite a speaker: “We would be honoured if you could say a few words.”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shorter, informal version for a client you know well.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spoken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口头邀请</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meet a client at the end of a meeting and invite her to dinner.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Fiona Gao</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Karen Ortiz</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A spoken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Fiona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Karen, before you leave, are you free for dinner tomorrow night?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Tomorrow? I think so. What did you have in mind?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invite you and your colleague Mark to a dinner at a restaurant near your hotel. It’s a small place, but the food is excellent.</a:t>
            </a:r>
          </a:p>
        </p:txBody>
      </p:sp>
      <p:sp>
        <p:nvSpPr>
          <p:cNvPr id="17" name="Rounded Rectangle 16"/>
          <p:cNvSpPr/>
          <p:nvPr/>
        </p:nvSpPr>
        <p:spPr>
          <a:xfrm>
            <a:off x="10911535" y="365150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lovely. What time?</a:t>
            </a:r>
          </a:p>
        </p:txBody>
      </p:sp>
      <p:sp>
        <p:nvSpPr>
          <p:cNvPr id="20" name="Rounded Rectangle 19"/>
          <p:cNvSpPr/>
          <p:nvPr/>
        </p:nvSpPr>
        <p:spPr>
          <a:xfrm>
            <a:off x="548640" y="423367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about seven? I can send a car for you at half past six.</a:t>
            </a:r>
          </a:p>
        </p:txBody>
      </p:sp>
      <p:sp>
        <p:nvSpPr>
          <p:cNvPr id="23" name="Rounded Rectangle 22"/>
          <p:cNvSpPr/>
          <p:nvPr/>
        </p:nvSpPr>
        <p:spPr>
          <a:xfrm>
            <a:off x="10911535" y="4815839"/>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1"/>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39"/>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kind. Is there a dress code?</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A spoken invitation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it’s casual. Just come as you are. Do you or Mark have any dietary requirements?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Mark is vegetarian. I eat everything.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I’ll let the restaurant know. Shall I send you the details by email tonight?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Could you copy Mark in?</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write to you both. I hope you can both join us.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love to. Thank you for inviting us.</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spoken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invite a client to dinner after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Give the time, place, dress code, and ask about dietary needs.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Accepts, and asks 2 questions.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Are you free on…? · I’d like to invite you… · How about…? · Is there a dress code? · I hope you can join us.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the invitation clear in 60 seconds, and say you will confirm by email.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already has plans. Offer a different day: “How about Thursday instead?”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Invite a group and ask them to confirm numbers by a deadline.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 language: “We’d be delighted if you could join 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details must an invitation include?</a:t>
            </a:r>
          </a:p>
          <a:p>
            <a:pPr algn="l">
              <a:lnSpc>
                <a:spcPct val="115000"/>
              </a:lnSpc>
              <a:spcAft>
                <a:spcPts val="800"/>
              </a:spcAft>
            </a:pPr>
            <a:r>
              <a:rPr sz="1400" b="0">
                <a:solidFill>
                  <a:srgbClr val="5F677A"/>
                </a:solidFill>
                <a:latin typeface="Arial"/>
                <a:ea typeface="Microsoft YaHei"/>
              </a:rPr>
              <a:t>💬 “An invitation should include…” / “Without the date and place, people…”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invite by email, by phone or in person?</a:t>
            </a:r>
          </a:p>
          <a:p>
            <a:pPr algn="l">
              <a:lnSpc>
                <a:spcPct val="115000"/>
              </a:lnSpc>
              <a:spcAft>
                <a:spcPts val="800"/>
              </a:spcAft>
            </a:pPr>
            <a:r>
              <a:rPr sz="1400" b="0">
                <a:solidFill>
                  <a:srgbClr val="5F677A"/>
                </a:solidFill>
                <a:latin typeface="Arial"/>
                <a:ea typeface="Microsoft YaHei"/>
              </a:rPr>
              <a:t>💬 “For formal events, I prefer…” / “In person is better when…”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a business dinner invitation?</a:t>
            </a:r>
          </a:p>
          <a:p>
            <a:pPr algn="l">
              <a:lnSpc>
                <a:spcPct val="115000"/>
              </a:lnSpc>
              <a:spcAft>
                <a:spcPts val="800"/>
              </a:spcAft>
            </a:pPr>
            <a:r>
              <a:rPr sz="1400" b="0">
                <a:solidFill>
                  <a:srgbClr val="5F677A"/>
                </a:solidFill>
                <a:latin typeface="Arial"/>
                <a:ea typeface="Microsoft YaHei"/>
              </a:rPr>
              <a:t>💬 “A risk is that…” / “Guests may not like…”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an invited guest does not reply?</a:t>
            </a:r>
          </a:p>
          <a:p>
            <a:pPr algn="l">
              <a:lnSpc>
                <a:spcPct val="115000"/>
              </a:lnSpc>
              <a:spcAft>
                <a:spcPts val="800"/>
              </a:spcAft>
            </a:pPr>
            <a:r>
              <a:rPr sz="1400" b="0">
                <a:solidFill>
                  <a:srgbClr val="5F677A"/>
                </a:solidFill>
                <a:latin typeface="Arial"/>
                <a:ea typeface="Microsoft YaHei"/>
              </a:rPr>
              <a:t>💬 “I would send a reminder one week before.” / “I would call them and ask…”</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formal should an invitation be in your company?</a:t>
            </a:r>
          </a:p>
          <a:p>
            <a:pPr algn="l">
              <a:lnSpc>
                <a:spcPct val="115000"/>
              </a:lnSpc>
              <a:spcAft>
                <a:spcPts val="800"/>
              </a:spcAft>
            </a:pPr>
            <a:r>
              <a:rPr sz="1400" b="0">
                <a:solidFill>
                  <a:srgbClr val="5F677A"/>
                </a:solidFill>
                <a:latin typeface="Arial"/>
                <a:ea typeface="Microsoft YaHei"/>
              </a:rPr>
              <a:t>💬 “In my company, invitations are usually…” / “It depends on the guest and the event.”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An invitation should include five things: what the event is, when and where it takes place, who is invited, and how to reply. I would also add the dress code and any special information, such as parking or dietary options. Without this information, people will have to write back with questions, which is a waste of time for everyone. A clear invitation also makes the host look professional.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“Without this information, people will have to…” 是 without 引导的条件句。“a waste of time” 注意用 a waste of time,不是 “waste time” 作名词。</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Email template: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邀请函模板</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408432">
                <a:tc>
                  <a:txBody>
                    <a:bodyPr wrap="square"/>
                    <a:lstStyle/>
                    <a:p>
                      <a:r>
                        <a:rPr sz="1600" b="1">
                          <a:solidFill>
                            <a:srgbClr val="1F2A44"/>
                          </a:solidFill>
                          <a:latin typeface="Arial"/>
                          <a:ea typeface="Microsoft YaHei"/>
                        </a:rPr>
                        <a:t>Subject</a:t>
                      </a:r>
                    </a:p>
                  </a:txBody>
                  <a:tcPr anchor="ctr">
                    <a:solidFill>
                      <a:srgbClr val="FFFFFF"/>
                    </a:solidFill>
                  </a:tcPr>
                </a:tc>
                <a:tc>
                  <a:txBody>
                    <a:bodyPr wrap="square"/>
                    <a:lstStyle/>
                    <a:p>
                      <a:r>
                        <a:rPr sz="1600" b="0">
                          <a:solidFill>
                            <a:srgbClr val="1F2A44"/>
                          </a:solidFill>
                          <a:latin typeface="Arial"/>
                          <a:ea typeface="Microsoft YaHei"/>
                        </a:rPr>
                        <a:t>Invitation: [event], [date], [city]</a:t>
                      </a:r>
                    </a:p>
                  </a:txBody>
                  <a:tcPr anchor="ctr">
                    <a:solidFill>
                      <a:srgbClr val="FFFFFF"/>
                    </a:solidFill>
                  </a:tcPr>
                </a:tc>
              </a:tr>
              <a:tr h="408432">
                <a:tc>
                  <a:txBody>
                    <a:bodyPr wrap="square"/>
                    <a:lstStyle/>
                    <a:p>
                      <a:r>
                        <a:rPr sz="1600" b="1">
                          <a:solidFill>
                            <a:srgbClr val="1F2A44"/>
                          </a:solidFill>
                          <a:latin typeface="Arial"/>
                          <a:ea typeface="Microsoft YaHei"/>
                        </a:rPr>
                        <a:t>Opening</a:t>
                      </a:r>
                    </a:p>
                  </a:txBody>
                  <a:tcPr anchor="ctr">
                    <a:solidFill>
                      <a:srgbClr val="FFEFD9"/>
                    </a:solidFill>
                  </a:tcPr>
                </a:tc>
                <a:tc>
                  <a:txBody>
                    <a:bodyPr wrap="square"/>
                    <a:lstStyle/>
                    <a:p>
                      <a:r>
                        <a:rPr sz="1600" b="0">
                          <a:solidFill>
                            <a:srgbClr val="1F2A44"/>
                          </a:solidFill>
                          <a:latin typeface="Arial"/>
                          <a:ea typeface="Microsoft YaHei"/>
                        </a:rPr>
                        <a:t>Dear Ms / Mr [Surname],</a:t>
                      </a:r>
                    </a:p>
                  </a:txBody>
                  <a:tcPr anchor="ctr">
                    <a:solidFill>
                      <a:srgbClr val="FFEFD9"/>
                    </a:solidFill>
                  </a:tcPr>
                </a:tc>
              </a:tr>
              <a:tr h="652272">
                <a:tc>
                  <a:txBody>
                    <a:bodyPr wrap="square"/>
                    <a:lstStyle/>
                    <a:p>
                      <a:r>
                        <a:rPr sz="1600" b="1">
                          <a:solidFill>
                            <a:srgbClr val="1F2A44"/>
                          </a:solidFill>
                          <a:latin typeface="Arial"/>
                          <a:ea typeface="Microsoft YaHei"/>
                        </a:rPr>
                        <a:t>Invite</a:t>
                      </a:r>
                    </a:p>
                  </a:txBody>
                  <a:tcPr anchor="ctr">
                    <a:solidFill>
                      <a:srgbClr val="FFFFFF"/>
                    </a:solidFill>
                  </a:tcPr>
                </a:tc>
                <a:tc>
                  <a:txBody>
                    <a:bodyPr wrap="square"/>
                    <a:lstStyle/>
                    <a:p>
                      <a:r>
                        <a:rPr sz="1600" b="0">
                          <a:solidFill>
                            <a:srgbClr val="1F2A44"/>
                          </a:solidFill>
                          <a:latin typeface="Arial"/>
                          <a:ea typeface="Microsoft YaHei"/>
                        </a:rPr>
                        <a:t>We would like to invite you to [event] on [day, date] at [venue], [city].</a:t>
                      </a:r>
                    </a:p>
                  </a:txBody>
                  <a:tcPr anchor="ctr">
                    <a:solidFill>
                      <a:srgbClr val="FFFFFF"/>
                    </a:solidFill>
                  </a:tcPr>
                </a:tc>
              </a:tr>
              <a:tr h="652272">
                <a:tc>
                  <a:txBody>
                    <a:bodyPr wrap="square"/>
                    <a:lstStyle/>
                    <a:p>
                      <a:r>
                        <a:rPr sz="1600" b="1">
                          <a:solidFill>
                            <a:srgbClr val="1F2A44"/>
                          </a:solidFill>
                          <a:latin typeface="Arial"/>
                          <a:ea typeface="Microsoft YaHei"/>
                        </a:rPr>
                        <a:t>Time</a:t>
                      </a:r>
                    </a:p>
                  </a:txBody>
                  <a:tcPr anchor="ctr">
                    <a:solidFill>
                      <a:srgbClr val="FFEFD9"/>
                    </a:solidFill>
                  </a:tcPr>
                </a:tc>
                <a:tc>
                  <a:txBody>
                    <a:bodyPr wrap="square"/>
                    <a:lstStyle/>
                    <a:p>
                      <a:r>
                        <a:rPr sz="1600" b="0">
                          <a:solidFill>
                            <a:srgbClr val="1F2A44"/>
                          </a:solidFill>
                          <a:latin typeface="Arial"/>
                          <a:ea typeface="Microsoft YaHei"/>
                        </a:rPr>
                        <a:t>The event will start at [time] and finish at [time].</a:t>
                      </a:r>
                    </a:p>
                  </a:txBody>
                  <a:tcPr anchor="ctr">
                    <a:solidFill>
                      <a:srgbClr val="FFEFD9"/>
                    </a:solidFill>
                  </a:tcPr>
                </a:tc>
              </a:tr>
              <a:tr h="652272">
                <a:tc>
                  <a:txBody>
                    <a:bodyPr wrap="square"/>
                    <a:lstStyle/>
                    <a:p>
                      <a:r>
                        <a:rPr sz="1600" b="1">
                          <a:solidFill>
                            <a:srgbClr val="1F2A44"/>
                          </a:solidFill>
                          <a:latin typeface="Arial"/>
                          <a:ea typeface="Microsoft YaHei"/>
                        </a:rPr>
                        <a:t>Programme</a:t>
                      </a:r>
                    </a:p>
                  </a:txBody>
                  <a:tcPr anchor="ctr">
                    <a:solidFill>
                      <a:srgbClr val="FFFFFF"/>
                    </a:solidFill>
                  </a:tcPr>
                </a:tc>
                <a:tc>
                  <a:txBody>
                    <a:bodyPr wrap="square"/>
                    <a:lstStyle/>
                    <a:p>
                      <a:r>
                        <a:rPr sz="1600" b="0">
                          <a:solidFill>
                            <a:srgbClr val="1F2A44"/>
                          </a:solidFill>
                          <a:latin typeface="Arial"/>
                          <a:ea typeface="Microsoft YaHei"/>
                        </a:rPr>
                        <a:t>The evening will include… / A programme is attached.</a:t>
                      </a:r>
                    </a:p>
                  </a:txBody>
                  <a:tcPr anchor="ctr">
                    <a:solidFill>
                      <a:srgbClr val="FFFFFF"/>
                    </a:solidFill>
                  </a:tcPr>
                </a:tc>
              </a:tr>
            </a:tbl>
          </a:graphicData>
        </a:graphic>
      </p:graphicFrame>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Email template: invitation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邀请函模板</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Template</a:t>
                      </a:r>
                    </a:p>
                  </a:txBody>
                  <a:tcPr anchor="ctr">
                    <a:solidFill>
                      <a:srgbClr val="3CC49A"/>
                    </a:solidFill>
                  </a:tcPr>
                </a:tc>
              </a:tr>
              <a:tr h="652272">
                <a:tc>
                  <a:txBody>
                    <a:bodyPr wrap="square"/>
                    <a:lstStyle/>
                    <a:p>
                      <a:r>
                        <a:rPr sz="1600" b="1">
                          <a:solidFill>
                            <a:srgbClr val="1F2A44"/>
                          </a:solidFill>
                          <a:latin typeface="Arial"/>
                          <a:ea typeface="Microsoft YaHei"/>
                        </a:rPr>
                        <a:t>Details</a:t>
                      </a:r>
                    </a:p>
                  </a:txBody>
                  <a:tcPr anchor="ctr">
                    <a:solidFill>
                      <a:srgbClr val="FFFFFF"/>
                    </a:solidFill>
                  </a:tcPr>
                </a:tc>
                <a:tc>
                  <a:txBody>
                    <a:bodyPr wrap="square"/>
                    <a:lstStyle/>
                    <a:p>
                      <a:r>
                        <a:rPr sz="1600" b="0">
                          <a:solidFill>
                            <a:srgbClr val="1F2A44"/>
                          </a:solidFill>
                          <a:latin typeface="Arial"/>
                          <a:ea typeface="Microsoft YaHei"/>
                        </a:rPr>
                        <a:t>The dress code is… / Parking is available at… / Light refreshments will be provided.</a:t>
                      </a:r>
                    </a:p>
                  </a:txBody>
                  <a:tcPr anchor="ctr">
                    <a:solidFill>
                      <a:srgbClr val="FFFFFF"/>
                    </a:solidFill>
                  </a:tcPr>
                </a:tc>
              </a:tr>
              <a:tr h="652272">
                <a:tc>
                  <a:txBody>
                    <a:bodyPr wrap="square"/>
                    <a:lstStyle/>
                    <a:p>
                      <a:r>
                        <a:rPr sz="1600" b="1">
                          <a:solidFill>
                            <a:srgbClr val="1F2A44"/>
                          </a:solidFill>
                          <a:latin typeface="Arial"/>
                          <a:ea typeface="Microsoft YaHei"/>
                        </a:rPr>
                        <a:t>Reply</a:t>
                      </a:r>
                    </a:p>
                  </a:txBody>
                  <a:tcPr anchor="ctr">
                    <a:solidFill>
                      <a:srgbClr val="FFEFD9"/>
                    </a:solidFill>
                  </a:tcPr>
                </a:tc>
                <a:tc>
                  <a:txBody>
                    <a:bodyPr wrap="square"/>
                    <a:lstStyle/>
                    <a:p>
                      <a:r>
                        <a:rPr sz="1600" b="0">
                          <a:solidFill>
                            <a:srgbClr val="1F2A44"/>
                          </a:solidFill>
                          <a:latin typeface="Arial"/>
                          <a:ea typeface="Microsoft YaHei"/>
                        </a:rPr>
                        <a:t>Please let us know by [date] whether you can attend (RSVP).</a:t>
                      </a:r>
                    </a:p>
                  </a:txBody>
                  <a:tcPr anchor="ctr">
                    <a:solidFill>
                      <a:srgbClr val="FFEFD9"/>
                    </a:solidFill>
                  </a:tcPr>
                </a:tc>
              </a:tr>
              <a:tr h="652272">
                <a:tc>
                  <a:txBody>
                    <a:bodyPr wrap="square"/>
                    <a:lstStyle/>
                    <a:p>
                      <a:r>
                        <a:rPr sz="1600" b="1">
                          <a:solidFill>
                            <a:srgbClr val="1F2A44"/>
                          </a:solidFill>
                          <a:latin typeface="Arial"/>
                          <a:ea typeface="Microsoft YaHei"/>
                        </a:rPr>
                        <a:t>Closing</a:t>
                      </a:r>
                    </a:p>
                  </a:txBody>
                  <a:tcPr anchor="ctr">
                    <a:solidFill>
                      <a:srgbClr val="FFFFFF"/>
                    </a:solidFill>
                  </a:tcPr>
                </a:tc>
                <a:tc>
                  <a:txBody>
                    <a:bodyPr wrap="square"/>
                    <a:lstStyle/>
                    <a:p>
                      <a:r>
                        <a:rPr sz="1600" b="0">
                          <a:solidFill>
                            <a:srgbClr val="1F2A44"/>
                          </a:solidFill>
                          <a:latin typeface="Arial"/>
                          <a:ea typeface="Microsoft YaHei"/>
                        </a:rPr>
                        <a:t>I hope you will be able to join us. / We look forward to seeing you.</a:t>
                      </a:r>
                    </a:p>
                  </a:txBody>
                  <a:tcPr anchor="ctr">
                    <a:solidFill>
                      <a:srgbClr val="FFFFFF"/>
                    </a:solidFill>
                  </a:tcPr>
                </a:tc>
              </a:tr>
              <a:tr h="408432">
                <a:tc>
                  <a:txBody>
                    <a:bodyPr wrap="square"/>
                    <a:lstStyle/>
                    <a:p>
                      <a:r>
                        <a:rPr sz="1600" b="1">
                          <a:solidFill>
                            <a:srgbClr val="1F2A44"/>
                          </a:solidFill>
                          <a:latin typeface="Arial"/>
                          <a:ea typeface="Microsoft YaHei"/>
                        </a:rPr>
                        <a:t>Sign-off</a:t>
                      </a:r>
                    </a:p>
                  </a:txBody>
                  <a:tcPr anchor="ctr">
                    <a:solidFill>
                      <a:srgbClr val="FFEFD9"/>
                    </a:solidFill>
                  </a:tcPr>
                </a:tc>
                <a:tc>
                  <a:txBody>
                    <a:bodyPr wrap="square"/>
                    <a:lstStyle/>
                    <a:p>
                      <a:r>
                        <a:rPr sz="1600" b="0">
                          <a:solidFill>
                            <a:srgbClr val="1F2A44"/>
                          </a:solidFill>
                          <a:latin typeface="Arial"/>
                          <a:ea typeface="Microsoft YaHei"/>
                        </a:rPr>
                        <a:t>Kind regards, + name</a:t>
                      </a:r>
                    </a:p>
                  </a:txBody>
                  <a:tcPr anchor="ctr">
                    <a:solidFill>
                      <a:srgbClr val="FFEFD9"/>
                    </a:solidFill>
                  </a:tcPr>
                </a:tc>
              </a:tr>
            </a:tbl>
          </a:graphicData>
        </a:graphic>
      </p:graphicFrame>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invitations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邀请句型库</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Formal ★</a:t>
                      </a:r>
                    </a:p>
                  </a:txBody>
                  <a:tcPr anchor="ctr">
                    <a:solidFill>
                      <a:srgbClr val="3CC49A"/>
                    </a:solidFill>
                  </a:tcPr>
                </a:tc>
                <a:tc>
                  <a:txBody>
                    <a:bodyPr wrap="square"/>
                    <a:lstStyle/>
                    <a:p>
                      <a:r>
                        <a:rPr sz="1600" b="1">
                          <a:solidFill>
                            <a:srgbClr val="FFFFFF"/>
                          </a:solidFill>
                          <a:latin typeface="Arial"/>
                          <a:ea typeface="Microsoft YaHei"/>
                        </a:rPr>
                        <a:t>Neutral</a:t>
                      </a:r>
                    </a:p>
                  </a:txBody>
                  <a:tcPr anchor="ctr">
                    <a:solidFill>
                      <a:srgbClr val="3CC49A"/>
                    </a:solidFill>
                  </a:tcPr>
                </a:tc>
                <a:tc>
                  <a:txBody>
                    <a:bodyPr wrap="square"/>
                    <a:lstStyle/>
                    <a:p>
                      <a:r>
                        <a:rPr sz="1600" b="1">
                          <a:solidFill>
                            <a:srgbClr val="FFFFFF"/>
                          </a:solidFill>
                          <a:latin typeface="Arial"/>
                          <a:ea typeface="Microsoft YaHei"/>
                        </a:rPr>
                        <a:t>Informal</a:t>
                      </a:r>
                    </a:p>
                  </a:txBody>
                  <a:tcPr anchor="ctr">
                    <a:solidFill>
                      <a:srgbClr val="3CC49A"/>
                    </a:solidFill>
                  </a:tcPr>
                </a:tc>
              </a:tr>
              <a:tr h="408432">
                <a:tc>
                  <a:txBody>
                    <a:bodyPr wrap="square"/>
                    <a:lstStyle/>
                    <a:p>
                      <a:r>
                        <a:rPr sz="1600" b="1">
                          <a:solidFill>
                            <a:srgbClr val="1F2A44"/>
                          </a:solidFill>
                          <a:latin typeface="Arial"/>
                          <a:ea typeface="Microsoft YaHei"/>
                        </a:rPr>
                        <a:t>We would like to invite you to…</a:t>
                      </a:r>
                    </a:p>
                  </a:txBody>
                  <a:tcPr anchor="ctr">
                    <a:solidFill>
                      <a:srgbClr val="FFFFFF"/>
                    </a:solidFill>
                  </a:tcPr>
                </a:tc>
                <a:tc>
                  <a:txBody>
                    <a:bodyPr wrap="square"/>
                    <a:lstStyle/>
                    <a:p>
                      <a:r>
                        <a:rPr sz="1600" b="0">
                          <a:solidFill>
                            <a:srgbClr val="1F2A44"/>
                          </a:solidFill>
                          <a:latin typeface="Arial"/>
                          <a:ea typeface="Microsoft YaHei"/>
                        </a:rPr>
                        <a:t>I’d like to invite you to…</a:t>
                      </a:r>
                    </a:p>
                  </a:txBody>
                  <a:tcPr anchor="ctr">
                    <a:solidFill>
                      <a:srgbClr val="FFFFFF"/>
                    </a:solidFill>
                  </a:tcPr>
                </a:tc>
                <a:tc>
                  <a:txBody>
                    <a:bodyPr wrap="square"/>
                    <a:lstStyle/>
                    <a:p>
                      <a:r>
                        <a:rPr sz="1600" b="0">
                          <a:solidFill>
                            <a:srgbClr val="1F2A44"/>
                          </a:solidFill>
                          <a:latin typeface="Arial"/>
                          <a:ea typeface="Microsoft YaHei"/>
                        </a:rPr>
                        <a:t>Are you free on Friday?</a:t>
                      </a:r>
                    </a:p>
                  </a:txBody>
                  <a:tcPr anchor="ctr">
                    <a:solidFill>
                      <a:srgbClr val="FFFFFF"/>
                    </a:solidFill>
                  </a:tcPr>
                </a:tc>
              </a:tr>
              <a:tr h="652272">
                <a:tc>
                  <a:txBody>
                    <a:bodyPr wrap="square"/>
                    <a:lstStyle/>
                    <a:p>
                      <a:r>
                        <a:rPr sz="1600" b="1">
                          <a:solidFill>
                            <a:srgbClr val="1F2A44"/>
                          </a:solidFill>
                          <a:latin typeface="Arial"/>
                          <a:ea typeface="Microsoft YaHei"/>
                        </a:rPr>
                        <a:t>It would be a pleasure to welcome you.</a:t>
                      </a:r>
                    </a:p>
                  </a:txBody>
                  <a:tcPr anchor="ctr">
                    <a:solidFill>
                      <a:srgbClr val="FFEFD9"/>
                    </a:solidFill>
                  </a:tcPr>
                </a:tc>
                <a:tc>
                  <a:txBody>
                    <a:bodyPr wrap="square"/>
                    <a:lstStyle/>
                    <a:p>
                      <a:r>
                        <a:rPr sz="1600" b="0">
                          <a:solidFill>
                            <a:srgbClr val="1F2A44"/>
                          </a:solidFill>
                          <a:latin typeface="Arial"/>
                          <a:ea typeface="Microsoft YaHei"/>
                        </a:rPr>
                        <a:t>I hope you can come.</a:t>
                      </a:r>
                    </a:p>
                  </a:txBody>
                  <a:tcPr anchor="ctr">
                    <a:solidFill>
                      <a:srgbClr val="FFEFD9"/>
                    </a:solidFill>
                  </a:tcPr>
                </a:tc>
                <a:tc>
                  <a:txBody>
                    <a:bodyPr wrap="square"/>
                    <a:lstStyle/>
                    <a:p>
                      <a:r>
                        <a:rPr sz="1600" b="0">
                          <a:solidFill>
                            <a:srgbClr val="1F2A44"/>
                          </a:solidFill>
                          <a:latin typeface="Arial"/>
                          <a:ea typeface="Microsoft YaHei"/>
                        </a:rPr>
                        <a:t>Hope you can make it!</a:t>
                      </a:r>
                    </a:p>
                  </a:txBody>
                  <a:tcPr anchor="ctr">
                    <a:solidFill>
                      <a:srgbClr val="FFEFD9"/>
                    </a:solidFill>
                  </a:tcPr>
                </a:tc>
              </a:tr>
              <a:tr h="652272">
                <a:tc>
                  <a:txBody>
                    <a:bodyPr wrap="square"/>
                    <a:lstStyle/>
                    <a:p>
                      <a:r>
                        <a:rPr sz="1600" b="1">
                          <a:solidFill>
                            <a:srgbClr val="1F2A44"/>
                          </a:solidFill>
                          <a:latin typeface="Arial"/>
                          <a:ea typeface="Microsoft YaHei"/>
                        </a:rPr>
                        <a:t>Kindly confirm your attendance by…</a:t>
                      </a:r>
                    </a:p>
                  </a:txBody>
                  <a:tcPr anchor="ctr">
                    <a:solidFill>
                      <a:srgbClr val="FFFFFF"/>
                    </a:solidFill>
                  </a:tcPr>
                </a:tc>
                <a:tc>
                  <a:txBody>
                    <a:bodyPr wrap="square"/>
                    <a:lstStyle/>
                    <a:p>
                      <a:r>
                        <a:rPr sz="1600" b="0">
                          <a:solidFill>
                            <a:srgbClr val="1F2A44"/>
                          </a:solidFill>
                          <a:latin typeface="Arial"/>
                          <a:ea typeface="Microsoft YaHei"/>
                        </a:rPr>
                        <a:t>Please let us know by…</a:t>
                      </a:r>
                    </a:p>
                  </a:txBody>
                  <a:tcPr anchor="ctr">
                    <a:solidFill>
                      <a:srgbClr val="FFFFFF"/>
                    </a:solidFill>
                  </a:tcPr>
                </a:tc>
                <a:tc>
                  <a:txBody>
                    <a:bodyPr wrap="square"/>
                    <a:lstStyle/>
                    <a:p>
                      <a:r>
                        <a:rPr sz="1600" b="0">
                          <a:solidFill>
                            <a:srgbClr val="1F2A44"/>
                          </a:solidFill>
                          <a:latin typeface="Arial"/>
                          <a:ea typeface="Microsoft YaHei"/>
                        </a:rPr>
                        <a:t>Let me know if you can come.</a:t>
                      </a:r>
                    </a:p>
                  </a:txBody>
                  <a:tcPr anchor="ctr">
                    <a:solidFill>
                      <a:srgbClr val="FFFFFF"/>
                    </a:solidFill>
                  </a:tcPr>
                </a:tc>
              </a:tr>
              <a:tr h="408432">
                <a:tc>
                  <a:txBody>
                    <a:bodyPr wrap="square"/>
                    <a:lstStyle/>
                    <a:p>
                      <a:r>
                        <a:rPr sz="1600" b="1">
                          <a:solidFill>
                            <a:srgbClr val="1F2A44"/>
                          </a:solidFill>
                          <a:latin typeface="Arial"/>
                          <a:ea typeface="Microsoft YaHei"/>
                        </a:rPr>
                        <a:t>Please save the date.</a:t>
                      </a:r>
                    </a:p>
                  </a:txBody>
                  <a:tcPr anchor="ctr">
                    <a:solidFill>
                      <a:srgbClr val="FFEFD9"/>
                    </a:solidFill>
                  </a:tcPr>
                </a:tc>
                <a:tc>
                  <a:txBody>
                    <a:bodyPr wrap="square"/>
                    <a:lstStyle/>
                    <a:p>
                      <a:r>
                        <a:rPr sz="1600" b="0">
                          <a:solidFill>
                            <a:srgbClr val="1F2A44"/>
                          </a:solidFill>
                          <a:latin typeface="Arial"/>
                          <a:ea typeface="Microsoft YaHei"/>
                        </a:rPr>
                        <a:t>Please note the date.</a:t>
                      </a:r>
                    </a:p>
                  </a:txBody>
                  <a:tcPr anchor="ctr">
                    <a:solidFill>
                      <a:srgbClr val="FFEFD9"/>
                    </a:solidFill>
                  </a:tcPr>
                </a:tc>
                <a:tc>
                  <a:txBody>
                    <a:bodyPr wrap="square"/>
                    <a:lstStyle/>
                    <a:p>
                      <a:r>
                        <a:rPr sz="1600" b="0">
                          <a:solidFill>
                            <a:srgbClr val="1F2A44"/>
                          </a:solidFill>
                          <a:latin typeface="Arial"/>
                          <a:ea typeface="Microsoft YaHei"/>
                        </a:rPr>
                        <a:t>Pop it in your diary.</a:t>
                      </a:r>
                    </a:p>
                  </a:txBody>
                  <a:tcPr anchor="ctr">
                    <a:solidFill>
                      <a:srgbClr val="FFEFD9"/>
                    </a:solidFill>
                  </a:tcPr>
                </a:tc>
              </a:tr>
              <a:tr h="408432">
                <a:tc>
                  <a:txBody>
                    <a:bodyPr wrap="square"/>
                    <a:lstStyle/>
                    <a:p>
                      <a:r>
                        <a:rPr sz="1600" b="1">
                          <a:solidFill>
                            <a:srgbClr val="1F2A44"/>
                          </a:solidFill>
                          <a:latin typeface="Arial"/>
                          <a:ea typeface="Microsoft YaHei"/>
                        </a:rPr>
                        <a:t>The dress code is smart casual.</a:t>
                      </a:r>
                    </a:p>
                  </a:txBody>
                  <a:tcPr anchor="ctr">
                    <a:solidFill>
                      <a:srgbClr val="FFFFFF"/>
                    </a:solidFill>
                  </a:tcPr>
                </a:tc>
                <a:tc>
                  <a:txBody>
                    <a:bodyPr wrap="square"/>
                    <a:lstStyle/>
                    <a:p>
                      <a:r>
                        <a:rPr sz="1600" b="0">
                          <a:solidFill>
                            <a:srgbClr val="1F2A44"/>
                          </a:solidFill>
                          <a:latin typeface="Arial"/>
                          <a:ea typeface="Microsoft YaHei"/>
                        </a:rPr>
                        <a:t>Dress is casual.</a:t>
                      </a:r>
                    </a:p>
                  </a:txBody>
                  <a:tcPr anchor="ctr">
                    <a:solidFill>
                      <a:srgbClr val="FFFFFF"/>
                    </a:solidFill>
                  </a:tcPr>
                </a:tc>
                <a:tc>
                  <a:txBody>
                    <a:bodyPr wrap="square"/>
                    <a:lstStyle/>
                    <a:p>
                      <a:r>
                        <a:rPr sz="1600" b="0">
                          <a:solidFill>
                            <a:srgbClr val="1F2A44"/>
                          </a:solidFill>
                          <a:latin typeface="Arial"/>
                          <a:ea typeface="Microsoft YaHei"/>
                        </a:rPr>
                        <a:t>Just come as you are.</a:t>
                      </a:r>
                    </a:p>
                  </a:txBody>
                  <a:tcPr anchor="ctr">
                    <a:solidFill>
                      <a:srgbClr val="FFFFFF"/>
                    </a:solidFill>
                  </a:tcPr>
                </a:tc>
              </a:tr>
            </a:tbl>
          </a:graphicData>
        </a:graphic>
      </p:graphicFrame>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Phrase bank: invitations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邀请句型库</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Invite someone to + event: </a:t>
            </a:r>
            <a:r>
              <a:rPr sz="1700" b="0">
                <a:solidFill>
                  <a:srgbClr val="1F2A44"/>
                </a:solidFill>
                <a:latin typeface="Arial"/>
                <a:ea typeface="Microsoft YaHei"/>
              </a:rPr>
              <a:t>“invite you to dinner” (not “invite you dinner”).</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Date style: </a:t>
            </a:r>
            <a:r>
              <a:rPr sz="1700" b="0">
                <a:solidFill>
                  <a:srgbClr val="1F2A44"/>
                </a:solidFill>
                <a:latin typeface="Arial"/>
                <a:ea typeface="Microsoft YaHei"/>
              </a:rPr>
              <a:t>UK 12 November or 12th November; US November 15. Write the month in words to avoid confusion (10/11 = 10 November in the UK, 11 October in the US).</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invite you dinner.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invite you to dinner.</a:t>
            </a:r>
          </a:p>
          <a:p>
            <a:pPr algn="l">
              <a:spcAft>
                <a:spcPts val="200"/>
              </a:spcAft>
            </a:pPr>
            <a:r>
              <a:rPr sz="1200" b="0">
                <a:solidFill>
                  <a:srgbClr val="FFFFFF"/>
                </a:solidFill>
                <a:latin typeface="Arial"/>
                <a:ea typeface="Microsoft YaHei"/>
              </a:rPr>
              <a:t>invite sb to sth</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invite you to attend our the product launch.</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would like to invite you to our product launch.</a:t>
            </a:r>
          </a:p>
          <a:p>
            <a:pPr algn="l">
              <a:spcAft>
                <a:spcPts val="200"/>
              </a:spcAft>
            </a:pPr>
            <a:r>
              <a:rPr sz="1200" b="0">
                <a:solidFill>
                  <a:srgbClr val="FFFFFF"/>
                </a:solidFill>
                <a:latin typeface="Arial"/>
                <a:ea typeface="Microsoft YaHei"/>
              </a:rPr>
              <a:t>不要叠加 the 和 our</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event is in 12 November in 6 p.m.</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event is on 12 November at 6 p.m.</a:t>
            </a:r>
          </a:p>
          <a:p>
            <a:pPr algn="l">
              <a:spcAft>
                <a:spcPts val="200"/>
              </a:spcAft>
            </a:pPr>
            <a:r>
              <a:rPr sz="1200" b="0">
                <a:solidFill>
                  <a:srgbClr val="FFFFFF"/>
                </a:solidFill>
                <a:latin typeface="Arial"/>
                <a:ea typeface="Microsoft YaHei"/>
              </a:rPr>
              <a:t>on 日期 / at 钟点</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hold a party in the Grand Hotel.</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hold a party at the Grand Hotel.</a:t>
            </a:r>
          </a:p>
          <a:p>
            <a:pPr algn="l">
              <a:spcAft>
                <a:spcPts val="200"/>
              </a:spcAft>
            </a:pPr>
            <a:r>
              <a:rPr sz="1200" b="0">
                <a:solidFill>
                  <a:srgbClr val="FFFFFF"/>
                </a:solidFill>
                <a:latin typeface="Arial"/>
                <a:ea typeface="Microsoft YaHei"/>
              </a:rPr>
              <a:t>地点 at</a:t>
            </a:r>
          </a:p>
        </p:txBody>
      </p:sp>
      <p:sp>
        <p:nvSpPr>
          <p:cNvPr id="17" name="Rounded Rectangle 16"/>
          <p:cNvSpPr/>
          <p:nvPr/>
        </p:nvSpPr>
        <p:spPr>
          <a:xfrm>
            <a:off x="548640" y="4511036"/>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Welcome you to come.</a:t>
            </a:r>
          </a:p>
        </p:txBody>
      </p:sp>
      <p:sp>
        <p:nvSpPr>
          <p:cNvPr id="18" name="Rounded Rectangle 17"/>
          <p:cNvSpPr/>
          <p:nvPr/>
        </p:nvSpPr>
        <p:spPr>
          <a:xfrm>
            <a:off x="6187287" y="4511036"/>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look forward to welcoming you. / It would be a pleasure to welcome you.</a:t>
            </a:r>
          </a:p>
          <a:p>
            <a:pPr algn="l">
              <a:spcAft>
                <a:spcPts val="200"/>
              </a:spcAft>
            </a:pPr>
            <a:r>
              <a:rPr sz="1200" b="0">
                <a:solidFill>
                  <a:srgbClr val="FFFFFF"/>
                </a:solidFill>
                <a:latin typeface="Arial"/>
                <a:ea typeface="Microsoft YaHei"/>
              </a:rPr>
              <a:t>welcome 的完整用法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reply me before 1 November.</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reply by 1 November. / Please let us know by 1 November.</a:t>
            </a:r>
          </a:p>
          <a:p>
            <a:pPr algn="l">
              <a:spcAft>
                <a:spcPts val="200"/>
              </a:spcAft>
            </a:pPr>
            <a:r>
              <a:rPr sz="1200" b="0">
                <a:solidFill>
                  <a:srgbClr val="FFFFFF"/>
                </a:solidFill>
                <a:latin typeface="Arial"/>
                <a:ea typeface="Microsoft YaHei"/>
              </a:rPr>
              <a:t>reply 后加 to + 人 / by</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presence is highly expected.</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would be delighted if you could join us.</a:t>
            </a:r>
          </a:p>
          <a:p>
            <a:pPr algn="l">
              <a:spcAft>
                <a:spcPts val="200"/>
              </a:spcAft>
            </a:pPr>
            <a:r>
              <a:rPr sz="1200" b="0">
                <a:solidFill>
                  <a:srgbClr val="FFFFFF"/>
                </a:solidFill>
                <a:latin typeface="Arial"/>
                <a:ea typeface="Microsoft YaHei"/>
              </a:rPr>
              <a:t>expect 在英文里不礼貌,像命令</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come on time. We will not wait.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event will start promptly at 6 p.m.</a:t>
            </a:r>
          </a:p>
          <a:p>
            <a:pPr algn="l">
              <a:spcAft>
                <a:spcPts val="200"/>
              </a:spcAft>
            </a:pPr>
            <a:r>
              <a:rPr sz="1200" b="0">
                <a:solidFill>
                  <a:srgbClr val="FFFFFF"/>
                </a:solidFill>
                <a:latin typeface="Arial"/>
                <a:ea typeface="Microsoft YaHei"/>
              </a:rPr>
              <a:t>用中性说法</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Would you like to coming?</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Would you like to come?</a:t>
            </a:r>
          </a:p>
          <a:p>
            <a:pPr algn="l">
              <a:spcAft>
                <a:spcPts val="200"/>
              </a:spcAft>
            </a:pPr>
            <a:r>
              <a:rPr sz="1200" b="0">
                <a:solidFill>
                  <a:srgbClr val="FFFFFF"/>
                </a:solidFill>
                <a:latin typeface="Arial"/>
                <a:ea typeface="Microsoft YaHei"/>
              </a:rPr>
              <a:t>like to + 动词原形</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invatation / refreshment list</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invitation / refreshments</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invite sb to sth, on + date, at + time/place, reply by + date. Do not write “Your presence is expected”.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RSVP is an obligation. “RSVP” means please reply, even if the answer is “no”. Don’t leave the host guessing.</a:t>
            </a:r>
          </a:p>
        </p:txBody>
      </p:sp>
      <p:sp>
        <p:nvSpPr>
          <p:cNvPr id="12" name="Rounded Rectangle 11"/>
          <p:cNvSpPr/>
          <p:nvPr/>
        </p:nvSpPr>
        <p:spPr>
          <a:xfrm>
            <a:off x="548640" y="2209799"/>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96012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960120"/>
          </a:xfrm>
          <a:prstGeom prst="rect">
            <a:avLst/>
          </a:prstGeom>
          <a:noFill/>
        </p:spPr>
        <p:txBody>
          <a:bodyPr wrap="square" anchor="ctr">
            <a:spAutoFit/>
          </a:bodyPr>
          <a:lstStyle/>
          <a:p>
            <a:r>
              <a:rPr sz="1700" b="1">
                <a:solidFill>
                  <a:srgbClr val="4A90E2"/>
                </a:solidFill>
                <a:latin typeface="Arial"/>
                <a:ea typeface="Microsoft YaHei"/>
              </a:rPr>
              <a:t>Plus-ones: </a:t>
            </a:r>
            <a:r>
              <a:rPr sz="1700" b="0">
                <a:solidFill>
                  <a:srgbClr val="1F2A44"/>
                </a:solidFill>
                <a:latin typeface="Arial"/>
                <a:ea typeface="Microsoft YaHei"/>
              </a:rPr>
              <a:t>Western invitations clearly say whether you can bring a guest. Chinese hosts often assume that everyone knows. Always write: “Please feel free to bring a colleague” or “Invitation for one person only”.</a:t>
            </a:r>
          </a:p>
        </p:txBody>
      </p:sp>
      <p:sp>
        <p:nvSpPr>
          <p:cNvPr id="15" name="Rounded Rectangle 14"/>
          <p:cNvSpPr/>
          <p:nvPr/>
        </p:nvSpPr>
        <p:spPr>
          <a:xfrm>
            <a:off x="548640" y="326135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61359"/>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61359"/>
            <a:ext cx="10728655" cy="701039"/>
          </a:xfrm>
          <a:prstGeom prst="rect">
            <a:avLst/>
          </a:prstGeom>
          <a:noFill/>
        </p:spPr>
        <p:txBody>
          <a:bodyPr wrap="square" anchor="ctr">
            <a:spAutoFit/>
          </a:bodyPr>
          <a:lstStyle/>
          <a:p>
            <a:r>
              <a:rPr sz="1700" b="1">
                <a:solidFill>
                  <a:srgbClr val="3CC49A"/>
                </a:solidFill>
                <a:latin typeface="Arial"/>
                <a:ea typeface="Microsoft YaHei"/>
              </a:rPr>
              <a:t>Dress code: </a:t>
            </a:r>
            <a:r>
              <a:rPr sz="1700" b="0">
                <a:solidFill>
                  <a:srgbClr val="1F2A44"/>
                </a:solidFill>
                <a:latin typeface="Arial"/>
                <a:ea typeface="Microsoft YaHei"/>
              </a:rPr>
              <a:t>Business casual = no suit and tie, but smart. Smart casual = no jeans or trainers. Black tie = evening dress or tuxedo.</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Time of the day: </a:t>
            </a:r>
            <a:r>
              <a:rPr sz="1700" b="0">
                <a:solidFill>
                  <a:srgbClr val="1F2A44"/>
                </a:solidFill>
                <a:latin typeface="Arial"/>
                <a:ea typeface="Microsoft YaHei"/>
              </a:rPr>
              <a:t>After-work receptions are often 6–8 p.m. and usually finish before 9 p.m. Breakfast meetings are common in the US.</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Dinner invitations: </a:t>
            </a:r>
            <a:r>
              <a:rPr sz="1700" b="0">
                <a:solidFill>
                  <a:srgbClr val="1F2A44"/>
                </a:solidFill>
                <a:latin typeface="Arial"/>
                <a:ea typeface="Microsoft YaHei"/>
              </a:rPr>
              <a:t>Say clearly who is paying. “Dinner is on us” (we are paying). Otherwise, guests may worry.</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invite someone with We would like to invite you to… and Are you free on…?</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the key details: what, when, where, dress code, how to reply.</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for a reply with Please let us know by… / RSVP.</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on / at / in correctly for dates, times and places.</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the format “invite sb to sth” and “reply by + date” without mistakes.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15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invite … to, on / at / in, reply by, and spelling (invitation, refreshments).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 · Lesson 16 Replies to invitations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Replies to invitations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回复邀请</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900" b="0">
                <a:solidFill>
                  <a:srgbClr val="FFC857"/>
                </a:solidFill>
                <a:latin typeface="Arial"/>
                <a:ea typeface="Microsoft YaHei"/>
              </a:rPr>
              <a:t>🎯 reply to an invitation: accept, decline or say “maybe” politely, ask about the details, confirm attendance, and keep a good relationship even when you must say no.</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2212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382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382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How do you usually reply to a business invitation: by email, by phone, or by message?</a:t>
            </a:r>
          </a:p>
        </p:txBody>
      </p:sp>
      <p:sp>
        <p:nvSpPr>
          <p:cNvPr id="12" name="Oval 11"/>
          <p:cNvSpPr/>
          <p:nvPr/>
        </p:nvSpPr>
        <p:spPr>
          <a:xfrm>
            <a:off x="548640" y="25176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02408"/>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02408"/>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Is it easy for you to say “no” to an invitation? Why or why not?</a:t>
            </a:r>
          </a:p>
        </p:txBody>
      </p:sp>
      <p:sp>
        <p:nvSpPr>
          <p:cNvPr id="15" name="Oval 14"/>
          <p:cNvSpPr/>
          <p:nvPr/>
        </p:nvSpPr>
        <p:spPr>
          <a:xfrm>
            <a:off x="548640" y="31607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145536"/>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45536"/>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do you say when you can’t go, but you want to keep a good relationship?</a:t>
            </a:r>
          </a:p>
        </p:txBody>
      </p:sp>
      <p:sp>
        <p:nvSpPr>
          <p:cNvPr id="18" name="Oval 17"/>
          <p:cNvSpPr/>
          <p:nvPr/>
        </p:nvSpPr>
        <p:spPr>
          <a:xfrm>
            <a:off x="548640" y="38039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788664"/>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788664"/>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When did you last decline an invitation? How did you say it?</a:t>
            </a:r>
          </a:p>
        </p:txBody>
      </p:sp>
      <p:sp>
        <p:nvSpPr>
          <p:cNvPr id="21" name="Oval 20"/>
          <p:cNvSpPr/>
          <p:nvPr/>
        </p:nvSpPr>
        <p:spPr>
          <a:xfrm>
            <a:off x="548640" y="444703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431792"/>
            <a:ext cx="10408615" cy="53340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431792"/>
            <a:ext cx="10180015" cy="533400"/>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What questions do you ask before you accept an invitation to a business event?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题讲过去的事,请用过去式(declined, said, wrote)。第 2 题可以说 “It is (not) easy for me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Show how to accept one invitation and decline another.</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1. thank them</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2. accept or decline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3. give a short reason (if needed)</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4. ask about details or offer an alternative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5. a polite closing</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Thank you very much for your invitation.   💬 I’d be delighted to…   💬 Unfortunately, I won’t be able to… because…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拒绝时:先感谢 → 再说 “I’m afraid I can’t” → 简短原因 → 提出别的可能(Maybe next time)。won’t be able to 比 can’t 更委婉。</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Accepting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接受邀请</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the kind invitation.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感谢您的盛情邀请</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the kind invitation to your product launch.”</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be delighted to attend.</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我很乐意参加</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be delighted to attend.”</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count me in.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算我一个</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count me in for dinner on Friday.”</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looking forward to it.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我很期待</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looking forward to it.”</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can confirm that two of us will attend.</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我确认我们两人会出席</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 confirm that two of us will attend.”</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Declining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礼貌拒绝</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Unfortunately, I won’t be able to make it.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很遗憾,我去不了</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“Unfortunately, I won’t be able to make it on the 12th.”</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I have a prior commitment.</a:t>
            </a:r>
          </a:p>
          <a:p>
            <a:pPr algn="l">
              <a:lnSpc>
                <a:spcPct val="115000"/>
              </a:lnSpc>
              <a:spcAft>
                <a:spcPts val="800"/>
              </a:spcAft>
            </a:pPr>
            <a:r>
              <a:rPr sz="1300" b="0">
                <a:solidFill>
                  <a:srgbClr val="5F677A"/>
                </a:solidFill>
                <a:latin typeface="Arial"/>
                <a:ea typeface="Microsoft YaHei"/>
              </a:rPr>
              <a:t>phrase (formal)</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恐怕我已有安排</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I have a prior commitment on that evening.”</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already booked up that week.</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那一周我的日程已排满</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already booked up that week.”</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2: Declining politely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礼貌拒绝</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send my apologies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请代我向……致歉</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send my apologies to the team.”</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Maybe next time. / I hope we can meet soon.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希望下次有机会</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thinking of me. Maybe next time.”</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Asking about details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询问细节</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tell me more about…?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您能多告诉我一些关于……的信息吗?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tell me more about the programme?”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there a dress code?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有着装要求吗?</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 dress code?”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Would it be possible to bring a colleague?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可以带一位同事吗?</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it be possible to bring a colleague?”</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Can I get back to you on that by Friday?</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我可以周五前再答复您吗?</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I get back to you on that by Friday?”</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have to check my diary and confirm.</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我得查一下日程再确认</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have to check my diary and confirm tomorrow.”</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我很期待</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looking forward to it.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很遗憾,我去不了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Unfortunately, I won’t be able to make it.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算我一个</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count me in.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我确认我们两人会出席</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 can confirm that two of us will attend.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那一周我的日程已排满</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already booked up that week.</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可以带一位同事吗?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Would it be possible to bring a colleague?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我可以周五前再答复您吗?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Can I get back to you on that by Friday?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请代我向……致歉</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send my apologies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kind</a:t>
            </a:r>
          </a:p>
        </p:txBody>
      </p:sp>
      <p:sp>
        <p:nvSpPr>
          <p:cNvPr id="10" name="Rounded Rectangle 9"/>
          <p:cNvSpPr/>
          <p:nvPr/>
        </p:nvSpPr>
        <p:spPr>
          <a:xfrm>
            <a:off x="2907792" y="987552"/>
            <a:ext cx="58521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on</a:t>
            </a:r>
          </a:p>
        </p:txBody>
      </p:sp>
      <p:sp>
        <p:nvSpPr>
          <p:cNvPr id="11" name="Rounded Rectangle 10"/>
          <p:cNvSpPr/>
          <p:nvPr/>
        </p:nvSpPr>
        <p:spPr>
          <a:xfrm>
            <a:off x="3584448"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delighted</a:t>
            </a:r>
          </a:p>
        </p:txBody>
      </p:sp>
      <p:sp>
        <p:nvSpPr>
          <p:cNvPr id="12" name="Rounded Rectangle 11"/>
          <p:cNvSpPr/>
          <p:nvPr/>
        </p:nvSpPr>
        <p:spPr>
          <a:xfrm>
            <a:off x="5029200"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apologies</a:t>
            </a:r>
          </a:p>
        </p:txBody>
      </p:sp>
      <p:sp>
        <p:nvSpPr>
          <p:cNvPr id="13" name="Rounded Rectangle 12"/>
          <p:cNvSpPr/>
          <p:nvPr/>
        </p:nvSpPr>
        <p:spPr>
          <a:xfrm>
            <a:off x="6473952"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commitment</a:t>
            </a:r>
          </a:p>
        </p:txBody>
      </p:sp>
      <p:sp>
        <p:nvSpPr>
          <p:cNvPr id="14" name="Rounded Rectangle 13"/>
          <p:cNvSpPr/>
          <p:nvPr/>
        </p:nvSpPr>
        <p:spPr>
          <a:xfrm>
            <a:off x="8028432" y="987552"/>
            <a:ext cx="58521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Thank you for the _______ invitation.</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kind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I’d be _______ to attend.</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delighted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Unfortunately, I won’t be able to make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I’m afraid I have a prior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commitment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Please send my _______ to the team.</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apologies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Can I get back to you _______ that by Friday?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拼写与时态): commitment (double m, one t), apologies, delighted (not “delited”), definitely (not “definately”). After won’t be able to use the base verb: “I won’t be able to attend.”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Accepting and asking a question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接受邀请并询问细节</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Ms Ortiz replies to Fiona’s invitation to the product launch. She accepts and asks about logistics.</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Accepting and asking a question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accept an invitation to a business event.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The event you accept: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Reader</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Reads your reply and answers your question.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Thank you for the kind invitation. · I’d be delighted to attend. · I can confirm that… · Could you tell me…? · I’m looking forward to it.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Accept, confirm numbers, ask 2 questions. 80–110 words.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are not sure yet. Write: “Can I get back to you by Friday? I need to check my diary.”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want to bring a guest: “Would it be possible to bring a colleague?”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personal line: “I’ve heard great things about your new range.”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Declining politely and suggesting an alternative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礼貌拒绝并提出替代方案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cannot go to the dinner because of a trip. You decline by phone and suggest a different date.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Fiona Gao, host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Park, client</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Declining politely and suggesting an alternative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Fiona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Mr Park. It’s Fiona from Orion. I’m calling about the dinner on Friday. Have you had a chance to check your diary?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Park</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Fiona. Yes, I have. Thank you so much for the invitation, but I’m afraid I won’t be able to make it.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that’s a shame. Is it a work trip?</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have a prior commitment in Busan that evening. I’m really sorry.</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all. I completely understand. Thank you for letting me know.</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really like to meet the team, though. Would it be possible to meet during my next visit?</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Declining politely and suggesting an alternative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When are you next in Shanghai?</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the first week of December. I could do a lunch instead of a dinner.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Lunch on the third or fourth would suit us fine. I’ll send you a new invitation.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Please send my apologies to the team on Friday.</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Have a good trip!</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See you in December.</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Declining politely and suggesting an alternative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decline an invitation but want to keep the relationship.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Invited guest. Decline and suggest an alternative.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Host. Disappointed but understanding.</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I won’t be able to make it. · prior commitment · Please send my apologies. · Maybe next time. · Would it be possible…?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no kindly, give a short reason, and keep the next date open.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Decline without a reason: “I’m afraid I won’t be able to join, but thank you for thinking of me.”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host asks again: “Are you sure you can’t move it?” Stay polite: “I wish I could, but it’s fixed.”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the same reply as a 3-line email.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decline a business invitation? When?</a:t>
            </a:r>
          </a:p>
          <a:p>
            <a:pPr algn="l">
              <a:lnSpc>
                <a:spcPct val="115000"/>
              </a:lnSpc>
              <a:spcAft>
                <a:spcPts val="800"/>
              </a:spcAft>
            </a:pPr>
            <a:r>
              <a:rPr sz="1400" b="0">
                <a:solidFill>
                  <a:srgbClr val="5F677A"/>
                </a:solidFill>
                <a:latin typeface="Arial"/>
                <a:ea typeface="Microsoft YaHei"/>
              </a:rPr>
              <a:t>💬 “It’s fine to decline if…” / “I think it is important to go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decline without hurting the relationship?</a:t>
            </a:r>
          </a:p>
          <a:p>
            <a:pPr algn="l">
              <a:lnSpc>
                <a:spcPct val="115000"/>
              </a:lnSpc>
              <a:spcAft>
                <a:spcPts val="800"/>
              </a:spcAft>
            </a:pPr>
            <a:r>
              <a:rPr sz="1400" b="0">
                <a:solidFill>
                  <a:srgbClr val="5F677A"/>
                </a:solidFill>
                <a:latin typeface="Arial"/>
                <a:ea typeface="Microsoft YaHei"/>
              </a:rPr>
              <a:t>💬 “I always say thank you first.” / “I suggest another date.”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soon should you reply to an invitation?</a:t>
            </a:r>
          </a:p>
          <a:p>
            <a:pPr algn="l">
              <a:lnSpc>
                <a:spcPct val="115000"/>
              </a:lnSpc>
              <a:spcAft>
                <a:spcPts val="800"/>
              </a:spcAft>
            </a:pPr>
            <a:r>
              <a:rPr sz="1400" b="0">
                <a:solidFill>
                  <a:srgbClr val="5F677A"/>
                </a:solidFill>
                <a:latin typeface="Arial"/>
                <a:ea typeface="Microsoft YaHei"/>
              </a:rPr>
              <a:t>💬 “As soon as I know, ideally within…” / “If I can’t decide, I say ‘I’ll confirm by…’.”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give a reason when you say no?</a:t>
            </a:r>
          </a:p>
          <a:p>
            <a:pPr algn="l">
              <a:lnSpc>
                <a:spcPct val="115000"/>
              </a:lnSpc>
              <a:spcAft>
                <a:spcPts val="800"/>
              </a:spcAft>
            </a:pPr>
            <a:r>
              <a:rPr sz="1400" b="0">
                <a:solidFill>
                  <a:srgbClr val="5F677A"/>
                </a:solidFill>
                <a:latin typeface="Arial"/>
                <a:ea typeface="Microsoft YaHei"/>
              </a:rPr>
              <a:t>💬 “A short reason is helpful, such as…” / “I don’t give details if it’s private.”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you accepted an invitation and then could not go?</a:t>
            </a:r>
          </a:p>
          <a:p>
            <a:pPr algn="l">
              <a:lnSpc>
                <a:spcPct val="115000"/>
              </a:lnSpc>
              <a:spcAft>
                <a:spcPts val="800"/>
              </a:spcAft>
            </a:pPr>
            <a:r>
              <a:rPr sz="1400" b="0">
                <a:solidFill>
                  <a:srgbClr val="5F677A"/>
                </a:solidFill>
                <a:latin typeface="Arial"/>
                <a:ea typeface="Microsoft YaHei"/>
              </a:rPr>
              <a:t>💬 “I would tell the host immediately and say…” / “I’d apologize and, if possible, send a colleague.”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is easier for me to say no when I think about the other person’s feelings. First, I thank them. Then I say,”I’m afraid I won’t be able to make it”, with a short reason, for example, “I have a prior commitment.” Finally, I suggest another time, like “Maybe next time” or “Could we have lunch next month?” This way, the other person feels that I value the relationship, not only the event.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“value the relationship”(重视这段关系)是商务常用搭配。“not only the event” 表示“而不仅是这次活动”。“This way,…”(这样一来)可单独用。</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Email template: reply to an invitation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回复邀请邮件模板</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Accept ✓</a:t>
                      </a:r>
                    </a:p>
                  </a:txBody>
                  <a:tcPr anchor="ctr">
                    <a:solidFill>
                      <a:srgbClr val="3CC49A"/>
                    </a:solidFill>
                  </a:tcPr>
                </a:tc>
                <a:tc>
                  <a:txBody>
                    <a:bodyPr wrap="square"/>
                    <a:lstStyle/>
                    <a:p>
                      <a:r>
                        <a:rPr sz="1600" b="1">
                          <a:solidFill>
                            <a:srgbClr val="FFFFFF"/>
                          </a:solidFill>
                          <a:latin typeface="Arial"/>
                          <a:ea typeface="Microsoft YaHei"/>
                        </a:rPr>
                        <a:t>Decline ✓</a:t>
                      </a:r>
                    </a:p>
                  </a:txBody>
                  <a:tcPr anchor="ctr">
                    <a:solidFill>
                      <a:srgbClr val="3CC49A"/>
                    </a:solidFill>
                  </a:tcPr>
                </a:tc>
              </a:tr>
              <a:tr h="408432">
                <a:tc>
                  <a:txBody>
                    <a:bodyPr wrap="square"/>
                    <a:lstStyle/>
                    <a:p>
                      <a:r>
                        <a:rPr sz="1600" b="1">
                          <a:solidFill>
                            <a:srgbClr val="1F2A44"/>
                          </a:solidFill>
                          <a:latin typeface="Arial"/>
                          <a:ea typeface="Microsoft YaHei"/>
                        </a:rPr>
                        <a:t>Subject</a:t>
                      </a:r>
                    </a:p>
                  </a:txBody>
                  <a:tcPr anchor="ctr">
                    <a:solidFill>
                      <a:srgbClr val="FFFFFF"/>
                    </a:solidFill>
                  </a:tcPr>
                </a:tc>
                <a:tc>
                  <a:txBody>
                    <a:bodyPr wrap="square"/>
                    <a:lstStyle/>
                    <a:p>
                      <a:r>
                        <a:rPr sz="1600" b="0">
                          <a:solidFill>
                            <a:srgbClr val="1F2A44"/>
                          </a:solidFill>
                          <a:latin typeface="Arial"/>
                          <a:ea typeface="Microsoft YaHei"/>
                        </a:rPr>
                        <a:t>RE: Invitation: [event]</a:t>
                      </a:r>
                    </a:p>
                  </a:txBody>
                  <a:tcPr anchor="ctr">
                    <a:solidFill>
                      <a:srgbClr val="FFFFFF"/>
                    </a:solidFill>
                  </a:tcPr>
                </a:tc>
                <a:tc>
                  <a:txBody>
                    <a:bodyPr wrap="square"/>
                    <a:lstStyle/>
                    <a:p>
                      <a:r>
                        <a:rPr sz="1600" b="0">
                          <a:solidFill>
                            <a:srgbClr val="1F2A44"/>
                          </a:solidFill>
                          <a:latin typeface="Arial"/>
                          <a:ea typeface="Microsoft YaHei"/>
                        </a:rPr>
                        <a:t>RE: Invitation: [event]</a:t>
                      </a:r>
                    </a:p>
                  </a:txBody>
                  <a:tcPr anchor="ctr">
                    <a:solidFill>
                      <a:srgbClr val="FFFFFF"/>
                    </a:solidFill>
                  </a:tcPr>
                </a:tc>
              </a:tr>
              <a:tr h="408432">
                <a:tc>
                  <a:txBody>
                    <a:bodyPr wrap="square"/>
                    <a:lstStyle/>
                    <a:p>
                      <a:r>
                        <a:rPr sz="1600" b="1">
                          <a:solidFill>
                            <a:srgbClr val="1F2A44"/>
                          </a:solidFill>
                          <a:latin typeface="Arial"/>
                          <a:ea typeface="Microsoft YaHei"/>
                        </a:rPr>
                        <a:t>Opening</a:t>
                      </a:r>
                    </a:p>
                  </a:txBody>
                  <a:tcPr anchor="ctr">
                    <a:solidFill>
                      <a:srgbClr val="FFEFD9"/>
                    </a:solidFill>
                  </a:tcPr>
                </a:tc>
                <a:tc>
                  <a:txBody>
                    <a:bodyPr wrap="square"/>
                    <a:lstStyle/>
                    <a:p>
                      <a:r>
                        <a:rPr sz="1600" b="0">
                          <a:solidFill>
                            <a:srgbClr val="1F2A44"/>
                          </a:solidFill>
                          <a:latin typeface="Arial"/>
                          <a:ea typeface="Microsoft YaHei"/>
                        </a:rPr>
                        <a:t>Dear Fiona,</a:t>
                      </a:r>
                    </a:p>
                  </a:txBody>
                  <a:tcPr anchor="ctr">
                    <a:solidFill>
                      <a:srgbClr val="FFEFD9"/>
                    </a:solidFill>
                  </a:tcPr>
                </a:tc>
                <a:tc>
                  <a:txBody>
                    <a:bodyPr wrap="square"/>
                    <a:lstStyle/>
                    <a:p>
                      <a:r>
                        <a:rPr sz="1600" b="0">
                          <a:solidFill>
                            <a:srgbClr val="1F2A44"/>
                          </a:solidFill>
                          <a:latin typeface="Arial"/>
                          <a:ea typeface="Microsoft YaHei"/>
                        </a:rPr>
                        <a:t>Dear Fiona,</a:t>
                      </a:r>
                    </a:p>
                  </a:txBody>
                  <a:tcPr anchor="ctr">
                    <a:solidFill>
                      <a:srgbClr val="FFEFD9"/>
                    </a:solidFill>
                  </a:tcPr>
                </a:tc>
              </a:tr>
              <a:tr h="652272">
                <a:tc>
                  <a:txBody>
                    <a:bodyPr wrap="square"/>
                    <a:lstStyle/>
                    <a:p>
                      <a:r>
                        <a:rPr sz="1600" b="1">
                          <a:solidFill>
                            <a:srgbClr val="1F2A44"/>
                          </a:solidFill>
                          <a:latin typeface="Arial"/>
                          <a:ea typeface="Microsoft YaHei"/>
                        </a:rPr>
                        <a:t>Thanks</a:t>
                      </a:r>
                    </a:p>
                  </a:txBody>
                  <a:tcPr anchor="ctr">
                    <a:solidFill>
                      <a:srgbClr val="FFFFFF"/>
                    </a:solidFill>
                  </a:tcPr>
                </a:tc>
                <a:tc>
                  <a:txBody>
                    <a:bodyPr wrap="square"/>
                    <a:lstStyle/>
                    <a:p>
                      <a:r>
                        <a:rPr sz="1600" b="0">
                          <a:solidFill>
                            <a:srgbClr val="1F2A44"/>
                          </a:solidFill>
                          <a:latin typeface="Arial"/>
                          <a:ea typeface="Microsoft YaHei"/>
                        </a:rPr>
                        <a:t>Thank you very much for the kind invitation.</a:t>
                      </a:r>
                    </a:p>
                  </a:txBody>
                  <a:tcPr anchor="ctr">
                    <a:solidFill>
                      <a:srgbClr val="FFFFFF"/>
                    </a:solidFill>
                  </a:tcPr>
                </a:tc>
                <a:tc>
                  <a:txBody>
                    <a:bodyPr wrap="square"/>
                    <a:lstStyle/>
                    <a:p>
                      <a:r>
                        <a:rPr sz="1600" b="0">
                          <a:solidFill>
                            <a:srgbClr val="1F2A44"/>
                          </a:solidFill>
                          <a:latin typeface="Arial"/>
                          <a:ea typeface="Microsoft YaHei"/>
                        </a:rPr>
                        <a:t>Thank you very much for inviting me.</a:t>
                      </a:r>
                    </a:p>
                  </a:txBody>
                  <a:tcPr anchor="ctr">
                    <a:solidFill>
                      <a:srgbClr val="FFFFFF"/>
                    </a:solidFill>
                  </a:tcPr>
                </a:tc>
              </a:tr>
              <a:tr h="652272">
                <a:tc>
                  <a:txBody>
                    <a:bodyPr wrap="square"/>
                    <a:lstStyle/>
                    <a:p>
                      <a:r>
                        <a:rPr sz="1600" b="1">
                          <a:solidFill>
                            <a:srgbClr val="1F2A44"/>
                          </a:solidFill>
                          <a:latin typeface="Arial"/>
                          <a:ea typeface="Microsoft YaHei"/>
                        </a:rPr>
                        <a:t>Answer</a:t>
                      </a:r>
                    </a:p>
                  </a:txBody>
                  <a:tcPr anchor="ctr">
                    <a:solidFill>
                      <a:srgbClr val="FFEFD9"/>
                    </a:solidFill>
                  </a:tcPr>
                </a:tc>
                <a:tc>
                  <a:txBody>
                    <a:bodyPr wrap="square"/>
                    <a:lstStyle/>
                    <a:p>
                      <a:r>
                        <a:rPr sz="1600" b="0">
                          <a:solidFill>
                            <a:srgbClr val="1F2A44"/>
                          </a:solidFill>
                          <a:latin typeface="Arial"/>
                          <a:ea typeface="Microsoft YaHei"/>
                        </a:rPr>
                        <a:t>I’d be delighted to attend.</a:t>
                      </a:r>
                    </a:p>
                  </a:txBody>
                  <a:tcPr anchor="ctr">
                    <a:solidFill>
                      <a:srgbClr val="FFEFD9"/>
                    </a:solidFill>
                  </a:tcPr>
                </a:tc>
                <a:tc>
                  <a:txBody>
                    <a:bodyPr wrap="square"/>
                    <a:lstStyle/>
                    <a:p>
                      <a:r>
                        <a:rPr sz="1600" b="0">
                          <a:solidFill>
                            <a:srgbClr val="1F2A44"/>
                          </a:solidFill>
                          <a:latin typeface="Arial"/>
                          <a:ea typeface="Microsoft YaHei"/>
                        </a:rPr>
                        <a:t>I’m afraid I won’t be able to make it.</a:t>
                      </a:r>
                    </a:p>
                  </a:txBody>
                  <a:tcPr anchor="ctr">
                    <a:solidFill>
                      <a:srgbClr val="FFEFD9"/>
                    </a:solidFill>
                  </a:tcPr>
                </a:tc>
              </a:tr>
            </a:tbl>
          </a:graphicData>
        </a:graphic>
      </p:graphicFrame>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Email template: reply to an invitation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回复邀请邮件模板</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Part</a:t>
                      </a:r>
                    </a:p>
                  </a:txBody>
                  <a:tcPr anchor="ctr">
                    <a:solidFill>
                      <a:srgbClr val="3CC49A"/>
                    </a:solidFill>
                  </a:tcPr>
                </a:tc>
                <a:tc>
                  <a:txBody>
                    <a:bodyPr wrap="square"/>
                    <a:lstStyle/>
                    <a:p>
                      <a:r>
                        <a:rPr sz="1600" b="1">
                          <a:solidFill>
                            <a:srgbClr val="FFFFFF"/>
                          </a:solidFill>
                          <a:latin typeface="Arial"/>
                          <a:ea typeface="Microsoft YaHei"/>
                        </a:rPr>
                        <a:t>Accept ✓</a:t>
                      </a:r>
                    </a:p>
                  </a:txBody>
                  <a:tcPr anchor="ctr">
                    <a:solidFill>
                      <a:srgbClr val="3CC49A"/>
                    </a:solidFill>
                  </a:tcPr>
                </a:tc>
                <a:tc>
                  <a:txBody>
                    <a:bodyPr wrap="square"/>
                    <a:lstStyle/>
                    <a:p>
                      <a:r>
                        <a:rPr sz="1600" b="1">
                          <a:solidFill>
                            <a:srgbClr val="FFFFFF"/>
                          </a:solidFill>
                          <a:latin typeface="Arial"/>
                          <a:ea typeface="Microsoft YaHei"/>
                        </a:rPr>
                        <a:t>Decline ✓</a:t>
                      </a:r>
                    </a:p>
                  </a:txBody>
                  <a:tcPr anchor="ctr">
                    <a:solidFill>
                      <a:srgbClr val="3CC49A"/>
                    </a:solidFill>
                  </a:tcPr>
                </a:tc>
              </a:tr>
              <a:tr h="652272">
                <a:tc>
                  <a:txBody>
                    <a:bodyPr wrap="square"/>
                    <a:lstStyle/>
                    <a:p>
                      <a:r>
                        <a:rPr sz="1600" b="1">
                          <a:solidFill>
                            <a:srgbClr val="1F2A44"/>
                          </a:solidFill>
                          <a:latin typeface="Arial"/>
                          <a:ea typeface="Microsoft YaHei"/>
                        </a:rPr>
                        <a:t>Detail</a:t>
                      </a:r>
                    </a:p>
                  </a:txBody>
                  <a:tcPr anchor="ctr">
                    <a:solidFill>
                      <a:srgbClr val="FFFFFF"/>
                    </a:solidFill>
                  </a:tcPr>
                </a:tc>
                <a:tc>
                  <a:txBody>
                    <a:bodyPr wrap="square"/>
                    <a:lstStyle/>
                    <a:p>
                      <a:r>
                        <a:rPr sz="1600" b="0">
                          <a:solidFill>
                            <a:srgbClr val="1F2A44"/>
                          </a:solidFill>
                          <a:latin typeface="Arial"/>
                          <a:ea typeface="Microsoft YaHei"/>
                        </a:rPr>
                        <a:t>Two of us will attend. / Could you tell me…?</a:t>
                      </a:r>
                    </a:p>
                  </a:txBody>
                  <a:tcPr anchor="ctr">
                    <a:solidFill>
                      <a:srgbClr val="FFFFFF"/>
                    </a:solidFill>
                  </a:tcPr>
                </a:tc>
                <a:tc>
                  <a:txBody>
                    <a:bodyPr wrap="square"/>
                    <a:lstStyle/>
                    <a:p>
                      <a:r>
                        <a:rPr sz="1600" b="0">
                          <a:solidFill>
                            <a:srgbClr val="1F2A44"/>
                          </a:solidFill>
                          <a:latin typeface="Arial"/>
                          <a:ea typeface="Microsoft YaHei"/>
                        </a:rPr>
                        <a:t>I have a prior commitment that day.</a:t>
                      </a:r>
                    </a:p>
                  </a:txBody>
                  <a:tcPr anchor="ctr">
                    <a:solidFill>
                      <a:srgbClr val="FFFFFF"/>
                    </a:solidFill>
                  </a:tcPr>
                </a:tc>
              </a:tr>
              <a:tr h="652272">
                <a:tc>
                  <a:txBody>
                    <a:bodyPr wrap="square"/>
                    <a:lstStyle/>
                    <a:p>
                      <a:r>
                        <a:rPr sz="1600" b="1">
                          <a:solidFill>
                            <a:srgbClr val="1F2A44"/>
                          </a:solidFill>
                          <a:latin typeface="Arial"/>
                          <a:ea typeface="Microsoft YaHei"/>
                        </a:rPr>
                        <a:t>Alternative</a:t>
                      </a:r>
                    </a:p>
                  </a:txBody>
                  <a:tcPr anchor="ctr">
                    <a:solidFill>
                      <a:srgbClr val="FFEFD9"/>
                    </a:solidFill>
                  </a:tcPr>
                </a:tc>
                <a:tc>
                  <a:txBody>
                    <a:bodyPr wrap="square"/>
                    <a:lstStyle/>
                    <a:p>
                      <a:r>
                        <a:rPr sz="1600" b="0">
                          <a:solidFill>
                            <a:srgbClr val="1F2A44"/>
                          </a:solidFill>
                          <a:latin typeface="Arial"/>
                          <a:ea typeface="Microsoft YaHei"/>
                        </a:rPr>
                        <a:t>—</a:t>
                      </a:r>
                    </a:p>
                  </a:txBody>
                  <a:tcPr anchor="ctr">
                    <a:solidFill>
                      <a:srgbClr val="FFEFD9"/>
                    </a:solidFill>
                  </a:tcPr>
                </a:tc>
                <a:tc>
                  <a:txBody>
                    <a:bodyPr wrap="square"/>
                    <a:lstStyle/>
                    <a:p>
                      <a:r>
                        <a:rPr sz="1600" b="0">
                          <a:solidFill>
                            <a:srgbClr val="1F2A44"/>
                          </a:solidFill>
                          <a:latin typeface="Arial"/>
                          <a:ea typeface="Microsoft YaHei"/>
                        </a:rPr>
                        <a:t>Maybe next time. / Could we meet in December?</a:t>
                      </a:r>
                    </a:p>
                  </a:txBody>
                  <a:tcPr anchor="ctr">
                    <a:solidFill>
                      <a:srgbClr val="FFEFD9"/>
                    </a:solidFill>
                  </a:tcPr>
                </a:tc>
              </a:tr>
              <a:tr h="652272">
                <a:tc>
                  <a:txBody>
                    <a:bodyPr wrap="square"/>
                    <a:lstStyle/>
                    <a:p>
                      <a:r>
                        <a:rPr sz="1600" b="1">
                          <a:solidFill>
                            <a:srgbClr val="1F2A44"/>
                          </a:solidFill>
                          <a:latin typeface="Arial"/>
                          <a:ea typeface="Microsoft YaHei"/>
                        </a:rPr>
                        <a:t>Closing</a:t>
                      </a:r>
                    </a:p>
                  </a:txBody>
                  <a:tcPr anchor="ctr">
                    <a:solidFill>
                      <a:srgbClr val="FFFFFF"/>
                    </a:solidFill>
                  </a:tcPr>
                </a:tc>
                <a:tc>
                  <a:txBody>
                    <a:bodyPr wrap="square"/>
                    <a:lstStyle/>
                    <a:p>
                      <a:r>
                        <a:rPr sz="1600" b="0">
                          <a:solidFill>
                            <a:srgbClr val="1F2A44"/>
                          </a:solidFill>
                          <a:latin typeface="Arial"/>
                          <a:ea typeface="Microsoft YaHei"/>
                        </a:rPr>
                        <a:t>I’m looking forward to it.</a:t>
                      </a:r>
                    </a:p>
                  </a:txBody>
                  <a:tcPr anchor="ctr">
                    <a:solidFill>
                      <a:srgbClr val="FFFFFF"/>
                    </a:solidFill>
                  </a:tcPr>
                </a:tc>
                <a:tc>
                  <a:txBody>
                    <a:bodyPr wrap="square"/>
                    <a:lstStyle/>
                    <a:p>
                      <a:r>
                        <a:rPr sz="1600" b="0">
                          <a:solidFill>
                            <a:srgbClr val="1F2A44"/>
                          </a:solidFill>
                          <a:latin typeface="Arial"/>
                          <a:ea typeface="Microsoft YaHei"/>
                        </a:rPr>
                        <a:t>Please send my apologies to the team.</a:t>
                      </a:r>
                    </a:p>
                  </a:txBody>
                  <a:tcPr anchor="ctr">
                    <a:solidFill>
                      <a:srgbClr val="FFFFFF"/>
                    </a:solidFill>
                  </a:tcPr>
                </a:tc>
              </a:tr>
              <a:tr h="408432">
                <a:tc>
                  <a:txBody>
                    <a:bodyPr wrap="square"/>
                    <a:lstStyle/>
                    <a:p>
                      <a:r>
                        <a:rPr sz="1600" b="1">
                          <a:solidFill>
                            <a:srgbClr val="1F2A44"/>
                          </a:solidFill>
                          <a:latin typeface="Arial"/>
                          <a:ea typeface="Microsoft YaHei"/>
                        </a:rPr>
                        <a:t>Sign-off</a:t>
                      </a:r>
                    </a:p>
                  </a:txBody>
                  <a:tcPr anchor="ctr">
                    <a:solidFill>
                      <a:srgbClr val="FFEFD9"/>
                    </a:solidFill>
                  </a:tcPr>
                </a:tc>
                <a:tc>
                  <a:txBody>
                    <a:bodyPr wrap="square"/>
                    <a:lstStyle/>
                    <a:p>
                      <a:r>
                        <a:rPr sz="1600" b="0">
                          <a:solidFill>
                            <a:srgbClr val="1F2A44"/>
                          </a:solidFill>
                          <a:latin typeface="Arial"/>
                          <a:ea typeface="Microsoft YaHei"/>
                        </a:rPr>
                        <a:t>Kind regards, + name</a:t>
                      </a:r>
                    </a:p>
                  </a:txBody>
                  <a:tcPr anchor="ctr">
                    <a:solidFill>
                      <a:srgbClr val="FFEFD9"/>
                    </a:solidFill>
                  </a:tcPr>
                </a:tc>
                <a:tc>
                  <a:txBody>
                    <a:bodyPr wrap="square"/>
                    <a:lstStyle/>
                    <a:p>
                      <a:r>
                        <a:rPr sz="1600" b="0">
                          <a:solidFill>
                            <a:srgbClr val="1F2A44"/>
                          </a:solidFill>
                          <a:latin typeface="Arial"/>
                          <a:ea typeface="Microsoft YaHei"/>
                        </a:rPr>
                        <a:t>Kind regards, + name</a:t>
                      </a:r>
                    </a:p>
                  </a:txBody>
                  <a:tcPr anchor="ctr">
                    <a:solidFill>
                      <a:srgbClr val="FFEFD9"/>
                    </a:solidFill>
                  </a:tcPr>
                </a:tc>
              </a:tr>
            </a:tbl>
          </a:graphicData>
        </a:graphic>
      </p:graphicFrame>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Phrase bank: accepting, declining, maybe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句型库</a:t>
            </a:r>
          </a:p>
        </p:txBody>
      </p:sp>
      <p:graphicFrame>
        <p:nvGraphicFramePr>
          <p:cNvPr id="9" name="Table 8"/>
          <p:cNvGraphicFramePr>
            <a:graphicFrameLocks noGrp="1"/>
          </p:cNvGraphicFramePr>
          <p:nvPr/>
        </p:nvGraphicFramePr>
        <p:xfrm>
          <a:off x="548640" y="1417320"/>
          <a:ext cx="11094415" cy="383438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Answer</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Accept</a:t>
                      </a:r>
                    </a:p>
                  </a:txBody>
                  <a:tcPr anchor="ctr">
                    <a:solidFill>
                      <a:srgbClr val="FFFFFF"/>
                    </a:solidFill>
                  </a:tcPr>
                </a:tc>
                <a:tc>
                  <a:txBody>
                    <a:bodyPr wrap="square"/>
                    <a:lstStyle/>
                    <a:p>
                      <a:r>
                        <a:rPr sz="1600" b="0">
                          <a:solidFill>
                            <a:srgbClr val="1F2A44"/>
                          </a:solidFill>
                          <a:latin typeface="Arial"/>
                          <a:ea typeface="Microsoft YaHei"/>
                        </a:rPr>
                        <a:t>I’d be delighted to. / I’d love to. / Please count me in. ★</a:t>
                      </a:r>
                    </a:p>
                  </a:txBody>
                  <a:tcPr anchor="ctr">
                    <a:solidFill>
                      <a:srgbClr val="FFFFFF"/>
                    </a:solidFill>
                  </a:tcPr>
                </a:tc>
              </a:tr>
              <a:tr h="408432">
                <a:tc>
                  <a:txBody>
                    <a:bodyPr wrap="square"/>
                    <a:lstStyle/>
                    <a:p>
                      <a:r>
                        <a:rPr sz="1600" b="1">
                          <a:solidFill>
                            <a:srgbClr val="1F2A44"/>
                          </a:solidFill>
                          <a:latin typeface="Arial"/>
                          <a:ea typeface="Microsoft YaHei"/>
                        </a:rPr>
                        <a:t>Accept with condition</a:t>
                      </a:r>
                    </a:p>
                  </a:txBody>
                  <a:tcPr anchor="ctr">
                    <a:solidFill>
                      <a:srgbClr val="FFEFD9"/>
                    </a:solidFill>
                  </a:tcPr>
                </a:tc>
                <a:tc>
                  <a:txBody>
                    <a:bodyPr wrap="square"/>
                    <a:lstStyle/>
                    <a:p>
                      <a:r>
                        <a:rPr sz="1600" b="0">
                          <a:solidFill>
                            <a:srgbClr val="1F2A44"/>
                          </a:solidFill>
                          <a:latin typeface="Arial"/>
                          <a:ea typeface="Microsoft YaHei"/>
                        </a:rPr>
                        <a:t>I’d love to, as long as I can leave by 9.</a:t>
                      </a:r>
                    </a:p>
                  </a:txBody>
                  <a:tcPr anchor="ctr">
                    <a:solidFill>
                      <a:srgbClr val="FFEFD9"/>
                    </a:solidFill>
                  </a:tcPr>
                </a:tc>
              </a:tr>
              <a:tr h="652272">
                <a:tc>
                  <a:txBody>
                    <a:bodyPr wrap="square"/>
                    <a:lstStyle/>
                    <a:p>
                      <a:r>
                        <a:rPr sz="1600" b="1">
                          <a:solidFill>
                            <a:srgbClr val="1F2A44"/>
                          </a:solidFill>
                          <a:latin typeface="Arial"/>
                          <a:ea typeface="Microsoft YaHei"/>
                        </a:rPr>
                        <a:t>Maybe</a:t>
                      </a:r>
                    </a:p>
                  </a:txBody>
                  <a:tcPr anchor="ctr">
                    <a:solidFill>
                      <a:srgbClr val="FFFFFF"/>
                    </a:solidFill>
                  </a:tcPr>
                </a:tc>
                <a:tc>
                  <a:txBody>
                    <a:bodyPr wrap="square"/>
                    <a:lstStyle/>
                    <a:p>
                      <a:r>
                        <a:rPr sz="1600" b="0">
                          <a:solidFill>
                            <a:srgbClr val="1F2A44"/>
                          </a:solidFill>
                          <a:latin typeface="Arial"/>
                          <a:ea typeface="Microsoft YaHei"/>
                        </a:rPr>
                        <a:t>I’ll have to check my diary and confirm. ★ / Can I get back to you by Friday? ★</a:t>
                      </a:r>
                    </a:p>
                  </a:txBody>
                  <a:tcPr anchor="ctr">
                    <a:solidFill>
                      <a:srgbClr val="FFFFFF"/>
                    </a:solidFill>
                  </a:tcPr>
                </a:tc>
              </a:tr>
              <a:tr h="652272">
                <a:tc>
                  <a:txBody>
                    <a:bodyPr wrap="square"/>
                    <a:lstStyle/>
                    <a:p>
                      <a:r>
                        <a:rPr sz="1600" b="1">
                          <a:solidFill>
                            <a:srgbClr val="1F2A44"/>
                          </a:solidFill>
                          <a:latin typeface="Arial"/>
                          <a:ea typeface="Microsoft YaHei"/>
                        </a:rPr>
                        <a:t>Decline (soft)</a:t>
                      </a:r>
                    </a:p>
                  </a:txBody>
                  <a:tcPr anchor="ctr">
                    <a:solidFill>
                      <a:srgbClr val="FFEFD9"/>
                    </a:solidFill>
                  </a:tcPr>
                </a:tc>
                <a:tc>
                  <a:txBody>
                    <a:bodyPr wrap="square"/>
                    <a:lstStyle/>
                    <a:p>
                      <a:r>
                        <a:rPr sz="1600" b="0">
                          <a:solidFill>
                            <a:srgbClr val="1F2A44"/>
                          </a:solidFill>
                          <a:latin typeface="Arial"/>
                          <a:ea typeface="Microsoft YaHei"/>
                        </a:rPr>
                        <a:t>Unfortunately, I won’t be able to make it. / I’m afraid I can’t.</a:t>
                      </a:r>
                    </a:p>
                  </a:txBody>
                  <a:tcPr anchor="ctr">
                    <a:solidFill>
                      <a:srgbClr val="FFEFD9"/>
                    </a:solidFill>
                  </a:tcPr>
                </a:tc>
              </a:tr>
              <a:tr h="652272">
                <a:tc>
                  <a:txBody>
                    <a:bodyPr wrap="square"/>
                    <a:lstStyle/>
                    <a:p>
                      <a:r>
                        <a:rPr sz="1600" b="1">
                          <a:solidFill>
                            <a:srgbClr val="1F2A44"/>
                          </a:solidFill>
                          <a:latin typeface="Arial"/>
                          <a:ea typeface="Microsoft YaHei"/>
                        </a:rPr>
                        <a:t>Decline (formal) ★</a:t>
                      </a:r>
                    </a:p>
                  </a:txBody>
                  <a:tcPr anchor="ctr">
                    <a:solidFill>
                      <a:srgbClr val="FFFFFF"/>
                    </a:solidFill>
                  </a:tcPr>
                </a:tc>
                <a:tc>
                  <a:txBody>
                    <a:bodyPr wrap="square"/>
                    <a:lstStyle/>
                    <a:p>
                      <a:r>
                        <a:rPr sz="1600" b="0">
                          <a:solidFill>
                            <a:srgbClr val="1F2A44"/>
                          </a:solidFill>
                          <a:latin typeface="Arial"/>
                          <a:ea typeface="Microsoft YaHei"/>
                        </a:rPr>
                        <a:t>I regret that I am unable to attend due to a prior commitment.</a:t>
                      </a:r>
                    </a:p>
                  </a:txBody>
                  <a:tcPr anchor="ctr">
                    <a:solidFill>
                      <a:srgbClr val="FFFFFF"/>
                    </a:solidFill>
                  </a:tcPr>
                </a:tc>
              </a:tr>
              <a:tr h="408432">
                <a:tc>
                  <a:txBody>
                    <a:bodyPr wrap="square"/>
                    <a:lstStyle/>
                    <a:p>
                      <a:r>
                        <a:rPr sz="1600" b="1">
                          <a:solidFill>
                            <a:srgbClr val="1F2A44"/>
                          </a:solidFill>
                          <a:latin typeface="Arial"/>
                          <a:ea typeface="Microsoft YaHei"/>
                        </a:rPr>
                        <a:t>Alternative</a:t>
                      </a:r>
                    </a:p>
                  </a:txBody>
                  <a:tcPr anchor="ctr">
                    <a:solidFill>
                      <a:srgbClr val="FFEFD9"/>
                    </a:solidFill>
                  </a:tcPr>
                </a:tc>
                <a:tc>
                  <a:txBody>
                    <a:bodyPr wrap="square"/>
                    <a:lstStyle/>
                    <a:p>
                      <a:r>
                        <a:rPr sz="1600" b="0">
                          <a:solidFill>
                            <a:srgbClr val="1F2A44"/>
                          </a:solidFill>
                          <a:latin typeface="Arial"/>
                          <a:ea typeface="Microsoft YaHei"/>
                        </a:rPr>
                        <a:t>Maybe next time. / Could we meet another day?</a:t>
                      </a:r>
                    </a:p>
                  </a:txBody>
                  <a:tcPr anchor="ctr">
                    <a:solidFill>
                      <a:srgbClr val="FFEFD9"/>
                    </a:solidFill>
                  </a:tcPr>
                </a:tc>
              </a:tr>
            </a:tbl>
          </a:graphicData>
        </a:graphic>
      </p:graphicFrame>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Phrase bank: accepting, declining, maybe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句型库</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Won’t be able to is softer than can’t. “I can’t come” sounds flat; “I won’t be able to make it” sounds regretful.</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Make it = manage to attend: </a:t>
            </a:r>
            <a:r>
              <a:rPr sz="1700" b="0">
                <a:solidFill>
                  <a:srgbClr val="1F2A44"/>
                </a:solidFill>
                <a:latin typeface="Arial"/>
                <a:ea typeface="Microsoft YaHei"/>
              </a:rPr>
              <a:t>“I can’t make it on Friday.”</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After thank you for, use a noun or -ing: </a:t>
            </a:r>
            <a:r>
              <a:rPr sz="1700" b="0">
                <a:solidFill>
                  <a:srgbClr val="1F2A44"/>
                </a:solidFill>
                <a:latin typeface="Arial"/>
                <a:ea typeface="Microsoft YaHei"/>
              </a:rPr>
              <a:t>“Thank you for inviting me.”</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invite me.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inviting me. / Thank you for the invitation.</a:t>
            </a:r>
          </a:p>
          <a:p>
            <a:pPr algn="l">
              <a:spcAft>
                <a:spcPts val="200"/>
              </a:spcAft>
            </a:pPr>
            <a:r>
              <a:rPr sz="1200" b="0">
                <a:solidFill>
                  <a:srgbClr val="FFFFFF"/>
                </a:solidFill>
                <a:latin typeface="Arial"/>
                <a:ea typeface="Microsoft YaHei"/>
              </a:rPr>
              <a:t>for + -ing / 名词</a:t>
            </a:r>
          </a:p>
        </p:txBody>
      </p:sp>
      <p:sp>
        <p:nvSpPr>
          <p:cNvPr id="11" name="Rounded Rectangle 10"/>
          <p:cNvSpPr/>
          <p:nvPr/>
        </p:nvSpPr>
        <p:spPr>
          <a:xfrm>
            <a:off x="548640" y="240791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go because I very busy.</a:t>
            </a:r>
          </a:p>
        </p:txBody>
      </p:sp>
      <p:sp>
        <p:nvSpPr>
          <p:cNvPr id="12" name="Rounded Rectangle 11"/>
          <p:cNvSpPr/>
          <p:nvPr/>
        </p:nvSpPr>
        <p:spPr>
          <a:xfrm>
            <a:off x="6187287" y="240791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won’t be able to make it because I’m very busy. / I have a prior commitment.</a:t>
            </a:r>
          </a:p>
          <a:p>
            <a:pPr algn="l">
              <a:spcAft>
                <a:spcPts val="200"/>
              </a:spcAft>
            </a:pPr>
            <a:r>
              <a:rPr sz="1200" b="0">
                <a:solidFill>
                  <a:srgbClr val="FFFFFF"/>
                </a:solidFill>
                <a:latin typeface="Arial"/>
                <a:ea typeface="Microsoft YaHei"/>
              </a:rPr>
              <a:t>缺 be 动词;委婉表达</a:t>
            </a:r>
          </a:p>
        </p:txBody>
      </p:sp>
      <p:sp>
        <p:nvSpPr>
          <p:cNvPr id="13" name="Rounded Rectangle 12"/>
          <p:cNvSpPr/>
          <p:nvPr/>
        </p:nvSpPr>
        <p:spPr>
          <a:xfrm>
            <a:off x="548640" y="335279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I no time.</a:t>
            </a:r>
          </a:p>
        </p:txBody>
      </p:sp>
      <p:sp>
        <p:nvSpPr>
          <p:cNvPr id="14" name="Rounded Rectangle 13"/>
          <p:cNvSpPr/>
          <p:nvPr/>
        </p:nvSpPr>
        <p:spPr>
          <a:xfrm>
            <a:off x="6187287" y="335279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I’m already booked up that week.</a:t>
            </a:r>
          </a:p>
          <a:p>
            <a:pPr algn="l">
              <a:spcAft>
                <a:spcPts val="200"/>
              </a:spcAft>
            </a:pPr>
            <a:r>
              <a:rPr sz="1200" b="0">
                <a:solidFill>
                  <a:srgbClr val="FFFFFF"/>
                </a:solidFill>
                <a:latin typeface="Arial"/>
                <a:ea typeface="Microsoft YaHei"/>
              </a:rPr>
              <a:t>太直接,也缺动词</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to attend.</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attend. / I’d be delighted to attend.</a:t>
            </a:r>
          </a:p>
          <a:p>
            <a:pPr algn="l">
              <a:spcAft>
                <a:spcPts val="200"/>
              </a:spcAft>
            </a:pPr>
            <a:r>
              <a:rPr sz="1200" b="0">
                <a:solidFill>
                  <a:srgbClr val="FFFFFF"/>
                </a:solidFill>
                <a:latin typeface="Arial"/>
                <a:ea typeface="Microsoft YaHei"/>
              </a:rPr>
              <a:t>will 后面不加 to</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very happy to be invited.</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be delighted to attend.</a:t>
            </a:r>
          </a:p>
          <a:p>
            <a:pPr algn="l">
              <a:spcAft>
                <a:spcPts val="200"/>
              </a:spcAft>
            </a:pPr>
            <a:r>
              <a:rPr sz="1200" b="0">
                <a:solidFill>
                  <a:srgbClr val="FFFFFF"/>
                </a:solidFill>
                <a:latin typeface="Arial"/>
                <a:ea typeface="Microsoft YaHei"/>
              </a:rPr>
              <a:t>商务邮件用 delighted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should check my diary.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have to check my diary.</a:t>
            </a:r>
          </a:p>
          <a:p>
            <a:pPr algn="l">
              <a:spcAft>
                <a:spcPts val="200"/>
              </a:spcAft>
            </a:pPr>
            <a:r>
              <a:rPr sz="1200" b="0">
                <a:solidFill>
                  <a:srgbClr val="FFFFFF"/>
                </a:solidFill>
                <a:latin typeface="Arial"/>
                <a:ea typeface="Microsoft YaHei"/>
              </a:rPr>
              <a:t>have to 表示必须去做</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go if I will have time.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go if I have time.</a:t>
            </a:r>
          </a:p>
          <a:p>
            <a:pPr algn="l">
              <a:spcAft>
                <a:spcPts val="200"/>
              </a:spcAft>
            </a:pPr>
            <a:r>
              <a:rPr sz="1200" b="0">
                <a:solidFill>
                  <a:srgbClr val="FFFFFF"/>
                </a:solidFill>
                <a:latin typeface="Arial"/>
                <a:ea typeface="Microsoft YaHei"/>
              </a:rPr>
              <a:t>if 从句用现在时表示将来</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excuse me to not attend.</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accept my apologies for not being able to attend.</a:t>
            </a:r>
          </a:p>
          <a:p>
            <a:pPr algn="l">
              <a:spcAft>
                <a:spcPts val="200"/>
              </a:spcAft>
            </a:pPr>
            <a:r>
              <a:rPr sz="1200" b="0">
                <a:solidFill>
                  <a:srgbClr val="FFFFFF"/>
                </a:solidFill>
                <a:latin typeface="Arial"/>
                <a:ea typeface="Microsoft YaHei"/>
              </a:rPr>
              <a:t>固定表达</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comitment / definately</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commitment / definitely</a:t>
            </a:r>
          </a:p>
          <a:p>
            <a:pPr algn="l">
              <a:spcAft>
                <a:spcPts val="200"/>
              </a:spcAft>
            </a:pPr>
            <a:r>
              <a:rPr sz="1200" b="0">
                <a:solidFill>
                  <a:srgbClr val="FFFFFF"/>
                </a:solidFill>
                <a:latin typeface="Arial"/>
                <a:ea typeface="Microsoft YaHei"/>
              </a:rPr>
              <a:t>拼写</a:t>
            </a:r>
          </a:p>
        </p:txBody>
      </p:sp>
      <p:sp>
        <p:nvSpPr>
          <p:cNvPr id="23" name="Rounded Rectangle 2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Thank you for inviting me (-ing), I’ll attend (no “to” after will), if I have time (present for future), a prior commitment.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Answer promptly. In English business culture, silence is rude. If you cannot decide, say when you will answer: “Can I confirm by Friday?”</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A clear “no” is fine. You don’t have to invent a reason. “I have a prior commitment” is enough and does not need more detail.</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Don’t ask for a plus-one unless the invitation says “and guest”. If you want to bring someone, ask: “Would it be possible to bring a colleague?”</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No-shows are costly. Hosts pay for catering per head. If you must cancel, do it at least 24–48 hours before and apologize.</a:t>
            </a:r>
          </a:p>
        </p:txBody>
      </p:sp>
      <p:sp>
        <p:nvSpPr>
          <p:cNvPr id="21" name="Rounded Rectangle 20"/>
          <p:cNvSpPr/>
          <p:nvPr/>
        </p:nvSpPr>
        <p:spPr>
          <a:xfrm>
            <a:off x="548640" y="458723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441959"/>
          </a:xfrm>
          <a:prstGeom prst="rect">
            <a:avLst/>
          </a:prstGeom>
          <a:noFill/>
        </p:spPr>
        <p:txBody>
          <a:bodyPr wrap="square" anchor="ctr">
            <a:spAutoFit/>
          </a:bodyPr>
          <a:lstStyle/>
          <a:p>
            <a:r>
              <a:rPr sz="1700" b="1">
                <a:solidFill>
                  <a:srgbClr val="9B6BE0"/>
                </a:solidFill>
                <a:latin typeface="Arial"/>
                <a:ea typeface="Microsoft YaHei"/>
              </a:rPr>
              <a:t>Thank-you note: </a:t>
            </a:r>
            <a:r>
              <a:rPr sz="1700" b="0">
                <a:solidFill>
                  <a:srgbClr val="1F2A44"/>
                </a:solidFill>
                <a:latin typeface="Arial"/>
                <a:ea typeface="Microsoft YaHei"/>
              </a:rPr>
              <a:t>After attending, a short email “Thank you for a lovely evening” is a good habit.</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accept an invitation with Thank you for the kind invitation. I’d be delighted to attend.</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decline politely with I’m afraid I won’t be able to make it and a short reason.</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about details (dress code, plus-one, parking) politely.</a:t>
            </a:r>
          </a:p>
        </p:txBody>
      </p:sp>
      <p:sp>
        <p:nvSpPr>
          <p:cNvPr id="20" name="TextBox 19"/>
          <p:cNvSpPr txBox="1"/>
          <p:nvPr/>
        </p:nvSpPr>
        <p:spPr>
          <a:xfrm>
            <a:off x="9539935" y="33131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2153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2153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2153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buy time with Can I get back to you by Friday?</a:t>
            </a:r>
          </a:p>
        </p:txBody>
      </p:sp>
      <p:sp>
        <p:nvSpPr>
          <p:cNvPr id="24" name="TextBox 23"/>
          <p:cNvSpPr txBox="1"/>
          <p:nvPr/>
        </p:nvSpPr>
        <p:spPr>
          <a:xfrm>
            <a:off x="9539935" y="42153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thank you for inviting me, will attend and if I have time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 · Lesson 16 Replies to invitations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thank you for + -ing, will + verb (no “to”), if + present, and spelling (commitment, definitely).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 writing to follow up 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writing to follow up on the quotation I sent on 5 October.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恐怕我们无法……,但我们可以……</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afraid we are unable to… , but we could…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Light refreshments will be provided.</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Light refreshments will be provided.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 very very sorry sorry.</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apologize for the delay. (once)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那一周我的日程已排满</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already booked up that week.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我们仍在等……的批准</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We’re still waiting for approval from…</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4</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“如果您能……我将不胜感激”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appreciate it if you could…</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“如需更多信息,请随时与我联系”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Please don’t hesitate to contact me if you need anything further.</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“按您的要求,……”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 requested, …</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Sorry, we don’t have the 2-litre size.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Unfortunately, the 2-litre size is out of stock.</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Thanks for your patient.</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patience.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177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4</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178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4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