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4</a:t>
            </a:r>
          </a:p>
          <a:p>
            <a:r>
              <a:t>Unit 7: Video Conferences — Self-Study Workbook (Lessons 27–31)</a:t>
            </a:r>
          </a:p>
          <a:p/>
          <a:p>
            <a:r>
              <a:t>开场：简单介绍本单元的主题和要完成的 5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27 · Conference arrangements 会议安排</a:t>
            </a:r>
          </a:p>
          <a:p>
            <a:r>
              <a:t>Goal: prepare and organize a video conference: choose the platform and time, invite participants, send the agenda and materials, test the technology, and plan a backup if the connection fails.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题讲过去的事,请用过去式(was, sent, tested)。第 5 题可以说 “A meeting invitation should include…”。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prepare a video conference with participants in three countries.</a:t>
            </a:r>
          </a:p>
          <a:p>
            <a:r>
              <a:t>Say: choose the time (time zones) → send the invitation and agenda → share the materials → test the technology → prepare a backup plan.</a:t>
            </a:r>
          </a:p>
          <a:p>
            <a:r>
              <a:t>Useful starters: “First, I check the time zones…” / “I send the invitation with…” / “A day before, I test…” / “If the link doesn’t work, we can…”</a:t>
            </a:r>
          </a:p>
          <a:p>
            <a:r>
              <a:t>说明顺序用 first / then / a day before / finally。“to + 动词” 表目的:I send the agenda to help people prepare。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Planning and inviting 安排与邀请</a:t>
            </a:r>
          </a:p>
          <a:p>
            <a:r>
              <a:t>领读 → 学员跟读 → 请学员用表达造一个和自己工作相关的句子。</a:t>
            </a:r>
          </a:p>
          <a:p>
            <a:r>
              <a:t>I’ll set up a video conference for… (phrase) 我来安排一次视频会议 — “I’ll set up a video conference for Thursday at ten.”</a:t>
            </a:r>
          </a:p>
          <a:p>
            <a:r>
              <a:t>★ Let’s find a slot that works across time zones. (phrase) 我们找一个各时区都合适的时段 — “Let’s find a slot that works across time zones.”</a:t>
            </a:r>
          </a:p>
          <a:p>
            <a:r>
              <a:t>I’ll send out the invitation / the link. (phrasal verb) 我会发出邀请/链接 — “I’ll send out the invitation and the link today.”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Planning and inviting 安排与邀请</a:t>
            </a:r>
          </a:p>
          <a:p>
            <a:r>
              <a:t>领读 → 学员跟读 → 请学员用表达造一个和自己工作相关的句子。</a:t>
            </a:r>
          </a:p>
          <a:p>
            <a:r>
              <a:t>Could everyone confirm they can attend? (phrase) 请大家确认是否能出席 — “Could everyone confirm they can attend by Tuesday?”</a:t>
            </a:r>
          </a:p>
          <a:p>
            <a:r>
              <a:t>agenda (noun) 议程 — “The agenda is attached. Please read it before the 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Materials and technology 材料与技术</a:t>
            </a:r>
          </a:p>
          <a:p>
            <a:r>
              <a:t>领读 → 学员跟读 → 请学员用表达造一个和自己工作相关的句子。</a:t>
            </a:r>
          </a:p>
          <a:p>
            <a:r>
              <a:t>★ I’ll circulate the slides beforehand. (phrase) 我会提前把幻灯片分发给大家 — “I’ll circulate the slides beforehand so everyone can read them.”</a:t>
            </a:r>
          </a:p>
          <a:p>
            <a:r>
              <a:t>dial-in number (noun phrase) 电话接入号码 — “If the link fails, use the dial-in number.”</a:t>
            </a:r>
          </a:p>
          <a:p>
            <a:r>
              <a:t>★ Let’s do a quick test run. (phrase) 我们先快速试一下 — “Let’s do a quick test run tomorrow at four.”</a:t>
            </a:r>
          </a:p>
          <a:p>
            <a:r>
              <a:t>Please check your camera and microphone. (phrase) 请检查摄像头和麦克风 — “Please check your camera and microphone before the meeting.”</a:t>
            </a:r>
          </a:p>
          <a:p>
            <a:r>
              <a:t>★ We should have a backup plan. (phrase) 我们应该有备用方案 — “We should have a backup plan in case the platform goes 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Responsibilities and follow-up 分工与后续</a:t>
            </a:r>
          </a:p>
          <a:p>
            <a:r>
              <a:t>领读 → 学员跟读 → 请学员用表达造一个和自己工作相关的句子。</a:t>
            </a:r>
          </a:p>
          <a:p>
            <a:r>
              <a:t>Who is chairing the meeting? (phrase) 谁主持会议? — “Who is chairing the meeting?” — “I am.”</a:t>
            </a:r>
          </a:p>
          <a:p>
            <a:r>
              <a:t>★ I’ll take the minutes. (phrase) 我来做会议记录 — “I’ll take the minutes and send them out.”</a:t>
            </a:r>
          </a:p>
          <a:p>
            <a:r>
              <a:t>Could you share your screen? (phrase) 你能共享屏幕吗? — “Could you share your screen for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Responsibilities and follow-up 分工与后续</a:t>
            </a:r>
          </a:p>
          <a:p>
            <a:r>
              <a:t>领读 → 学员跟读 → 请学员用表达造一个和自己工作相关的句子。</a:t>
            </a:r>
          </a:p>
          <a:p>
            <a:r>
              <a:t>★ The recording will be available afterwards. (phrase) 会后将提供录像 — “The recording will be available afterwards.”</a:t>
            </a:r>
          </a:p>
          <a:p>
            <a:r>
              <a:t>Please send me your questions in advance. (phrase) 请提前把问题发给我 — “Please send me your questions in advance.”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backup / set / invitation / agenda / number / minutes</a:t>
            </a:r>
          </a:p>
          <a:p>
            <a:r>
              <a:t>1. I’ll _______ up a video conference for Thursday at ten. → set</a:t>
            </a:r>
          </a:p>
          <a:p>
            <a:r>
              <a:t>2. I’ll send out the _______ and the link today. → invitation</a:t>
            </a:r>
          </a:p>
          <a:p>
            <a:r>
              <a:t>3. Please read the _______ before the call. → agenda</a:t>
            </a:r>
          </a:p>
          <a:p>
            <a:r>
              <a:t>4. If the link fails, use the dial-in _______. → number</a:t>
            </a:r>
          </a:p>
          <a:p>
            <a:r>
              <a:t>5. We should have a _______ plan. → backup</a:t>
            </a:r>
          </a:p>
          <a:p>
            <a:r>
              <a:t>6. I’ll take the _______ and send them out. → minutes</a:t>
            </a:r>
          </a:p>
          <a:p>
            <a:r>
              <a:t>Mistake Watch (拼写与词汇): conference (not “conferance”), agenda, minutes (the record of a meeting; not “minute notes”), schedule. Say hold / have a meeting (not “do” or “make”).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 video conference with a colleague 与同事商量视频会议安排</a:t>
            </a:r>
          </a:p>
          <a:p>
            <a:r>
              <a:t>情景：You and your colleague plan a video conference with partners in London, Shanghai and New York.</a:t>
            </a:r>
          </a:p>
          <a:p>
            <a:r>
              <a:t>Role A: Li Wei, project manager Role B: Dan Reed,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we need to set up a video conference with the London and New York teams next week. Any idea how to find a good time?</a:t>
            </a:r>
          </a:p>
          <a:p>
            <a:r>
              <a:t>B (Dan): That’s tricky. London is eight hours behind us and New York is thirteen.</a:t>
            </a:r>
          </a:p>
          <a:p>
            <a:r>
              <a:t>A: What about nine in the evening for us? That’s one p.m. in London and eight a.m. in New York.</a:t>
            </a:r>
          </a:p>
          <a:p>
            <a:r>
              <a:t>B: A bit late for us, but it works across time zones. Shall I send out the invitation?</a:t>
            </a:r>
          </a:p>
          <a:p>
            <a:r>
              <a:t>A: Yes, please, and attach the agenda. I’ll circulate the slides beforehand so everyone can read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Good. Should we use Teams or Zoom?</a:t>
            </a:r>
          </a:p>
          <a:p>
            <a:r>
              <a:t>A: Teams. Everyone has an account. We should also include a dial-in number in case the link fails.</a:t>
            </a:r>
          </a:p>
          <a:p>
            <a:r>
              <a:t>B: Agreed. Let’s do a quick test run on Wednesday.</a:t>
            </a:r>
          </a:p>
          <a:p>
            <a:r>
              <a:t>A: Good idea. Who’s chairing the meeting?</a:t>
            </a:r>
          </a:p>
          <a:p>
            <a:r>
              <a:t>B: You are, I think. I’ll take the minutes.</a:t>
            </a:r>
          </a:p>
          <a:p>
            <a:r>
              <a:t>A: Perfect. And could you ask everyone to confirm they can attend by Tuesday?</a:t>
            </a:r>
          </a:p>
          <a:p>
            <a:r>
              <a:t>B: Sure.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49 | </a:t>
            </a:r>
          </a:p>
          <a:p>
            <a:r>
              <a:t>Situation | You plan a video conference across time zones.</a:t>
            </a:r>
          </a:p>
          <a:p>
            <a:r>
              <a:t>Your role (A) | Organizer. Choose the time and the tool.</a:t>
            </a:r>
          </a:p>
          <a:p>
            <a:r>
              <a:t>Partner’s role (B) | Colleague. Asks about time, tool, roles.</a:t>
            </a:r>
          </a:p>
          <a:p>
            <a:r>
              <a:t>Must use (4 or more) | find a slot that works across time zones · send out the invitation · circulate the slides · test run · backup plan</a:t>
            </a:r>
          </a:p>
          <a:p>
            <a:r>
              <a:t>Goal | Agree on time, tool, agenda, materials, roles and backup in 2 minutes.</a:t>
            </a:r>
          </a:p>
          <a:p>
            <a:r>
              <a:t>My notes | ____________________________________________</a:t>
            </a:r>
          </a:p>
          <a:p>
            <a:r>
              <a:t>A key participant cannot attend. Ask: “Is there someone who could join in your place?”</a:t>
            </a:r>
          </a:p>
          <a:p>
            <a:r>
              <a:t>The company has no licence for the tool. Suggest: “Why don’t we use the free version for 40 minutes?”</a:t>
            </a:r>
          </a:p>
          <a:p>
            <a:r>
              <a:t>Add a test run and a technical contact: “If you have any problems, call Dan on 138 0000 5678.”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and checking an invitation 撰写并检查会议邀请</a:t>
            </a:r>
          </a:p>
          <a:p>
            <a:r>
              <a:t>情景：You read out a video conference invitation to a colleague, who checks it.</a:t>
            </a:r>
          </a:p>
          <a:p>
            <a:r>
              <a:t>Role A: Li Wei Role B: Dan Reed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here’s the invitation. Could you check it for me?</a:t>
            </a:r>
          </a:p>
          <a:p>
            <a:r>
              <a:t>B (Dan): It looks good. The time zones are clear, which is helpful. One thing: say “Shanghai time”.</a:t>
            </a:r>
          </a:p>
          <a:p>
            <a:r>
              <a:t>A: I did, it’s in the subject line. Is “Duration: 60 minutes” clear?</a:t>
            </a:r>
          </a:p>
          <a:p>
            <a:r>
              <a:t>B: Yes. Maybe add “Please join five minutes early to test your sound and camera.”</a:t>
            </a:r>
          </a:p>
          <a:p>
            <a:r>
              <a:t>A: Good idea.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The deadline for questions. You say “in advance”, but the date isn’t clear.</a:t>
            </a:r>
          </a:p>
          <a:p>
            <a:r>
              <a:t>A: You’re right. I’ll write “by Tuesday, 17 November”.</a:t>
            </a:r>
          </a:p>
          <a:p>
            <a:r>
              <a:t>B: And add who will chair it.</a:t>
            </a:r>
          </a:p>
          <a:p>
            <a:r>
              <a:t>A: OK. “I’ll chair the meeting, and Dan will take the minutes.” Done. Sending now.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50 | </a:t>
            </a:r>
          </a:p>
          <a:p>
            <a:r>
              <a:t>Situation | You check a meeting invitation with a colleague.</a:t>
            </a:r>
          </a:p>
          <a:p>
            <a:r>
              <a:t>Your role (A) | Writer. Explain the invitation. Accept suggestions.</a:t>
            </a:r>
          </a:p>
          <a:p>
            <a:r>
              <a:t>Partner’s role (B) | Reviewer. Gives 3 suggestions.</a:t>
            </a:r>
          </a:p>
          <a:p>
            <a:r>
              <a:t>Must use (3 or more) | Could you check…? · It looks good. · Maybe add… · in advance · by Tuesday</a:t>
            </a:r>
          </a:p>
          <a:p>
            <a:r>
              <a:t>Goal | Improve the invitation: time zones, date of the question deadline, and a test message.</a:t>
            </a:r>
          </a:p>
          <a:p>
            <a:r>
              <a:t>My notes | ____________________________________________</a:t>
            </a:r>
          </a:p>
          <a:p>
            <a:r>
              <a:t>Write the same invitation in 40 words.</a:t>
            </a:r>
          </a:p>
          <a:p>
            <a:r>
              <a:t>Add a line in case of problems: “If you can’t join, please send a colleague or let me know by Tuesday.”</a:t>
            </a:r>
          </a:p>
          <a:p>
            <a:r>
              <a:t>Decide: should the invitation include a recording notice?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advantages of video conferences over face-to-face meetings? | “One advantage is…” / “It saves time and money because…”</a:t>
            </a:r>
          </a:p>
          <a:p>
            <a:r>
              <a:t>2. What are the disadvantages of video conferences? | “The biggest problem is…” / “You can’t see body language, so…”</a:t>
            </a:r>
          </a:p>
          <a:p>
            <a:r>
              <a:t>3. How do you manage time zones? | “I use a time-zone app.” / “I rotate the meeting times so it’s fair.”</a:t>
            </a:r>
          </a:p>
          <a:p>
            <a:r>
              <a:t>4. Should you always record a video conference? | “I think it’s useful when…” / “People may feel uncomfortable if…”</a:t>
            </a:r>
          </a:p>
          <a:p>
            <a:r>
              <a:t>5. What would you do if the technology fails in the middle of an important meeting? | “I’d switch to…” / “We have a backup, such as a dial-in number.”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depends on the meeting. A recording is useful when some people can’t attend, or when we want to check what was decided. But people may feel uncomfortable if they don’t know they’re being recorded, so I always tell them at the start of the meeting:”I’d like to record this call so that people who couldn’t join can watch it later. Is everybody OK with that?“”</a:t>
            </a:r>
          </a:p>
          <a:p>
            <a:r>
              <a:t>“depends on…”(取决于)。“so that…”(以便……)后面可用 can / could。注意 “Is everybody OK with that?” 是询问同意的好句型。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arrangements 视频会议安排用语</a:t>
            </a:r>
          </a:p>
          <a:p>
            <a:r>
              <a:t>Step | Say this</a:t>
            </a:r>
          </a:p>
          <a:p>
            <a:r>
              <a:t>Propose | Shall we set up a video conference for next week?</a:t>
            </a:r>
          </a:p>
          <a:p>
            <a:r>
              <a:t>Time | Let’s find a slot that works across time zones. ★ / Would 9 p.m. Shanghai time suit everyone?</a:t>
            </a:r>
          </a:p>
          <a:p>
            <a:r>
              <a:t>Invite | I’ll send out the invitation and the link.</a:t>
            </a:r>
          </a:p>
          <a:p>
            <a:r>
              <a:t>Prepare | I’ll circulate the slides beforehand. ★ / Please read the agenda before the call.</a:t>
            </a:r>
          </a:p>
          <a:p>
            <a:r>
              <a:t>Test | Let’s do a quick test run on Wednesday. ★</a:t>
            </a:r>
          </a:p>
          <a:p>
            <a:r>
              <a:t>Backup | We should have a backup plan. ★ / If the link fails, use the dial-in number.</a:t>
            </a:r>
          </a:p>
          <a:p>
            <a:r>
              <a:t>Roles | I’ll chair the meeting. / Dan will take the minutes. ★</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collocations 会议搭配</a:t>
            </a:r>
          </a:p>
          <a:p>
            <a:r>
              <a:t>Verb | Noun | Example</a:t>
            </a:r>
          </a:p>
          <a:p>
            <a:r>
              <a:t>hold / have | a meeting | “We hold a video conference every Monday.”</a:t>
            </a:r>
          </a:p>
          <a:p>
            <a:r>
              <a:t>chair | a meeting | “Li Wei will chair the call.”</a:t>
            </a:r>
          </a:p>
          <a:p>
            <a:r>
              <a:t>join | a call | “Please join the call five minutes early.”</a:t>
            </a:r>
          </a:p>
          <a:p>
            <a:r>
              <a:t>take | the minutes | “Dan is taking the minutes.”</a:t>
            </a:r>
          </a:p>
          <a:p>
            <a:r>
              <a:t>share | your screen | “Could you share your screen?”</a:t>
            </a:r>
          </a:p>
          <a:p>
            <a:r>
              <a:t>send out / circulate | slides, agenda | “I’ll circulate the slides beforehand.”</a:t>
            </a:r>
          </a:p>
          <a:p>
            <a:r>
              <a:t>postpone / cancel | a meeting | “We’ll have to postpone the meeting.”</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collocations 会议搭配</a:t>
            </a:r>
          </a:p>
          <a:p>
            <a:r>
              <a:t>Chair a meeting (the person who leads it); attend / join a meeting (take part).</a:t>
            </a:r>
          </a:p>
          <a:p>
            <a:r>
              <a:t>Time zones: write “9 p.m. Shanghai time (CST) / 1 p.m. London (GMT)”. Beware: summer time (BST) changes London’s offset.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do a video meeting on Monday.  →  ✓ We have / hold a video meeting on Monday.  (have / hold a meeting)</a:t>
            </a:r>
          </a:p>
          <a:p>
            <a:r>
              <a:t>✗ I’ll make a meeting for you.  →  ✓ I’ll set up a meeting for you. / I’ll arrange a meeting.  (set up)</a:t>
            </a:r>
          </a:p>
          <a:p>
            <a:r>
              <a:t>✗ Please open your camera.  →  ✓ Please turn on your camera.  (视频用 turn on / off)</a:t>
            </a:r>
          </a:p>
          <a:p>
            <a:r>
              <a:t>✗ I share my screen. (before doing it)  →  ✓ Let me share my screen.  (先征询:Let me…)</a:t>
            </a:r>
          </a:p>
          <a:p>
            <a:r>
              <a:t>✗ We discuss about the budget.  →  ✓ We discuss the budget.  (discuss 后不加 about)</a:t>
            </a:r>
          </a:p>
          <a:p>
            <a:r>
              <a:t>Mistake Watch: discuss + noun (no “about”), attend + noun (no “to”), turn on your camera (not “open”), have / hold a meeting (not “do”).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attend to the meeting.  →  ✓ Please attend the meeting. / join the call.  (attend 后不加 to)</a:t>
            </a:r>
          </a:p>
          <a:p>
            <a:r>
              <a:t>✗ The meeting is in Thursday in 9 p.m.  →  ✓ The meeting is on Thursday at 9 p.m.  (on / at)</a:t>
            </a:r>
          </a:p>
          <a:p>
            <a:r>
              <a:t>✗ Send me the datas.  →  ✓ Send me the data.  (data 视为不可数(口语))</a:t>
            </a:r>
          </a:p>
          <a:p>
            <a:r>
              <a:t>✗ I’ll take the meeting minute.  →  ✓ I’ll take the minutes.  (minutes 复数)</a:t>
            </a:r>
          </a:p>
          <a:p>
            <a:r>
              <a:t>✗ conferance / shedule  →  ✓ conference / schedule  (拼写)</a:t>
            </a:r>
          </a:p>
          <a:p>
            <a:r>
              <a:t>Mistake Watch: discuss + noun (no “about”), attend + noun (no “to”), turn on your camera (not “open”), have / hold a meeting (not “do”).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Send the agenda in advance. Western teams usually expect it at least 24 hours before. A meeting with no agenda may not be taken seriously.</a:t>
            </a:r>
          </a:p>
          <a:p>
            <a:r>
              <a:t>Start on time. In English-speaking countries, a meeting often starts exactly at the planned time. “Let’s give it two more minutes” is common, but not ten.</a:t>
            </a:r>
          </a:p>
          <a:p>
            <a:r>
              <a:t>Fair time zones. If one team always has to meet at midnight, it can feel unfair. Rotate the inconvenient time.</a:t>
            </a:r>
          </a:p>
          <a:p>
            <a:r>
              <a:t>Record only with permission. In some countries (such as Germany) recording without consent is illegal. Always ask: “Do you mind if we record?”</a:t>
            </a:r>
          </a:p>
          <a:p>
            <a:r>
              <a:t>Camera culture: Some teams expect cameras on; others allow off. Ask politely: “Could you turn on your camera for the first five minutes?”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propose a video conference and a time that works across time zones.</a:t>
            </a:r>
          </a:p>
          <a:p>
            <a:r>
              <a:t>I can write or read an invitation: date, time (with time zone), link, dial-in, agenda.</a:t>
            </a:r>
          </a:p>
          <a:p>
            <a:r>
              <a:t>I can plan materials, a test run and a backup plan.</a:t>
            </a:r>
          </a:p>
          <a:p>
            <a:r>
              <a:t>I can assign roles (chair, take the minutes, share your screen).</a:t>
            </a:r>
          </a:p>
          <a:p>
            <a:r>
              <a:t>I can use have / hold a meeting, discuss + noun and attend + noun correctly.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meeting collocations, discuss / attend (no preposition), turn on the camera, and spelling (conference, agenda).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28 · Starting the video conference 开始视频会议</a:t>
            </a:r>
          </a:p>
          <a:p>
            <a:r>
              <a:t>Goal: open a video conference smoothly: check sound and picture, welcome and introduce participants, explain simple ground rules, state the purpose and the agenda, and deal with late arrivals and technical glitches.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题讲过去的事,请用过去式(was, said, could not)。第 2 题可以说 “I usually say…”。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Open a video meeting with five people from different countries.</a:t>
            </a:r>
          </a:p>
          <a:p>
            <a:r>
              <a:t>Say: check sound → welcome and introductions → ground rules (mute, chat) → purpose and agenda.</a:t>
            </a:r>
          </a:p>
          <a:p>
            <a:r>
              <a:t>Useful starters: “Can everyone hear me OK?” / “Welcome, everyone.” / “Today we’d like to…” / “Please mute yourself when you’re not speaking.”</a:t>
            </a:r>
          </a:p>
          <a:p>
            <a:r>
              <a:t>开场 30 秒内要完成:欢迎、确认声音、说明目的和议程。静音用 mute;取消静音用 unmute。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Checking the technology 检查设备</a:t>
            </a:r>
          </a:p>
          <a:p>
            <a:r>
              <a:t>领读 → 学员跟读 → 请学员用表达造一个和自己工作相关的句子。</a:t>
            </a:r>
          </a:p>
          <a:p>
            <a:r>
              <a:t>Can you hear me OK? (phrase) 你们能听清我吗? — “Good morning, everyone. Can you hear me OK?”</a:t>
            </a:r>
          </a:p>
          <a:p>
            <a:r>
              <a:t>Can everyone see my screen? (phrase) 大家能看到我的屏幕吗? — “Can everyone see my screen?”</a:t>
            </a:r>
          </a:p>
          <a:p>
            <a:r>
              <a:t>★ You’re on mute. (phrase) 你静音了 — “Sorry, Karen, you’re on mute.”</a:t>
            </a:r>
          </a:p>
          <a:p>
            <a:r>
              <a:t>★ You’re frozen. / We’ve lost your video. (phrase) 你的画面卡住了 — “Mark, you’re frozen. Could you turn your camera off and on?”</a:t>
            </a:r>
          </a:p>
          <a:p>
            <a:r>
              <a:t>Could you try dialling in? (phrase) 你可以试试用电话拨入吗? — “If the audio doesn’t work, could you try dialling 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Welcoming and introducing 欢迎与介绍</a:t>
            </a:r>
          </a:p>
          <a:p>
            <a:r>
              <a:t>领读 → 学员跟读 → 请学员用表达造一个和自己工作相关的句子。</a:t>
            </a:r>
          </a:p>
          <a:p>
            <a:r>
              <a:t>Welcome, everyone. Thanks for joining. (phrase) 欢迎大家,感谢参加 — “Welcome, everyone. Thanks for joining us.”</a:t>
            </a:r>
          </a:p>
          <a:p>
            <a:r>
              <a:t>Let’s wait a couple of minutes for the others. (phrase) 我们再等几分钟等其他人 — “Let’s wait a couple of minutes for the others.”</a:t>
            </a:r>
          </a:p>
          <a:p>
            <a:r>
              <a:t>★ Shall we go around the room and introduce ourselves? (phrase) 我们依次做一下自我介绍,好吗? — “Shall we go around the room and introduce ourselves?”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Welcoming and introducing 欢迎与介绍</a:t>
            </a:r>
          </a:p>
          <a:p>
            <a:r>
              <a:t>领读 → 学员跟读 → 请学员用表达造一个和自己工作相关的句子。</a:t>
            </a:r>
          </a:p>
          <a:p>
            <a:r>
              <a:t>I’d like to introduce… (phrase) 我想介绍…… — “I’d like to introduce Karen, our colleague in New York.”</a:t>
            </a:r>
          </a:p>
          <a:p>
            <a:r>
              <a:t>Sorry I’m late. I had trouble with the link. (phrase) 抱歉我迟到了,链接有问题 — “Sorry I’m late. I had trouble with the link.”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Ground rules and agenda 规则与议程</a:t>
            </a:r>
          </a:p>
          <a:p>
            <a:r>
              <a:t>领读 → 学员跟读 → 请学员用表达造一个和自己工作相关的句子。</a:t>
            </a:r>
          </a:p>
          <a:p>
            <a:r>
              <a:t>Please mute yourself when you’re not speaking. (phrase) 不发言时请静音 — “Please mute yourself when you’re not speaking.”</a:t>
            </a:r>
          </a:p>
          <a:p>
            <a:r>
              <a:t>★ Please use the chat / the raise-hand function. (phrase) 请使用聊天/举手功能 — “If you have a question, please use the raise-hand function.”</a:t>
            </a:r>
          </a:p>
          <a:p>
            <a:r>
              <a:t>The purpose of today’s meeting is to… (phrase) 今天会议的目的是…… — “The purpose of today’s meeting is to agree on the schedule.”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Ground rules and agenda 规则与议程</a:t>
            </a:r>
          </a:p>
          <a:p>
            <a:r>
              <a:t>领读 → 学员跟读 → 请学员用表达造一个和自己工作相关的句子。</a:t>
            </a:r>
          </a:p>
          <a:p>
            <a:r>
              <a:t>We have three items on the agenda. (phrase) 我们议程上有三项 — “We have three items on the agenda.”</a:t>
            </a:r>
          </a:p>
          <a:p>
            <a:r>
              <a:t>★ We should be able to finish by eleven. (phrase) 我们应该能在十一点前结束 — “We should be able to finish by eleven.”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mute / Welcome / agenda / purpose / mute / hear</a:t>
            </a:r>
          </a:p>
          <a:p>
            <a:r>
              <a:t>1. Good morning, everyone. Can you _______ me OK? → hear</a:t>
            </a:r>
          </a:p>
          <a:p>
            <a:r>
              <a:t>2. Sorry, Karen, you’re on _______. → mute</a:t>
            </a:r>
          </a:p>
          <a:p>
            <a:r>
              <a:t>3. _______, everyone. Thanks for joining. → Welcome</a:t>
            </a:r>
          </a:p>
          <a:p>
            <a:r>
              <a:t>4. Please _______ yourself when you’re not speaking. → mute</a:t>
            </a:r>
          </a:p>
          <a:p>
            <a:r>
              <a:t>5. The _______ of today’s meeting is to agree on the schedule. → purpose</a:t>
            </a:r>
          </a:p>
          <a:p>
            <a:r>
              <a:t>6. We have three items on the _______. → agenda</a:t>
            </a:r>
          </a:p>
          <a:p>
            <a:r>
              <a:t>Mistake Watch (拼写与词汇): mute (静音) vs unmute (取消静音); frozen (卡住); screen (not “sreen”); purpose. Say “on mute”, not “closed”.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 multi-country video conference 开始跨国视频会议</a:t>
            </a:r>
          </a:p>
          <a:p>
            <a:r>
              <a:t>情景：You chair a video conference with colleagues in Shanghai, London and New York.</a:t>
            </a:r>
          </a:p>
          <a:p>
            <a:r>
              <a:t>Role A: Li Wei, chair Role B: Dan Reed (London) Role C: Karen Ortiz (New York)</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morning, good afternoon and good evening, everyone. Can you hear me OK?</a:t>
            </a:r>
          </a:p>
          <a:p>
            <a:r>
              <a:t>B (Dan): Loud and clear, Li Wei.</a:t>
            </a:r>
          </a:p>
          <a:p>
            <a:r>
              <a:t>C (Karen): Yes, I can hear you fine.</a:t>
            </a:r>
          </a:p>
          <a:p>
            <a:r>
              <a:t>A: Great. Let’s wait a couple of minutes for the others. … OK, I think everyone’s here. Welcome, everyone, and thanks for joining.</a:t>
            </a:r>
          </a:p>
          <a:p>
            <a:r>
              <a:t>C: Sorry, I couldn’t unmute. Can you hear me now?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perfectly. Before we start, a few ground rules: please mute yourself when you’re not speaking, and use the chat or the raise-hand function if you have a question.</a:t>
            </a:r>
          </a:p>
          <a:p>
            <a:r>
              <a:t>B: Understood.</a:t>
            </a:r>
          </a:p>
          <a:p>
            <a:r>
              <a:t>A: The purpose of today’s meeting is to review the Q4 plan. We have three items on the agenda: the schedule, the budget and the risks. We should be able to finish by eleven. Any questions before we begin?</a:t>
            </a:r>
          </a:p>
          <a:p>
            <a:r>
              <a:t>C: No, that’s clear.</a:t>
            </a:r>
          </a:p>
          <a:p>
            <a:r>
              <a:t>A: Good. Let’s start with the schedule. Dan, would you like to begin?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51 | </a:t>
            </a:r>
          </a:p>
          <a:p>
            <a:r>
              <a:t>Situation | You open a video conference with participants in different places.</a:t>
            </a:r>
          </a:p>
          <a:p>
            <a:r>
              <a:t>Your role (A) | Chair. Name and meeting topic: ______________</a:t>
            </a:r>
          </a:p>
          <a:p>
            <a:r>
              <a:t>Partners (B, C) | Participants. Use the chat or ask a question.</a:t>
            </a:r>
          </a:p>
          <a:p>
            <a:r>
              <a:t>Must use (4 or more) | Can you hear me OK? · Welcome, everyone. · mute yourself · The purpose of today’s meeting is… · We have three items on the agenda.</a:t>
            </a:r>
          </a:p>
          <a:p>
            <a:r>
              <a:t>Goal | A clear opening in under 90 seconds: check, welcome, rules, purpose, agenda.</a:t>
            </a:r>
          </a:p>
          <a:p>
            <a:r>
              <a:t>My notes | ____________________________________________</a:t>
            </a:r>
          </a:p>
          <a:p>
            <a:r>
              <a:t>Someone joins late. Say: “Hi Mark, welcome. We’ve just started. We’re on the first item.”</a:t>
            </a:r>
          </a:p>
          <a:p>
            <a:r>
              <a:t>Karen’s camera is frozen. Say: “Karen, you’re frozen. Could you try turning your camera off and on?”</a:t>
            </a:r>
          </a:p>
          <a:p>
            <a:r>
              <a:t>Add a short ice-breaker: “How’s the weather in New York?”</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technical glitches 处理技术故障</a:t>
            </a:r>
          </a:p>
          <a:p>
            <a:r>
              <a:t>情景：At the start of the call, there are problems with sound and screen sharing.</a:t>
            </a:r>
          </a:p>
          <a:p>
            <a:r>
              <a:t>Role A: Li Wei, chair Role B: Mark Davis, participant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morning, Mark. Can you hear me?</a:t>
            </a:r>
          </a:p>
          <a:p>
            <a:r>
              <a:t>B (Mark): Sorry, I can’t hear anything. My sound seems to be off.</a:t>
            </a:r>
          </a:p>
          <a:p>
            <a:r>
              <a:t>A: You might be on mute, or your speakers could be turned off. Could you check your sound settings?</a:t>
            </a:r>
          </a:p>
          <a:p>
            <a:r>
              <a:t>B: OK. … Now? Can you hear me?</a:t>
            </a:r>
          </a:p>
          <a:p>
            <a:r>
              <a:t>A: Yes, I can hear you now. Let me share my screen. Can everyone see it?</a:t>
            </a:r>
          </a:p>
          <a:p>
            <a:r>
              <a:t>B: I can see your desktop, but not the slide.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Let me share just the window. … Is that better?</a:t>
            </a:r>
          </a:p>
          <a:p>
            <a:r>
              <a:t>B: Yes, I can see the slide now.</a:t>
            </a:r>
          </a:p>
          <a:p>
            <a:r>
              <a:t>A: Great. If the sound drops again, you can dial in using the number in the chat.</a:t>
            </a:r>
          </a:p>
          <a:p>
            <a:r>
              <a:t>B: Thanks. Sorry about that.</a:t>
            </a:r>
          </a:p>
          <a:p>
            <a:r>
              <a:t>A: No problem at all. Shall we get started?</a:t>
            </a:r>
          </a:p>
          <a:p>
            <a:r>
              <a:t>B: Please do.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52 | </a:t>
            </a:r>
          </a:p>
          <a:p>
            <a:r>
              <a:t>Situation | A participant has trouble with sound or screen.</a:t>
            </a:r>
          </a:p>
          <a:p>
            <a:r>
              <a:t>Your role (A) | Chair. Stay calm and help.</a:t>
            </a:r>
          </a:p>
          <a:p>
            <a:r>
              <a:t>Partner’s role (B) | Participant with a problem.</a:t>
            </a:r>
          </a:p>
          <a:p>
            <a:r>
              <a:t>Must use (4 or more) | Can you hear me OK? · You might be on mute. · Let me share my screen. · Could you try dialling in? · No problem at all.</a:t>
            </a:r>
          </a:p>
          <a:p>
            <a:r>
              <a:t>Goal | Solve the problem in 60 seconds and start the meeting.</a:t>
            </a:r>
          </a:p>
          <a:p>
            <a:r>
              <a:t>My notes | ____________________________________________</a:t>
            </a:r>
          </a:p>
          <a:p>
            <a:r>
              <a:t>The problem can’t be fixed. Say: “Let’s move this item to the end, so you can join by phone.”</a:t>
            </a:r>
          </a:p>
          <a:p>
            <a:r>
              <a:t>Say who will help: “I’ll ask our IT colleague, Jack, to call you.”</a:t>
            </a:r>
          </a:p>
          <a:p>
            <a:r>
              <a:t>Remind everyone of the rule for the future: “From now on, please test your sound five minutes early.”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should a chair say in the first minute of a video conference? | “First, I would… Then…” / “The chair should always…”</a:t>
            </a:r>
          </a:p>
          <a:p>
            <a:r>
              <a:t>2. Is it necessary to have everybody’s camera on? | “I think cameras should be on when…” / “Cameras off is fine if…”</a:t>
            </a:r>
          </a:p>
          <a:p>
            <a:r>
              <a:t>3. How do you make a video conference friendlier at the start? | “I begin with a short chat about…” / “I ask everyone to say one sentence.”</a:t>
            </a:r>
          </a:p>
          <a:p>
            <a:r>
              <a:t>4. How do you deal with people who join late? | “I welcome them and say…” / “I don’t repeat everything. I send a summary.”</a:t>
            </a:r>
          </a:p>
          <a:p>
            <a:r>
              <a:t>5. What are the most irritating things that people do on video calls? | “What irritates me is…” / “It bothers me when someone…”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cameras should be on at least at the beginning, so that people can see each other. Video helps us build trust. But it is not necessary to have the cameras on for the whole meeting, especially when the connection is poor or when people have been in meetings all day. I usually say,”Let’s have cameras on for the introductions, and then it’s your choice.””</a:t>
            </a:r>
          </a:p>
          <a:p>
            <a:r>
              <a:t>“so that people can see each other” 表示目的;“at least”(至少)。“it’s your choice”(由你决定)语气友好。注意 “have been in meetings all day”(现在完成时)。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opening 开场用语</a:t>
            </a:r>
          </a:p>
          <a:p>
            <a:r>
              <a:t>Step | Say this</a:t>
            </a:r>
          </a:p>
          <a:p>
            <a:r>
              <a:t>Check | Can you hear me OK? / Can everyone see my screen?</a:t>
            </a:r>
          </a:p>
          <a:p>
            <a:r>
              <a:t>Problem | You’re on mute. ★ / You’re frozen. ★ / The sound is breaking up.</a:t>
            </a:r>
          </a:p>
          <a:p>
            <a:r>
              <a:t>Wait | Let’s wait a couple of minutes for the others.</a:t>
            </a:r>
          </a:p>
          <a:p>
            <a:r>
              <a:t>Welcome | Welcome, everyone. Thanks for joining.</a:t>
            </a:r>
          </a:p>
          <a:p>
            <a:r>
              <a:t>Rules | Please mute yourself when you’re not speaking. / Please use the chat or raise-hand function. ★</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opening 开场用语</a:t>
            </a:r>
          </a:p>
          <a:p>
            <a:r>
              <a:t>Step | Say this</a:t>
            </a:r>
          </a:p>
          <a:p>
            <a:r>
              <a:t>Purpose | The purpose of today’s meeting is to…</a:t>
            </a:r>
          </a:p>
          <a:p>
            <a:r>
              <a:t>Agenda | We have three items on the agenda.</a:t>
            </a:r>
          </a:p>
          <a:p>
            <a:r>
              <a:t>Timing | We should be able to finish by eleven. ★</a:t>
            </a:r>
          </a:p>
          <a:p>
            <a:r>
              <a:t>Start | Let’s get started. / Shall we begin?</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Fixing problems: useful verbs 技术问题常用动词</a:t>
            </a:r>
          </a:p>
          <a:p>
            <a:r>
              <a:t>Problem | Say this</a:t>
            </a:r>
          </a:p>
          <a:p>
            <a:r>
              <a:t>No sound | Check your speakers / headset. Are you on mute?</a:t>
            </a:r>
          </a:p>
          <a:p>
            <a:r>
              <a:t>No picture | Could you turn your camera on?</a:t>
            </a:r>
          </a:p>
          <a:p>
            <a:r>
              <a:t>Echo | Could you mute yourself, please? We’re getting an echo.</a:t>
            </a:r>
          </a:p>
          <a:p>
            <a:r>
              <a:t>Frozen | You’ve frozen. Could you rejoin the call?</a:t>
            </a:r>
          </a:p>
          <a:p>
            <a:r>
              <a:t>Poor connection | Your connection seems unstable. Try turning off your video.</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Fixing problems: useful verbs 技术问题常用动词</a:t>
            </a:r>
          </a:p>
          <a:p>
            <a:r>
              <a:t>Mute / unmute: “Could you unmute, please?” “Please mute yourself.”</a:t>
            </a:r>
          </a:p>
          <a:p>
            <a:r>
              <a:t>Rejoin / reconnect / drop off: “I got dropped” (I was disconnected). “Let me rejoin.”</a:t>
            </a:r>
          </a:p>
          <a:p>
            <a:r>
              <a:t>Hear me / see me: Can you hear me? (audio) Can you see my screen? (visual).</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close your microphone.  →  ✓ Please mute your microphone. / Please mute yourself.  (静音:mute)</a:t>
            </a:r>
          </a:p>
          <a:p>
            <a:r>
              <a:t>✗ Open your mic, please.  →  ✓ Could you unmute yourself?  (打开麦克风:unmute)</a:t>
            </a:r>
          </a:p>
          <a:p>
            <a:r>
              <a:t>✗ You have mute.  →  ✓ You’re on mute.  (on mute)</a:t>
            </a:r>
          </a:p>
          <a:p>
            <a:r>
              <a:t>✗ Can you hear to me?  →  ✓ Can you hear me?  (hear 后直接接宾语)</a:t>
            </a:r>
          </a:p>
          <a:p>
            <a:r>
              <a:t>✗ Can you look my screen?  →  ✓ Can you see my screen?  (看屏幕用 see)</a:t>
            </a:r>
          </a:p>
          <a:p>
            <a:r>
              <a:t>Mistake Watch: mute / unmute, hear me / see my screen, thanks for joining, and plural minutes.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Welcome to join the meeting.  →  ✓ Thanks for joining us. / Welcome, everyone.  (固定说法)</a:t>
            </a:r>
          </a:p>
          <a:p>
            <a:r>
              <a:t>✗ The meeting will start in a few minute.  →  ✓ The meeting will start in a few minutes.  (minutes 复数)</a:t>
            </a:r>
          </a:p>
          <a:p>
            <a:r>
              <a:t>✗ We wait for others.  →  ✓ We’ll wait for the others. / Let’s wait for the others.  (提议用 let’s / we’ll)</a:t>
            </a:r>
          </a:p>
          <a:p>
            <a:r>
              <a:t>✗ I’m sorry for late.  →  ✓ I’m sorry I’m late. / Sorry for being late.  (完整结构)</a:t>
            </a:r>
          </a:p>
          <a:p>
            <a:r>
              <a:t>✗ mutte / scrren  →  ✓ mute / screen  (拼写)</a:t>
            </a:r>
          </a:p>
          <a:p>
            <a:r>
              <a:t>Mistake Watch: mute / unmute, hear me / see my screen, thanks for joining, and plural minutes.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Begin with a warm greeting. In English-speaking meetings, even a short “Good morning, everyone” and a thank-you for joining is expected.</a:t>
            </a:r>
          </a:p>
          <a:p>
            <a:r>
              <a:t>Use names. On a video call it is hard to tell who is speaking. Say “Dan, would you like to start?” before someone talks.</a:t>
            </a:r>
          </a:p>
          <a:p>
            <a:r>
              <a:t>Don’t multitask. Reading emails during a call is noticed, even on video. If you must leave the camera, say “I’ll be right back.”</a:t>
            </a:r>
          </a:p>
          <a:p>
            <a:r>
              <a:t>Small talk is fine. Two minutes of chat while waiting for people builds the relationship (“How’s the weather in London?”).</a:t>
            </a:r>
          </a:p>
          <a:p>
            <a:r>
              <a:t>Say your name when you speak in a large group: “This is Dan from London. I’d like to add something.”</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check sound and screen (Can you hear me OK? Can everyone see my screen?).</a:t>
            </a:r>
          </a:p>
          <a:p>
            <a:r>
              <a:t>I can welcome participants, wait for late arrivals and introduce people.</a:t>
            </a:r>
          </a:p>
          <a:p>
            <a:r>
              <a:t>I can explain ground rules (mute yourself, use the chat or raise-hand function).</a:t>
            </a:r>
          </a:p>
          <a:p>
            <a:r>
              <a:t>I can state the purpose and agenda in two sentences.</a:t>
            </a:r>
          </a:p>
          <a:p>
            <a:r>
              <a:t>I can use mute / unmute, hear / see and thanks for joining correctly.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mute / unmute, hear / see, plural minutes, and clear structure (welcome → rules → purpose → agenda).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29 · Discussing problems 讨论问题</a:t>
            </a:r>
          </a:p>
          <a:p>
            <a:r>
              <a:t>Goal: discuss problems in a video conference clearly and politely: describe the issue and its causes, give facts and figures, ask questions, agree or disagree, and make sure everyone understands the problem before looking for solutions.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题讲过去的事,请用过去式(discussed, found, agreed)。第 2 题可以说 “I describe the problem with facts…”。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a problem to your team: a project is two weeks behind schedule.</a:t>
            </a:r>
          </a:p>
          <a:p>
            <a:r>
              <a:t>Say: what the problem is → how big it is (facts and numbers) → the cause → the effect → what you need from the team.</a:t>
            </a:r>
          </a:p>
          <a:p>
            <a:r>
              <a:t>Useful starters: “We’ve run into a problem with…” / “The main issue is…” / “This is because…” / “As a result…”</a:t>
            </a:r>
          </a:p>
          <a:p>
            <a:r>
              <a:t>说明原因用 because / due to / as a result of;说明结果用 as a result / so。事实 + 数字比抽象词更有说服力:two weeks behind, 15% over budget。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Raising a problem 提出问题</a:t>
            </a:r>
          </a:p>
          <a:p>
            <a:r>
              <a:t>领读 → 学员跟读 → 请学员用表达造一个和自己工作相关的句子。</a:t>
            </a:r>
          </a:p>
          <a:p>
            <a:r>
              <a:t>We’ve run into a problem with… (phrase) 我们在……上遇到了问题 — “We’ve run into a problem with the supplier.”</a:t>
            </a:r>
          </a:p>
          <a:p>
            <a:r>
              <a:t>The main issue is… (phrase) 主要问题是…… — “The main issue is the delay in delivery.”</a:t>
            </a:r>
          </a:p>
          <a:p>
            <a:r>
              <a:t>★ There seems to be a problem with… (phrase (softened)) 好像……有问题 — “There seems to be a problem with the data.”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Raising a problem 提出问题</a:t>
            </a:r>
          </a:p>
          <a:p>
            <a:r>
              <a:t>领读 → 学员跟读 → 请学员用表达造一个和自己工作相关的句子。</a:t>
            </a:r>
          </a:p>
          <a:p>
            <a:r>
              <a:t>We’re two weeks behind schedule / 10% over budget. (phrase) 我们落后计划两周 / 超预算 10% — “We’re two weeks behind schedule and 10% over budget.”</a:t>
            </a:r>
          </a:p>
          <a:p>
            <a:r>
              <a:t>★ We’ve hit a bottleneck. (idiom) 我们遇到了瓶颈 — “We’ve hit a bottleneck in the testing stage.”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about causes and effects 追问原因与影响</a:t>
            </a:r>
          </a:p>
          <a:p>
            <a:r>
              <a:t>领读 → 学员跟读 → 请学员用表达造一个和自己工作相关的句子。</a:t>
            </a:r>
          </a:p>
          <a:p>
            <a:r>
              <a:t>What’s causing the delay? (phrase) 是什么导致了延迟? — “What’s causing the delay?”</a:t>
            </a:r>
          </a:p>
          <a:p>
            <a:r>
              <a:t>Could you explain what went wrong? (phrase) 您能解释哪里出了问题吗? — “Could you explain what went wrong?”</a:t>
            </a:r>
          </a:p>
          <a:p>
            <a:r>
              <a:t>★ What’s the root cause? (phrase) 根本原因是什么? — “What’s the root cause of the quality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about causes and effects 追问原因与影响</a:t>
            </a:r>
          </a:p>
          <a:p>
            <a:r>
              <a:t>领读 → 学员跟读 → 请学员用表达造一个和自己工作相关的句子。</a:t>
            </a:r>
          </a:p>
          <a:p>
            <a:r>
              <a:t>As a result, … / This means that… (phrase) 结果是…… / 这意味着…… — “As a result, we can’t deliver on time.”</a:t>
            </a:r>
          </a:p>
          <a:p>
            <a:r>
              <a:t>★ How serious is it? / What’s the impact? (phrase) 有多严重?/影响是什么? — “What’s the impact on the launch date?”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Reacting and discussing 回应与讨论</a:t>
            </a:r>
          </a:p>
          <a:p>
            <a:r>
              <a:t>领读 → 学员跟读 → 请学员用表达造一个和自己工作相关的句子。</a:t>
            </a:r>
          </a:p>
          <a:p>
            <a:r>
              <a:t>That’s a fair point. (phrase) 这个观点有道理 — “That’s a fair point. I hadn’t thought of that.”</a:t>
            </a:r>
          </a:p>
          <a:p>
            <a:r>
              <a:t>★ I see where you’re coming from, but… (phrase) 我理解您的想法,但是…… — “I see where you’re coming from, but the data show something different.”</a:t>
            </a:r>
          </a:p>
          <a:p>
            <a:r>
              <a:t>As far as I can tell, … (phrase) 据我所知,…… — “As far as I can tell, the problem started in March.”</a:t>
            </a:r>
          </a:p>
          <a:p>
            <a:r>
              <a:t>★ Could you give us some figures? (phrase) 能给我们一些数据吗? — “Could you give us some figures to support that?”</a:t>
            </a:r>
          </a:p>
          <a:p>
            <a:r>
              <a:t>Let me share my screen to show you the data. (phrase) 让我共享屏幕给您看数据 — “Let me share my screen to show you the data.”</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from / issue / schedule / causing / into / point</a:t>
            </a:r>
          </a:p>
          <a:p>
            <a:r>
              <a:t>1. We’ve run _______ a problem with the supplier. → into</a:t>
            </a:r>
          </a:p>
          <a:p>
            <a:r>
              <a:t>2. The main _______ is the delay in delivery. → issue</a:t>
            </a:r>
          </a:p>
          <a:p>
            <a:r>
              <a:t>3. What’s _______ the delay? → causing</a:t>
            </a:r>
          </a:p>
          <a:p>
            <a:r>
              <a:t>4. We’re two weeks behind _______. → schedule</a:t>
            </a:r>
          </a:p>
          <a:p>
            <a:r>
              <a:t>5. That’s a fair _______. → point</a:t>
            </a:r>
          </a:p>
          <a:p>
            <a:r>
              <a:t>6. I see where you’re coming _______, but the data show something different. → from</a:t>
            </a:r>
          </a:p>
          <a:p>
            <a:r>
              <a:t>Mistake Watch (搭配与拼写): issue (also a topic), cause (verb and noun), behind schedule, over budget, bottleneck (one word). Say “run into a problem” (not “meet a problem”).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a problem to the team 向团队说明问题</a:t>
            </a:r>
          </a:p>
          <a:p>
            <a:r>
              <a:t>情景：A project is two weeks behind schedule. You explain the problem in a video meeting.</a:t>
            </a:r>
          </a:p>
          <a:p>
            <a:r>
              <a:t>Role A: Li Wei, project manager Role B: Sophie Zhou,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Thanks, Sophie. Item two on the agenda is the project status. I’m afraid we’ve run into a problem. We’re two weeks behind schedule.</a:t>
            </a:r>
          </a:p>
          <a:p>
            <a:r>
              <a:t>B (Sophie): Two weeks? That’s quite serious. What’s causing the delay?</a:t>
            </a:r>
          </a:p>
          <a:p>
            <a:r>
              <a:t>A: The main issue is the supplier. They delivered the sensors three weeks late.</a:t>
            </a:r>
          </a:p>
          <a:p>
            <a:r>
              <a:t>B: How did that affect the project?</a:t>
            </a:r>
          </a:p>
          <a:p>
            <a:r>
              <a:t>A: As a result, we couldn’t start testing on time. We’ve hit a bottleneck at the testing stage.</a:t>
            </a:r>
          </a:p>
          <a:p>
            <a:r>
              <a:t>B: I see. Is it only the supplier, or are there other reasons?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As far as I can tell, there are two causes: the late delivery and our own planning. We didn’t leave enough time for testing. That was our mistake.</a:t>
            </a:r>
          </a:p>
          <a:p>
            <a:r>
              <a:t>B: I appreciate your honesty. What’s the impact on the launch date?</a:t>
            </a:r>
          </a:p>
          <a:p>
            <a:r>
              <a:t>A: If we don’t act, the launch moves from November to December. Let me share my screen to show you the timeline.</a:t>
            </a:r>
          </a:p>
          <a:p>
            <a:r>
              <a:t>B: Yes, please. I’d like to see the numbers.</a:t>
            </a:r>
          </a:p>
          <a:p>
            <a:r>
              <a:t>A: Can everyone see it? You can see the green line is the plan and the red line is where we are.</a:t>
            </a:r>
          </a:p>
          <a:p>
            <a:r>
              <a:t>B: Clear. Thanks.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53 | </a:t>
            </a:r>
          </a:p>
          <a:p>
            <a:r>
              <a:t>Situation | You explain a project problem to your director in a video meeting.</a:t>
            </a:r>
          </a:p>
          <a:p>
            <a:r>
              <a:t>Your role (A) | Project manager. Problem: ______________</a:t>
            </a:r>
          </a:p>
          <a:p>
            <a:r>
              <a:t>Partner’s role (B) | Director. Asks about cause and effect.</a:t>
            </a:r>
          </a:p>
          <a:p>
            <a:r>
              <a:t>Must use (4 or more) | We’ve run into a problem with… · The main issue is… · What’s causing…? · As a result, … · Let me share my screen.</a:t>
            </a:r>
          </a:p>
          <a:p>
            <a:r>
              <a:t>Goal | Explain the problem with 2 numbers, the cause, and the effect in 90 seconds.</a:t>
            </a:r>
          </a:p>
          <a:p>
            <a:r>
              <a:t>My notes | ____________________________________________</a:t>
            </a:r>
          </a:p>
          <a:p>
            <a:r>
              <a:t>Admit your own mistake without blaming others: “We underestimated the testing time.”</a:t>
            </a:r>
          </a:p>
          <a:p>
            <a:r>
              <a:t>The director disagrees. Say: “I see where you’re coming from, but the figures show something different.”</a:t>
            </a:r>
          </a:p>
          <a:p>
            <a:r>
              <a:t>Ask a question about the impact: “How serious is it for the customer?”</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different views on a problem 对问题原因看法不同</a:t>
            </a:r>
          </a:p>
          <a:p>
            <a:r>
              <a:t>情景：Two colleagues disagree about the cause of falling sales.</a:t>
            </a:r>
          </a:p>
          <a:p>
            <a:r>
              <a:t>Role A: Li Wei, sales Role B: Dan Reed, marketing</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sales fell by 12% last quarter. In my view, the main problem is the price. Our competitors are cheaper.</a:t>
            </a:r>
          </a:p>
          <a:p>
            <a:r>
              <a:t>B (Dan): That’s a fair point, but I’m not sure price is the root cause. As far as I can tell, customers don’t know about our new products.</a:t>
            </a:r>
          </a:p>
          <a:p>
            <a:r>
              <a:t>A: I see where you’re coming from, but when I talk to customers, they mention price first.</a:t>
            </a:r>
          </a:p>
          <a:p>
            <a:r>
              <a:t>B: Maybe. Could you give us some figures? How many customers left because of price?</a:t>
            </a:r>
          </a:p>
          <a:p>
            <a:r>
              <a:t>A: I don’t have the exact numbers, but I can check. Let me look at the customer survey.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That would be helpful. Meanwhile, I can share the web traffic data.</a:t>
            </a:r>
          </a:p>
          <a:p>
            <a:r>
              <a:t>A: Good. If both are true, then we have two problems, not one.</a:t>
            </a:r>
          </a:p>
          <a:p>
            <a:r>
              <a:t>B: Exactly. And they might be connected. If people don’t know the benefits, they only look at the price.</a:t>
            </a:r>
          </a:p>
          <a:p>
            <a:r>
              <a:t>A: That’s an interesting idea. So awareness could be the bigger issue.</a:t>
            </a:r>
          </a:p>
          <a:p>
            <a:r>
              <a:t>B: Possibly. We need more data before we decide.</a:t>
            </a:r>
          </a:p>
          <a:p>
            <a:r>
              <a:t>A: Agreed. Let’s both bring our data to the next meeting.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54 | </a:t>
            </a:r>
          </a:p>
          <a:p>
            <a:r>
              <a:t>Situation | Two colleagues have different opinions about the cause of a problem.</a:t>
            </a:r>
          </a:p>
          <a:p>
            <a:r>
              <a:t>Your role (A) | Sales. Your opinion and evidence: ______________</a:t>
            </a:r>
          </a:p>
          <a:p>
            <a:r>
              <a:t>Partner’s role (B) | Marketing. A different opinion.</a:t>
            </a:r>
          </a:p>
          <a:p>
            <a:r>
              <a:t>Must use (4 or more) | In my view, … · That’s a fair point, but… · I see where you’re coming from, but… · Could you give us some figures? · As far as I can tell, …</a:t>
            </a:r>
          </a:p>
          <a:p>
            <a:r>
              <a:t>Goal | Disagree politely, ask for evidence, and agree on the next step.</a:t>
            </a:r>
          </a:p>
          <a:p>
            <a:r>
              <a:t>My notes | ____________________________________________</a:t>
            </a:r>
          </a:p>
          <a:p>
            <a:r>
              <a:t>Use a softer way to disagree: “I’m not sure I agree. Could we look at the numbers?”</a:t>
            </a:r>
          </a:p>
          <a:p>
            <a:r>
              <a:t>Summarize the two views: “So you think it’s price, and I think it’s awareness.”</a:t>
            </a:r>
          </a:p>
          <a:p>
            <a:r>
              <a:t>Find common ground: “We both agree the problem is real. We just disagree on the cause.”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best way to bring bad news in a meeting? | “I think the best way is…” / “I give the facts first, then…”</a:t>
            </a:r>
          </a:p>
          <a:p>
            <a:r>
              <a:t>2. How do you describe a problem without blaming people? | “I focus on the process, not the person.” / “I say ‘we’ instead of ‘you’.”</a:t>
            </a:r>
          </a:p>
          <a:p>
            <a:r>
              <a:t>3. What would you do if two people disagree strongly in a video meeting? | “I would ask each person to…” / “I’d suggest taking a short break.”</a:t>
            </a:r>
          </a:p>
          <a:p>
            <a:r>
              <a:t>4. Why is it important to find the root cause of a problem? | “If we don’t find the root cause, then…” / “The same problem will come back.”</a:t>
            </a:r>
          </a:p>
          <a:p>
            <a:r>
              <a:t>5. How do you politely disagree in English? | “I say, ‘I see where you’re coming from, but…’” / “I ask a question, such as ‘Have we considered…?’”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usually start by showing that I understand the other person’s point, for example,”I see where you’re coming from, but…” or “That’s a fair point, but I’d like to look at it from another angle.” I avoid saying “No, you’re wrong”. If I need more information, I ask a question, such as “Have we considered the cost?” This keeps the discussion open and respectful.”</a:t>
            </a:r>
          </a:p>
          <a:p>
            <a:r>
              <a:t>“from another angle”(从另一个角度)。“keeps the discussion open”(保持讨论开放)。注意 “I avoid saying…”:avoid 后面接动名词(-ing)。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problems 讨论问题用语</a:t>
            </a:r>
          </a:p>
          <a:p>
            <a:r>
              <a:t>Function | Say this</a:t>
            </a:r>
          </a:p>
          <a:p>
            <a:r>
              <a:t>Raise | We’ve run into a problem with… / The main issue is…</a:t>
            </a:r>
          </a:p>
          <a:p>
            <a:r>
              <a:t>Soften ★ | There seems to be a problem with… / It looks like there might be an issue with…</a:t>
            </a:r>
          </a:p>
          <a:p>
            <a:r>
              <a:t>Size | We’re two weeks behind schedule. / We’re 10% over budget.</a:t>
            </a:r>
          </a:p>
          <a:p>
            <a:r>
              <a:t>Ask cause | What’s causing…? / What’s the root cause? ★</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problems 讨论问题用语</a:t>
            </a:r>
          </a:p>
          <a:p>
            <a:r>
              <a:t>Function | Say this</a:t>
            </a:r>
          </a:p>
          <a:p>
            <a:r>
              <a:t>Effect | As a result, … / This means that… / The impact is… ★</a:t>
            </a:r>
          </a:p>
          <a:p>
            <a:r>
              <a:t>Evidence | Let me share my screen to show you the data. / Could you give us some figures? ★</a:t>
            </a:r>
          </a:p>
          <a:p>
            <a:r>
              <a:t>Agree | That’s a fair point. / I take your point. ★</a:t>
            </a:r>
          </a:p>
          <a:p>
            <a:r>
              <a:t>Disagree | I see where you’re coming from, but… ★ / I’m not sure I agree.</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and effect 因果表达</a:t>
            </a:r>
          </a:p>
          <a:p>
            <a:r>
              <a:t>Cause | Effect</a:t>
            </a:r>
          </a:p>
          <a:p>
            <a:r>
              <a:t>because + clause | We’re late because the supplier delivered late.</a:t>
            </a:r>
          </a:p>
          <a:p>
            <a:r>
              <a:t>because of / due to + noun | We’re late because of / due to the supplier.</a:t>
            </a:r>
          </a:p>
          <a:p>
            <a:r>
              <a:t>so + result | The supplier was late, so we’re late.</a:t>
            </a:r>
          </a:p>
          <a:p>
            <a:r>
              <a:t>As a result, … | The supplier was late. As a result, we’re two weeks behind.</a:t>
            </a:r>
          </a:p>
          <a:p>
            <a:r>
              <a:t>This means that … | This means that we can’t launch in November.</a:t>
            </a:r>
          </a:p>
          <a:p>
            <a:r>
              <a:t>lead to / result in ★ | The delay led to higher costs.</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and effect 因果表达</a:t>
            </a:r>
          </a:p>
          <a:p>
            <a:r>
              <a:t>Fact + feeling: “We’re two weeks behind. I’m worried about the launch.” Separate facts from opinions.</a:t>
            </a:r>
          </a:p>
          <a:p>
            <a:r>
              <a:t>Past, present perfect, present: “The supplier was late. We have lost two weeks. We are behind.”</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meet a problem.  →  ✓ We’ve run into a problem. / We’ve come across a problem.  (遇到问题 → run into)</a:t>
            </a:r>
          </a:p>
          <a:p>
            <a:r>
              <a:t>✗ This problem is very very big.  →  ✓ This is a serious problem. We’re two weeks behind.  (用具体事实说明,不要重复 very)</a:t>
            </a:r>
          </a:p>
          <a:p>
            <a:r>
              <a:t>✗ Because the supplier was late, so we are behind.  →  ✓ Because the supplier was late, we are behind. / The supplier was late, so we’re behind.  (because 和 so 不同时用)</a:t>
            </a:r>
          </a:p>
          <a:p>
            <a:r>
              <a:t>✗ We’re late because of the supplier was late.  →  ✓ We’re late because the supplier was late. / We’re late because of the supplier.  (because + 句子;because of + 名词)</a:t>
            </a:r>
          </a:p>
          <a:p>
            <a:r>
              <a:t>Mistake Watch: because + clause vs because of + noun; never because… so… together. discuss + noun; I disagree (verb).</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a delay of two weeks.  →  ✓ We’re two weeks behind schedule. / We have a two-week delay.  (更自然的说法)</a:t>
            </a:r>
          </a:p>
          <a:p>
            <a:r>
              <a:t>✗ Your idea is wrong.  →  ✓ I see where you’re coming from, but…  (避免直接否定)</a:t>
            </a:r>
          </a:p>
          <a:p>
            <a:r>
              <a:t>✗ I’m disagree.  →  ✓ I disagree. / I’m not sure I agree.  (disagree 是动词)</a:t>
            </a:r>
          </a:p>
          <a:p>
            <a:r>
              <a:t>✗ We should discuss about the problem.  →  ✓ We should discuss the problem.  (discuss 后不加 about)</a:t>
            </a:r>
          </a:p>
          <a:p>
            <a:r>
              <a:t>Mistake Watch: because + clause vs because of + noun; never because… so… together. discuss + noun; I disagree (verb).</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It’s your fault.  →  ✓ There seems to be a problem with the process.  (对事不对人)</a:t>
            </a:r>
          </a:p>
          <a:p>
            <a:r>
              <a:t>✗ seriuos / bottle neck  →  ✓ serious / bottleneck  (拼写)</a:t>
            </a:r>
          </a:p>
          <a:p>
            <a:r>
              <a:t>Mistake Watch: because + clause vs because of + noun; never because… so… together. discuss + noun; I disagree (verb).</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Separate the person from the problem. English business culture says “The process isn’t working” rather than “You made a mistake”.</a:t>
            </a:r>
          </a:p>
          <a:p>
            <a:r>
              <a:t>Bad news early. Western managers prefer to hear about problems early, with a plan. “We’ve run into a problem, and here is what we propose” is respected.</a:t>
            </a:r>
          </a:p>
          <a:p>
            <a:r>
              <a:t>Disagreement is normal. Polite disagreement (“I see your point, but…”) shows engagement. Silence may be read as agreement, not politeness.</a:t>
            </a:r>
          </a:p>
          <a:p>
            <a:r>
              <a:t>Use facts. “15% over budget” is better than “a lot of money”. Numbers make people trust you.</a:t>
            </a:r>
          </a:p>
          <a:p>
            <a:r>
              <a:t>Avoid sarcasm on video. Without body language, jokes about someone’s mistake can be misunderstood.</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raise a problem and describe its size with facts (We’re two weeks behind schedule).</a:t>
            </a:r>
          </a:p>
          <a:p>
            <a:r>
              <a:t>I can ask about the cause and the effect (What’s causing…? What’s the impact?).</a:t>
            </a:r>
          </a:p>
          <a:p>
            <a:r>
              <a:t>I can agree and disagree politely (That’s a fair point. I see where you’re coming from, but…).</a:t>
            </a:r>
          </a:p>
          <a:p>
            <a:r>
              <a:t>I can use because / because of / so / as a result correctly.</a:t>
            </a:r>
          </a:p>
          <a:p>
            <a:r>
              <a:t>I can share a screen and present data in a video meeting.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because + clause / because of + noun, discuss + noun, polite disagreement, and facts with numbers.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30 · Finding solutions 寻找解决方案</a:t>
            </a:r>
          </a:p>
          <a:p>
            <a:r>
              <a:t>Goal: find solutions in a video conference: brainstorm options, suggest and compare ideas, give reasons, reach agreement, and decide on actions with names and deadlines.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题讲过去的事,请用过去式(found, suggested, decided)。第 2 题可以说 “I say, ‘How about…?’”。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Propose a solution to a project delay and explain why it is the best option.</a:t>
            </a:r>
          </a:p>
          <a:p>
            <a:r>
              <a:t>Say: the problem → option 1 → option 2 → which one you recommend and why → what needs to happen next.</a:t>
            </a:r>
          </a:p>
          <a:p>
            <a:r>
              <a:t>Useful starters: “One option is to…” / “Another possibility is…” / “I’d recommend…, because…” / “The next step is…”</a:t>
            </a:r>
          </a:p>
          <a:p>
            <a:r>
              <a:t>提建议常用 could / should / Why don’t we…? / How about + -ing。比较方案:On the one hand… On the other hand…。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Making suggestions 提出建议</a:t>
            </a:r>
          </a:p>
          <a:p>
            <a:r>
              <a:t>领读 → 学员跟读 → 请学员用表达造一个和自己工作相关的句子。</a:t>
            </a:r>
          </a:p>
          <a:p>
            <a:r>
              <a:t>What can we do about this? (phrase) 我们对此能做什么? — “What can we do about this delay?”</a:t>
            </a:r>
          </a:p>
          <a:p>
            <a:r>
              <a:t>One option is to… (phrase) 一个选择是…… — “One option is to hire extra staff.”</a:t>
            </a:r>
          </a:p>
          <a:p>
            <a:r>
              <a:t>We could… / Why don’t we…? (phrase) 我们可以……/ 我们为什么不……? — “Why don’t we ask the supplier for a faster delivery?”</a:t>
            </a:r>
          </a:p>
          <a:p>
            <a:r>
              <a:t>How about + -ing? (phrase) ……怎么样? — “How about moving the launch to December?”</a:t>
            </a:r>
          </a:p>
          <a:p>
            <a:r>
              <a:t>★ I suggest (that) we + base verb (phrase) 我建议我们…… — “I suggest we split the work between two teams.”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Comparing and evaluating 比较与评估</a:t>
            </a:r>
          </a:p>
          <a:p>
            <a:r>
              <a:t>领读 → 学员跟读 → 请学员用表达造一个和自己工作相关的句子。</a:t>
            </a:r>
          </a:p>
          <a:p>
            <a:r>
              <a:t>What are the pros and cons? (phrase) 利弊是什么? — “What are the pros and cons of each option?”</a:t>
            </a:r>
          </a:p>
          <a:p>
            <a:r>
              <a:t>★ On the one hand… On the other hand… (phrase) 一方面……,另一方面…… — “On the one hand it’s faster; on the other hand it’s more expensive.”</a:t>
            </a:r>
          </a:p>
          <a:p>
            <a:r>
              <a:t>That might work. / That could work. (phrase) 这也许可行 — “That might work, but we’d need to check the cost.”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Comparing and evaluating 比较与评估</a:t>
            </a:r>
          </a:p>
          <a:p>
            <a:r>
              <a:t>领读 → 学员跟读 → 请学员用表达造一个和自己工作相关的句子。</a:t>
            </a:r>
          </a:p>
          <a:p>
            <a:r>
              <a:t>★ The best way forward is to… (phrase) 最好的办法是…… — “In my view, the best way forward is to start with a pilot.”</a:t>
            </a:r>
          </a:p>
          <a:p>
            <a:r>
              <a:t>★ It would be worth trying… (phrase) 值得试一试…… — “It would be worth trying a smaller test first.”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Agreeing and deciding 达成一致与决定</a:t>
            </a:r>
          </a:p>
          <a:p>
            <a:r>
              <a:t>领读 → 学员跟读 → 请学员用表达造一个和自己工作相关的句子。</a:t>
            </a:r>
          </a:p>
          <a:p>
            <a:r>
              <a:t>Are we all agreed? / Are we all OK with that? (phrase) 大家都同意吗? — “Are we all agreed on option B?”</a:t>
            </a:r>
          </a:p>
          <a:p>
            <a:r>
              <a:t>I’m in favour of… (phrase) 我赞成…… — “I’m in favour of option B.”</a:t>
            </a:r>
          </a:p>
          <a:p>
            <a:r>
              <a:t>★ Let’s meet halfway. (idiom) 我们各退一步吧 — “Let’s meet halfway: a 5% discount and a longer contract.”</a:t>
            </a:r>
          </a:p>
          <a:p>
            <a:r>
              <a:t>Let’s go with option B. (phrase) 我们就选方案B吧 — “OK, let’s go with option B.”</a:t>
            </a:r>
          </a:p>
          <a:p>
            <a:r>
              <a:t>★ Who’s taking the lead on this? (phrase) 谁来牵头? — “Who’s taking the lead on this?”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option / cons / with / about / delivery / halfway</a:t>
            </a:r>
          </a:p>
          <a:p>
            <a:r>
              <a:t>1. What can we do _______ this delay? → about</a:t>
            </a:r>
          </a:p>
          <a:p>
            <a:r>
              <a:t>2. One _______ is to hire extra staff. → option</a:t>
            </a:r>
          </a:p>
          <a:p>
            <a:r>
              <a:t>3. Why don’t we ask the supplier for a faster _______? → delivery</a:t>
            </a:r>
          </a:p>
          <a:p>
            <a:r>
              <a:t>4. What are the pros and _______? → cons</a:t>
            </a:r>
          </a:p>
          <a:p>
            <a:r>
              <a:t>5. Let’s meet _______: a 5% discount and a longer contract. → halfway</a:t>
            </a:r>
          </a:p>
          <a:p>
            <a:r>
              <a:t>6. Let’s go _______ option B. → with</a:t>
            </a:r>
          </a:p>
          <a:p>
            <a:r>
              <a:t>Mistake Watch (动词形式与搭配): suggest (not “suggest to do”): “I suggest that we start” / “I suggest starting”. pros and cons (not “pros or cons”). halfway (one word).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Brainstorming solutions to a delay 头脑风暴解决延迟</a:t>
            </a:r>
          </a:p>
          <a:p>
            <a:r>
              <a:t>情景：Your team must solve a two-week delay. You chair the discussion.</a:t>
            </a:r>
          </a:p>
          <a:p>
            <a:r>
              <a:t>Role A: Li Wei, chair Role B: Dan Reed Role C: Sophie Zhou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OK, we know the problem: we’re two weeks behind. What can we do about it? Any ideas?</a:t>
            </a:r>
          </a:p>
          <a:p>
            <a:r>
              <a:t>B (Dan): One option is to hire temporary staff for the testing stage.</a:t>
            </a:r>
          </a:p>
          <a:p>
            <a:r>
              <a:t>C (Sophie): Why don’t we ask the supplier for a faster delivery of the remaining parts?</a:t>
            </a:r>
          </a:p>
          <a:p>
            <a:r>
              <a:t>A: Good. Two options. What are the pros and cons?</a:t>
            </a:r>
          </a:p>
          <a:p>
            <a:r>
              <a:t>B: Temporary staff would speed up the testing, but we’d need time to train them.</a:t>
            </a:r>
          </a:p>
          <a:p>
            <a:r>
              <a:t>C: A faster delivery is cheaper, but the supplier has already been late once.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On the one hand, we need speed. On the other hand, we can’t take big risks.</a:t>
            </a:r>
          </a:p>
          <a:p>
            <a:r>
              <a:t>B: How about doing both? We hire two temporary testers and ask the supplier for a partial delivery by Friday.</a:t>
            </a:r>
          </a:p>
          <a:p>
            <a:r>
              <a:t>C: That could work. I’d be in favour of that.</a:t>
            </a:r>
          </a:p>
          <a:p>
            <a:r>
              <a:t>A: Are we all agreed?</a:t>
            </a:r>
          </a:p>
          <a:p>
            <a:r>
              <a:t>B: Yes.</a:t>
            </a:r>
          </a:p>
          <a:p>
            <a:r>
              <a:t>A: Good. Let’s go with that. Dan, can you take the lead on the temporary staff? Sophie, could you speak to the supplier by Wednesday?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55 | </a:t>
            </a:r>
          </a:p>
          <a:p>
            <a:r>
              <a:t>Situation | A team looks for solutions to a problem.</a:t>
            </a:r>
          </a:p>
          <a:p>
            <a:r>
              <a:t>Your role (A) | Chair. Ask for ideas, compare, decide.</a:t>
            </a:r>
          </a:p>
          <a:p>
            <a:r>
              <a:t>Partners (B, C) | Team members. Suggest and react.</a:t>
            </a:r>
          </a:p>
          <a:p>
            <a:r>
              <a:t>Must use (4 or more) | What can we do about…? · One option is to… · Why don’t we…? · What are the pros and cons? · Let’s go with…</a:t>
            </a:r>
          </a:p>
          <a:p>
            <a:r>
              <a:t>Goal | Generate 3 options, compare them, decide, and assign tasks.</a:t>
            </a:r>
          </a:p>
          <a:p>
            <a:r>
              <a:t>My notes | ____________________________________________</a:t>
            </a:r>
          </a:p>
          <a:p>
            <a:r>
              <a:t>There’s no budget. Say: “We can’t spend more than 5,000. What can we do within that?”</a:t>
            </a:r>
          </a:p>
          <a:p>
            <a:r>
              <a:t>Two people disagree. Say: “Let’s meet halfway. How about …?”</a:t>
            </a:r>
          </a:p>
          <a:p>
            <a:r>
              <a:t>Time is short. Say: “We have five minutes. Let’s decide now.”</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between two options 比较两个方案</a:t>
            </a:r>
          </a:p>
          <a:p>
            <a:r>
              <a:t>情景：You must choose between two suppliers. Colleagues give opinions.</a:t>
            </a:r>
          </a:p>
          <a:p>
            <a:r>
              <a:t>Role A: Li Wei Role B: Sophie Zhou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Sophie, we have two suppliers: BlueSea and Nordic Steel. What do you think?</a:t>
            </a:r>
          </a:p>
          <a:p>
            <a:r>
              <a:t>B (Sophie): On the one hand, BlueSea is 8% cheaper. On the other hand, Nordic Steel has better delivery times.</a:t>
            </a:r>
          </a:p>
          <a:p>
            <a:r>
              <a:t>A: That’s right. BlueSea has also had some quality complaints.</a:t>
            </a:r>
          </a:p>
          <a:p>
            <a:r>
              <a:t>B: I’d say we should avoid the risk. The best way forward might be to choose Nordic Steel and negotiate the price.</a:t>
            </a:r>
          </a:p>
          <a:p>
            <a:r>
              <a:t>A: That makes sense. They could give us a 5% discount for a larger order.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It would be worth trying. Why don’t we ask them for a revised quotation?</a:t>
            </a:r>
          </a:p>
          <a:p>
            <a:r>
              <a:t>A: Good idea. And if they say no, we can go back to BlueSea.</a:t>
            </a:r>
          </a:p>
          <a:p>
            <a:r>
              <a:t>B: Agreed. I suggest we decide by Friday.</a:t>
            </a:r>
          </a:p>
          <a:p>
            <a:r>
              <a:t>A: Fine. I’ll email Nordic Steel today. Could you check BlueSea’s complaints?</a:t>
            </a:r>
          </a:p>
          <a:p>
            <a:r>
              <a:t>B: Sure. I’ll send you a summary tomorrow.</a:t>
            </a:r>
          </a:p>
          <a:p>
            <a:r>
              <a:t>A: Perfect.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56 | </a:t>
            </a:r>
          </a:p>
          <a:p>
            <a:r>
              <a:t>Situation | Two options, and you must recommend one.</a:t>
            </a:r>
          </a:p>
          <a:p>
            <a:r>
              <a:t>Your role (A) | Colleague. Compare the options with pros and cons.</a:t>
            </a:r>
          </a:p>
          <a:p>
            <a:r>
              <a:t>Partner’s role (B) | Manager. Asks “Why?” and “What if?”</a:t>
            </a:r>
          </a:p>
          <a:p>
            <a:r>
              <a:t>Must use (4 or more) | On the one hand… On the other hand… · I’d recommend… because… · I suggest we… · It would be worth trying…</a:t>
            </a:r>
          </a:p>
          <a:p>
            <a:r>
              <a:t>Goal | Recommend one option with two reasons and say what happens next.</a:t>
            </a:r>
          </a:p>
          <a:p>
            <a:r>
              <a:t>My notes | ____________________________________________</a:t>
            </a:r>
          </a:p>
          <a:p>
            <a:r>
              <a:t>A third option appears. Say: “Before we decide, let’s look at option C as well.”</a:t>
            </a:r>
          </a:p>
          <a:p>
            <a:r>
              <a:t>You disagree with the group. Say: “I understand the majority view, but I’d like to suggest another way.”</a:t>
            </a:r>
          </a:p>
          <a:p>
            <a:r>
              <a:t>Summarize: “So we’re going with Nordic Steel. Li Wei contacts them by Wednesday.”</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come up with new ideas in a team? | “We usually brainstorm by…” / “I ask everyone to write down…”</a:t>
            </a:r>
          </a:p>
          <a:p>
            <a:r>
              <a:t>2. Is it better to decide quickly or take time to find the best solution? | “It depends on how important the decision is.” / “Quick decisions are fine for small things.”</a:t>
            </a:r>
          </a:p>
          <a:p>
            <a:r>
              <a:t>3. Who should make the final decision: the group, the manager, or a vote? | “I think the manager should decide after…” / “A vote is fair when…”</a:t>
            </a:r>
          </a:p>
          <a:p>
            <a:r>
              <a:t>4. How do you handle a team member who rejects every idea? | “I ask them to suggest something better.” / “I try to find out what concerns them.”</a:t>
            </a:r>
          </a:p>
          <a:p>
            <a:r>
              <a:t>5. What is the difference between a good solution and a quick fix? | “A quick fix solves… for now, but…” / “A good solution addresses the root cause.”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quick fix solves the problem for now, but it often comes back. For example, if we hire temporary staff because we’re behind, the project catches up, but the cause (poor planning) is still there. A good solution looks at the root cause. So I would say:”Let’s hire temporary staff now, but also review how we plan projects.” That way, we deal with both the short-term and the long-term problem.”</a:t>
            </a:r>
          </a:p>
          <a:p>
            <a:r>
              <a:t>“catches up”(追上进度)是短语动词。“short-term and long-term”(短期和长期)。“That way,…” 引导结果。</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solutions 讨论方案用语</a:t>
            </a:r>
          </a:p>
          <a:p>
            <a:r>
              <a:t>Function | Say this</a:t>
            </a:r>
          </a:p>
          <a:p>
            <a:r>
              <a:t>Ask for ideas | What can we do about this? / Does anyone have any suggestions?</a:t>
            </a:r>
          </a:p>
          <a:p>
            <a:r>
              <a:t>Suggest | One option is to… / We could… / Why don’t we…? / How about…?</a:t>
            </a:r>
          </a:p>
          <a:p>
            <a:r>
              <a:t>Formal ★ | I suggest (that) we… / I’d recommend…</a:t>
            </a:r>
          </a:p>
          <a:p>
            <a:r>
              <a:t>Compare | What are the pros and cons? / On the one hand… On the other hand… ★</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solutions 讨论方案用语</a:t>
            </a:r>
          </a:p>
          <a:p>
            <a:r>
              <a:t>Function | Say this</a:t>
            </a:r>
          </a:p>
          <a:p>
            <a:r>
              <a:t>React | That might work. / That’s a good idea. / I’m not sure that would work.</a:t>
            </a:r>
          </a:p>
          <a:p>
            <a:r>
              <a:t>Decide | Are we all agreed? / Let’s go with…</a:t>
            </a:r>
          </a:p>
          <a:p>
            <a:r>
              <a:t>Compromise | Let’s meet halfway. ★</a:t>
            </a:r>
          </a:p>
          <a:p>
            <a:r>
              <a:t>Action | Who’s taking the lead? ★ / Could you do that by Wednesday?</a:t>
            </a:r>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Suggestion patterns 建议句型</a:t>
            </a:r>
          </a:p>
          <a:p>
            <a:r>
              <a:t>Pattern | Example</a:t>
            </a:r>
          </a:p>
          <a:p>
            <a:r>
              <a:t>We could + base verb | We could ask the supplier.</a:t>
            </a:r>
          </a:p>
          <a:p>
            <a:r>
              <a:t>Why don’t we + base verb? | Why don’t we hire extra staff?</a:t>
            </a:r>
          </a:p>
          <a:p>
            <a:r>
              <a:t>How about + -ing? | How about asking the supplier?</a:t>
            </a:r>
          </a:p>
          <a:p>
            <a:r>
              <a:t>I suggest (that) we + base verb | I suggest we ask the supplier. ★</a:t>
            </a:r>
          </a:p>
          <a:p>
            <a:r>
              <a:t>I suggest + -ing | I suggest asking the supplier.</a:t>
            </a:r>
          </a:p>
          <a:p>
            <a:r>
              <a:t>Let’s + base verb | Let’s ask the supplier.</a:t>
            </a:r>
          </a:p>
          <a:p>
            <a:r>
              <a:t>It would be a good idea to + base verb | It would be a good idea to ask the supplier.</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Suggestion patterns 建议句型</a:t>
            </a:r>
          </a:p>
          <a:p>
            <a:r>
              <a:t>suggest cannot take “to + verb” or a person: ✗ “I suggest you to ask” ✓ “I suggest (that) you ask” / “I suggest asking”.</a:t>
            </a:r>
          </a:p>
          <a:p>
            <a:r>
              <a:t>Soft vs strong: could and might are softer; should and need to are stronger. In a meeting with senior people, use could / might.</a:t>
            </a:r>
          </a:p>
          <a:p>
            <a:r>
              <a:t>Conditionals: “If we hire two testers, we will catch up.” (real possibility) vs “If we had more budget, we could hire more people.” (unreal).</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suggest you to ask the supplier.  →  ✓ I suggest (that) you ask the supplier. / I suggest asking the supplier.  (suggest 不接 to do)</a:t>
            </a:r>
          </a:p>
          <a:p>
            <a:r>
              <a:t>✗ I suggest to hire extra staff.  →  ✓ I suggest hiring extra staff. / I suggest we hire extra staff.  (suggest + -ing / 从句)</a:t>
            </a:r>
          </a:p>
          <a:p>
            <a:r>
              <a:t>✗ How about we to ask?  →  ✓ How about asking? / Why don’t we ask?  (how about + -ing)</a:t>
            </a:r>
          </a:p>
          <a:p>
            <a:r>
              <a:t>✗ We should to hire staff.  →  ✓ We should hire staff.  (should + 动词原形)</a:t>
            </a:r>
          </a:p>
          <a:p>
            <a:r>
              <a:t>✗ Let’s to go with option B.  →  ✓ Let’s go with option B.  (Let’s + 原形)</a:t>
            </a:r>
          </a:p>
          <a:p>
            <a:r>
              <a:t>Mistake Watch: suggest + -ing or suggest (that) + subject + base verb. Never suggest to do or suggest you to. In my opinion (not according to me).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Pros or cons?  →  ✓ What are the pros and cons?  (并列用 and)</a:t>
            </a:r>
          </a:p>
          <a:p>
            <a:r>
              <a:t>✗ My opinion is we should wait.  →  ✓ In my opinion, we should wait. / I think we should wait.  (in my opinion)</a:t>
            </a:r>
          </a:p>
          <a:p>
            <a:r>
              <a:t>✗ According to me, option A is better.  →  ✓ In my view, option A is better. / I think option A is better.  (不说 according to me)</a:t>
            </a:r>
          </a:p>
          <a:p>
            <a:r>
              <a:t>✗ Agree?  →  ✓ Are we all agreed? / Are we all OK with that?  (完整问句)</a:t>
            </a:r>
          </a:p>
          <a:p>
            <a:r>
              <a:t>✗ halfeway / bottle neck  →  ✓ halfway / bottleneck  (拼写)</a:t>
            </a:r>
          </a:p>
          <a:p>
            <a:r>
              <a:t>Mistake Watch: suggest + -ing or suggest (that) + subject + base verb. Never suggest to do or suggest you to. In my opinion (not according to me).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Everyone is expected to contribute. In Western meetings, silence is not always respect. If you have an idea, say it. “Can I add something?” is a good way in.</a:t>
            </a:r>
          </a:p>
          <a:p>
            <a:r>
              <a:t>Ideas aren’t criticisms. In brainstorming, you suggest first and judge later. Try “Yes, and…” rather than “No, but…”.</a:t>
            </a:r>
          </a:p>
          <a:p>
            <a:r>
              <a:t>Give a recommendation. Managers like “I recommend X because Y” more than “We could do X or Y, I don’t know.”</a:t>
            </a:r>
          </a:p>
          <a:p>
            <a:r>
              <a:t>Decisions have owners and dates. “Dan, by Wednesday” is better than “Someone should check this.”</a:t>
            </a:r>
          </a:p>
          <a:p>
            <a:r>
              <a:t>Compromise is positive. “Let’s meet halfway” is a friendly way to end disagreement, not a sign of weakness.</a:t>
            </a:r>
          </a:p>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ask for ideas and make suggestions (One option is to… Why don’t we…? I suggest we…).</a:t>
            </a:r>
          </a:p>
          <a:p>
            <a:r>
              <a:t>I can compare options with pros and cons and on the one hand… on the other hand….</a:t>
            </a:r>
          </a:p>
          <a:p>
            <a:r>
              <a:t>I can recommend one option and give a reason.</a:t>
            </a:r>
          </a:p>
          <a:p>
            <a:r>
              <a:t>I can reach a decision (Are we all agreed? Let’s go with…) and assign actions with names and dates.</a:t>
            </a:r>
          </a:p>
          <a:p>
            <a:r>
              <a:t>I can use suggest + -ing / that-clause, how about + -ing and should + base verb correctly.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suggest + -ing / that + base verb, how about + -ing, in my opinion, and spelling (bottleneck, halfway).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31 · Ending the video conference 结束视频会议</a:t>
            </a:r>
          </a:p>
          <a:p>
            <a:r>
              <a:t>Goal: close a video conference clearly: summarize decisions, confirm action points with owners and deadlines, agree the next meeting, thank participants, and say goodbye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题讲过去的事,请用过去式(ended, was, happened)。第 3 题可以说 “It’s important because…”。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Close a 60-minute video conference with a summary and next steps.</a:t>
            </a:r>
          </a:p>
          <a:p>
            <a:r>
              <a:t>Say: signal the end → summary of decisions → action points (who, what, when) → next meeting → thanks.</a:t>
            </a:r>
          </a:p>
          <a:p>
            <a:r>
              <a:t>Useful starters: “We’re running out of time, so…” / “To sum up, …” / “The action points are…” / “Thank you all for joining.”</a:t>
            </a:r>
          </a:p>
          <a:p>
            <a:r>
              <a:t>总结用 To sum up / To summarize / So, in short。行动项:Dan will…, by Friday。结束语要热情:Thanks, everyone. Have a good day / evening.</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Wrapping up 收尾</a:t>
            </a:r>
          </a:p>
          <a:p>
            <a:r>
              <a:t>领读 → 学员跟读 → 请学员用表达造一个和自己工作相关的句子。</a:t>
            </a:r>
          </a:p>
          <a:p>
            <a:r>
              <a:t>We’re running out of time. (phrase) 我们时间快用完了 — “We’re running out of time, so let’s wrap up.”</a:t>
            </a:r>
          </a:p>
          <a:p>
            <a:r>
              <a:t>Let’s wrap up. (phrasal verb) 我们收尾吧 — “OK, let’s wrap up.”</a:t>
            </a:r>
          </a:p>
          <a:p>
            <a:r>
              <a:t>★ Before we close, does anyone have any final questions? (phrase) 结束前,大家还有问题吗? — “Before we close, does anyone have any final questions?”</a:t>
            </a:r>
          </a:p>
          <a:p>
            <a:r>
              <a:t>★ Let me recap what we’ve agreed. (phrase) 让我回顾一下我们达成的一致 — “Let me recap what we’ve agreed.”</a:t>
            </a:r>
          </a:p>
          <a:p>
            <a:r>
              <a:t>To sum up, … (phrase) 总结一下,…… — “To sum up, we’ll go with option B.”</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Actions and next steps 行动项与下一步</a:t>
            </a:r>
          </a:p>
          <a:p>
            <a:r>
              <a:t>领读 → 学员跟读 → 请学员用表达造一个和自己工作相关的句子。</a:t>
            </a:r>
          </a:p>
          <a:p>
            <a:r>
              <a:t>action points / action items (noun) 行动项 — “Let me read out the action points.”</a:t>
            </a:r>
          </a:p>
          <a:p>
            <a:r>
              <a:t>Dan will… by Friday. (phrase) 丹将在周五前…… — “Dan will send the revised plan by Friday.”</a:t>
            </a:r>
          </a:p>
          <a:p>
            <a:r>
              <a:t>★ Who’s responsible for…? (phrase) 谁负责……? — “Who’s responsible for the budget update?”</a:t>
            </a:r>
          </a:p>
          <a:p>
            <a:r>
              <a:t>I’ll send out the minutes tomorrow. (phrase) 我明天发会议纪要 — “I’ll send out the minutes by tomorrow noon.”</a:t>
            </a:r>
          </a:p>
          <a:p>
            <a:r>
              <a:t>★ The next meeting is on…, same time. (phrase) 下次会议在……,同一时间 — “The next meeting is on Thursday the 26th, same time.”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Thanking and saying goodbye 感谢与告别</a:t>
            </a:r>
          </a:p>
          <a:p>
            <a:r>
              <a:t>领读 → 学员跟读 → 请学员用表达造一个和自己工作相关的句子。</a:t>
            </a:r>
          </a:p>
          <a:p>
            <a:r>
              <a:t>Thank you all for joining. (phrase) 感谢大家参加 — “Thank you all for joining.”</a:t>
            </a:r>
          </a:p>
          <a:p>
            <a:r>
              <a:t>★ Thanks for your input. (phrase) 感谢大家的意见 — “Thanks for your input, everyone.”</a:t>
            </a:r>
          </a:p>
          <a:p>
            <a:r>
              <a:t>Have a good day / evening. (phrase) 祝您愉快 — “Have a good evening, everyone.”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Thanking and saying goodbye 感谢与告别</a:t>
            </a:r>
          </a:p>
          <a:p>
            <a:r>
              <a:t>领读 → 学员跟读 → 请学员用表达造一个和自己工作相关的句子。</a:t>
            </a:r>
          </a:p>
          <a:p>
            <a:r>
              <a:t>★ Please drop me a line if you have any questions. (phrase) 如有问题请随时联系我 — “Please drop me a line if you have any questions.”</a:t>
            </a:r>
          </a:p>
          <a:p>
            <a:r>
              <a:t>★ I’ll stop the recording now. (phrase) 我现在停止录制 — “I’ll stop the recording now.”</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recap / by / questions / joining / up / out</a:t>
            </a:r>
          </a:p>
          <a:p>
            <a:r>
              <a:t>1. We’re running _______ of time, so let’s wrap up. → out</a:t>
            </a:r>
          </a:p>
          <a:p>
            <a:r>
              <a:t>2. Does anyone have any final _______? → questions</a:t>
            </a:r>
          </a:p>
          <a:p>
            <a:r>
              <a:t>3. Let me _______ what we’ve agreed. → recap</a:t>
            </a:r>
          </a:p>
          <a:p>
            <a:r>
              <a:t>4. To sum _______, we’ll go with option B. → up</a:t>
            </a:r>
          </a:p>
          <a:p>
            <a:r>
              <a:t>5. Dan will send the revised plan _______ Friday. → by</a:t>
            </a:r>
          </a:p>
          <a:p>
            <a:r>
              <a:t>6. Thank you all for _______. → joining</a:t>
            </a:r>
          </a:p>
          <a:p>
            <a:r>
              <a:t>Mistake Watch (拼写与时态): minutes (plural), recap (short for recapitulate), action points. Use will + base verb for promises: “I will send” (not “I will to send”). Spell receive (ei after c) and separate (not “seperate”).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the meeting with a summary 总结并结束会议</a:t>
            </a:r>
          </a:p>
          <a:p>
            <a:r>
              <a:t>情景：You chair the final minutes of a video conference.</a:t>
            </a:r>
          </a:p>
          <a:p>
            <a:r>
              <a:t>Role A: Li Wei, chair Role B: Dan Reed Role C: Sophie Zhou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We’re running out of time, so let’s wrap up. Before we close, does anyone have any final questions?</a:t>
            </a:r>
          </a:p>
          <a:p>
            <a:r>
              <a:t>B (Dan): Just one. When will we get the minutes?</a:t>
            </a:r>
          </a:p>
          <a:p>
            <a:r>
              <a:t>A: I’ll send them out by tomorrow noon. Let me recap what we’ve agreed. To sum up, we’ll go with a two-step plan: temporary staff and a partial delivery from the supplier.</a:t>
            </a:r>
          </a:p>
          <a:p>
            <a:r>
              <a:t>C (Sophie): That’s right.</a:t>
            </a:r>
          </a:p>
          <a:p>
            <a:r>
              <a:t>A: The action points are: Dan will hire two testers by Friday; Sophie will speak to the supplier by Wednesday; I will update the timeline and send the minutes.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Got it.</a:t>
            </a:r>
          </a:p>
          <a:p>
            <a:r>
              <a:t>A: The next meeting is on Thursday the 26th, same time. Is that OK for everyone?</a:t>
            </a:r>
          </a:p>
          <a:p>
            <a:r>
              <a:t>C: That works for me.</a:t>
            </a:r>
          </a:p>
          <a:p>
            <a:r>
              <a:t>A: Great. Thanks for your input, everyone. Please drop me a line if you have any questions. Thank you all for joining, and have a good evening.</a:t>
            </a:r>
          </a:p>
          <a:p>
            <a:r>
              <a:t>B: Thanks, Li Wei. Bye, everyone.</a:t>
            </a:r>
          </a:p>
          <a:p>
            <a:r>
              <a:t>C: Bye!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57 | </a:t>
            </a:r>
          </a:p>
          <a:p>
            <a:r>
              <a:t>Situation | You close a video conference.</a:t>
            </a:r>
          </a:p>
          <a:p>
            <a:r>
              <a:t>Your role (A) | Chair. Summarize, assign actions, thank.</a:t>
            </a:r>
          </a:p>
          <a:p>
            <a:r>
              <a:t>Partners (B, C) | Participants. Ask one question, confirm their action.</a:t>
            </a:r>
          </a:p>
          <a:p>
            <a:r>
              <a:t>Must use (4 or more) | We’re running out of time. · Let me recap… · action points · The next meeting is on… · Thank you all for joining.</a:t>
            </a:r>
          </a:p>
          <a:p>
            <a:r>
              <a:t>Goal | A closing of 60–90 seconds with three actions (who, what, when).</a:t>
            </a:r>
          </a:p>
          <a:p>
            <a:r>
              <a:t>My notes | ____________________________________________</a:t>
            </a:r>
          </a:p>
          <a:p>
            <a:r>
              <a:t>A participant disagrees with the summary. Say: “Thanks for pointing that out. Let me correct that.”</a:t>
            </a:r>
          </a:p>
          <a:p>
            <a:r>
              <a:t>There’s no time for the last item. Say: “We’ll move item four to the next meeting.”</a:t>
            </a:r>
          </a:p>
          <a:p>
            <a:r>
              <a:t>End with a personal touch: “Have a great weekend, everyone.”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colleague stays on after the meeting 会议结束后的跟进</a:t>
            </a:r>
          </a:p>
          <a:p>
            <a:r>
              <a:t>情景：After the call, one colleague stays online to check the action points with you.</a:t>
            </a:r>
          </a:p>
          <a:p>
            <a:r>
              <a:t>Role A: Li Wei Role B: Dan Reed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thanks for staying on. I wanted to double-check the action points.</a:t>
            </a:r>
          </a:p>
          <a:p>
            <a:r>
              <a:t>B (Dan): Sure. I’m hiring two testers by Friday, right?</a:t>
            </a:r>
          </a:p>
          <a:p>
            <a:r>
              <a:t>A: Yes. Please send me their start dates when you have them.</a:t>
            </a:r>
          </a:p>
          <a:p>
            <a:r>
              <a:t>B: Will do. Who’s responsible for the budget update?</a:t>
            </a:r>
          </a:p>
          <a:p>
            <a:r>
              <a:t>A: I’ll do it. I’ll send the revised figures along with the minutes.</a:t>
            </a:r>
          </a:p>
          <a:p>
            <a:r>
              <a:t>B: Good. Shall I send a short summary to the New York team as well? They had to leave early.</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would be great. Could you copy me in?</a:t>
            </a:r>
          </a:p>
          <a:p>
            <a:r>
              <a:t>B: Of course. By the way, I think we should invite Jack to the next call.</a:t>
            </a:r>
          </a:p>
          <a:p>
            <a:r>
              <a:t>A: Good idea. Could you ask him?</a:t>
            </a:r>
          </a:p>
          <a:p>
            <a:r>
              <a:t>B: Yes. I’ll send him the calendar invitation today.</a:t>
            </a:r>
          </a:p>
          <a:p>
            <a:r>
              <a:t>A: Perfect. Thanks, Dan. Speak soon.</a:t>
            </a:r>
          </a:p>
          <a:p>
            <a:r>
              <a:t>B: Speak soon.</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58 | </a:t>
            </a:r>
          </a:p>
          <a:p>
            <a:r>
              <a:t>Situation | A short chat after the meeting to confirm actions.</a:t>
            </a:r>
          </a:p>
          <a:p>
            <a:r>
              <a:t>Your role (A) | Chair. Check the actions and the timing.</a:t>
            </a:r>
          </a:p>
          <a:p>
            <a:r>
              <a:t>Partner’s role (B) | Colleague. Asks about responsibilities.</a:t>
            </a:r>
          </a:p>
          <a:p>
            <a:r>
              <a:t>Must use (3 or more) | double-check · Who’s responsible for…? · Will do. · Could you copy me in? · Speak soon.</a:t>
            </a:r>
          </a:p>
          <a:p>
            <a:r>
              <a:t>Goal | Confirm every action point has an owner and a deadline.</a:t>
            </a:r>
          </a:p>
          <a:p>
            <a:r>
              <a:t>My notes | ____________________________________________</a:t>
            </a:r>
          </a:p>
          <a:p>
            <a:r>
              <a:t>Add a follow-up email in two sentences.</a:t>
            </a:r>
          </a:p>
          <a:p>
            <a:r>
              <a:t>Someone missed the meeting. Say: “I’ll send you the minutes and the recording link.”</a:t>
            </a:r>
          </a:p>
          <a:p>
            <a:r>
              <a:t>Politely end a long chat: “I’ll let you go. Thanks again.”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good ending to a meeting? | “A good ending includes…” / “It should be clear who does what.”</a:t>
            </a:r>
          </a:p>
          <a:p>
            <a:r>
              <a:t>2. Should every meeting end with action points? Why or why not? | “Yes, because otherwise…” / “Not always, for example…”</a:t>
            </a:r>
          </a:p>
          <a:p>
            <a:r>
              <a:t>3. How long should minutes be, and when should they be sent? | “Minutes should be short, with…” / “Within 24 hours is best.”</a:t>
            </a:r>
          </a:p>
          <a:p>
            <a:r>
              <a:t>4. What do you do when a meeting runs over time? | “I ask if everyone can stay…” / “I move the rest to the next meeting.”</a:t>
            </a:r>
          </a:p>
          <a:p>
            <a:r>
              <a:t>5. How do you thank participants without sounding too formal? | “I say ‘Thanks, everyone. That was productive.’” / “I mention something specific.”</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“Yes, I think every meeting should end with action points. Otherwise, people leave the meeting and nothing happens. A good action point has three parts: who does what, and by when. For example,”Dan will hire two testers by Friday.” When these are clear, it is easier to follow up. If there are no action points, I ask myself whether the meeting was necessary.”</a:t>
            </a:r>
          </a:p>
          <a:p>
            <a:r>
              <a:t>“Otherwise,…”(否则……)是 B2 常用连接词。“follow up”(跟进)作动词时分开写。“whether the meeting was necessary” 是宾语从句,用陈述语序。</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closing 结束用语</a:t>
            </a:r>
          </a:p>
          <a:p>
            <a:r>
              <a:t>Step | Say this</a:t>
            </a:r>
          </a:p>
          <a:p>
            <a:r>
              <a:t>Signal | We’re running out of time, so let’s wrap up. / We’ve come to the end of the agenda.</a:t>
            </a:r>
          </a:p>
          <a:p>
            <a:r>
              <a:t>Questions | Before we close, does anyone have any final questions? ★</a:t>
            </a:r>
          </a:p>
          <a:p>
            <a:r>
              <a:t>Summarize | To sum up, … / Let me recap what we’ve agreed. ★</a:t>
            </a:r>
          </a:p>
          <a:p>
            <a:r>
              <a:t>Actions | Dan will … by Friday. / The action points are…</a:t>
            </a:r>
          </a:p>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Video-conference language: closing 结束用语</a:t>
            </a:r>
          </a:p>
          <a:p>
            <a:r>
              <a:t>Step | Say this</a:t>
            </a:r>
          </a:p>
          <a:p>
            <a:r>
              <a:t>Minutes | I’ll send out the minutes by tomorrow noon.</a:t>
            </a:r>
          </a:p>
          <a:p>
            <a:r>
              <a:t>Next | The next meeting is on…, same time. ★</a:t>
            </a:r>
          </a:p>
          <a:p>
            <a:r>
              <a:t>Thank | Thank you all for joining. / Thanks for your input. ★</a:t>
            </a:r>
          </a:p>
          <a:p>
            <a:r>
              <a:t>Bye | Have a good evening. / Bye for now.</a:t>
            </a:r>
          </a:p>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Action-point template 行动项模板</a:t>
            </a:r>
          </a:p>
          <a:p>
            <a:r>
              <a:t>Who | What | By when</a:t>
            </a:r>
          </a:p>
          <a:p>
            <a:r>
              <a:t>Dan | Hire two temporary testers | Friday</a:t>
            </a:r>
          </a:p>
          <a:p>
            <a:r>
              <a:t>Sophie | Talk to the supplier about partial delivery | Wednesday</a:t>
            </a:r>
          </a:p>
          <a:p>
            <a:r>
              <a:t>Li Wei | Update the timeline; send the minutes | Tomorrow noon</a:t>
            </a:r>
          </a:p>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Action-point template 行动项模板</a:t>
            </a:r>
          </a:p>
          <a:p>
            <a:r>
              <a:t>Will + verb: “Dan will send the plan by Friday.” (decision/promise)</a:t>
            </a:r>
          </a:p>
          <a:p>
            <a:r>
              <a:t>Be responsible for: “Sophie is responsible for the supplier.”</a:t>
            </a:r>
          </a:p>
          <a:p>
            <a:r>
              <a:t>By + deadline: “by Friday” means “on or before Friday”.</a:t>
            </a:r>
          </a:p>
          <a:p>
            <a:r>
              <a:t>Minutes: a short record of what was decided: date, attendees, decisions, actions.</a:t>
            </a:r>
          </a:p>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Thanks for your attention. (to a meeting)  →  ✓ Thank you all for joining. / Thanks for your input.  (attention 是演讲结束语)</a:t>
            </a:r>
          </a:p>
          <a:p>
            <a:r>
              <a:t>✗ Our meeting end now.  →  ✓ Let’s wrap up. / That brings us to the end.  (完整句子)</a:t>
            </a:r>
          </a:p>
          <a:p>
            <a:r>
              <a:t>✗ We’ll meet next time.  →  ✓ The next meeting is on Thursday.  (具体时间)</a:t>
            </a:r>
          </a:p>
          <a:p>
            <a:r>
              <a:t>✗ Now I’ll make a summary.  →  ✓ To sum up, … / Let me recap…  (惯用语)</a:t>
            </a:r>
          </a:p>
          <a:p>
            <a:r>
              <a:t>✗ Dan will to send it.  →  ✓ Dan will send it.  (will 后不加 to)</a:t>
            </a:r>
          </a:p>
          <a:p>
            <a:r>
              <a:t>Mistake Watch: will + base verb (no “to”), by Friday (deadline), Who’s responsible for…, and Thank you all for joining (not for your attention).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will send it in Friday.  →  ✓ He will send it by Friday.  (by + 期限)</a:t>
            </a:r>
          </a:p>
          <a:p>
            <a:r>
              <a:t>✗ Who responsible for this?  →  ✓ Who’s responsible for this?  (be 动词)</a:t>
            </a:r>
          </a:p>
          <a:p>
            <a:r>
              <a:t>✗ I send the minutes tomorrow.  →  ✓ I’ll send the minutes tomorrow.  (决定用 will)</a:t>
            </a:r>
          </a:p>
          <a:p>
            <a:r>
              <a:t>✗ Any questions? No? OK, bye.  →  ✓ Does anyone have any final questions? … Thank you all.  (不要太突然)</a:t>
            </a:r>
          </a:p>
          <a:p>
            <a:r>
              <a:t>✗ recieve / seperate  →  ✓ receive / separate  (拼写)</a:t>
            </a:r>
          </a:p>
          <a:p>
            <a:r>
              <a:t>Mistake Watch: will + base verb (no “to”), by Friday (deadline), Who’s responsible for…, and Thank you all for joining (not for your attention).</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End on time. Finishing on time or a little early is appreciated. “We’re out of time, let’s continue in the next meeting” is acceptable.</a:t>
            </a:r>
          </a:p>
          <a:p>
            <a:r>
              <a:t>Say thank you. A short thank-you is expected even for routine meetings.</a:t>
            </a:r>
          </a:p>
          <a:p>
            <a:r>
              <a:t>Write it down. Minutes and action points protect everyone. A short email within 24 hours is the norm.</a:t>
            </a:r>
          </a:p>
          <a:p>
            <a:r>
              <a:t>Leave room for last questions. Many people don’t speak until the end. “Any last questions?” invites them.</a:t>
            </a:r>
          </a:p>
          <a:p>
            <a:r>
              <a:t>Hang up politely. On video calls, say goodbye, wave, and wait a second before leaving. Don’t just disappear.</a:t>
            </a:r>
          </a:p>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signal the end of a meeting (We’re running out of time. Let’s wrap up.).</a:t>
            </a:r>
          </a:p>
          <a:p>
            <a:r>
              <a:t>I can summarize decisions with To sum up… and Let me recap….</a:t>
            </a:r>
          </a:p>
          <a:p>
            <a:r>
              <a:t>I can state action points with who, what and when (Dan will… by Friday).</a:t>
            </a:r>
          </a:p>
          <a:p>
            <a:r>
              <a:t>I can agree the next meeting and say who will send the minutes.</a:t>
            </a:r>
          </a:p>
          <a:p>
            <a:r>
              <a:t>I can thank participants and say goodbye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will + base verb, by + deadline, Who’s responsible for, and spelling (receive, separate).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“你能共享屏幕吗?” in English? → Could you share your screen?</a:t>
            </a:r>
          </a:p>
          <a:p>
            <a:r>
              <a:t>“我们可以……/ 我们为什么不……?” in English? → We could… / Why don’t we…?</a:t>
            </a:r>
          </a:p>
          <a:p>
            <a:r>
              <a:t>“大家能看到我的屏幕吗?” in English? → Can everyone see my screen?</a:t>
            </a:r>
          </a:p>
          <a:p>
            <a:r>
              <a:t>Fix it: It’s your fault. → There seems to be a problem with the process.</a:t>
            </a:r>
          </a:p>
          <a:p>
            <a:r>
              <a:t>Fix it: We should discuss about the problem. → We should discuss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2.xml"/><Relationship Id="rId5" Type="http://schemas.openxmlformats.org/officeDocument/2006/relationships/slide" Target="slide61.xml"/><Relationship Id="rId6" Type="http://schemas.openxmlformats.org/officeDocument/2006/relationships/slide" Target="slide91.xml"/><Relationship Id="rId7" Type="http://schemas.openxmlformats.org/officeDocument/2006/relationships/slide" Target="slide1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 Id="rId4" Type="http://schemas.openxmlformats.org/officeDocument/2006/relationships/slide" Target="slide148.xml"/><Relationship Id="rId5" Type="http://schemas.openxmlformats.org/officeDocument/2006/relationships/slide" Target="slide149.xml"/><Relationship Id="rId6" Type="http://schemas.openxmlformats.org/officeDocument/2006/relationships/slide" Target="slide150.xml"/><Relationship Id="rId7" Type="http://schemas.openxmlformats.org/officeDocument/2006/relationships/slide" Target="slide151.xml"/><Relationship Id="rId8" Type="http://schemas.openxmlformats.org/officeDocument/2006/relationships/slide" Target="slide152.xml"/><Relationship Id="rId9" Type="http://schemas.openxmlformats.org/officeDocument/2006/relationships/slide" Target="slide153.xml"/><Relationship Id="rId10" Type="http://schemas.openxmlformats.org/officeDocument/2006/relationships/slide" Target="slide154.xml"/><Relationship Id="rId11" Type="http://schemas.openxmlformats.org/officeDocument/2006/relationships/slide" Target="slide155.xml"/><Relationship Id="rId12" Type="http://schemas.openxmlformats.org/officeDocument/2006/relationships/slide" Target="slide15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4 · UNIT 7</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Video Conferences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L27 Conference arrangements · L28 Starting the video conference · L29 Discussing problems · L30 Finding solutions · L31 Ending the video conference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27</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Conference arrangements</a:t>
            </a:r>
          </a:p>
          <a:p>
            <a:pPr algn="l">
              <a:lnSpc>
                <a:spcPct val="100000"/>
              </a:lnSpc>
              <a:spcAft>
                <a:spcPts val="800"/>
              </a:spcAft>
            </a:pPr>
            <a:r>
              <a:rPr sz="1400" b="0">
                <a:solidFill>
                  <a:srgbClr val="5F677A"/>
                </a:solidFill>
                <a:latin typeface="Arial"/>
                <a:ea typeface="Microsoft YaHei"/>
              </a:rPr>
              <a:t>会议安排</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28</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Starting the video conference</a:t>
            </a:r>
          </a:p>
          <a:p>
            <a:pPr algn="l">
              <a:lnSpc>
                <a:spcPct val="100000"/>
              </a:lnSpc>
              <a:spcAft>
                <a:spcPts val="800"/>
              </a:spcAft>
            </a:pPr>
            <a:r>
              <a:rPr sz="1400" b="0">
                <a:solidFill>
                  <a:srgbClr val="5F677A"/>
                </a:solidFill>
                <a:latin typeface="Arial"/>
                <a:ea typeface="Microsoft YaHei"/>
              </a:rPr>
              <a:t>开始视频会议</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29</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Discussing problems</a:t>
            </a:r>
          </a:p>
          <a:p>
            <a:pPr algn="l">
              <a:lnSpc>
                <a:spcPct val="100000"/>
              </a:lnSpc>
              <a:spcAft>
                <a:spcPts val="800"/>
              </a:spcAft>
            </a:pPr>
            <a:r>
              <a:rPr sz="1400" b="0">
                <a:solidFill>
                  <a:srgbClr val="5F677A"/>
                </a:solidFill>
                <a:latin typeface="Arial"/>
                <a:ea typeface="Microsoft YaHei"/>
              </a:rPr>
              <a:t>讨论问题</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30</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Finding solutions</a:t>
            </a:r>
          </a:p>
          <a:p>
            <a:pPr algn="l">
              <a:lnSpc>
                <a:spcPct val="100000"/>
              </a:lnSpc>
              <a:spcAft>
                <a:spcPts val="800"/>
              </a:spcAft>
            </a:pPr>
            <a:r>
              <a:rPr sz="1400" b="0">
                <a:solidFill>
                  <a:srgbClr val="5F677A"/>
                </a:solidFill>
                <a:latin typeface="Arial"/>
                <a:ea typeface="Microsoft YaHei"/>
              </a:rPr>
              <a:t>寻找解决方案</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31</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Ending the video conference</a:t>
            </a:r>
          </a:p>
          <a:p>
            <a:pPr algn="l">
              <a:lnSpc>
                <a:spcPct val="100000"/>
              </a:lnSpc>
              <a:spcAft>
                <a:spcPts val="800"/>
              </a:spcAft>
            </a:pPr>
            <a:r>
              <a:rPr sz="1400" b="0">
                <a:solidFill>
                  <a:srgbClr val="5F677A"/>
                </a:solidFill>
                <a:latin typeface="Arial"/>
                <a:ea typeface="Microsoft YaHei"/>
              </a:rPr>
              <a:t>结束视频会议</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 · Lesson 27 Conference arrangements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Conference arrangements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会议安排</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prepare and organize a video conference: choose the platform and time, invite participants, send the agenda and materials, test the technology, and plan a backup if the connection fails.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usually organize an online meeting at your company?</a:t>
            </a:r>
          </a:p>
        </p:txBody>
      </p:sp>
      <p:sp>
        <p:nvSpPr>
          <p:cNvPr id="12" name="Oval 11"/>
          <p:cNvSpPr/>
          <p:nvPr/>
        </p:nvSpPr>
        <p:spPr>
          <a:xfrm>
            <a:off x="548640" y="24262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Which platform do you use (Teams, Zoom, Tencent Meeting, DingTalk)? What do you like or dislike about it?</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can go wrong before a video conference starts?</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video conference that was well organized. What made it good?</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should be in a meeting invitation?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题讲过去的事,请用过去式(was, sent, tested)。第 5 题可以说 “A meeting invitation should include…”。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prepare a video conference with participants in three countries.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1. choose the time (time zones)</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 send the invitation and agenda</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 share the materials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 test the technology</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 prepare a backup plan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First, I check the time zones…   💬 I send the invitation with…   💬 A day before, I test…   💬 If the link doesn’t work, we can…</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说明顺序用 first / then / a day before / finally。“to + 动词” 表目的:I send the agenda to help people prepare。</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Planning and inviting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安排与邀请</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set up a video conference for…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我来安排一次视频会议</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set up a video conference for Thursday at ten.”</a:t>
            </a:r>
          </a:p>
        </p:txBody>
      </p:sp>
      <p:sp>
        <p:nvSpPr>
          <p:cNvPr id="14" name="Rounded Rectangle 13"/>
          <p:cNvSpPr/>
          <p:nvPr/>
        </p:nvSpPr>
        <p:spPr>
          <a:xfrm>
            <a:off x="548640" y="24257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find a slot that works across time zones.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我们找一个各时区都合适的时段</a:t>
            </a:r>
          </a:p>
        </p:txBody>
      </p:sp>
      <p:sp>
        <p:nvSpPr>
          <p:cNvPr id="18" name="TextBox 17"/>
          <p:cNvSpPr txBox="1"/>
          <p:nvPr/>
        </p:nvSpPr>
        <p:spPr>
          <a:xfrm>
            <a:off x="6675120" y="24714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find a slot that works across time zones.”</a:t>
            </a:r>
          </a:p>
        </p:txBody>
      </p:sp>
      <p:sp>
        <p:nvSpPr>
          <p:cNvPr id="19" name="Rounded Rectangle 18"/>
          <p:cNvSpPr/>
          <p:nvPr/>
        </p:nvSpPr>
        <p:spPr>
          <a:xfrm>
            <a:off x="548640" y="37388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388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7846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send out the invitation / the link.</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7846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我会发出邀请/链接</a:t>
            </a:r>
          </a:p>
        </p:txBody>
      </p:sp>
      <p:sp>
        <p:nvSpPr>
          <p:cNvPr id="23" name="TextBox 22"/>
          <p:cNvSpPr txBox="1"/>
          <p:nvPr/>
        </p:nvSpPr>
        <p:spPr>
          <a:xfrm>
            <a:off x="6675120" y="37846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send out the invitation and the link today.”</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1: Planning and inviting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安排与邀请</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everyone confirm they can attend?</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请大家确认是否能出席</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everyone confirm they can attend by Tuesday?”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agenda</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议程</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agenda is attached. Please read it before the call.”</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Materials and technology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材料与技术</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circulate the slides beforehand.</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我会提前把幻灯片分发给大家</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circulate the slides beforehand so everyone can read them.”</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dial-in number</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电话接入号码</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the link fails, use the dial-in number.”</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do a quick test run.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我们先快速试一下</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do a quick test run tomorrow at four.”</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check your camera and microphone.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请检查摄像头和麦克风</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check your camera and microphone before the meeting.”</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 should have a backup plan.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我们应该有备用方案</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 have a backup plan in case the platform goes down.”</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Responsibilities and follow-up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分工与后续</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Who is chairing the meeting?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谁主持会议?</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 is chairing the meeting?” — “I am.”</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take the minutes.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我来做会议记录</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take the minutes and send them out.”</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share your screen?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你能共享屏幕吗?</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share your screen for the presentation?”</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Chunk 3: Responsibilities and follow-up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分工与后续</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recording will be available afterwards.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会后将提供录像</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recording will be available afterwards.”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send me your questions in advance.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请提前把问题发给我</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send me your questions in advance.”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我们应该有备用方案</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should have a backup plan.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请检查摄像头和麦克风</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Please check your camera and microphone.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会后将提供录像</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The recording will be available afterwards.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请大家确认是否能出席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Could everyone confirm they can attend?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请提前把问题发给我</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Please send me your questions in advance.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300" b="1">
                <a:solidFill>
                  <a:srgbClr val="1F2A44"/>
                </a:solidFill>
                <a:latin typeface="Arial"/>
                <a:ea typeface="Microsoft YaHei"/>
              </a:rPr>
              <a:t>我们找一个各时区都合适的时段</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Let’s find a slot that works across time zones.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我会发出邀请/链接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I’ll send out the invitation / the link.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我们先快速试一下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do a quick test run.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backup</a:t>
            </a:r>
          </a:p>
        </p:txBody>
      </p:sp>
      <p:sp>
        <p:nvSpPr>
          <p:cNvPr id="10" name="Rounded Rectangle 9"/>
          <p:cNvSpPr/>
          <p:nvPr/>
        </p:nvSpPr>
        <p:spPr>
          <a:xfrm>
            <a:off x="3127248"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set</a:t>
            </a:r>
          </a:p>
        </p:txBody>
      </p:sp>
      <p:sp>
        <p:nvSpPr>
          <p:cNvPr id="11" name="Rounded Rectangle 10"/>
          <p:cNvSpPr/>
          <p:nvPr/>
        </p:nvSpPr>
        <p:spPr>
          <a:xfrm>
            <a:off x="3913632"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invitation</a:t>
            </a:r>
          </a:p>
        </p:txBody>
      </p:sp>
      <p:sp>
        <p:nvSpPr>
          <p:cNvPr id="12" name="Rounded Rectangle 11"/>
          <p:cNvSpPr/>
          <p:nvPr/>
        </p:nvSpPr>
        <p:spPr>
          <a:xfrm>
            <a:off x="5468112"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3" name="Rounded Rectangle 12"/>
          <p:cNvSpPr/>
          <p:nvPr/>
        </p:nvSpPr>
        <p:spPr>
          <a:xfrm>
            <a:off x="6583680"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number</a:t>
            </a:r>
          </a:p>
        </p:txBody>
      </p:sp>
      <p:sp>
        <p:nvSpPr>
          <p:cNvPr id="14" name="Rounded Rectangle 13"/>
          <p:cNvSpPr/>
          <p:nvPr/>
        </p:nvSpPr>
        <p:spPr>
          <a:xfrm>
            <a:off x="7699248"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minutes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I’ll _______ up a video conference for Thursday at ten.</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I’ll send out the _______ and the link today.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invitation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Please read the _______ before the call.</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If the link fails, use the dial-in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number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should have a _______ plan.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backup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I’ll take the _______ and send them out.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minutes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拼写与词汇): conference (not “conferance”), agenda, minutes (the record of a meeting; not “minute notes”), schedule. Say hold / have a meeting (not “do” or “make”).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Planning a video conference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与同事商量视频会议安排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your colleague plan a video conference with partners in London, Shanghai and New York.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project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 colleague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a video conference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we need to set up a video conference with the London and New York teams next week. Any idea how to find a good time?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tricky. London is eight hours behind us and New York is thirteen.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nine in the evening for us? That’s one p.m. in London and eight a.m. in New York.</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bit late for us, but it works across time zones. Shall I send out the invitation?</a:t>
            </a:r>
          </a:p>
        </p:txBody>
      </p:sp>
      <p:sp>
        <p:nvSpPr>
          <p:cNvPr id="20" name="Rounded Rectangle 19"/>
          <p:cNvSpPr/>
          <p:nvPr/>
        </p:nvSpPr>
        <p:spPr>
          <a:xfrm>
            <a:off x="548640" y="481279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and attach the agenda. I’ll circulate the slides beforehand so everyone can read them.</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a video conference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Should we use Teams or Zoom?</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Teams. Everyone has an account. We should also include a dial-in number in case the link fails.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Let’s do a quick test run on Wednesday.</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Who’s chairing the meeting?</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are, I think. I’ll take the minutes.</a:t>
            </a:r>
          </a:p>
        </p:txBody>
      </p:sp>
      <p:sp>
        <p:nvSpPr>
          <p:cNvPr id="23" name="Rounded Rectangle 22"/>
          <p:cNvSpPr/>
          <p:nvPr/>
        </p:nvSpPr>
        <p:spPr>
          <a:xfrm>
            <a:off x="548640" y="45262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5262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And could you ask everyone to confirm they can attend by Tuesday?</a:t>
            </a:r>
          </a:p>
        </p:txBody>
      </p:sp>
      <p:sp>
        <p:nvSpPr>
          <p:cNvPr id="26" name="Rounded Rectangle 25"/>
          <p:cNvSpPr/>
          <p:nvPr/>
        </p:nvSpPr>
        <p:spPr>
          <a:xfrm>
            <a:off x="10911535" y="53980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7" name="TextBox 26"/>
          <p:cNvSpPr txBox="1"/>
          <p:nvPr/>
        </p:nvSpPr>
        <p:spPr>
          <a:xfrm>
            <a:off x="10637215"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2133295" y="53980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Planning a video conference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plan a video conference across time zones.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Organizer. Choose the time and the tool.</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Asks about time, tool, roles.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find a slot that works across time zones · send out the invitation · circulate the slides · test run · backup plan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on time, tool, agenda, materials, roles and backup in 2 minutes.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key participant cannot attend. Ask: “Is there someone who could join in your place?”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company has no licence for the tool. Suggest: “Why don’t we use the free version for 40 minutes?”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test run and a technical contact: “If you have any problems, call Dan on 138 0000 5678.”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Writing and checking an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撰写并检查会议邀请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read out a video conference invitation to a colleague, who checks it.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Writing and checking an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here’s the invitation. Could you check it for 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looks good. The time zones are clear, which is helpful. One thing: say “Shanghai time”.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 it’s in the subject line. Is “Duration: 60 minutes” clear?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Maybe add “Please join five minutes early to test your sound and camera.”</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Anything else?</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Writing and checking an invitation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deadline for questions. You say “in advance”, but the date isn’t clear.</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I’ll write “by Tuesday, 17 November”.</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add who will chair it.</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“I’ll chair the meeting, and Dan will take the minutes.” Done. Sending now.</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Writing and checking an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check a meeting invitation with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Explain the invitation. Accept suggestions.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Reviewer. Gives 3 suggestions.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Could you check…? · It looks good. · Maybe add… · in advance · by Tuesday</a:t>
            </a:r>
          </a:p>
        </p:txBody>
      </p:sp>
      <p:sp>
        <p:nvSpPr>
          <p:cNvPr id="16" name="Rounded Rectangle 15"/>
          <p:cNvSpPr/>
          <p:nvPr/>
        </p:nvSpPr>
        <p:spPr>
          <a:xfrm>
            <a:off x="548640" y="325221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Improve the invitation: time zones, date of the question deadline, and a test message.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the same invitation in 40 words.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line in case of problems: “If you can’t join, please send a colleague or let me know by Tuesday.”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Decide: should the invitation include a recording notice?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advantages of video conferences over face-to-face meetings?</a:t>
            </a:r>
          </a:p>
          <a:p>
            <a:pPr algn="l">
              <a:lnSpc>
                <a:spcPct val="115000"/>
              </a:lnSpc>
              <a:spcAft>
                <a:spcPts val="800"/>
              </a:spcAft>
            </a:pPr>
            <a:r>
              <a:rPr sz="1400" b="0">
                <a:solidFill>
                  <a:srgbClr val="5F677A"/>
                </a:solidFill>
                <a:latin typeface="Arial"/>
                <a:ea typeface="Microsoft YaHei"/>
              </a:rPr>
              <a:t>💬 “One advantage is…” / “It saves time and money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disadvantages of video conferences?</a:t>
            </a:r>
          </a:p>
          <a:p>
            <a:pPr algn="l">
              <a:lnSpc>
                <a:spcPct val="115000"/>
              </a:lnSpc>
              <a:spcAft>
                <a:spcPts val="800"/>
              </a:spcAft>
            </a:pPr>
            <a:r>
              <a:rPr sz="1400" b="0">
                <a:solidFill>
                  <a:srgbClr val="5F677A"/>
                </a:solidFill>
                <a:latin typeface="Arial"/>
                <a:ea typeface="Microsoft YaHei"/>
              </a:rPr>
              <a:t>💬 “The biggest problem is…” / “You can’t see body language, so…”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manage time zones?</a:t>
            </a:r>
          </a:p>
          <a:p>
            <a:pPr algn="l">
              <a:lnSpc>
                <a:spcPct val="115000"/>
              </a:lnSpc>
              <a:spcAft>
                <a:spcPts val="800"/>
              </a:spcAft>
            </a:pPr>
            <a:r>
              <a:rPr sz="1400" b="0">
                <a:solidFill>
                  <a:srgbClr val="5F677A"/>
                </a:solidFill>
                <a:latin typeface="Arial"/>
                <a:ea typeface="Microsoft YaHei"/>
              </a:rPr>
              <a:t>💬 “I use a time-zone app.” / “I rotate the meeting times so it’s fair.”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always record a video conference?</a:t>
            </a:r>
          </a:p>
          <a:p>
            <a:pPr algn="l">
              <a:lnSpc>
                <a:spcPct val="115000"/>
              </a:lnSpc>
              <a:spcAft>
                <a:spcPts val="800"/>
              </a:spcAft>
            </a:pPr>
            <a:r>
              <a:rPr sz="1400" b="0">
                <a:solidFill>
                  <a:srgbClr val="5F677A"/>
                </a:solidFill>
                <a:latin typeface="Arial"/>
                <a:ea typeface="Microsoft YaHei"/>
              </a:rPr>
              <a:t>💬 “I think it’s useful when…” / “People may feel uncomfortable if…”</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the technology fails in the middle of an important meeting?</a:t>
            </a:r>
          </a:p>
          <a:p>
            <a:pPr algn="l">
              <a:lnSpc>
                <a:spcPct val="115000"/>
              </a:lnSpc>
              <a:spcAft>
                <a:spcPts val="800"/>
              </a:spcAft>
            </a:pPr>
            <a:r>
              <a:rPr sz="1400" b="0">
                <a:solidFill>
                  <a:srgbClr val="5F677A"/>
                </a:solidFill>
                <a:latin typeface="Arial"/>
                <a:ea typeface="Microsoft YaHei"/>
              </a:rPr>
              <a:t>💬 “I’d switch to…” / “We have a backup, such as a dial-in number.”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depends on the meeting. A recording is useful when some people can’t attend, or when we want to check what was decided. But people may feel uncomfortable if they don’t know they’re being recorded, so I always tell them at the start of the meeting:”I’d like to record this call so that people who couldn’t join can watch it later. Is everybody OK with that?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“depends on…”(取决于)。“so that…”(以便……)后面可用 can / could。注意 “Is everybody OK with that?” 是询问同意的好句型。</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Video-conference language: arrangements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视频会议安排用语</a:t>
            </a:r>
          </a:p>
        </p:txBody>
      </p:sp>
      <p:graphicFrame>
        <p:nvGraphicFramePr>
          <p:cNvPr id="9" name="Table 8"/>
          <p:cNvGraphicFramePr>
            <a:graphicFrameLocks noGrp="1"/>
          </p:cNvGraphicFramePr>
          <p:nvPr/>
        </p:nvGraphicFramePr>
        <p:xfrm>
          <a:off x="548640" y="1417320"/>
          <a:ext cx="11094415" cy="4242816"/>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Propose</a:t>
                      </a:r>
                    </a:p>
                  </a:txBody>
                  <a:tcPr anchor="ctr">
                    <a:solidFill>
                      <a:srgbClr val="FFFFFF"/>
                    </a:solidFill>
                  </a:tcPr>
                </a:tc>
                <a:tc>
                  <a:txBody>
                    <a:bodyPr wrap="square"/>
                    <a:lstStyle/>
                    <a:p>
                      <a:r>
                        <a:rPr sz="1600" b="0">
                          <a:solidFill>
                            <a:srgbClr val="1F2A44"/>
                          </a:solidFill>
                          <a:latin typeface="Arial"/>
                          <a:ea typeface="Microsoft YaHei"/>
                        </a:rPr>
                        <a:t>Shall we set up a video conference for next week?</a:t>
                      </a:r>
                    </a:p>
                  </a:txBody>
                  <a:tcPr anchor="ctr">
                    <a:solidFill>
                      <a:srgbClr val="FFFFFF"/>
                    </a:solidFill>
                  </a:tcPr>
                </a:tc>
              </a:tr>
              <a:tr h="652272">
                <a:tc>
                  <a:txBody>
                    <a:bodyPr wrap="square"/>
                    <a:lstStyle/>
                    <a:p>
                      <a:r>
                        <a:rPr sz="1600" b="1">
                          <a:solidFill>
                            <a:srgbClr val="1F2A44"/>
                          </a:solidFill>
                          <a:latin typeface="Arial"/>
                          <a:ea typeface="Microsoft YaHei"/>
                        </a:rPr>
                        <a:t>Time</a:t>
                      </a:r>
                    </a:p>
                  </a:txBody>
                  <a:tcPr anchor="ctr">
                    <a:solidFill>
                      <a:srgbClr val="FFEFD9"/>
                    </a:solidFill>
                  </a:tcPr>
                </a:tc>
                <a:tc>
                  <a:txBody>
                    <a:bodyPr wrap="square"/>
                    <a:lstStyle/>
                    <a:p>
                      <a:r>
                        <a:rPr sz="1600" b="0">
                          <a:solidFill>
                            <a:srgbClr val="1F2A44"/>
                          </a:solidFill>
                          <a:latin typeface="Arial"/>
                          <a:ea typeface="Microsoft YaHei"/>
                        </a:rPr>
                        <a:t>Let’s find a slot that works across time zones. ★ / Would 9 p.m. Shanghai time suit everyone?</a:t>
                      </a:r>
                    </a:p>
                  </a:txBody>
                  <a:tcPr anchor="ctr">
                    <a:solidFill>
                      <a:srgbClr val="FFEFD9"/>
                    </a:solidFill>
                  </a:tcPr>
                </a:tc>
              </a:tr>
              <a:tr h="408432">
                <a:tc>
                  <a:txBody>
                    <a:bodyPr wrap="square"/>
                    <a:lstStyle/>
                    <a:p>
                      <a:r>
                        <a:rPr sz="1600" b="1">
                          <a:solidFill>
                            <a:srgbClr val="1F2A44"/>
                          </a:solidFill>
                          <a:latin typeface="Arial"/>
                          <a:ea typeface="Microsoft YaHei"/>
                        </a:rPr>
                        <a:t>Invite</a:t>
                      </a:r>
                    </a:p>
                  </a:txBody>
                  <a:tcPr anchor="ctr">
                    <a:solidFill>
                      <a:srgbClr val="FFFFFF"/>
                    </a:solidFill>
                  </a:tcPr>
                </a:tc>
                <a:tc>
                  <a:txBody>
                    <a:bodyPr wrap="square"/>
                    <a:lstStyle/>
                    <a:p>
                      <a:r>
                        <a:rPr sz="1600" b="0">
                          <a:solidFill>
                            <a:srgbClr val="1F2A44"/>
                          </a:solidFill>
                          <a:latin typeface="Arial"/>
                          <a:ea typeface="Microsoft YaHei"/>
                        </a:rPr>
                        <a:t>I’ll send out the invitation and the link.</a:t>
                      </a:r>
                    </a:p>
                  </a:txBody>
                  <a:tcPr anchor="ctr">
                    <a:solidFill>
                      <a:srgbClr val="FFFFFF"/>
                    </a:solidFill>
                  </a:tcPr>
                </a:tc>
              </a:tr>
              <a:tr h="652272">
                <a:tc>
                  <a:txBody>
                    <a:bodyPr wrap="square"/>
                    <a:lstStyle/>
                    <a:p>
                      <a:r>
                        <a:rPr sz="1600" b="1">
                          <a:solidFill>
                            <a:srgbClr val="1F2A44"/>
                          </a:solidFill>
                          <a:latin typeface="Arial"/>
                          <a:ea typeface="Microsoft YaHei"/>
                        </a:rPr>
                        <a:t>Prepare</a:t>
                      </a:r>
                    </a:p>
                  </a:txBody>
                  <a:tcPr anchor="ctr">
                    <a:solidFill>
                      <a:srgbClr val="FFEFD9"/>
                    </a:solidFill>
                  </a:tcPr>
                </a:tc>
                <a:tc>
                  <a:txBody>
                    <a:bodyPr wrap="square"/>
                    <a:lstStyle/>
                    <a:p>
                      <a:r>
                        <a:rPr sz="1600" b="0">
                          <a:solidFill>
                            <a:srgbClr val="1F2A44"/>
                          </a:solidFill>
                          <a:latin typeface="Arial"/>
                          <a:ea typeface="Microsoft YaHei"/>
                        </a:rPr>
                        <a:t>I’ll circulate the slides beforehand. ★ / Please read the agenda before the call.</a:t>
                      </a:r>
                    </a:p>
                  </a:txBody>
                  <a:tcPr anchor="ctr">
                    <a:solidFill>
                      <a:srgbClr val="FFEFD9"/>
                    </a:solidFill>
                  </a:tcPr>
                </a:tc>
              </a:tr>
              <a:tr h="408432">
                <a:tc>
                  <a:txBody>
                    <a:bodyPr wrap="square"/>
                    <a:lstStyle/>
                    <a:p>
                      <a:r>
                        <a:rPr sz="1600" b="1">
                          <a:solidFill>
                            <a:srgbClr val="1F2A44"/>
                          </a:solidFill>
                          <a:latin typeface="Arial"/>
                          <a:ea typeface="Microsoft YaHei"/>
                        </a:rPr>
                        <a:t>Test</a:t>
                      </a:r>
                    </a:p>
                  </a:txBody>
                  <a:tcPr anchor="ctr">
                    <a:solidFill>
                      <a:srgbClr val="FFFFFF"/>
                    </a:solidFill>
                  </a:tcPr>
                </a:tc>
                <a:tc>
                  <a:txBody>
                    <a:bodyPr wrap="square"/>
                    <a:lstStyle/>
                    <a:p>
                      <a:r>
                        <a:rPr sz="1600" b="0">
                          <a:solidFill>
                            <a:srgbClr val="1F2A44"/>
                          </a:solidFill>
                          <a:latin typeface="Arial"/>
                          <a:ea typeface="Microsoft YaHei"/>
                        </a:rPr>
                        <a:t>Let’s do a quick test run on Wednesday. ★</a:t>
                      </a:r>
                    </a:p>
                  </a:txBody>
                  <a:tcPr anchor="ctr">
                    <a:solidFill>
                      <a:srgbClr val="FFFFFF"/>
                    </a:solidFill>
                  </a:tcPr>
                </a:tc>
              </a:tr>
              <a:tr h="652272">
                <a:tc>
                  <a:txBody>
                    <a:bodyPr wrap="square"/>
                    <a:lstStyle/>
                    <a:p>
                      <a:r>
                        <a:rPr sz="1600" b="1">
                          <a:solidFill>
                            <a:srgbClr val="1F2A44"/>
                          </a:solidFill>
                          <a:latin typeface="Arial"/>
                          <a:ea typeface="Microsoft YaHei"/>
                        </a:rPr>
                        <a:t>Backup</a:t>
                      </a:r>
                    </a:p>
                  </a:txBody>
                  <a:tcPr anchor="ctr">
                    <a:solidFill>
                      <a:srgbClr val="FFEFD9"/>
                    </a:solidFill>
                  </a:tcPr>
                </a:tc>
                <a:tc>
                  <a:txBody>
                    <a:bodyPr wrap="square"/>
                    <a:lstStyle/>
                    <a:p>
                      <a:r>
                        <a:rPr sz="1600" b="0">
                          <a:solidFill>
                            <a:srgbClr val="1F2A44"/>
                          </a:solidFill>
                          <a:latin typeface="Arial"/>
                          <a:ea typeface="Microsoft YaHei"/>
                        </a:rPr>
                        <a:t>We should have a backup plan. ★ / If the link fails, use the dial-in number.</a:t>
                      </a:r>
                    </a:p>
                  </a:txBody>
                  <a:tcPr anchor="ctr">
                    <a:solidFill>
                      <a:srgbClr val="FFEFD9"/>
                    </a:solidFill>
                  </a:tcPr>
                </a:tc>
              </a:tr>
              <a:tr h="652272">
                <a:tc>
                  <a:txBody>
                    <a:bodyPr wrap="square"/>
                    <a:lstStyle/>
                    <a:p>
                      <a:r>
                        <a:rPr sz="1600" b="1">
                          <a:solidFill>
                            <a:srgbClr val="1F2A44"/>
                          </a:solidFill>
                          <a:latin typeface="Arial"/>
                          <a:ea typeface="Microsoft YaHei"/>
                        </a:rPr>
                        <a:t>Roles</a:t>
                      </a:r>
                    </a:p>
                  </a:txBody>
                  <a:tcPr anchor="ctr">
                    <a:solidFill>
                      <a:srgbClr val="FFFFFF"/>
                    </a:solidFill>
                  </a:tcPr>
                </a:tc>
                <a:tc>
                  <a:txBody>
                    <a:bodyPr wrap="square"/>
                    <a:lstStyle/>
                    <a:p>
                      <a:r>
                        <a:rPr sz="1600" b="0">
                          <a:solidFill>
                            <a:srgbClr val="1F2A44"/>
                          </a:solidFill>
                          <a:latin typeface="Arial"/>
                          <a:ea typeface="Microsoft YaHei"/>
                        </a:rPr>
                        <a:t>I’ll chair the meeting. / Dan will take the minutes. ★</a:t>
                      </a:r>
                    </a:p>
                  </a:txBody>
                  <a:tcPr anchor="ctr">
                    <a:solidFill>
                      <a:srgbClr val="FFFFFF"/>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Meeting collocations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会议搭配</a:t>
            </a:r>
          </a:p>
        </p:txBody>
      </p:sp>
      <p:graphicFrame>
        <p:nvGraphicFramePr>
          <p:cNvPr id="9" name="Table 8"/>
          <p:cNvGraphicFramePr>
            <a:graphicFrameLocks noGrp="1"/>
          </p:cNvGraphicFramePr>
          <p:nvPr/>
        </p:nvGraphicFramePr>
        <p:xfrm>
          <a:off x="548640" y="1417320"/>
          <a:ext cx="11094415" cy="4242816"/>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Verb</a:t>
                      </a:r>
                    </a:p>
                  </a:txBody>
                  <a:tcPr anchor="ctr">
                    <a:solidFill>
                      <a:srgbClr val="3CC49A"/>
                    </a:solidFill>
                  </a:tcPr>
                </a:tc>
                <a:tc>
                  <a:txBody>
                    <a:bodyPr wrap="square"/>
                    <a:lstStyle/>
                    <a:p>
                      <a:r>
                        <a:rPr sz="1600" b="1">
                          <a:solidFill>
                            <a:srgbClr val="FFFFFF"/>
                          </a:solidFill>
                          <a:latin typeface="Arial"/>
                          <a:ea typeface="Microsoft YaHei"/>
                        </a:rPr>
                        <a:t>Noun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hold / have</a:t>
                      </a:r>
                    </a:p>
                  </a:txBody>
                  <a:tcPr anchor="ctr">
                    <a:solidFill>
                      <a:srgbClr val="FFFFFF"/>
                    </a:solidFill>
                  </a:tcPr>
                </a:tc>
                <a:tc>
                  <a:txBody>
                    <a:bodyPr wrap="square"/>
                    <a:lstStyle/>
                    <a:p>
                      <a:r>
                        <a:rPr sz="1600" b="0">
                          <a:solidFill>
                            <a:srgbClr val="1F2A44"/>
                          </a:solidFill>
                          <a:latin typeface="Arial"/>
                          <a:ea typeface="Microsoft YaHei"/>
                        </a:rPr>
                        <a:t>a meeting</a:t>
                      </a:r>
                    </a:p>
                  </a:txBody>
                  <a:tcPr anchor="ctr">
                    <a:solidFill>
                      <a:srgbClr val="FFFFFF"/>
                    </a:solidFill>
                  </a:tcPr>
                </a:tc>
                <a:tc>
                  <a:txBody>
                    <a:bodyPr wrap="square"/>
                    <a:lstStyle/>
                    <a:p>
                      <a:r>
                        <a:rPr sz="1600" b="0">
                          <a:solidFill>
                            <a:srgbClr val="1F2A44"/>
                          </a:solidFill>
                          <a:latin typeface="Arial"/>
                          <a:ea typeface="Microsoft YaHei"/>
                        </a:rPr>
                        <a:t>“We hold a video conference every Monday.”</a:t>
                      </a:r>
                    </a:p>
                  </a:txBody>
                  <a:tcPr anchor="ctr">
                    <a:solidFill>
                      <a:srgbClr val="FFFFFF"/>
                    </a:solidFill>
                  </a:tcPr>
                </a:tc>
              </a:tr>
              <a:tr h="408432">
                <a:tc>
                  <a:txBody>
                    <a:bodyPr wrap="square"/>
                    <a:lstStyle/>
                    <a:p>
                      <a:r>
                        <a:rPr sz="1600" b="1">
                          <a:solidFill>
                            <a:srgbClr val="1F2A44"/>
                          </a:solidFill>
                          <a:latin typeface="Arial"/>
                          <a:ea typeface="Microsoft YaHei"/>
                        </a:rPr>
                        <a:t>chair</a:t>
                      </a:r>
                    </a:p>
                  </a:txBody>
                  <a:tcPr anchor="ctr">
                    <a:solidFill>
                      <a:srgbClr val="FFEFD9"/>
                    </a:solidFill>
                  </a:tcPr>
                </a:tc>
                <a:tc>
                  <a:txBody>
                    <a:bodyPr wrap="square"/>
                    <a:lstStyle/>
                    <a:p>
                      <a:r>
                        <a:rPr sz="1600" b="0">
                          <a:solidFill>
                            <a:srgbClr val="1F2A44"/>
                          </a:solidFill>
                          <a:latin typeface="Arial"/>
                          <a:ea typeface="Microsoft YaHei"/>
                        </a:rPr>
                        <a:t>a meeting</a:t>
                      </a:r>
                    </a:p>
                  </a:txBody>
                  <a:tcPr anchor="ctr">
                    <a:solidFill>
                      <a:srgbClr val="FFEFD9"/>
                    </a:solidFill>
                  </a:tcPr>
                </a:tc>
                <a:tc>
                  <a:txBody>
                    <a:bodyPr wrap="square"/>
                    <a:lstStyle/>
                    <a:p>
                      <a:r>
                        <a:rPr sz="1600" b="0">
                          <a:solidFill>
                            <a:srgbClr val="1F2A44"/>
                          </a:solidFill>
                          <a:latin typeface="Arial"/>
                          <a:ea typeface="Microsoft YaHei"/>
                        </a:rPr>
                        <a:t>“Li Wei will chair the call.”</a:t>
                      </a:r>
                    </a:p>
                  </a:txBody>
                  <a:tcPr anchor="ctr">
                    <a:solidFill>
                      <a:srgbClr val="FFEFD9"/>
                    </a:solidFill>
                  </a:tcPr>
                </a:tc>
              </a:tr>
              <a:tr h="652272">
                <a:tc>
                  <a:txBody>
                    <a:bodyPr wrap="square"/>
                    <a:lstStyle/>
                    <a:p>
                      <a:r>
                        <a:rPr sz="1600" b="1">
                          <a:solidFill>
                            <a:srgbClr val="1F2A44"/>
                          </a:solidFill>
                          <a:latin typeface="Arial"/>
                          <a:ea typeface="Microsoft YaHei"/>
                        </a:rPr>
                        <a:t>join</a:t>
                      </a:r>
                    </a:p>
                  </a:txBody>
                  <a:tcPr anchor="ctr">
                    <a:solidFill>
                      <a:srgbClr val="FFFFFF"/>
                    </a:solidFill>
                  </a:tcPr>
                </a:tc>
                <a:tc>
                  <a:txBody>
                    <a:bodyPr wrap="square"/>
                    <a:lstStyle/>
                    <a:p>
                      <a:r>
                        <a:rPr sz="1600" b="0">
                          <a:solidFill>
                            <a:srgbClr val="1F2A44"/>
                          </a:solidFill>
                          <a:latin typeface="Arial"/>
                          <a:ea typeface="Microsoft YaHei"/>
                        </a:rPr>
                        <a:t>a call</a:t>
                      </a:r>
                    </a:p>
                  </a:txBody>
                  <a:tcPr anchor="ctr">
                    <a:solidFill>
                      <a:srgbClr val="FFFFFF"/>
                    </a:solidFill>
                  </a:tcPr>
                </a:tc>
                <a:tc>
                  <a:txBody>
                    <a:bodyPr wrap="square"/>
                    <a:lstStyle/>
                    <a:p>
                      <a:r>
                        <a:rPr sz="1600" b="0">
                          <a:solidFill>
                            <a:srgbClr val="1F2A44"/>
                          </a:solidFill>
                          <a:latin typeface="Arial"/>
                          <a:ea typeface="Microsoft YaHei"/>
                        </a:rPr>
                        <a:t>“Please join the call five minutes early.”</a:t>
                      </a:r>
                    </a:p>
                  </a:txBody>
                  <a:tcPr anchor="ctr">
                    <a:solidFill>
                      <a:srgbClr val="FFFFFF"/>
                    </a:solidFill>
                  </a:tcPr>
                </a:tc>
              </a:tr>
              <a:tr h="408432">
                <a:tc>
                  <a:txBody>
                    <a:bodyPr wrap="square"/>
                    <a:lstStyle/>
                    <a:p>
                      <a:r>
                        <a:rPr sz="1600" b="1">
                          <a:solidFill>
                            <a:srgbClr val="1F2A44"/>
                          </a:solidFill>
                          <a:latin typeface="Arial"/>
                          <a:ea typeface="Microsoft YaHei"/>
                        </a:rPr>
                        <a:t>take</a:t>
                      </a:r>
                    </a:p>
                  </a:txBody>
                  <a:tcPr anchor="ctr">
                    <a:solidFill>
                      <a:srgbClr val="FFEFD9"/>
                    </a:solidFill>
                  </a:tcPr>
                </a:tc>
                <a:tc>
                  <a:txBody>
                    <a:bodyPr wrap="square"/>
                    <a:lstStyle/>
                    <a:p>
                      <a:r>
                        <a:rPr sz="1600" b="0">
                          <a:solidFill>
                            <a:srgbClr val="1F2A44"/>
                          </a:solidFill>
                          <a:latin typeface="Arial"/>
                          <a:ea typeface="Microsoft YaHei"/>
                        </a:rPr>
                        <a:t>the minutes</a:t>
                      </a:r>
                    </a:p>
                  </a:txBody>
                  <a:tcPr anchor="ctr">
                    <a:solidFill>
                      <a:srgbClr val="FFEFD9"/>
                    </a:solidFill>
                  </a:tcPr>
                </a:tc>
                <a:tc>
                  <a:txBody>
                    <a:bodyPr wrap="square"/>
                    <a:lstStyle/>
                    <a:p>
                      <a:r>
                        <a:rPr sz="1600" b="0">
                          <a:solidFill>
                            <a:srgbClr val="1F2A44"/>
                          </a:solidFill>
                          <a:latin typeface="Arial"/>
                          <a:ea typeface="Microsoft YaHei"/>
                        </a:rPr>
                        <a:t>“Dan is taking the minutes.”</a:t>
                      </a:r>
                    </a:p>
                  </a:txBody>
                  <a:tcPr anchor="ctr">
                    <a:solidFill>
                      <a:srgbClr val="FFEFD9"/>
                    </a:solidFill>
                  </a:tcPr>
                </a:tc>
              </a:tr>
              <a:tr h="408432">
                <a:tc>
                  <a:txBody>
                    <a:bodyPr wrap="square"/>
                    <a:lstStyle/>
                    <a:p>
                      <a:r>
                        <a:rPr sz="1600" b="1">
                          <a:solidFill>
                            <a:srgbClr val="1F2A44"/>
                          </a:solidFill>
                          <a:latin typeface="Arial"/>
                          <a:ea typeface="Microsoft YaHei"/>
                        </a:rPr>
                        <a:t>share</a:t>
                      </a:r>
                    </a:p>
                  </a:txBody>
                  <a:tcPr anchor="ctr">
                    <a:solidFill>
                      <a:srgbClr val="FFFFFF"/>
                    </a:solidFill>
                  </a:tcPr>
                </a:tc>
                <a:tc>
                  <a:txBody>
                    <a:bodyPr wrap="square"/>
                    <a:lstStyle/>
                    <a:p>
                      <a:r>
                        <a:rPr sz="1600" b="0">
                          <a:solidFill>
                            <a:srgbClr val="1F2A44"/>
                          </a:solidFill>
                          <a:latin typeface="Arial"/>
                          <a:ea typeface="Microsoft YaHei"/>
                        </a:rPr>
                        <a:t>your screen</a:t>
                      </a:r>
                    </a:p>
                  </a:txBody>
                  <a:tcPr anchor="ctr">
                    <a:solidFill>
                      <a:srgbClr val="FFFFFF"/>
                    </a:solidFill>
                  </a:tcPr>
                </a:tc>
                <a:tc>
                  <a:txBody>
                    <a:bodyPr wrap="square"/>
                    <a:lstStyle/>
                    <a:p>
                      <a:r>
                        <a:rPr sz="1600" b="0">
                          <a:solidFill>
                            <a:srgbClr val="1F2A44"/>
                          </a:solidFill>
                          <a:latin typeface="Arial"/>
                          <a:ea typeface="Microsoft YaHei"/>
                        </a:rPr>
                        <a:t>“Could you share your screen?”</a:t>
                      </a:r>
                    </a:p>
                  </a:txBody>
                  <a:tcPr anchor="ctr">
                    <a:solidFill>
                      <a:srgbClr val="FFFFFF"/>
                    </a:solidFill>
                  </a:tcPr>
                </a:tc>
              </a:tr>
              <a:tr h="652272">
                <a:tc>
                  <a:txBody>
                    <a:bodyPr wrap="square"/>
                    <a:lstStyle/>
                    <a:p>
                      <a:r>
                        <a:rPr sz="1600" b="1">
                          <a:solidFill>
                            <a:srgbClr val="1F2A44"/>
                          </a:solidFill>
                          <a:latin typeface="Arial"/>
                          <a:ea typeface="Microsoft YaHei"/>
                        </a:rPr>
                        <a:t>send out / circulate</a:t>
                      </a:r>
                    </a:p>
                  </a:txBody>
                  <a:tcPr anchor="ctr">
                    <a:solidFill>
                      <a:srgbClr val="FFEFD9"/>
                    </a:solidFill>
                  </a:tcPr>
                </a:tc>
                <a:tc>
                  <a:txBody>
                    <a:bodyPr wrap="square"/>
                    <a:lstStyle/>
                    <a:p>
                      <a:r>
                        <a:rPr sz="1600" b="0">
                          <a:solidFill>
                            <a:srgbClr val="1F2A44"/>
                          </a:solidFill>
                          <a:latin typeface="Arial"/>
                          <a:ea typeface="Microsoft YaHei"/>
                        </a:rPr>
                        <a:t>slides, agenda</a:t>
                      </a:r>
                    </a:p>
                  </a:txBody>
                  <a:tcPr anchor="ctr">
                    <a:solidFill>
                      <a:srgbClr val="FFEFD9"/>
                    </a:solidFill>
                  </a:tcPr>
                </a:tc>
                <a:tc>
                  <a:txBody>
                    <a:bodyPr wrap="square"/>
                    <a:lstStyle/>
                    <a:p>
                      <a:r>
                        <a:rPr sz="1600" b="0">
                          <a:solidFill>
                            <a:srgbClr val="1F2A44"/>
                          </a:solidFill>
                          <a:latin typeface="Arial"/>
                          <a:ea typeface="Microsoft YaHei"/>
                        </a:rPr>
                        <a:t>“I’ll circulate the slides beforehand.”</a:t>
                      </a:r>
                    </a:p>
                  </a:txBody>
                  <a:tcPr anchor="ctr">
                    <a:solidFill>
                      <a:srgbClr val="FFEFD9"/>
                    </a:solidFill>
                  </a:tcPr>
                </a:tc>
              </a:tr>
              <a:tr h="652272">
                <a:tc>
                  <a:txBody>
                    <a:bodyPr wrap="square"/>
                    <a:lstStyle/>
                    <a:p>
                      <a:r>
                        <a:rPr sz="1600" b="1">
                          <a:solidFill>
                            <a:srgbClr val="1F2A44"/>
                          </a:solidFill>
                          <a:latin typeface="Arial"/>
                          <a:ea typeface="Microsoft YaHei"/>
                        </a:rPr>
                        <a:t>postpone / cancel</a:t>
                      </a:r>
                    </a:p>
                  </a:txBody>
                  <a:tcPr anchor="ctr">
                    <a:solidFill>
                      <a:srgbClr val="FFFFFF"/>
                    </a:solidFill>
                  </a:tcPr>
                </a:tc>
                <a:tc>
                  <a:txBody>
                    <a:bodyPr wrap="square"/>
                    <a:lstStyle/>
                    <a:p>
                      <a:r>
                        <a:rPr sz="1600" b="0">
                          <a:solidFill>
                            <a:srgbClr val="1F2A44"/>
                          </a:solidFill>
                          <a:latin typeface="Arial"/>
                          <a:ea typeface="Microsoft YaHei"/>
                        </a:rPr>
                        <a:t>a meeting</a:t>
                      </a:r>
                    </a:p>
                  </a:txBody>
                  <a:tcPr anchor="ctr">
                    <a:solidFill>
                      <a:srgbClr val="FFFFFF"/>
                    </a:solidFill>
                  </a:tcPr>
                </a:tc>
                <a:tc>
                  <a:txBody>
                    <a:bodyPr wrap="square"/>
                    <a:lstStyle/>
                    <a:p>
                      <a:r>
                        <a:rPr sz="1600" b="0">
                          <a:solidFill>
                            <a:srgbClr val="1F2A44"/>
                          </a:solidFill>
                          <a:latin typeface="Arial"/>
                          <a:ea typeface="Microsoft YaHei"/>
                        </a:rPr>
                        <a:t>“We’ll have to postpone the meeting.”</a:t>
                      </a:r>
                    </a:p>
                  </a:txBody>
                  <a:tcPr anchor="ctr">
                    <a:solidFill>
                      <a:srgbClr val="FFFFFF"/>
                    </a:solidFill>
                  </a:tcPr>
                </a:tc>
              </a:tr>
            </a:tbl>
          </a:graphicData>
        </a:graphic>
      </p:graphicFrame>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Meeting collocations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会议搭配</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Chair a meeting (the person who leads it); attend / join a meeting (take part).</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Time zones: </a:t>
            </a:r>
            <a:r>
              <a:rPr sz="1700" b="0">
                <a:solidFill>
                  <a:srgbClr val="1F2A44"/>
                </a:solidFill>
                <a:latin typeface="Arial"/>
                <a:ea typeface="Microsoft YaHei"/>
              </a:rPr>
              <a:t>write “9 p.m. Shanghai time (CST) / 1 p.m. London (GMT)”. Beware: summer time (BST) changes London’s offset.</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do a video meeting on Monday.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 hold a video meeting on Monday.</a:t>
            </a:r>
          </a:p>
          <a:p>
            <a:pPr algn="l">
              <a:spcAft>
                <a:spcPts val="200"/>
              </a:spcAft>
            </a:pPr>
            <a:r>
              <a:rPr sz="1200" b="0">
                <a:solidFill>
                  <a:srgbClr val="FFFFFF"/>
                </a:solidFill>
                <a:latin typeface="Arial"/>
                <a:ea typeface="Microsoft YaHei"/>
              </a:rPr>
              <a:t>have / hold a meeting</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make a meeting for you.</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set up a meeting for you. / I’ll arrange a meeting.</a:t>
            </a:r>
          </a:p>
          <a:p>
            <a:pPr algn="l">
              <a:spcAft>
                <a:spcPts val="200"/>
              </a:spcAft>
            </a:pPr>
            <a:r>
              <a:rPr sz="1200" b="0">
                <a:solidFill>
                  <a:srgbClr val="FFFFFF"/>
                </a:solidFill>
                <a:latin typeface="Arial"/>
                <a:ea typeface="Microsoft YaHei"/>
              </a:rPr>
              <a:t>set up</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open your camera.</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turn on your camera.</a:t>
            </a:r>
          </a:p>
          <a:p>
            <a:pPr algn="l">
              <a:spcAft>
                <a:spcPts val="200"/>
              </a:spcAft>
            </a:pPr>
            <a:r>
              <a:rPr sz="1200" b="0">
                <a:solidFill>
                  <a:srgbClr val="FFFFFF"/>
                </a:solidFill>
                <a:latin typeface="Arial"/>
                <a:ea typeface="Microsoft YaHei"/>
              </a:rPr>
              <a:t>视频用 turn on / off</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share my screen. (before doing it)</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 me share my screen.</a:t>
            </a:r>
          </a:p>
          <a:p>
            <a:pPr algn="l">
              <a:spcAft>
                <a:spcPts val="200"/>
              </a:spcAft>
            </a:pPr>
            <a:r>
              <a:rPr sz="1200" b="0">
                <a:solidFill>
                  <a:srgbClr val="FFFFFF"/>
                </a:solidFill>
                <a:latin typeface="Arial"/>
                <a:ea typeface="Microsoft YaHei"/>
              </a:rPr>
              <a:t>先征询:Let me…</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 about the budget.</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discuss the budget.</a:t>
            </a:r>
          </a:p>
          <a:p>
            <a:pPr algn="l">
              <a:spcAft>
                <a:spcPts val="200"/>
              </a:spcAft>
            </a:pPr>
            <a:r>
              <a:rPr sz="1200" b="0">
                <a:solidFill>
                  <a:srgbClr val="FFFFFF"/>
                </a:solidFill>
                <a:latin typeface="Arial"/>
                <a:ea typeface="Microsoft YaHei"/>
              </a:rPr>
              <a:t>discuss 后不加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attend to the meeting.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attend the meeting. / join the call.</a:t>
            </a:r>
          </a:p>
          <a:p>
            <a:pPr algn="l">
              <a:spcAft>
                <a:spcPts val="200"/>
              </a:spcAft>
            </a:pPr>
            <a:r>
              <a:rPr sz="1200" b="0">
                <a:solidFill>
                  <a:srgbClr val="FFFFFF"/>
                </a:solidFill>
                <a:latin typeface="Arial"/>
                <a:ea typeface="Microsoft YaHei"/>
              </a:rPr>
              <a:t>attend 后不加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is in Thursday in 9 p.m.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is on Thursday at 9 p.m.</a:t>
            </a:r>
          </a:p>
          <a:p>
            <a:pPr algn="l">
              <a:spcAft>
                <a:spcPts val="200"/>
              </a:spcAft>
            </a:pPr>
            <a:r>
              <a:rPr sz="1200" b="0">
                <a:solidFill>
                  <a:srgbClr val="FFFFFF"/>
                </a:solidFill>
                <a:latin typeface="Arial"/>
                <a:ea typeface="Microsoft YaHei"/>
              </a:rPr>
              <a:t>on / at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Send me the datas.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Send me the data.</a:t>
            </a:r>
          </a:p>
          <a:p>
            <a:pPr algn="l">
              <a:spcAft>
                <a:spcPts val="200"/>
              </a:spcAft>
            </a:pPr>
            <a:r>
              <a:rPr sz="1200" b="0">
                <a:solidFill>
                  <a:srgbClr val="FFFFFF"/>
                </a:solidFill>
                <a:latin typeface="Arial"/>
                <a:ea typeface="Microsoft YaHei"/>
              </a:rPr>
              <a:t>data 视为不可数(口语)</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take the meeting minute.</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take the minutes.</a:t>
            </a:r>
          </a:p>
          <a:p>
            <a:pPr algn="l">
              <a:spcAft>
                <a:spcPts val="200"/>
              </a:spcAft>
            </a:pPr>
            <a:r>
              <a:rPr sz="1200" b="0">
                <a:solidFill>
                  <a:srgbClr val="FFFFFF"/>
                </a:solidFill>
                <a:latin typeface="Arial"/>
                <a:ea typeface="Microsoft YaHei"/>
              </a:rPr>
              <a:t>minutes 复数</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conferance / shedule</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conference / schedule</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discuss + noun (no “about”), attend + noun (no “to”), turn on your camera (not “open”), have / hold a meeting (not “do”).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Send the agenda in advance. Western teams usually expect it at least 24 hours before. A meeting with no agenda may not be taken seriously.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Start on time. In English-speaking countries, a meeting often starts exactly at the planned time. “Let’s give it two more minutes” is common, but not ten.</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Fair time zones. If one team always has to meet at midnight, it can feel unfair. Rotate the inconvenient time.</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Record only with permission. In some countries (such as Germany) recording without consent is illegal. Always ask: “Do you mind if we record?”</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1">
                <a:solidFill>
                  <a:srgbClr val="9B6BE0"/>
                </a:solidFill>
                <a:latin typeface="Arial"/>
                <a:ea typeface="Microsoft YaHei"/>
              </a:rPr>
              <a:t>Camera culture: </a:t>
            </a:r>
            <a:r>
              <a:rPr sz="1700" b="0">
                <a:solidFill>
                  <a:srgbClr val="1F2A44"/>
                </a:solidFill>
                <a:latin typeface="Arial"/>
                <a:ea typeface="Microsoft YaHei"/>
              </a:rPr>
              <a:t>Some teams expect cameras on; others allow off. Ask politely: “Could you turn on your camera for the first five minutes?”</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a video conference and a time that works across time zones.</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or read an invitation: date, time (with time zone), link, dial-in, agenda.</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plan materials, a test run and a backup plan.</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assign roles (chair, take the minutes, share your screen).</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have / hold a meeting, discuss + noun and attend + noun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27 Conference arrangements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meeting collocations, discuss / attend (no preposition), turn on the camera, and spelling (conference, agenda).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 · Lesson 28 Starting the video conference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Starting the video conference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开始视频会议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open a video conference smoothly: check sound and picture, welcome and introduce participants, explain simple ground rules, state the purpose and the agenda, and deal with late arrivals and technical glitches.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6972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How do you feel at the start of a video conference: relaxed or nervous? Why?</a:t>
            </a:r>
          </a:p>
        </p:txBody>
      </p:sp>
      <p:sp>
        <p:nvSpPr>
          <p:cNvPr id="12" name="Oval 11"/>
          <p:cNvSpPr/>
          <p:nvPr/>
        </p:nvSpPr>
        <p:spPr>
          <a:xfrm>
            <a:off x="548640" y="2212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197608"/>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197608"/>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do you say first when you join a video call?</a:t>
            </a:r>
          </a:p>
        </p:txBody>
      </p:sp>
      <p:sp>
        <p:nvSpPr>
          <p:cNvPr id="15" name="Oval 14"/>
          <p:cNvSpPr/>
          <p:nvPr/>
        </p:nvSpPr>
        <p:spPr>
          <a:xfrm>
            <a:off x="548640" y="28559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840736"/>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840736"/>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technical problems often happen at the start of a call?</a:t>
            </a:r>
          </a:p>
        </p:txBody>
      </p:sp>
      <p:sp>
        <p:nvSpPr>
          <p:cNvPr id="18" name="Oval 17"/>
          <p:cNvSpPr/>
          <p:nvPr/>
        </p:nvSpPr>
        <p:spPr>
          <a:xfrm>
            <a:off x="548640" y="36515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483864"/>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483864"/>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Tell me about a time when someone was on mute and could not be heard. What happened?</a:t>
            </a:r>
          </a:p>
        </p:txBody>
      </p:sp>
      <p:sp>
        <p:nvSpPr>
          <p:cNvPr id="21" name="Oval 20"/>
          <p:cNvSpPr/>
          <p:nvPr/>
        </p:nvSpPr>
        <p:spPr>
          <a:xfrm>
            <a:off x="548640" y="45994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431792"/>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431792"/>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Who should start the meeting: the chair or the first speaker? What do they say?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题讲过去的事,请用过去式(was, said, could not)。第 2 题可以说 “I usually say…”。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Open a video meeting with five people from different countries.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check sound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welcome and introductions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ground rules (mute, chat)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purpose and agenda</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Can everyone hear me OK?   💬 Welcome, everyone.   💬 Today we’d like to…   💬 Please mute yourself when you’re not speaking.</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开场 30 秒内要完成:欢迎、确认声音、说明目的和议程。静音用 mute;取消静音用 unmute。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Checking the technology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检查设备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 you hear me OK?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你们能听清我吗?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morning, everyone. Can you hear me OK?”</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 everyone see my screen?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大家能看到我的屏幕吗?</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everyone see my screen?”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You’re on mute.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你静音了</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Karen, you’re on mute.”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You’re frozen. / We’ve lost your video.</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你的画面卡住了</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“Mark, you’re frozen. Could you turn your camera off and on?”</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try dialling in?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你可以试试用电话拨入吗?</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the audio doesn’t work, could you try dialling in?”</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Welcoming and introducing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欢迎与介绍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Welcome, everyone. Thanks for joining.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欢迎大家,感谢参加</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“Welcome, everyone. Thanks for joining us.”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wait a couple of minutes for the others.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我们再等几分钟等其他人</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wait a couple of minutes for the others.”</a:t>
            </a:r>
          </a:p>
        </p:txBody>
      </p:sp>
      <p:sp>
        <p:nvSpPr>
          <p:cNvPr id="19" name="Rounded Rectangle 18"/>
          <p:cNvSpPr/>
          <p:nvPr/>
        </p:nvSpPr>
        <p:spPr>
          <a:xfrm>
            <a:off x="548640" y="343408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Shall we go around the room and introduce ourselves?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我们依次做一下自我介绍,好吗?</a:t>
            </a:r>
          </a:p>
        </p:txBody>
      </p:sp>
      <p:sp>
        <p:nvSpPr>
          <p:cNvPr id="23" name="TextBox 22"/>
          <p:cNvSpPr txBox="1"/>
          <p:nvPr/>
        </p:nvSpPr>
        <p:spPr>
          <a:xfrm>
            <a:off x="6675120" y="347980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“Shall we go around the room and introduce ourselves?”</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2: Welcoming and introducing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欢迎与介绍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introduce…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我想介绍……</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introduce Karen, our colleague in New York.”</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I’m late. I had trouble with the link.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抱歉我迟到了,链接有问题</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I’m late. I had trouble with the link.”</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Ground rules and agenda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规则与议程</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mute yourself when you’re not speaking.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不发言时请静音</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mute yourself when you’re not speaking.”</a:t>
            </a:r>
          </a:p>
        </p:txBody>
      </p:sp>
      <p:sp>
        <p:nvSpPr>
          <p:cNvPr id="14" name="Rounded Rectangle 13"/>
          <p:cNvSpPr/>
          <p:nvPr/>
        </p:nvSpPr>
        <p:spPr>
          <a:xfrm>
            <a:off x="548640" y="24257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use the chat / the raise-hand function.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请使用聊天/举手功能</a:t>
            </a:r>
          </a:p>
        </p:txBody>
      </p:sp>
      <p:sp>
        <p:nvSpPr>
          <p:cNvPr id="18" name="TextBox 17"/>
          <p:cNvSpPr txBox="1"/>
          <p:nvPr/>
        </p:nvSpPr>
        <p:spPr>
          <a:xfrm>
            <a:off x="6675120" y="24714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you have a question, please use the raise-hand function.”</a:t>
            </a:r>
          </a:p>
        </p:txBody>
      </p:sp>
      <p:sp>
        <p:nvSpPr>
          <p:cNvPr id="19" name="Rounded Rectangle 18"/>
          <p:cNvSpPr/>
          <p:nvPr/>
        </p:nvSpPr>
        <p:spPr>
          <a:xfrm>
            <a:off x="548640" y="37388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388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7846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purpose of today’s meeting is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7846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今天会议的目的是……</a:t>
            </a:r>
          </a:p>
        </p:txBody>
      </p:sp>
      <p:sp>
        <p:nvSpPr>
          <p:cNvPr id="23" name="TextBox 22"/>
          <p:cNvSpPr txBox="1"/>
          <p:nvPr/>
        </p:nvSpPr>
        <p:spPr>
          <a:xfrm>
            <a:off x="6675120" y="37846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purpose of today’s meeting is to agree on the schedule.”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Ground rules and agenda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规则与议程</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have three items on the agenda.</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我们议程上有三项</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three items on the agenda.”</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 should be able to finish by eleven.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我们应该能在十一点前结束</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 be able to finish by eleven.”</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抱歉我迟到了,链接有问题</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Sorry I’m late. I had trouble with the link.</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欢迎大家,感谢参加</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Welcome, everyone. Thanks for joining.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你可以试试用电话拨入吗?</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try dialling in?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不发言时请静音</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Please mute yourself when you’re not speaking.</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我想介绍……</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like to introduce…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你的画面卡住了</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You’re frozen. / We’ve lost your video.</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今天会议的目的是……</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The purpose of today’s meeting is to…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你静音了</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You’re on mute.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mute</a:t>
            </a:r>
          </a:p>
        </p:txBody>
      </p:sp>
      <p:sp>
        <p:nvSpPr>
          <p:cNvPr id="10" name="Rounded Rectangle 9"/>
          <p:cNvSpPr/>
          <p:nvPr/>
        </p:nvSpPr>
        <p:spPr>
          <a:xfrm>
            <a:off x="2907792"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Welcome</a:t>
            </a:r>
          </a:p>
        </p:txBody>
      </p:sp>
      <p:sp>
        <p:nvSpPr>
          <p:cNvPr id="11" name="Rounded Rectangle 10"/>
          <p:cNvSpPr/>
          <p:nvPr/>
        </p:nvSpPr>
        <p:spPr>
          <a:xfrm>
            <a:off x="4133088"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2" name="Rounded Rectangle 11"/>
          <p:cNvSpPr/>
          <p:nvPr/>
        </p:nvSpPr>
        <p:spPr>
          <a:xfrm>
            <a:off x="5248656"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purpose</a:t>
            </a:r>
          </a:p>
        </p:txBody>
      </p:sp>
      <p:sp>
        <p:nvSpPr>
          <p:cNvPr id="13" name="Rounded Rectangle 12"/>
          <p:cNvSpPr/>
          <p:nvPr/>
        </p:nvSpPr>
        <p:spPr>
          <a:xfrm>
            <a:off x="6473952"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mute</a:t>
            </a:r>
          </a:p>
        </p:txBody>
      </p:sp>
      <p:sp>
        <p:nvSpPr>
          <p:cNvPr id="14" name="Rounded Rectangle 13"/>
          <p:cNvSpPr/>
          <p:nvPr/>
        </p:nvSpPr>
        <p:spPr>
          <a:xfrm>
            <a:off x="7370064"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hear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Good morning, everyone. Can you _______ me OK?</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hear</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Sorry, Karen, you’re on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mute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everyone. Thanks for joining.</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Welcome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Please _______ yourself when you’re not speaking.</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mute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_______ of today’s meeting is to agree on the schedule.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purpose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have three items on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拼写与词汇): mute (静音) vs unmute (取消静音); frozen (卡住); screen (not “sreen”); purpose. Say “on mute”, not “closed”.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Opening a multi-country video conference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开始跨国视频会议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chair a video conference with colleagues in Shanghai, London and New York.</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 (London)</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Karen Ortiz (New York)</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 multi-country video conference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good afternoon and good evening, everyone. Can you hear me OK?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Loud and clear, Li Wei.</a:t>
            </a:r>
          </a:p>
        </p:txBody>
      </p:sp>
      <p:sp>
        <p:nvSpPr>
          <p:cNvPr id="14" name="Rounded Rectangle 13"/>
          <p:cNvSpPr/>
          <p:nvPr/>
        </p:nvSpPr>
        <p:spPr>
          <a:xfrm>
            <a:off x="548640" y="2779776"/>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Karen</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can hear you fine.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Let’s wait a couple of minutes for the others. … OK, I think everyone’s here. Welcome, everyone, and thanks for joining.</a:t>
            </a:r>
          </a:p>
        </p:txBody>
      </p:sp>
      <p:sp>
        <p:nvSpPr>
          <p:cNvPr id="20" name="Rounded Rectangle 19"/>
          <p:cNvSpPr/>
          <p:nvPr/>
        </p:nvSpPr>
        <p:spPr>
          <a:xfrm>
            <a:off x="548640" y="4233672"/>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I couldn’t unmute. Can you hear me now?</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 multi-country video conference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perfectly. Before we start, a few ground rules: please mute yourself when you’re not speaking, and use the chat or the raise-hand function if you have a question.</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487167"/>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purpose of today’s meeting is to review the Q4 plan. We have three items on the agenda: the schedule, the budget and the risks. We should be able to finish by eleven. Any questions before we begin?</a:t>
            </a:r>
          </a:p>
        </p:txBody>
      </p:sp>
      <p:sp>
        <p:nvSpPr>
          <p:cNvPr id="17" name="Rounded Rectangle 16"/>
          <p:cNvSpPr/>
          <p:nvPr/>
        </p:nvSpPr>
        <p:spPr>
          <a:xfrm>
            <a:off x="548640" y="4230622"/>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8" name="TextBox 17"/>
          <p:cNvSpPr txBox="1"/>
          <p:nvPr/>
        </p:nvSpPr>
        <p:spPr>
          <a:xfrm>
            <a:off x="274320" y="466953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4230622"/>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that’s clear.</a:t>
            </a:r>
          </a:p>
        </p:txBody>
      </p:sp>
      <p:sp>
        <p:nvSpPr>
          <p:cNvPr id="20" name="Rounded Rectangle 19"/>
          <p:cNvSpPr/>
          <p:nvPr/>
        </p:nvSpPr>
        <p:spPr>
          <a:xfrm>
            <a:off x="548640" y="481279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start with the schedule. Dan, would you like to begin?</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Opening a multi-country video conference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open a video conference with participants in different places.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Name and meeting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Participants. Use the chat or ask a question.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 you hear me OK? · Welcome, everyone. · mute yourself · The purpose of today’s meeting is… · We have three items on the agenda.</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clear opening in under 90 seconds: check, welcome, rules, purpose, agenda.</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Someone joins late. Say: “Hi Mark, welcome. We’ve just started. We’re on the first item.”</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Karen’s camera is frozen. Say: “Karen, you’re frozen. Could you try turning your camera off and 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short ice-breaker: “How’s the weather in New York?”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Handling technical glitches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处理技术故障</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the start of the call, there are problems with sound and screen sharing.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Mark Davis, participant</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Handling technical glitches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Mark. Can you hear 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Mark</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I can’t hear anything. My sound seems to be off.</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might be on mute, or your speakers could be turned off. Could you check your sound settings?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 Now? Can you hear me?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can hear you now. Let me share my screen. Can everyone see it?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 see your desktop, but not the slide.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Handling technical glitches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share just the window. … Is that better?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can see the slide now.</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If the sound drops again, you can dial in using the number in the chat.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Sorry about that.</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at all. Shall we get started?</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Handling technical glitches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participant has trouble with sound or screen.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Stay calm and help.</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Participant with a problem.</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 you hear me OK? · You might be on mute. · Let me share my screen. · Could you try dialling in? · No problem at all.</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Solve the problem in 60 seconds and start the meeting.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problem can’t be fixed. Say: “Let’s move this item to the end, so you can join by phone.”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who will help: “I’ll ask our IT colleague, Jack, to call you.”</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Remind everyone of the rule for the future: “From now on, please test your sound five minutes early.”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a chair say in the first minute of a video conference?</a:t>
            </a:r>
          </a:p>
          <a:p>
            <a:pPr algn="l">
              <a:lnSpc>
                <a:spcPct val="115000"/>
              </a:lnSpc>
              <a:spcAft>
                <a:spcPts val="800"/>
              </a:spcAft>
            </a:pPr>
            <a:r>
              <a:rPr sz="1400" b="0">
                <a:solidFill>
                  <a:srgbClr val="5F677A"/>
                </a:solidFill>
                <a:latin typeface="Arial"/>
                <a:ea typeface="Microsoft YaHei"/>
              </a:rPr>
              <a:t>💬 “First, I would… Then…” / “The chair should always…”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necessary to have everybody’s camera on?</a:t>
            </a:r>
          </a:p>
          <a:p>
            <a:pPr algn="l">
              <a:lnSpc>
                <a:spcPct val="115000"/>
              </a:lnSpc>
              <a:spcAft>
                <a:spcPts val="800"/>
              </a:spcAft>
            </a:pPr>
            <a:r>
              <a:rPr sz="1400" b="0">
                <a:solidFill>
                  <a:srgbClr val="5F677A"/>
                </a:solidFill>
                <a:latin typeface="Arial"/>
                <a:ea typeface="Microsoft YaHei"/>
              </a:rPr>
              <a:t>💬 “I think cameras should be on when…” / “Cameras off is fine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make a video conference friendlier at the start?</a:t>
            </a:r>
          </a:p>
          <a:p>
            <a:pPr algn="l">
              <a:lnSpc>
                <a:spcPct val="115000"/>
              </a:lnSpc>
              <a:spcAft>
                <a:spcPts val="800"/>
              </a:spcAft>
            </a:pPr>
            <a:r>
              <a:rPr sz="1400" b="0">
                <a:solidFill>
                  <a:srgbClr val="5F677A"/>
                </a:solidFill>
                <a:latin typeface="Arial"/>
                <a:ea typeface="Microsoft YaHei"/>
              </a:rPr>
              <a:t>💬 “I begin with a short chat about…” / “I ask everyone to say one sentence.”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people who join late?</a:t>
            </a:r>
          </a:p>
          <a:p>
            <a:pPr algn="l">
              <a:lnSpc>
                <a:spcPct val="115000"/>
              </a:lnSpc>
              <a:spcAft>
                <a:spcPts val="800"/>
              </a:spcAft>
            </a:pPr>
            <a:r>
              <a:rPr sz="1400" b="0">
                <a:solidFill>
                  <a:srgbClr val="5F677A"/>
                </a:solidFill>
                <a:latin typeface="Arial"/>
                <a:ea typeface="Microsoft YaHei"/>
              </a:rPr>
              <a:t>💬 “I welcome them and say…” / “I don’t repeat everything. I send a summary.”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irritating things that people do on video calls?</a:t>
            </a:r>
          </a:p>
          <a:p>
            <a:pPr algn="l">
              <a:lnSpc>
                <a:spcPct val="115000"/>
              </a:lnSpc>
              <a:spcAft>
                <a:spcPts val="800"/>
              </a:spcAft>
            </a:pPr>
            <a:r>
              <a:rPr sz="1400" b="0">
                <a:solidFill>
                  <a:srgbClr val="5F677A"/>
                </a:solidFill>
                <a:latin typeface="Arial"/>
                <a:ea typeface="Microsoft YaHei"/>
              </a:rPr>
              <a:t>💬 “What irritates me is…” / “It bothers me when someone…”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cameras should be on at least at the beginning, so that people can see each other. Video helps us build trust. But it is not necessary to have the cameras on for the whole meeting, especially when the connection is poor or when people have been in meetings all day. I usually say,”Let’s have cameras on for the introductions, and then it’s your choice.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“so that people can see each other” 表示目的;“at least”(至少)。“it’s your choice”(由你决定)语气友好。注意 “have been in meetings all day”(现在完成时)。</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Video-conference language: opening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开场用语</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Check</a:t>
                      </a:r>
                    </a:p>
                  </a:txBody>
                  <a:tcPr anchor="ctr">
                    <a:solidFill>
                      <a:srgbClr val="FFFFFF"/>
                    </a:solidFill>
                  </a:tcPr>
                </a:tc>
                <a:tc>
                  <a:txBody>
                    <a:bodyPr wrap="square"/>
                    <a:lstStyle/>
                    <a:p>
                      <a:r>
                        <a:rPr sz="1600" b="0">
                          <a:solidFill>
                            <a:srgbClr val="1F2A44"/>
                          </a:solidFill>
                          <a:latin typeface="Arial"/>
                          <a:ea typeface="Microsoft YaHei"/>
                        </a:rPr>
                        <a:t>Can you hear me OK? / Can everyone see my screen?</a:t>
                      </a:r>
                    </a:p>
                  </a:txBody>
                  <a:tcPr anchor="ctr">
                    <a:solidFill>
                      <a:srgbClr val="FFFFFF"/>
                    </a:solidFill>
                  </a:tcPr>
                </a:tc>
              </a:tr>
              <a:tr h="652272">
                <a:tc>
                  <a:txBody>
                    <a:bodyPr wrap="square"/>
                    <a:lstStyle/>
                    <a:p>
                      <a:r>
                        <a:rPr sz="1600" b="1">
                          <a:solidFill>
                            <a:srgbClr val="1F2A44"/>
                          </a:solidFill>
                          <a:latin typeface="Arial"/>
                          <a:ea typeface="Microsoft YaHei"/>
                        </a:rPr>
                        <a:t>Problem</a:t>
                      </a:r>
                    </a:p>
                  </a:txBody>
                  <a:tcPr anchor="ctr">
                    <a:solidFill>
                      <a:srgbClr val="FFEFD9"/>
                    </a:solidFill>
                  </a:tcPr>
                </a:tc>
                <a:tc>
                  <a:txBody>
                    <a:bodyPr wrap="square"/>
                    <a:lstStyle/>
                    <a:p>
                      <a:r>
                        <a:rPr sz="1600" b="0">
                          <a:solidFill>
                            <a:srgbClr val="1F2A44"/>
                          </a:solidFill>
                          <a:latin typeface="Arial"/>
                          <a:ea typeface="Microsoft YaHei"/>
                        </a:rPr>
                        <a:t>You’re on mute. ★ / You’re frozen. ★ / The sound is breaking up.</a:t>
                      </a:r>
                    </a:p>
                  </a:txBody>
                  <a:tcPr anchor="ctr">
                    <a:solidFill>
                      <a:srgbClr val="FFEFD9"/>
                    </a:solidFill>
                  </a:tcPr>
                </a:tc>
              </a:tr>
              <a:tr h="408432">
                <a:tc>
                  <a:txBody>
                    <a:bodyPr wrap="square"/>
                    <a:lstStyle/>
                    <a:p>
                      <a:r>
                        <a:rPr sz="1600" b="1">
                          <a:solidFill>
                            <a:srgbClr val="1F2A44"/>
                          </a:solidFill>
                          <a:latin typeface="Arial"/>
                          <a:ea typeface="Microsoft YaHei"/>
                        </a:rPr>
                        <a:t>Wait</a:t>
                      </a:r>
                    </a:p>
                  </a:txBody>
                  <a:tcPr anchor="ctr">
                    <a:solidFill>
                      <a:srgbClr val="FFFFFF"/>
                    </a:solidFill>
                  </a:tcPr>
                </a:tc>
                <a:tc>
                  <a:txBody>
                    <a:bodyPr wrap="square"/>
                    <a:lstStyle/>
                    <a:p>
                      <a:r>
                        <a:rPr sz="1600" b="0">
                          <a:solidFill>
                            <a:srgbClr val="1F2A44"/>
                          </a:solidFill>
                          <a:latin typeface="Arial"/>
                          <a:ea typeface="Microsoft YaHei"/>
                        </a:rPr>
                        <a:t>Let’s wait a couple of minutes for the others.</a:t>
                      </a:r>
                    </a:p>
                  </a:txBody>
                  <a:tcPr anchor="ctr">
                    <a:solidFill>
                      <a:srgbClr val="FFFFFF"/>
                    </a:solidFill>
                  </a:tcPr>
                </a:tc>
              </a:tr>
              <a:tr h="408432">
                <a:tc>
                  <a:txBody>
                    <a:bodyPr wrap="square"/>
                    <a:lstStyle/>
                    <a:p>
                      <a:r>
                        <a:rPr sz="1600" b="1">
                          <a:solidFill>
                            <a:srgbClr val="1F2A44"/>
                          </a:solidFill>
                          <a:latin typeface="Arial"/>
                          <a:ea typeface="Microsoft YaHei"/>
                        </a:rPr>
                        <a:t>Welcome</a:t>
                      </a:r>
                    </a:p>
                  </a:txBody>
                  <a:tcPr anchor="ctr">
                    <a:solidFill>
                      <a:srgbClr val="FFEFD9"/>
                    </a:solidFill>
                  </a:tcPr>
                </a:tc>
                <a:tc>
                  <a:txBody>
                    <a:bodyPr wrap="square"/>
                    <a:lstStyle/>
                    <a:p>
                      <a:r>
                        <a:rPr sz="1600" b="0">
                          <a:solidFill>
                            <a:srgbClr val="1F2A44"/>
                          </a:solidFill>
                          <a:latin typeface="Arial"/>
                          <a:ea typeface="Microsoft YaHei"/>
                        </a:rPr>
                        <a:t>Welcome, everyone. Thanks for joining.</a:t>
                      </a:r>
                    </a:p>
                  </a:txBody>
                  <a:tcPr anchor="ctr">
                    <a:solidFill>
                      <a:srgbClr val="FFEFD9"/>
                    </a:solidFill>
                  </a:tcPr>
                </a:tc>
              </a:tr>
              <a:tr h="652272">
                <a:tc>
                  <a:txBody>
                    <a:bodyPr wrap="square"/>
                    <a:lstStyle/>
                    <a:p>
                      <a:r>
                        <a:rPr sz="1600" b="1">
                          <a:solidFill>
                            <a:srgbClr val="1F2A44"/>
                          </a:solidFill>
                          <a:latin typeface="Arial"/>
                          <a:ea typeface="Microsoft YaHei"/>
                        </a:rPr>
                        <a:t>Rules</a:t>
                      </a:r>
                    </a:p>
                  </a:txBody>
                  <a:tcPr anchor="ctr">
                    <a:solidFill>
                      <a:srgbClr val="FFFFFF"/>
                    </a:solidFill>
                  </a:tcPr>
                </a:tc>
                <a:tc>
                  <a:txBody>
                    <a:bodyPr wrap="square"/>
                    <a:lstStyle/>
                    <a:p>
                      <a:r>
                        <a:rPr sz="1600" b="0">
                          <a:solidFill>
                            <a:srgbClr val="1F2A44"/>
                          </a:solidFill>
                          <a:latin typeface="Arial"/>
                          <a:ea typeface="Microsoft YaHei"/>
                        </a:rPr>
                        <a:t>Please mute yourself when you’re not speaking. / Please use the chat or raise-hand function. ★</a:t>
                      </a:r>
                    </a:p>
                  </a:txBody>
                  <a:tcPr anchor="ctr">
                    <a:solidFill>
                      <a:srgbClr val="FFFFFF"/>
                    </a:solidFill>
                  </a:tcPr>
                </a:tc>
              </a:tr>
            </a:tbl>
          </a:graphicData>
        </a:graphic>
      </p:graphicFrame>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Video-conference language: opening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开场用语</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Purpose</a:t>
                      </a:r>
                    </a:p>
                  </a:txBody>
                  <a:tcPr anchor="ctr">
                    <a:solidFill>
                      <a:srgbClr val="FFFFFF"/>
                    </a:solidFill>
                  </a:tcPr>
                </a:tc>
                <a:tc>
                  <a:txBody>
                    <a:bodyPr wrap="square"/>
                    <a:lstStyle/>
                    <a:p>
                      <a:r>
                        <a:rPr sz="1600" b="0">
                          <a:solidFill>
                            <a:srgbClr val="1F2A44"/>
                          </a:solidFill>
                          <a:latin typeface="Arial"/>
                          <a:ea typeface="Microsoft YaHei"/>
                        </a:rPr>
                        <a:t>The purpose of today’s meeting is to…</a:t>
                      </a:r>
                    </a:p>
                  </a:txBody>
                  <a:tcPr anchor="ctr">
                    <a:solidFill>
                      <a:srgbClr val="FFFFFF"/>
                    </a:solidFill>
                  </a:tcPr>
                </a:tc>
              </a:tr>
              <a:tr h="408432">
                <a:tc>
                  <a:txBody>
                    <a:bodyPr wrap="square"/>
                    <a:lstStyle/>
                    <a:p>
                      <a:r>
                        <a:rPr sz="1600" b="1">
                          <a:solidFill>
                            <a:srgbClr val="1F2A44"/>
                          </a:solidFill>
                          <a:latin typeface="Arial"/>
                          <a:ea typeface="Microsoft YaHei"/>
                        </a:rPr>
                        <a:t>Agenda</a:t>
                      </a:r>
                    </a:p>
                  </a:txBody>
                  <a:tcPr anchor="ctr">
                    <a:solidFill>
                      <a:srgbClr val="FFEFD9"/>
                    </a:solidFill>
                  </a:tcPr>
                </a:tc>
                <a:tc>
                  <a:txBody>
                    <a:bodyPr wrap="square"/>
                    <a:lstStyle/>
                    <a:p>
                      <a:r>
                        <a:rPr sz="1600" b="0">
                          <a:solidFill>
                            <a:srgbClr val="1F2A44"/>
                          </a:solidFill>
                          <a:latin typeface="Arial"/>
                          <a:ea typeface="Microsoft YaHei"/>
                        </a:rPr>
                        <a:t>We have three items on the agenda.</a:t>
                      </a:r>
                    </a:p>
                  </a:txBody>
                  <a:tcPr anchor="ctr">
                    <a:solidFill>
                      <a:srgbClr val="FFEFD9"/>
                    </a:solidFill>
                  </a:tcPr>
                </a:tc>
              </a:tr>
              <a:tr h="408432">
                <a:tc>
                  <a:txBody>
                    <a:bodyPr wrap="square"/>
                    <a:lstStyle/>
                    <a:p>
                      <a:r>
                        <a:rPr sz="1600" b="1">
                          <a:solidFill>
                            <a:srgbClr val="1F2A44"/>
                          </a:solidFill>
                          <a:latin typeface="Arial"/>
                          <a:ea typeface="Microsoft YaHei"/>
                        </a:rPr>
                        <a:t>Timing</a:t>
                      </a:r>
                    </a:p>
                  </a:txBody>
                  <a:tcPr anchor="ctr">
                    <a:solidFill>
                      <a:srgbClr val="FFFFFF"/>
                    </a:solidFill>
                  </a:tcPr>
                </a:tc>
                <a:tc>
                  <a:txBody>
                    <a:bodyPr wrap="square"/>
                    <a:lstStyle/>
                    <a:p>
                      <a:r>
                        <a:rPr sz="1600" b="0">
                          <a:solidFill>
                            <a:srgbClr val="1F2A44"/>
                          </a:solidFill>
                          <a:latin typeface="Arial"/>
                          <a:ea typeface="Microsoft YaHei"/>
                        </a:rPr>
                        <a:t>We should be able to finish by eleven. ★</a:t>
                      </a:r>
                    </a:p>
                  </a:txBody>
                  <a:tcPr anchor="ctr">
                    <a:solidFill>
                      <a:srgbClr val="FFFFFF"/>
                    </a:solidFill>
                  </a:tcPr>
                </a:tc>
              </a:tr>
              <a:tr h="408432">
                <a:tc>
                  <a:txBody>
                    <a:bodyPr wrap="square"/>
                    <a:lstStyle/>
                    <a:p>
                      <a:r>
                        <a:rPr sz="1600" b="1">
                          <a:solidFill>
                            <a:srgbClr val="1F2A44"/>
                          </a:solidFill>
                          <a:latin typeface="Arial"/>
                          <a:ea typeface="Microsoft YaHei"/>
                        </a:rPr>
                        <a:t>Start</a:t>
                      </a:r>
                    </a:p>
                  </a:txBody>
                  <a:tcPr anchor="ctr">
                    <a:solidFill>
                      <a:srgbClr val="FFEFD9"/>
                    </a:solidFill>
                  </a:tcPr>
                </a:tc>
                <a:tc>
                  <a:txBody>
                    <a:bodyPr wrap="square"/>
                    <a:lstStyle/>
                    <a:p>
                      <a:r>
                        <a:rPr sz="1600" b="0">
                          <a:solidFill>
                            <a:srgbClr val="1F2A44"/>
                          </a:solidFill>
                          <a:latin typeface="Arial"/>
                          <a:ea typeface="Microsoft YaHei"/>
                        </a:rPr>
                        <a:t>Let’s get started. / Shall we begin?</a:t>
                      </a:r>
                    </a:p>
                  </a:txBody>
                  <a:tcPr anchor="ctr">
                    <a:solidFill>
                      <a:srgbClr val="FFEFD9"/>
                    </a:solidFill>
                  </a:tcPr>
                </a:tc>
              </a:tr>
            </a:tbl>
          </a:graphicData>
        </a:graphic>
      </p:graphicFrame>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Fixing problems: useful verbs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技术问题常用动词</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Problem</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No sound</a:t>
                      </a:r>
                    </a:p>
                  </a:txBody>
                  <a:tcPr anchor="ctr">
                    <a:solidFill>
                      <a:srgbClr val="FFFFFF"/>
                    </a:solidFill>
                  </a:tcPr>
                </a:tc>
                <a:tc>
                  <a:txBody>
                    <a:bodyPr wrap="square"/>
                    <a:lstStyle/>
                    <a:p>
                      <a:r>
                        <a:rPr sz="1600" b="0">
                          <a:solidFill>
                            <a:srgbClr val="1F2A44"/>
                          </a:solidFill>
                          <a:latin typeface="Arial"/>
                          <a:ea typeface="Microsoft YaHei"/>
                        </a:rPr>
                        <a:t>Check your speakers / headset. Are you on mute?</a:t>
                      </a:r>
                    </a:p>
                  </a:txBody>
                  <a:tcPr anchor="ctr">
                    <a:solidFill>
                      <a:srgbClr val="FFFFFF"/>
                    </a:solidFill>
                  </a:tcPr>
                </a:tc>
              </a:tr>
              <a:tr h="408432">
                <a:tc>
                  <a:txBody>
                    <a:bodyPr wrap="square"/>
                    <a:lstStyle/>
                    <a:p>
                      <a:r>
                        <a:rPr sz="1600" b="1">
                          <a:solidFill>
                            <a:srgbClr val="1F2A44"/>
                          </a:solidFill>
                          <a:latin typeface="Arial"/>
                          <a:ea typeface="Microsoft YaHei"/>
                        </a:rPr>
                        <a:t>No picture</a:t>
                      </a:r>
                    </a:p>
                  </a:txBody>
                  <a:tcPr anchor="ctr">
                    <a:solidFill>
                      <a:srgbClr val="FFEFD9"/>
                    </a:solidFill>
                  </a:tcPr>
                </a:tc>
                <a:tc>
                  <a:txBody>
                    <a:bodyPr wrap="square"/>
                    <a:lstStyle/>
                    <a:p>
                      <a:r>
                        <a:rPr sz="1600" b="0">
                          <a:solidFill>
                            <a:srgbClr val="1F2A44"/>
                          </a:solidFill>
                          <a:latin typeface="Arial"/>
                          <a:ea typeface="Microsoft YaHei"/>
                        </a:rPr>
                        <a:t>Could you turn your camera on?</a:t>
                      </a:r>
                    </a:p>
                  </a:txBody>
                  <a:tcPr anchor="ctr">
                    <a:solidFill>
                      <a:srgbClr val="FFEFD9"/>
                    </a:solidFill>
                  </a:tcPr>
                </a:tc>
              </a:tr>
              <a:tr h="652272">
                <a:tc>
                  <a:txBody>
                    <a:bodyPr wrap="square"/>
                    <a:lstStyle/>
                    <a:p>
                      <a:r>
                        <a:rPr sz="1600" b="1">
                          <a:solidFill>
                            <a:srgbClr val="1F2A44"/>
                          </a:solidFill>
                          <a:latin typeface="Arial"/>
                          <a:ea typeface="Microsoft YaHei"/>
                        </a:rPr>
                        <a:t>Echo</a:t>
                      </a:r>
                    </a:p>
                  </a:txBody>
                  <a:tcPr anchor="ctr">
                    <a:solidFill>
                      <a:srgbClr val="FFFFFF"/>
                    </a:solidFill>
                  </a:tcPr>
                </a:tc>
                <a:tc>
                  <a:txBody>
                    <a:bodyPr wrap="square"/>
                    <a:lstStyle/>
                    <a:p>
                      <a:r>
                        <a:rPr sz="1600" b="0">
                          <a:solidFill>
                            <a:srgbClr val="1F2A44"/>
                          </a:solidFill>
                          <a:latin typeface="Arial"/>
                          <a:ea typeface="Microsoft YaHei"/>
                        </a:rPr>
                        <a:t>Could you mute yourself, please? We’re getting an echo.</a:t>
                      </a:r>
                    </a:p>
                  </a:txBody>
                  <a:tcPr anchor="ctr">
                    <a:solidFill>
                      <a:srgbClr val="FFFFFF"/>
                    </a:solidFill>
                  </a:tcPr>
                </a:tc>
              </a:tr>
              <a:tr h="408432">
                <a:tc>
                  <a:txBody>
                    <a:bodyPr wrap="square"/>
                    <a:lstStyle/>
                    <a:p>
                      <a:r>
                        <a:rPr sz="1600" b="1">
                          <a:solidFill>
                            <a:srgbClr val="1F2A44"/>
                          </a:solidFill>
                          <a:latin typeface="Arial"/>
                          <a:ea typeface="Microsoft YaHei"/>
                        </a:rPr>
                        <a:t>Frozen</a:t>
                      </a:r>
                    </a:p>
                  </a:txBody>
                  <a:tcPr anchor="ctr">
                    <a:solidFill>
                      <a:srgbClr val="FFEFD9"/>
                    </a:solidFill>
                  </a:tcPr>
                </a:tc>
                <a:tc>
                  <a:txBody>
                    <a:bodyPr wrap="square"/>
                    <a:lstStyle/>
                    <a:p>
                      <a:r>
                        <a:rPr sz="1600" b="0">
                          <a:solidFill>
                            <a:srgbClr val="1F2A44"/>
                          </a:solidFill>
                          <a:latin typeface="Arial"/>
                          <a:ea typeface="Microsoft YaHei"/>
                        </a:rPr>
                        <a:t>You’ve frozen. Could you rejoin the call?</a:t>
                      </a:r>
                    </a:p>
                  </a:txBody>
                  <a:tcPr anchor="ctr">
                    <a:solidFill>
                      <a:srgbClr val="FFEFD9"/>
                    </a:solidFill>
                  </a:tcPr>
                </a:tc>
              </a:tr>
              <a:tr h="652272">
                <a:tc>
                  <a:txBody>
                    <a:bodyPr wrap="square"/>
                    <a:lstStyle/>
                    <a:p>
                      <a:r>
                        <a:rPr sz="1600" b="1">
                          <a:solidFill>
                            <a:srgbClr val="1F2A44"/>
                          </a:solidFill>
                          <a:latin typeface="Arial"/>
                          <a:ea typeface="Microsoft YaHei"/>
                        </a:rPr>
                        <a:t>Poor connection</a:t>
                      </a:r>
                    </a:p>
                  </a:txBody>
                  <a:tcPr anchor="ctr">
                    <a:solidFill>
                      <a:srgbClr val="FFFFFF"/>
                    </a:solidFill>
                  </a:tcPr>
                </a:tc>
                <a:tc>
                  <a:txBody>
                    <a:bodyPr wrap="square"/>
                    <a:lstStyle/>
                    <a:p>
                      <a:r>
                        <a:rPr sz="1600" b="0">
                          <a:solidFill>
                            <a:srgbClr val="1F2A44"/>
                          </a:solidFill>
                          <a:latin typeface="Arial"/>
                          <a:ea typeface="Microsoft YaHei"/>
                        </a:rPr>
                        <a:t>Your connection seems unstable. Try turning off your video.</a:t>
                      </a:r>
                    </a:p>
                  </a:txBody>
                  <a:tcPr anchor="ctr">
                    <a:solidFill>
                      <a:srgbClr val="FFFFFF"/>
                    </a:solidFill>
                  </a:tcPr>
                </a:tc>
              </a:tr>
            </a:tbl>
          </a:graphicData>
        </a:graphic>
      </p:graphicFrame>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Fixing problems: useful verbs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技术问题常用动词</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Mute / unmute: </a:t>
            </a:r>
            <a:r>
              <a:rPr sz="1700" b="0">
                <a:solidFill>
                  <a:srgbClr val="1F2A44"/>
                </a:solidFill>
                <a:latin typeface="Arial"/>
                <a:ea typeface="Microsoft YaHei"/>
              </a:rPr>
              <a:t>“Could you unmute, please?” “Please mute yourself.”</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Rejoin / reconnect / drop off: </a:t>
            </a:r>
            <a:r>
              <a:rPr sz="1700" b="0">
                <a:solidFill>
                  <a:srgbClr val="1F2A44"/>
                </a:solidFill>
                <a:latin typeface="Arial"/>
                <a:ea typeface="Microsoft YaHei"/>
              </a:rPr>
              <a:t>“I got dropped” (I was disconnected). “Let me rejoin.”</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Hear me / see me: </a:t>
            </a:r>
            <a:r>
              <a:rPr sz="1700" b="0">
                <a:solidFill>
                  <a:srgbClr val="1F2A44"/>
                </a:solidFill>
                <a:latin typeface="Arial"/>
                <a:ea typeface="Microsoft YaHei"/>
              </a:rPr>
              <a:t>Can you hear me? (audio) Can you see my screen? (visual).</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close your microphone.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mute your microphone. / Please mute yourself.</a:t>
            </a:r>
          </a:p>
          <a:p>
            <a:pPr algn="l">
              <a:spcAft>
                <a:spcPts val="200"/>
              </a:spcAft>
            </a:pPr>
            <a:r>
              <a:rPr sz="1200" b="0">
                <a:solidFill>
                  <a:srgbClr val="FFFFFF"/>
                </a:solidFill>
                <a:latin typeface="Arial"/>
                <a:ea typeface="Microsoft YaHei"/>
              </a:rPr>
              <a:t>静音:mute</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Open your mic, please.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unmute yourself?</a:t>
            </a:r>
          </a:p>
          <a:p>
            <a:pPr algn="l">
              <a:spcAft>
                <a:spcPts val="200"/>
              </a:spcAft>
            </a:pPr>
            <a:r>
              <a:rPr sz="1200" b="0">
                <a:solidFill>
                  <a:srgbClr val="FFFFFF"/>
                </a:solidFill>
                <a:latin typeface="Arial"/>
                <a:ea typeface="Microsoft YaHei"/>
              </a:rPr>
              <a:t>打开麦克风:unmute</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have mute.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You’re on mute.</a:t>
            </a:r>
          </a:p>
          <a:p>
            <a:pPr algn="l">
              <a:spcAft>
                <a:spcPts val="200"/>
              </a:spcAft>
            </a:pPr>
            <a:r>
              <a:rPr sz="1200" b="0">
                <a:solidFill>
                  <a:srgbClr val="FFFFFF"/>
                </a:solidFill>
                <a:latin typeface="Arial"/>
                <a:ea typeface="Microsoft YaHei"/>
              </a:rPr>
              <a:t>on mute</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hear to me?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hear me?</a:t>
            </a:r>
          </a:p>
          <a:p>
            <a:pPr algn="l">
              <a:spcAft>
                <a:spcPts val="200"/>
              </a:spcAft>
            </a:pPr>
            <a:r>
              <a:rPr sz="1200" b="0">
                <a:solidFill>
                  <a:srgbClr val="FFFFFF"/>
                </a:solidFill>
                <a:latin typeface="Arial"/>
                <a:ea typeface="Microsoft YaHei"/>
              </a:rPr>
              <a:t>hear 后直接接宾语</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look my screen?</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see my screen?</a:t>
            </a:r>
          </a:p>
          <a:p>
            <a:pPr algn="l">
              <a:spcAft>
                <a:spcPts val="200"/>
              </a:spcAft>
            </a:pPr>
            <a:r>
              <a:rPr sz="1200" b="0">
                <a:solidFill>
                  <a:srgbClr val="FFFFFF"/>
                </a:solidFill>
                <a:latin typeface="Arial"/>
                <a:ea typeface="Microsoft YaHei"/>
              </a:rPr>
              <a:t>看屏幕用 see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Welcome to join the meeting.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Thanks for joining us. / Welcome, everyone.</a:t>
            </a:r>
          </a:p>
          <a:p>
            <a:pPr algn="l">
              <a:spcAft>
                <a:spcPts val="200"/>
              </a:spcAft>
            </a:pPr>
            <a:r>
              <a:rPr sz="1200" b="0">
                <a:solidFill>
                  <a:srgbClr val="FFFFFF"/>
                </a:solidFill>
                <a:latin typeface="Arial"/>
                <a:ea typeface="Microsoft YaHei"/>
              </a:rPr>
              <a:t>固定说法</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will start in a few minute.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will start in a few minutes.</a:t>
            </a:r>
          </a:p>
          <a:p>
            <a:pPr algn="l">
              <a:spcAft>
                <a:spcPts val="200"/>
              </a:spcAft>
            </a:pPr>
            <a:r>
              <a:rPr sz="1200" b="0">
                <a:solidFill>
                  <a:srgbClr val="FFFFFF"/>
                </a:solidFill>
                <a:latin typeface="Arial"/>
                <a:ea typeface="Microsoft YaHei"/>
              </a:rPr>
              <a:t>minutes 复数</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wait for others.</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wait for the others. / Let’s wait for the others.</a:t>
            </a:r>
          </a:p>
          <a:p>
            <a:pPr algn="l">
              <a:spcAft>
                <a:spcPts val="200"/>
              </a:spcAft>
            </a:pPr>
            <a:r>
              <a:rPr sz="1200" b="0">
                <a:solidFill>
                  <a:srgbClr val="FFFFFF"/>
                </a:solidFill>
                <a:latin typeface="Arial"/>
                <a:ea typeface="Microsoft YaHei"/>
              </a:rPr>
              <a:t>提议用 let’s / we’ll</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for late.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I’m late. / Sorry for being late.</a:t>
            </a:r>
          </a:p>
          <a:p>
            <a:pPr algn="l">
              <a:spcAft>
                <a:spcPts val="200"/>
              </a:spcAft>
            </a:pPr>
            <a:r>
              <a:rPr sz="1200" b="0">
                <a:solidFill>
                  <a:srgbClr val="FFFFFF"/>
                </a:solidFill>
                <a:latin typeface="Arial"/>
                <a:ea typeface="Microsoft YaHei"/>
              </a:rPr>
              <a:t>完整结构</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mutte / scrren</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mute / screen</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mute / unmute, hear me / see my screen, thanks for joining, and plural minutes.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Begin with a warm greeting. In English-speaking meetings, even a short “Good morning, everyone” and a thank-you for joining is expected.</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Use names. On a video call it is hard to tell who is speaking. Say “Dan, would you like to start?” before someone talks.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Don’t multitask. Reading emails during a call is noticed, even on video. If you must leave the camera, say “I’ll be right back.”</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Small talk is fine. Two minutes of chat while waiting for people builds the relationship (“How’s the weather in London?”).</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1">
                <a:solidFill>
                  <a:srgbClr val="9B6BE0"/>
                </a:solidFill>
                <a:latin typeface="Arial"/>
                <a:ea typeface="Microsoft YaHei"/>
              </a:rPr>
              <a:t>Say your name when you speak in a large group: </a:t>
            </a:r>
            <a:r>
              <a:rPr sz="1700" b="0">
                <a:solidFill>
                  <a:srgbClr val="1F2A44"/>
                </a:solidFill>
                <a:latin typeface="Arial"/>
                <a:ea typeface="Microsoft YaHei"/>
              </a:rPr>
              <a:t>“This is Dan from London. I’d like to add something.”</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check sound and screen (Can you hear me OK? Can everyone see my screen?).</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welcome participants, wait for late arrivals and introduce people.</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ground rules (mute yourself, use the chat or raise-hand function).</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state the purpose and agenda in two sentences.</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mute / unmute, hear / see and thanks for joining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28 Starting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mute / unmute, hear / see, plural minutes, and clear structure (welcome → rules → purpose → agenda).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 · Lesson 29 Discussing problems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Discussing problems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讨论问题</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discuss problems in a video conference clearly and politely: describe the issue and its causes, give facts and figures, ask questions, agree or disagree, and make sure everyone understands the problem before looking for solutions.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2212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problems do your meetings usually discuss (delays, costs, quality, communication)?</a:t>
            </a:r>
          </a:p>
        </p:txBody>
      </p:sp>
      <p:sp>
        <p:nvSpPr>
          <p:cNvPr id="12" name="Oval 11"/>
          <p:cNvSpPr/>
          <p:nvPr/>
        </p:nvSpPr>
        <p:spPr>
          <a:xfrm>
            <a:off x="548640" y="25176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02408"/>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02408"/>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How do you describe a problem so that people understand it quickly?</a:t>
            </a:r>
          </a:p>
        </p:txBody>
      </p:sp>
      <p:sp>
        <p:nvSpPr>
          <p:cNvPr id="15" name="Oval 14"/>
          <p:cNvSpPr/>
          <p:nvPr/>
        </p:nvSpPr>
        <p:spPr>
          <a:xfrm>
            <a:off x="548640" y="31607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145536"/>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45536"/>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do you say if you don’t agree with someone, but you want to stay polite?</a:t>
            </a:r>
          </a:p>
        </p:txBody>
      </p:sp>
      <p:sp>
        <p:nvSpPr>
          <p:cNvPr id="18" name="Oval 17"/>
          <p:cNvSpPr/>
          <p:nvPr/>
        </p:nvSpPr>
        <p:spPr>
          <a:xfrm>
            <a:off x="548640" y="38039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788664"/>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788664"/>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Tell me about a problem you discussed in a meeting recently. How did it end?</a:t>
            </a:r>
          </a:p>
        </p:txBody>
      </p:sp>
      <p:sp>
        <p:nvSpPr>
          <p:cNvPr id="21" name="Oval 20"/>
          <p:cNvSpPr/>
          <p:nvPr/>
        </p:nvSpPr>
        <p:spPr>
          <a:xfrm>
            <a:off x="548640" y="44470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431792"/>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431792"/>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is the difference between a problem and its cause?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题讲过去的事,请用过去式(discussed, found, agreed)。第 2 题可以说 “I describe the problem with facts…”。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a problem to your team: a project is two weeks behind schedule.</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1. what the problem is</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2. how big it is (facts and numbers)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3. the cause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4. the effect</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5. what you need from the team</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We’ve run into a problem with…   💬 The main issue is…   💬 This is because…   💬 As a result…</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说明原因用 because / due to / as a result of;说明结果用 as a result / so。事实 + 数字比抽象词更有说服力:two weeks behind, 15% over budget。</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Raising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提出问题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We’ve run into a problem with…</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我们在……上遇到了问题</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“We’ve run into a problem with the supplier.”</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main issue is…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主要问题是……</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main issue is the delay in delivery.”</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There seems to be a problem with…</a:t>
            </a:r>
          </a:p>
          <a:p>
            <a:pPr algn="l">
              <a:lnSpc>
                <a:spcPct val="115000"/>
              </a:lnSpc>
              <a:spcAft>
                <a:spcPts val="800"/>
              </a:spcAft>
            </a:pPr>
            <a:r>
              <a:rPr sz="1300" b="0">
                <a:solidFill>
                  <a:srgbClr val="5F677A"/>
                </a:solidFill>
                <a:latin typeface="Arial"/>
                <a:ea typeface="Microsoft YaHei"/>
              </a:rPr>
              <a:t>phrase (softened)</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好像……有问题</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seems to be a problem with the data.”</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Raising a problem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提出问题</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We’re two weeks behind schedule / 10% over budget.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我们落后计划两周 / 超预算 10%</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two weeks behind schedule and 10% over budget.”</a:t>
            </a:r>
          </a:p>
        </p:txBody>
      </p:sp>
      <p:sp>
        <p:nvSpPr>
          <p:cNvPr id="14" name="Rounded Rectangle 13"/>
          <p:cNvSpPr/>
          <p:nvPr/>
        </p:nvSpPr>
        <p:spPr>
          <a:xfrm>
            <a:off x="548640" y="27305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We’ve hit a bottleneck.</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7762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我们遇到了瓶颈</a:t>
            </a:r>
          </a:p>
        </p:txBody>
      </p:sp>
      <p:sp>
        <p:nvSpPr>
          <p:cNvPr id="18" name="TextBox 17"/>
          <p:cNvSpPr txBox="1"/>
          <p:nvPr/>
        </p:nvSpPr>
        <p:spPr>
          <a:xfrm>
            <a:off x="6675120" y="27762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“We’ve hit a bottleneck in the testing stage.”</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2: Asking about causes and effects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追问原因与影响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What’s causing the delay?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是什么导致了延迟?</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causing the delay?”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explain what went wrong?</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您能解释哪里出了问题吗?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explain what went wrong?”</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What’s the root cause?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根本原因是什么?</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the root cause of the quality problem?”</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Chunk 2: Asking about causes and effects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追问原因与影响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 a result, … / This means that…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结果是…… / 这意味着……</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a result, we can’t deliver on time.”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How serious is it? / What’s the impact?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有多严重?/影响是什么?</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the impact on the launch date?”</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Reacting and discussing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回应与讨论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That’s a fair point.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这个观点有道理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fair point. I hadn’t thought of that.”</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see where you’re coming from, but…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我理解您的想法,但是……</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see where you’re coming from, but the data show something different.”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 far as I can tell, …</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据我所知,……</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far as I can tell, the problem started in March.”</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give us some figures?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能给我们一些数据吗?</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give us some figures to support that?”</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share my screen to show you the data.</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让我共享屏幕给您看数据</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share my screen to show you the data.”</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结果是…… / 这意味着……</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a result, … / This means that…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据我所知,……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far as I can tell, …</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让我共享屏幕给您看数据</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Let me share my screen to show you the data.</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能给我们一些数据吗?</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give us some figures?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主要问题是……</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main issue is…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我理解您的想法,但是……</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 see where you’re coming from, but…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根本原因是什么?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What’s the root cause?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我们在……上遇到了问题</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We’ve run into a problem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from</a:t>
            </a:r>
          </a:p>
        </p:txBody>
      </p:sp>
      <p:sp>
        <p:nvSpPr>
          <p:cNvPr id="10" name="Rounded Rectangle 9"/>
          <p:cNvSpPr/>
          <p:nvPr/>
        </p:nvSpPr>
        <p:spPr>
          <a:xfrm>
            <a:off x="2907792"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issue</a:t>
            </a:r>
          </a:p>
        </p:txBody>
      </p:sp>
      <p:sp>
        <p:nvSpPr>
          <p:cNvPr id="11" name="Rounded Rectangle 10"/>
          <p:cNvSpPr/>
          <p:nvPr/>
        </p:nvSpPr>
        <p:spPr>
          <a:xfrm>
            <a:off x="391363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schedule</a:t>
            </a:r>
          </a:p>
        </p:txBody>
      </p:sp>
      <p:sp>
        <p:nvSpPr>
          <p:cNvPr id="12" name="Rounded Rectangle 11"/>
          <p:cNvSpPr/>
          <p:nvPr/>
        </p:nvSpPr>
        <p:spPr>
          <a:xfrm>
            <a:off x="5248656"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causing</a:t>
            </a:r>
          </a:p>
        </p:txBody>
      </p:sp>
      <p:sp>
        <p:nvSpPr>
          <p:cNvPr id="13" name="Rounded Rectangle 12"/>
          <p:cNvSpPr/>
          <p:nvPr/>
        </p:nvSpPr>
        <p:spPr>
          <a:xfrm>
            <a:off x="6473952"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into</a:t>
            </a:r>
          </a:p>
        </p:txBody>
      </p:sp>
      <p:sp>
        <p:nvSpPr>
          <p:cNvPr id="14" name="Rounded Rectangle 13"/>
          <p:cNvSpPr/>
          <p:nvPr/>
        </p:nvSpPr>
        <p:spPr>
          <a:xfrm>
            <a:off x="7370064"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point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1.  We’ve run _______ a problem with the supplier.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into</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2.  The main _______ is the delay in delivery.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issue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3.  What’s _______ the delay?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causing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4.  We’re two weeks behind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schedule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5.  That’s a fair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point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6.  I see where you’re coming _______, but the data show something different.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from</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issue (also a topic), cause (verb and noun), behind schedule, over budget, bottleneck (one word). Say “run into a problem” (not “meet a problem”).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Presenting a problem to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向团队说明问题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project is two weeks behind schedule. You explain the problem in a video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project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 director</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Presenting a problem to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Sophie. Item two on the agenda is the project status. I’m afraid we’ve run into a problem. We’re two weeks behind schedule.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Two weeks? That’s quite serious. What’s causing the delay?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main issue is the supplier. They delivered the sensors three weeks late.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did that affect the project?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As a result, we couldn’t start testing on time. We’ve hit a bottleneck at the testing stage.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Is it only the supplier, or are there other reasons?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Presenting a problem to the team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As far as I can tell, there are two causes: the late delivery and our own planning. We didn’t leave enough time for testing. That was our mistake.</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487167"/>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appreciate your honesty. What’s the impact on the launch date?</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we don’t act, the launch moves from November to December. Let me share my screen to show you the timeline.</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I’d like to see the numbers.</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everyone see it? You can see the green line is the plan and the red line is where we are.</a:t>
            </a:r>
          </a:p>
        </p:txBody>
      </p:sp>
      <p:sp>
        <p:nvSpPr>
          <p:cNvPr id="23" name="Rounded Rectangle 22"/>
          <p:cNvSpPr/>
          <p:nvPr/>
        </p:nvSpPr>
        <p:spPr>
          <a:xfrm>
            <a:off x="10911535" y="539495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5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Clear. Thanks.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Presenting a problem to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project problem to your director in a video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manager.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Asks about cause and effect.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We’ve run into a problem with… · The main issue is… · What’s causing…? · As a result, … · Let me share my screen.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problem with 2 numbers, the cause, and the effect in 90 seconds.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Admit your own mistake without blaming others: “We underestimated the testing time.”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director disagrees. Say: “I see where you’re coming from, but the figures show something different.”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 question about the impact: “How serious is it for the customer?”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different views on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对问题原因看法不同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disagree about the cause of falling sales.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sales</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 marketing</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different views on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sales fell by 12% last quarter. In my view, the main problem is the price. Our competitors are cheaper.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but I’m not sure price is the root cause. As far as I can tell, customers don’t know about our new products.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where you’re coming from, but when I talk to customers, they mention price first.</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Could you give us some figures? How many customers left because of price?</a:t>
            </a:r>
          </a:p>
        </p:txBody>
      </p:sp>
      <p:sp>
        <p:nvSpPr>
          <p:cNvPr id="20" name="Rounded Rectangle 19"/>
          <p:cNvSpPr/>
          <p:nvPr/>
        </p:nvSpPr>
        <p:spPr>
          <a:xfrm>
            <a:off x="548640" y="481279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have the exact numbers, but I can check. Let me look at the customer survey.</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different views on a problem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helpful. Meanwhile, I can share the web traffic data.</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If both are true, then we have two problems, not one.</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And they might be connected. If people don’t know the benefits, they only look at the price.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an interesting idea. So awareness could be the bigger issue.</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Possibly. We need more data before we decide.</a:t>
            </a:r>
          </a:p>
        </p:txBody>
      </p:sp>
      <p:sp>
        <p:nvSpPr>
          <p:cNvPr id="23" name="Rounded Rectangle 22"/>
          <p:cNvSpPr/>
          <p:nvPr/>
        </p:nvSpPr>
        <p:spPr>
          <a:xfrm>
            <a:off x="548640" y="45262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5262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Let’s both bring our data to the next meeting.</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different views on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Two colleagues have different opinions about the cause of a problem.</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Sales. Your opinion and evidence: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Marketing. A different opinion.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 my view, … · That’s a fair point, but… · I see where you’re coming from, but… · Could you give us some figures? · As far as I can tell, …</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Disagree politely, ask for evidence, and agree on the next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 softer way to disagree: “I’m not sure I agree. Could we look at the numbers?”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Summarize the two views: “So you think it’s price, and I think it’s awareness.”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Find common ground: “We both agree the problem is real. We just disagree on the 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bring bad news in a meeting?</a:t>
            </a:r>
          </a:p>
          <a:p>
            <a:pPr algn="l">
              <a:lnSpc>
                <a:spcPct val="115000"/>
              </a:lnSpc>
              <a:spcAft>
                <a:spcPts val="800"/>
              </a:spcAft>
            </a:pPr>
            <a:r>
              <a:rPr sz="1400" b="0">
                <a:solidFill>
                  <a:srgbClr val="5F677A"/>
                </a:solidFill>
                <a:latin typeface="Arial"/>
                <a:ea typeface="Microsoft YaHei"/>
              </a:rPr>
              <a:t>💬 “I think the best way is…” / “I give the facts first, then…”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describe a problem without blaming people?</a:t>
            </a:r>
          </a:p>
          <a:p>
            <a:pPr algn="l">
              <a:lnSpc>
                <a:spcPct val="115000"/>
              </a:lnSpc>
              <a:spcAft>
                <a:spcPts val="800"/>
              </a:spcAft>
            </a:pPr>
            <a:r>
              <a:rPr sz="1400" b="0">
                <a:solidFill>
                  <a:srgbClr val="5F677A"/>
                </a:solidFill>
                <a:latin typeface="Arial"/>
                <a:ea typeface="Microsoft YaHei"/>
              </a:rPr>
              <a:t>💬 “I focus on the process, not the person.” / “I say ‘we’ instead of ‘you’.”</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two people disagree strongly in a video meeting?</a:t>
            </a:r>
          </a:p>
          <a:p>
            <a:pPr algn="l">
              <a:lnSpc>
                <a:spcPct val="115000"/>
              </a:lnSpc>
              <a:spcAft>
                <a:spcPts val="800"/>
              </a:spcAft>
            </a:pPr>
            <a:r>
              <a:rPr sz="1400" b="0">
                <a:solidFill>
                  <a:srgbClr val="5F677A"/>
                </a:solidFill>
                <a:latin typeface="Arial"/>
                <a:ea typeface="Microsoft YaHei"/>
              </a:rPr>
              <a:t>💬 “I would ask each person to…” / “I’d suggest taking a short break.”</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it important to find the root cause of a problem?</a:t>
            </a:r>
          </a:p>
          <a:p>
            <a:pPr algn="l">
              <a:lnSpc>
                <a:spcPct val="115000"/>
              </a:lnSpc>
              <a:spcAft>
                <a:spcPts val="800"/>
              </a:spcAft>
            </a:pPr>
            <a:r>
              <a:rPr sz="1400" b="0">
                <a:solidFill>
                  <a:srgbClr val="5F677A"/>
                </a:solidFill>
                <a:latin typeface="Arial"/>
                <a:ea typeface="Microsoft YaHei"/>
              </a:rPr>
              <a:t>💬 “If we don’t find the root cause, then…” / “The same problem will come back.”</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politely disagree in English?</a:t>
            </a:r>
          </a:p>
          <a:p>
            <a:pPr algn="l">
              <a:lnSpc>
                <a:spcPct val="115000"/>
              </a:lnSpc>
              <a:spcAft>
                <a:spcPts val="800"/>
              </a:spcAft>
            </a:pPr>
            <a:r>
              <a:rPr sz="1400" b="0">
                <a:solidFill>
                  <a:srgbClr val="5F677A"/>
                </a:solidFill>
                <a:latin typeface="Arial"/>
                <a:ea typeface="Microsoft YaHei"/>
              </a:rPr>
              <a:t>💬 “I say, ‘I see where you’re coming from, but…’” / “I ask a question, such as ‘Have we considered…?’”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usually start by showing that I understand the other person’s point, for example,”I see where you’re coming from, but…” or “That’s a fair point, but I’d like to look at it from another angle.” I avoid saying “No, you’re wrong”. If I need more information, I ask a question, such as “Have we considered the cost?” This keeps the discussion open and respectful.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“from another angle”(从另一个角度)。“keeps the discussion open”(保持讨论开放)。注意 “I avoid saying…”:avoid 后面接动名词(-ing)。</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Video-conference language: problems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讨论问题用语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Raise</a:t>
                      </a:r>
                    </a:p>
                  </a:txBody>
                  <a:tcPr anchor="ctr">
                    <a:solidFill>
                      <a:srgbClr val="FFFFFF"/>
                    </a:solidFill>
                  </a:tcPr>
                </a:tc>
                <a:tc>
                  <a:txBody>
                    <a:bodyPr wrap="square"/>
                    <a:lstStyle/>
                    <a:p>
                      <a:r>
                        <a:rPr sz="1600" b="0">
                          <a:solidFill>
                            <a:srgbClr val="1F2A44"/>
                          </a:solidFill>
                          <a:latin typeface="Arial"/>
                          <a:ea typeface="Microsoft YaHei"/>
                        </a:rPr>
                        <a:t>We’ve run into a problem with… / The main issue is…</a:t>
                      </a:r>
                    </a:p>
                  </a:txBody>
                  <a:tcPr anchor="ctr">
                    <a:solidFill>
                      <a:srgbClr val="FFFFFF"/>
                    </a:solidFill>
                  </a:tcPr>
                </a:tc>
              </a:tr>
              <a:tr h="652272">
                <a:tc>
                  <a:txBody>
                    <a:bodyPr wrap="square"/>
                    <a:lstStyle/>
                    <a:p>
                      <a:r>
                        <a:rPr sz="1600" b="1">
                          <a:solidFill>
                            <a:srgbClr val="1F2A44"/>
                          </a:solidFill>
                          <a:latin typeface="Arial"/>
                          <a:ea typeface="Microsoft YaHei"/>
                        </a:rPr>
                        <a:t>Soften ★</a:t>
                      </a:r>
                    </a:p>
                  </a:txBody>
                  <a:tcPr anchor="ctr">
                    <a:solidFill>
                      <a:srgbClr val="FFEFD9"/>
                    </a:solidFill>
                  </a:tcPr>
                </a:tc>
                <a:tc>
                  <a:txBody>
                    <a:bodyPr wrap="square"/>
                    <a:lstStyle/>
                    <a:p>
                      <a:r>
                        <a:rPr sz="1600" b="0">
                          <a:solidFill>
                            <a:srgbClr val="1F2A44"/>
                          </a:solidFill>
                          <a:latin typeface="Arial"/>
                          <a:ea typeface="Microsoft YaHei"/>
                        </a:rPr>
                        <a:t>There seems to be a problem with… / It looks like there might be an issue with…</a:t>
                      </a:r>
                    </a:p>
                  </a:txBody>
                  <a:tcPr anchor="ctr">
                    <a:solidFill>
                      <a:srgbClr val="FFEFD9"/>
                    </a:solidFill>
                  </a:tcPr>
                </a:tc>
              </a:tr>
              <a:tr h="652272">
                <a:tc>
                  <a:txBody>
                    <a:bodyPr wrap="square"/>
                    <a:lstStyle/>
                    <a:p>
                      <a:r>
                        <a:rPr sz="1600" b="1">
                          <a:solidFill>
                            <a:srgbClr val="1F2A44"/>
                          </a:solidFill>
                          <a:latin typeface="Arial"/>
                          <a:ea typeface="Microsoft YaHei"/>
                        </a:rPr>
                        <a:t>Size</a:t>
                      </a:r>
                    </a:p>
                  </a:txBody>
                  <a:tcPr anchor="ctr">
                    <a:solidFill>
                      <a:srgbClr val="FFFFFF"/>
                    </a:solidFill>
                  </a:tcPr>
                </a:tc>
                <a:tc>
                  <a:txBody>
                    <a:bodyPr wrap="square"/>
                    <a:lstStyle/>
                    <a:p>
                      <a:r>
                        <a:rPr sz="1600" b="0">
                          <a:solidFill>
                            <a:srgbClr val="1F2A44"/>
                          </a:solidFill>
                          <a:latin typeface="Arial"/>
                          <a:ea typeface="Microsoft YaHei"/>
                        </a:rPr>
                        <a:t>We’re two weeks behind schedule. / We’re 10% over budget.</a:t>
                      </a:r>
                    </a:p>
                  </a:txBody>
                  <a:tcPr anchor="ctr">
                    <a:solidFill>
                      <a:srgbClr val="FFFFFF"/>
                    </a:solidFill>
                  </a:tcPr>
                </a:tc>
              </a:tr>
              <a:tr h="408432">
                <a:tc>
                  <a:txBody>
                    <a:bodyPr wrap="square"/>
                    <a:lstStyle/>
                    <a:p>
                      <a:r>
                        <a:rPr sz="1600" b="1">
                          <a:solidFill>
                            <a:srgbClr val="1F2A44"/>
                          </a:solidFill>
                          <a:latin typeface="Arial"/>
                          <a:ea typeface="Microsoft YaHei"/>
                        </a:rPr>
                        <a:t>Ask cause</a:t>
                      </a:r>
                    </a:p>
                  </a:txBody>
                  <a:tcPr anchor="ctr">
                    <a:solidFill>
                      <a:srgbClr val="FFEFD9"/>
                    </a:solidFill>
                  </a:tcPr>
                </a:tc>
                <a:tc>
                  <a:txBody>
                    <a:bodyPr wrap="square"/>
                    <a:lstStyle/>
                    <a:p>
                      <a:r>
                        <a:rPr sz="1600" b="0">
                          <a:solidFill>
                            <a:srgbClr val="1F2A44"/>
                          </a:solidFill>
                          <a:latin typeface="Arial"/>
                          <a:ea typeface="Microsoft YaHei"/>
                        </a:rPr>
                        <a:t>What’s causing…? / What’s the root cause? ★</a:t>
                      </a:r>
                    </a:p>
                  </a:txBody>
                  <a:tcPr anchor="ctr">
                    <a:solidFill>
                      <a:srgbClr val="FFEFD9"/>
                    </a:solidFill>
                  </a:tcPr>
                </a:tc>
              </a:tr>
            </a:tbl>
          </a:graphicData>
        </a:graphic>
      </p:graphicFrame>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Video-conference language: problems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讨论问题用语</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Effect</a:t>
                      </a:r>
                    </a:p>
                  </a:txBody>
                  <a:tcPr anchor="ctr">
                    <a:solidFill>
                      <a:srgbClr val="FFFFFF"/>
                    </a:solidFill>
                  </a:tcPr>
                </a:tc>
                <a:tc>
                  <a:txBody>
                    <a:bodyPr wrap="square"/>
                    <a:lstStyle/>
                    <a:p>
                      <a:r>
                        <a:rPr sz="1600" b="0">
                          <a:solidFill>
                            <a:srgbClr val="1F2A44"/>
                          </a:solidFill>
                          <a:latin typeface="Arial"/>
                          <a:ea typeface="Microsoft YaHei"/>
                        </a:rPr>
                        <a:t>As a result, … / This means that… / The impact is… ★</a:t>
                      </a:r>
                    </a:p>
                  </a:txBody>
                  <a:tcPr anchor="ctr">
                    <a:solidFill>
                      <a:srgbClr val="FFFFFF"/>
                    </a:solidFill>
                  </a:tcPr>
                </a:tc>
              </a:tr>
              <a:tr h="652272">
                <a:tc>
                  <a:txBody>
                    <a:bodyPr wrap="square"/>
                    <a:lstStyle/>
                    <a:p>
                      <a:r>
                        <a:rPr sz="1600" b="1">
                          <a:solidFill>
                            <a:srgbClr val="1F2A44"/>
                          </a:solidFill>
                          <a:latin typeface="Arial"/>
                          <a:ea typeface="Microsoft YaHei"/>
                        </a:rPr>
                        <a:t>Evidence</a:t>
                      </a:r>
                    </a:p>
                  </a:txBody>
                  <a:tcPr anchor="ctr">
                    <a:solidFill>
                      <a:srgbClr val="FFEFD9"/>
                    </a:solidFill>
                  </a:tcPr>
                </a:tc>
                <a:tc>
                  <a:txBody>
                    <a:bodyPr wrap="square"/>
                    <a:lstStyle/>
                    <a:p>
                      <a:r>
                        <a:rPr sz="1600" b="0">
                          <a:solidFill>
                            <a:srgbClr val="1F2A44"/>
                          </a:solidFill>
                          <a:latin typeface="Arial"/>
                          <a:ea typeface="Microsoft YaHei"/>
                        </a:rPr>
                        <a:t>Let me share my screen to show you the data. / Could you give us some figures? ★</a:t>
                      </a:r>
                    </a:p>
                  </a:txBody>
                  <a:tcPr anchor="ctr">
                    <a:solidFill>
                      <a:srgbClr val="FFEFD9"/>
                    </a:solidFill>
                  </a:tcPr>
                </a:tc>
              </a:tr>
              <a:tr h="408432">
                <a:tc>
                  <a:txBody>
                    <a:bodyPr wrap="square"/>
                    <a:lstStyle/>
                    <a:p>
                      <a:r>
                        <a:rPr sz="1600" b="1">
                          <a:solidFill>
                            <a:srgbClr val="1F2A44"/>
                          </a:solidFill>
                          <a:latin typeface="Arial"/>
                          <a:ea typeface="Microsoft YaHei"/>
                        </a:rPr>
                        <a:t>Agree</a:t>
                      </a:r>
                    </a:p>
                  </a:txBody>
                  <a:tcPr anchor="ctr">
                    <a:solidFill>
                      <a:srgbClr val="FFFFFF"/>
                    </a:solidFill>
                  </a:tcPr>
                </a:tc>
                <a:tc>
                  <a:txBody>
                    <a:bodyPr wrap="square"/>
                    <a:lstStyle/>
                    <a:p>
                      <a:r>
                        <a:rPr sz="1600" b="0">
                          <a:solidFill>
                            <a:srgbClr val="1F2A44"/>
                          </a:solidFill>
                          <a:latin typeface="Arial"/>
                          <a:ea typeface="Microsoft YaHei"/>
                        </a:rPr>
                        <a:t>That’s a fair point. / I take your point. ★</a:t>
                      </a:r>
                    </a:p>
                  </a:txBody>
                  <a:tcPr anchor="ctr">
                    <a:solidFill>
                      <a:srgbClr val="FFFFFF"/>
                    </a:solidFill>
                  </a:tcPr>
                </a:tc>
              </a:tr>
              <a:tr h="652272">
                <a:tc>
                  <a:txBody>
                    <a:bodyPr wrap="square"/>
                    <a:lstStyle/>
                    <a:p>
                      <a:r>
                        <a:rPr sz="1600" b="1">
                          <a:solidFill>
                            <a:srgbClr val="1F2A44"/>
                          </a:solidFill>
                          <a:latin typeface="Arial"/>
                          <a:ea typeface="Microsoft YaHei"/>
                        </a:rPr>
                        <a:t>Disagree</a:t>
                      </a:r>
                    </a:p>
                  </a:txBody>
                  <a:tcPr anchor="ctr">
                    <a:solidFill>
                      <a:srgbClr val="FFEFD9"/>
                    </a:solidFill>
                  </a:tcPr>
                </a:tc>
                <a:tc>
                  <a:txBody>
                    <a:bodyPr wrap="square"/>
                    <a:lstStyle/>
                    <a:p>
                      <a:r>
                        <a:rPr sz="1600" b="0">
                          <a:solidFill>
                            <a:srgbClr val="1F2A44"/>
                          </a:solidFill>
                          <a:latin typeface="Arial"/>
                          <a:ea typeface="Microsoft YaHei"/>
                        </a:rPr>
                        <a:t>I see where you’re coming from, but… ★ / I’m not sure I agree.</a:t>
                      </a:r>
                    </a:p>
                  </a:txBody>
                  <a:tcPr anchor="ctr">
                    <a:solidFill>
                      <a:srgbClr val="FFEFD9"/>
                    </a:solidFill>
                  </a:tcPr>
                </a:tc>
              </a:tr>
            </a:tbl>
          </a:graphicData>
        </a:graphic>
      </p:graphicFrame>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and effect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因果表达</a:t>
            </a:r>
          </a:p>
        </p:txBody>
      </p:sp>
      <p:graphicFrame>
        <p:nvGraphicFramePr>
          <p:cNvPr id="9" name="Table 8"/>
          <p:cNvGraphicFramePr>
            <a:graphicFrameLocks noGrp="1"/>
          </p:cNvGraphicFramePr>
          <p:nvPr/>
        </p:nvGraphicFramePr>
        <p:xfrm>
          <a:off x="548640" y="1417320"/>
          <a:ext cx="11094415" cy="310286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Cause</a:t>
                      </a:r>
                    </a:p>
                  </a:txBody>
                  <a:tcPr anchor="ctr">
                    <a:solidFill>
                      <a:srgbClr val="3CC49A"/>
                    </a:solidFill>
                  </a:tcPr>
                </a:tc>
                <a:tc>
                  <a:txBody>
                    <a:bodyPr wrap="square"/>
                    <a:lstStyle/>
                    <a:p>
                      <a:r>
                        <a:rPr sz="1600" b="1">
                          <a:solidFill>
                            <a:srgbClr val="FFFFFF"/>
                          </a:solidFill>
                          <a:latin typeface="Arial"/>
                          <a:ea typeface="Microsoft YaHei"/>
                        </a:rPr>
                        <a:t>Effect</a:t>
                      </a:r>
                    </a:p>
                  </a:txBody>
                  <a:tcPr anchor="ctr">
                    <a:solidFill>
                      <a:srgbClr val="3CC49A"/>
                    </a:solidFill>
                  </a:tcPr>
                </a:tc>
              </a:tr>
              <a:tr h="408432">
                <a:tc>
                  <a:txBody>
                    <a:bodyPr wrap="square"/>
                    <a:lstStyle/>
                    <a:p>
                      <a:r>
                        <a:rPr sz="1600" b="1">
                          <a:solidFill>
                            <a:srgbClr val="1F2A44"/>
                          </a:solidFill>
                          <a:latin typeface="Arial"/>
                          <a:ea typeface="Microsoft YaHei"/>
                        </a:rPr>
                        <a:t>because + clause</a:t>
                      </a:r>
                    </a:p>
                  </a:txBody>
                  <a:tcPr anchor="ctr">
                    <a:solidFill>
                      <a:srgbClr val="FFFFFF"/>
                    </a:solidFill>
                  </a:tcPr>
                </a:tc>
                <a:tc>
                  <a:txBody>
                    <a:bodyPr wrap="square"/>
                    <a:lstStyle/>
                    <a:p>
                      <a:r>
                        <a:rPr sz="1600" b="0">
                          <a:solidFill>
                            <a:srgbClr val="1F2A44"/>
                          </a:solidFill>
                          <a:latin typeface="Arial"/>
                          <a:ea typeface="Microsoft YaHei"/>
                        </a:rPr>
                        <a:t>We’re late because the supplier delivered late.</a:t>
                      </a:r>
                    </a:p>
                  </a:txBody>
                  <a:tcPr anchor="ctr">
                    <a:solidFill>
                      <a:srgbClr val="FFFFFF"/>
                    </a:solidFill>
                  </a:tcPr>
                </a:tc>
              </a:tr>
              <a:tr h="408432">
                <a:tc>
                  <a:txBody>
                    <a:bodyPr wrap="square"/>
                    <a:lstStyle/>
                    <a:p>
                      <a:r>
                        <a:rPr sz="1600" b="1">
                          <a:solidFill>
                            <a:srgbClr val="1F2A44"/>
                          </a:solidFill>
                          <a:latin typeface="Arial"/>
                          <a:ea typeface="Microsoft YaHei"/>
                        </a:rPr>
                        <a:t>because of / due to + noun</a:t>
                      </a:r>
                    </a:p>
                  </a:txBody>
                  <a:tcPr anchor="ctr">
                    <a:solidFill>
                      <a:srgbClr val="FFEFD9"/>
                    </a:solidFill>
                  </a:tcPr>
                </a:tc>
                <a:tc>
                  <a:txBody>
                    <a:bodyPr wrap="square"/>
                    <a:lstStyle/>
                    <a:p>
                      <a:r>
                        <a:rPr sz="1600" b="0">
                          <a:solidFill>
                            <a:srgbClr val="1F2A44"/>
                          </a:solidFill>
                          <a:latin typeface="Arial"/>
                          <a:ea typeface="Microsoft YaHei"/>
                        </a:rPr>
                        <a:t>We’re late because of / due to the supplier.</a:t>
                      </a:r>
                    </a:p>
                  </a:txBody>
                  <a:tcPr anchor="ctr">
                    <a:solidFill>
                      <a:srgbClr val="FFEFD9"/>
                    </a:solidFill>
                  </a:tcPr>
                </a:tc>
              </a:tr>
              <a:tr h="408432">
                <a:tc>
                  <a:txBody>
                    <a:bodyPr wrap="square"/>
                    <a:lstStyle/>
                    <a:p>
                      <a:r>
                        <a:rPr sz="1600" b="1">
                          <a:solidFill>
                            <a:srgbClr val="1F2A44"/>
                          </a:solidFill>
                          <a:latin typeface="Arial"/>
                          <a:ea typeface="Microsoft YaHei"/>
                        </a:rPr>
                        <a:t>so + result</a:t>
                      </a:r>
                    </a:p>
                  </a:txBody>
                  <a:tcPr anchor="ctr">
                    <a:solidFill>
                      <a:srgbClr val="FFFFFF"/>
                    </a:solidFill>
                  </a:tcPr>
                </a:tc>
                <a:tc>
                  <a:txBody>
                    <a:bodyPr wrap="square"/>
                    <a:lstStyle/>
                    <a:p>
                      <a:r>
                        <a:rPr sz="1600" b="0">
                          <a:solidFill>
                            <a:srgbClr val="1F2A44"/>
                          </a:solidFill>
                          <a:latin typeface="Arial"/>
                          <a:ea typeface="Microsoft YaHei"/>
                        </a:rPr>
                        <a:t>The supplier was late, so we’re late.</a:t>
                      </a:r>
                    </a:p>
                  </a:txBody>
                  <a:tcPr anchor="ctr">
                    <a:solidFill>
                      <a:srgbClr val="FFFFFF"/>
                    </a:solidFill>
                  </a:tcPr>
                </a:tc>
              </a:tr>
              <a:tr h="652272">
                <a:tc>
                  <a:txBody>
                    <a:bodyPr wrap="square"/>
                    <a:lstStyle/>
                    <a:p>
                      <a:r>
                        <a:rPr sz="1600" b="1">
                          <a:solidFill>
                            <a:srgbClr val="1F2A44"/>
                          </a:solidFill>
                          <a:latin typeface="Arial"/>
                          <a:ea typeface="Microsoft YaHei"/>
                        </a:rPr>
                        <a:t>As a result, …</a:t>
                      </a:r>
                    </a:p>
                  </a:txBody>
                  <a:tcPr anchor="ctr">
                    <a:solidFill>
                      <a:srgbClr val="FFEFD9"/>
                    </a:solidFill>
                  </a:tcPr>
                </a:tc>
                <a:tc>
                  <a:txBody>
                    <a:bodyPr wrap="square"/>
                    <a:lstStyle/>
                    <a:p>
                      <a:r>
                        <a:rPr sz="1600" b="0">
                          <a:solidFill>
                            <a:srgbClr val="1F2A44"/>
                          </a:solidFill>
                          <a:latin typeface="Arial"/>
                          <a:ea typeface="Microsoft YaHei"/>
                        </a:rPr>
                        <a:t>The supplier was late. As a result, we’re two weeks behind.</a:t>
                      </a:r>
                    </a:p>
                  </a:txBody>
                  <a:tcPr anchor="ctr">
                    <a:solidFill>
                      <a:srgbClr val="FFEFD9"/>
                    </a:solidFill>
                  </a:tcPr>
                </a:tc>
              </a:tr>
              <a:tr h="408432">
                <a:tc>
                  <a:txBody>
                    <a:bodyPr wrap="square"/>
                    <a:lstStyle/>
                    <a:p>
                      <a:r>
                        <a:rPr sz="1600" b="1">
                          <a:solidFill>
                            <a:srgbClr val="1F2A44"/>
                          </a:solidFill>
                          <a:latin typeface="Arial"/>
                          <a:ea typeface="Microsoft YaHei"/>
                        </a:rPr>
                        <a:t>This means that …</a:t>
                      </a:r>
                    </a:p>
                  </a:txBody>
                  <a:tcPr anchor="ctr">
                    <a:solidFill>
                      <a:srgbClr val="FFFFFF"/>
                    </a:solidFill>
                  </a:tcPr>
                </a:tc>
                <a:tc>
                  <a:txBody>
                    <a:bodyPr wrap="square"/>
                    <a:lstStyle/>
                    <a:p>
                      <a:r>
                        <a:rPr sz="1600" b="0">
                          <a:solidFill>
                            <a:srgbClr val="1F2A44"/>
                          </a:solidFill>
                          <a:latin typeface="Arial"/>
                          <a:ea typeface="Microsoft YaHei"/>
                        </a:rPr>
                        <a:t>This means that we can’t launch in November.</a:t>
                      </a:r>
                    </a:p>
                  </a:txBody>
                  <a:tcPr anchor="ctr">
                    <a:solidFill>
                      <a:srgbClr val="FFFFFF"/>
                    </a:solidFill>
                  </a:tcPr>
                </a:tc>
              </a:tr>
              <a:tr h="408432">
                <a:tc>
                  <a:txBody>
                    <a:bodyPr wrap="square"/>
                    <a:lstStyle/>
                    <a:p>
                      <a:r>
                        <a:rPr sz="1600" b="1">
                          <a:solidFill>
                            <a:srgbClr val="1F2A44"/>
                          </a:solidFill>
                          <a:latin typeface="Arial"/>
                          <a:ea typeface="Microsoft YaHei"/>
                        </a:rPr>
                        <a:t>lead to / result in ★</a:t>
                      </a:r>
                    </a:p>
                  </a:txBody>
                  <a:tcPr anchor="ctr">
                    <a:solidFill>
                      <a:srgbClr val="FFEFD9"/>
                    </a:solidFill>
                  </a:tcPr>
                </a:tc>
                <a:tc>
                  <a:txBody>
                    <a:bodyPr wrap="square"/>
                    <a:lstStyle/>
                    <a:p>
                      <a:r>
                        <a:rPr sz="1600" b="0">
                          <a:solidFill>
                            <a:srgbClr val="1F2A44"/>
                          </a:solidFill>
                          <a:latin typeface="Arial"/>
                          <a:ea typeface="Microsoft YaHei"/>
                        </a:rPr>
                        <a:t>The delay led to higher costs.</a:t>
                      </a:r>
                    </a:p>
                  </a:txBody>
                  <a:tcPr anchor="ctr">
                    <a:solidFill>
                      <a:srgbClr val="FFEFD9"/>
                    </a:solidFill>
                  </a:tcPr>
                </a:tc>
              </a:tr>
            </a:tbl>
          </a:graphicData>
        </a:graphic>
      </p:graphicFrame>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and effect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因果表达</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Fact + feeling: </a:t>
            </a:r>
            <a:r>
              <a:rPr sz="1700" b="0">
                <a:solidFill>
                  <a:srgbClr val="1F2A44"/>
                </a:solidFill>
                <a:latin typeface="Arial"/>
                <a:ea typeface="Microsoft YaHei"/>
              </a:rPr>
              <a:t>“We’re two weeks behind. I’m worried about the launch.” Separate facts from opinions.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Past, present perfect, present: </a:t>
            </a:r>
            <a:r>
              <a:rPr sz="1700" b="0">
                <a:solidFill>
                  <a:srgbClr val="1F2A44"/>
                </a:solidFill>
                <a:latin typeface="Arial"/>
                <a:ea typeface="Microsoft YaHei"/>
              </a:rPr>
              <a:t>“The supplier was late. We have lost two weeks. We are behind.”</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meet a problem.</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We’ve run into a problem. / We’ve come across a problem.</a:t>
            </a:r>
          </a:p>
          <a:p>
            <a:pPr algn="l">
              <a:spcAft>
                <a:spcPts val="200"/>
              </a:spcAft>
            </a:pPr>
            <a:r>
              <a:rPr sz="1200" b="0">
                <a:solidFill>
                  <a:srgbClr val="FFFFFF"/>
                </a:solidFill>
                <a:latin typeface="Arial"/>
                <a:ea typeface="Microsoft YaHei"/>
              </a:rPr>
              <a:t>遇到问题 → run into</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problem is very very big.</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is a serious problem. We’re two weeks behind.</a:t>
            </a:r>
          </a:p>
          <a:p>
            <a:pPr algn="l">
              <a:spcAft>
                <a:spcPts val="200"/>
              </a:spcAft>
            </a:pPr>
            <a:r>
              <a:rPr sz="1200" b="0">
                <a:solidFill>
                  <a:srgbClr val="FFFFFF"/>
                </a:solidFill>
                <a:latin typeface="Arial"/>
                <a:ea typeface="Microsoft YaHei"/>
              </a:rPr>
              <a:t>用具体事实说明,不要重复 very</a:t>
            </a:r>
          </a:p>
        </p:txBody>
      </p:sp>
      <p:sp>
        <p:nvSpPr>
          <p:cNvPr id="13" name="Rounded Rectangle 12"/>
          <p:cNvSpPr/>
          <p:nvPr/>
        </p:nvSpPr>
        <p:spPr>
          <a:xfrm>
            <a:off x="548640" y="335279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Because the supplier was late, so we are behind.</a:t>
            </a:r>
          </a:p>
        </p:txBody>
      </p:sp>
      <p:sp>
        <p:nvSpPr>
          <p:cNvPr id="14" name="Rounded Rectangle 13"/>
          <p:cNvSpPr/>
          <p:nvPr/>
        </p:nvSpPr>
        <p:spPr>
          <a:xfrm>
            <a:off x="6187287" y="335279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Because the supplier was late, we are behind. / The supplier was late, so we’re behind.</a:t>
            </a:r>
          </a:p>
          <a:p>
            <a:pPr algn="l">
              <a:spcAft>
                <a:spcPts val="200"/>
              </a:spcAft>
            </a:pPr>
            <a:r>
              <a:rPr sz="1200" b="0">
                <a:solidFill>
                  <a:srgbClr val="FFFFFF"/>
                </a:solidFill>
                <a:latin typeface="Arial"/>
                <a:ea typeface="Microsoft YaHei"/>
              </a:rPr>
              <a:t>because 和 so 不同时用</a:t>
            </a:r>
          </a:p>
        </p:txBody>
      </p:sp>
      <p:sp>
        <p:nvSpPr>
          <p:cNvPr id="15" name="Rounded Rectangle 14"/>
          <p:cNvSpPr/>
          <p:nvPr/>
        </p:nvSpPr>
        <p:spPr>
          <a:xfrm>
            <a:off x="548640" y="429767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We’re late because of the supplier was late.</a:t>
            </a:r>
          </a:p>
        </p:txBody>
      </p:sp>
      <p:sp>
        <p:nvSpPr>
          <p:cNvPr id="16" name="Rounded Rectangle 15"/>
          <p:cNvSpPr/>
          <p:nvPr/>
        </p:nvSpPr>
        <p:spPr>
          <a:xfrm>
            <a:off x="6187287" y="429767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late because the supplier was late. / We’re late because of the supplier.</a:t>
            </a:r>
          </a:p>
          <a:p>
            <a:pPr algn="l">
              <a:spcAft>
                <a:spcPts val="200"/>
              </a:spcAft>
            </a:pPr>
            <a:r>
              <a:rPr sz="1200" b="0">
                <a:solidFill>
                  <a:srgbClr val="FFFFFF"/>
                </a:solidFill>
                <a:latin typeface="Arial"/>
                <a:ea typeface="Microsoft YaHei"/>
              </a:rPr>
              <a:t>because + 句子;because of + 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delay of two weeks.</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two weeks behind schedule. / We have a two-week delay.</a:t>
            </a:r>
          </a:p>
          <a:p>
            <a:pPr algn="l">
              <a:spcAft>
                <a:spcPts val="200"/>
              </a:spcAft>
            </a:pPr>
            <a:r>
              <a:rPr sz="1200" b="0">
                <a:solidFill>
                  <a:srgbClr val="FFFFFF"/>
                </a:solidFill>
                <a:latin typeface="Arial"/>
                <a:ea typeface="Microsoft YaHei"/>
              </a:rPr>
              <a:t>更自然的说法</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idea is wrong.</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see where you’re coming from, but…</a:t>
            </a:r>
          </a:p>
          <a:p>
            <a:pPr algn="l">
              <a:spcAft>
                <a:spcPts val="200"/>
              </a:spcAft>
            </a:pPr>
            <a:r>
              <a:rPr sz="1200" b="0">
                <a:solidFill>
                  <a:srgbClr val="FFFFFF"/>
                </a:solidFill>
                <a:latin typeface="Arial"/>
                <a:ea typeface="Microsoft YaHei"/>
              </a:rPr>
              <a:t>避免直接否定</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disagree.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disagree. / I’m not sure I agree.</a:t>
            </a:r>
          </a:p>
          <a:p>
            <a:pPr algn="l">
              <a:spcAft>
                <a:spcPts val="200"/>
              </a:spcAft>
            </a:pPr>
            <a:r>
              <a:rPr sz="1200" b="0">
                <a:solidFill>
                  <a:srgbClr val="FFFFFF"/>
                </a:solidFill>
                <a:latin typeface="Arial"/>
                <a:ea typeface="Microsoft YaHei"/>
              </a:rPr>
              <a:t>disagree 是动词</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discuss about the problem.</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discuss the problem.</a:t>
            </a:r>
          </a:p>
          <a:p>
            <a:pPr algn="l">
              <a:spcAft>
                <a:spcPts val="200"/>
              </a:spcAft>
            </a:pPr>
            <a:r>
              <a:rPr sz="1200" b="0">
                <a:solidFill>
                  <a:srgbClr val="FFFFFF"/>
                </a:solidFill>
                <a:latin typeface="Arial"/>
                <a:ea typeface="Microsoft YaHei"/>
              </a:rPr>
              <a:t>discuss 后不加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your fault.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seems to be a problem with the process.</a:t>
            </a:r>
          </a:p>
          <a:p>
            <a:pPr algn="l">
              <a:spcAft>
                <a:spcPts val="200"/>
              </a:spcAft>
            </a:pPr>
            <a:r>
              <a:rPr sz="1200" b="0">
                <a:solidFill>
                  <a:srgbClr val="FFFFFF"/>
                </a:solidFill>
                <a:latin typeface="Arial"/>
                <a:ea typeface="Microsoft YaHei"/>
              </a:rPr>
              <a:t>对事不对人</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seriuos / bottle neck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serious / bottleneck</a:t>
            </a:r>
          </a:p>
          <a:p>
            <a:pPr algn="l">
              <a:spcAft>
                <a:spcPts val="200"/>
              </a:spcAft>
            </a:pPr>
            <a:r>
              <a:rPr sz="1200" b="0">
                <a:solidFill>
                  <a:srgbClr val="FFFFFF"/>
                </a:solidFill>
                <a:latin typeface="Arial"/>
                <a:ea typeface="Microsoft YaHei"/>
              </a:rPr>
              <a:t>拼写</a:t>
            </a:r>
          </a:p>
        </p:txBody>
      </p:sp>
      <p:sp>
        <p:nvSpPr>
          <p:cNvPr id="13" name="Rounded Rectangle 1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because + clause vs because of + noun; never because… so… together. discuss + noun; I disagree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Separate the person from the problem. English business culture says “The process isn’t working” rather than “You made a mistake”.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Bad news early. Western managers prefer to hear about problems early, with a plan. “We’ve run into a problem, and here is what we propose” is respected.</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Disagreement is normal. Polite disagreement (“I see your point, but…”) shows engagement. Silence may be read as agreement, not politeness.</a:t>
            </a:r>
          </a:p>
        </p:txBody>
      </p:sp>
      <p:sp>
        <p:nvSpPr>
          <p:cNvPr id="18" name="Rounded Rectangle 17"/>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441959"/>
          </a:xfrm>
          <a:prstGeom prst="rect">
            <a:avLst/>
          </a:prstGeom>
          <a:noFill/>
        </p:spPr>
        <p:txBody>
          <a:bodyPr wrap="square" anchor="ctr">
            <a:spAutoFit/>
          </a:bodyPr>
          <a:lstStyle/>
          <a:p>
            <a:r>
              <a:rPr sz="1700" b="0">
                <a:solidFill>
                  <a:srgbClr val="1F2A44"/>
                </a:solidFill>
                <a:latin typeface="Arial"/>
                <a:ea typeface="Microsoft YaHei"/>
              </a:rPr>
              <a:t>Use facts. “15% over budget” is better than “a lot of money”. Numbers make people trust you.</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Avoid sarcasm on video. Without body language, jokes about someone’s mistake can be misunderstood.</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raise a problem and describe its size with facts (We’re two weeks behind schedule).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about the cause and the effect (What’s causing…? What’s the impact?).</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agree and disagree politely (That’s a fair point. I see where you’re coming from, but…).</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because / because of / so / as a result correctly.</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share a screen and present data in a video meeting.</a:t>
            </a:r>
          </a:p>
        </p:txBody>
      </p:sp>
      <p:sp>
        <p:nvSpPr>
          <p:cNvPr id="28" name="TextBox 27"/>
          <p:cNvSpPr txBox="1"/>
          <p:nvPr/>
        </p:nvSpPr>
        <p:spPr>
          <a:xfrm>
            <a:off x="9539935" y="4812792"/>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29 Discussing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because + clause / because of + noun, discuss + noun, polite disagreement, and facts with numbers.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 · Lesson 30 Finding solutions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Finding solutions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寻找解决方案</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900" b="0">
                <a:solidFill>
                  <a:srgbClr val="FFC857"/>
                </a:solidFill>
                <a:latin typeface="Arial"/>
                <a:ea typeface="Microsoft YaHei"/>
              </a:rPr>
              <a:t>🎯 find solutions in a video conference: brainstorm options, suggest and compare ideas, give reasons, reach agreement, and decide on actions with names and deadlines.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first when your team has a problem: look for causes or look for solutions?</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make suggestions politely in a meeting?</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when the team cannot agree on a solution?</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solution that your team found together. Who suggested it?</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Why is it useful to give two or three options before deciding?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题讲过去的事,请用过去式(found, suggested, decided)。第 2 题可以说 “I say, ‘How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Propose a solution to a project delay and explain why it is the best option.</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 the problem</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2. option 1</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option 2</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which one you recommend and why</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what needs to happen next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option is to…   💬 Another possibility is…   💬 I’d recommend…, because…   💬 The next step is…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提建议常用 could / should / Why don’t we…? / How about + -ing。比较方案:On the one hand… On the other hand…。</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Making suggestions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提出建议</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can we do about this?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我们对此能做什么?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can we do about this delay?”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One option is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一个选择是……</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“One option is to hire extra staff.”</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could… / Why don’t we…?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我们可以……/ 我们为什么不……?</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“Why don’t we ask the supplier for a faster delivery?”</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about + -ing?</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……怎么样?</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about moving the launch to December?”</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suggest (that) we + base verb</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我建议我们……</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suggest we split the work between two teams.”</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Comparing and evaluating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比较与评估</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are the pros and cons?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利弊是什么?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are the pros and cons of each option?”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the one hand… On the other hand…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一方面……,另一方面……</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the one hand it’s faster; on the other hand it’s more expensive.”</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 might work. / That could work.</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这也许可行</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might work, but we’d need to check the cost.”</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2: Comparing and evaluating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比较与评估</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best way forward is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最好的办法是……</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my view, the best way forward is to start with a pilot.”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would be worth trying…</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值得试一试……</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would be worth trying a smaller test first.”</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Agreeing and deciding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达成一致与决定</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Are we all agreed? / Are we all OK with that?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大家都同意吗?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“Are we all agreed on option B?”</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in favour of…</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我赞成……</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in favour of option B.”</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meet halfway.</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我们各退一步吧</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meet halfway: a 5% discount and a longer contract.”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go with option B.</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我们就选方案B吧</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“OK, let’s go with option B.”</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Who’s taking the lead on this?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谁来牵头?</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“Who’s taking the lead on this?”</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利弊是什么?</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 are the pros and cons?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一方面……,另一方面……</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On the one hand… On the other hand…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我们就选方案B吧</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go with option B.</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最好的办法是……</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best way forward is to…</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大家都同意吗?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Are we all agreed? / Are we all OK with that?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这也许可行</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That might work. / That could work.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我们可以……/ 我们为什么不……?</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could… / Why don’t we…?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我建议我们……</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suggest (that) we + base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option</a:t>
            </a:r>
          </a:p>
        </p:txBody>
      </p:sp>
      <p:sp>
        <p:nvSpPr>
          <p:cNvPr id="10" name="Rounded Rectangle 9"/>
          <p:cNvSpPr/>
          <p:nvPr/>
        </p:nvSpPr>
        <p:spPr>
          <a:xfrm>
            <a:off x="3127248"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a:t>
            </a:r>
          </a:p>
        </p:txBody>
      </p:sp>
      <p:sp>
        <p:nvSpPr>
          <p:cNvPr id="11" name="Rounded Rectangle 10"/>
          <p:cNvSpPr/>
          <p:nvPr/>
        </p:nvSpPr>
        <p:spPr>
          <a:xfrm>
            <a:off x="402336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with</a:t>
            </a:r>
          </a:p>
        </p:txBody>
      </p:sp>
      <p:sp>
        <p:nvSpPr>
          <p:cNvPr id="12" name="Rounded Rectangle 11"/>
          <p:cNvSpPr/>
          <p:nvPr/>
        </p:nvSpPr>
        <p:spPr>
          <a:xfrm>
            <a:off x="4919472"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about</a:t>
            </a:r>
          </a:p>
        </p:txBody>
      </p:sp>
      <p:sp>
        <p:nvSpPr>
          <p:cNvPr id="13" name="Rounded Rectangle 12"/>
          <p:cNvSpPr/>
          <p:nvPr/>
        </p:nvSpPr>
        <p:spPr>
          <a:xfrm>
            <a:off x="592531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delivery</a:t>
            </a:r>
          </a:p>
        </p:txBody>
      </p:sp>
      <p:sp>
        <p:nvSpPr>
          <p:cNvPr id="14" name="Rounded Rectangle 13"/>
          <p:cNvSpPr/>
          <p:nvPr/>
        </p:nvSpPr>
        <p:spPr>
          <a:xfrm>
            <a:off x="7260336"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halfway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What can we do _______ this delay?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about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One _______ is to hire extra staff.</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option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Why don’t we ask the supplier for a faster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delivery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What are the pros and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Let’s meet _______: a 5% discount and a longer contract.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halfway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go _______ option B.</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with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动词形式与搭配): suggest (not “suggest to do”): “I suggest that we start” / “I suggest starting”. pros and cons (not “pros or cons”). halfway (one word).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Brainstorming solutions to a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头脑风暴解决延迟</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team must solve a two-week delay. You chair the discussion.</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Sophie Zhou</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Brainstorming solutions to a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we know the problem: we’re two weeks behind. What can we do about it? Any ideas?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option is to hire temporary staff for the testing stage.</a:t>
            </a:r>
          </a:p>
        </p:txBody>
      </p:sp>
      <p:sp>
        <p:nvSpPr>
          <p:cNvPr id="14" name="Rounded Rectangle 13"/>
          <p:cNvSpPr/>
          <p:nvPr/>
        </p:nvSpPr>
        <p:spPr>
          <a:xfrm>
            <a:off x="548640" y="2779776"/>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don’t we ask the supplier for a faster delivery of the remaining parts?</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Two options. What are the pros and cons?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Temporary staff would speed up the testing, but we’d need time to train them.</a:t>
            </a:r>
          </a:p>
        </p:txBody>
      </p:sp>
      <p:sp>
        <p:nvSpPr>
          <p:cNvPr id="23" name="Rounded Rectangle 22"/>
          <p:cNvSpPr/>
          <p:nvPr/>
        </p:nvSpPr>
        <p:spPr>
          <a:xfrm>
            <a:off x="548640" y="5105400"/>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24" name="TextBox 23"/>
          <p:cNvSpPr txBox="1"/>
          <p:nvPr/>
        </p:nvSpPr>
        <p:spPr>
          <a:xfrm>
            <a:off x="274320"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5105400"/>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faster delivery is cheaper, but the supplier has already been late once.</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Brainstorming solutions to a delay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the one hand, we need speed. On the other hand, we can’t take big risks.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about doing both? We hire two temporary testers and ask the supplier for a partial delivery by Friday.</a:t>
            </a:r>
          </a:p>
        </p:txBody>
      </p:sp>
      <p:sp>
        <p:nvSpPr>
          <p:cNvPr id="14" name="Rounded Rectangle 13"/>
          <p:cNvSpPr/>
          <p:nvPr/>
        </p:nvSpPr>
        <p:spPr>
          <a:xfrm>
            <a:off x="548640" y="3069336"/>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could work. I’d be in favour of that.</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Are we all agreed?</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a:t>
            </a:r>
          </a:p>
        </p:txBody>
      </p:sp>
      <p:sp>
        <p:nvSpPr>
          <p:cNvPr id="23" name="Rounded Rectangle 22"/>
          <p:cNvSpPr/>
          <p:nvPr/>
        </p:nvSpPr>
        <p:spPr>
          <a:xfrm>
            <a:off x="548640" y="481584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81584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go with that. Dan, can you take the lead on the temporary staff? Sophie, could you speak to the supplier by Wednesday?</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Brainstorming solutions to a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team looks for solutions to a problem.</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Ask for ideas, compare, decide.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members. Suggest and react.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can we do about…? · One option is to… · Why don’t we…? · What are the pros and cons? · Let’s go with…</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Generate 3 options, compare them, decide, and assign tasks.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There’s no budget. Say: “We can’t spend more than 5,000. What can we do within that?”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Two people disagree. Say: “Let’s meet halfway. How about …?”</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Time is short. Say: “We have five minutes. Let’s decide now.”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Choosing between two options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比较两个方案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must choose between two suppliers. Colleagues give opinions.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Choosing between two options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Sophie, we have two suppliers: BlueSea and Nordic Steel. What do you think?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the one hand, BlueSea is 8% cheaper. On the other hand, Nordic Steel has better delivery times.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 BlueSea has also had some quality complaints.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say we should avoid the risk. The best way forward might be to choose Nordic Steel and negotiate the price.</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They could give us a 5% discount for a larger order.</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Choosing between two options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would be worth trying. Why don’t we ask them for a revised quotation?</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And if they say no, we can go back to BlueSea.</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 suggest we decide by Friday.</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I’ll email Nordic Steel today. Could you check BlueSea’s complaints?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I’ll send you a summary tomorrow.</a:t>
            </a:r>
          </a:p>
        </p:txBody>
      </p:sp>
      <p:sp>
        <p:nvSpPr>
          <p:cNvPr id="23" name="Rounded Rectangle 22"/>
          <p:cNvSpPr/>
          <p:nvPr/>
        </p:nvSpPr>
        <p:spPr>
          <a:xfrm>
            <a:off x="548640" y="481584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81584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Thank you.</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Choosing between two options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Two options, and you must recommend one.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Compare the options with pros and cons.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Asks “Why?” and “What if?”</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On the one hand… On the other hand… · I’d recommend… because… · I suggest we… · It would be worth trying…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Recommend one option with two reasons and say what happens next.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third option appears. Say: “Before we decide, let’s look at option C as well.”</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disagree with the group. Say: “I understand the majority view, but I’d like to suggest another way.”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Summarize: “So we’re going with Nordic Steel. Li Wei contacts them by Wednesday.”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come up with new ideas in a team?</a:t>
            </a:r>
          </a:p>
          <a:p>
            <a:pPr algn="l">
              <a:lnSpc>
                <a:spcPct val="115000"/>
              </a:lnSpc>
              <a:spcAft>
                <a:spcPts val="800"/>
              </a:spcAft>
            </a:pPr>
            <a:r>
              <a:rPr sz="1400" b="0">
                <a:solidFill>
                  <a:srgbClr val="5F677A"/>
                </a:solidFill>
                <a:latin typeface="Arial"/>
                <a:ea typeface="Microsoft YaHei"/>
              </a:rPr>
              <a:t>💬 “We usually brainstorm by…” / “I ask everyone to write down…”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decide quickly or take time to find the best solution?</a:t>
            </a:r>
          </a:p>
          <a:p>
            <a:pPr algn="l">
              <a:lnSpc>
                <a:spcPct val="115000"/>
              </a:lnSpc>
              <a:spcAft>
                <a:spcPts val="800"/>
              </a:spcAft>
            </a:pPr>
            <a:r>
              <a:rPr sz="1400" b="0">
                <a:solidFill>
                  <a:srgbClr val="5F677A"/>
                </a:solidFill>
                <a:latin typeface="Arial"/>
                <a:ea typeface="Microsoft YaHei"/>
              </a:rPr>
              <a:t>💬 “It depends on how important the decision is.” / “Quick decisions are fine for small things.”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make the final decision: the group, the manager, or a vote?</a:t>
            </a:r>
          </a:p>
          <a:p>
            <a:pPr algn="l">
              <a:lnSpc>
                <a:spcPct val="115000"/>
              </a:lnSpc>
              <a:spcAft>
                <a:spcPts val="800"/>
              </a:spcAft>
            </a:pPr>
            <a:r>
              <a:rPr sz="1400" b="0">
                <a:solidFill>
                  <a:srgbClr val="5F677A"/>
                </a:solidFill>
                <a:latin typeface="Arial"/>
                <a:ea typeface="Microsoft YaHei"/>
              </a:rPr>
              <a:t>💬 “I think the manager should decide after…” / “A vote is fair when…”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a team member who rejects every idea?</a:t>
            </a:r>
          </a:p>
          <a:p>
            <a:pPr algn="l">
              <a:lnSpc>
                <a:spcPct val="115000"/>
              </a:lnSpc>
              <a:spcAft>
                <a:spcPts val="800"/>
              </a:spcAft>
            </a:pPr>
            <a:r>
              <a:rPr sz="1400" b="0">
                <a:solidFill>
                  <a:srgbClr val="5F677A"/>
                </a:solidFill>
                <a:latin typeface="Arial"/>
                <a:ea typeface="Microsoft YaHei"/>
              </a:rPr>
              <a:t>💬 “I ask them to suggest something better.” / “I try to find out what concerns them.”</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difference between a good solution and a quick fix?</a:t>
            </a:r>
          </a:p>
          <a:p>
            <a:pPr algn="l">
              <a:lnSpc>
                <a:spcPct val="115000"/>
              </a:lnSpc>
              <a:spcAft>
                <a:spcPts val="800"/>
              </a:spcAft>
            </a:pPr>
            <a:r>
              <a:rPr sz="1400" b="0">
                <a:solidFill>
                  <a:srgbClr val="5F677A"/>
                </a:solidFill>
                <a:latin typeface="Arial"/>
                <a:ea typeface="Microsoft YaHei"/>
              </a:rPr>
              <a:t>💬 “A quick fix solves… for now, but…” / “A good solution addresses the root 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quick fix solves the problem for now, but it often comes back. For example, if we hire temporary staff because we’re behind, the project catches up, but the cause (poor planning) is still there. A good solution looks at the root cause. So I would say:”Let’s hire temporary staff now, but also review how we plan projects.” That way, we deal with both the short-term and the long-term problem.</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“catches up”(追上进度)是短语动词。“short-term and long-term”(短期和长期)。“That way,…” 引导结果。</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Video-conference language: solutions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讨论方案用语</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Ask for ideas</a:t>
                      </a:r>
                    </a:p>
                  </a:txBody>
                  <a:tcPr anchor="ctr">
                    <a:solidFill>
                      <a:srgbClr val="FFFFFF"/>
                    </a:solidFill>
                  </a:tcPr>
                </a:tc>
                <a:tc>
                  <a:txBody>
                    <a:bodyPr wrap="square"/>
                    <a:lstStyle/>
                    <a:p>
                      <a:r>
                        <a:rPr sz="1600" b="0">
                          <a:solidFill>
                            <a:srgbClr val="1F2A44"/>
                          </a:solidFill>
                          <a:latin typeface="Arial"/>
                          <a:ea typeface="Microsoft YaHei"/>
                        </a:rPr>
                        <a:t>What can we do about this? / Does anyone have any suggestions?</a:t>
                      </a:r>
                    </a:p>
                  </a:txBody>
                  <a:tcPr anchor="ctr">
                    <a:solidFill>
                      <a:srgbClr val="FFFFFF"/>
                    </a:solidFill>
                  </a:tcPr>
                </a:tc>
              </a:tr>
              <a:tr h="652272">
                <a:tc>
                  <a:txBody>
                    <a:bodyPr wrap="square"/>
                    <a:lstStyle/>
                    <a:p>
                      <a:r>
                        <a:rPr sz="1600" b="1">
                          <a:solidFill>
                            <a:srgbClr val="1F2A44"/>
                          </a:solidFill>
                          <a:latin typeface="Arial"/>
                          <a:ea typeface="Microsoft YaHei"/>
                        </a:rPr>
                        <a:t>Suggest</a:t>
                      </a:r>
                    </a:p>
                  </a:txBody>
                  <a:tcPr anchor="ctr">
                    <a:solidFill>
                      <a:srgbClr val="FFEFD9"/>
                    </a:solidFill>
                  </a:tcPr>
                </a:tc>
                <a:tc>
                  <a:txBody>
                    <a:bodyPr wrap="square"/>
                    <a:lstStyle/>
                    <a:p>
                      <a:r>
                        <a:rPr sz="1600" b="0">
                          <a:solidFill>
                            <a:srgbClr val="1F2A44"/>
                          </a:solidFill>
                          <a:latin typeface="Arial"/>
                          <a:ea typeface="Microsoft YaHei"/>
                        </a:rPr>
                        <a:t>One option is to… / We could… / Why don’t we…? / How about…?</a:t>
                      </a:r>
                    </a:p>
                  </a:txBody>
                  <a:tcPr anchor="ctr">
                    <a:solidFill>
                      <a:srgbClr val="FFEFD9"/>
                    </a:solidFill>
                  </a:tcPr>
                </a:tc>
              </a:tr>
              <a:tr h="408432">
                <a:tc>
                  <a:txBody>
                    <a:bodyPr wrap="square"/>
                    <a:lstStyle/>
                    <a:p>
                      <a:r>
                        <a:rPr sz="1600" b="1">
                          <a:solidFill>
                            <a:srgbClr val="1F2A44"/>
                          </a:solidFill>
                          <a:latin typeface="Arial"/>
                          <a:ea typeface="Microsoft YaHei"/>
                        </a:rPr>
                        <a:t>Formal ★</a:t>
                      </a:r>
                    </a:p>
                  </a:txBody>
                  <a:tcPr anchor="ctr">
                    <a:solidFill>
                      <a:srgbClr val="FFFFFF"/>
                    </a:solidFill>
                  </a:tcPr>
                </a:tc>
                <a:tc>
                  <a:txBody>
                    <a:bodyPr wrap="square"/>
                    <a:lstStyle/>
                    <a:p>
                      <a:r>
                        <a:rPr sz="1600" b="0">
                          <a:solidFill>
                            <a:srgbClr val="1F2A44"/>
                          </a:solidFill>
                          <a:latin typeface="Arial"/>
                          <a:ea typeface="Microsoft YaHei"/>
                        </a:rPr>
                        <a:t>I suggest (that) we… / I’d recommend…</a:t>
                      </a:r>
                    </a:p>
                  </a:txBody>
                  <a:tcPr anchor="ctr">
                    <a:solidFill>
                      <a:srgbClr val="FFFFFF"/>
                    </a:solidFill>
                  </a:tcPr>
                </a:tc>
              </a:tr>
              <a:tr h="652272">
                <a:tc>
                  <a:txBody>
                    <a:bodyPr wrap="square"/>
                    <a:lstStyle/>
                    <a:p>
                      <a:r>
                        <a:rPr sz="1600" b="1">
                          <a:solidFill>
                            <a:srgbClr val="1F2A44"/>
                          </a:solidFill>
                          <a:latin typeface="Arial"/>
                          <a:ea typeface="Microsoft YaHei"/>
                        </a:rPr>
                        <a:t>Compare</a:t>
                      </a:r>
                    </a:p>
                  </a:txBody>
                  <a:tcPr anchor="ctr">
                    <a:solidFill>
                      <a:srgbClr val="FFEFD9"/>
                    </a:solidFill>
                  </a:tcPr>
                </a:tc>
                <a:tc>
                  <a:txBody>
                    <a:bodyPr wrap="square"/>
                    <a:lstStyle/>
                    <a:p>
                      <a:r>
                        <a:rPr sz="1600" b="0">
                          <a:solidFill>
                            <a:srgbClr val="1F2A44"/>
                          </a:solidFill>
                          <a:latin typeface="Arial"/>
                          <a:ea typeface="Microsoft YaHei"/>
                        </a:rPr>
                        <a:t>What are the pros and cons? / On the one hand… On the other hand… ★</a:t>
                      </a:r>
                    </a:p>
                  </a:txBody>
                  <a:tcPr anchor="ctr">
                    <a:solidFill>
                      <a:srgbClr val="FFEFD9"/>
                    </a:solidFill>
                  </a:tcPr>
                </a:tc>
              </a:tr>
            </a:tbl>
          </a:graphicData>
        </a:graphic>
      </p:graphicFrame>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Video-conference language: solutions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讨论方案用语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React</a:t>
                      </a:r>
                    </a:p>
                  </a:txBody>
                  <a:tcPr anchor="ctr">
                    <a:solidFill>
                      <a:srgbClr val="FFFFFF"/>
                    </a:solidFill>
                  </a:tcPr>
                </a:tc>
                <a:tc>
                  <a:txBody>
                    <a:bodyPr wrap="square"/>
                    <a:lstStyle/>
                    <a:p>
                      <a:r>
                        <a:rPr sz="1600" b="0">
                          <a:solidFill>
                            <a:srgbClr val="1F2A44"/>
                          </a:solidFill>
                          <a:latin typeface="Arial"/>
                          <a:ea typeface="Microsoft YaHei"/>
                        </a:rPr>
                        <a:t>That might work. / That’s a good idea. / I’m not sure that would work.</a:t>
                      </a:r>
                    </a:p>
                  </a:txBody>
                  <a:tcPr anchor="ctr">
                    <a:solidFill>
                      <a:srgbClr val="FFFFFF"/>
                    </a:solidFill>
                  </a:tcPr>
                </a:tc>
              </a:tr>
              <a:tr h="408432">
                <a:tc>
                  <a:txBody>
                    <a:bodyPr wrap="square"/>
                    <a:lstStyle/>
                    <a:p>
                      <a:r>
                        <a:rPr sz="1600" b="1">
                          <a:solidFill>
                            <a:srgbClr val="1F2A44"/>
                          </a:solidFill>
                          <a:latin typeface="Arial"/>
                          <a:ea typeface="Microsoft YaHei"/>
                        </a:rPr>
                        <a:t>Decide</a:t>
                      </a:r>
                    </a:p>
                  </a:txBody>
                  <a:tcPr anchor="ctr">
                    <a:solidFill>
                      <a:srgbClr val="FFEFD9"/>
                    </a:solidFill>
                  </a:tcPr>
                </a:tc>
                <a:tc>
                  <a:txBody>
                    <a:bodyPr wrap="square"/>
                    <a:lstStyle/>
                    <a:p>
                      <a:r>
                        <a:rPr sz="1600" b="0">
                          <a:solidFill>
                            <a:srgbClr val="1F2A44"/>
                          </a:solidFill>
                          <a:latin typeface="Arial"/>
                          <a:ea typeface="Microsoft YaHei"/>
                        </a:rPr>
                        <a:t>Are we all agreed? / Let’s go with…</a:t>
                      </a:r>
                    </a:p>
                  </a:txBody>
                  <a:tcPr anchor="ctr">
                    <a:solidFill>
                      <a:srgbClr val="FFEFD9"/>
                    </a:solidFill>
                  </a:tcPr>
                </a:tc>
              </a:tr>
              <a:tr h="408432">
                <a:tc>
                  <a:txBody>
                    <a:bodyPr wrap="square"/>
                    <a:lstStyle/>
                    <a:p>
                      <a:r>
                        <a:rPr sz="1600" b="1">
                          <a:solidFill>
                            <a:srgbClr val="1F2A44"/>
                          </a:solidFill>
                          <a:latin typeface="Arial"/>
                          <a:ea typeface="Microsoft YaHei"/>
                        </a:rPr>
                        <a:t>Compromise</a:t>
                      </a:r>
                    </a:p>
                  </a:txBody>
                  <a:tcPr anchor="ctr">
                    <a:solidFill>
                      <a:srgbClr val="FFFFFF"/>
                    </a:solidFill>
                  </a:tcPr>
                </a:tc>
                <a:tc>
                  <a:txBody>
                    <a:bodyPr wrap="square"/>
                    <a:lstStyle/>
                    <a:p>
                      <a:r>
                        <a:rPr sz="1600" b="0">
                          <a:solidFill>
                            <a:srgbClr val="1F2A44"/>
                          </a:solidFill>
                          <a:latin typeface="Arial"/>
                          <a:ea typeface="Microsoft YaHei"/>
                        </a:rPr>
                        <a:t>Let’s meet halfway. ★</a:t>
                      </a:r>
                    </a:p>
                  </a:txBody>
                  <a:tcPr anchor="ctr">
                    <a:solidFill>
                      <a:srgbClr val="FFFFFF"/>
                    </a:solidFill>
                  </a:tcPr>
                </a:tc>
              </a:tr>
              <a:tr h="652272">
                <a:tc>
                  <a:txBody>
                    <a:bodyPr wrap="square"/>
                    <a:lstStyle/>
                    <a:p>
                      <a:r>
                        <a:rPr sz="1600" b="1">
                          <a:solidFill>
                            <a:srgbClr val="1F2A44"/>
                          </a:solidFill>
                          <a:latin typeface="Arial"/>
                          <a:ea typeface="Microsoft YaHei"/>
                        </a:rPr>
                        <a:t>Action</a:t>
                      </a:r>
                    </a:p>
                  </a:txBody>
                  <a:tcPr anchor="ctr">
                    <a:solidFill>
                      <a:srgbClr val="FFEFD9"/>
                    </a:solidFill>
                  </a:tcPr>
                </a:tc>
                <a:tc>
                  <a:txBody>
                    <a:bodyPr wrap="square"/>
                    <a:lstStyle/>
                    <a:p>
                      <a:r>
                        <a:rPr sz="1600" b="0">
                          <a:solidFill>
                            <a:srgbClr val="1F2A44"/>
                          </a:solidFill>
                          <a:latin typeface="Arial"/>
                          <a:ea typeface="Microsoft YaHei"/>
                        </a:rPr>
                        <a:t>Who’s taking the lead? ★ / Could you do that by Wednesday?</a:t>
                      </a:r>
                    </a:p>
                  </a:txBody>
                  <a:tcPr anchor="ctr">
                    <a:solidFill>
                      <a:srgbClr val="FFEFD9"/>
                    </a:solidFill>
                  </a:tcPr>
                </a:tc>
              </a:tr>
            </a:tbl>
          </a:graphicData>
        </a:graphic>
      </p:graphicFrame>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Suggestion patterns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建议句型</a:t>
            </a:r>
          </a:p>
        </p:txBody>
      </p:sp>
      <p:graphicFrame>
        <p:nvGraphicFramePr>
          <p:cNvPr id="9" name="Table 8"/>
          <p:cNvGraphicFramePr>
            <a:graphicFrameLocks noGrp="1"/>
          </p:cNvGraphicFramePr>
          <p:nvPr/>
        </p:nvGraphicFramePr>
        <p:xfrm>
          <a:off x="548640" y="1417320"/>
          <a:ext cx="11094415" cy="3267456"/>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Pattern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We could + base verb</a:t>
                      </a:r>
                    </a:p>
                  </a:txBody>
                  <a:tcPr anchor="ctr">
                    <a:solidFill>
                      <a:srgbClr val="FFFFFF"/>
                    </a:solidFill>
                  </a:tcPr>
                </a:tc>
                <a:tc>
                  <a:txBody>
                    <a:bodyPr wrap="square"/>
                    <a:lstStyle/>
                    <a:p>
                      <a:r>
                        <a:rPr sz="1600" b="0">
                          <a:solidFill>
                            <a:srgbClr val="1F2A44"/>
                          </a:solidFill>
                          <a:latin typeface="Arial"/>
                          <a:ea typeface="Microsoft YaHei"/>
                        </a:rPr>
                        <a:t>We could ask the supplier.</a:t>
                      </a:r>
                    </a:p>
                  </a:txBody>
                  <a:tcPr anchor="ctr">
                    <a:solidFill>
                      <a:srgbClr val="FFFFFF"/>
                    </a:solidFill>
                  </a:tcPr>
                </a:tc>
              </a:tr>
              <a:tr h="408432">
                <a:tc>
                  <a:txBody>
                    <a:bodyPr wrap="square"/>
                    <a:lstStyle/>
                    <a:p>
                      <a:r>
                        <a:rPr sz="1600" b="1">
                          <a:solidFill>
                            <a:srgbClr val="1F2A44"/>
                          </a:solidFill>
                          <a:latin typeface="Arial"/>
                          <a:ea typeface="Microsoft YaHei"/>
                        </a:rPr>
                        <a:t>Why don’t we + base verb?</a:t>
                      </a:r>
                    </a:p>
                  </a:txBody>
                  <a:tcPr anchor="ctr">
                    <a:solidFill>
                      <a:srgbClr val="FFEFD9"/>
                    </a:solidFill>
                  </a:tcPr>
                </a:tc>
                <a:tc>
                  <a:txBody>
                    <a:bodyPr wrap="square"/>
                    <a:lstStyle/>
                    <a:p>
                      <a:r>
                        <a:rPr sz="1600" b="0">
                          <a:solidFill>
                            <a:srgbClr val="1F2A44"/>
                          </a:solidFill>
                          <a:latin typeface="Arial"/>
                          <a:ea typeface="Microsoft YaHei"/>
                        </a:rPr>
                        <a:t>Why don’t we hire extra staff?</a:t>
                      </a:r>
                    </a:p>
                  </a:txBody>
                  <a:tcPr anchor="ctr">
                    <a:solidFill>
                      <a:srgbClr val="FFEFD9"/>
                    </a:solidFill>
                  </a:tcPr>
                </a:tc>
              </a:tr>
              <a:tr h="408432">
                <a:tc>
                  <a:txBody>
                    <a:bodyPr wrap="square"/>
                    <a:lstStyle/>
                    <a:p>
                      <a:r>
                        <a:rPr sz="1600" b="1">
                          <a:solidFill>
                            <a:srgbClr val="1F2A44"/>
                          </a:solidFill>
                          <a:latin typeface="Arial"/>
                          <a:ea typeface="Microsoft YaHei"/>
                        </a:rPr>
                        <a:t>How about + -ing?</a:t>
                      </a:r>
                    </a:p>
                  </a:txBody>
                  <a:tcPr anchor="ctr">
                    <a:solidFill>
                      <a:srgbClr val="FFFFFF"/>
                    </a:solidFill>
                  </a:tcPr>
                </a:tc>
                <a:tc>
                  <a:txBody>
                    <a:bodyPr wrap="square"/>
                    <a:lstStyle/>
                    <a:p>
                      <a:r>
                        <a:rPr sz="1600" b="0">
                          <a:solidFill>
                            <a:srgbClr val="1F2A44"/>
                          </a:solidFill>
                          <a:latin typeface="Arial"/>
                          <a:ea typeface="Microsoft YaHei"/>
                        </a:rPr>
                        <a:t>How about asking the supplier?</a:t>
                      </a:r>
                    </a:p>
                  </a:txBody>
                  <a:tcPr anchor="ctr">
                    <a:solidFill>
                      <a:srgbClr val="FFFFFF"/>
                    </a:solidFill>
                  </a:tcPr>
                </a:tc>
              </a:tr>
              <a:tr h="408432">
                <a:tc>
                  <a:txBody>
                    <a:bodyPr wrap="square"/>
                    <a:lstStyle/>
                    <a:p>
                      <a:r>
                        <a:rPr sz="1600" b="1">
                          <a:solidFill>
                            <a:srgbClr val="1F2A44"/>
                          </a:solidFill>
                          <a:latin typeface="Arial"/>
                          <a:ea typeface="Microsoft YaHei"/>
                        </a:rPr>
                        <a:t>I suggest (that) we + base verb</a:t>
                      </a:r>
                    </a:p>
                  </a:txBody>
                  <a:tcPr anchor="ctr">
                    <a:solidFill>
                      <a:srgbClr val="FFEFD9"/>
                    </a:solidFill>
                  </a:tcPr>
                </a:tc>
                <a:tc>
                  <a:txBody>
                    <a:bodyPr wrap="square"/>
                    <a:lstStyle/>
                    <a:p>
                      <a:r>
                        <a:rPr sz="1600" b="0">
                          <a:solidFill>
                            <a:srgbClr val="1F2A44"/>
                          </a:solidFill>
                          <a:latin typeface="Arial"/>
                          <a:ea typeface="Microsoft YaHei"/>
                        </a:rPr>
                        <a:t>I suggest we ask the supplier. ★</a:t>
                      </a:r>
                    </a:p>
                  </a:txBody>
                  <a:tcPr anchor="ctr">
                    <a:solidFill>
                      <a:srgbClr val="FFEFD9"/>
                    </a:solidFill>
                  </a:tcPr>
                </a:tc>
              </a:tr>
              <a:tr h="408432">
                <a:tc>
                  <a:txBody>
                    <a:bodyPr wrap="square"/>
                    <a:lstStyle/>
                    <a:p>
                      <a:r>
                        <a:rPr sz="1600" b="1">
                          <a:solidFill>
                            <a:srgbClr val="1F2A44"/>
                          </a:solidFill>
                          <a:latin typeface="Arial"/>
                          <a:ea typeface="Microsoft YaHei"/>
                        </a:rPr>
                        <a:t>I suggest + -ing</a:t>
                      </a:r>
                    </a:p>
                  </a:txBody>
                  <a:tcPr anchor="ctr">
                    <a:solidFill>
                      <a:srgbClr val="FFFFFF"/>
                    </a:solidFill>
                  </a:tcPr>
                </a:tc>
                <a:tc>
                  <a:txBody>
                    <a:bodyPr wrap="square"/>
                    <a:lstStyle/>
                    <a:p>
                      <a:r>
                        <a:rPr sz="1600" b="0">
                          <a:solidFill>
                            <a:srgbClr val="1F2A44"/>
                          </a:solidFill>
                          <a:latin typeface="Arial"/>
                          <a:ea typeface="Microsoft YaHei"/>
                        </a:rPr>
                        <a:t>I suggest asking the supplier.</a:t>
                      </a:r>
                    </a:p>
                  </a:txBody>
                  <a:tcPr anchor="ctr">
                    <a:solidFill>
                      <a:srgbClr val="FFFFFF"/>
                    </a:solidFill>
                  </a:tcPr>
                </a:tc>
              </a:tr>
              <a:tr h="408432">
                <a:tc>
                  <a:txBody>
                    <a:bodyPr wrap="square"/>
                    <a:lstStyle/>
                    <a:p>
                      <a:r>
                        <a:rPr sz="1600" b="1">
                          <a:solidFill>
                            <a:srgbClr val="1F2A44"/>
                          </a:solidFill>
                          <a:latin typeface="Arial"/>
                          <a:ea typeface="Microsoft YaHei"/>
                        </a:rPr>
                        <a:t>Let’s + base verb</a:t>
                      </a:r>
                    </a:p>
                  </a:txBody>
                  <a:tcPr anchor="ctr">
                    <a:solidFill>
                      <a:srgbClr val="FFEFD9"/>
                    </a:solidFill>
                  </a:tcPr>
                </a:tc>
                <a:tc>
                  <a:txBody>
                    <a:bodyPr wrap="square"/>
                    <a:lstStyle/>
                    <a:p>
                      <a:r>
                        <a:rPr sz="1600" b="0">
                          <a:solidFill>
                            <a:srgbClr val="1F2A44"/>
                          </a:solidFill>
                          <a:latin typeface="Arial"/>
                          <a:ea typeface="Microsoft YaHei"/>
                        </a:rPr>
                        <a:t>Let’s ask the supplier.</a:t>
                      </a:r>
                    </a:p>
                  </a:txBody>
                  <a:tcPr anchor="ctr">
                    <a:solidFill>
                      <a:srgbClr val="FFEFD9"/>
                    </a:solidFill>
                  </a:tcPr>
                </a:tc>
              </a:tr>
              <a:tr h="408432">
                <a:tc>
                  <a:txBody>
                    <a:bodyPr wrap="square"/>
                    <a:lstStyle/>
                    <a:p>
                      <a:r>
                        <a:rPr sz="1600" b="1">
                          <a:solidFill>
                            <a:srgbClr val="1F2A44"/>
                          </a:solidFill>
                          <a:latin typeface="Arial"/>
                          <a:ea typeface="Microsoft YaHei"/>
                        </a:rPr>
                        <a:t>It would be a good idea to + base verb</a:t>
                      </a:r>
                    </a:p>
                  </a:txBody>
                  <a:tcPr anchor="ctr">
                    <a:solidFill>
                      <a:srgbClr val="FFFFFF"/>
                    </a:solidFill>
                  </a:tcPr>
                </a:tc>
                <a:tc>
                  <a:txBody>
                    <a:bodyPr wrap="square"/>
                    <a:lstStyle/>
                    <a:p>
                      <a:r>
                        <a:rPr sz="1600" b="0">
                          <a:solidFill>
                            <a:srgbClr val="1F2A44"/>
                          </a:solidFill>
                          <a:latin typeface="Arial"/>
                          <a:ea typeface="Microsoft YaHei"/>
                        </a:rPr>
                        <a:t>It would be a good idea to ask the supplier.</a:t>
                      </a:r>
                    </a:p>
                  </a:txBody>
                  <a:tcPr anchor="ctr">
                    <a:solidFill>
                      <a:srgbClr val="FFFFFF"/>
                    </a:solidFill>
                  </a:tcPr>
                </a:tc>
              </a:tr>
            </a:tbl>
          </a:graphicData>
        </a:graphic>
      </p:graphicFrame>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Suggestion patterns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建议句型</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suggest cannot take “to + verb” or a person: </a:t>
            </a:r>
            <a:r>
              <a:rPr sz="1700" b="0">
                <a:solidFill>
                  <a:srgbClr val="1F2A44"/>
                </a:solidFill>
                <a:latin typeface="Arial"/>
                <a:ea typeface="Microsoft YaHei"/>
              </a:rPr>
              <a:t>✗ “I suggest you to ask” ✓ “I suggest (that) you ask” / “I suggest asking”.</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Soft vs strong: </a:t>
            </a:r>
            <a:r>
              <a:rPr sz="1700" b="0">
                <a:solidFill>
                  <a:srgbClr val="1F2A44"/>
                </a:solidFill>
                <a:latin typeface="Arial"/>
                <a:ea typeface="Microsoft YaHei"/>
              </a:rPr>
              <a:t>could and might are softer; should and need to are stronger. In a meeting with senior people, use could / might.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Conditionals: </a:t>
            </a:r>
            <a:r>
              <a:rPr sz="1700" b="0">
                <a:solidFill>
                  <a:srgbClr val="1F2A44"/>
                </a:solidFill>
                <a:latin typeface="Arial"/>
                <a:ea typeface="Microsoft YaHei"/>
              </a:rPr>
              <a:t>“If we hire two testers, we will catch up.” (real possibility) vs “If we had more budget, we could hire more people.” (unreal).</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you to ask the supplier.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(that) you ask the supplier. / I suggest asking the supplier.</a:t>
            </a:r>
          </a:p>
          <a:p>
            <a:pPr algn="l">
              <a:spcAft>
                <a:spcPts val="200"/>
              </a:spcAft>
            </a:pPr>
            <a:r>
              <a:rPr sz="1200" b="0">
                <a:solidFill>
                  <a:srgbClr val="FFFFFF"/>
                </a:solidFill>
                <a:latin typeface="Arial"/>
                <a:ea typeface="Microsoft YaHei"/>
              </a:rPr>
              <a:t>suggest 不接 to do</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to hire extra staff.</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hiring extra staff. / I suggest we hire extra staff.</a:t>
            </a:r>
          </a:p>
          <a:p>
            <a:pPr algn="l">
              <a:spcAft>
                <a:spcPts val="200"/>
              </a:spcAft>
            </a:pPr>
            <a:r>
              <a:rPr sz="1200" b="0">
                <a:solidFill>
                  <a:srgbClr val="FFFFFF"/>
                </a:solidFill>
                <a:latin typeface="Arial"/>
                <a:ea typeface="Microsoft YaHei"/>
              </a:rPr>
              <a:t>suggest + -ing / 从句</a:t>
            </a:r>
          </a:p>
        </p:txBody>
      </p:sp>
      <p:sp>
        <p:nvSpPr>
          <p:cNvPr id="13" name="Rounded Rectangle 12"/>
          <p:cNvSpPr/>
          <p:nvPr/>
        </p:nvSpPr>
        <p:spPr>
          <a:xfrm>
            <a:off x="548640" y="335279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about we to ask?</a:t>
            </a:r>
          </a:p>
        </p:txBody>
      </p:sp>
      <p:sp>
        <p:nvSpPr>
          <p:cNvPr id="14" name="Rounded Rectangle 13"/>
          <p:cNvSpPr/>
          <p:nvPr/>
        </p:nvSpPr>
        <p:spPr>
          <a:xfrm>
            <a:off x="6187287" y="335279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about asking? / Why don’t we ask?</a:t>
            </a:r>
          </a:p>
          <a:p>
            <a:pPr algn="l">
              <a:spcAft>
                <a:spcPts val="200"/>
              </a:spcAft>
            </a:pPr>
            <a:r>
              <a:rPr sz="1200" b="0">
                <a:solidFill>
                  <a:srgbClr val="FFFFFF"/>
                </a:solidFill>
                <a:latin typeface="Arial"/>
                <a:ea typeface="Microsoft YaHei"/>
              </a:rPr>
              <a:t>how about + -ing</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to hire staff.</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hire staff.</a:t>
            </a:r>
          </a:p>
          <a:p>
            <a:pPr algn="l">
              <a:spcAft>
                <a:spcPts val="200"/>
              </a:spcAft>
            </a:pPr>
            <a:r>
              <a:rPr sz="1200" b="0">
                <a:solidFill>
                  <a:srgbClr val="FFFFFF"/>
                </a:solidFill>
                <a:latin typeface="Arial"/>
                <a:ea typeface="Microsoft YaHei"/>
              </a:rPr>
              <a:t>should + 动词原形</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to go with option B.</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go with option B.</a:t>
            </a:r>
          </a:p>
          <a:p>
            <a:pPr algn="l">
              <a:spcAft>
                <a:spcPts val="200"/>
              </a:spcAft>
            </a:pPr>
            <a:r>
              <a:rPr sz="1200" b="0">
                <a:solidFill>
                  <a:srgbClr val="FFFFFF"/>
                </a:solidFill>
                <a:latin typeface="Arial"/>
                <a:ea typeface="Microsoft YaHei"/>
              </a:rPr>
              <a:t>Let’s + 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Pros or cons?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What are the pros and cons?</a:t>
            </a:r>
          </a:p>
          <a:p>
            <a:pPr algn="l">
              <a:spcAft>
                <a:spcPts val="200"/>
              </a:spcAft>
            </a:pPr>
            <a:r>
              <a:rPr sz="1200" b="0">
                <a:solidFill>
                  <a:srgbClr val="FFFFFF"/>
                </a:solidFill>
                <a:latin typeface="Arial"/>
                <a:ea typeface="Microsoft YaHei"/>
              </a:rPr>
              <a:t>并列用 and</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opinion is we should wait.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opinion, we should wait. / I think we should wait.</a:t>
            </a:r>
          </a:p>
          <a:p>
            <a:pPr algn="l">
              <a:spcAft>
                <a:spcPts val="200"/>
              </a:spcAft>
            </a:pPr>
            <a:r>
              <a:rPr sz="1200" b="0">
                <a:solidFill>
                  <a:srgbClr val="FFFFFF"/>
                </a:solidFill>
                <a:latin typeface="Arial"/>
                <a:ea typeface="Microsoft YaHei"/>
              </a:rPr>
              <a:t>in my opinion</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According to me, option A is better.</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view, option A is better. / I think option A is better.</a:t>
            </a:r>
          </a:p>
          <a:p>
            <a:pPr algn="l">
              <a:spcAft>
                <a:spcPts val="200"/>
              </a:spcAft>
            </a:pPr>
            <a:r>
              <a:rPr sz="1200" b="0">
                <a:solidFill>
                  <a:srgbClr val="FFFFFF"/>
                </a:solidFill>
                <a:latin typeface="Arial"/>
                <a:ea typeface="Microsoft YaHei"/>
              </a:rPr>
              <a:t>不说 according to me</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Agree?</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Are we all agreed? / Are we all OK with that?</a:t>
            </a:r>
          </a:p>
          <a:p>
            <a:pPr algn="l">
              <a:spcAft>
                <a:spcPts val="200"/>
              </a:spcAft>
            </a:pPr>
            <a:r>
              <a:rPr sz="1200" b="0">
                <a:solidFill>
                  <a:srgbClr val="FFFFFF"/>
                </a:solidFill>
                <a:latin typeface="Arial"/>
                <a:ea typeface="Microsoft YaHei"/>
              </a:rPr>
              <a:t>完整问句</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halfeway / bottle neck</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halfway / bottleneck</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suggest + -ing or suggest (that) + subject + base verb. Never suggest to do or suggest you to. In my opinion (not according to 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Everyone is expected to contribute. In Western meetings, silence is not always respect. If you have an idea, say it. “Can I add something?” is a good way in.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Ideas aren’t criticisms. In brainstorming, you suggest first and judge later. Try “Yes, and…” rather than “No, but…”.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Give a recommendation. Managers like “I recommend X because Y” more than “We could do X or Y, I don’t know.”</a:t>
            </a:r>
          </a:p>
        </p:txBody>
      </p:sp>
      <p:sp>
        <p:nvSpPr>
          <p:cNvPr id="18" name="Rounded Rectangle 17"/>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441959"/>
          </a:xfrm>
          <a:prstGeom prst="rect">
            <a:avLst/>
          </a:prstGeom>
          <a:noFill/>
        </p:spPr>
        <p:txBody>
          <a:bodyPr wrap="square" anchor="ctr">
            <a:spAutoFit/>
          </a:bodyPr>
          <a:lstStyle/>
          <a:p>
            <a:r>
              <a:rPr sz="1700" b="0">
                <a:solidFill>
                  <a:srgbClr val="1F2A44"/>
                </a:solidFill>
                <a:latin typeface="Arial"/>
                <a:ea typeface="Microsoft YaHei"/>
              </a:rPr>
              <a:t>Decisions have owners and dates. “Dan, by Wednesday” is better than “Someone should check this.”</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Compromise is positive. “Let’s meet halfway” is a friendly way to end disagreement, not a sign of weakness.</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ideas and make suggestions (One option is to… Why don’t we…? I suggest we…).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options with pros and cons and on the one hand… on the other hand….</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one option and give a reason.</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reach a decision (Are we all agreed? Let’s go with…) and assign actions with names and dates.</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suggest + -ing / that-clause, how about + -ing and should + base verb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30 Finding solutions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suggest + -ing / that + base verb, how about + -ing, in my opinion, and spelling (bottleneck, halfway).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 · Lesson 31 Ending the video conference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Ending the video conference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结束视频会议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close a video conference clearly: summarize decisions, confirm action points with owners and deadlines, agree the next meeting, thank participants, and say goodbye professionally.</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know when it’s time to end a meeting?</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usually say at the end of a meeting?</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is it important to repeat the action points at the end?</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Tell me about a meeting that ended with no clear plan. What was the result?</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after a video conference (minutes, email, tasks)?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题讲过去的事,请用过去式(ended, was, happened)。第 3 题可以说 “It’s important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Close a 60-minute video conference with a summary and next steps.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 signal the end</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2. summary of decisions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action points (who, what, when)</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next meeting</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thanks</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We’re running out of time, so…   💬 To sum up, …   💬 The action points are…   💬 Thank you all for joining.</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总结用 To sum up / To summarize / So, in short。行动项:Dan will…, by Friday。结束语要热情:Thanks, everyone. Have a good day / evening.</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Wrapping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收尾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We’re running out of time.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我们时间快用完了</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running out of time, so let’s wrap up.”</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wrap up.</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我们收尾吧</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“OK, let’s wrap up.”</a:t>
            </a:r>
          </a:p>
        </p:txBody>
      </p:sp>
      <p:sp>
        <p:nvSpPr>
          <p:cNvPr id="19" name="Rounded Rectangle 18"/>
          <p:cNvSpPr/>
          <p:nvPr/>
        </p:nvSpPr>
        <p:spPr>
          <a:xfrm>
            <a:off x="548640" y="312928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Before we close, does anyone have any final questions?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结束前,大家还有问题吗?</a:t>
            </a:r>
          </a:p>
        </p:txBody>
      </p:sp>
      <p:sp>
        <p:nvSpPr>
          <p:cNvPr id="23" name="TextBox 22"/>
          <p:cNvSpPr txBox="1"/>
          <p:nvPr/>
        </p:nvSpPr>
        <p:spPr>
          <a:xfrm>
            <a:off x="6675120" y="317500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“Before we close, does anyone have any final questions?”</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recap what we’ve agreed.</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让我回顾一下我们达成的一致</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recap what we’ve agreed.”</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 sum up, …</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总结一下,……</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sum up, we’ll go with option B.”</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Actions and next steps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行动项与下一步</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action points / action items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行动项</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read out the action points.”</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Dan will… by Friday.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丹将在周五前……</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“Dan will send the revised plan by Friday.”</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Who’s responsible for…?</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谁负责……?</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“Who’s responsible for the budget update?”</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send out the minutes tomorrow.</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我明天发会议纪要</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send out the minutes by tomorrow noon.”</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next meeting is on…, same time.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下次会议在……,同一时间</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next meeting is on Thursday the 26th, same time.”</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3: Thanking and saying goodbye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感谢与告别</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all for joining.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感谢大家参加</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all for joining.”</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Thanks for your input.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感谢大家的意见</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“Thanks for your input, everyone.”</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Have a good day / evening.</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祝您愉快</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“Have a good evening, everyone.”</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Chunk 3: Thanking and saying goodbye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感谢与告别</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drop me a line if you have any questions.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如有问题请随时联系我</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drop me a line if you have any questions.”</a:t>
            </a:r>
          </a:p>
        </p:txBody>
      </p:sp>
      <p:sp>
        <p:nvSpPr>
          <p:cNvPr id="14" name="Rounded Rectangle 13"/>
          <p:cNvSpPr/>
          <p:nvPr/>
        </p:nvSpPr>
        <p:spPr>
          <a:xfrm>
            <a:off x="548640" y="27305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stop the recording now.</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7762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我现在停止录制</a:t>
            </a:r>
          </a:p>
        </p:txBody>
      </p:sp>
      <p:sp>
        <p:nvSpPr>
          <p:cNvPr id="18" name="TextBox 17"/>
          <p:cNvSpPr txBox="1"/>
          <p:nvPr/>
        </p:nvSpPr>
        <p:spPr>
          <a:xfrm>
            <a:off x="6675120" y="27762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stop the recording now.”</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结束前,大家还有问题吗?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Before we close, does anyone have any final questions?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感谢大家参加</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all for joining.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我明天发会议纪要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I’ll send out the minutes tomorrow.</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让我回顾一下我们达成的一致</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recap what we’ve agreed.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祝您愉快</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Have a good day / evening.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谁负责……?</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Who’s responsible for…?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我们收尾吧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wrap up.</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行动项</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action points / action items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recap</a:t>
            </a:r>
          </a:p>
        </p:txBody>
      </p:sp>
      <p:sp>
        <p:nvSpPr>
          <p:cNvPr id="10" name="Rounded Rectangle 9"/>
          <p:cNvSpPr/>
          <p:nvPr/>
        </p:nvSpPr>
        <p:spPr>
          <a:xfrm>
            <a:off x="3017520" y="987552"/>
            <a:ext cx="58521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by</a:t>
            </a:r>
          </a:p>
        </p:txBody>
      </p:sp>
      <p:sp>
        <p:nvSpPr>
          <p:cNvPr id="11" name="Rounded Rectangle 10"/>
          <p:cNvSpPr/>
          <p:nvPr/>
        </p:nvSpPr>
        <p:spPr>
          <a:xfrm>
            <a:off x="3694176"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questions</a:t>
            </a:r>
          </a:p>
        </p:txBody>
      </p:sp>
      <p:sp>
        <p:nvSpPr>
          <p:cNvPr id="12" name="Rounded Rectangle 11"/>
          <p:cNvSpPr/>
          <p:nvPr/>
        </p:nvSpPr>
        <p:spPr>
          <a:xfrm>
            <a:off x="5138928"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joining</a:t>
            </a:r>
          </a:p>
        </p:txBody>
      </p:sp>
      <p:sp>
        <p:nvSpPr>
          <p:cNvPr id="13" name="Rounded Rectangle 12"/>
          <p:cNvSpPr/>
          <p:nvPr/>
        </p:nvSpPr>
        <p:spPr>
          <a:xfrm>
            <a:off x="6364224" y="987552"/>
            <a:ext cx="58521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a:t>
            </a:r>
          </a:p>
        </p:txBody>
      </p:sp>
      <p:sp>
        <p:nvSpPr>
          <p:cNvPr id="14" name="Rounded Rectangle 13"/>
          <p:cNvSpPr/>
          <p:nvPr/>
        </p:nvSpPr>
        <p:spPr>
          <a:xfrm>
            <a:off x="70408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out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We’re running _______ of time, so let’s wrap up.</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Does anyone have any final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questions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 me _______ what we’ve agreed.</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recap</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To sum _______, we’ll go with option B.</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Dan will send the revised plan _______ Friday.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Thank you all for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joining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拼写与时态): minutes (plural), recap (short for recapitulate), action points. Use will + base verb for promises: “I will send” (not “I will to send”). Spell receive (ei after c) and separate (not “seperate”).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Closing the meeting with a summary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总结并结束会议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chair the final minutes of a video conference.</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Sophie Zhou</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Closing the meeting with a summary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running out of time, so let’s wrap up. Before we close, does anyone have any final questions?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one. When will we get the minutes?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send them out by tomorrow noon. Let me recap what we’ve agreed. To sum up, we’ll go with a two-step plan: temporary staff and a partial delivery from the supplier.</a:t>
            </a:r>
          </a:p>
        </p:txBody>
      </p:sp>
      <p:sp>
        <p:nvSpPr>
          <p:cNvPr id="17" name="Rounded Rectangle 16"/>
          <p:cNvSpPr/>
          <p:nvPr/>
        </p:nvSpPr>
        <p:spPr>
          <a:xfrm>
            <a:off x="548640" y="3941063"/>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8" name="TextBox 17"/>
          <p:cNvSpPr txBox="1"/>
          <p:nvPr/>
        </p:nvSpPr>
        <p:spPr>
          <a:xfrm>
            <a:off x="274320"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9" name="Rounded Rectangle 18"/>
          <p:cNvSpPr/>
          <p:nvPr/>
        </p:nvSpPr>
        <p:spPr>
          <a:xfrm>
            <a:off x="1463040" y="3941063"/>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action points are: Dan will hire two testers by Friday; Sophie will speak to the supplier by Wednesday; I will update the timeline and send the minutes.</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Closing the meeting with a summary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Got it.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next meeting is on Thursday the 26th, same time. Is that OK for everyone?</a:t>
            </a:r>
          </a:p>
        </p:txBody>
      </p:sp>
      <p:sp>
        <p:nvSpPr>
          <p:cNvPr id="14" name="Rounded Rectangle 13"/>
          <p:cNvSpPr/>
          <p:nvPr/>
        </p:nvSpPr>
        <p:spPr>
          <a:xfrm>
            <a:off x="548640" y="2779776"/>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works for me.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Thanks for your input, everyone. Please drop me a line if you have any questions. Thank you all for joining, and have a good evening.</a:t>
            </a:r>
          </a:p>
        </p:txBody>
      </p:sp>
      <p:sp>
        <p:nvSpPr>
          <p:cNvPr id="20" name="Rounded Rectangle 19"/>
          <p:cNvSpPr/>
          <p:nvPr/>
        </p:nvSpPr>
        <p:spPr>
          <a:xfrm>
            <a:off x="10911535" y="4523231"/>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523231"/>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Li Wei. Bye, everyone.</a:t>
            </a:r>
          </a:p>
        </p:txBody>
      </p:sp>
      <p:sp>
        <p:nvSpPr>
          <p:cNvPr id="23" name="Rounded Rectangle 22"/>
          <p:cNvSpPr/>
          <p:nvPr/>
        </p:nvSpPr>
        <p:spPr>
          <a:xfrm>
            <a:off x="548640" y="5105399"/>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24" name="TextBox 23"/>
          <p:cNvSpPr txBox="1"/>
          <p:nvPr/>
        </p:nvSpPr>
        <p:spPr>
          <a:xfrm>
            <a:off x="274320" y="554431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5105399"/>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Bye!</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Closing the meeting with a summary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close a video conference.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Summarize, assign actions, thank.</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Participants. Ask one question, confirm their action.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We’re running out of time. · Let me recap… · action points · The next meeting is on… · Thank you all for joining.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closing of 60–90 seconds with three actions (who, what, when).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participant disagrees with the summary. Say: “Thanks for pointing that out. Let me correct that.”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There’s no time for the last item. Say: “We’ll move item four to the next meeting.”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personal touch: “Have a great weekend, everyone.”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colleague stays on after the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会议结束后的跟进</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the call, one colleague stays online to check the action points with you.</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colleague stays on after the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thanks for staying on. I wanted to double-check the action points.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I’m hiring two testers by Friday, right?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send me their start dates when you have them.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 Who’s responsible for the budget update?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do it. I’ll send the revised figures along with the minutes.</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Shall I send a short summary to the New York team as well? They had to leave early.</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colleague stays on after the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Could you copy me in?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By the way, I think we should invite Jack to the next call.</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Could you ask him?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send him the calendar invitation today.</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Thanks, Dan. Speak soon.</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Speak soon.</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colleague stays on after the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short chat after the meeting to confirm actions.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Check the actions and the timing.</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Asks about responsibilities.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double-check · Who’s responsible for…? · Will do. · Could you copy me in? · Speak soon.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Confirm every action point has an owner and a deadline.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follow-up email in two sentences.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Someone missed the meeting. Say: “I’ll send you the minutes and the recording link.”</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Politely end a long chat: “I’ll let you go. Thanks again.”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ending to a meeting?</a:t>
            </a:r>
          </a:p>
          <a:p>
            <a:pPr algn="l">
              <a:lnSpc>
                <a:spcPct val="115000"/>
              </a:lnSpc>
              <a:spcAft>
                <a:spcPts val="800"/>
              </a:spcAft>
            </a:pPr>
            <a:r>
              <a:rPr sz="1400" b="0">
                <a:solidFill>
                  <a:srgbClr val="5F677A"/>
                </a:solidFill>
                <a:latin typeface="Arial"/>
                <a:ea typeface="Microsoft YaHei"/>
              </a:rPr>
              <a:t>💬 “A good ending includes…” / “It should be clear who does what.”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every meeting end with action points? Why or why not?</a:t>
            </a:r>
          </a:p>
          <a:p>
            <a:pPr algn="l">
              <a:lnSpc>
                <a:spcPct val="115000"/>
              </a:lnSpc>
              <a:spcAft>
                <a:spcPts val="800"/>
              </a:spcAft>
            </a:pPr>
            <a:r>
              <a:rPr sz="1400" b="0">
                <a:solidFill>
                  <a:srgbClr val="5F677A"/>
                </a:solidFill>
                <a:latin typeface="Arial"/>
                <a:ea typeface="Microsoft YaHei"/>
              </a:rPr>
              <a:t>💬 “Yes, because otherwise…” / “Not always, for example…”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minutes be, and when should they be sent?</a:t>
            </a:r>
          </a:p>
          <a:p>
            <a:pPr algn="l">
              <a:lnSpc>
                <a:spcPct val="115000"/>
              </a:lnSpc>
              <a:spcAft>
                <a:spcPts val="800"/>
              </a:spcAft>
            </a:pPr>
            <a:r>
              <a:rPr sz="1400" b="0">
                <a:solidFill>
                  <a:srgbClr val="5F677A"/>
                </a:solidFill>
                <a:latin typeface="Arial"/>
                <a:ea typeface="Microsoft YaHei"/>
              </a:rPr>
              <a:t>💬 “Minutes should be short, with…” / “Within 24 hours is best.”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a meeting runs over time?</a:t>
            </a:r>
          </a:p>
          <a:p>
            <a:pPr algn="l">
              <a:lnSpc>
                <a:spcPct val="115000"/>
              </a:lnSpc>
              <a:spcAft>
                <a:spcPts val="800"/>
              </a:spcAft>
            </a:pPr>
            <a:r>
              <a:rPr sz="1400" b="0">
                <a:solidFill>
                  <a:srgbClr val="5F677A"/>
                </a:solidFill>
                <a:latin typeface="Arial"/>
                <a:ea typeface="Microsoft YaHei"/>
              </a:rPr>
              <a:t>💬 “I ask if everyone can stay…” / “I move the rest to the next meeting.”</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thank participants without sounding too formal?</a:t>
            </a:r>
          </a:p>
          <a:p>
            <a:pPr algn="l">
              <a:lnSpc>
                <a:spcPct val="115000"/>
              </a:lnSpc>
              <a:spcAft>
                <a:spcPts val="800"/>
              </a:spcAft>
            </a:pPr>
            <a:r>
              <a:rPr sz="1400" b="0">
                <a:solidFill>
                  <a:srgbClr val="5F677A"/>
                </a:solidFill>
                <a:latin typeface="Arial"/>
                <a:ea typeface="Microsoft YaHei"/>
              </a:rPr>
              <a:t>💬 “I say ‘Thanks, everyone. That was productive.’” / “I mention something specific.”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Yes, I think every meeting should end with action points. Otherwise, people leave the meeting and nothing happens. A good action point has three parts: who does what, and by when. For example,”Dan will hire two testers by Friday.” When these are clear, it is easier to follow up. If there are no action points, I ask myself whether the meeting was necessary.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“Otherwise,…”(否则……)是 B2 常用连接词。“follow up”(跟进)作动词时分开写。“whether the meeting was necessary” 是宾语从句,用陈述语序。</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Video-conference language: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结束用语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Signal</a:t>
                      </a:r>
                    </a:p>
                  </a:txBody>
                  <a:tcPr anchor="ctr">
                    <a:solidFill>
                      <a:srgbClr val="FFFFFF"/>
                    </a:solidFill>
                  </a:tcPr>
                </a:tc>
                <a:tc>
                  <a:txBody>
                    <a:bodyPr wrap="square"/>
                    <a:lstStyle/>
                    <a:p>
                      <a:r>
                        <a:rPr sz="1600" b="0">
                          <a:solidFill>
                            <a:srgbClr val="1F2A44"/>
                          </a:solidFill>
                          <a:latin typeface="Arial"/>
                          <a:ea typeface="Microsoft YaHei"/>
                        </a:rPr>
                        <a:t>We’re running out of time, so let’s wrap up. / We’ve come to the end of the agenda.</a:t>
                      </a:r>
                    </a:p>
                  </a:txBody>
                  <a:tcPr anchor="ctr">
                    <a:solidFill>
                      <a:srgbClr val="FFFFFF"/>
                    </a:solidFill>
                  </a:tcPr>
                </a:tc>
              </a:tr>
              <a:tr h="652272">
                <a:tc>
                  <a:txBody>
                    <a:bodyPr wrap="square"/>
                    <a:lstStyle/>
                    <a:p>
                      <a:r>
                        <a:rPr sz="1600" b="1">
                          <a:solidFill>
                            <a:srgbClr val="1F2A44"/>
                          </a:solidFill>
                          <a:latin typeface="Arial"/>
                          <a:ea typeface="Microsoft YaHei"/>
                        </a:rPr>
                        <a:t>Questions</a:t>
                      </a:r>
                    </a:p>
                  </a:txBody>
                  <a:tcPr anchor="ctr">
                    <a:solidFill>
                      <a:srgbClr val="FFEFD9"/>
                    </a:solidFill>
                  </a:tcPr>
                </a:tc>
                <a:tc>
                  <a:txBody>
                    <a:bodyPr wrap="square"/>
                    <a:lstStyle/>
                    <a:p>
                      <a:r>
                        <a:rPr sz="1600" b="0">
                          <a:solidFill>
                            <a:srgbClr val="1F2A44"/>
                          </a:solidFill>
                          <a:latin typeface="Arial"/>
                          <a:ea typeface="Microsoft YaHei"/>
                        </a:rPr>
                        <a:t>Before we close, does anyone have any final questions? ★</a:t>
                      </a:r>
                    </a:p>
                  </a:txBody>
                  <a:tcPr anchor="ctr">
                    <a:solidFill>
                      <a:srgbClr val="FFEFD9"/>
                    </a:solidFill>
                  </a:tcPr>
                </a:tc>
              </a:tr>
              <a:tr h="408432">
                <a:tc>
                  <a:txBody>
                    <a:bodyPr wrap="square"/>
                    <a:lstStyle/>
                    <a:p>
                      <a:r>
                        <a:rPr sz="1600" b="1">
                          <a:solidFill>
                            <a:srgbClr val="1F2A44"/>
                          </a:solidFill>
                          <a:latin typeface="Arial"/>
                          <a:ea typeface="Microsoft YaHei"/>
                        </a:rPr>
                        <a:t>Summarize</a:t>
                      </a:r>
                    </a:p>
                  </a:txBody>
                  <a:tcPr anchor="ctr">
                    <a:solidFill>
                      <a:srgbClr val="FFFFFF"/>
                    </a:solidFill>
                  </a:tcPr>
                </a:tc>
                <a:tc>
                  <a:txBody>
                    <a:bodyPr wrap="square"/>
                    <a:lstStyle/>
                    <a:p>
                      <a:r>
                        <a:rPr sz="1600" b="0">
                          <a:solidFill>
                            <a:srgbClr val="1F2A44"/>
                          </a:solidFill>
                          <a:latin typeface="Arial"/>
                          <a:ea typeface="Microsoft YaHei"/>
                        </a:rPr>
                        <a:t>To sum up, … / Let me recap what we’ve agreed. ★</a:t>
                      </a:r>
                    </a:p>
                  </a:txBody>
                  <a:tcPr anchor="ctr">
                    <a:solidFill>
                      <a:srgbClr val="FFFFFF"/>
                    </a:solidFill>
                  </a:tcPr>
                </a:tc>
              </a:tr>
              <a:tr h="408432">
                <a:tc>
                  <a:txBody>
                    <a:bodyPr wrap="square"/>
                    <a:lstStyle/>
                    <a:p>
                      <a:r>
                        <a:rPr sz="1600" b="1">
                          <a:solidFill>
                            <a:srgbClr val="1F2A44"/>
                          </a:solidFill>
                          <a:latin typeface="Arial"/>
                          <a:ea typeface="Microsoft YaHei"/>
                        </a:rPr>
                        <a:t>Actions</a:t>
                      </a:r>
                    </a:p>
                  </a:txBody>
                  <a:tcPr anchor="ctr">
                    <a:solidFill>
                      <a:srgbClr val="FFEFD9"/>
                    </a:solidFill>
                  </a:tcPr>
                </a:tc>
                <a:tc>
                  <a:txBody>
                    <a:bodyPr wrap="square"/>
                    <a:lstStyle/>
                    <a:p>
                      <a:r>
                        <a:rPr sz="1600" b="0">
                          <a:solidFill>
                            <a:srgbClr val="1F2A44"/>
                          </a:solidFill>
                          <a:latin typeface="Arial"/>
                          <a:ea typeface="Microsoft YaHei"/>
                        </a:rPr>
                        <a:t>Dan will … by Friday. / The action points are…</a:t>
                      </a:r>
                    </a:p>
                  </a:txBody>
                  <a:tcPr anchor="ctr">
                    <a:solidFill>
                      <a:srgbClr val="FFEFD9"/>
                    </a:solidFill>
                  </a:tcPr>
                </a:tc>
              </a:tr>
            </a:tbl>
          </a:graphicData>
        </a:graphic>
      </p:graphicFrame>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Video-conference language: closing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结束用语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Minutes</a:t>
                      </a:r>
                    </a:p>
                  </a:txBody>
                  <a:tcPr anchor="ctr">
                    <a:solidFill>
                      <a:srgbClr val="FFFFFF"/>
                    </a:solidFill>
                  </a:tcPr>
                </a:tc>
                <a:tc>
                  <a:txBody>
                    <a:bodyPr wrap="square"/>
                    <a:lstStyle/>
                    <a:p>
                      <a:r>
                        <a:rPr sz="1600" b="0">
                          <a:solidFill>
                            <a:srgbClr val="1F2A44"/>
                          </a:solidFill>
                          <a:latin typeface="Arial"/>
                          <a:ea typeface="Microsoft YaHei"/>
                        </a:rPr>
                        <a:t>I’ll send out the minutes by tomorrow noon.</a:t>
                      </a:r>
                    </a:p>
                  </a:txBody>
                  <a:tcPr anchor="ctr">
                    <a:solidFill>
                      <a:srgbClr val="FFFFFF"/>
                    </a:solidFill>
                  </a:tcPr>
                </a:tc>
              </a:tr>
              <a:tr h="408432">
                <a:tc>
                  <a:txBody>
                    <a:bodyPr wrap="square"/>
                    <a:lstStyle/>
                    <a:p>
                      <a:r>
                        <a:rPr sz="1600" b="1">
                          <a:solidFill>
                            <a:srgbClr val="1F2A44"/>
                          </a:solidFill>
                          <a:latin typeface="Arial"/>
                          <a:ea typeface="Microsoft YaHei"/>
                        </a:rPr>
                        <a:t>Next</a:t>
                      </a:r>
                    </a:p>
                  </a:txBody>
                  <a:tcPr anchor="ctr">
                    <a:solidFill>
                      <a:srgbClr val="FFEFD9"/>
                    </a:solidFill>
                  </a:tcPr>
                </a:tc>
                <a:tc>
                  <a:txBody>
                    <a:bodyPr wrap="square"/>
                    <a:lstStyle/>
                    <a:p>
                      <a:r>
                        <a:rPr sz="1600" b="0">
                          <a:solidFill>
                            <a:srgbClr val="1F2A44"/>
                          </a:solidFill>
                          <a:latin typeface="Arial"/>
                          <a:ea typeface="Microsoft YaHei"/>
                        </a:rPr>
                        <a:t>The next meeting is on…, same time. ★</a:t>
                      </a:r>
                    </a:p>
                  </a:txBody>
                  <a:tcPr anchor="ctr">
                    <a:solidFill>
                      <a:srgbClr val="FFEFD9"/>
                    </a:solidFill>
                  </a:tcPr>
                </a:tc>
              </a:tr>
              <a:tr h="652272">
                <a:tc>
                  <a:txBody>
                    <a:bodyPr wrap="square"/>
                    <a:lstStyle/>
                    <a:p>
                      <a:r>
                        <a:rPr sz="1600" b="1">
                          <a:solidFill>
                            <a:srgbClr val="1F2A44"/>
                          </a:solidFill>
                          <a:latin typeface="Arial"/>
                          <a:ea typeface="Microsoft YaHei"/>
                        </a:rPr>
                        <a:t>Thank</a:t>
                      </a:r>
                    </a:p>
                  </a:txBody>
                  <a:tcPr anchor="ctr">
                    <a:solidFill>
                      <a:srgbClr val="FFFFFF"/>
                    </a:solidFill>
                  </a:tcPr>
                </a:tc>
                <a:tc>
                  <a:txBody>
                    <a:bodyPr wrap="square"/>
                    <a:lstStyle/>
                    <a:p>
                      <a:r>
                        <a:rPr sz="1600" b="0">
                          <a:solidFill>
                            <a:srgbClr val="1F2A44"/>
                          </a:solidFill>
                          <a:latin typeface="Arial"/>
                          <a:ea typeface="Microsoft YaHei"/>
                        </a:rPr>
                        <a:t>Thank you all for joining. / Thanks for your input. ★</a:t>
                      </a:r>
                    </a:p>
                  </a:txBody>
                  <a:tcPr anchor="ctr">
                    <a:solidFill>
                      <a:srgbClr val="FFFFFF"/>
                    </a:solidFill>
                  </a:tcPr>
                </a:tc>
              </a:tr>
              <a:tr h="408432">
                <a:tc>
                  <a:txBody>
                    <a:bodyPr wrap="square"/>
                    <a:lstStyle/>
                    <a:p>
                      <a:r>
                        <a:rPr sz="1600" b="1">
                          <a:solidFill>
                            <a:srgbClr val="1F2A44"/>
                          </a:solidFill>
                          <a:latin typeface="Arial"/>
                          <a:ea typeface="Microsoft YaHei"/>
                        </a:rPr>
                        <a:t>Bye</a:t>
                      </a:r>
                    </a:p>
                  </a:txBody>
                  <a:tcPr anchor="ctr">
                    <a:solidFill>
                      <a:srgbClr val="FFEFD9"/>
                    </a:solidFill>
                  </a:tcPr>
                </a:tc>
                <a:tc>
                  <a:txBody>
                    <a:bodyPr wrap="square"/>
                    <a:lstStyle/>
                    <a:p>
                      <a:r>
                        <a:rPr sz="1600" b="0">
                          <a:solidFill>
                            <a:srgbClr val="1F2A44"/>
                          </a:solidFill>
                          <a:latin typeface="Arial"/>
                          <a:ea typeface="Microsoft YaHei"/>
                        </a:rPr>
                        <a:t>Have a good evening. / Bye for now.</a:t>
                      </a:r>
                    </a:p>
                  </a:txBody>
                  <a:tcPr anchor="ctr">
                    <a:solidFill>
                      <a:srgbClr val="FFEFD9"/>
                    </a:solidFill>
                  </a:tcPr>
                </a:tc>
              </a:tr>
            </a:tbl>
          </a:graphicData>
        </a:graphic>
      </p:graphicFrame>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Action-point template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行动项模板</a:t>
            </a:r>
          </a:p>
        </p:txBody>
      </p:sp>
      <p:graphicFrame>
        <p:nvGraphicFramePr>
          <p:cNvPr id="9" name="Table 8"/>
          <p:cNvGraphicFramePr>
            <a:graphicFrameLocks noGrp="1"/>
          </p:cNvGraphicFramePr>
          <p:nvPr/>
        </p:nvGraphicFramePr>
        <p:xfrm>
          <a:off x="548640" y="1417320"/>
          <a:ext cx="11094415" cy="2121408"/>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Who</a:t>
                      </a:r>
                    </a:p>
                  </a:txBody>
                  <a:tcPr anchor="ctr">
                    <a:solidFill>
                      <a:srgbClr val="3CC49A"/>
                    </a:solidFill>
                  </a:tcPr>
                </a:tc>
                <a:tc>
                  <a:txBody>
                    <a:bodyPr wrap="square"/>
                    <a:lstStyle/>
                    <a:p>
                      <a:r>
                        <a:rPr sz="1600" b="1">
                          <a:solidFill>
                            <a:srgbClr val="FFFFFF"/>
                          </a:solidFill>
                          <a:latin typeface="Arial"/>
                          <a:ea typeface="Microsoft YaHei"/>
                        </a:rPr>
                        <a:t>What</a:t>
                      </a:r>
                    </a:p>
                  </a:txBody>
                  <a:tcPr anchor="ctr">
                    <a:solidFill>
                      <a:srgbClr val="3CC49A"/>
                    </a:solidFill>
                  </a:tcPr>
                </a:tc>
                <a:tc>
                  <a:txBody>
                    <a:bodyPr wrap="square"/>
                    <a:lstStyle/>
                    <a:p>
                      <a:r>
                        <a:rPr sz="1600" b="1">
                          <a:solidFill>
                            <a:srgbClr val="FFFFFF"/>
                          </a:solidFill>
                          <a:latin typeface="Arial"/>
                          <a:ea typeface="Microsoft YaHei"/>
                        </a:rPr>
                        <a:t>By when</a:t>
                      </a:r>
                    </a:p>
                  </a:txBody>
                  <a:tcPr anchor="ctr">
                    <a:solidFill>
                      <a:srgbClr val="3CC49A"/>
                    </a:solidFill>
                  </a:tcPr>
                </a:tc>
              </a:tr>
              <a:tr h="408432">
                <a:tc>
                  <a:txBody>
                    <a:bodyPr wrap="square"/>
                    <a:lstStyle/>
                    <a:p>
                      <a:r>
                        <a:rPr sz="1600" b="1">
                          <a:solidFill>
                            <a:srgbClr val="1F2A44"/>
                          </a:solidFill>
                          <a:latin typeface="Arial"/>
                          <a:ea typeface="Microsoft YaHei"/>
                        </a:rPr>
                        <a:t>Dan</a:t>
                      </a:r>
                    </a:p>
                  </a:txBody>
                  <a:tcPr anchor="ctr">
                    <a:solidFill>
                      <a:srgbClr val="FFFFFF"/>
                    </a:solidFill>
                  </a:tcPr>
                </a:tc>
                <a:tc>
                  <a:txBody>
                    <a:bodyPr wrap="square"/>
                    <a:lstStyle/>
                    <a:p>
                      <a:r>
                        <a:rPr sz="1600" b="0">
                          <a:solidFill>
                            <a:srgbClr val="1F2A44"/>
                          </a:solidFill>
                          <a:latin typeface="Arial"/>
                          <a:ea typeface="Microsoft YaHei"/>
                        </a:rPr>
                        <a:t>Hire two temporary testers</a:t>
                      </a:r>
                    </a:p>
                  </a:txBody>
                  <a:tcPr anchor="ctr">
                    <a:solidFill>
                      <a:srgbClr val="FFFFFF"/>
                    </a:solidFill>
                  </a:tcPr>
                </a:tc>
                <a:tc>
                  <a:txBody>
                    <a:bodyPr wrap="square"/>
                    <a:lstStyle/>
                    <a:p>
                      <a:r>
                        <a:rPr sz="1600" b="0">
                          <a:solidFill>
                            <a:srgbClr val="1F2A44"/>
                          </a:solidFill>
                          <a:latin typeface="Arial"/>
                          <a:ea typeface="Microsoft YaHei"/>
                        </a:rPr>
                        <a:t>Friday</a:t>
                      </a:r>
                    </a:p>
                  </a:txBody>
                  <a:tcPr anchor="ctr">
                    <a:solidFill>
                      <a:srgbClr val="FFFFFF"/>
                    </a:solidFill>
                  </a:tcPr>
                </a:tc>
              </a:tr>
              <a:tr h="652272">
                <a:tc>
                  <a:txBody>
                    <a:bodyPr wrap="square"/>
                    <a:lstStyle/>
                    <a:p>
                      <a:r>
                        <a:rPr sz="1600" b="1">
                          <a:solidFill>
                            <a:srgbClr val="1F2A44"/>
                          </a:solidFill>
                          <a:latin typeface="Arial"/>
                          <a:ea typeface="Microsoft YaHei"/>
                        </a:rPr>
                        <a:t>Sophie</a:t>
                      </a:r>
                    </a:p>
                  </a:txBody>
                  <a:tcPr anchor="ctr">
                    <a:solidFill>
                      <a:srgbClr val="FFEFD9"/>
                    </a:solidFill>
                  </a:tcPr>
                </a:tc>
                <a:tc>
                  <a:txBody>
                    <a:bodyPr wrap="square"/>
                    <a:lstStyle/>
                    <a:p>
                      <a:r>
                        <a:rPr sz="1600" b="0">
                          <a:solidFill>
                            <a:srgbClr val="1F2A44"/>
                          </a:solidFill>
                          <a:latin typeface="Arial"/>
                          <a:ea typeface="Microsoft YaHei"/>
                        </a:rPr>
                        <a:t>Talk to the supplier about partial delivery</a:t>
                      </a:r>
                    </a:p>
                  </a:txBody>
                  <a:tcPr anchor="ctr">
                    <a:solidFill>
                      <a:srgbClr val="FFEFD9"/>
                    </a:solidFill>
                  </a:tcPr>
                </a:tc>
                <a:tc>
                  <a:txBody>
                    <a:bodyPr wrap="square"/>
                    <a:lstStyle/>
                    <a:p>
                      <a:r>
                        <a:rPr sz="1600" b="0">
                          <a:solidFill>
                            <a:srgbClr val="1F2A44"/>
                          </a:solidFill>
                          <a:latin typeface="Arial"/>
                          <a:ea typeface="Microsoft YaHei"/>
                        </a:rPr>
                        <a:t>Wednesday</a:t>
                      </a:r>
                    </a:p>
                  </a:txBody>
                  <a:tcPr anchor="ctr">
                    <a:solidFill>
                      <a:srgbClr val="FFEFD9"/>
                    </a:solidFill>
                  </a:tcPr>
                </a:tc>
              </a:tr>
              <a:tr h="652272">
                <a:tc>
                  <a:txBody>
                    <a:bodyPr wrap="square"/>
                    <a:lstStyle/>
                    <a:p>
                      <a:r>
                        <a:rPr sz="1600" b="1">
                          <a:solidFill>
                            <a:srgbClr val="1F2A44"/>
                          </a:solidFill>
                          <a:latin typeface="Arial"/>
                          <a:ea typeface="Microsoft YaHei"/>
                        </a:rPr>
                        <a:t>Li Wei</a:t>
                      </a:r>
                    </a:p>
                  </a:txBody>
                  <a:tcPr anchor="ctr">
                    <a:solidFill>
                      <a:srgbClr val="FFFFFF"/>
                    </a:solidFill>
                  </a:tcPr>
                </a:tc>
                <a:tc>
                  <a:txBody>
                    <a:bodyPr wrap="square"/>
                    <a:lstStyle/>
                    <a:p>
                      <a:r>
                        <a:rPr sz="1600" b="0">
                          <a:solidFill>
                            <a:srgbClr val="1F2A44"/>
                          </a:solidFill>
                          <a:latin typeface="Arial"/>
                          <a:ea typeface="Microsoft YaHei"/>
                        </a:rPr>
                        <a:t>Update the timeline; send the minutes</a:t>
                      </a:r>
                    </a:p>
                  </a:txBody>
                  <a:tcPr anchor="ctr">
                    <a:solidFill>
                      <a:srgbClr val="FFFFFF"/>
                    </a:solidFill>
                  </a:tcPr>
                </a:tc>
                <a:tc>
                  <a:txBody>
                    <a:bodyPr wrap="square"/>
                    <a:lstStyle/>
                    <a:p>
                      <a:r>
                        <a:rPr sz="1600" b="0">
                          <a:solidFill>
                            <a:srgbClr val="1F2A44"/>
                          </a:solidFill>
                          <a:latin typeface="Arial"/>
                          <a:ea typeface="Microsoft YaHei"/>
                        </a:rPr>
                        <a:t>Tomorrow noon</a:t>
                      </a:r>
                    </a:p>
                  </a:txBody>
                  <a:tcPr anchor="ctr">
                    <a:solidFill>
                      <a:srgbClr val="FFFFFF"/>
                    </a:solidFill>
                  </a:tcPr>
                </a:tc>
              </a:tr>
            </a:tbl>
          </a:graphicData>
        </a:graphic>
      </p:graphicFrame>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Action-point template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行动项模板</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Will + verb: </a:t>
            </a:r>
            <a:r>
              <a:rPr sz="1700" b="0">
                <a:solidFill>
                  <a:srgbClr val="1F2A44"/>
                </a:solidFill>
                <a:latin typeface="Arial"/>
                <a:ea typeface="Microsoft YaHei"/>
              </a:rPr>
              <a:t>“Dan will send the plan by Friday.” (decision/promise)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Be responsible for: </a:t>
            </a:r>
            <a:r>
              <a:rPr sz="1700" b="0">
                <a:solidFill>
                  <a:srgbClr val="1F2A44"/>
                </a:solidFill>
                <a:latin typeface="Arial"/>
                <a:ea typeface="Microsoft YaHei"/>
              </a:rPr>
              <a:t>“Sophie is responsible for the supplier.”</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By + deadline: </a:t>
            </a:r>
            <a:r>
              <a:rPr sz="1700" b="0">
                <a:solidFill>
                  <a:srgbClr val="1F2A44"/>
                </a:solidFill>
                <a:latin typeface="Arial"/>
                <a:ea typeface="Microsoft YaHei"/>
              </a:rPr>
              <a:t>“by Friday” means “on or before Friday”.</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Minutes: </a:t>
            </a:r>
            <a:r>
              <a:rPr sz="1700" b="0">
                <a:solidFill>
                  <a:srgbClr val="1F2A44"/>
                </a:solidFill>
                <a:latin typeface="Arial"/>
                <a:ea typeface="Microsoft YaHei"/>
              </a:rPr>
              <a:t>a short record of what was decided: date, attendees, decisions, actions.</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Thanks for your attention. (to a meeting)</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all for joining. / Thanks for your input.</a:t>
            </a:r>
          </a:p>
          <a:p>
            <a:pPr algn="l">
              <a:spcAft>
                <a:spcPts val="200"/>
              </a:spcAft>
            </a:pPr>
            <a:r>
              <a:rPr sz="1200" b="0">
                <a:solidFill>
                  <a:srgbClr val="FFFFFF"/>
                </a:solidFill>
                <a:latin typeface="Arial"/>
                <a:ea typeface="Microsoft YaHei"/>
              </a:rPr>
              <a:t>attention 是演讲结束语</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meeting end now.</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wrap up. / That brings us to the end.</a:t>
            </a:r>
          </a:p>
          <a:p>
            <a:pPr algn="l">
              <a:spcAft>
                <a:spcPts val="200"/>
              </a:spcAft>
            </a:pPr>
            <a:r>
              <a:rPr sz="1200" b="0">
                <a:solidFill>
                  <a:srgbClr val="FFFFFF"/>
                </a:solidFill>
                <a:latin typeface="Arial"/>
                <a:ea typeface="Microsoft YaHei"/>
              </a:rPr>
              <a:t>完整句子</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We’ll meet next time.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next meeting is on Thursday.</a:t>
            </a:r>
          </a:p>
          <a:p>
            <a:pPr algn="l">
              <a:spcAft>
                <a:spcPts val="200"/>
              </a:spcAft>
            </a:pPr>
            <a:r>
              <a:rPr sz="1200" b="0">
                <a:solidFill>
                  <a:srgbClr val="FFFFFF"/>
                </a:solidFill>
                <a:latin typeface="Arial"/>
                <a:ea typeface="Microsoft YaHei"/>
              </a:rPr>
              <a:t>具体时间</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Now I’ll make a summary.</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To sum up, … / Let me recap…</a:t>
            </a:r>
          </a:p>
          <a:p>
            <a:pPr algn="l">
              <a:spcAft>
                <a:spcPts val="200"/>
              </a:spcAft>
            </a:pPr>
            <a:r>
              <a:rPr sz="1200" b="0">
                <a:solidFill>
                  <a:srgbClr val="FFFFFF"/>
                </a:solidFill>
                <a:latin typeface="Arial"/>
                <a:ea typeface="Microsoft YaHei"/>
              </a:rPr>
              <a:t>惯用语</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Dan will to send it.</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Dan will send it.</a:t>
            </a:r>
          </a:p>
          <a:p>
            <a:pPr algn="l">
              <a:spcAft>
                <a:spcPts val="200"/>
              </a:spcAft>
            </a:pPr>
            <a:r>
              <a:rPr sz="1200" b="0">
                <a:solidFill>
                  <a:srgbClr val="FFFFFF"/>
                </a:solidFill>
                <a:latin typeface="Arial"/>
                <a:ea typeface="Microsoft YaHei"/>
              </a:rPr>
              <a:t>will 后不加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will send it in Friday.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will send it by Friday.</a:t>
            </a:r>
          </a:p>
          <a:p>
            <a:pPr algn="l">
              <a:spcAft>
                <a:spcPts val="200"/>
              </a:spcAft>
            </a:pPr>
            <a:r>
              <a:rPr sz="1200" b="0">
                <a:solidFill>
                  <a:srgbClr val="FFFFFF"/>
                </a:solidFill>
                <a:latin typeface="Arial"/>
                <a:ea typeface="Microsoft YaHei"/>
              </a:rPr>
              <a:t>by + 期限</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 responsible for this?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Who’s responsible for this?</a:t>
            </a:r>
          </a:p>
          <a:p>
            <a:pPr algn="l">
              <a:spcAft>
                <a:spcPts val="200"/>
              </a:spcAft>
            </a:pPr>
            <a:r>
              <a:rPr sz="1200" b="0">
                <a:solidFill>
                  <a:srgbClr val="FFFFFF"/>
                </a:solidFill>
                <a:latin typeface="Arial"/>
                <a:ea typeface="Microsoft YaHei"/>
              </a:rPr>
              <a:t>be 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send the minutes tomorrow.</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send the minutes tomorrow.</a:t>
            </a:r>
          </a:p>
          <a:p>
            <a:pPr algn="l">
              <a:spcAft>
                <a:spcPts val="200"/>
              </a:spcAft>
            </a:pPr>
            <a:r>
              <a:rPr sz="1200" b="0">
                <a:solidFill>
                  <a:srgbClr val="FFFFFF"/>
                </a:solidFill>
                <a:latin typeface="Arial"/>
                <a:ea typeface="Microsoft YaHei"/>
              </a:rPr>
              <a:t>决定用 will</a:t>
            </a:r>
          </a:p>
        </p:txBody>
      </p:sp>
      <p:sp>
        <p:nvSpPr>
          <p:cNvPr id="15" name="Rounded Rectangle 14"/>
          <p:cNvSpPr/>
          <p:nvPr/>
        </p:nvSpPr>
        <p:spPr>
          <a:xfrm>
            <a:off x="548640" y="356615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Any questions? No? OK, bye.</a:t>
            </a:r>
          </a:p>
        </p:txBody>
      </p:sp>
      <p:sp>
        <p:nvSpPr>
          <p:cNvPr id="16" name="Rounded Rectangle 15"/>
          <p:cNvSpPr/>
          <p:nvPr/>
        </p:nvSpPr>
        <p:spPr>
          <a:xfrm>
            <a:off x="6187287" y="356615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Does anyone have any final questions? … Thank you all.</a:t>
            </a:r>
          </a:p>
          <a:p>
            <a:pPr algn="l">
              <a:spcAft>
                <a:spcPts val="200"/>
              </a:spcAft>
            </a:pPr>
            <a:r>
              <a:rPr sz="1200" b="0">
                <a:solidFill>
                  <a:srgbClr val="FFFFFF"/>
                </a:solidFill>
                <a:latin typeface="Arial"/>
                <a:ea typeface="Microsoft YaHei"/>
              </a:rPr>
              <a:t>不要太突然</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recieve / seperate</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receive / separate</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will + base verb (no “to”), by Friday (deadline), Who’s responsible for…, and Thank you all for joining (not for your attention).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End on time. Finishing on time or a little early is appreciated. “We’re out of time, let’s continue in the next meeting” is acceptable.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Say thank you. A short thank-you is expected even for routine meetings.</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0">
                <a:solidFill>
                  <a:srgbClr val="1F2A44"/>
                </a:solidFill>
                <a:latin typeface="Arial"/>
                <a:ea typeface="Microsoft YaHei"/>
              </a:rPr>
              <a:t>Write it down. Minutes and action points protect everyone. A short email within 24 hours is the norm.</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Leave room for last questions. Many people don’t speak until the end. “Any last questions?” invites them.</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Hang up politely. On video calls, say goodbye, wave, and wait a second before leaving. Don’t just disappear.</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signal the end of a meeting (We’re running out of time. Let’s wrap up.).</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summarize decisions with To sum up… and Let me recap….</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state action points with who, what and when (Dan will… by Friday).</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agree the next meeting and say who will send the minutes.</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thank participants and say goodbye professionally.</a:t>
            </a:r>
          </a:p>
        </p:txBody>
      </p:sp>
      <p:sp>
        <p:nvSpPr>
          <p:cNvPr id="28" name="TextBox 27"/>
          <p:cNvSpPr txBox="1"/>
          <p:nvPr/>
        </p:nvSpPr>
        <p:spPr>
          <a:xfrm>
            <a:off x="9539935" y="4812792"/>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 · Lesson 31 Ending the video conference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will + base verb, by + deadline, Who’s responsible for, and spelling (receive, separate).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To sum up, …</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To sum up, we’ll go with option B.</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Can everyone see my screen?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Can everyone see my screen?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我们在……上遇到了问题</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We’ve run into a problem with…</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我们议程上有三项</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have three items on the agenda.</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丹将在周五前……</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Dan will… by Friday.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 sorry for late.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sorry I’m late. / Sorry for being late.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“你能共享屏幕吗?”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share your screen?</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“我们可以……/ 我们为什么不……?”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could… / Why don’t we…?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“大家能看到我的屏幕吗?”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 everyone see my screen?</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It’s your fault.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There seems to be a problem with the process.</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We should discuss about the problem.</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should discuss the problem.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7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