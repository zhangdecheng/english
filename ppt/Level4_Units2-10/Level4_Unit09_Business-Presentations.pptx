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9: Business Presentations — Self-Study Workbook (Lessons 35–36)</a:t>
            </a:r>
          </a:p>
          <a:p/>
          <a:p>
            <a:r>
              <a:t>开场：简单介绍本单元的主题和要完成的 2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35 · The presentation 演讲</a:t>
            </a:r>
          </a:p>
          <a:p>
            <a:r>
              <a:t>Goal: prepare and deliver a clear 3–5 minute business presentation: open with a hook, state the purpose and structure, signpost each section, describe slides and trends, emphasize key points, and close with a summary and a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题讲过去的事,请用过去式(gave, went, felt)。第 3 题可以说 “A good presentation is… because…”。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one-minute presentation on your company, a product, or a plan.</a:t>
            </a:r>
          </a:p>
          <a:p>
            <a:r>
              <a:t>Say: greet and introduce yourself → say the topic and the structure → main point 1 → main point 2 → summary and thanks.</a:t>
            </a:r>
          </a:p>
          <a:p>
            <a:r>
              <a:t>Useful starters: “Good morning, everyone. My name is… and today I’d like to talk about…” / “My presentation has three parts.” / “Let’s move on to…” / “To sum up, …”</a:t>
            </a:r>
          </a:p>
          <a:p>
            <a:r>
              <a:t>开场 3 步:问好 → 主题与目的 → 结构(分几部分)。每部分之间用路标语言:First…, Next…, Finally…。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structure 开场与结构</a:t>
            </a:r>
          </a:p>
          <a:p>
            <a:r>
              <a:t>领读 → 学员跟读 → 请学员用表达造一个和自己工作相关的句子。</a:t>
            </a:r>
          </a:p>
          <a:p>
            <a:r>
              <a:t>Good morning, everyone. Thank you for coming. (phrase) 大家早上好,感谢到场 — “Good morning, everyone. Thank you for coming.”</a:t>
            </a:r>
          </a:p>
          <a:p>
            <a:r>
              <a:t>Today I’d like to talk about… (phrase) 今天我想谈谈…… — “Today I’d like to talk about our plan for next year.”</a:t>
            </a:r>
          </a:p>
          <a:p>
            <a:r>
              <a:t>The purpose of my presentation is to… (phrase) 我这次演讲的目的是…… — “The purpose of my presentation is to show you our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structure 开场与结构</a:t>
            </a:r>
          </a:p>
          <a:p>
            <a:r>
              <a:t>领读 → 学员跟读 → 请学员用表达造一个和自己工作相关的句子。</a:t>
            </a:r>
          </a:p>
          <a:p>
            <a:r>
              <a:t>★ I’ll start by looking at…, then move on to… (phrase) 我先谈……,然后讲…… — “I’ll start by looking at last year’s results, then move on to our plan.”</a:t>
            </a:r>
          </a:p>
          <a:p>
            <a:r>
              <a:t>★ Feel free to interrupt me at any time. (phrase) 请随时打断我 —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Signposting and visuals 过渡与图表</a:t>
            </a:r>
          </a:p>
          <a:p>
            <a:r>
              <a:t>领读 → 学员跟读 → 请学员用表达造一个和自己工作相关的句子。</a:t>
            </a:r>
          </a:p>
          <a:p>
            <a:r>
              <a:t>Let’s move on to… / Turning to… (phrase) 接下来谈…… — “Turning to our second point: costs.”</a:t>
            </a:r>
          </a:p>
          <a:p>
            <a:r>
              <a:t>As you can see on this slide, … (phrase) 如这张幻灯片所示,…… — “As you can see on this slide, sales rose by 10%.”</a:t>
            </a:r>
          </a:p>
          <a:p>
            <a:r>
              <a:t>★ Let me draw your attention to… (phrase) 请大家注意…… — “Let me draw your attention to the red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Signposting and visuals 过渡与图表</a:t>
            </a:r>
          </a:p>
          <a:p>
            <a:r>
              <a:t>领读 → 学员跟读 → 请学员用表达造一个和自己工作相关的句子。</a:t>
            </a:r>
          </a:p>
          <a:p>
            <a:r>
              <a:t>The graph / chart shows… (phrase) 这张图表显示…… — “The graph shows a steady rise since March.”</a:t>
            </a:r>
          </a:p>
          <a:p>
            <a:r>
              <a:t>★ What’s important here is… (phrase) 这里重要的是…… — “What’s important here is that costs stayed the same.”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Closing 结尾</a:t>
            </a:r>
          </a:p>
          <a:p>
            <a:r>
              <a:t>领读 → 学员跟读 → 请学员用表达造一个和自己工作相关的句子。</a:t>
            </a:r>
          </a:p>
          <a:p>
            <a:r>
              <a:t>To sum up, … / In summary, … (phrase) 总结一下,…… — “To sum up, we’ve had a strong year.”</a:t>
            </a:r>
          </a:p>
          <a:p>
            <a:r>
              <a:t>★ The key takeaway is… (phrase) 关键要点是…… — “The key takeaway is that we need to act now.”</a:t>
            </a:r>
          </a:p>
          <a:p>
            <a:r>
              <a:t>★ I’d like to leave you with one thought. (phrase) 我想给大家留下一点思考 — “I’d like to leave you with one thought: timing matters.”</a:t>
            </a:r>
          </a:p>
          <a:p>
            <a:r>
              <a:t>Thank you for your attention. (phrase) 感谢您的聆听 — “Thank you for your attention. Are there any questions?”</a:t>
            </a:r>
          </a:p>
          <a:p>
            <a:r>
              <a:t>★ I’d be happy to take any questions. (phrase) 我很乐意回答问题 — “I’d be happy to take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coming / see / attention / purpose / on / up</a:t>
            </a:r>
          </a:p>
          <a:p>
            <a:r>
              <a:t>1. Good morning, everyone. Thank you for _______. → coming</a:t>
            </a:r>
          </a:p>
          <a:p>
            <a:r>
              <a:t>2. The _______ of my presentation is to show you our results. → purpose</a:t>
            </a:r>
          </a:p>
          <a:p>
            <a:r>
              <a:t>3. Let’s move _______ to our second point. → on</a:t>
            </a:r>
          </a:p>
          <a:p>
            <a:r>
              <a:t>4. As you can _______ on this slide, sales rose by 10%. → see</a:t>
            </a:r>
          </a:p>
          <a:p>
            <a:r>
              <a:t>5. To sum _______, we’ve had a strong year. → up</a:t>
            </a:r>
          </a:p>
          <a:p>
            <a:r>
              <a:t>6. Thank you for your _______. Are there any questions? → attention</a:t>
            </a:r>
          </a:p>
          <a:p>
            <a:r>
              <a:t>Mistake Watch (拼写与结构): presentation (not “presention”), purpose, audience (not “audiance”), signpost. Say “give a presentation” (not “do” or “make”). Slides (not “PPT” in speech).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and structure of a presentation 演讲开场与结构</a:t>
            </a:r>
          </a:p>
          <a:p>
            <a:r>
              <a:t>情景：You present your department’s annual results to the management team. Here is the model opening and the first section.</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that’s my opening. How was it?</a:t>
            </a:r>
          </a:p>
          <a:p>
            <a:r>
              <a:t>B (Dan): It was clear. The structure at the start really helped me follow.</a:t>
            </a:r>
          </a:p>
          <a:p>
            <a:r>
              <a:t>A: Thanks. Was it too fast?</a:t>
            </a:r>
          </a:p>
          <a:p>
            <a:r>
              <a:t>B: A little. Try to pause after “three parts” and after each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OK. Anything else?</a:t>
            </a:r>
          </a:p>
          <a:p>
            <a:r>
              <a:t>B: Look at the audience more. You looked at the screen when you said “the blue line”.</a:t>
            </a:r>
          </a:p>
          <a:p>
            <a:r>
              <a:t>A: You’re right. I’ll practise looking up.</a:t>
            </a:r>
          </a:p>
          <a:p>
            <a:r>
              <a:t>B: And end with the key takeaway before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65 | </a:t>
            </a:r>
          </a:p>
          <a:p>
            <a:r>
              <a:t>Situation | You give the opening of a short business presentation.</a:t>
            </a:r>
          </a:p>
          <a:p>
            <a:r>
              <a:t>Your role | Presenter. Topic: ______________</a:t>
            </a:r>
          </a:p>
          <a:p>
            <a:r>
              <a:t>Audience | A colleague or a recording on your phone.</a:t>
            </a:r>
          </a:p>
          <a:p>
            <a:r>
              <a:t>Must use (4 or more) | Today I’d like to talk about… · My presentation has three parts. · Let’s move on to… · As you can see on this slide, … · To sum up, …</a:t>
            </a:r>
          </a:p>
          <a:p>
            <a:r>
              <a:t>Goal | A 1–2 minute opening and first section with clear signposting.</a:t>
            </a:r>
          </a:p>
          <a:p>
            <a:r>
              <a:t>My notes | ____________________________________________</a:t>
            </a:r>
          </a:p>
          <a:p>
            <a:r>
              <a:t>Start with a question: “How many of you have waited more than ten minutes for a lift?”</a:t>
            </a:r>
          </a:p>
          <a:p>
            <a:r>
              <a:t>Start with a surprising fact: “Last year we lost 20% of our customers in just three months.”</a:t>
            </a:r>
          </a:p>
          <a:p>
            <a:r>
              <a:t>Add a clear closing line: “The key takeaway is that…”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chart and rehearsing 描述图表并排练</a:t>
            </a:r>
          </a:p>
          <a:p>
            <a:r>
              <a:t>情景：You rehearse the data section of your presentation with a colleague who gives feedback.</a:t>
            </a:r>
          </a:p>
          <a:p>
            <a:r>
              <a:t>Role A: Li Wei, presenter Role B: Sophie Zhou, coach</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Let me draw your attention to the graph. Sales rose steadily from January to July, and peaked at 2.4 million yuan in July. After that, they levelled off.</a:t>
            </a:r>
          </a:p>
          <a:p>
            <a:r>
              <a:t>B (Sophie): Good. Can you say why they levelled off?</a:t>
            </a:r>
          </a:p>
          <a:p>
            <a:r>
              <a:t>A: Yes, because our main customer reduced its orders in August. What’s important here is that we signed two new customers in September.</a:t>
            </a:r>
          </a:p>
          <a:p>
            <a:r>
              <a:t>B: That’s a strong point. Say it more slowly, and pause before the key number.</a:t>
            </a:r>
          </a:p>
          <a:p>
            <a:r>
              <a:t>A: OK. “Sales peaked at … 2.4 million yuan … in July.”</a:t>
            </a:r>
          </a:p>
          <a:p>
            <a:r>
              <a:t>B: Better. Also, don’t read the slide. The audience can read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I should explain the story, not the words.</a:t>
            </a:r>
          </a:p>
          <a:p>
            <a:r>
              <a:t>B: Exactly. And keep each slide to one message.</a:t>
            </a:r>
          </a:p>
          <a:p>
            <a:r>
              <a:t>A: Got it. What about my ending?</a:t>
            </a:r>
          </a:p>
          <a:p>
            <a:r>
              <a:t>B: Try “To sum up, we’ve had a strong year, and the key takeaway is that we’re ready to grow.” Then say thank you.</a:t>
            </a:r>
          </a:p>
          <a:p>
            <a:r>
              <a:t>A: That’s good. Thanks for the feedback.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66 | </a:t>
            </a:r>
          </a:p>
          <a:p>
            <a:r>
              <a:t>Situation | You rehearse the chart section of your presentation.</a:t>
            </a:r>
          </a:p>
          <a:p>
            <a:r>
              <a:t>Your role (A) | Presenter. Describe a chart with 3 trend verbs.</a:t>
            </a:r>
          </a:p>
          <a:p>
            <a:r>
              <a:t>Partner’s role (B) | Coach. Gives feedback on speed, eye contact, clarity.</a:t>
            </a:r>
          </a:p>
          <a:p>
            <a:r>
              <a:t>Must use (4 or more) | The graph shows… · rose / fell by… · peaked at… · levelled off · What’s important here is…</a:t>
            </a:r>
          </a:p>
          <a:p>
            <a:r>
              <a:t>Goal | A clear 60-second chart description and 3 pieces of feedback.</a:t>
            </a:r>
          </a:p>
          <a:p>
            <a:r>
              <a:t>My notes | ____________________________________________</a:t>
            </a:r>
          </a:p>
          <a:p>
            <a:r>
              <a:t>Add a comparison: “Compared with last year, we’re up 5%.”</a:t>
            </a:r>
          </a:p>
          <a:p>
            <a:r>
              <a:t>Say what the audience should do: “I’d like us to approve the plan today.”</a:t>
            </a:r>
          </a:p>
          <a:p>
            <a:r>
              <a:t>Practise pausing 2 seconds after each number.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common mistakes in presentations? | “A common mistake is…” / “Many speakers read from the slides.”</a:t>
            </a:r>
          </a:p>
          <a:p>
            <a:r>
              <a:t>2. How can you reduce nervousness before a presentation? | “I prepare well and practise at least… times.” / “I breathe slowly and…”</a:t>
            </a:r>
          </a:p>
          <a:p>
            <a:r>
              <a:t>3. How many slides are enough for a 10-minute talk? | “I think… slides are enough because…” / “One slide per minute is a good rule.”</a:t>
            </a:r>
          </a:p>
          <a:p>
            <a:r>
              <a:t>4. Should you memorize your speech or use notes? | “I use notes because…” / “I memorize the first minute and then…”</a:t>
            </a:r>
          </a:p>
          <a:p>
            <a:r>
              <a:t>5. How do you keep an audience interested? | “I ask questions or use short stories.” / “I use examples and keep the slides simple.”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very common mistake is putting too much text on the slides and then reading it aloud. The audience reads faster than you speak, so they stop listening. Another mistake is not practising, so the speaker finishes too late. I try to use one message per slide, a few words, and a picture or a graph. Then I explain the story in my own words.”</a:t>
            </a:r>
          </a:p>
          <a:p>
            <a:r>
              <a:t>“put too much text on the slides” 注意 put + 名词 + on。“The audience reads faster than you speak” 是比较结构。“in my own words”(用自己的话)。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phrase bank 演讲句型库</a:t>
            </a:r>
          </a:p>
          <a:p>
            <a:r>
              <a:t>Part | Say this</a:t>
            </a:r>
          </a:p>
          <a:p>
            <a:r>
              <a:t>Greet | Good morning, everyone. Thank you for coming.</a:t>
            </a:r>
          </a:p>
          <a:p>
            <a:r>
              <a:t>Introduce | My name is… and I’m the … at …</a:t>
            </a:r>
          </a:p>
          <a:p>
            <a:r>
              <a:t>Topic | Today I’d like to talk about… / I’m going to talk about…</a:t>
            </a:r>
          </a:p>
          <a:p>
            <a:r>
              <a:t>Purpose | The purpose of my presentation is to…</a:t>
            </a:r>
          </a:p>
          <a:p>
            <a:r>
              <a:t>Structure ★ | My presentation has three parts. I’ll start by…, then move on to…, and finally…</a:t>
            </a:r>
          </a:p>
          <a:p>
            <a:r>
              <a:t>Questions | Feel free to interrupt. ★ / Please save your questions until the end.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phrase bank 演讲句型库</a:t>
            </a:r>
          </a:p>
          <a:p>
            <a:r>
              <a:t>Part | Say this</a:t>
            </a:r>
          </a:p>
          <a:p>
            <a:r>
              <a:t>Next point | Let’s move on to… / Turning to… / That brings me to…</a:t>
            </a:r>
          </a:p>
          <a:p>
            <a:r>
              <a:t>Slide | As you can see on this slide, … / The chart shows…</a:t>
            </a:r>
          </a:p>
          <a:p>
            <a:r>
              <a:t>Emphasis | What’s important here is… ★ / Let me draw your attention to… ★</a:t>
            </a:r>
          </a:p>
          <a:p>
            <a:r>
              <a:t>Summary | To sum up, … / The key takeaway is… ★</a:t>
            </a:r>
          </a:p>
          <a:p>
            <a:r>
              <a:t>Close | I’d like to leave you with one thought. ★ / Thank you for your attention.</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tips: voice and body 演讲技巧:声音与肢体</a:t>
            </a:r>
          </a:p>
          <a:p>
            <a:r>
              <a:t>Speed: about 120–140 words per minute. Slow down for numbers and key points.</a:t>
            </a:r>
          </a:p>
          <a:p>
            <a:r>
              <a:t>Pauses: stop for 1–2 seconds after the key point. It makes the audience pay attention.</a:t>
            </a:r>
          </a:p>
          <a:p>
            <a:r>
              <a:t>Stress: Stress the key word: “Sales rose by TEN percent.”</a:t>
            </a:r>
          </a:p>
          <a:p>
            <a:r>
              <a:t>Eye contact: Look at 3–4 people across the room, not at the screen.</a:t>
            </a:r>
          </a:p>
          <a:p>
            <a:r>
              <a:t>Hands: Open gestures; don’t put your hands in your pockets.</a:t>
            </a:r>
          </a:p>
          <a:p>
            <a:r>
              <a:t>Slides: one message per slide, a title that says the point (“Sales rose 12%” is better than “Sales”), pictures instead of paragraphs.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Signposting: guiding your audience 路标语言</a:t>
            </a:r>
          </a:p>
          <a:p>
            <a:r>
              <a:t>Function | Phrases</a:t>
            </a:r>
          </a:p>
          <a:p>
            <a:r>
              <a:t>Order | First, … Second, … Third, … Finally, …</a:t>
            </a:r>
          </a:p>
          <a:p>
            <a:r>
              <a:t>Move on | Let’s move on to… / Now let’s turn to… / That brings me to…</a:t>
            </a:r>
          </a:p>
          <a:p>
            <a:r>
              <a:t>Go back | As I mentioned earlier, … / Let me go back to…</a:t>
            </a:r>
          </a:p>
          <a:p>
            <a:r>
              <a:t>Look ahead | I’ll come back to this later. / More on that in a moment.</a:t>
            </a:r>
          </a:p>
          <a:p>
            <a:r>
              <a:t>Example | For example, … / Let me give you an example.</a:t>
            </a:r>
          </a:p>
          <a:p>
            <a:r>
              <a:t>Contrast | However, … / On the other hand, …</a:t>
            </a:r>
          </a:p>
          <a:p>
            <a:r>
              <a:t>Summarize | To sum up, … / In short, …</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Today I will introduce about our company.  →  ✓ Today I’d like to talk about our company. / I’ll introduce our company.  (introduce 后不加 about)</a:t>
            </a:r>
          </a:p>
          <a:p>
            <a:r>
              <a:t>✗ I will make a presentation.  →  ✓ I’m going to give a presentation.  (give a presentation)</a:t>
            </a:r>
          </a:p>
          <a:p>
            <a:r>
              <a:t>✗ Next, I will talk second.  →  ✓ Next, I’ll move on to my second point.  (完整的路标语)</a:t>
            </a:r>
          </a:p>
          <a:p>
            <a:r>
              <a:t>✗ In the following I will tell…  →  ✓ Let me start by looking at…  (不说 “in the following”)</a:t>
            </a:r>
          </a:p>
          <a:p>
            <a:r>
              <a:t>✗ Please look at this PPT.  →  ✓ As you can see on this slide, …  (口语用 slide)</a:t>
            </a:r>
          </a:p>
          <a:p>
            <a:r>
              <a:t>Mistake Watch: give a presentation, talk about (not “introduce about”), on this slide, Are there any questions?. Never apologize for your English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listening. (informal)  →  ✓ Thank you for your attention.  (正式场合)</a:t>
            </a:r>
          </a:p>
          <a:p>
            <a:r>
              <a:t>✗ I am very nervous, my English is bad. (at the start)  →  ✓ Good morning, everyone. Today I’d like to talk about…  (不要在开场为英语道歉)</a:t>
            </a:r>
          </a:p>
          <a:p>
            <a:r>
              <a:t>✗ The sales increase last year.  →  ✓ The sales increased last year.  (过去式)</a:t>
            </a:r>
          </a:p>
          <a:p>
            <a:r>
              <a:t>✗ Any question?  →  ✓ Are there any questions? / I’d be happy to take any questions.  (完整问句)</a:t>
            </a:r>
          </a:p>
          <a:p>
            <a:r>
              <a:t>✗ presention / audiance  →  ✓ presentation / audience  (拼写)</a:t>
            </a:r>
          </a:p>
          <a:p>
            <a:r>
              <a:t>Mistake Watch: give a presentation, talk about (not “introduce about”), on this slide, Are there any questions?. Never apologize for your English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Start with the audience, not with yourself. Say what is in it for them: “By the end of this talk, you’ll know how to cut costs by 10%.”</a:t>
            </a:r>
          </a:p>
          <a:p>
            <a:r>
              <a:t>Stories and humour help. In English-speaking cultures, a short personal story or light humour is common, but keep it relevant and respectful.</a:t>
            </a:r>
          </a:p>
          <a:p>
            <a:r>
              <a:t>Conclusion + call to action. Westerners expect a clear message at the end: “I’d like you to approve this plan.” Don’t end with “That’s all, thank you” without a conclusion.</a:t>
            </a:r>
          </a:p>
          <a:p>
            <a:r>
              <a:t>Don’t read your slides. The audience can read faster than you can speak. Use slides to support you, not replace you.</a:t>
            </a:r>
          </a:p>
          <a:p>
            <a:r>
              <a:t>Time limits are strict. If you have 10 minutes, finish in 9–10. Overrunning is seen as disrespectful.</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presentation with a greeting, the topic, the purpose and the structure.</a:t>
            </a:r>
          </a:p>
          <a:p>
            <a:r>
              <a:t>I can signpost each section (Let’s move on to… That brings me to…).</a:t>
            </a:r>
          </a:p>
          <a:p>
            <a:r>
              <a:t>I can describe a slide or a chart (As you can see… The graph shows… peaked at… levelled off).</a:t>
            </a:r>
          </a:p>
          <a:p>
            <a:r>
              <a:t>I can close with a summary, a key takeaway and an invitation for questions.</a:t>
            </a:r>
          </a:p>
          <a:p>
            <a:r>
              <a:t>I can use give a presentation, talk about and past tense for finished trends correctly.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signposting, give a presentation / talk about, trend verbs, and pace (slow down for numbers).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36 · Questions and answers 演讲中的问题与回答</a:t>
            </a:r>
          </a:p>
          <a:p>
            <a:r>
              <a:t>Goal: handle questions after a presentation: invite and listen to questions, check you understand, answer briefly, say when you do not know, handle difficult or hostile questions, and finish politely.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题讲过去的事,请用过去式(received, answered, asked)。第 2 题可以说 “I say, ‘I’ll find out and get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Answer three questions after a presentation: easy, difficult, and one you cannot answer.</a:t>
            </a:r>
          </a:p>
          <a:p>
            <a:r>
              <a:t>Say: thank the questioner → check you understand → answer in 2–3 sentences → check that they are happy.</a:t>
            </a:r>
          </a:p>
          <a:p>
            <a:r>
              <a:t>Useful starters: “That’s a good question.” / “If I understand correctly, you’re asking…” / “I don’t have the exact figure to hand, but…” / “Does that answer your question?”</a:t>
            </a:r>
          </a:p>
          <a:p>
            <a:r>
              <a:t>回答问题先感谢:That’s a good question. 再确认问题:So you’re asking about…?。不知道就坦诚说,并承诺跟进。</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Inviting and receiving questions 邀请与接受提问</a:t>
            </a:r>
          </a:p>
          <a:p>
            <a:r>
              <a:t>领读 → 学员跟读 → 请学员用表达造一个和自己工作相关的句子。</a:t>
            </a:r>
          </a:p>
          <a:p>
            <a:r>
              <a:t>Are there any questions? (phrase) 有什么问题吗? — “That’s the end of my talk. Are there any questions?”</a:t>
            </a:r>
          </a:p>
          <a:p>
            <a:r>
              <a:t>Would anyone like to ask a question? (phrase) 谁想提问? — “Would anyone like to ask a question?”</a:t>
            </a:r>
          </a:p>
          <a:p>
            <a:r>
              <a:t>That’s a good question. / Thank you for asking. (phrase) 问得好 / 谢谢你的提问 — “That’s a good question. Thank you for asking.”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Inviting and receiving questions 邀请与接受提问</a:t>
            </a:r>
          </a:p>
          <a:p>
            <a:r>
              <a:t>领读 → 学员跟读 → 请学员用表达造一个和自己工作相关的句子。</a:t>
            </a:r>
          </a:p>
          <a:p>
            <a:r>
              <a:t>★ If I understand correctly, you’re asking… (phrase) 如果我理解正确,您是在问…… — “If I understand correctly, you’re asking about the cost.”</a:t>
            </a:r>
          </a:p>
          <a:p>
            <a:r>
              <a:t>Could you repeat the question, please? (phrase) 请您重复一下问题好吗? — “Sorry, could you repeat the question, please?”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Answering 回答问题</a:t>
            </a:r>
          </a:p>
          <a:p>
            <a:r>
              <a:t>领读 → 学员跟读 → 请学员用表达造一个和自己工作相关的句子。</a:t>
            </a:r>
          </a:p>
          <a:p>
            <a:r>
              <a:t>Let me answer that in two parts. (phrase) 我分两点来回答 — “Let me answer that in two parts: cost and time.”</a:t>
            </a:r>
          </a:p>
          <a:p>
            <a:r>
              <a:t>As I mentioned earlier, … (phrase) 正如我之前提到的,…… — “As I mentioned earlier, the budget is 5 million.”</a:t>
            </a:r>
          </a:p>
          <a:p>
            <a:r>
              <a:t>★ To put it another way, … (phrase) 换句话说,…… — “To put it another way, we spend less and earn more.”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Answering 回答问题</a:t>
            </a:r>
          </a:p>
          <a:p>
            <a:r>
              <a:t>领读 → 学员跟读 → 请学员用表达造一个和自己工作相关的句子。</a:t>
            </a:r>
          </a:p>
          <a:p>
            <a:r>
              <a:t>Does that answer your question? (phrase) 这回答了您的问题吗? — “Does that answer your question?”</a:t>
            </a:r>
          </a:p>
          <a:p>
            <a:r>
              <a:t>★ Let me give you an example. (phrase) 让我举个例子 — “Let me give you an example from last year.”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Difficult questions 应对难题</a:t>
            </a:r>
          </a:p>
          <a:p>
            <a:r>
              <a:t>领读 → 学员跟读 → 请学员用表达造一个和自己工作相关的句子。</a:t>
            </a:r>
          </a:p>
          <a:p>
            <a:r>
              <a:t>★ I don’t have that figure to hand, but I’ll get back to you. (phrase) 我手头没有这个数字,但我会回复您 — “I don’t have that figure to hand, but I’ll get back to you tomorrow.”</a:t>
            </a:r>
          </a:p>
          <a:p>
            <a:r>
              <a:t>★ I’m afraid that’s outside the scope of today’s talk. (phrase) 恐怕这超出了今天讲座的范围 — “I’m afraid that’s outside the scope of today’s talk.”</a:t>
            </a:r>
          </a:p>
          <a:p>
            <a:r>
              <a:t>★ Can we come back to that after the session? (phrase) 我们会后再讨论这个好吗? — “Can we come back to that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Difficult questions 应对难题</a:t>
            </a:r>
          </a:p>
          <a:p>
            <a:r>
              <a:t>领读 → 学员跟读 → 请学员用表达造一个和自己工作相关的句子。</a:t>
            </a:r>
          </a:p>
          <a:p>
            <a:r>
              <a:t>I understand your concern. (phrase) 我理解您的担忧 — “I understand your concern. Let me explain.”</a:t>
            </a:r>
          </a:p>
          <a:p>
            <a:r>
              <a:t>Thank you all for your questions. (phrase) 感谢大家的提问 — “Thank you all for your questions and for your time.”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scope / mentioned / understand / hand / question / repeat</a:t>
            </a:r>
          </a:p>
          <a:p>
            <a:r>
              <a:t>1. That’s a good _______. Thank you for asking. → question</a:t>
            </a:r>
          </a:p>
          <a:p>
            <a:r>
              <a:t>2. If I _______ correctly, you’re asking about the cost. → understand</a:t>
            </a:r>
          </a:p>
          <a:p>
            <a:r>
              <a:t>3. Sorry, could you _______ the question, please? → repeat</a:t>
            </a:r>
          </a:p>
          <a:p>
            <a:r>
              <a:t>4. As I _______ earlier, the budget is 5 million. → mentioned</a:t>
            </a:r>
          </a:p>
          <a:p>
            <a:r>
              <a:t>5. I don’t have that figure to _______, but I’ll get back to you. → hand</a:t>
            </a:r>
          </a:p>
          <a:p>
            <a:r>
              <a:t>6. I’m afraid that’s outside the _______ of today’s talk. → scope</a:t>
            </a:r>
          </a:p>
          <a:p>
            <a:r>
              <a:t>Mistake Watch (搭配与拼写): question (not “quetion”), mention (not “mension”), scope, concern. Say “I’ll get back to you” (not “I’ll reply you”). Ask someone a question (not “ask a question to someone”).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easy and difficult questions 回答简单与困难问题</a:t>
            </a:r>
          </a:p>
          <a:p>
            <a:r>
              <a:t>情景：After your presentation on next year’s plan, three people ask questions.</a:t>
            </a:r>
          </a:p>
          <a:p>
            <a:r>
              <a:t>Role A: Li Wei, presenter Role B: Sophie Zhou, finance Role C: Mr Anders, guest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That’s the end of my presentation. Thank you for your attention. Are there any questions?</a:t>
            </a:r>
          </a:p>
          <a:p>
            <a:r>
              <a:t>B (Sophie): Yes. Could you tell us how much the plan will cost?</a:t>
            </a:r>
          </a:p>
          <a:p>
            <a:r>
              <a:t>A: That’s a good question. The total budget is 5 million yuan, of which 3 million is for marketing. Does that answer your question?</a:t>
            </a:r>
          </a:p>
          <a:p>
            <a:r>
              <a:t>B: Yes, thanks.</a:t>
            </a:r>
          </a:p>
          <a:p>
            <a:r>
              <a:t>C (Anders): I have a question about risk. If the main customer leaves,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If I understand correctly, you’re asking what we’d do if our biggest customer left. Let me answer in two parts. First, we have two other large customers. Second, we’re signing new customers to reduce the risk.</a:t>
            </a:r>
          </a:p>
          <a:p>
            <a:r>
              <a:t>C: Do you have a number for that?</a:t>
            </a:r>
          </a:p>
          <a:p>
            <a:r>
              <a:t>A: I don’t have the exact figure to hand, but I’ll get back to you by tomorrow with the details.</a:t>
            </a:r>
          </a:p>
          <a:p>
            <a:r>
              <a:t>C: That would be helpful.</a:t>
            </a:r>
          </a:p>
          <a:p>
            <a:r>
              <a:t>B: One more question: why did you choose Shenzhen for the new office?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afraid that’s outside the scope of today’s talk, but I’d be happy to discuss it after the session.</a:t>
            </a:r>
          </a:p>
          <a:p>
            <a:r>
              <a:t>B: Fine.</a:t>
            </a:r>
          </a:p>
          <a:p>
            <a:r>
              <a:t>A: Thank you all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67 | </a:t>
            </a:r>
          </a:p>
          <a:p>
            <a:r>
              <a:t>Situation | A Q&amp;A session after a presentation.</a:t>
            </a:r>
          </a:p>
          <a:p>
            <a:r>
              <a:t>Your role (A) | Presenter. Answer an easy question, a hard question, and one you can’t answer.</a:t>
            </a:r>
          </a:p>
          <a:p>
            <a:r>
              <a:t>Partners (B, C) | Audience. Ask 3 questions (cost, risk, a detail you don’t know).</a:t>
            </a:r>
          </a:p>
          <a:p>
            <a:r>
              <a:t>Must use (4 or more) | That’s a good question. · If I understand correctly… · I don’t have that figure to hand… · Does that answer your question? · outside the scope</a:t>
            </a:r>
          </a:p>
          <a:p>
            <a:r>
              <a:t>Goal | Answer 3 questions honestly and politely in 2 minutes.</a:t>
            </a:r>
          </a:p>
          <a:p>
            <a:r>
              <a:t>My notes | ____________________________________________</a:t>
            </a:r>
          </a:p>
          <a:p>
            <a:r>
              <a:t>A question is unclear. Say: “Sorry, I’m not sure I’ve understood. Could you rephrase that?”</a:t>
            </a:r>
          </a:p>
          <a:p>
            <a:r>
              <a:t>Two questions at once. Say: “Let me take your questions one at a time.”</a:t>
            </a:r>
          </a:p>
          <a:p>
            <a:r>
              <a:t>Use ★ language: “To put it another way,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 critical question 应对质疑</a:t>
            </a:r>
          </a:p>
          <a:p>
            <a:r>
              <a:t>情景：A manager challenges your plan: “I think this is too expensive. Why should we do it?”</a:t>
            </a:r>
          </a:p>
          <a:p>
            <a:r>
              <a:t>Role A: Li Wei, presenter Role B: Mr Park, senior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Are there any more questions?</a:t>
            </a:r>
          </a:p>
          <a:p>
            <a:r>
              <a:t>B (Park): Yes. Frankly, I think the plan is too expensive. Why should we spend five million?</a:t>
            </a:r>
          </a:p>
          <a:p>
            <a:r>
              <a:t>A: Thank you for raising that. I understand your concern. May I ask which part of the cost worries you most?</a:t>
            </a:r>
          </a:p>
          <a:p>
            <a:r>
              <a:t>B: The marketing budget. Three million seems a lot.</a:t>
            </a:r>
          </a:p>
          <a:p>
            <a:r>
              <a:t>A: I see. Let me put it another way: the marketing budget is 12% of expected sales, which is below the industry average.</a:t>
            </a:r>
          </a:p>
          <a:p>
            <a:r>
              <a:t>B: But what if the sales target isn’t reached?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fair point. In that case, we can reduce the marketing spend after the first quarter. We’ve built that into the plan.</a:t>
            </a:r>
          </a:p>
          <a:p>
            <a:r>
              <a:t>B: Hmm. Can you show me the figures?</a:t>
            </a:r>
          </a:p>
          <a:p>
            <a:r>
              <a:t>A: Of course. I’ll send you the detailed budget by tomorrow, if that’s OK.</a:t>
            </a:r>
          </a:p>
          <a:p>
            <a:r>
              <a:t>B: Please do.</a:t>
            </a:r>
          </a:p>
          <a:p>
            <a:r>
              <a:t>A: Thank you. I think it’s important that you are comfortable with the numbers.</a:t>
            </a:r>
          </a:p>
          <a:p>
            <a:r>
              <a:t>B: I appreciate that.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68 | </a:t>
            </a:r>
          </a:p>
          <a:p>
            <a:r>
              <a:t>Situation | A senior person challenges your plan with a difficult question.</a:t>
            </a:r>
          </a:p>
          <a:p>
            <a:r>
              <a:t>Your role (A) | Presenter. Stay calm, respond with facts and offer evidence.</a:t>
            </a:r>
          </a:p>
          <a:p>
            <a:r>
              <a:t>Partner’s role (B) | Senior manager. Challenges the cost or the risk.</a:t>
            </a:r>
          </a:p>
          <a:p>
            <a:r>
              <a:t>Must use (4 or more) | Thank you for raising that. · I understand your concern. · Let me put it another way. · That’s a fair point. · I’ll send you the details.</a:t>
            </a:r>
          </a:p>
          <a:p>
            <a:r>
              <a:t>Goal | Stay polite, answer with facts, offer a follow-up.</a:t>
            </a:r>
          </a:p>
          <a:p>
            <a:r>
              <a:t>My notes | ____________________________________________</a:t>
            </a:r>
          </a:p>
          <a:p>
            <a:r>
              <a:t>The manager interrupts your answer. Say: “May I just finish this point? Then I’d like to hear your view.”</a:t>
            </a:r>
          </a:p>
          <a:p>
            <a:r>
              <a:t>You don’t agree, but you want to stay polite: “I see where you’re coming from, but our research shows something different.”</a:t>
            </a:r>
          </a:p>
          <a:p>
            <a:r>
              <a:t>Close the question: “Does that address your concern?”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prepare for the Q&amp;A part of a presentation? | “I write down possible questions and…” / “I ask a colleague to ask me tough questions.”</a:t>
            </a:r>
          </a:p>
          <a:p>
            <a:r>
              <a:t>2. What do you do when a question is hostile? | “I stay calm and say ‘I understand your concern.’” / “I answer with facts, not emotions.”</a:t>
            </a:r>
          </a:p>
          <a:p>
            <a:r>
              <a:t>3. Is it OK to say “I don’t know”? How? | “Yes, if I say it honestly and offer to find out.” / “I say ‘I don’t have that figure to hand.’”</a:t>
            </a:r>
          </a:p>
          <a:p>
            <a:r>
              <a:t>4. How long should an answer be? | “Two or three sentences are enough.” / “I check if the person wants more details.”</a:t>
            </a:r>
          </a:p>
          <a:p>
            <a:r>
              <a:t>5. How do you end a Q&amp;A session politely? | “I say ‘I’m afraid we’re out of time.’” / “I thank everyone and offer to talk afterwards.”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it is perfectly OK to say you don’t know, if you do it the right way. I never invent an answer. I say something like,”I don’t have that figure to hand, but I’ll get back to you by tomorrow.” Then I really do it. People trust you more when you are honest and reliable than when you pretend to know everything.”</a:t>
            </a:r>
          </a:p>
          <a:p>
            <a:r>
              <a:t>“the right way”(正确的方式)。“I never invent an answer”(我从不编造答案),never 放在动词前。“reliable”(可靠的)是商务高频词。</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phrase bank 问答环节句型库</a:t>
            </a:r>
          </a:p>
          <a:p>
            <a:r>
              <a:t>Function | Say this</a:t>
            </a:r>
          </a:p>
          <a:p>
            <a:r>
              <a:t>Invite | Are there any questions? / Would anyone like to ask a question?</a:t>
            </a:r>
          </a:p>
          <a:p>
            <a:r>
              <a:t>Thank | That’s a good question. / Thank you for asking.</a:t>
            </a:r>
          </a:p>
          <a:p>
            <a:r>
              <a:t>Check | If I understand correctly, you’re asking… ★ / Could you repeat the question, please?</a:t>
            </a:r>
          </a:p>
          <a:p>
            <a:r>
              <a:t>Rephrase | Could you rephrase that? / Do you mean…?</a:t>
            </a:r>
          </a:p>
          <a:p>
            <a:r>
              <a:t>Answer | Let me answer that in two parts. / As I mentioned earlier, …</a:t>
            </a:r>
          </a:p>
          <a:p>
            <a:r>
              <a:t>Clarify | To put it another way, … ★ / Let me give you an example. ★</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phrase bank 问答环节句型库</a:t>
            </a:r>
          </a:p>
          <a:p>
            <a:r>
              <a:t>Function | Say this</a:t>
            </a:r>
          </a:p>
          <a:p>
            <a:r>
              <a:t>Don’t know | I don’t have that figure to hand, but I’ll get back to you. ★</a:t>
            </a:r>
          </a:p>
          <a:p>
            <a:r>
              <a:t>Park | I’m afraid that’s outside the scope of today’s talk. ★ / Can we come back to that after the session? ★</a:t>
            </a:r>
          </a:p>
          <a:p>
            <a:r>
              <a:t>Concern | I understand your concern. / That’s a fair point.</a:t>
            </a:r>
          </a:p>
          <a:p>
            <a:r>
              <a:t>Confirm | Does that answer your question?</a:t>
            </a:r>
          </a:p>
          <a:p>
            <a:r>
              <a:t>End | I’m afraid we’re out of time. / Thank you all for your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4-step answer: Thank → Check → Answer → Confirm 四步回答法</a:t>
            </a:r>
          </a:p>
          <a:p>
            <a:r>
              <a:t>Step | Example</a:t>
            </a:r>
          </a:p>
          <a:p>
            <a:r>
              <a:t>Thank | That’s a good question.</a:t>
            </a:r>
          </a:p>
          <a:p>
            <a:r>
              <a:t>Check | If I understand correctly, you’re asking about the cost of the plan?</a:t>
            </a:r>
          </a:p>
          <a:p>
            <a:r>
              <a:t>Answer | The total is 5 million, of which 3 million is for marketing.</a:t>
            </a:r>
          </a:p>
          <a:p>
            <a:r>
              <a:t>Confirm | Does that answer your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4-step answer: Thank → Check → Answer → Confirm 四步回答法</a:t>
            </a:r>
          </a:p>
          <a:p>
            <a:r>
              <a:t>Short answers: 2–3 sentences. Then stop. The questioner will ask more if needed.</a:t>
            </a:r>
          </a:p>
          <a:p>
            <a:r>
              <a:t>Repeat or rephrase the question for the whole room, especially on video.</a:t>
            </a:r>
          </a:p>
          <a:p>
            <a:r>
              <a:t>Bridge back to your message when a question is off-topic: “That’s an interesting point. What I’d like to emphasize is…”</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Any question?  →  ✓ Are there any questions? / Would anyone like to ask a question?  (完整问句)</a:t>
            </a:r>
          </a:p>
          <a:p>
            <a:r>
              <a:t>✗ Good question! (and nothing else)  →  ✓ That’s a good question. Let me answer that…  (加上回答)</a:t>
            </a:r>
          </a:p>
          <a:p>
            <a:r>
              <a:t>✗ I can’t answer you.  →  ✓ I don’t have that figure to hand, but I’ll get back to you.  (坦诚+跟进)</a:t>
            </a:r>
          </a:p>
          <a:p>
            <a:r>
              <a:t>✗ I don’t know. (and stop)  →  ✓ I’m afraid I don’t know, but I’ll find out and get back to you.  (加上后续)</a:t>
            </a:r>
          </a:p>
          <a:p>
            <a:r>
              <a:t>Mistake Watch: reply to sb, get back to sb, ask sb a question, Are there any questions?. Don’t say “Do you understand?”.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Your question is wrong.  →  ✓ If I understand correctly, you’re asking…  (先确认再回答)</a:t>
            </a:r>
          </a:p>
          <a:p>
            <a:r>
              <a:t>✗ Ask me a question to you.  →  ✓ Could I ask you a question?  (ask sb a question)</a:t>
            </a:r>
          </a:p>
          <a:p>
            <a:r>
              <a:t>✗ I will reply you by email.  →  ✓ I’ll reply to you by email. / I’ll get back to you.  (reply to sb)</a:t>
            </a:r>
          </a:p>
          <a:p>
            <a:r>
              <a:t>✗ Is it clear?  →  ✓ Does that answer your question? / Does that make sense?  (更礼貌)</a:t>
            </a:r>
          </a:p>
          <a:p>
            <a:r>
              <a:t>Mistake Watch: reply to sb, get back to sb, ask sb a question, Are there any questions?. Don’t say “Do you understand?”.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Do you understand?  →  ✓ Is that clear? / Does that make sense?  (避免像老师对学生)</a:t>
            </a:r>
          </a:p>
          <a:p>
            <a:r>
              <a:t>✗ quetion / mension  →  ✓ question / mention  (拼写)</a:t>
            </a:r>
          </a:p>
          <a:p>
            <a:r>
              <a:t>Mistake Watch: reply to sb, get back to sb, ask sb a question, Are there any questions?. Don’t say “Do you understand?”.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Questions are a sign of interest. In English-speaking audiences, questions are welcome and expected. Don’t take them as criticism.</a:t>
            </a:r>
          </a:p>
          <a:p>
            <a:r>
              <a:t>Honesty is respected. Say “I don’t know” rather than guessing. But always follow up.</a:t>
            </a:r>
          </a:p>
          <a:p>
            <a:r>
              <a:t>Stay calm with hostile questions. Thank the person, repeat the concern, answer with facts. Don’t argue.</a:t>
            </a:r>
          </a:p>
          <a:p>
            <a:r>
              <a:t>Keep answers short. A long answer may lose the audience. Offer to talk after: “I’d be happy to discuss that afterwards.”</a:t>
            </a:r>
          </a:p>
          <a:p>
            <a:r>
              <a:t>Rephrase on video. On a video call, repeat the question so that all participants hear it.</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invite questions (Are there any questions?) and check I understand (If I understand correctly, you’re asking…).</a:t>
            </a:r>
          </a:p>
          <a:p>
            <a:r>
              <a:t>I can answer briefly and confirm (Does that answer your question?).</a:t>
            </a:r>
          </a:p>
          <a:p>
            <a:r>
              <a:t>I can say honestly that I don’t know and promise to follow up (I don’t have that figure to hand, but I’ll get back to you.).</a:t>
            </a:r>
          </a:p>
          <a:p>
            <a:r>
              <a:t>I can handle a hard question calmly (I understand your concern. That’s a fair point.).</a:t>
            </a:r>
          </a:p>
          <a:p>
            <a:r>
              <a:t>I can use reply to sb, ask sb a question, get back to sb correctly.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reply to / get back to, ask sb a question, polite checking questions, and spelling (question, mention).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“感谢大家的提问” in English? → Thank you all for your questions.</a:t>
            </a:r>
          </a:p>
          <a:p>
            <a:r>
              <a:t>“感谢您的聆听” in English? → Thank you for your attention.</a:t>
            </a:r>
          </a:p>
          <a:p>
            <a:r>
              <a:t>“请您重复一下问题好吗?” in English? → Could you repeat the question, please?</a:t>
            </a:r>
          </a:p>
          <a:p>
            <a:r>
              <a:t>Fix it: presention / audiance → presentation / audience</a:t>
            </a:r>
          </a:p>
          <a:p>
            <a:r>
              <a:t>Fix it: Is it clear? → Does that answer your question? / Does that make sense?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 Id="rId4" Type="http://schemas.openxmlformats.org/officeDocument/2006/relationships/slide" Target="slide66.xml"/><Relationship Id="rId5" Type="http://schemas.openxmlformats.org/officeDocument/2006/relationships/slide" Target="slide67.xml"/><Relationship Id="rId6" Type="http://schemas.openxmlformats.org/officeDocument/2006/relationships/slide" Target="slide68.xml"/><Relationship Id="rId7" Type="http://schemas.openxmlformats.org/officeDocument/2006/relationships/slide" Target="slide69.xml"/><Relationship Id="rId8" Type="http://schemas.openxmlformats.org/officeDocument/2006/relationships/slide" Target="slide70.xml"/><Relationship Id="rId9" Type="http://schemas.openxmlformats.org/officeDocument/2006/relationships/slide" Target="slide71.xml"/><Relationship Id="rId10" Type="http://schemas.openxmlformats.org/officeDocument/2006/relationships/slide" Target="slide72.xml"/><Relationship Id="rId11" Type="http://schemas.openxmlformats.org/officeDocument/2006/relationships/slide" Target="slide73.xml"/><Relationship Id="rId12" Type="http://schemas.openxmlformats.org/officeDocument/2006/relationships/slide" Target="slide7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9</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Business Presentations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L35 The presentation · L36 Questions and answers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35</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presentation</a:t>
            </a:r>
          </a:p>
          <a:p>
            <a:pPr algn="l">
              <a:lnSpc>
                <a:spcPct val="100000"/>
              </a:lnSpc>
              <a:spcAft>
                <a:spcPts val="800"/>
              </a:spcAft>
            </a:pPr>
            <a:r>
              <a:rPr sz="1400" b="0">
                <a:solidFill>
                  <a:srgbClr val="5F677A"/>
                </a:solidFill>
                <a:latin typeface="Arial"/>
                <a:ea typeface="Microsoft YaHei"/>
              </a:rPr>
              <a:t>演讲</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36</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Questions and answers</a:t>
            </a:r>
          </a:p>
          <a:p>
            <a:pPr algn="l">
              <a:lnSpc>
                <a:spcPct val="100000"/>
              </a:lnSpc>
              <a:spcAft>
                <a:spcPts val="800"/>
              </a:spcAft>
            </a:pPr>
            <a:r>
              <a:rPr sz="1400" b="0">
                <a:solidFill>
                  <a:srgbClr val="5F677A"/>
                </a:solidFill>
                <a:latin typeface="Arial"/>
                <a:ea typeface="Microsoft YaHei"/>
              </a:rPr>
              <a:t>演讲中的问题与回答</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9 · Lesson 35 The presentation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presentation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演讲</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prepare and deliver a clear 3–5 minute business presentation: open with a hook, state the purpose and structure, signpost each section, describe slides and trends, emphasize key points, and close with a summary and a call to action.</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give a presentation in English? How did it go?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you nervous before a presentation? What helps?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a good and a boring presentation?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slides do you use? How much text is on each slide?</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in the first 30 seconds to get the audience’s attention?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题讲过去的事,请用过去式(gave, went, felt)。第 3 题可以说 “A good presentation is…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one-minute presentation on your company, a product, or a plan.</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 greet and introduce yourself</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say the topic and the structure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main point 1</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main point 2</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summary and thanks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Good morning, everyone. My name is… and today I’d like to talk about…   💬 My presentation has three parts.   💬 Let’s move on to…   💬 To sum up,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开场 3 步:问好 → 主题与目的 → 结构(分几部分)。每部分之间用路标语言:First…, Next…, Finally…。</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and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开场与结构</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Good morning, everyone. Thank you for coming.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大家早上好,感谢到场</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morning, everyone. Thank you for coming.”</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Today I’d like to talk about…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今天我想谈谈……</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“Today I’d like to talk about our plan for next year.”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purpose of my presentation is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我这次演讲的目的是……</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purpose of my presentation is to show you our results.”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1: Opening and structure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开场与结构</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start by looking at…, then move on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我先谈……,然后讲……</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start by looking at last year’s results, then move on to our plan.”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Feel free to interrupt me at any time.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请随时打断我</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“Feel free to interrupt me if you have any questions.”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Signposting and visuals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过渡与图表</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move on to… / Turning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接下来谈……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“Turning to our second point: costs.”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you can see on this slide,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如这张幻灯片所示,……</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you can see on this slide, sales rose by 10%.”</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draw your attention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请大家注意……</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draw your attention to the red line.”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Signposting and visuals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过渡与图表</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graph / chart shows…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这张图表显示……</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graph shows a steady rise since March.”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What’s important here is…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这里重要的是……</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important here is that costs stayed the same.”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 sum up, … / In summary,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总结一下,……</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sum up, we’ve had a strong year.”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key takeaway is…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关键要点是……</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key takeaway is that we need to act now.”</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leave you with one thought.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我想给大家留下一点思考</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leave you with one thought: timing matters.”</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attention.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感谢您的聆听</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attention. Are there any questions?”</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be happy to take any questions.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我很乐意回答问题</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 happy to take any questions.”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我先谈……,然后讲……</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I’ll start by looking at…, then move on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今天我想谈谈……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Today I’d like to talk about…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这里重要的是……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What’s important here is…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我很乐意回答问题</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I’d be happy to take any questions.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如这张幻灯片所示,……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you can see on this slide, …</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我这次演讲的目的是……</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The purpose of my presentation is to…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总结一下,……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sum up, … / In summary, …</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我想给大家留下一点思考</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I’d like to leave you with one thought.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coming</a:t>
            </a:r>
          </a:p>
        </p:txBody>
      </p:sp>
      <p:sp>
        <p:nvSpPr>
          <p:cNvPr id="10" name="Rounded Rectangle 9"/>
          <p:cNvSpPr/>
          <p:nvPr/>
        </p:nvSpPr>
        <p:spPr>
          <a:xfrm>
            <a:off x="3127248"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see</a:t>
            </a:r>
          </a:p>
        </p:txBody>
      </p:sp>
      <p:sp>
        <p:nvSpPr>
          <p:cNvPr id="11" name="Rounded Rectangle 10"/>
          <p:cNvSpPr/>
          <p:nvPr/>
        </p:nvSpPr>
        <p:spPr>
          <a:xfrm>
            <a:off x="391363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attention</a:t>
            </a:r>
          </a:p>
        </p:txBody>
      </p:sp>
      <p:sp>
        <p:nvSpPr>
          <p:cNvPr id="12" name="Rounded Rectangle 11"/>
          <p:cNvSpPr/>
          <p:nvPr/>
        </p:nvSpPr>
        <p:spPr>
          <a:xfrm>
            <a:off x="5358384"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3" name="Rounded Rectangle 12"/>
          <p:cNvSpPr/>
          <p:nvPr/>
        </p:nvSpPr>
        <p:spPr>
          <a:xfrm>
            <a:off x="6583680" y="987552"/>
            <a:ext cx="58521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a:t>
            </a:r>
          </a:p>
        </p:txBody>
      </p:sp>
      <p:sp>
        <p:nvSpPr>
          <p:cNvPr id="14" name="Rounded Rectangle 13"/>
          <p:cNvSpPr/>
          <p:nvPr/>
        </p:nvSpPr>
        <p:spPr>
          <a:xfrm>
            <a:off x="7260336" y="987552"/>
            <a:ext cx="58521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Good morning, everyone. Thank you for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of my presentation is to show you our results.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Let’s move _______ to our second point.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As you can _______ on this slide, sales rose by 10%.</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To sum _______, we’ve had a strong year.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 you for your _______. Are there any questions?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拼写与结构): presentation (not “presention”), purpose, audience (not “audiance”), signpost. Say “give a presentation” (not “do” or “make”). Slides (not “PPT” in speech).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Opening and structure of a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演讲开场与结构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your department’s annual results to the management team. Here is the model opening and the first section.</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and structure of a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that’s my opening. How was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clear. The structure at the start really helped me follow.</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Was it too fast?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little. Try to pause after “three parts” and after each number.</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and structure of a presentation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Anything else?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Look at the audience more. You looked at the screen when you said “the blue 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I’ll practise looking up.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end with the key takeaway before “Thank you”.</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Opening and structure of a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the opening of a short business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Audience</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or a recording on your phone.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Today I’d like to talk about… · My presentation has three parts. · Let’s move on to… · As you can see on this slide, … · To sum up, …</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1–2 minute opening and first section with clear signposting.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Start with a question: “How many of you have waited more than ten minutes for a lift?”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Start with a surprising fact: “Last year we lost 20% of our customers in just three months.”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clear closing line: “The key takeaway is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Describing a chart and rehearsing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描述图表并排练</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rehearse the data section of your presentation with a colleague who gives feedback.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coach</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a chart and rehearsing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draw your attention to the graph. Sales rose steadily from January to July, and peaked at 2.4 million yuan in July. After that, they levelled off.</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Can you say why they levelled off?</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because our main customer reduced its orders in August. What’s important here is that we signed two new customers in September.</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strong point. Say it more slowly, and pause before the key number.</a:t>
            </a:r>
          </a:p>
        </p:txBody>
      </p:sp>
      <p:sp>
        <p:nvSpPr>
          <p:cNvPr id="20" name="Rounded Rectangle 19"/>
          <p:cNvSpPr/>
          <p:nvPr/>
        </p:nvSpPr>
        <p:spPr>
          <a:xfrm>
            <a:off x="548640" y="481279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“Sales peaked at … 2.4 million yuan … in July.”</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Better. Also, don’t read the slide. The audience can read it.</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a chart and rehearsing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I should explain the story, not the words.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And keep each slide to one message.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 What about my ending?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Try “To sum up, we’ve had a strong year, and the key takeaway is that we’re ready to grow.” Then say thank you.</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Thanks for the feedback.</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Describing a chart and rehearsing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rehearse the chart section of your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Describe a chart with 3 trend verbs.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Coach. Gives feedback on speed, eye contact, clarity.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graph shows… · rose / fell by… · peaked at… · levelled off · What’s important here is…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clear 60-second chart description and 3 pieces of feedback.</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comparison: “Compared with last year, we’re up 5%.”</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the audience should do: “I’d like us to approve the plan today.”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Practise pausing 2 seconds after each number.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common mistakes in presentations?</a:t>
            </a:r>
          </a:p>
          <a:p>
            <a:pPr algn="l">
              <a:lnSpc>
                <a:spcPct val="115000"/>
              </a:lnSpc>
              <a:spcAft>
                <a:spcPts val="800"/>
              </a:spcAft>
            </a:pPr>
            <a:r>
              <a:rPr sz="1400" b="0">
                <a:solidFill>
                  <a:srgbClr val="5F677A"/>
                </a:solidFill>
                <a:latin typeface="Arial"/>
                <a:ea typeface="Microsoft YaHei"/>
              </a:rPr>
              <a:t>💬 “A common mistake is…” / “Many speakers read from the slides.”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reduce nervousness before a presentation?</a:t>
            </a:r>
          </a:p>
          <a:p>
            <a:pPr algn="l">
              <a:lnSpc>
                <a:spcPct val="115000"/>
              </a:lnSpc>
              <a:spcAft>
                <a:spcPts val="800"/>
              </a:spcAft>
            </a:pPr>
            <a:r>
              <a:rPr sz="1400" b="0">
                <a:solidFill>
                  <a:srgbClr val="5F677A"/>
                </a:solidFill>
                <a:latin typeface="Arial"/>
                <a:ea typeface="Microsoft YaHei"/>
              </a:rPr>
              <a:t>💬 “I prepare well and practise at least… times.” / “I breathe slowly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many slides are enough for a 10-minute talk?</a:t>
            </a:r>
          </a:p>
          <a:p>
            <a:pPr algn="l">
              <a:lnSpc>
                <a:spcPct val="115000"/>
              </a:lnSpc>
              <a:spcAft>
                <a:spcPts val="800"/>
              </a:spcAft>
            </a:pPr>
            <a:r>
              <a:rPr sz="1400" b="0">
                <a:solidFill>
                  <a:srgbClr val="5F677A"/>
                </a:solidFill>
                <a:latin typeface="Arial"/>
                <a:ea typeface="Microsoft YaHei"/>
              </a:rPr>
              <a:t>💬 “I think… slides are enough because…” / “One slide per minute is a good rule.”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memorize your speech or use notes?</a:t>
            </a:r>
          </a:p>
          <a:p>
            <a:pPr algn="l">
              <a:lnSpc>
                <a:spcPct val="115000"/>
              </a:lnSpc>
              <a:spcAft>
                <a:spcPts val="800"/>
              </a:spcAft>
            </a:pPr>
            <a:r>
              <a:rPr sz="1400" b="0">
                <a:solidFill>
                  <a:srgbClr val="5F677A"/>
                </a:solidFill>
                <a:latin typeface="Arial"/>
                <a:ea typeface="Microsoft YaHei"/>
              </a:rPr>
              <a:t>💬 “I use notes because…” / “I memorize the first minute and then…”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keep an audience interested?</a:t>
            </a:r>
          </a:p>
          <a:p>
            <a:pPr algn="l">
              <a:lnSpc>
                <a:spcPct val="115000"/>
              </a:lnSpc>
              <a:spcAft>
                <a:spcPts val="800"/>
              </a:spcAft>
            </a:pPr>
            <a:r>
              <a:rPr sz="1400" b="0">
                <a:solidFill>
                  <a:srgbClr val="5F677A"/>
                </a:solidFill>
                <a:latin typeface="Arial"/>
                <a:ea typeface="Microsoft YaHei"/>
              </a:rPr>
              <a:t>💬 “I ask questions or use short stories.” / “I use examples and keep the slides simple.”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very common mistake is putting too much text on the slides and then reading it aloud. The audience reads faster than you speak, so they stop listening. Another mistake is not practising, so the speaker finishes too late. I try to use one message per slide, a few words, and a picture or a graph. Then I explain the story in my own words.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“put too much text on the slides” 注意 put + 名词 + on。“The audience reads faster than you speak” 是比较结构。“in my own words”(用自己的话)。</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Presentation phrase bank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演讲句型库</a:t>
            </a:r>
          </a:p>
        </p:txBody>
      </p:sp>
      <p:graphicFrame>
        <p:nvGraphicFramePr>
          <p:cNvPr id="9" name="Table 8"/>
          <p:cNvGraphicFramePr>
            <a:graphicFrameLocks noGrp="1"/>
          </p:cNvGraphicFramePr>
          <p:nvPr/>
        </p:nvGraphicFramePr>
        <p:xfrm>
          <a:off x="548640" y="1417320"/>
          <a:ext cx="11094415" cy="359054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Greet</a:t>
                      </a:r>
                    </a:p>
                  </a:txBody>
                  <a:tcPr anchor="ctr">
                    <a:solidFill>
                      <a:srgbClr val="FFFFFF"/>
                    </a:solidFill>
                  </a:tcPr>
                </a:tc>
                <a:tc>
                  <a:txBody>
                    <a:bodyPr wrap="square"/>
                    <a:lstStyle/>
                    <a:p>
                      <a:r>
                        <a:rPr sz="1600" b="0">
                          <a:solidFill>
                            <a:srgbClr val="1F2A44"/>
                          </a:solidFill>
                          <a:latin typeface="Arial"/>
                          <a:ea typeface="Microsoft YaHei"/>
                        </a:rPr>
                        <a:t>Good morning, everyone. Thank you for coming.</a:t>
                      </a:r>
                    </a:p>
                  </a:txBody>
                  <a:tcPr anchor="ctr">
                    <a:solidFill>
                      <a:srgbClr val="FFFFFF"/>
                    </a:solidFill>
                  </a:tcPr>
                </a:tc>
              </a:tr>
              <a:tr h="408432">
                <a:tc>
                  <a:txBody>
                    <a:bodyPr wrap="square"/>
                    <a:lstStyle/>
                    <a:p>
                      <a:r>
                        <a:rPr sz="1600" b="1">
                          <a:solidFill>
                            <a:srgbClr val="1F2A44"/>
                          </a:solidFill>
                          <a:latin typeface="Arial"/>
                          <a:ea typeface="Microsoft YaHei"/>
                        </a:rPr>
                        <a:t>Introduce</a:t>
                      </a:r>
                    </a:p>
                  </a:txBody>
                  <a:tcPr anchor="ctr">
                    <a:solidFill>
                      <a:srgbClr val="FFEFD9"/>
                    </a:solidFill>
                  </a:tcPr>
                </a:tc>
                <a:tc>
                  <a:txBody>
                    <a:bodyPr wrap="square"/>
                    <a:lstStyle/>
                    <a:p>
                      <a:r>
                        <a:rPr sz="1600" b="0">
                          <a:solidFill>
                            <a:srgbClr val="1F2A44"/>
                          </a:solidFill>
                          <a:latin typeface="Arial"/>
                          <a:ea typeface="Microsoft YaHei"/>
                        </a:rPr>
                        <a:t>My name is… and I’m the … at …</a:t>
                      </a:r>
                    </a:p>
                  </a:txBody>
                  <a:tcPr anchor="ctr">
                    <a:solidFill>
                      <a:srgbClr val="FFEFD9"/>
                    </a:solidFill>
                  </a:tcPr>
                </a:tc>
              </a:tr>
              <a:tr h="652272">
                <a:tc>
                  <a:txBody>
                    <a:bodyPr wrap="square"/>
                    <a:lstStyle/>
                    <a:p>
                      <a:r>
                        <a:rPr sz="1600" b="1">
                          <a:solidFill>
                            <a:srgbClr val="1F2A44"/>
                          </a:solidFill>
                          <a:latin typeface="Arial"/>
                          <a:ea typeface="Microsoft YaHei"/>
                        </a:rPr>
                        <a:t>Topic</a:t>
                      </a:r>
                    </a:p>
                  </a:txBody>
                  <a:tcPr anchor="ctr">
                    <a:solidFill>
                      <a:srgbClr val="FFFFFF"/>
                    </a:solidFill>
                  </a:tcPr>
                </a:tc>
                <a:tc>
                  <a:txBody>
                    <a:bodyPr wrap="square"/>
                    <a:lstStyle/>
                    <a:p>
                      <a:r>
                        <a:rPr sz="1600" b="0">
                          <a:solidFill>
                            <a:srgbClr val="1F2A44"/>
                          </a:solidFill>
                          <a:latin typeface="Arial"/>
                          <a:ea typeface="Microsoft YaHei"/>
                        </a:rPr>
                        <a:t>Today I’d like to talk about… / I’m going to talk about…</a:t>
                      </a:r>
                    </a:p>
                  </a:txBody>
                  <a:tcPr anchor="ctr">
                    <a:solidFill>
                      <a:srgbClr val="FFFFFF"/>
                    </a:solidFill>
                  </a:tcPr>
                </a:tc>
              </a:tr>
              <a:tr h="408432">
                <a:tc>
                  <a:txBody>
                    <a:bodyPr wrap="square"/>
                    <a:lstStyle/>
                    <a:p>
                      <a:r>
                        <a:rPr sz="1600" b="1">
                          <a:solidFill>
                            <a:srgbClr val="1F2A44"/>
                          </a:solidFill>
                          <a:latin typeface="Arial"/>
                          <a:ea typeface="Microsoft YaHei"/>
                        </a:rPr>
                        <a:t>Purpose</a:t>
                      </a:r>
                    </a:p>
                  </a:txBody>
                  <a:tcPr anchor="ctr">
                    <a:solidFill>
                      <a:srgbClr val="FFEFD9"/>
                    </a:solidFill>
                  </a:tcPr>
                </a:tc>
                <a:tc>
                  <a:txBody>
                    <a:bodyPr wrap="square"/>
                    <a:lstStyle/>
                    <a:p>
                      <a:r>
                        <a:rPr sz="1600" b="0">
                          <a:solidFill>
                            <a:srgbClr val="1F2A44"/>
                          </a:solidFill>
                          <a:latin typeface="Arial"/>
                          <a:ea typeface="Microsoft YaHei"/>
                        </a:rPr>
                        <a:t>The purpose of my presentation is to…</a:t>
                      </a:r>
                    </a:p>
                  </a:txBody>
                  <a:tcPr anchor="ctr">
                    <a:solidFill>
                      <a:srgbClr val="FFEFD9"/>
                    </a:solidFill>
                  </a:tcPr>
                </a:tc>
              </a:tr>
              <a:tr h="652272">
                <a:tc>
                  <a:txBody>
                    <a:bodyPr wrap="square"/>
                    <a:lstStyle/>
                    <a:p>
                      <a:r>
                        <a:rPr sz="1600" b="1">
                          <a:solidFill>
                            <a:srgbClr val="1F2A44"/>
                          </a:solidFill>
                          <a:latin typeface="Arial"/>
                          <a:ea typeface="Microsoft YaHei"/>
                        </a:rPr>
                        <a:t>Structure ★</a:t>
                      </a:r>
                    </a:p>
                  </a:txBody>
                  <a:tcPr anchor="ctr">
                    <a:solidFill>
                      <a:srgbClr val="FFFFFF"/>
                    </a:solidFill>
                  </a:tcPr>
                </a:tc>
                <a:tc>
                  <a:txBody>
                    <a:bodyPr wrap="square"/>
                    <a:lstStyle/>
                    <a:p>
                      <a:r>
                        <a:rPr sz="1600" b="0">
                          <a:solidFill>
                            <a:srgbClr val="1F2A44"/>
                          </a:solidFill>
                          <a:latin typeface="Arial"/>
                          <a:ea typeface="Microsoft YaHei"/>
                        </a:rPr>
                        <a:t>My presentation has three parts. I’ll start by…, then move on to…, and finally…</a:t>
                      </a:r>
                    </a:p>
                  </a:txBody>
                  <a:tcPr anchor="ctr">
                    <a:solidFill>
                      <a:srgbClr val="FFFFFF"/>
                    </a:solidFill>
                  </a:tcPr>
                </a:tc>
              </a:tr>
              <a:tr h="652272">
                <a:tc>
                  <a:txBody>
                    <a:bodyPr wrap="square"/>
                    <a:lstStyle/>
                    <a:p>
                      <a:r>
                        <a:rPr sz="1600" b="1">
                          <a:solidFill>
                            <a:srgbClr val="1F2A44"/>
                          </a:solidFill>
                          <a:latin typeface="Arial"/>
                          <a:ea typeface="Microsoft YaHei"/>
                        </a:rPr>
                        <a:t>Questions</a:t>
                      </a:r>
                    </a:p>
                  </a:txBody>
                  <a:tcPr anchor="ctr">
                    <a:solidFill>
                      <a:srgbClr val="FFEFD9"/>
                    </a:solidFill>
                  </a:tcPr>
                </a:tc>
                <a:tc>
                  <a:txBody>
                    <a:bodyPr wrap="square"/>
                    <a:lstStyle/>
                    <a:p>
                      <a:r>
                        <a:rPr sz="1600" b="0">
                          <a:solidFill>
                            <a:srgbClr val="1F2A44"/>
                          </a:solidFill>
                          <a:latin typeface="Arial"/>
                          <a:ea typeface="Microsoft YaHei"/>
                        </a:rPr>
                        <a:t>Feel free to interrupt. ★ / Please save your questions until the end.</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Presentation phrase bank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演讲句型库</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Next point</a:t>
                      </a:r>
                    </a:p>
                  </a:txBody>
                  <a:tcPr anchor="ctr">
                    <a:solidFill>
                      <a:srgbClr val="FFFFFF"/>
                    </a:solidFill>
                  </a:tcPr>
                </a:tc>
                <a:tc>
                  <a:txBody>
                    <a:bodyPr wrap="square"/>
                    <a:lstStyle/>
                    <a:p>
                      <a:r>
                        <a:rPr sz="1600" b="0">
                          <a:solidFill>
                            <a:srgbClr val="1F2A44"/>
                          </a:solidFill>
                          <a:latin typeface="Arial"/>
                          <a:ea typeface="Microsoft YaHei"/>
                        </a:rPr>
                        <a:t>Let’s move on to… / Turning to… / That brings me to…</a:t>
                      </a:r>
                    </a:p>
                  </a:txBody>
                  <a:tcPr anchor="ctr">
                    <a:solidFill>
                      <a:srgbClr val="FFFFFF"/>
                    </a:solidFill>
                  </a:tcPr>
                </a:tc>
              </a:tr>
              <a:tr h="408432">
                <a:tc>
                  <a:txBody>
                    <a:bodyPr wrap="square"/>
                    <a:lstStyle/>
                    <a:p>
                      <a:r>
                        <a:rPr sz="1600" b="1">
                          <a:solidFill>
                            <a:srgbClr val="1F2A44"/>
                          </a:solidFill>
                          <a:latin typeface="Arial"/>
                          <a:ea typeface="Microsoft YaHei"/>
                        </a:rPr>
                        <a:t>Slide</a:t>
                      </a:r>
                    </a:p>
                  </a:txBody>
                  <a:tcPr anchor="ctr">
                    <a:solidFill>
                      <a:srgbClr val="FFEFD9"/>
                    </a:solidFill>
                  </a:tcPr>
                </a:tc>
                <a:tc>
                  <a:txBody>
                    <a:bodyPr wrap="square"/>
                    <a:lstStyle/>
                    <a:p>
                      <a:r>
                        <a:rPr sz="1600" b="0">
                          <a:solidFill>
                            <a:srgbClr val="1F2A44"/>
                          </a:solidFill>
                          <a:latin typeface="Arial"/>
                          <a:ea typeface="Microsoft YaHei"/>
                        </a:rPr>
                        <a:t>As you can see on this slide, … / The chart shows…</a:t>
                      </a:r>
                    </a:p>
                  </a:txBody>
                  <a:tcPr anchor="ctr">
                    <a:solidFill>
                      <a:srgbClr val="FFEFD9"/>
                    </a:solidFill>
                  </a:tcPr>
                </a:tc>
              </a:tr>
              <a:tr h="652272">
                <a:tc>
                  <a:txBody>
                    <a:bodyPr wrap="square"/>
                    <a:lstStyle/>
                    <a:p>
                      <a:r>
                        <a:rPr sz="1600" b="1">
                          <a:solidFill>
                            <a:srgbClr val="1F2A44"/>
                          </a:solidFill>
                          <a:latin typeface="Arial"/>
                          <a:ea typeface="Microsoft YaHei"/>
                        </a:rPr>
                        <a:t>Emphasis</a:t>
                      </a:r>
                    </a:p>
                  </a:txBody>
                  <a:tcPr anchor="ctr">
                    <a:solidFill>
                      <a:srgbClr val="FFFFFF"/>
                    </a:solidFill>
                  </a:tcPr>
                </a:tc>
                <a:tc>
                  <a:txBody>
                    <a:bodyPr wrap="square"/>
                    <a:lstStyle/>
                    <a:p>
                      <a:r>
                        <a:rPr sz="1600" b="0">
                          <a:solidFill>
                            <a:srgbClr val="1F2A44"/>
                          </a:solidFill>
                          <a:latin typeface="Arial"/>
                          <a:ea typeface="Microsoft YaHei"/>
                        </a:rPr>
                        <a:t>What’s important here is… ★ / Let me draw your attention to… ★</a:t>
                      </a:r>
                    </a:p>
                  </a:txBody>
                  <a:tcPr anchor="ctr">
                    <a:solidFill>
                      <a:srgbClr val="FFFFFF"/>
                    </a:solidFill>
                  </a:tcPr>
                </a:tc>
              </a:tr>
              <a:tr h="408432">
                <a:tc>
                  <a:txBody>
                    <a:bodyPr wrap="square"/>
                    <a:lstStyle/>
                    <a:p>
                      <a:r>
                        <a:rPr sz="1600" b="1">
                          <a:solidFill>
                            <a:srgbClr val="1F2A44"/>
                          </a:solidFill>
                          <a:latin typeface="Arial"/>
                          <a:ea typeface="Microsoft YaHei"/>
                        </a:rPr>
                        <a:t>Summary</a:t>
                      </a:r>
                    </a:p>
                  </a:txBody>
                  <a:tcPr anchor="ctr">
                    <a:solidFill>
                      <a:srgbClr val="FFEFD9"/>
                    </a:solidFill>
                  </a:tcPr>
                </a:tc>
                <a:tc>
                  <a:txBody>
                    <a:bodyPr wrap="square"/>
                    <a:lstStyle/>
                    <a:p>
                      <a:r>
                        <a:rPr sz="1600" b="0">
                          <a:solidFill>
                            <a:srgbClr val="1F2A44"/>
                          </a:solidFill>
                          <a:latin typeface="Arial"/>
                          <a:ea typeface="Microsoft YaHei"/>
                        </a:rPr>
                        <a:t>To sum up, … / The key takeaway is… ★</a:t>
                      </a:r>
                    </a:p>
                  </a:txBody>
                  <a:tcPr anchor="ctr">
                    <a:solidFill>
                      <a:srgbClr val="FFEFD9"/>
                    </a:solidFill>
                  </a:tcPr>
                </a:tc>
              </a:tr>
              <a:tr h="652272">
                <a:tc>
                  <a:txBody>
                    <a:bodyPr wrap="square"/>
                    <a:lstStyle/>
                    <a:p>
                      <a:r>
                        <a:rPr sz="1600" b="1">
                          <a:solidFill>
                            <a:srgbClr val="1F2A44"/>
                          </a:solidFill>
                          <a:latin typeface="Arial"/>
                          <a:ea typeface="Microsoft YaHei"/>
                        </a:rPr>
                        <a:t>Close</a:t>
                      </a:r>
                    </a:p>
                  </a:txBody>
                  <a:tcPr anchor="ctr">
                    <a:solidFill>
                      <a:srgbClr val="FFFFFF"/>
                    </a:solidFill>
                  </a:tcPr>
                </a:tc>
                <a:tc>
                  <a:txBody>
                    <a:bodyPr wrap="square"/>
                    <a:lstStyle/>
                    <a:p>
                      <a:r>
                        <a:rPr sz="1600" b="0">
                          <a:solidFill>
                            <a:srgbClr val="1F2A44"/>
                          </a:solidFill>
                          <a:latin typeface="Arial"/>
                          <a:ea typeface="Microsoft YaHei"/>
                        </a:rPr>
                        <a:t>I’d like to leave you with one thought. ★ / Thank you for your attention.</a:t>
                      </a:r>
                    </a:p>
                  </a:txBody>
                  <a:tcPr anchor="ctr">
                    <a:solidFill>
                      <a:srgbClr val="FFFFFF"/>
                    </a:solidFill>
                  </a:tcPr>
                </a:tc>
              </a:tr>
            </a:tbl>
          </a:graphicData>
        </a:graphic>
      </p:graphicFrame>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Delivery tips: voice and body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演讲技巧:声音与肢体</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Speed: </a:t>
            </a:r>
            <a:r>
              <a:rPr sz="1700" b="0">
                <a:solidFill>
                  <a:srgbClr val="1F2A44"/>
                </a:solidFill>
                <a:latin typeface="Arial"/>
                <a:ea typeface="Microsoft YaHei"/>
              </a:rPr>
              <a:t>about 120–140 words per minute. Slow down for numbers and key points.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Pauses: </a:t>
            </a:r>
            <a:r>
              <a:rPr sz="1700" b="0">
                <a:solidFill>
                  <a:srgbClr val="1F2A44"/>
                </a:solidFill>
                <a:latin typeface="Arial"/>
                <a:ea typeface="Microsoft YaHei"/>
              </a:rPr>
              <a:t>stop for 1–2 seconds after the key point. It makes the audience pay attention.</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Stress: </a:t>
            </a:r>
            <a:r>
              <a:rPr sz="1700" b="0">
                <a:solidFill>
                  <a:srgbClr val="1F2A44"/>
                </a:solidFill>
                <a:latin typeface="Arial"/>
                <a:ea typeface="Microsoft YaHei"/>
              </a:rPr>
              <a:t>Stress the key word: “Sales rose by TEN percent.”</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Eye contact: </a:t>
            </a:r>
            <a:r>
              <a:rPr sz="1700" b="0">
                <a:solidFill>
                  <a:srgbClr val="1F2A44"/>
                </a:solidFill>
                <a:latin typeface="Arial"/>
                <a:ea typeface="Microsoft YaHei"/>
              </a:rPr>
              <a:t>Look at 3–4 people across the room, not at the screen.</a:t>
            </a:r>
          </a:p>
        </p:txBody>
      </p:sp>
      <p:sp>
        <p:nvSpPr>
          <p:cNvPr id="21" name="Rounded Rectangle 20"/>
          <p:cNvSpPr/>
          <p:nvPr/>
        </p:nvSpPr>
        <p:spPr>
          <a:xfrm>
            <a:off x="548640" y="355091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5091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550916"/>
            <a:ext cx="10728655" cy="441959"/>
          </a:xfrm>
          <a:prstGeom prst="rect">
            <a:avLst/>
          </a:prstGeom>
          <a:noFill/>
        </p:spPr>
        <p:txBody>
          <a:bodyPr wrap="square" anchor="ctr">
            <a:spAutoFit/>
          </a:bodyPr>
          <a:lstStyle/>
          <a:p>
            <a:r>
              <a:rPr sz="1700" b="1">
                <a:solidFill>
                  <a:srgbClr val="9B6BE0"/>
                </a:solidFill>
                <a:latin typeface="Arial"/>
                <a:ea typeface="Microsoft YaHei"/>
              </a:rPr>
              <a:t>Hands: </a:t>
            </a:r>
            <a:r>
              <a:rPr sz="1700" b="0">
                <a:solidFill>
                  <a:srgbClr val="1F2A44"/>
                </a:solidFill>
                <a:latin typeface="Arial"/>
                <a:ea typeface="Microsoft YaHei"/>
              </a:rPr>
              <a:t>Open gestures; don’t put your hands in your pockets.</a:t>
            </a:r>
          </a:p>
        </p:txBody>
      </p:sp>
      <p:sp>
        <p:nvSpPr>
          <p:cNvPr id="24" name="Rounded Rectangle 23"/>
          <p:cNvSpPr/>
          <p:nvPr/>
        </p:nvSpPr>
        <p:spPr>
          <a:xfrm>
            <a:off x="548640" y="4084315"/>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084315"/>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084315"/>
            <a:ext cx="10728655" cy="701039"/>
          </a:xfrm>
          <a:prstGeom prst="rect">
            <a:avLst/>
          </a:prstGeom>
          <a:noFill/>
        </p:spPr>
        <p:txBody>
          <a:bodyPr wrap="square" anchor="ctr">
            <a:spAutoFit/>
          </a:bodyPr>
          <a:lstStyle/>
          <a:p>
            <a:r>
              <a:rPr sz="1700" b="1">
                <a:solidFill>
                  <a:srgbClr val="FF6B5B"/>
                </a:solidFill>
                <a:latin typeface="Arial"/>
                <a:ea typeface="Microsoft YaHei"/>
              </a:rPr>
              <a:t>Slides: </a:t>
            </a:r>
            <a:r>
              <a:rPr sz="1700" b="0">
                <a:solidFill>
                  <a:srgbClr val="1F2A44"/>
                </a:solidFill>
                <a:latin typeface="Arial"/>
                <a:ea typeface="Microsoft YaHei"/>
              </a:rPr>
              <a:t>one message per slide, a title that says the point (“Sales rose 12%” is better than “Sales”), pictures instead of paragraphs.</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Signposting: guiding your audience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路标语言</a:t>
            </a:r>
          </a:p>
        </p:txBody>
      </p:sp>
      <p:graphicFrame>
        <p:nvGraphicFramePr>
          <p:cNvPr id="9" name="Table 8"/>
          <p:cNvGraphicFramePr>
            <a:graphicFrameLocks noGrp="1"/>
          </p:cNvGraphicFramePr>
          <p:nvPr/>
        </p:nvGraphicFramePr>
        <p:xfrm>
          <a:off x="548640" y="1417320"/>
          <a:ext cx="11094415" cy="375513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Phrases</a:t>
                      </a:r>
                    </a:p>
                  </a:txBody>
                  <a:tcPr anchor="ctr">
                    <a:solidFill>
                      <a:srgbClr val="3CC49A"/>
                    </a:solidFill>
                  </a:tcPr>
                </a:tc>
              </a:tr>
              <a:tr h="408432">
                <a:tc>
                  <a:txBody>
                    <a:bodyPr wrap="square"/>
                    <a:lstStyle/>
                    <a:p>
                      <a:r>
                        <a:rPr sz="1600" b="1">
                          <a:solidFill>
                            <a:srgbClr val="1F2A44"/>
                          </a:solidFill>
                          <a:latin typeface="Arial"/>
                          <a:ea typeface="Microsoft YaHei"/>
                        </a:rPr>
                        <a:t>Order</a:t>
                      </a:r>
                    </a:p>
                  </a:txBody>
                  <a:tcPr anchor="ctr">
                    <a:solidFill>
                      <a:srgbClr val="FFFFFF"/>
                    </a:solidFill>
                  </a:tcPr>
                </a:tc>
                <a:tc>
                  <a:txBody>
                    <a:bodyPr wrap="square"/>
                    <a:lstStyle/>
                    <a:p>
                      <a:r>
                        <a:rPr sz="1600" b="0">
                          <a:solidFill>
                            <a:srgbClr val="1F2A44"/>
                          </a:solidFill>
                          <a:latin typeface="Arial"/>
                          <a:ea typeface="Microsoft YaHei"/>
                        </a:rPr>
                        <a:t>First, … Second, … Third, … Finally, …</a:t>
                      </a:r>
                    </a:p>
                  </a:txBody>
                  <a:tcPr anchor="ctr">
                    <a:solidFill>
                      <a:srgbClr val="FFFFFF"/>
                    </a:solidFill>
                  </a:tcPr>
                </a:tc>
              </a:tr>
              <a:tr h="652272">
                <a:tc>
                  <a:txBody>
                    <a:bodyPr wrap="square"/>
                    <a:lstStyle/>
                    <a:p>
                      <a:r>
                        <a:rPr sz="1600" b="1">
                          <a:solidFill>
                            <a:srgbClr val="1F2A44"/>
                          </a:solidFill>
                          <a:latin typeface="Arial"/>
                          <a:ea typeface="Microsoft YaHei"/>
                        </a:rPr>
                        <a:t>Move on</a:t>
                      </a:r>
                    </a:p>
                  </a:txBody>
                  <a:tcPr anchor="ctr">
                    <a:solidFill>
                      <a:srgbClr val="FFEFD9"/>
                    </a:solidFill>
                  </a:tcPr>
                </a:tc>
                <a:tc>
                  <a:txBody>
                    <a:bodyPr wrap="square"/>
                    <a:lstStyle/>
                    <a:p>
                      <a:r>
                        <a:rPr sz="1600" b="0">
                          <a:solidFill>
                            <a:srgbClr val="1F2A44"/>
                          </a:solidFill>
                          <a:latin typeface="Arial"/>
                          <a:ea typeface="Microsoft YaHei"/>
                        </a:rPr>
                        <a:t>Let’s move on to… / Now let’s turn to… / That brings me to…</a:t>
                      </a:r>
                    </a:p>
                  </a:txBody>
                  <a:tcPr anchor="ctr">
                    <a:solidFill>
                      <a:srgbClr val="FFEFD9"/>
                    </a:solidFill>
                  </a:tcPr>
                </a:tc>
              </a:tr>
              <a:tr h="408432">
                <a:tc>
                  <a:txBody>
                    <a:bodyPr wrap="square"/>
                    <a:lstStyle/>
                    <a:p>
                      <a:r>
                        <a:rPr sz="1600" b="1">
                          <a:solidFill>
                            <a:srgbClr val="1F2A44"/>
                          </a:solidFill>
                          <a:latin typeface="Arial"/>
                          <a:ea typeface="Microsoft YaHei"/>
                        </a:rPr>
                        <a:t>Go back</a:t>
                      </a:r>
                    </a:p>
                  </a:txBody>
                  <a:tcPr anchor="ctr">
                    <a:solidFill>
                      <a:srgbClr val="FFFFFF"/>
                    </a:solidFill>
                  </a:tcPr>
                </a:tc>
                <a:tc>
                  <a:txBody>
                    <a:bodyPr wrap="square"/>
                    <a:lstStyle/>
                    <a:p>
                      <a:r>
                        <a:rPr sz="1600" b="0">
                          <a:solidFill>
                            <a:srgbClr val="1F2A44"/>
                          </a:solidFill>
                          <a:latin typeface="Arial"/>
                          <a:ea typeface="Microsoft YaHei"/>
                        </a:rPr>
                        <a:t>As I mentioned earlier, … / Let me go back to…</a:t>
                      </a:r>
                    </a:p>
                  </a:txBody>
                  <a:tcPr anchor="ctr">
                    <a:solidFill>
                      <a:srgbClr val="FFFFFF"/>
                    </a:solidFill>
                  </a:tcPr>
                </a:tc>
              </a:tr>
              <a:tr h="652272">
                <a:tc>
                  <a:txBody>
                    <a:bodyPr wrap="square"/>
                    <a:lstStyle/>
                    <a:p>
                      <a:r>
                        <a:rPr sz="1600" b="1">
                          <a:solidFill>
                            <a:srgbClr val="1F2A44"/>
                          </a:solidFill>
                          <a:latin typeface="Arial"/>
                          <a:ea typeface="Microsoft YaHei"/>
                        </a:rPr>
                        <a:t>Look ahead</a:t>
                      </a:r>
                    </a:p>
                  </a:txBody>
                  <a:tcPr anchor="ctr">
                    <a:solidFill>
                      <a:srgbClr val="FFEFD9"/>
                    </a:solidFill>
                  </a:tcPr>
                </a:tc>
                <a:tc>
                  <a:txBody>
                    <a:bodyPr wrap="square"/>
                    <a:lstStyle/>
                    <a:p>
                      <a:r>
                        <a:rPr sz="1600" b="0">
                          <a:solidFill>
                            <a:srgbClr val="1F2A44"/>
                          </a:solidFill>
                          <a:latin typeface="Arial"/>
                          <a:ea typeface="Microsoft YaHei"/>
                        </a:rPr>
                        <a:t>I’ll come back to this later. / More on that in a moment.</a:t>
                      </a:r>
                    </a:p>
                  </a:txBody>
                  <a:tcPr anchor="ctr">
                    <a:solidFill>
                      <a:srgbClr val="FFEFD9"/>
                    </a:solidFill>
                  </a:tcPr>
                </a:tc>
              </a:tr>
              <a:tr h="408432">
                <a:tc>
                  <a:txBody>
                    <a:bodyPr wrap="square"/>
                    <a:lstStyle/>
                    <a:p>
                      <a:r>
                        <a:rPr sz="1600" b="1">
                          <a:solidFill>
                            <a:srgbClr val="1F2A44"/>
                          </a:solidFill>
                          <a:latin typeface="Arial"/>
                          <a:ea typeface="Microsoft YaHei"/>
                        </a:rPr>
                        <a:t>Example</a:t>
                      </a:r>
                    </a:p>
                  </a:txBody>
                  <a:tcPr anchor="ctr">
                    <a:solidFill>
                      <a:srgbClr val="FFFFFF"/>
                    </a:solidFill>
                  </a:tcPr>
                </a:tc>
                <a:tc>
                  <a:txBody>
                    <a:bodyPr wrap="square"/>
                    <a:lstStyle/>
                    <a:p>
                      <a:r>
                        <a:rPr sz="1600" b="0">
                          <a:solidFill>
                            <a:srgbClr val="1F2A44"/>
                          </a:solidFill>
                          <a:latin typeface="Arial"/>
                          <a:ea typeface="Microsoft YaHei"/>
                        </a:rPr>
                        <a:t>For example, … / Let me give you an example.</a:t>
                      </a:r>
                    </a:p>
                  </a:txBody>
                  <a:tcPr anchor="ctr">
                    <a:solidFill>
                      <a:srgbClr val="FFFFFF"/>
                    </a:solidFill>
                  </a:tcPr>
                </a:tc>
              </a:tr>
              <a:tr h="408432">
                <a:tc>
                  <a:txBody>
                    <a:bodyPr wrap="square"/>
                    <a:lstStyle/>
                    <a:p>
                      <a:r>
                        <a:rPr sz="1600" b="1">
                          <a:solidFill>
                            <a:srgbClr val="1F2A44"/>
                          </a:solidFill>
                          <a:latin typeface="Arial"/>
                          <a:ea typeface="Microsoft YaHei"/>
                        </a:rPr>
                        <a:t>Contrast</a:t>
                      </a:r>
                    </a:p>
                  </a:txBody>
                  <a:tcPr anchor="ctr">
                    <a:solidFill>
                      <a:srgbClr val="FFEFD9"/>
                    </a:solidFill>
                  </a:tcPr>
                </a:tc>
                <a:tc>
                  <a:txBody>
                    <a:bodyPr wrap="square"/>
                    <a:lstStyle/>
                    <a:p>
                      <a:r>
                        <a:rPr sz="1600" b="0">
                          <a:solidFill>
                            <a:srgbClr val="1F2A44"/>
                          </a:solidFill>
                          <a:latin typeface="Arial"/>
                          <a:ea typeface="Microsoft YaHei"/>
                        </a:rPr>
                        <a:t>However, … / On the other hand, …</a:t>
                      </a:r>
                    </a:p>
                  </a:txBody>
                  <a:tcPr anchor="ctr">
                    <a:solidFill>
                      <a:srgbClr val="FFEFD9"/>
                    </a:solidFill>
                  </a:tcPr>
                </a:tc>
              </a:tr>
              <a:tr h="408432">
                <a:tc>
                  <a:txBody>
                    <a:bodyPr wrap="square"/>
                    <a:lstStyle/>
                    <a:p>
                      <a:r>
                        <a:rPr sz="1600" b="1">
                          <a:solidFill>
                            <a:srgbClr val="1F2A44"/>
                          </a:solidFill>
                          <a:latin typeface="Arial"/>
                          <a:ea typeface="Microsoft YaHei"/>
                        </a:rPr>
                        <a:t>Summarize</a:t>
                      </a:r>
                    </a:p>
                  </a:txBody>
                  <a:tcPr anchor="ctr">
                    <a:solidFill>
                      <a:srgbClr val="FFFFFF"/>
                    </a:solidFill>
                  </a:tcPr>
                </a:tc>
                <a:tc>
                  <a:txBody>
                    <a:bodyPr wrap="square"/>
                    <a:lstStyle/>
                    <a:p>
                      <a:r>
                        <a:rPr sz="1600" b="0">
                          <a:solidFill>
                            <a:srgbClr val="1F2A44"/>
                          </a:solidFill>
                          <a:latin typeface="Arial"/>
                          <a:ea typeface="Microsoft YaHei"/>
                        </a:rPr>
                        <a:t>To sum up, … / In short, …</a:t>
                      </a:r>
                    </a:p>
                  </a:txBody>
                  <a:tcPr anchor="ctr">
                    <a:solidFill>
                      <a:srgbClr val="FFFFFF"/>
                    </a:solidFill>
                  </a:tcPr>
                </a:tc>
              </a:tr>
            </a:tbl>
          </a:graphicData>
        </a:graphic>
      </p:graphicFrame>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Today I will introduce about our company.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Today I’d like to talk about our company. / I’ll introduce our company.</a:t>
            </a:r>
          </a:p>
          <a:p>
            <a:pPr algn="l">
              <a:spcAft>
                <a:spcPts val="200"/>
              </a:spcAft>
            </a:pPr>
            <a:r>
              <a:rPr sz="1200" b="0">
                <a:solidFill>
                  <a:srgbClr val="FFFFFF"/>
                </a:solidFill>
                <a:latin typeface="Arial"/>
                <a:ea typeface="Microsoft YaHei"/>
              </a:rPr>
              <a:t>introduce 后不加 about</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make a presentation.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going to give a presentation.</a:t>
            </a:r>
          </a:p>
          <a:p>
            <a:pPr algn="l">
              <a:spcAft>
                <a:spcPts val="200"/>
              </a:spcAft>
            </a:pPr>
            <a:r>
              <a:rPr sz="1200" b="0">
                <a:solidFill>
                  <a:srgbClr val="FFFFFF"/>
                </a:solidFill>
                <a:latin typeface="Arial"/>
                <a:ea typeface="Microsoft YaHei"/>
              </a:rPr>
              <a:t>give a presentation</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Next, I will talk second.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Next, I’ll move on to my second point.</a:t>
            </a:r>
          </a:p>
          <a:p>
            <a:pPr algn="l">
              <a:spcAft>
                <a:spcPts val="200"/>
              </a:spcAft>
            </a:pPr>
            <a:r>
              <a:rPr sz="1200" b="0">
                <a:solidFill>
                  <a:srgbClr val="FFFFFF"/>
                </a:solidFill>
                <a:latin typeface="Arial"/>
                <a:ea typeface="Microsoft YaHei"/>
              </a:rPr>
              <a:t>完整的路标语</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 the following I will tell…</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 me start by looking at…</a:t>
            </a:r>
          </a:p>
          <a:p>
            <a:pPr algn="l">
              <a:spcAft>
                <a:spcPts val="200"/>
              </a:spcAft>
            </a:pPr>
            <a:r>
              <a:rPr sz="1200" b="0">
                <a:solidFill>
                  <a:srgbClr val="FFFFFF"/>
                </a:solidFill>
                <a:latin typeface="Arial"/>
                <a:ea typeface="Microsoft YaHei"/>
              </a:rPr>
              <a:t>不说 “in the following”</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look at this PPT.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As you can see on this slide, …</a:t>
            </a:r>
          </a:p>
          <a:p>
            <a:pPr algn="l">
              <a:spcAft>
                <a:spcPts val="200"/>
              </a:spcAft>
            </a:pPr>
            <a:r>
              <a:rPr sz="1200" b="0">
                <a:solidFill>
                  <a:srgbClr val="FFFFFF"/>
                </a:solidFill>
                <a:latin typeface="Arial"/>
                <a:ea typeface="Microsoft YaHei"/>
              </a:rPr>
              <a:t>口语用 slide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listening. (informal)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attention.</a:t>
            </a:r>
          </a:p>
          <a:p>
            <a:pPr algn="l">
              <a:spcAft>
                <a:spcPts val="200"/>
              </a:spcAft>
            </a:pPr>
            <a:r>
              <a:rPr sz="1200" b="0">
                <a:solidFill>
                  <a:srgbClr val="FFFFFF"/>
                </a:solidFill>
                <a:latin typeface="Arial"/>
                <a:ea typeface="Microsoft YaHei"/>
              </a:rPr>
              <a:t>正式场合</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nervous, my English is bad. (at the start)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Good morning, everyone. Today I’d like to talk about…</a:t>
            </a:r>
          </a:p>
          <a:p>
            <a:pPr algn="l">
              <a:spcAft>
                <a:spcPts val="200"/>
              </a:spcAft>
            </a:pPr>
            <a:r>
              <a:rPr sz="1200" b="0">
                <a:solidFill>
                  <a:srgbClr val="FFFFFF"/>
                </a:solidFill>
                <a:latin typeface="Arial"/>
                <a:ea typeface="Microsoft YaHei"/>
              </a:rPr>
              <a:t>不要在开场为英语道歉</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sales increase last year.</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sales increased last year.</a:t>
            </a:r>
          </a:p>
          <a:p>
            <a:pPr algn="l">
              <a:spcAft>
                <a:spcPts val="200"/>
              </a:spcAft>
            </a:pPr>
            <a:r>
              <a:rPr sz="1200" b="0">
                <a:solidFill>
                  <a:srgbClr val="FFFFFF"/>
                </a:solidFill>
                <a:latin typeface="Arial"/>
                <a:ea typeface="Microsoft YaHei"/>
              </a:rPr>
              <a:t>过去式</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Any question?</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there any questions? / I’d be happy to take any questions.</a:t>
            </a:r>
          </a:p>
          <a:p>
            <a:pPr algn="l">
              <a:spcAft>
                <a:spcPts val="200"/>
              </a:spcAft>
            </a:pPr>
            <a:r>
              <a:rPr sz="1200" b="0">
                <a:solidFill>
                  <a:srgbClr val="FFFFFF"/>
                </a:solidFill>
                <a:latin typeface="Arial"/>
                <a:ea typeface="Microsoft YaHei"/>
              </a:rPr>
              <a:t>完整问句</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presention / audiance</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presentation / audience</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give a presentation, talk about (not “introduce about”), on this slide, Are there any questions?. Never apologize for your English at the start.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Start with the audience, not with yourself. Say what is in it for them: “By the end of this talk, you’ll know how to cut costs by 10%.”</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Stories and humour help. In English-speaking cultures, a short personal story or light humour is common, but keep it relevant and respectful.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Conclusion + call to action. Westerners expect a clear message at the end: “I’d like you to approve this plan.” Don’t end with “That’s all, thank you” without a conclusion.</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Don’t read your slides. The audience can read faster than you can speak. Use slides to support you, not replace you.</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Time limits are strict. If you have 10 minutes, finish in 9–10. Overrunning is seen as disrespectful.</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open a presentation with a greeting, the topic, the purpose and the structure.</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signpost each section (Let’s move on to… That brings me to…).</a:t>
            </a:r>
          </a:p>
        </p:txBody>
      </p:sp>
      <p:sp>
        <p:nvSpPr>
          <p:cNvPr id="16" name="TextBox 15"/>
          <p:cNvSpPr txBox="1"/>
          <p:nvPr/>
        </p:nvSpPr>
        <p:spPr>
          <a:xfrm>
            <a:off x="9539935" y="2350008"/>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91693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1693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91693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describe a slide or a chart (As you can see… The graph shows… peaked at… levelled off).</a:t>
            </a:r>
          </a:p>
        </p:txBody>
      </p:sp>
      <p:sp>
        <p:nvSpPr>
          <p:cNvPr id="20" name="TextBox 19"/>
          <p:cNvSpPr txBox="1"/>
          <p:nvPr/>
        </p:nvSpPr>
        <p:spPr>
          <a:xfrm>
            <a:off x="9539935" y="291693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75818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5818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75818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close with a summary, a key takeaway and an invitation for questions.</a:t>
            </a:r>
          </a:p>
        </p:txBody>
      </p:sp>
      <p:sp>
        <p:nvSpPr>
          <p:cNvPr id="24" name="TextBox 23"/>
          <p:cNvSpPr txBox="1"/>
          <p:nvPr/>
        </p:nvSpPr>
        <p:spPr>
          <a:xfrm>
            <a:off x="9539935" y="375818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9943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9943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9943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give a presentation, talk about and past tense for finished trends correctly.</a:t>
            </a:r>
          </a:p>
        </p:txBody>
      </p:sp>
      <p:sp>
        <p:nvSpPr>
          <p:cNvPr id="28" name="TextBox 27"/>
          <p:cNvSpPr txBox="1"/>
          <p:nvPr/>
        </p:nvSpPr>
        <p:spPr>
          <a:xfrm>
            <a:off x="9539935" y="459943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35 The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signposting, give a presentation / talk about, trend verbs, and pace (slow down for numbers).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9 · Lesson 36 Questions and answers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Questions and answers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演讲中的问题与回答</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handle questions after a presentation: invite and listen to questions, check you understand, answer briefly, say when you do not know, handle difficult or hostile questions, and finish politely.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feel when someone asks you a question after your presentation?</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if you don’t know the answer?</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most difficult type of question for you? Why?</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presentation where you received a good (or difficult) question. What happened?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a question is too long or not clear?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第 4 题讲过去的事,请用过去式(received, answered, asked)。第 2 题可以说 “I say, ‘I’ll find out and get back to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800" b="1">
                <a:solidFill>
                  <a:srgbClr val="1F2A44"/>
                </a:solidFill>
                <a:latin typeface="Arial"/>
                <a:ea typeface="Microsoft YaHei"/>
              </a:rPr>
              <a:t>Answer three questions after a presentation: easy, difficult, and one you cannot answer.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thank the questioner</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check you understand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answer in 2–3 sentences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check that they are happy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That’s a good question.   💬 If I understand correctly, you’re asking…   💬 I don’t have the exact figure to hand, but…   💬 Does that answer your question?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回答问题先感谢:That’s a good question. 再确认问题:So you’re asking about…?。不知道就坦诚说,并承诺跟进。</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1: Inviting and receiving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邀请与接受提问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Are there any questions?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有什么问题吗?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the end of my talk. Are there any questions?”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anyone like to ask a question?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谁想提问?</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anyone like to ask a question?”</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a good question. / Thank you for asking.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问得好 / 谢谢你的提问</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good question. Thank you for asking.”</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1: Inviting and receiving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邀请与接受提问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If I understand correctly, you’re asking…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如果我理解正确,您是在问……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I understand correctly, you’re asking about the cost.”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repeat the question,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请您重复一下问题好吗?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could you repeat the question, please?”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Answering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回答问题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answer that in two parts.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我分两点来回答</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answer that in two parts: cost and time.”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I mentioned earlier,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正如我之前提到的,……</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I mentioned earlier, the budget is 5 million.”</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put it another way, …</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换句话说,……</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put it another way, we spend less and earn more.”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Answering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回答问题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Does that answer your question?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这回答了您的问题吗?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“Does that answer your question?”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give you an example.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让我举个例子</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give you an example from last year.”</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Difficult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应对难题</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don’t have that figure to hand, but I’ll get back to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我手头没有这个数字,但我会回复您</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have that figure to hand, but I’ll get back to you tomorrow.”</a:t>
            </a:r>
          </a:p>
        </p:txBody>
      </p:sp>
      <p:sp>
        <p:nvSpPr>
          <p:cNvPr id="14" name="Rounded Rectangle 13"/>
          <p:cNvSpPr/>
          <p:nvPr/>
        </p:nvSpPr>
        <p:spPr>
          <a:xfrm>
            <a:off x="548640" y="27305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that’s outside the scope of today’s talk.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恐怕这超出了今天讲座的范围</a:t>
            </a:r>
          </a:p>
        </p:txBody>
      </p:sp>
      <p:sp>
        <p:nvSpPr>
          <p:cNvPr id="18" name="TextBox 17"/>
          <p:cNvSpPr txBox="1"/>
          <p:nvPr/>
        </p:nvSpPr>
        <p:spPr>
          <a:xfrm>
            <a:off x="6675120" y="27762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that’s outside the scope of today’s talk.”</a:t>
            </a:r>
          </a:p>
        </p:txBody>
      </p:sp>
      <p:sp>
        <p:nvSpPr>
          <p:cNvPr id="19" name="Rounded Rectangle 18"/>
          <p:cNvSpPr/>
          <p:nvPr/>
        </p:nvSpPr>
        <p:spPr>
          <a:xfrm>
            <a:off x="548640" y="40436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0436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894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Can we come back to that after the session?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40894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我们会后再讨论这个好吗?</a:t>
            </a:r>
          </a:p>
        </p:txBody>
      </p:sp>
      <p:sp>
        <p:nvSpPr>
          <p:cNvPr id="23" name="TextBox 22"/>
          <p:cNvSpPr txBox="1"/>
          <p:nvPr/>
        </p:nvSpPr>
        <p:spPr>
          <a:xfrm>
            <a:off x="6675120" y="40894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we come back to that after the session?”</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Difficult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应对难题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understand your concern.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我理解您的担忧</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understand your concern. Let me explain.”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all for your questions.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感谢大家的提问</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all for your questions and for your time.”</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请您重复一下问题好吗?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you repeat the question, please?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我们会后再讨论这个好吗?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Can we come back to that after the session?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这回答了您的问题吗?</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Does that answer your question?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换句话说,……</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put it another way, …</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正如我之前提到的,……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I mentioned earlier, …</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有什么问题吗?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Are there any questions?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谁想提问?</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Would anyone like to ask a question?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感谢大家的提问</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all for your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scope</a:t>
            </a:r>
          </a:p>
        </p:txBody>
      </p:sp>
      <p:sp>
        <p:nvSpPr>
          <p:cNvPr id="10" name="Rounded Rectangle 9"/>
          <p:cNvSpPr/>
          <p:nvPr/>
        </p:nvSpPr>
        <p:spPr>
          <a:xfrm>
            <a:off x="3017520"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mentioned</a:t>
            </a:r>
          </a:p>
        </p:txBody>
      </p:sp>
      <p:sp>
        <p:nvSpPr>
          <p:cNvPr id="11" name="Rounded Rectangle 10"/>
          <p:cNvSpPr/>
          <p:nvPr/>
        </p:nvSpPr>
        <p:spPr>
          <a:xfrm>
            <a:off x="4462272"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understand</a:t>
            </a:r>
          </a:p>
        </p:txBody>
      </p:sp>
      <p:sp>
        <p:nvSpPr>
          <p:cNvPr id="12" name="Rounded Rectangle 11"/>
          <p:cNvSpPr/>
          <p:nvPr/>
        </p:nvSpPr>
        <p:spPr>
          <a:xfrm>
            <a:off x="6016752"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hand</a:t>
            </a:r>
          </a:p>
        </p:txBody>
      </p:sp>
      <p:sp>
        <p:nvSpPr>
          <p:cNvPr id="13" name="Rounded Rectangle 12"/>
          <p:cNvSpPr/>
          <p:nvPr/>
        </p:nvSpPr>
        <p:spPr>
          <a:xfrm>
            <a:off x="691286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question</a:t>
            </a:r>
          </a:p>
        </p:txBody>
      </p:sp>
      <p:sp>
        <p:nvSpPr>
          <p:cNvPr id="14" name="Rounded Rectangle 13"/>
          <p:cNvSpPr/>
          <p:nvPr/>
        </p:nvSpPr>
        <p:spPr>
          <a:xfrm>
            <a:off x="824788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repeat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That’s a good _______. Thank you for asking.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question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If I _______ correctly, you’re asking about the cost.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understand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Sorry, could you _______ the question, please?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repeat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As I _______ earlier, the budget is 5 million.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mentioned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don’t have that figure to _______, but I’ll get back to you.</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afraid that’s outside the _______ of today’s talk.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question (not “quetion”), mention (not “mension”), scope, concern. Say “I’ll get back to you” (not “I’ll reply you”). Ask someone a question (not “ask a question to someone”).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Answering easy and difficult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回答简单与困难问题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your presentation on next year’s plan, three people ask questions.</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presenter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finance</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Mr Anders, guest</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easy and difficult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the end of my presentation. Thank you for your attention. Are there any questions?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Could you tell us how much the plan will cost?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question. The total budget is 5 million yuan, of which 3 million is for marketing. Does that answer your question?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thanks.</a:t>
            </a:r>
          </a:p>
        </p:txBody>
      </p:sp>
      <p:sp>
        <p:nvSpPr>
          <p:cNvPr id="20" name="Rounded Rectangle 19"/>
          <p:cNvSpPr/>
          <p:nvPr/>
        </p:nvSpPr>
        <p:spPr>
          <a:xfrm>
            <a:off x="548640" y="4233672"/>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Anders</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 question about risk. If the main customer leaves, what happens?</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easy and difficult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135940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I understand correctly, you’re asking what we’d do if our biggest customer left. Let me answer in two parts. First, we have two other large customers. Second, we’re signing new customers to reduce the risk.</a:t>
            </a:r>
          </a:p>
        </p:txBody>
      </p:sp>
      <p:sp>
        <p:nvSpPr>
          <p:cNvPr id="11" name="Rounded Rectangle 10"/>
          <p:cNvSpPr/>
          <p:nvPr/>
        </p:nvSpPr>
        <p:spPr>
          <a:xfrm>
            <a:off x="548640" y="2776728"/>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2" name="TextBox 11"/>
          <p:cNvSpPr txBox="1"/>
          <p:nvPr/>
        </p:nvSpPr>
        <p:spPr>
          <a:xfrm>
            <a:off x="274320" y="321564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776728"/>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a number for that?</a:t>
            </a:r>
          </a:p>
        </p:txBody>
      </p:sp>
      <p:sp>
        <p:nvSpPr>
          <p:cNvPr id="14" name="Rounded Rectangle 13"/>
          <p:cNvSpPr/>
          <p:nvPr/>
        </p:nvSpPr>
        <p:spPr>
          <a:xfrm>
            <a:off x="548640" y="335889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79780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35889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have the exact figure to hand, but I’ll get back to you by tomorrow with the details.</a:t>
            </a:r>
          </a:p>
        </p:txBody>
      </p:sp>
      <p:sp>
        <p:nvSpPr>
          <p:cNvPr id="17" name="Rounded Rectangle 16"/>
          <p:cNvSpPr/>
          <p:nvPr/>
        </p:nvSpPr>
        <p:spPr>
          <a:xfrm>
            <a:off x="548640" y="423062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66953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4230624"/>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helpful.</a:t>
            </a:r>
          </a:p>
        </p:txBody>
      </p:sp>
      <p:sp>
        <p:nvSpPr>
          <p:cNvPr id="20" name="Rounded Rectangle 19"/>
          <p:cNvSpPr/>
          <p:nvPr/>
        </p:nvSpPr>
        <p:spPr>
          <a:xfrm>
            <a:off x="10911535" y="481279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525170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81279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more question: why did you choose Shenzhen for the new office?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easy and difficult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that’s outside the scope of today’s talk, but I’d be happy to discuss it after the session.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all for your questions.</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Answering easy and difficult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Q&amp;A session after a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Answer an easy question, a hard question, and one you can’t answer.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Audience. Ask 3 questions (cost, risk, a detail you don’t know).</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That’s a good question. · If I understand correctly… · I don’t have that figure to hand… · Does that answer your question? · outside the scope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3 questions honestly and politely in 2 minutes.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question is unclear. Say: “Sorry, I’m not sure I’ve understood. Could you rephrase that?”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Two questions at once. Say: “Let me take your questions one at a time.”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 language: “To put it another way,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Handling a critical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应对质疑</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challenges your plan: “I think this is too expensive. Why should we do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Park, senior manager</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Handling a critical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Are there any more questions?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Park</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Frankly, I think the plan is too expensive. Why should we spend five million?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raising that. I understand your concern. May I ask which part of the cost worries you most?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marketing budget. Three million seems a lot.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Let me put it another way: the marketing budget is 12% of expected sales, which is below the industry average.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what if the sales target isn’t reached?</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a critical question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In that case, we can reduce the marketing spend after the first quarter. We’ve built that into the plan.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Can you show me the figures?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you the detailed budget by tomorrow, if that’s OK.</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think it’s important that you are comfortable with the numbers.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that.</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Handling a critical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senior person challenges your plan with a difficult question.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Stay calm, respond with facts and offer evidence.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Senior manager. Challenges the cost or the risk.</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Thank you for raising that. · I understand your concern. · Let me put it another way. · That’s a fair point. · I’ll send you the details.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Stay polite, answer with facts, offer a follow-up.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interrupts your answer. Say: “May I just finish this point? Then I’d like to hear your view.”</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don’t agree, but you want to stay polite: “I see where you’re coming from, but our research shows something different.”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Close the question: “Does that address your concern?”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prepare for the Q&amp;A part of a presentation?</a:t>
            </a:r>
          </a:p>
          <a:p>
            <a:pPr algn="l">
              <a:lnSpc>
                <a:spcPct val="115000"/>
              </a:lnSpc>
              <a:spcAft>
                <a:spcPts val="800"/>
              </a:spcAft>
            </a:pPr>
            <a:r>
              <a:rPr sz="1400" b="0">
                <a:solidFill>
                  <a:srgbClr val="5F677A"/>
                </a:solidFill>
                <a:latin typeface="Arial"/>
                <a:ea typeface="Microsoft YaHei"/>
              </a:rPr>
              <a:t>💬 “I write down possible questions and…” / “I ask a colleague to ask me tough questions.”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a question is hostile?</a:t>
            </a:r>
          </a:p>
          <a:p>
            <a:pPr algn="l">
              <a:lnSpc>
                <a:spcPct val="115000"/>
              </a:lnSpc>
              <a:spcAft>
                <a:spcPts val="800"/>
              </a:spcAft>
            </a:pPr>
            <a:r>
              <a:rPr sz="1400" b="0">
                <a:solidFill>
                  <a:srgbClr val="5F677A"/>
                </a:solidFill>
                <a:latin typeface="Arial"/>
                <a:ea typeface="Microsoft YaHei"/>
              </a:rPr>
              <a:t>💬 “I stay calm and say ‘I understand your concern.’” / “I answer with facts, not emotions.”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say “I don’t know”? How?</a:t>
            </a:r>
          </a:p>
          <a:p>
            <a:pPr algn="l">
              <a:lnSpc>
                <a:spcPct val="115000"/>
              </a:lnSpc>
              <a:spcAft>
                <a:spcPts val="800"/>
              </a:spcAft>
            </a:pPr>
            <a:r>
              <a:rPr sz="1400" b="0">
                <a:solidFill>
                  <a:srgbClr val="5F677A"/>
                </a:solidFill>
                <a:latin typeface="Arial"/>
                <a:ea typeface="Microsoft YaHei"/>
              </a:rPr>
              <a:t>💬 “Yes, if I say it honestly and offer to find out.” / “I say ‘I don’t have that figure to hand.’”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an answer be?</a:t>
            </a:r>
          </a:p>
          <a:p>
            <a:pPr algn="l">
              <a:lnSpc>
                <a:spcPct val="115000"/>
              </a:lnSpc>
              <a:spcAft>
                <a:spcPts val="800"/>
              </a:spcAft>
            </a:pPr>
            <a:r>
              <a:rPr sz="1400" b="0">
                <a:solidFill>
                  <a:srgbClr val="5F677A"/>
                </a:solidFill>
                <a:latin typeface="Arial"/>
                <a:ea typeface="Microsoft YaHei"/>
              </a:rPr>
              <a:t>💬 “Two or three sentences are enough.” / “I check if the person wants more details.”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end a Q&amp;A session politely?</a:t>
            </a:r>
          </a:p>
          <a:p>
            <a:pPr algn="l">
              <a:lnSpc>
                <a:spcPct val="115000"/>
              </a:lnSpc>
              <a:spcAft>
                <a:spcPts val="800"/>
              </a:spcAft>
            </a:pPr>
            <a:r>
              <a:rPr sz="1400" b="0">
                <a:solidFill>
                  <a:srgbClr val="5F677A"/>
                </a:solidFill>
                <a:latin typeface="Arial"/>
                <a:ea typeface="Microsoft YaHei"/>
              </a:rPr>
              <a:t>💬 “I say ‘I’m afraid we’re out of time.’” / “I thank everyone and offer to talk afterwards.”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it is perfectly OK to say you don’t know, if you do it the right way. I never invent an answer. I say something like,”I don’t have that figure to hand, but I’ll get back to you by tomorrow.” Then I really do it. People trust you more when you are honest and reliable than when you pretend to know everything.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“the right way”(正确的方式)。“I never invent an answer”(我从不编造答案),never 放在动词前。“reliable”(可靠的)是商务高频词。</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Q&amp;A phrase bank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问答环节句型库</a:t>
            </a:r>
          </a:p>
        </p:txBody>
      </p:sp>
      <p:graphicFrame>
        <p:nvGraphicFramePr>
          <p:cNvPr id="9" name="Table 8"/>
          <p:cNvGraphicFramePr>
            <a:graphicFrameLocks noGrp="1"/>
          </p:cNvGraphicFramePr>
          <p:nvPr/>
        </p:nvGraphicFramePr>
        <p:xfrm>
          <a:off x="548640" y="1417320"/>
          <a:ext cx="11094415" cy="383438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Invite</a:t>
                      </a:r>
                    </a:p>
                  </a:txBody>
                  <a:tcPr anchor="ctr">
                    <a:solidFill>
                      <a:srgbClr val="FFFFFF"/>
                    </a:solidFill>
                  </a:tcPr>
                </a:tc>
                <a:tc>
                  <a:txBody>
                    <a:bodyPr wrap="square"/>
                    <a:lstStyle/>
                    <a:p>
                      <a:r>
                        <a:rPr sz="1600" b="0">
                          <a:solidFill>
                            <a:srgbClr val="1F2A44"/>
                          </a:solidFill>
                          <a:latin typeface="Arial"/>
                          <a:ea typeface="Microsoft YaHei"/>
                        </a:rPr>
                        <a:t>Are there any questions? / Would anyone like to ask a question?</a:t>
                      </a:r>
                    </a:p>
                  </a:txBody>
                  <a:tcPr anchor="ctr">
                    <a:solidFill>
                      <a:srgbClr val="FFFFFF"/>
                    </a:solidFill>
                  </a:tcPr>
                </a:tc>
              </a:tr>
              <a:tr h="408432">
                <a:tc>
                  <a:txBody>
                    <a:bodyPr wrap="square"/>
                    <a:lstStyle/>
                    <a:p>
                      <a:r>
                        <a:rPr sz="1600" b="1">
                          <a:solidFill>
                            <a:srgbClr val="1F2A44"/>
                          </a:solidFill>
                          <a:latin typeface="Arial"/>
                          <a:ea typeface="Microsoft YaHei"/>
                        </a:rPr>
                        <a:t>Thank</a:t>
                      </a:r>
                    </a:p>
                  </a:txBody>
                  <a:tcPr anchor="ctr">
                    <a:solidFill>
                      <a:srgbClr val="FFEFD9"/>
                    </a:solidFill>
                  </a:tcPr>
                </a:tc>
                <a:tc>
                  <a:txBody>
                    <a:bodyPr wrap="square"/>
                    <a:lstStyle/>
                    <a:p>
                      <a:r>
                        <a:rPr sz="1600" b="0">
                          <a:solidFill>
                            <a:srgbClr val="1F2A44"/>
                          </a:solidFill>
                          <a:latin typeface="Arial"/>
                          <a:ea typeface="Microsoft YaHei"/>
                        </a:rPr>
                        <a:t>That’s a good question. / Thank you for asking.</a:t>
                      </a:r>
                    </a:p>
                  </a:txBody>
                  <a:tcPr anchor="ctr">
                    <a:solidFill>
                      <a:srgbClr val="FFEFD9"/>
                    </a:solidFill>
                  </a:tcPr>
                </a:tc>
              </a:tr>
              <a:tr h="652272">
                <a:tc>
                  <a:txBody>
                    <a:bodyPr wrap="square"/>
                    <a:lstStyle/>
                    <a:p>
                      <a:r>
                        <a:rPr sz="1600" b="1">
                          <a:solidFill>
                            <a:srgbClr val="1F2A44"/>
                          </a:solidFill>
                          <a:latin typeface="Arial"/>
                          <a:ea typeface="Microsoft YaHei"/>
                        </a:rPr>
                        <a:t>Check</a:t>
                      </a:r>
                    </a:p>
                  </a:txBody>
                  <a:tcPr anchor="ctr">
                    <a:solidFill>
                      <a:srgbClr val="FFFFFF"/>
                    </a:solidFill>
                  </a:tcPr>
                </a:tc>
                <a:tc>
                  <a:txBody>
                    <a:bodyPr wrap="square"/>
                    <a:lstStyle/>
                    <a:p>
                      <a:r>
                        <a:rPr sz="1600" b="0">
                          <a:solidFill>
                            <a:srgbClr val="1F2A44"/>
                          </a:solidFill>
                          <a:latin typeface="Arial"/>
                          <a:ea typeface="Microsoft YaHei"/>
                        </a:rPr>
                        <a:t>If I understand correctly, you’re asking… ★ / Could you repeat the question, please?</a:t>
                      </a:r>
                    </a:p>
                  </a:txBody>
                  <a:tcPr anchor="ctr">
                    <a:solidFill>
                      <a:srgbClr val="FFFFFF"/>
                    </a:solidFill>
                  </a:tcPr>
                </a:tc>
              </a:tr>
              <a:tr h="408432">
                <a:tc>
                  <a:txBody>
                    <a:bodyPr wrap="square"/>
                    <a:lstStyle/>
                    <a:p>
                      <a:r>
                        <a:rPr sz="1600" b="1">
                          <a:solidFill>
                            <a:srgbClr val="1F2A44"/>
                          </a:solidFill>
                          <a:latin typeface="Arial"/>
                          <a:ea typeface="Microsoft YaHei"/>
                        </a:rPr>
                        <a:t>Rephrase</a:t>
                      </a:r>
                    </a:p>
                  </a:txBody>
                  <a:tcPr anchor="ctr">
                    <a:solidFill>
                      <a:srgbClr val="FFEFD9"/>
                    </a:solidFill>
                  </a:tcPr>
                </a:tc>
                <a:tc>
                  <a:txBody>
                    <a:bodyPr wrap="square"/>
                    <a:lstStyle/>
                    <a:p>
                      <a:r>
                        <a:rPr sz="1600" b="0">
                          <a:solidFill>
                            <a:srgbClr val="1F2A44"/>
                          </a:solidFill>
                          <a:latin typeface="Arial"/>
                          <a:ea typeface="Microsoft YaHei"/>
                        </a:rPr>
                        <a:t>Could you rephrase that? / Do you mean…?</a:t>
                      </a:r>
                    </a:p>
                  </a:txBody>
                  <a:tcPr anchor="ctr">
                    <a:solidFill>
                      <a:srgbClr val="FFEFD9"/>
                    </a:solidFill>
                  </a:tcPr>
                </a:tc>
              </a:tr>
              <a:tr h="652272">
                <a:tc>
                  <a:txBody>
                    <a:bodyPr wrap="square"/>
                    <a:lstStyle/>
                    <a:p>
                      <a:r>
                        <a:rPr sz="1600" b="1">
                          <a:solidFill>
                            <a:srgbClr val="1F2A44"/>
                          </a:solidFill>
                          <a:latin typeface="Arial"/>
                          <a:ea typeface="Microsoft YaHei"/>
                        </a:rPr>
                        <a:t>Answer</a:t>
                      </a:r>
                    </a:p>
                  </a:txBody>
                  <a:tcPr anchor="ctr">
                    <a:solidFill>
                      <a:srgbClr val="FFFFFF"/>
                    </a:solidFill>
                  </a:tcPr>
                </a:tc>
                <a:tc>
                  <a:txBody>
                    <a:bodyPr wrap="square"/>
                    <a:lstStyle/>
                    <a:p>
                      <a:r>
                        <a:rPr sz="1600" b="0">
                          <a:solidFill>
                            <a:srgbClr val="1F2A44"/>
                          </a:solidFill>
                          <a:latin typeface="Arial"/>
                          <a:ea typeface="Microsoft YaHei"/>
                        </a:rPr>
                        <a:t>Let me answer that in two parts. / As I mentioned earlier, …</a:t>
                      </a:r>
                    </a:p>
                  </a:txBody>
                  <a:tcPr anchor="ctr">
                    <a:solidFill>
                      <a:srgbClr val="FFFFFF"/>
                    </a:solidFill>
                  </a:tcPr>
                </a:tc>
              </a:tr>
              <a:tr h="652272">
                <a:tc>
                  <a:txBody>
                    <a:bodyPr wrap="square"/>
                    <a:lstStyle/>
                    <a:p>
                      <a:r>
                        <a:rPr sz="1600" b="1">
                          <a:solidFill>
                            <a:srgbClr val="1F2A44"/>
                          </a:solidFill>
                          <a:latin typeface="Arial"/>
                          <a:ea typeface="Microsoft YaHei"/>
                        </a:rPr>
                        <a:t>Clarify</a:t>
                      </a:r>
                    </a:p>
                  </a:txBody>
                  <a:tcPr anchor="ctr">
                    <a:solidFill>
                      <a:srgbClr val="FFEFD9"/>
                    </a:solidFill>
                  </a:tcPr>
                </a:tc>
                <a:tc>
                  <a:txBody>
                    <a:bodyPr wrap="square"/>
                    <a:lstStyle/>
                    <a:p>
                      <a:r>
                        <a:rPr sz="1600" b="0">
                          <a:solidFill>
                            <a:srgbClr val="1F2A44"/>
                          </a:solidFill>
                          <a:latin typeface="Arial"/>
                          <a:ea typeface="Microsoft YaHei"/>
                        </a:rPr>
                        <a:t>To put it another way, … ★ / Let me give you an example. ★</a:t>
                      </a:r>
                    </a:p>
                  </a:txBody>
                  <a:tcPr anchor="ctr">
                    <a:solidFill>
                      <a:srgbClr val="FFEFD9"/>
                    </a:solidFill>
                  </a:tcPr>
                </a:tc>
              </a:tr>
            </a:tbl>
          </a:graphicData>
        </a:graphic>
      </p:graphicFrame>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Q&amp;A phrase bank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问答环节句型库</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Don’t know</a:t>
                      </a:r>
                    </a:p>
                  </a:txBody>
                  <a:tcPr anchor="ctr">
                    <a:solidFill>
                      <a:srgbClr val="FFFFFF"/>
                    </a:solidFill>
                  </a:tcPr>
                </a:tc>
                <a:tc>
                  <a:txBody>
                    <a:bodyPr wrap="square"/>
                    <a:lstStyle/>
                    <a:p>
                      <a:r>
                        <a:rPr sz="1600" b="0">
                          <a:solidFill>
                            <a:srgbClr val="1F2A44"/>
                          </a:solidFill>
                          <a:latin typeface="Arial"/>
                          <a:ea typeface="Microsoft YaHei"/>
                        </a:rPr>
                        <a:t>I don’t have that figure to hand, but I’ll get back to you. ★</a:t>
                      </a:r>
                    </a:p>
                  </a:txBody>
                  <a:tcPr anchor="ctr">
                    <a:solidFill>
                      <a:srgbClr val="FFFFFF"/>
                    </a:solidFill>
                  </a:tcPr>
                </a:tc>
              </a:tr>
              <a:tr h="652272">
                <a:tc>
                  <a:txBody>
                    <a:bodyPr wrap="square"/>
                    <a:lstStyle/>
                    <a:p>
                      <a:r>
                        <a:rPr sz="1600" b="1">
                          <a:solidFill>
                            <a:srgbClr val="1F2A44"/>
                          </a:solidFill>
                          <a:latin typeface="Arial"/>
                          <a:ea typeface="Microsoft YaHei"/>
                        </a:rPr>
                        <a:t>Park</a:t>
                      </a:r>
                    </a:p>
                  </a:txBody>
                  <a:tcPr anchor="ctr">
                    <a:solidFill>
                      <a:srgbClr val="FFEFD9"/>
                    </a:solidFill>
                  </a:tcPr>
                </a:tc>
                <a:tc>
                  <a:txBody>
                    <a:bodyPr wrap="square"/>
                    <a:lstStyle/>
                    <a:p>
                      <a:r>
                        <a:rPr sz="1600" b="0">
                          <a:solidFill>
                            <a:srgbClr val="1F2A44"/>
                          </a:solidFill>
                          <a:latin typeface="Arial"/>
                          <a:ea typeface="Microsoft YaHei"/>
                        </a:rPr>
                        <a:t>I’m afraid that’s outside the scope of today’s talk. ★ / Can we come back to that after the session? ★</a:t>
                      </a:r>
                    </a:p>
                  </a:txBody>
                  <a:tcPr anchor="ctr">
                    <a:solidFill>
                      <a:srgbClr val="FFEFD9"/>
                    </a:solidFill>
                  </a:tcPr>
                </a:tc>
              </a:tr>
              <a:tr h="408432">
                <a:tc>
                  <a:txBody>
                    <a:bodyPr wrap="square"/>
                    <a:lstStyle/>
                    <a:p>
                      <a:r>
                        <a:rPr sz="1600" b="1">
                          <a:solidFill>
                            <a:srgbClr val="1F2A44"/>
                          </a:solidFill>
                          <a:latin typeface="Arial"/>
                          <a:ea typeface="Microsoft YaHei"/>
                        </a:rPr>
                        <a:t>Concern</a:t>
                      </a:r>
                    </a:p>
                  </a:txBody>
                  <a:tcPr anchor="ctr">
                    <a:solidFill>
                      <a:srgbClr val="FFFFFF"/>
                    </a:solidFill>
                  </a:tcPr>
                </a:tc>
                <a:tc>
                  <a:txBody>
                    <a:bodyPr wrap="square"/>
                    <a:lstStyle/>
                    <a:p>
                      <a:r>
                        <a:rPr sz="1600" b="0">
                          <a:solidFill>
                            <a:srgbClr val="1F2A44"/>
                          </a:solidFill>
                          <a:latin typeface="Arial"/>
                          <a:ea typeface="Microsoft YaHei"/>
                        </a:rPr>
                        <a:t>I understand your concern. / That’s a fair point.</a:t>
                      </a:r>
                    </a:p>
                  </a:txBody>
                  <a:tcPr anchor="ctr">
                    <a:solidFill>
                      <a:srgbClr val="FFFFFF"/>
                    </a:solidFill>
                  </a:tcPr>
                </a:tc>
              </a:tr>
              <a:tr h="408432">
                <a:tc>
                  <a:txBody>
                    <a:bodyPr wrap="square"/>
                    <a:lstStyle/>
                    <a:p>
                      <a:r>
                        <a:rPr sz="1600" b="1">
                          <a:solidFill>
                            <a:srgbClr val="1F2A44"/>
                          </a:solidFill>
                          <a:latin typeface="Arial"/>
                          <a:ea typeface="Microsoft YaHei"/>
                        </a:rPr>
                        <a:t>Confirm</a:t>
                      </a:r>
                    </a:p>
                  </a:txBody>
                  <a:tcPr anchor="ctr">
                    <a:solidFill>
                      <a:srgbClr val="FFEFD9"/>
                    </a:solidFill>
                  </a:tcPr>
                </a:tc>
                <a:tc>
                  <a:txBody>
                    <a:bodyPr wrap="square"/>
                    <a:lstStyle/>
                    <a:p>
                      <a:r>
                        <a:rPr sz="1600" b="0">
                          <a:solidFill>
                            <a:srgbClr val="1F2A44"/>
                          </a:solidFill>
                          <a:latin typeface="Arial"/>
                          <a:ea typeface="Microsoft YaHei"/>
                        </a:rPr>
                        <a:t>Does that answer your question?</a:t>
                      </a:r>
                    </a:p>
                  </a:txBody>
                  <a:tcPr anchor="ctr">
                    <a:solidFill>
                      <a:srgbClr val="FFEFD9"/>
                    </a:solidFill>
                  </a:tcPr>
                </a:tc>
              </a:tr>
              <a:tr h="652272">
                <a:tc>
                  <a:txBody>
                    <a:bodyPr wrap="square"/>
                    <a:lstStyle/>
                    <a:p>
                      <a:r>
                        <a:rPr sz="1600" b="1">
                          <a:solidFill>
                            <a:srgbClr val="1F2A44"/>
                          </a:solidFill>
                          <a:latin typeface="Arial"/>
                          <a:ea typeface="Microsoft YaHei"/>
                        </a:rPr>
                        <a:t>End</a:t>
                      </a:r>
                    </a:p>
                  </a:txBody>
                  <a:tcPr anchor="ctr">
                    <a:solidFill>
                      <a:srgbClr val="FFFFFF"/>
                    </a:solidFill>
                  </a:tcPr>
                </a:tc>
                <a:tc>
                  <a:txBody>
                    <a:bodyPr wrap="square"/>
                    <a:lstStyle/>
                    <a:p>
                      <a:r>
                        <a:rPr sz="1600" b="0">
                          <a:solidFill>
                            <a:srgbClr val="1F2A44"/>
                          </a:solidFill>
                          <a:latin typeface="Arial"/>
                          <a:ea typeface="Microsoft YaHei"/>
                        </a:rPr>
                        <a:t>I’m afraid we’re out of time. / Thank you all for your questions.</a:t>
                      </a:r>
                    </a:p>
                  </a:txBody>
                  <a:tcPr anchor="ctr">
                    <a:solidFill>
                      <a:srgbClr val="FFFFFF"/>
                    </a:solidFill>
                  </a:tcPr>
                </a:tc>
              </a:tr>
            </a:tbl>
          </a:graphicData>
        </a:graphic>
      </p:graphicFrame>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The 4-step answer: Thank → Check → Answer → Confirm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四步回答法</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Thank</a:t>
                      </a:r>
                    </a:p>
                  </a:txBody>
                  <a:tcPr anchor="ctr">
                    <a:solidFill>
                      <a:srgbClr val="FFFFFF"/>
                    </a:solidFill>
                  </a:tcPr>
                </a:tc>
                <a:tc>
                  <a:txBody>
                    <a:bodyPr wrap="square"/>
                    <a:lstStyle/>
                    <a:p>
                      <a:r>
                        <a:rPr sz="1600" b="0">
                          <a:solidFill>
                            <a:srgbClr val="1F2A44"/>
                          </a:solidFill>
                          <a:latin typeface="Arial"/>
                          <a:ea typeface="Microsoft YaHei"/>
                        </a:rPr>
                        <a:t>That’s a good question.</a:t>
                      </a:r>
                    </a:p>
                  </a:txBody>
                  <a:tcPr anchor="ctr">
                    <a:solidFill>
                      <a:srgbClr val="FFFFFF"/>
                    </a:solidFill>
                  </a:tcPr>
                </a:tc>
              </a:tr>
              <a:tr h="652272">
                <a:tc>
                  <a:txBody>
                    <a:bodyPr wrap="square"/>
                    <a:lstStyle/>
                    <a:p>
                      <a:r>
                        <a:rPr sz="1600" b="1">
                          <a:solidFill>
                            <a:srgbClr val="1F2A44"/>
                          </a:solidFill>
                          <a:latin typeface="Arial"/>
                          <a:ea typeface="Microsoft YaHei"/>
                        </a:rPr>
                        <a:t>Check</a:t>
                      </a:r>
                    </a:p>
                  </a:txBody>
                  <a:tcPr anchor="ctr">
                    <a:solidFill>
                      <a:srgbClr val="FFEFD9"/>
                    </a:solidFill>
                  </a:tcPr>
                </a:tc>
                <a:tc>
                  <a:txBody>
                    <a:bodyPr wrap="square"/>
                    <a:lstStyle/>
                    <a:p>
                      <a:r>
                        <a:rPr sz="1600" b="0">
                          <a:solidFill>
                            <a:srgbClr val="1F2A44"/>
                          </a:solidFill>
                          <a:latin typeface="Arial"/>
                          <a:ea typeface="Microsoft YaHei"/>
                        </a:rPr>
                        <a:t>If I understand correctly, you’re asking about the cost of the plan?</a:t>
                      </a:r>
                    </a:p>
                  </a:txBody>
                  <a:tcPr anchor="ctr">
                    <a:solidFill>
                      <a:srgbClr val="FFEFD9"/>
                    </a:solidFill>
                  </a:tcPr>
                </a:tc>
              </a:tr>
              <a:tr h="652272">
                <a:tc>
                  <a:txBody>
                    <a:bodyPr wrap="square"/>
                    <a:lstStyle/>
                    <a:p>
                      <a:r>
                        <a:rPr sz="1600" b="1">
                          <a:solidFill>
                            <a:srgbClr val="1F2A44"/>
                          </a:solidFill>
                          <a:latin typeface="Arial"/>
                          <a:ea typeface="Microsoft YaHei"/>
                        </a:rPr>
                        <a:t>Answer</a:t>
                      </a:r>
                    </a:p>
                  </a:txBody>
                  <a:tcPr anchor="ctr">
                    <a:solidFill>
                      <a:srgbClr val="FFFFFF"/>
                    </a:solidFill>
                  </a:tcPr>
                </a:tc>
                <a:tc>
                  <a:txBody>
                    <a:bodyPr wrap="square"/>
                    <a:lstStyle/>
                    <a:p>
                      <a:r>
                        <a:rPr sz="1600" b="0">
                          <a:solidFill>
                            <a:srgbClr val="1F2A44"/>
                          </a:solidFill>
                          <a:latin typeface="Arial"/>
                          <a:ea typeface="Microsoft YaHei"/>
                        </a:rPr>
                        <a:t>The total is 5 million, of which 3 million is for marketing.</a:t>
                      </a:r>
                    </a:p>
                  </a:txBody>
                  <a:tcPr anchor="ctr">
                    <a:solidFill>
                      <a:srgbClr val="FFFFFF"/>
                    </a:solidFill>
                  </a:tcPr>
                </a:tc>
              </a:tr>
              <a:tr h="408432">
                <a:tc>
                  <a:txBody>
                    <a:bodyPr wrap="square"/>
                    <a:lstStyle/>
                    <a:p>
                      <a:r>
                        <a:rPr sz="1600" b="1">
                          <a:solidFill>
                            <a:srgbClr val="1F2A44"/>
                          </a:solidFill>
                          <a:latin typeface="Arial"/>
                          <a:ea typeface="Microsoft YaHei"/>
                        </a:rPr>
                        <a:t>Confirm</a:t>
                      </a:r>
                    </a:p>
                  </a:txBody>
                  <a:tcPr anchor="ctr">
                    <a:solidFill>
                      <a:srgbClr val="FFEFD9"/>
                    </a:solidFill>
                  </a:tcPr>
                </a:tc>
                <a:tc>
                  <a:txBody>
                    <a:bodyPr wrap="square"/>
                    <a:lstStyle/>
                    <a:p>
                      <a:r>
                        <a:rPr sz="1600" b="0">
                          <a:solidFill>
                            <a:srgbClr val="1F2A44"/>
                          </a:solidFill>
                          <a:latin typeface="Arial"/>
                          <a:ea typeface="Microsoft YaHei"/>
                        </a:rPr>
                        <a:t>Does that answer your question?</a:t>
                      </a:r>
                    </a:p>
                  </a:txBody>
                  <a:tcPr anchor="ctr">
                    <a:solidFill>
                      <a:srgbClr val="FFEFD9"/>
                    </a:solidFill>
                  </a:tcPr>
                </a:tc>
              </a:tr>
            </a:tbl>
          </a:graphicData>
        </a:graphic>
      </p:graphicFrame>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The 4-step answer: Thank → Check → Answer → Confirm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四步回答法</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Short answers: </a:t>
            </a:r>
            <a:r>
              <a:rPr sz="1700" b="0">
                <a:solidFill>
                  <a:srgbClr val="1F2A44"/>
                </a:solidFill>
                <a:latin typeface="Arial"/>
                <a:ea typeface="Microsoft YaHei"/>
              </a:rPr>
              <a:t>2–3 sentences. Then stop. The questioner will ask more if needed.</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Repeat or rephrase the question for the whole room, especially on video.</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0">
                <a:solidFill>
                  <a:srgbClr val="1F2A44"/>
                </a:solidFill>
                <a:latin typeface="Arial"/>
                <a:ea typeface="Microsoft YaHei"/>
              </a:rPr>
              <a:t>Bridge back to your message when a question is off-topic: “That’s an interesting point. What I’d like to emphasize is…”</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Any question?</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there any questions? / Would anyone like to ask a question?</a:t>
            </a:r>
          </a:p>
          <a:p>
            <a:pPr algn="l">
              <a:spcAft>
                <a:spcPts val="200"/>
              </a:spcAft>
            </a:pPr>
            <a:r>
              <a:rPr sz="1200" b="0">
                <a:solidFill>
                  <a:srgbClr val="FFFFFF"/>
                </a:solidFill>
                <a:latin typeface="Arial"/>
                <a:ea typeface="Microsoft YaHei"/>
              </a:rPr>
              <a:t>完整问句</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Good question! (and nothing else)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That’s a good question. Let me answer that…</a:t>
            </a:r>
          </a:p>
          <a:p>
            <a:pPr algn="l">
              <a:spcAft>
                <a:spcPts val="200"/>
              </a:spcAft>
            </a:pPr>
            <a:r>
              <a:rPr sz="1200" b="0">
                <a:solidFill>
                  <a:srgbClr val="FFFFFF"/>
                </a:solidFill>
                <a:latin typeface="Arial"/>
                <a:ea typeface="Microsoft YaHei"/>
              </a:rPr>
              <a:t>加上回答</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answer you.</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have that figure to hand, but I’ll get back to you.</a:t>
            </a:r>
          </a:p>
          <a:p>
            <a:pPr algn="l">
              <a:spcAft>
                <a:spcPts val="200"/>
              </a:spcAft>
            </a:pPr>
            <a:r>
              <a:rPr sz="1200" b="0">
                <a:solidFill>
                  <a:srgbClr val="FFFFFF"/>
                </a:solidFill>
                <a:latin typeface="Arial"/>
                <a:ea typeface="Microsoft YaHei"/>
              </a:rPr>
              <a:t>坦诚+跟进</a:t>
            </a:r>
          </a:p>
        </p:txBody>
      </p:sp>
      <p:sp>
        <p:nvSpPr>
          <p:cNvPr id="15" name="Rounded Rectangle 14"/>
          <p:cNvSpPr/>
          <p:nvPr/>
        </p:nvSpPr>
        <p:spPr>
          <a:xfrm>
            <a:off x="548640" y="405383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know. (and stop)</a:t>
            </a:r>
          </a:p>
        </p:txBody>
      </p:sp>
      <p:sp>
        <p:nvSpPr>
          <p:cNvPr id="16" name="Rounded Rectangle 15"/>
          <p:cNvSpPr/>
          <p:nvPr/>
        </p:nvSpPr>
        <p:spPr>
          <a:xfrm>
            <a:off x="6187287" y="405383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 don’t know, but I’ll find out and get back to you.</a:t>
            </a:r>
          </a:p>
          <a:p>
            <a:pPr algn="l">
              <a:spcAft>
                <a:spcPts val="200"/>
              </a:spcAft>
            </a:pPr>
            <a:r>
              <a:rPr sz="1200" b="0">
                <a:solidFill>
                  <a:srgbClr val="FFFFFF"/>
                </a:solidFill>
                <a:latin typeface="Arial"/>
                <a:ea typeface="Microsoft YaHei"/>
              </a:rPr>
              <a:t>加上后续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question is wrong.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understand correctly, you’re asking…</a:t>
            </a:r>
          </a:p>
          <a:p>
            <a:pPr algn="l">
              <a:spcAft>
                <a:spcPts val="200"/>
              </a:spcAft>
            </a:pPr>
            <a:r>
              <a:rPr sz="1200" b="0">
                <a:solidFill>
                  <a:srgbClr val="FFFFFF"/>
                </a:solidFill>
                <a:latin typeface="Arial"/>
                <a:ea typeface="Microsoft YaHei"/>
              </a:rPr>
              <a:t>先确认再回答</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Ask me a question to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I ask you a question?</a:t>
            </a:r>
          </a:p>
          <a:p>
            <a:pPr algn="l">
              <a:spcAft>
                <a:spcPts val="200"/>
              </a:spcAft>
            </a:pPr>
            <a:r>
              <a:rPr sz="1200" b="0">
                <a:solidFill>
                  <a:srgbClr val="FFFFFF"/>
                </a:solidFill>
                <a:latin typeface="Arial"/>
                <a:ea typeface="Microsoft YaHei"/>
              </a:rPr>
              <a:t>ask sb a question</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reply you by email.</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reply to you by email. / I’ll get back to you.</a:t>
            </a:r>
          </a:p>
          <a:p>
            <a:pPr algn="l">
              <a:spcAft>
                <a:spcPts val="200"/>
              </a:spcAft>
            </a:pPr>
            <a:r>
              <a:rPr sz="1200" b="0">
                <a:solidFill>
                  <a:srgbClr val="FFFFFF"/>
                </a:solidFill>
                <a:latin typeface="Arial"/>
                <a:ea typeface="Microsoft YaHei"/>
              </a:rPr>
              <a:t>reply to sb</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Is it clear?</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Does that answer your question? / Does that make sense?</a:t>
            </a:r>
          </a:p>
          <a:p>
            <a:pPr algn="l">
              <a:spcAft>
                <a:spcPts val="200"/>
              </a:spcAft>
            </a:pPr>
            <a:r>
              <a:rPr sz="1200" b="0">
                <a:solidFill>
                  <a:srgbClr val="FFFFFF"/>
                </a:solidFill>
                <a:latin typeface="Arial"/>
                <a:ea typeface="Microsoft YaHei"/>
              </a:rPr>
              <a:t>更礼貌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 you understand?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that clear? / Does that make sense?</a:t>
            </a:r>
          </a:p>
          <a:p>
            <a:pPr algn="l">
              <a:spcAft>
                <a:spcPts val="200"/>
              </a:spcAft>
            </a:pPr>
            <a:r>
              <a:rPr sz="1200" b="0">
                <a:solidFill>
                  <a:srgbClr val="FFFFFF"/>
                </a:solidFill>
                <a:latin typeface="Arial"/>
                <a:ea typeface="Microsoft YaHei"/>
              </a:rPr>
              <a:t>避免像老师对学生</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quetion / mension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question / mention</a:t>
            </a:r>
          </a:p>
          <a:p>
            <a:pPr algn="l">
              <a:spcAft>
                <a:spcPts val="200"/>
              </a:spcAft>
            </a:pPr>
            <a:r>
              <a:rPr sz="1200" b="0">
                <a:solidFill>
                  <a:srgbClr val="FFFFFF"/>
                </a:solidFill>
                <a:latin typeface="Arial"/>
                <a:ea typeface="Microsoft YaHei"/>
              </a:rPr>
              <a:t>拼写</a:t>
            </a:r>
          </a:p>
        </p:txBody>
      </p:sp>
      <p:sp>
        <p:nvSpPr>
          <p:cNvPr id="13" name="Rounded Rectangle 1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reply to sb, get back to sb, ask sb a question, Are there any questions?. Don’t say “Do you understand?”.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Questions are a sign of interest. In English-speaking audiences, questions are welcome and expected. Don’t take them as criticism.</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Honesty is respected. Say “I don’t know” rather than guessing. But always follow up.</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Stay calm with hostile questions. Thank the person, repeat the concern, answer with facts. Don’t argue.</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Keep answers short. A long answer may lose the audience. Offer to talk after: “I’d be happy to discuss that afterwards.”</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0">
                <a:solidFill>
                  <a:srgbClr val="1F2A44"/>
                </a:solidFill>
                <a:latin typeface="Arial"/>
                <a:ea typeface="Microsoft YaHei"/>
              </a:rPr>
              <a:t>Rephrase on video. On a video call, repeat the question so that all participants hear it.</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invite questions (Are there any questions?) and check I understand (If I understand correctly, you’re asking…).</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answer briefly and confirm (Does that answer your question?).</a:t>
            </a:r>
          </a:p>
        </p:txBody>
      </p:sp>
      <p:sp>
        <p:nvSpPr>
          <p:cNvPr id="16" name="TextBox 15"/>
          <p:cNvSpPr txBox="1"/>
          <p:nvPr/>
        </p:nvSpPr>
        <p:spPr>
          <a:xfrm>
            <a:off x="9539935" y="2350008"/>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91693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1693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91693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say honestly that I don’t know and promise to follow up (I don’t have that figure to hand, but I’ll get back to you.).</a:t>
            </a:r>
          </a:p>
        </p:txBody>
      </p:sp>
      <p:sp>
        <p:nvSpPr>
          <p:cNvPr id="20" name="TextBox 19"/>
          <p:cNvSpPr txBox="1"/>
          <p:nvPr/>
        </p:nvSpPr>
        <p:spPr>
          <a:xfrm>
            <a:off x="9539935" y="291693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75818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5818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75818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handle a hard question calmly (I understand your concern. That’s a fair point.).</a:t>
            </a:r>
          </a:p>
        </p:txBody>
      </p:sp>
      <p:sp>
        <p:nvSpPr>
          <p:cNvPr id="24" name="TextBox 23"/>
          <p:cNvSpPr txBox="1"/>
          <p:nvPr/>
        </p:nvSpPr>
        <p:spPr>
          <a:xfrm>
            <a:off x="9539935" y="375818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99432"/>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99432"/>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99432"/>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reply to sb, ask sb a question, get back to sb correctly.</a:t>
            </a:r>
          </a:p>
        </p:txBody>
      </p:sp>
      <p:sp>
        <p:nvSpPr>
          <p:cNvPr id="28" name="TextBox 27"/>
          <p:cNvSpPr txBox="1"/>
          <p:nvPr/>
        </p:nvSpPr>
        <p:spPr>
          <a:xfrm>
            <a:off x="9539935" y="4599432"/>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 · Lesson 36 Questions and answers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reply to / get back to, ask sb a question, polite checking questions, and spelling (question, mention).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换句话说,……</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To put it another way, …</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If I understand correctly, you’re asking…</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If I understand correctly, you’re asking about the cost.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我手头没有这个数字,但我会回复您</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don’t have that figure to hand, but I’ll get back to you.</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Any question?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Are there any questions? / Would anyone like to ask a question?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我先谈……,然后讲……</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start by looking at…, then move on to…</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key takeaway is…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key takeaway is that we need to act now.</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“感谢大家的提问”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all for your questions.</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“感谢您的聆听”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attention.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“请您重复一下问题好吗?”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repeat the question, please?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presention / audiance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presentation / audience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Is it clear?</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Does that answer your question? / Does that make sense?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9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