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4</a:t>
            </a:r>
          </a:p>
          <a:p>
            <a:r>
              <a:t>Unit 5: Business Calls — Self-Study Workbook (Lessons 17–22)</a:t>
            </a:r>
          </a:p>
          <a:p/>
          <a:p>
            <a:r>
              <a:t>开场：简单介绍本单元的主题和要完成的 6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17 · Incoming calls 来电</a:t>
            </a:r>
          </a:p>
          <a:p>
            <a:r>
              <a:t>Goal: answer business calls politely and professionally, find out who is calling and why, transfer calls, take a message, and handle common problems (bad line, unclear name, absent colleague).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题讲过去的事,请用过去式(answered, took, said)。第 2 题可以说 “On the phone, I can’t see…”。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Show how to answer a phone call, find out who the caller is, and put the call through.</a:t>
            </a:r>
          </a:p>
          <a:p>
            <a:r>
              <a:t>Say: the greeting → who and why → hold / put through → if the person is not there → closing.</a:t>
            </a:r>
          </a:p>
          <a:p>
            <a:r>
              <a:t>Useful starters: “I’d say, ‘Good morning, … speaking.’” / “Then I ask, ‘May I ask who’s calling?’” / “If he isn’t there, I offer to take a message.”</a:t>
            </a:r>
          </a:p>
          <a:p>
            <a:r>
              <a:t>电话里自报家门用 This is…/…speaking,不说 I am…。让对方等一下:Could you hold the line, please?。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Answering and finding out 接听与询问</a:t>
            </a:r>
          </a:p>
          <a:p>
            <a:r>
              <a:t>领读 → 学员跟读 → 请学员用表达造一个和自己工作相关的句子。</a:t>
            </a:r>
          </a:p>
          <a:p>
            <a:r>
              <a:t>Good morning, Orion Foods. Li Wei speaking. (phrase) 早上好,这里是奥利安食品公司,我是李伟 — “Good morning, Orion Foods. Li Wei speaking. How can I help you?”</a:t>
            </a:r>
          </a:p>
          <a:p>
            <a:r>
              <a:t>How can I help you? (phrase) 请问有什么可以帮您? — “Good afternoon. How can I help you?”</a:t>
            </a:r>
          </a:p>
          <a:p>
            <a:r>
              <a:t>May I ask who’s calling, please? (phrase (polite)) 请问是哪位? — “May I ask who’s calling, please?”</a:t>
            </a:r>
          </a:p>
          <a:p>
            <a:r>
              <a:t>What’s it regarding? / What is it about? (phrase) 请问是关于什么事? — “May I ask what it’s regarding?”</a:t>
            </a:r>
          </a:p>
          <a:p>
            <a:r>
              <a:t>★ You’ve come through to… (phrase) 您打到了…… — “You’ve come through to the sales department.”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Holding and transferring 等待与转接</a:t>
            </a:r>
          </a:p>
          <a:p>
            <a:r>
              <a:t>领读 → 学员跟读 → 请学员用表达造一个和自己工作相关的句子。</a:t>
            </a:r>
          </a:p>
          <a:p>
            <a:r>
              <a:t>Could you hold the line, please? (phrase) 请您稍等(别挂断)好吗? — “Could you hold the line, please? I’ll check.”</a:t>
            </a:r>
          </a:p>
          <a:p>
            <a:r>
              <a:t>★ Bear with me a moment. (idiom) 请稍等一下/请耐心等一等 — “Bear with me a moment while I find her number.”</a:t>
            </a:r>
          </a:p>
          <a:p>
            <a:r>
              <a:t>I’ll put you through to… (phrasal verb) 我给您转接…… — “I’ll put you through to Ms Lin.”</a:t>
            </a:r>
          </a:p>
          <a:p>
            <a:r>
              <a:t>★ Let me see if he’s available. (phrase) 我看看他是否有空 — “Let me see if he’s available.”</a:t>
            </a:r>
          </a:p>
          <a:p>
            <a:r>
              <a:t>Thank you for holding. (phrase) 感谢您的等待 — “Thank you for holding. I have Ms Lin on the 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Problems and messages 问题与留言</a:t>
            </a:r>
          </a:p>
          <a:p>
            <a:r>
              <a:t>领读 → 学员跟读 → 请学员用表达造一个和自己工作相关的句子。</a:t>
            </a:r>
          </a:p>
          <a:p>
            <a:r>
              <a:t>I’m afraid he’s not in at the moment. (phrase) 恐怕他现在不在 — “I’m afraid Mr Tan is not in at the moment.”</a:t>
            </a:r>
          </a:p>
          <a:p>
            <a:r>
              <a:t>Can I take a message? (phrase) 需要我帮您留言吗? — “Can I take a message?”</a:t>
            </a:r>
          </a:p>
          <a:p>
            <a:r>
              <a:t>Sorry, I didn’t catch that. Could you repeat it? (phrase) 抱歉,我没听清。能再说一遍吗? — “Sorry, I didn’t catch your name. Could you repeat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Problems and messages 问题与留言</a:t>
            </a:r>
          </a:p>
          <a:p>
            <a:r>
              <a:t>领读 → 学员跟读 → 请学员用表达造一个和自己工作相关的句子。</a:t>
            </a:r>
          </a:p>
          <a:p>
            <a:r>
              <a:t>★ Could you speak up a little, please? (phrase) 您可以说大声一点吗? — “The line is bad. Could you speak up a little, please?”</a:t>
            </a:r>
          </a:p>
          <a:p>
            <a:r>
              <a:t>★ I’ll get him to call you back. (phrase) 我会请他给您回电话 — “I’ll get him to call you back this afternoon.”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speaking / catch / calling / hold / through / in</a:t>
            </a:r>
          </a:p>
          <a:p>
            <a:r>
              <a:t>1. Good morning, Orion Foods. Li Wei _______. → speaking</a:t>
            </a:r>
          </a:p>
          <a:p>
            <a:r>
              <a:t>2. May I ask who’s _______, please? → calling</a:t>
            </a:r>
          </a:p>
          <a:p>
            <a:r>
              <a:t>3. Could you _______ the line, please? → hold</a:t>
            </a:r>
          </a:p>
          <a:p>
            <a:r>
              <a:t>4. I’ll put you _______ to Ms Lin. → through</a:t>
            </a:r>
          </a:p>
          <a:p>
            <a:r>
              <a:t>5. I’m afraid Mr Tan is not _______ at the moment. → in</a:t>
            </a:r>
          </a:p>
          <a:p>
            <a:r>
              <a:t>6. Sorry, I didn’t _______ that. Could you repeat it? → catch</a:t>
            </a:r>
          </a:p>
          <a:p>
            <a:r>
              <a:t>Mistake Watch (短语与拼写): speaking (not “speeking”), hold (not “wait”), repeat (not “say again”). On the phone, “This is Li Wei” or “Li Wei speaking” (not “I am Li Wei”).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Answering and transferring a call 接听并转接电话</a:t>
            </a:r>
          </a:p>
          <a:p>
            <a:r>
              <a:t>情景：A customer calls the main line and asks for Ms Lin in the sales department.</a:t>
            </a:r>
          </a:p>
          <a:p>
            <a:r>
              <a:t>Role A: Li Wei, receptionist Role B: Mr Carlos Diaz, caller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Good morning, Orion Foods. Li Wei speaking. How can I help you?</a:t>
            </a:r>
          </a:p>
          <a:p>
            <a:r>
              <a:t>B (Carlos): Good morning. Could I speak to Ms Lin in sales, please?</a:t>
            </a:r>
          </a:p>
          <a:p>
            <a:r>
              <a:t>A: Certainly. May I ask who’s calling?</a:t>
            </a:r>
          </a:p>
          <a:p>
            <a:r>
              <a:t>B: This is Carlos Diaz from Delta Packaging.</a:t>
            </a:r>
          </a:p>
          <a:p>
            <a:r>
              <a:t>A: Thank you, Mr Diaz. And what is it regarding?</a:t>
            </a:r>
          </a:p>
          <a:p>
            <a:r>
              <a:t>B: It’s about an order she placed last week.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see. Could you hold the line for a moment? I’ll see if she’s available.</a:t>
            </a:r>
          </a:p>
          <a:p>
            <a:r>
              <a:t>B: Of course.</a:t>
            </a:r>
          </a:p>
          <a:p>
            <a:r>
              <a:t>A: Thank you for holding, Mr Diaz. I’ll put you through now.</a:t>
            </a:r>
          </a:p>
          <a:p>
            <a:r>
              <a:t>B: Thank you.</a:t>
            </a:r>
          </a:p>
          <a:p>
            <a:r>
              <a:t>A: (to Ms Lin) Ms Lin, I have Mr Diaz from Delta Packaging on line two. It’s about an order.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29 | </a:t>
            </a:r>
          </a:p>
          <a:p>
            <a:r>
              <a:t>Situation | A customer calls the main number of your company.</a:t>
            </a:r>
          </a:p>
          <a:p>
            <a:r>
              <a:t>Your role (A) | Receptionist. Company name and your name: ______________</a:t>
            </a:r>
          </a:p>
          <a:p>
            <a:r>
              <a:t>Partner’s role (B) | Caller. Name, company and reason: ______________</a:t>
            </a:r>
          </a:p>
          <a:p>
            <a:r>
              <a:t>Must use (4 or more) | speaking · May I ask who’s calling? · hold the line · I’ll put you through · What’s it regarding?</a:t>
            </a:r>
          </a:p>
          <a:p>
            <a:r>
              <a:t>Goal | Greet, find out who and why, and transfer the call. About 60 seconds.</a:t>
            </a:r>
          </a:p>
          <a:p>
            <a:r>
              <a:t>My notes | ____________________________________________</a:t>
            </a:r>
          </a:p>
          <a:p>
            <a:r>
              <a:t>The caller’s name is hard to catch. Say: “I’m sorry, could you spell that for me?”</a:t>
            </a:r>
          </a:p>
          <a:p>
            <a:r>
              <a:t>The line is bad. Say: “I’m afraid the line is very poor. Could you speak up, please?”</a:t>
            </a:r>
          </a:p>
          <a:p>
            <a:r>
              <a:t>Ms Lin is not available. Say: “I’m afraid she’s in a meeting. Can I take a message?”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difficult caller and a message 处理着急的来电并留言</a:t>
            </a:r>
          </a:p>
          <a:p>
            <a:r>
              <a:t>情景：A caller needs Mr Tan urgently, but he is in a meeting. The caller is in a hurry.</a:t>
            </a:r>
          </a:p>
          <a:p>
            <a:r>
              <a:t>Role A: Li Wei, receptionist Role B: Ms Anna Berg, caller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Good afternoon, Orion Foods. Li Wei speaking. How can I help you?</a:t>
            </a:r>
          </a:p>
          <a:p>
            <a:r>
              <a:t>B (Anna): Hello. I need to speak to Mr Tan immediately. It’s urgent.</a:t>
            </a:r>
          </a:p>
          <a:p>
            <a:r>
              <a:t>A: I understand. May I ask who’s calling, please?</a:t>
            </a:r>
          </a:p>
          <a:p>
            <a:r>
              <a:t>B: Anna Berg from Nordic Steel.</a:t>
            </a:r>
          </a:p>
          <a:p>
            <a:r>
              <a:t>A: Thank you, Ms Berg. I’m afraid Mr Tan is in a meeting at the moment. It should finish at three.</a:t>
            </a:r>
          </a:p>
          <a:p>
            <a:r>
              <a:t>B: That’s too late. I need an answer on the shipment today.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see. Let me see if I can reach him. Could you bear with me a moment?</a:t>
            </a:r>
          </a:p>
          <a:p>
            <a:r>
              <a:t>B: All right, but please be quick.</a:t>
            </a:r>
          </a:p>
          <a:p>
            <a:r>
              <a:t>A: Thank you for holding, Ms Berg. I’ve sent him a note. He’ll get it at the next break. Can I take your number?</a:t>
            </a:r>
          </a:p>
          <a:p>
            <a:r>
              <a:t>B: Yes, it’s +46 8 555 0123.</a:t>
            </a:r>
          </a:p>
          <a:p>
            <a:r>
              <a:t>A: Let me read that back to you: plus four six, eight, five five five, oh one two three. Is that right?</a:t>
            </a:r>
          </a:p>
          <a:p>
            <a:r>
              <a:t>B: That’s right. Thank you for your help.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30 | </a:t>
            </a:r>
          </a:p>
          <a:p>
            <a:r>
              <a:t>Situation | An urgent caller wants someone who is in a meeting.</a:t>
            </a:r>
          </a:p>
          <a:p>
            <a:r>
              <a:t>Your role (A) | Receptionist. Stay calm. Offer help.</a:t>
            </a:r>
          </a:p>
          <a:p>
            <a:r>
              <a:t>Partner’s role (B) | Caller. In a hurry. Name and company: ______________</a:t>
            </a:r>
          </a:p>
          <a:p>
            <a:r>
              <a:t>Must use (4 or more) | I’m afraid… · Can I take a message? · bear with me · read that back · I’ll get him to call you back.</a:t>
            </a:r>
          </a:p>
          <a:p>
            <a:r>
              <a:t>Goal | Stay polite, take the number correctly, say what happens next.</a:t>
            </a:r>
          </a:p>
          <a:p>
            <a:r>
              <a:t>My notes | ____________________________________________</a:t>
            </a:r>
          </a:p>
          <a:p>
            <a:r>
              <a:t>The caller gets angry. Say: “I completely understand. I’ll make sure he gets your message right away.”</a:t>
            </a:r>
          </a:p>
          <a:p>
            <a:r>
              <a:t>Ask for the best time to reach them: “What’s the best time to reach you?”</a:t>
            </a:r>
          </a:p>
          <a:p>
            <a:r>
              <a:t>Repeat the phone number in groups: “four six, eight, five five five, oh one two three.”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How do you feel when you answer an unexpected call in English? | “I feel a bit nervous because…” / “What helps me is…”</a:t>
            </a:r>
          </a:p>
          <a:p>
            <a:r>
              <a:t>2. What are the most useful phrases for answering the phone? | “The most useful phrase is…” / “I always say…”</a:t>
            </a:r>
          </a:p>
          <a:p>
            <a:r>
              <a:t>3. How do you deal with a caller you cannot understand? | “I ask them to repeat…” / “I repeat what I heard to check.”</a:t>
            </a:r>
          </a:p>
          <a:p>
            <a:r>
              <a:t>4. Is it better to answer the phone yourself or let it go to voicemail? | “It depends. If I’m busy, I…” / “A voicemail is better when…”</a:t>
            </a:r>
          </a:p>
          <a:p>
            <a:r>
              <a:t>5. What would you do if an angry caller would not stop talking? | “I would let them finish and then say…” / “I’d stay calm and say, ‘I understand. Let me see what I can do.’”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“When I can’t understand a caller, I stay calm and ask politely,”Sorry, I didn’t catch that. Could you say it again, please?” If it’s a name or number, I ask them to spell it or say it slowly. Then I repeat what I heard to check: “So that’s Mr Berg, B-E-R-G, from Nordic Steel. Is that right?” Repeating information is not impolite. It shows that I’m careful and professional.”</a:t>
            </a:r>
          </a:p>
          <a:p>
            <a:r>
              <a:t>“I didn’t catch that”(我没听清)是电话里最常用的句子。核对信息时用 “So that’s…, is that right?”。注意 “ask them to spell it”(ask + 人 + to + 动词)。</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incoming calls 来电话术</a:t>
            </a:r>
          </a:p>
          <a:p>
            <a:r>
              <a:t>Step | Say this</a:t>
            </a:r>
          </a:p>
          <a:p>
            <a:r>
              <a:t>Greet | Good morning, [Company]. [Name] speaking. How can I help you?</a:t>
            </a:r>
          </a:p>
          <a:p>
            <a:r>
              <a:t>Ask who | May I ask who’s calling, please? / Who’s calling, please?</a:t>
            </a:r>
          </a:p>
          <a:p>
            <a:r>
              <a:t>Ask why | What is it regarding? / May I ask what it’s about?</a:t>
            </a:r>
          </a:p>
          <a:p>
            <a:r>
              <a:t>Hold | Could you hold the line, please? / Bear with me a moment. ★</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incoming calls 来电话术</a:t>
            </a:r>
          </a:p>
          <a:p>
            <a:r>
              <a:t>Step | Say this</a:t>
            </a:r>
          </a:p>
          <a:p>
            <a:r>
              <a:t>Transfer | I’ll put you through to… / Let me transfer you to…</a:t>
            </a:r>
          </a:p>
          <a:p>
            <a:r>
              <a:t>Not available | I’m afraid she’s in a meeting. Can I take a message?</a:t>
            </a:r>
          </a:p>
          <a:p>
            <a:r>
              <a:t>Check | Sorry, I didn’t catch that. Could you repeat it? / Could you spell that?</a:t>
            </a:r>
          </a:p>
          <a:p>
            <a:r>
              <a:t>Close | Thank you for calling. Have a nice day.</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and spelling on the phone 电话里的数字与拼写</a:t>
            </a:r>
          </a:p>
          <a:p>
            <a:r>
              <a:t>Phone numbers: read digit by digit; “0” is oh (UK) or zero (US). Group them: “139 – 0000 – 1234” = one three nine, oh oh oh oh, one two three four. Say “double five” for 55 in British English.</a:t>
            </a:r>
          </a:p>
          <a:p>
            <a:r>
              <a:t>Spelling names: use clear examples: B for Bravo, M for Mike, P as in Paris. Or “B as in boy”.</a:t>
            </a:r>
          </a:p>
          <a:p>
            <a:r>
              <a:t>Repeat to check: “Let me read that back to you.”</a:t>
            </a:r>
          </a:p>
          <a:p>
            <a:r>
              <a:t>Mix-ups: 15 vs 50 (fifteen / fifty): stress the end for fifteen (fif-teen) and the start for fifty (fif-ty).</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am Li Wei.  →  ✓ This is Li Wei. / Li Wei speaking.  (电话里不说 I am)</a:t>
            </a:r>
          </a:p>
          <a:p>
            <a:r>
              <a:t>✗ Who are you?  →  ✓ May I ask who’s calling?  (太直接,像质问)</a:t>
            </a:r>
          </a:p>
          <a:p>
            <a:r>
              <a:t>✗ Wait a moment.  →  ✓ Could you hold the line, please?  (语气更礼貌)</a:t>
            </a:r>
          </a:p>
          <a:p>
            <a:r>
              <a:t>✗ He is not here.  →  ✓ I’m afraid he’s not in at the moment.  (先用 I’m afraid 缓和)</a:t>
            </a:r>
          </a:p>
          <a:p>
            <a:r>
              <a:t>✗ Please say again.  →  ✓ Sorry, could you repeat that? / I didn’t catch that.  (更自然)</a:t>
            </a:r>
          </a:p>
          <a:p>
            <a:r>
              <a:t>Mistake Watch: With phrasal verbs, a pronoun goes in the middle: call you back, put him through, pick it up. Never “call back you”.</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I’ll transfer to Ms Lin.  →  ✓ I’ll put you through to Ms Lin. / I’ll transfer you to Ms Lin.  (缺宾语 you)</a:t>
            </a:r>
          </a:p>
          <a:p>
            <a:r>
              <a:t>✗ I can’t listen clearly.  →  ✓ I can’t hear you clearly.  (听电话用 hear,不用 listen)</a:t>
            </a:r>
          </a:p>
          <a:p>
            <a:r>
              <a:t>✗ I’ll call back you.  →  ✓ I’ll call you back.  (短语动词 + 代词:代词放中间)</a:t>
            </a:r>
          </a:p>
          <a:p>
            <a:r>
              <a:t>✗ He don’t answer his phone.  →  ✓ He doesn’t answer his phone.  (第三人称单数)</a:t>
            </a:r>
          </a:p>
          <a:p>
            <a:r>
              <a:t>✗ speeking / regarting  →  ✓ speaking / regarding  (拼写)</a:t>
            </a:r>
          </a:p>
          <a:p>
            <a:r>
              <a:t>Mistake Watch: With phrasal verbs, a pronoun goes in the middle: call you back, put him through, pick it up. Never “call back you”.</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Answer within 3 rings and say the company name. In many English-speaking offices, employees give their name too: “Orion Foods, Li Wei speaking.”</a:t>
            </a:r>
          </a:p>
          <a:p>
            <a:r>
              <a:t>Don’t say “Hello? Who is this?” or “Who do you want?” Use “May I ask who’s calling?” / “Who would you like to speak to?”</a:t>
            </a:r>
          </a:p>
          <a:p>
            <a:r>
              <a:t>Don’t give personal numbers or details to an unknown caller. Offer to take a message instead.</a:t>
            </a:r>
          </a:p>
          <a:p>
            <a:r>
              <a:t>Smile when you talk. People can hear it. Speak a little slower than normal, and put the stress on key words.</a:t>
            </a:r>
          </a:p>
          <a:p>
            <a:r>
              <a:t>Mobile calls: In English-speaking countries, people often text first before calling. Business calls without warning can be seen as impolite, unless urgent.</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answer a call with the company name and my name.</a:t>
            </a:r>
          </a:p>
          <a:p>
            <a:r>
              <a:t>I can ask who is calling and why (May I ask who’s calling? What’s it regarding?).</a:t>
            </a:r>
          </a:p>
          <a:p>
            <a:r>
              <a:t>I can hold and transfer a call (Could you hold the line? I’ll put you through to…).</a:t>
            </a:r>
          </a:p>
          <a:p>
            <a:r>
              <a:t>I can take a message and check names and numbers (Let me read that back to you).</a:t>
            </a:r>
          </a:p>
          <a:p>
            <a:r>
              <a:t>I can use This is…, call you back and hear (not listen) correctly.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phone phrases (This is… / speaking), pronoun placement (call you back), polite requests, and spelling.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18 · Outgoing calls 去电</a:t>
            </a:r>
          </a:p>
          <a:p>
            <a:r>
              <a:t>Goal: make business calls politely and professionally: identify yourself, ask for the right person, say why you are calling, handle a gatekeeper, and finish with a clear summary of what happens next.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题讲过去的事,请用过去式(went, said, forgot)。第 1 题:可以先写关键词和问题。</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how you make a business call to a new contact.</a:t>
            </a:r>
          </a:p>
          <a:p>
            <a:r>
              <a:t>Say: prepare → greeting and name → who you want → why you are calling → ending and next step.</a:t>
            </a:r>
          </a:p>
          <a:p>
            <a:r>
              <a:t>Useful starters: “Before I call, I write down…” / “I start with ‘Hello, this is… from…’” / “I end by repeating the next step.”</a:t>
            </a:r>
          </a:p>
          <a:p>
            <a:r>
              <a:t>打电话前写下要点:谁、为什么、要问什么、要对方做什么。结束时总结:So, to confirm…。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Starting the call 开始通话</a:t>
            </a:r>
          </a:p>
          <a:p>
            <a:r>
              <a:t>领读 → 学员跟读 → 请学员用表达造一个和自己工作相关的句子。</a:t>
            </a:r>
          </a:p>
          <a:p>
            <a:r>
              <a:t>Hello, this is Li Wei from Orion Foods. (phrase) 您好,我是奥利安食品公司的李伟 — “Hello, this is Li Wei from Orion Foods.”</a:t>
            </a:r>
          </a:p>
          <a:p>
            <a:r>
              <a:t>Could I speak to Mr Tan, please? (phrase) 请问我可以和谭先生通话吗? — “Could I speak to Mr Tan in purchasing, please?”</a:t>
            </a:r>
          </a:p>
          <a:p>
            <a:r>
              <a:t>I’m calling about / regarding… (phrase) 我打电话是关于…… — “I’m calling about your order of 12 October.”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Starting the call 开始通话</a:t>
            </a:r>
          </a:p>
          <a:p>
            <a:r>
              <a:t>领读 → 学员跟读 → 请学员用表达造一个和自己工作相关的句子。</a:t>
            </a:r>
          </a:p>
          <a:p>
            <a:r>
              <a:t>I’m calling to confirm / ask… (phrase) 我打电话是想确认/询问…… — “I’m calling to confirm the delivery date.”</a:t>
            </a:r>
          </a:p>
          <a:p>
            <a:r>
              <a:t>★ Is this a good time to talk? (phrase) 现在方便说话吗? — “Is this a good time to talk? I only need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Getting through and leaving a message 转接与留言</a:t>
            </a:r>
          </a:p>
          <a:p>
            <a:r>
              <a:t>领读 → 学员跟读 → 请学员用表达造一个和自己工作相关的句子。</a:t>
            </a:r>
          </a:p>
          <a:p>
            <a:r>
              <a:t>Could you put me through to…? (phrasal verb) 请帮我转接…… — “Could you put me through to the accounts department?”</a:t>
            </a:r>
          </a:p>
          <a:p>
            <a:r>
              <a:t>★ I’m returning his call. (phrase) 我是回他的电话 — “I’m returning Mr Tan’s call from this morning.”</a:t>
            </a:r>
          </a:p>
          <a:p>
            <a:r>
              <a:t>Could you ask him to call me back? (phrase) 请让他给我回电话好吗? — “Could you ask him to call me back on 021 5555 0100?”</a:t>
            </a:r>
          </a:p>
          <a:p>
            <a:r>
              <a:t>★ I’ll try again later. (phrase) 我稍后再打 — “No problem. I’ll try again later this afternoon.”</a:t>
            </a:r>
          </a:p>
          <a:p>
            <a:r>
              <a:t>★ I’ll try his mobile. (phrase) 我试试打他的手机 — “I’ll try his mobile. Thank you.”</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Clarifying and closing 确认与结束</a:t>
            </a:r>
          </a:p>
          <a:p>
            <a:r>
              <a:t>领读 → 学员跟读 → 请学员用表达造一个和自己工作相关的句子。</a:t>
            </a:r>
          </a:p>
          <a:p>
            <a:r>
              <a:t>Could I just check…? (phrase) 我想确认一下…… — “Could I just check the delivery date?”</a:t>
            </a:r>
          </a:p>
          <a:p>
            <a:r>
              <a:t>★ Just to confirm, … (phrase) 确认一下…… — “Just to confirm, delivery is on Friday, 16 October.”</a:t>
            </a:r>
          </a:p>
          <a:p>
            <a:r>
              <a:t>Let me give you my number. (phrase) 我把我的号码给您 — “Let me give you my direct number.”</a:t>
            </a:r>
          </a:p>
          <a:p>
            <a:r>
              <a:t>Thank you for your time. (phrase) 感谢您的时间 — “Thank you for your time. I’ll send an email to confirm.”</a:t>
            </a:r>
          </a:p>
          <a:p>
            <a:r>
              <a:t>★ I’ll follow up with an email. (phrase) 我会随后发邮件跟进 — “I’ll follow up with an email to confirm everything.”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confirm / Just / time / back / this / speak</a:t>
            </a:r>
          </a:p>
          <a:p>
            <a:r>
              <a:t>1. Hello, _______ is Li Wei from Orion Foods. → this</a:t>
            </a:r>
          </a:p>
          <a:p>
            <a:r>
              <a:t>2. Could I _______ to Mr Tan, please? → speak</a:t>
            </a:r>
          </a:p>
          <a:p>
            <a:r>
              <a:t>3. I’m calling to _______ the delivery date. → confirm</a:t>
            </a:r>
          </a:p>
          <a:p>
            <a:r>
              <a:t>4. Could you ask him to call me _______? → back</a:t>
            </a:r>
          </a:p>
          <a:p>
            <a:r>
              <a:t>5. _______ to confirm, delivery is on Friday. → Just</a:t>
            </a:r>
          </a:p>
          <a:p>
            <a:r>
              <a:t>6. Thank you for your _______. → time</a:t>
            </a:r>
          </a:p>
          <a:p>
            <a:r>
              <a:t>Mistake Watch (短语与拼写): I’m calling about / to confirm (not “I call for”); speak to (not “speak with” in a formal first call: both are OK in the US); return a call (not “return back”). Say “Could I speak to Mr Tan?” (not “I want to speak to Mr Tan”).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Calling a client to confirm a delivery 致电客户确认交货</a:t>
            </a:r>
          </a:p>
          <a:p>
            <a:r>
              <a:t>情景：You call a client to confirm the delivery date and the address for the container order.</a:t>
            </a:r>
          </a:p>
          <a:p>
            <a:r>
              <a:t>Role A: Li Wei, buyer at Orion Role B: Henry Lee, client contact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Hello, this is Li Wei from Orion Foods. Could I speak to Mr Lee, please?</a:t>
            </a:r>
          </a:p>
          <a:p>
            <a:r>
              <a:t>B (Henry): Speaking.</a:t>
            </a:r>
          </a:p>
          <a:p>
            <a:r>
              <a:t>A: Good morning, Mr Lee. Is this a good time to talk?</a:t>
            </a:r>
          </a:p>
          <a:p>
            <a:r>
              <a:t>B: Yes, I have a few minutes. What can I do for you?</a:t>
            </a:r>
          </a:p>
          <a:p>
            <a:r>
              <a:t>A: I’m calling to confirm the delivery date for our order of 500 containers.</a:t>
            </a:r>
          </a:p>
          <a:p>
            <a:r>
              <a:t>B: Let me check. Yes, it is on Friday, 16 October.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Could I just check the delivery address? Is it still 88 Riverside Road?</a:t>
            </a:r>
          </a:p>
          <a:p>
            <a:r>
              <a:t>B: Yes, that’s right. Warehouse B, door 3.</a:t>
            </a:r>
          </a:p>
          <a:p>
            <a:r>
              <a:t>A: Thank you. Just to confirm: delivery on Friday, 16 October, to Warehouse B at 88 Riverside Road. Is that correct?</a:t>
            </a:r>
          </a:p>
          <a:p>
            <a:r>
              <a:t>B: That’s correct.</a:t>
            </a:r>
          </a:p>
          <a:p>
            <a:r>
              <a:t>A: Thank you for your time, Mr Lee. I’ll follow up with an email to confirm.</a:t>
            </a:r>
          </a:p>
          <a:p>
            <a:r>
              <a:t>B: Perfect. Have a good day.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31 | </a:t>
            </a:r>
          </a:p>
          <a:p>
            <a:r>
              <a:t>Situation | You call a client or supplier to confirm details.</a:t>
            </a:r>
          </a:p>
          <a:p>
            <a:r>
              <a:t>Your role (A) | Caller. Your name, company and reason: ______________</a:t>
            </a:r>
          </a:p>
          <a:p>
            <a:r>
              <a:t>Partner’s role (B) | Client. Answers questions and gives information.</a:t>
            </a:r>
          </a:p>
          <a:p>
            <a:r>
              <a:t>Must use (4 or more) | this is… · Is this a good time to talk? · I’m calling to… · Just to confirm… · I’ll follow up with an email.</a:t>
            </a:r>
          </a:p>
          <a:p>
            <a:r>
              <a:t>Goal | Introduce, state the reason, confirm 2 facts, summarize and close. About 90 seconds.</a:t>
            </a:r>
          </a:p>
          <a:p>
            <a:r>
              <a:t>My notes | ____________________________________________</a:t>
            </a:r>
          </a:p>
          <a:p>
            <a:r>
              <a:t>The client says: “It’s not a good time.” Say: “No problem. When would be better?”</a:t>
            </a:r>
          </a:p>
          <a:p>
            <a:r>
              <a:t>You reach voicemail. Leave a 20-second message (name, company, reason, number).</a:t>
            </a:r>
          </a:p>
          <a:p>
            <a:r>
              <a:t>The client gives you wrong information. Say: “I’m sorry, I think my information says Friday the 16th. Could we check?”</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Getting past the gatekeeper 通过前台/助理找到负责人</a:t>
            </a:r>
          </a:p>
          <a:p>
            <a:r>
              <a:t>情景：You call a new supplier. The assistant says the manager is in a meeting.</a:t>
            </a:r>
          </a:p>
          <a:p>
            <a:r>
              <a:t>Role A: Li Wei, caller Role B: Emma Zhou, assistant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Good morning. This is Li Wei from Orion Foods. Could I speak to Mr Tan, please?</a:t>
            </a:r>
          </a:p>
          <a:p>
            <a:r>
              <a:t>B (Emma): I’m afraid Mr Tan is in a meeting at the moment. Can I take a message?</a:t>
            </a:r>
          </a:p>
          <a:p>
            <a:r>
              <a:t>A: Yes, please. I’m calling about the quotation he sent last week. When do you expect him to be free?</a:t>
            </a:r>
          </a:p>
          <a:p>
            <a:r>
              <a:t>B: He should be out by about eleven.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see. Could you ask him to call me back this morning? My number is 021 5555 0100.</a:t>
            </a:r>
          </a:p>
          <a:p>
            <a:r>
              <a:t>B: Let me read that back: zero two one, five five five five, zero one zero zero. Is that right?</a:t>
            </a:r>
          </a:p>
          <a:p>
            <a:r>
              <a:t>A: Yes, that’s right. If he’s not free before noon, I’ll try his mobile.</a:t>
            </a:r>
          </a:p>
          <a:p>
            <a:r>
              <a:t>B: I’m afraid I can’t give out his mobile number, but I’ll pass your message 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Of course. Thank you very much, Emma. I’ll try again after lunch if I don’t hear from him.</a:t>
            </a:r>
          </a:p>
          <a:p>
            <a:r>
              <a:t>B: Fine. I’ll make sure he gets the message.</a:t>
            </a:r>
          </a:p>
          <a:p>
            <a:r>
              <a:t>A: Thank you. Goodbye.</a:t>
            </a:r>
          </a:p>
          <a:p>
            <a:r>
              <a:t>B: Goodbye.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32 | </a:t>
            </a:r>
          </a:p>
          <a:p>
            <a:r>
              <a:t>Situation | Your contact is not available.</a:t>
            </a:r>
          </a:p>
          <a:p>
            <a:r>
              <a:t>Your role (A) | Caller. Polite and persistent.</a:t>
            </a:r>
          </a:p>
          <a:p>
            <a:r>
              <a:t>Partner’s role (B) | Assistant. Helpful but careful.</a:t>
            </a:r>
          </a:p>
          <a:p>
            <a:r>
              <a:t>Must use (4 or more) | I’m afraid… · Can I take a message? · Could you ask him to call me back? · I’ll try again later.</a:t>
            </a:r>
          </a:p>
          <a:p>
            <a:r>
              <a:t>Goal | Leave a clear message and agree when you will call again.</a:t>
            </a:r>
          </a:p>
          <a:p>
            <a:r>
              <a:t>My notes | ____________________________________________</a:t>
            </a:r>
          </a:p>
          <a:p>
            <a:r>
              <a:t>The assistant asks “What is it regarding?” Answer in one sentence.</a:t>
            </a:r>
          </a:p>
          <a:p>
            <a:r>
              <a:t>Emphasize urgency without being rude: “It’s quite time-sensitive, so I’d be grateful if he could call me today.”</a:t>
            </a:r>
          </a:p>
          <a:p>
            <a:r>
              <a:t>You have to spell your name and company.</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prefer making phone calls or sending emails? Why? | “I prefer… because I can…” / “It depends on how urgent the matter is.”</a:t>
            </a:r>
          </a:p>
          <a:p>
            <a:r>
              <a:t>2. What should you do before an important call? | “I make notes of…” / “I check the time zone and…”</a:t>
            </a:r>
          </a:p>
          <a:p>
            <a:r>
              <a:t>3. How do you politely get past an assistant who says the boss is busy? | “I’m friendly and I explain why I call.” / “I ask when it’s a good time to call back.”</a:t>
            </a:r>
          </a:p>
          <a:p>
            <a:r>
              <a:t>4. How long should a business call be? Why? | “Most calls should take…” / “If it’s too long, I switch to email.”</a:t>
            </a:r>
          </a:p>
          <a:p>
            <a:r>
              <a:t>5. What would you do if you call the wrong number? | “I would apologize and…” / “I’d say, ‘Sorry to bother you.’”</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“Before an important call, I make short notes: who I’m calling, why I’m calling, and what I want to happen at the end. I also check the time zone, so I don’t call too early or too late. I decide the three questions I need to ask, and I have the documents ready. When the call starts, I don’t have to look for things, and I sound more confident. After the call, I send a short email to confirm what we agreed.”</a:t>
            </a:r>
          </a:p>
          <a:p>
            <a:r>
              <a:t>“so I don’t call too early” 中 so 引导目的。“check the time zone”(确认时区)。注意 “who I’m calling, why I’m calling” 是名词性从句,用陈述语序。</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outgoing calls 去电话术</a:t>
            </a:r>
          </a:p>
          <a:p>
            <a:r>
              <a:t>Step | Say this</a:t>
            </a:r>
          </a:p>
          <a:p>
            <a:r>
              <a:t>Greet + identify | Hello, this is [Name] from [Company].</a:t>
            </a:r>
          </a:p>
          <a:p>
            <a:r>
              <a:t>Ask for the person | Could I speak to [Name], please? / Could you put me through to [Name / department]?</a:t>
            </a:r>
          </a:p>
          <a:p>
            <a:r>
              <a:t>Reason | I’m calling about / regarding… / I’m calling to ask / confirm…</a:t>
            </a:r>
          </a:p>
          <a:p>
            <a:r>
              <a:t>Check time | Is this a good time to talk? ★</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outgoing calls 去电话术</a:t>
            </a:r>
          </a:p>
          <a:p>
            <a:r>
              <a:t>Step | Say this</a:t>
            </a:r>
          </a:p>
          <a:p>
            <a:r>
              <a:t>Information | Could I just check…? / Could you tell me…?</a:t>
            </a:r>
          </a:p>
          <a:p>
            <a:r>
              <a:t>Confirm | Just to confirm, … ★ / So, to summarize, …</a:t>
            </a:r>
          </a:p>
          <a:p>
            <a:r>
              <a:t>Leave a message | Could you ask him to call me back? My number is…</a:t>
            </a:r>
          </a:p>
          <a:p>
            <a:r>
              <a:t>Close | Thank you for your time. I’ll follow up with an email. Goodbye.</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Voicemail structure: 20 seconds 语音留言结构</a:t>
            </a:r>
          </a:p>
          <a:p>
            <a:r>
              <a:t>Name and company: “Hello, this is Li Wei from Orion Foods.”</a:t>
            </a:r>
          </a:p>
          <a:p>
            <a:r>
              <a:t>Reason: “I’m calling about the delivery of 16 October.”</a:t>
            </a:r>
          </a:p>
          <a:p>
            <a:r>
              <a:t>Request: “Could you call me back?”</a:t>
            </a:r>
          </a:p>
          <a:p>
            <a:r>
              <a:t>Number (slowly, twice): “My number is 021 5555 0100. That’s 021 5555 0100.”</a:t>
            </a:r>
          </a:p>
          <a:p>
            <a:r>
              <a:t>Close: “Thank you. Goodbye.”</a:t>
            </a:r>
          </a:p>
          <a:p>
            <a:r>
              <a:t>留言要短,先说姓名公司,电话号码说两遍,每一组数字之间停顿一下。</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to find Mr Tan.  →  ✓ Could I speak to Mr Tan, please?  (find 不用于打电话,用 speak to)</a:t>
            </a:r>
          </a:p>
          <a:p>
            <a:r>
              <a:t>✗ You are Mr Tan?  →  ✓ Is that Mr Tan? / Am I speaking to Mr Tan?  (确认对方身份)</a:t>
            </a:r>
          </a:p>
          <a:p>
            <a:r>
              <a:t>✗ I am calling for your price.  →  ✓ I’m calling about your prices.  (call about)</a:t>
            </a:r>
          </a:p>
          <a:p>
            <a:r>
              <a:t>✗ I’ll call you in 3 p.m.  →  ✓ I’ll call you at 3 p.m.  (钟点用 at)</a:t>
            </a:r>
          </a:p>
          <a:p>
            <a:r>
              <a:t>Mistake Watch: Use could / would when you ask: Could I speak to…? Could you ask him to…? Don’t say “I want…” on the phone.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Please tell him call me back.  →  ✓ Could you ask him to call me back?  (ask sb to do sth)</a:t>
            </a:r>
          </a:p>
          <a:p>
            <a:r>
              <a:t>✗ Just to confirmation, …  →  ✓ Just to confirm, …  (confirm 动词)</a:t>
            </a:r>
          </a:p>
          <a:p>
            <a:r>
              <a:t>✗ Thanks for your attention.  →  ✓ Thank you for your time.  (电话/会议结束用 your time)</a:t>
            </a:r>
          </a:p>
          <a:p>
            <a:r>
              <a:t>✗ retun / comfirm  →  ✓ return / confirm  (拼写)</a:t>
            </a:r>
          </a:p>
          <a:p>
            <a:r>
              <a:t>Mistake Watch: Use could / would when you ask: Could I speak to…? Could you ask him to…? Don’t say “I want…” on the phone.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Ask “Is this a good time?” In English business culture, you don’t assume that the other person is free. This question is polite and normal.</a:t>
            </a:r>
          </a:p>
          <a:p>
            <a:r>
              <a:t>Time zones: Check before you call. 9 a.m. in Shanghai is 1 a.m. in London (in winter) and 8 p.m. the day before in New York. Use “My morning, your evening” to talk about time.</a:t>
            </a:r>
          </a:p>
          <a:p>
            <a:r>
              <a:t>Leave short messages. A voicemail longer than 30 seconds is unlikely to be heard to the end.</a:t>
            </a:r>
          </a:p>
          <a:p>
            <a:r>
              <a:t>Don’t ask for personal mobile numbers. Gatekeepers may not be allowed to share them. Leave your number instead.</a:t>
            </a:r>
          </a:p>
          <a:p>
            <a:r>
              <a:t>Follow up in writing. After the call, send an email: “Further to our call today…”. This is normal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start a call with Hello, this is… from… and ask for the right person.</a:t>
            </a:r>
          </a:p>
          <a:p>
            <a:r>
              <a:t>I can explain why I am calling (I’m calling about / to confirm…).</a:t>
            </a:r>
          </a:p>
          <a:p>
            <a:r>
              <a:t>I can leave a clear message or voicemail with my name, number and request.</a:t>
            </a:r>
          </a:p>
          <a:p>
            <a:r>
              <a:t>I can confirm details with Just to confirm… and close with I’ll follow up with an email.</a:t>
            </a:r>
          </a:p>
          <a:p>
            <a:r>
              <a:t>I can use could for requests and phrasal verbs with pronouns (call you back).</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Could I speak to…?, call about, number reading, and phrasal verbs with pronouns.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19 · When things go wrong 当事情出错时</a:t>
            </a:r>
          </a:p>
          <a:p>
            <a:r>
              <a:t>Goal: handle problems on the phone professionally and honestly: bad connections, cut-off calls, late or damaged deliveries and mistakes. Explain the problem, listen to the other side, and agree on a solution.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题讲过去的事,请用过去式(went wrong, called, solved)。第 2 题可以说 “I say…”。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to handle a customer’s phone complaint about a late delivery.</a:t>
            </a:r>
          </a:p>
          <a:p>
            <a:r>
              <a:t>Say: listen → show understanding → ask for details → give a solution → confirm what happens next.</a:t>
            </a:r>
          </a:p>
          <a:p>
            <a:r>
              <a:t>Useful starters: “First, I listen carefully.” / “Then I say, ‘I’m sorry to hear that.’” / “I offer a solution such as…”</a:t>
            </a:r>
          </a:p>
          <a:p>
            <a:r>
              <a:t>处理投诉的顺序:听 → 同理 → 问细节 → 给方案 → 确认。别一开始就辩解。</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Technical problems on the call 通话中的技术问题</a:t>
            </a:r>
          </a:p>
          <a:p>
            <a:r>
              <a:t>领读 → 学员跟读 → 请学员用表达造一个和自己工作相关的句子。</a:t>
            </a:r>
          </a:p>
          <a:p>
            <a:r>
              <a:t>The line is bad. / It’s a bad line. (phrase) 线路不好 — “I’m sorry, it’s a bad line. Could you say that again?”</a:t>
            </a:r>
          </a:p>
          <a:p>
            <a:r>
              <a:t>★ You’re breaking up. (phrase) 您的声音断断续续 — “You’re breaking up. Could you repeat that?”</a:t>
            </a:r>
          </a:p>
          <a:p>
            <a:r>
              <a:t>We seem to have been cut off. (phrase) 我们好像断线了 — “We seem to have been cut off. I’ll call you back.”</a:t>
            </a:r>
          </a:p>
          <a:p>
            <a:r>
              <a:t>I can’t hear you very well. (phrase) 我听不太清 — “I can’t hear you very well. Could you speak up?”</a:t>
            </a:r>
          </a:p>
          <a:p>
            <a:r>
              <a:t>★ Let me call you back on a landline. (phrase) 我换座机给您回电话 — “Let me call you back on a landline. The signal is poor.”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Describing the problem 描述问题</a:t>
            </a:r>
          </a:p>
          <a:p>
            <a:r>
              <a:t>领读 → 学员跟读 → 请学员用表达造一个和自己工作相关的句子。</a:t>
            </a:r>
          </a:p>
          <a:p>
            <a:r>
              <a:t>There’s a problem with… (phrase) ……出了问题 — “There’s a problem with our order.”</a:t>
            </a:r>
          </a:p>
          <a:p>
            <a:r>
              <a:t>damaged / faulty / missing / late (adjective) 受损/有故障/缺失/迟到 — “Three boxes arrived damaged, and two are missing.”</a:t>
            </a:r>
          </a:p>
          <a:p>
            <a:r>
              <a:t>★ I’d like to make a complaint. (phrase (formal)) 我要投诉 — “I’d like to make a complaint about the delivery.”</a:t>
            </a:r>
          </a:p>
          <a:p>
            <a:r>
              <a:t>What seems to be the problem? (phrase) 请问是什么问题? — “What seems to be the problem?”</a:t>
            </a:r>
          </a:p>
          <a:p>
            <a:r>
              <a:t>★ This is the second time this has happened. (phrase) 这已经是第二次出这样的问题 — “This is the second time this has happened.”</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Finding a solution 寻找解决办法</a:t>
            </a:r>
          </a:p>
          <a:p>
            <a:r>
              <a:t>领读 → 学员跟读 → 请学员用表达造一个和自己工作相关的句子。</a:t>
            </a:r>
          </a:p>
          <a:p>
            <a:r>
              <a:t>Let me look into it. (phrasal verb) 让我调查一下 — “Let me look into it and call you back in an hour.”</a:t>
            </a:r>
          </a:p>
          <a:p>
            <a:r>
              <a:t>★ I’ll sort it out. (phrasal verb) 我来处理好 — “Leave it with me. I’ll sort it out.”</a:t>
            </a:r>
          </a:p>
          <a:p>
            <a:r>
              <a:t>We’ll send a replacement. / a refund (noun) 我们会补发/退款 — “We’ll send a replacement by Friday, or give you a full refund.”</a:t>
            </a:r>
          </a:p>
          <a:p>
            <a:r>
              <a:t>Thank you for letting us know. (phrase) 谢谢您告诉我们 — “Thank you for letting us know.”</a:t>
            </a:r>
          </a:p>
          <a:p>
            <a:r>
              <a:t>★ I’ll keep you posted. (idiom) 我会随时告诉您进展 — “I’ll keep you posted on the investigation.”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cut / problem / damaged / look / line / replacement</a:t>
            </a:r>
          </a:p>
          <a:p>
            <a:r>
              <a:t>1. I’m sorry, it’s a bad _______. Could you say that again? → line</a:t>
            </a:r>
          </a:p>
          <a:p>
            <a:r>
              <a:t>2. We seem to have been _______ off. → cut</a:t>
            </a:r>
          </a:p>
          <a:p>
            <a:r>
              <a:t>3. Three boxes arrived _______. → damaged</a:t>
            </a:r>
          </a:p>
          <a:p>
            <a:r>
              <a:t>4. What seems to be the _______? → problem</a:t>
            </a:r>
          </a:p>
          <a:p>
            <a:r>
              <a:t>5. Let me _______ into it and call you back. → look</a:t>
            </a:r>
          </a:p>
          <a:p>
            <a:r>
              <a:t>6. We’ll send a _______ by Friday. → replacement</a:t>
            </a:r>
          </a:p>
          <a:p>
            <a:r>
              <a:t>Mistake Watch (拼写与搭配): damaged (not “damage” for adjective), replacement (not “replacment”), refund (noun and verb, stress on RE-fund / re-FUND). Say “look into it” (investigate), not “see into it”.</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complaint about a damaged delivery 投诉到货受损</a:t>
            </a:r>
          </a:p>
          <a:p>
            <a:r>
              <a:t>情景：A customer calls to complain that part of the order arrived damaged. You are the supplier.</a:t>
            </a:r>
          </a:p>
          <a:p>
            <a:r>
              <a:t>Role A: Anna Berg, supplier Role B: Carlos Diaz, customer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(Anna): Nordic Steel, Anna Berg speaking. How can I help you?</a:t>
            </a:r>
          </a:p>
          <a:p>
            <a:r>
              <a:t>B (Carlos): Hello, Anna. It’s Carlos Diaz. I’m afraid there’s a problem with our delivery.</a:t>
            </a:r>
          </a:p>
          <a:p>
            <a:r>
              <a:t>A: I’m sorry to hear that. What seems to be the problem?</a:t>
            </a:r>
          </a:p>
          <a:p>
            <a:r>
              <a:t>B: Three of the boxes arrived damaged, and two boxes are missing. This is the second time this has happened.</a:t>
            </a:r>
          </a:p>
          <a:p>
            <a:r>
              <a:t>A: I’m very sorry, Carlos. I can understand how frustrating that must be. Can you give me the order number?</a:t>
            </a:r>
          </a:p>
          <a:p>
            <a:r>
              <a:t>B: It’s 2209-114.</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Thank you. Let me look into it. Could you send me photos of the damaged boxes?</a:t>
            </a:r>
          </a:p>
          <a:p>
            <a:r>
              <a:t>B: Yes, I can do that this afternoon.</a:t>
            </a:r>
          </a:p>
          <a:p>
            <a:r>
              <a:t>A: Thank you. We’ll send replacements for the damaged ones, and I’ll find out about the missing boxes today.</a:t>
            </a:r>
          </a:p>
          <a:p>
            <a:r>
              <a:t>B: When can I expect the replacements?</a:t>
            </a:r>
          </a:p>
          <a:p>
            <a:r>
              <a:t>A: I’ll sort that out right away and keep you posted. I’ll call you back by five today.</a:t>
            </a:r>
          </a:p>
          <a:p>
            <a:r>
              <a:t>B: OK. Thank you for dealing with it so quickly.</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33 | </a:t>
            </a:r>
          </a:p>
          <a:p>
            <a:r>
              <a:t>Situation | A customer phones with a delivery problem.</a:t>
            </a:r>
          </a:p>
          <a:p>
            <a:r>
              <a:t>Your role (A) | Supplier. Listen and offer a solution.</a:t>
            </a:r>
          </a:p>
          <a:p>
            <a:r>
              <a:t>Partner’s role (B) | Customer. Frustrated but reasonable.</a:t>
            </a:r>
          </a:p>
          <a:p>
            <a:r>
              <a:t>Must use (4 or more) | I’m sorry to hear that. · What seems to be the problem? · Let me look into it. · I’ll sort it out. · I’ll keep you posted.</a:t>
            </a:r>
          </a:p>
          <a:p>
            <a:r>
              <a:t>Goal | Apologize, get facts, offer a solution with a time, and agree on the next step.</a:t>
            </a:r>
          </a:p>
          <a:p>
            <a:r>
              <a:t>My notes | ____________________________________________</a:t>
            </a:r>
          </a:p>
          <a:p>
            <a:r>
              <a:t>The customer wants a refund. Say: “I understand. Could you tell me which would be better: a replacement or a refund?”</a:t>
            </a:r>
          </a:p>
          <a:p>
            <a:r>
              <a:t>Say what you can’t do: “I’m afraid I can’t promise a date yet, but I’ll find out and call you by three.”</a:t>
            </a:r>
          </a:p>
          <a:p>
            <a:r>
              <a:t>The customer says: “This is not acceptable.” Stay calm and polite.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bad line and a cut-off call 线路不好、通话中断</a:t>
            </a:r>
          </a:p>
          <a:p>
            <a:r>
              <a:t>情景：You are on a call with a client who has a poor signal. The call is cut off, and you call back.</a:t>
            </a:r>
          </a:p>
          <a:p>
            <a:r>
              <a:t>Role A: Li Wei Role B: Mr Park, client in Seoul</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Hello, Mr Park. Can you hear me OK?</a:t>
            </a:r>
          </a:p>
          <a:p>
            <a:r>
              <a:t>B (Park): Hello, Li Wei. I can hear you, but the line is not very good.</a:t>
            </a:r>
          </a:p>
          <a:p>
            <a:r>
              <a:t>A: Is it better now? I’ll move closer to the window. … I’m sorry, you’re breaking up. Could you repeat that?</a:t>
            </a:r>
          </a:p>
          <a:p>
            <a:r>
              <a:t>B: I said, the delivery date is …</a:t>
            </a:r>
          </a:p>
          <a:p>
            <a:r>
              <a:t>A: I’m sorry, I only heard “date”. I can’t hear you very well. Shall I call you back on your landline?</a:t>
            </a:r>
          </a:p>
          <a:p>
            <a:r>
              <a:t>B: (The call drops.)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calls again.) Hello, Mr Park? We seem to have been cut off.</a:t>
            </a:r>
          </a:p>
          <a:p>
            <a:r>
              <a:t>B: Yes, I’m in the lift. Let me go to the lobby. … Is that better?</a:t>
            </a:r>
          </a:p>
          <a:p>
            <a:r>
              <a:t>A: Much better, thanks. You were saying the delivery date.</a:t>
            </a:r>
          </a:p>
          <a:p>
            <a:r>
              <a:t>B: Yes. The delivery date is the 20th of November.</a:t>
            </a:r>
          </a:p>
          <a:p>
            <a:r>
              <a:t>A: The 20th of November. Just to confirm, that’s a Friday. I’ll note that. Thank you for your patience.</a:t>
            </a:r>
          </a:p>
          <a:p>
            <a:r>
              <a:t>B: No problem. Please send me an email to confirm.</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34 | </a:t>
            </a:r>
          </a:p>
          <a:p>
            <a:r>
              <a:t>Situation | Your call has a poor connection and gets cut off.</a:t>
            </a:r>
          </a:p>
          <a:p>
            <a:r>
              <a:t>Your role (A) | Caller. Keep calm and polite.</a:t>
            </a:r>
          </a:p>
          <a:p>
            <a:r>
              <a:t>Partner’s role (B) | Client. In a place with a poor signal.</a:t>
            </a:r>
          </a:p>
          <a:p>
            <a:r>
              <a:t>Must use (3 or more) | You’re breaking up. · I can’t hear you very well. · We seem to have been cut off. · Just to confirm… · Let me call you back.</a:t>
            </a:r>
          </a:p>
          <a:p>
            <a:r>
              <a:t>Goal | Complete the call and confirm the key information in writing.</a:t>
            </a:r>
          </a:p>
          <a:p>
            <a:r>
              <a:t>My notes | ____________________________________________</a:t>
            </a:r>
          </a:p>
          <a:p>
            <a:r>
              <a:t>The call drops twice. Suggest changing to a video app or a landline.</a:t>
            </a:r>
          </a:p>
          <a:p>
            <a:r>
              <a:t>Use only simple words so the other person understands even with a bad line.</a:t>
            </a:r>
          </a:p>
          <a:p>
            <a:r>
              <a:t>End the call with an offer to continue by email: “Why don’t I send you an email with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problems do you often have on phone or video calls? | “The most common problem is…” / “Sometimes the sound is…”</a:t>
            </a:r>
          </a:p>
          <a:p>
            <a:r>
              <a:t>2. What should a company do when a delivery goes wrong? | “First, they should apologize.” / “They should find the cause and…”</a:t>
            </a:r>
          </a:p>
          <a:p>
            <a:r>
              <a:t>3. How can you stay calm when a customer is angry? | “I try to breathe and…” / “I remember that the customer is angry about the problem, not about me.”</a:t>
            </a:r>
          </a:p>
          <a:p>
            <a:r>
              <a:t>4. Is it better to give a refund or a replacement? | “It depends on…” / “A replacement is better when the customer still needs the product.”</a:t>
            </a:r>
          </a:p>
          <a:p>
            <a:r>
              <a:t>5. What would make you a loyal customer after a problem? | “If the company… I would…” / “A fast reply and an honest answer would…”</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try to remind myself that the customer is angry about the problem, not about me. I listen without interrupting, and I say,”I’m sorry to hear that. Let me look into it.” I don’t make excuses, and I focus on a solution. If I can’t solve it immediately, I give a time when I will call back, for example, “I’ll get back to you by five.” People are usually calmer when they know what will happen next.”</a:t>
            </a:r>
          </a:p>
          <a:p>
            <a:r>
              <a:t>“angry about the problem, not about me” 注意介词 about。“make excuses”(找借口)。“People are usually calmer when they know what will happen next.” 说明给出明确时间能让对方放心。</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problems 电话中出现问题</a:t>
            </a:r>
          </a:p>
          <a:p>
            <a:r>
              <a:t>Situation | Say this</a:t>
            </a:r>
          </a:p>
          <a:p>
            <a:r>
              <a:t>Bad line | I’m afraid it’s a bad line. Could you say that again?</a:t>
            </a:r>
          </a:p>
          <a:p>
            <a:r>
              <a:t>Can’t hear | I can’t hear you very well. Could you speak up?</a:t>
            </a:r>
          </a:p>
          <a:p>
            <a:r>
              <a:t>Breaking up | You’re breaking up. ★</a:t>
            </a:r>
          </a:p>
          <a:p>
            <a:r>
              <a:t>Cut off | We seem to have been cut off. I’ll call you back.</a:t>
            </a:r>
          </a:p>
          <a:p>
            <a:r>
              <a:t>Complain | I’m calling about a problem with… / I’d like to make a complaint. ★</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problems 电话中出现问题</a:t>
            </a:r>
          </a:p>
          <a:p>
            <a:r>
              <a:t>Situation | Say this</a:t>
            </a:r>
          </a:p>
          <a:p>
            <a:r>
              <a:t>Respond | I’m sorry to hear that. / I understand how frustrating this must be.</a:t>
            </a:r>
          </a:p>
          <a:p>
            <a:r>
              <a:t>Investigate | Let me look into it. ★</a:t>
            </a:r>
          </a:p>
          <a:p>
            <a:r>
              <a:t>Solve | We can send a replacement / refund / discount.</a:t>
            </a:r>
          </a:p>
          <a:p>
            <a:r>
              <a:t>Close | I’ll keep you posted. ★ / I’ll call you back by…</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problems clearly: use facts 用事实描述问题</a:t>
            </a:r>
          </a:p>
          <a:p>
            <a:r>
              <a:t>Vague ✗ | Clear ✓</a:t>
            </a:r>
          </a:p>
          <a:p>
            <a:r>
              <a:t>It’s broken. | The screen is cracked and the machine won’t start.</a:t>
            </a:r>
          </a:p>
          <a:p>
            <a:r>
              <a:t>The delivery is bad. | Three boxes arrived damaged, and two boxes are missing.</a:t>
            </a:r>
          </a:p>
          <a:p>
            <a:r>
              <a:t>It’s late. | It was due on Monday and hasn’t arrived yet.</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problems clearly: use facts 用事实描述问题</a:t>
            </a:r>
          </a:p>
          <a:p>
            <a:r>
              <a:t>Do: say what happened, when, how many, and what you want.</a:t>
            </a:r>
          </a:p>
          <a:p>
            <a:r>
              <a:t>Don’t: accuse (“You always make mistakes!”). Say: “This is the second time this has happened.”</a:t>
            </a:r>
          </a:p>
          <a:p>
            <a:r>
              <a:t>Past vs present perfect: “The goods arrived on Monday” (finished time) but “They haven’t arrived yet” (no result until now).</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goods are damage.  →  ✓ The goods are damaged. / arrived damaged.  (damaged 是形容词)</a:t>
            </a:r>
          </a:p>
          <a:p>
            <a:r>
              <a:t>✗ The goods didn’t arrive until now.  →  ✓ The goods haven’t arrived yet.  (到现在为止 → 现在完成时)</a:t>
            </a:r>
          </a:p>
          <a:p>
            <a:r>
              <a:t>✗ We have a problem about the delivery.  →  ✓ We have a problem with the delivery.  (problem with)</a:t>
            </a:r>
          </a:p>
          <a:p>
            <a:r>
              <a:t>✗ Please solve this problem at once.  →  ✓ Could you look into this as soon as possible?  (更礼貌)</a:t>
            </a:r>
          </a:p>
          <a:p>
            <a:r>
              <a:t>✗ This is your fault.  →  ✓ There seems to have been a mistake.  (避免指责)</a:t>
            </a:r>
          </a:p>
          <a:p>
            <a:r>
              <a:t>Mistake Watch: hear (can’t hear you), look into, deal with, problem with, and present perfect for “not yet”: hasn’t arrived yet.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I’ll see into it.  →  ✓ I’ll look into it.  (look into = 调查)</a:t>
            </a:r>
          </a:p>
          <a:p>
            <a:r>
              <a:t>✗ We will deal the problem soon.  →  ✓ We’ll deal with the problem soon.  (deal with)</a:t>
            </a:r>
          </a:p>
          <a:p>
            <a:r>
              <a:t>✗ I can’t listen you.  →  ✓ I can’t hear you.  (听电话用 hear)</a:t>
            </a:r>
          </a:p>
          <a:p>
            <a:r>
              <a:t>✗ refound / replacment  →  ✓ refund / replacement  (拼写)</a:t>
            </a:r>
          </a:p>
          <a:p>
            <a:r>
              <a:t>✗ I’m sorry for trouble.  →  ✓ I’m sorry for the trouble / for any inconvenience.  (缺冠词 the)</a:t>
            </a:r>
          </a:p>
          <a:p>
            <a:r>
              <a:t>Mistake Watch: hear (can’t hear you), look into, deal with, problem with, and present perfect for “not yet”: hasn’t arrived yet.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Complain with facts and a solution. Western businesses expect: what is wrong, when it happened, what you want. Raising your voice does not help.</a:t>
            </a:r>
          </a:p>
          <a:p>
            <a:r>
              <a:t>Say “We” not “I” for company problems: “We are sorry that…” shows that the company takes responsibility.</a:t>
            </a:r>
          </a:p>
          <a:p>
            <a:r>
              <a:t>Don’t blame a colleague in front of a customer. Say “I’ll look into what happened.”</a:t>
            </a:r>
          </a:p>
          <a:p>
            <a:r>
              <a:t>Give a time frame: “by five o’clock today”, not “soon”. “Soon” can mean any time.</a:t>
            </a:r>
          </a:p>
          <a:p>
            <a:r>
              <a:t>Follow up in writing. After a complaint call, send an email with the order number, photos and the agreed action.</a:t>
            </a:r>
          </a:p>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say what’s wrong with the phone line (You’re breaking up. We seem to have been cut off.).</a:t>
            </a:r>
          </a:p>
          <a:p>
            <a:r>
              <a:t>I can describe a business problem with facts (arrived damaged, haven’t arrived yet).</a:t>
            </a:r>
          </a:p>
          <a:p>
            <a:r>
              <a:t>I can respond to a complaint (I’m sorry to hear that. Let me look into it.).</a:t>
            </a:r>
          </a:p>
          <a:p>
            <a:r>
              <a:t>I can offer solutions and a time (replacement, refund, I’ll keep you posted).</a:t>
            </a:r>
          </a:p>
          <a:p>
            <a:r>
              <a:t>I can use hear, look into, deal with and the present perfect (hasn’t arrived yet).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hear / listen, look into, present perfect for not yet, and a calm, polite tone.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20 · Apologizing 道歉</a:t>
            </a:r>
          </a:p>
          <a:p>
            <a:r>
              <a:t>Goal: apologize sincerely and appropriately in business situations: accept responsibility, express regret, explain briefly, offer to put things right, and respond when someone apologizes to you.</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题讲过去的事,请用过去式(made, forgot, said)。第 3 题:apologize 比 sorry 更正式。</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mistake at work and how you apologized.</a:t>
            </a:r>
          </a:p>
          <a:p>
            <a:r>
              <a:t>Say: what happened → who it affected → your apology → how you fixed it → what you did to avoid it next time.</a:t>
            </a:r>
          </a:p>
          <a:p>
            <a:r>
              <a:t>Useful starters: “I made a mistake with…” / “I apologized by saying…” / “To fix it, I…” / “Since then, I…”</a:t>
            </a:r>
          </a:p>
          <a:p>
            <a:r>
              <a:t>讲故事用过去式。“从那以后”用 Since then + 现在完成时或过去式。道歉后要有行动:我会如何改正。</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Saying sorry 表达歉意</a:t>
            </a:r>
          </a:p>
          <a:p>
            <a:r>
              <a:t>领读 → 学员跟读 → 请学员用表达造一个和自己工作相关的句子。</a:t>
            </a:r>
          </a:p>
          <a:p>
            <a:r>
              <a:t>I’m so sorry about… (phrase) 对于……我非常抱歉 — “I’m so sorry about the confusion.”</a:t>
            </a:r>
          </a:p>
          <a:p>
            <a:r>
              <a:t>I apologize for… (phrase (formal)) 我为……道歉 — “I apologize for the late delivery.”</a:t>
            </a:r>
          </a:p>
          <a:p>
            <a:r>
              <a:t>Please accept our apologies. (phrase (formal)) 请接受我们的歉意 — “Please accept our apologies for the inconvenience.”</a:t>
            </a:r>
          </a:p>
          <a:p>
            <a:r>
              <a:t>★ I sincerely apologize for any inconvenience this has caused. (phrase (formal)) 对由此造成的不便,我诚挚道歉 — “I sincerely apologize for any inconvenience this has caused.”</a:t>
            </a:r>
          </a:p>
          <a:p>
            <a:r>
              <a:t>Sorry to keep you waiting. (phrase) 抱歉让您久等 — “Sorry to keep you waiting.”</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Taking responsibility 承担责任</a:t>
            </a:r>
          </a:p>
          <a:p>
            <a:r>
              <a:t>领读 → 学员跟读 → 请学员用表达造一个和自己工作相关的句子。</a:t>
            </a:r>
          </a:p>
          <a:p>
            <a:r>
              <a:t>It’s entirely our fault. (phrase) 这完全是我们的错 — “It’s entirely our fault. We sent the wrong model.”</a:t>
            </a:r>
          </a:p>
          <a:p>
            <a:r>
              <a:t>That was my mistake. (phrase) 那是我的失误 — “That was my mistake. I entered the wrong date.”</a:t>
            </a:r>
          </a:p>
          <a:p>
            <a:r>
              <a:t>★ I take full responsibility for this. (phrase (formal)) 我对此负全责 — “I take full responsibility for this.”</a:t>
            </a:r>
          </a:p>
          <a:p>
            <a:r>
              <a:t>I should have checked… (phrase) 我本应该核对…… — “I should have checked the invoice before I sent it.”</a:t>
            </a:r>
          </a:p>
          <a:p>
            <a:r>
              <a:t>★ There was a misunderstanding on our side. (phrase) 是我们这边有误会 — “There was a misunderstanding on our side.”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Making it right and responding 补救与回应</a:t>
            </a:r>
          </a:p>
          <a:p>
            <a:r>
              <a:t>领读 → 学员跟读 → 请学员用表达造一个和自己工作相关的句子。</a:t>
            </a:r>
          </a:p>
          <a:p>
            <a:r>
              <a:t>★ Let me make it up to you. (phrasal verb) 让我来补偿您 — “Let me make it up to you with a discount on your next order.”</a:t>
            </a:r>
          </a:p>
          <a:p>
            <a:r>
              <a:t>★ We’ll make sure it doesn’t happen again. (phrase) 我们会确保这种情况不再发生 — “We’ll make sure it doesn’t happen again.”</a:t>
            </a:r>
          </a:p>
          <a:p>
            <a:r>
              <a:t>Thank you for your understanding. (phrase) 感谢您的理解 — “Thank you for your understanding and patience.”</a:t>
            </a:r>
          </a:p>
          <a:p>
            <a:r>
              <a:t>That’s all right. / No harm done. (phrase) 没关系 / 没造成什么损害 — “Don’t worry about it. No harm done.”</a:t>
            </a:r>
          </a:p>
          <a:p>
            <a:r>
              <a:t>★ These things happen. (phrase) 这种事难免会发生 — “It’s fine. These things happen.”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sure / apologize / checked / fault / accept / harm</a:t>
            </a:r>
          </a:p>
          <a:p>
            <a:r>
              <a:t>1. I _______ for the late delivery. → apologize</a:t>
            </a:r>
          </a:p>
          <a:p>
            <a:r>
              <a:t>2. Please _______ our apologies for the inconvenience. → accept</a:t>
            </a:r>
          </a:p>
          <a:p>
            <a:r>
              <a:t>3. It’s entirely our _______. We sent the wrong model. → fault</a:t>
            </a:r>
          </a:p>
          <a:p>
            <a:r>
              <a:t>4. I should have _______ the invoice before I sent it. → checked</a:t>
            </a:r>
          </a:p>
          <a:p>
            <a:r>
              <a:t>5. We’ll make _______ it doesn’t happen again. → sure</a:t>
            </a:r>
          </a:p>
          <a:p>
            <a:r>
              <a:t>6. Don’t worry about it. No _______ done. → harm</a:t>
            </a:r>
          </a:p>
          <a:p>
            <a:r>
              <a:t>Mistake Watch (拼写与结构): apologize (UK: apologise), apology (noun), inconvenience (not “inconvinience”), responsibility (not “responsability”). Say “apologize for + noun / -ing”: “I apologize for being late.”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Apologizing to a customer for a mistake 向客户道歉</a:t>
            </a:r>
          </a:p>
          <a:p>
            <a:r>
              <a:t>情景：Your invoice had the wrong amount. A customer calls you.</a:t>
            </a:r>
          </a:p>
          <a:p>
            <a:r>
              <a:t>Role A: Li Wei, accounts manager Role B: Henry Lee, customer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Orion Foods, Li Wei speaking.</a:t>
            </a:r>
          </a:p>
          <a:p>
            <a:r>
              <a:t>B (Henry): Hello, Li Wei. It’s Henry Lee. I’m calling about the invoice you sent yesterday. The total is wrong.</a:t>
            </a:r>
          </a:p>
          <a:p>
            <a:r>
              <a:t>A: Oh no. I’m so sorry, Henry. Let me check. … You’re right. That was my mistake. I entered the wrong unit price.</a:t>
            </a:r>
          </a:p>
          <a:p>
            <a:r>
              <a:t>B: It’s about $800 too high.</a:t>
            </a:r>
          </a:p>
          <a:p>
            <a:r>
              <a:t>A: I apologize for the error and for the inconvenience. I should have checked it before I sent it.</a:t>
            </a:r>
          </a:p>
          <a:p>
            <a:r>
              <a:t>B: These things happen. Can you send a corrected invoice?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Of course. I’ll send it within the hour. And I’d like to make it up to you. I can offer a 3% discount on your next order.</a:t>
            </a:r>
          </a:p>
          <a:p>
            <a:r>
              <a:t>B: That’s very kind of you.</a:t>
            </a:r>
          </a:p>
          <a:p>
            <a:r>
              <a:t>A: It’s the least we can do. We’ll make sure it doesn’t happen again. A second person will check every invoice from now on.</a:t>
            </a:r>
          </a:p>
          <a:p>
            <a:r>
              <a:t>B: Good. Thank you for sorting it out so quickly.</a:t>
            </a:r>
          </a:p>
          <a:p>
            <a:r>
              <a:t>A: Thank you for your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35 | </a:t>
            </a:r>
          </a:p>
          <a:p>
            <a:r>
              <a:t>Situation | You made a mistake and a customer is calling.</a:t>
            </a:r>
          </a:p>
          <a:p>
            <a:r>
              <a:t>Your role (A) | Staff member. Apologize, take responsibility, offer a solution.</a:t>
            </a:r>
          </a:p>
          <a:p>
            <a:r>
              <a:t>Partner’s role (B) | Customer. Polite but unhappy.</a:t>
            </a:r>
          </a:p>
          <a:p>
            <a:r>
              <a:t>Must use (4 or more) | I’m so sorry about… · That was my mistake. · I apologize for… · make it up to you · make sure it doesn’t happen again.</a:t>
            </a:r>
          </a:p>
          <a:p>
            <a:r>
              <a:t>Goal | Short apology → explanation → solution → promise. About 90 seconds.</a:t>
            </a:r>
          </a:p>
          <a:p>
            <a:r>
              <a:t>My notes | ____________________________________________</a:t>
            </a:r>
          </a:p>
          <a:p>
            <a:r>
              <a:t>The customer is angry and says, “This is unacceptable.” Stay calm: “You’re absolutely right, and I’m sorry.”</a:t>
            </a:r>
          </a:p>
          <a:p>
            <a:r>
              <a:t>It was not your fault, but your company’s. Say: “I apologize on behalf of our company.”</a:t>
            </a:r>
          </a:p>
          <a:p>
            <a:r>
              <a:t>Don’t give excuses. Replace “It was the system” with “I’ll look into what happened.”</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Apologizing for being late and accepting an apology 为迟到道歉及回应</a:t>
            </a:r>
          </a:p>
          <a:p>
            <a:r>
              <a:t>情景：You are late for an online meeting and your client has been waiting for ten minutes.</a:t>
            </a:r>
          </a:p>
          <a:p>
            <a:r>
              <a:t>Role A: Li Wei, late Role B: Karen Ortiz,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Karen, I’m so sorry I’m late. I apologize for keeping you waiting.</a:t>
            </a:r>
          </a:p>
          <a:p>
            <a:r>
              <a:t>B (Karen): Don’t worry about it. These things happen. Is everything OK?</a:t>
            </a:r>
          </a:p>
          <a:p>
            <a:r>
              <a:t>A: Yes, thanks. My previous meeting ran over, and I should have told you earlier. That was my mistake.</a:t>
            </a:r>
          </a:p>
          <a:p>
            <a:r>
              <a:t>B: No harm done. We still have fifty minutes.</a:t>
            </a:r>
          </a:p>
          <a:p>
            <a:r>
              <a:t>A: Thank you for your understanding. Shall we start with the agenda?</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Yes. But first, did you get my email about the schedule?</a:t>
            </a:r>
          </a:p>
          <a:p>
            <a:r>
              <a:t>A: I did. Sorry, I haven’t had a chance to reply yet. I’ll do it right after this call.</a:t>
            </a:r>
          </a:p>
          <a:p>
            <a:r>
              <a:t>B: No problem. Let’s get started.</a:t>
            </a:r>
          </a:p>
          <a:p>
            <a:r>
              <a:t>A: I’ll make sure the next meeting starts on time. I’ll also add a reminder to my calendar.</a:t>
            </a:r>
          </a:p>
          <a:p>
            <a:r>
              <a:t>B: That would be great, thanks.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36 | </a:t>
            </a:r>
          </a:p>
          <a:p>
            <a:r>
              <a:t>Situation | You are late for a call, and your partner has been waiting.</a:t>
            </a:r>
          </a:p>
          <a:p>
            <a:r>
              <a:t>Your role (A) | Late person. Apologize once, give a short reason, move on.</a:t>
            </a:r>
          </a:p>
          <a:p>
            <a:r>
              <a:t>Partner’s role (B) | Client. Accepts the apology with a friendly phrase.</a:t>
            </a:r>
          </a:p>
          <a:p>
            <a:r>
              <a:t>Must use (3 or more) | I’m so sorry I’m late. · I should have… · Thank you for your understanding. · No harm done. · These things happen.</a:t>
            </a:r>
          </a:p>
          <a:p>
            <a:r>
              <a:t>Goal | Apologize in two sentences, accept an apology in one, and begin the meeting.</a:t>
            </a:r>
          </a:p>
          <a:p>
            <a:r>
              <a:t>My notes | ____________________________________________</a:t>
            </a:r>
          </a:p>
          <a:p>
            <a:r>
              <a:t>It’s the second time you were late. Say: “I know this is not the first time, and I take full responsibility.”</a:t>
            </a:r>
          </a:p>
          <a:p>
            <a:r>
              <a:t>Respond to a very angry person: “I completely understand why you’re upset.”</a:t>
            </a:r>
          </a:p>
          <a:p>
            <a:r>
              <a:t>Reply to an apology with a warm line,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When should you apologize at work? | “I think you should apologize when…” / “Even a small mistake needs…”</a:t>
            </a:r>
          </a:p>
          <a:p>
            <a:r>
              <a:t>2. How is a good apology different from a bad one? | “A good apology is… It includes…” / “A bad apology sounds like…”</a:t>
            </a:r>
          </a:p>
          <a:p>
            <a:r>
              <a:t>3. Do you think people in your country apologize too much or too little? | “In my country, people often…” / “It’s common to say sorry for…”</a:t>
            </a:r>
          </a:p>
          <a:p>
            <a:r>
              <a:t>4. How should a company apologize to a customer in public (for example on social media)? | “A company should apologize quickly and…” / “It’s important to explain the next step.”</a:t>
            </a:r>
          </a:p>
          <a:p>
            <a:r>
              <a:t>5. How do you accept someone’s apology politely? | “I usually say…” / “I tell them it’s fine, and I move on.”</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good apology has four parts. First, you say sorry clearly. Second, you take responsibility, for example”That was my mistake.” Third, you explain how you will fix it. Finally, you promise to prevent it in the future. A bad apology sounds like an excuse: “I’m sorry, but it wasn’t my fault.” The word “but” cancels the apology.”</a:t>
            </a:r>
          </a:p>
          <a:p>
            <a:r>
              <a:t>记住 “I’m sorry, but…” 会抵消道歉。“cancel”(取消、抵消)很生动。四个步骤用 first / second / third / finally 排序。</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apologizing 道歉话术</a:t>
            </a:r>
          </a:p>
          <a:p>
            <a:r>
              <a:t>Step | Say this</a:t>
            </a:r>
          </a:p>
          <a:p>
            <a:r>
              <a:t>Apologize | I’m so sorry about… / I apologize for…</a:t>
            </a:r>
          </a:p>
          <a:p>
            <a:r>
              <a:t>Take responsibility | That was my mistake. / It’s entirely our fault. ★</a:t>
            </a:r>
          </a:p>
          <a:p>
            <a:r>
              <a:t>Explain (briefly) | What happened was that… / The reason is…</a:t>
            </a:r>
          </a:p>
          <a:p>
            <a:r>
              <a:t>Fix | I’ll send a corrected… right away. / Let me make it up to you. ★</a:t>
            </a:r>
          </a:p>
          <a:p>
            <a:r>
              <a:t>Prevent | We’ll make sure it doesn’t happen again. ★</a:t>
            </a:r>
          </a:p>
          <a:p>
            <a:r>
              <a:t>Thank | Thank you for your understanding / patience.</a:t>
            </a:r>
          </a:p>
          <a:p>
            <a:r>
              <a:t>Reply to an apology | That’s all right. / No harm done. ★ / These things happen. ★</a:t>
            </a:r>
          </a:p>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Strength of apology 道歉的力度</a:t>
            </a:r>
          </a:p>
          <a:p>
            <a:r>
              <a:t>Level | Phrase | Use</a:t>
            </a:r>
          </a:p>
          <a:p>
            <a:r>
              <a:t>Light | Sorry! / Oops, sorry. | Small things (bumping, interrupting)</a:t>
            </a:r>
          </a:p>
          <a:p>
            <a:r>
              <a:t>Medium | I’m so sorry about that. / I’m really sorry for… | Colleagues, normal mistakes</a:t>
            </a:r>
          </a:p>
          <a:p>
            <a:r>
              <a:t>Formal ★ | I apologize for… / Please accept our apologies. | Customers, written apologies</a:t>
            </a:r>
          </a:p>
          <a:p>
            <a:r>
              <a:t>Serious ★ | I sincerely apologize. I take full responsibility. | Serious problems, repeated mistakes</a:t>
            </a:r>
          </a:p>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Strength of apology 道歉的力度</a:t>
            </a:r>
          </a:p>
          <a:p>
            <a:r>
              <a:t>sorry for + noun / -ing: “Sorry for the delay.” / “Sorry for being late.”</a:t>
            </a:r>
          </a:p>
          <a:p>
            <a:r>
              <a:t>sorry that + clause: “I’m sorry that you had to wait.”</a:t>
            </a:r>
          </a:p>
          <a:p>
            <a:r>
              <a:t>sorry to + verb: “I’m sorry to hear that.” / “Sorry to bother you.”</a:t>
            </a:r>
          </a:p>
          <a:p>
            <a:r>
              <a:t>Don’t add but. Compare: “I’m sorry I’m late, but the traffic was terrible.” (excuse) vs “I’m sorry I’m late. The traffic was terrible.” (explanation)</a:t>
            </a:r>
          </a:p>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sorry for trouble you.  →  ✓ I’m sorry to trouble you. / I’m sorry for the trouble.  (sorry to + 动词 / sorry for + 名词)</a:t>
            </a:r>
          </a:p>
          <a:p>
            <a:r>
              <a:t>✗ I’m sorry to be late. (about a past event)  →  ✓ I’m sorry I’m late. / I’m sorry for being late.  (已经迟到:用现在时 I’m late)</a:t>
            </a:r>
          </a:p>
          <a:p>
            <a:r>
              <a:t>✗ Sorry sorry sorry, it’s my fault!  →  ✓ I’m sorry about that. That was my mistake.  (道歉一次就够,要有具体内容)</a:t>
            </a:r>
          </a:p>
          <a:p>
            <a:r>
              <a:t>✗ Excuse me, I made a mistake.  →  ✓ I’m sorry, that was my mistake.  (excuse me 用于引起注意,不是道歉)</a:t>
            </a:r>
          </a:p>
          <a:p>
            <a:r>
              <a:t>✗ I apology for the delay.  →  ✓ I apologize for the delay.  (动词 apologize)</a:t>
            </a:r>
          </a:p>
          <a:p>
            <a:r>
              <a:t>Mistake Watch: Excuse me = get attention; Sorry / I apologize = say sorry. Sorry for (noun / -ing), sorry to (verb), sorry (that) + clause.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Sorry for my bad English.  →  ✓ Sorry, could you say that again?  (不要为英语道歉)</a:t>
            </a:r>
          </a:p>
          <a:p>
            <a:r>
              <a:t>✗ It’s not my fault, it’s the system.  →  ✓ There seems to have been a problem with the system. I’ll look into it.  (不要推卸责任)</a:t>
            </a:r>
          </a:p>
          <a:p>
            <a:r>
              <a:t>✗ It doesn’t matter. (reply to an apology)  →  ✓ That’s all right. / No harm done.  (It doesn’t matter 语气冷淡)</a:t>
            </a:r>
          </a:p>
          <a:p>
            <a:r>
              <a:t>✗ Thanks for your understand.  →  ✓ Thank you for your understanding.  (名词 understanding)</a:t>
            </a:r>
          </a:p>
          <a:p>
            <a:r>
              <a:t>✗ inconvinience / responsability  →  ✓ inconvenience / responsibility  (拼写)</a:t>
            </a:r>
          </a:p>
          <a:p>
            <a:r>
              <a:t>Mistake Watch: Excuse me = get attention; Sorry / I apologize = say sorry. Sorry for (noun / -ing), sorry to (verb), sorry (that) + clause.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Apologizing in the UK is automatic. British people say “Sorry” for small things (bumping into a chair). It doesn’t always mean they did something wrong.</a:t>
            </a:r>
          </a:p>
          <a:p>
            <a:r>
              <a:t>In business, a clear apology builds trust. In China, giving a gift or a meal after a problem is common. In Western business, a clear apology and a concrete solution (refund, discount, corrected invoice) matter more.</a:t>
            </a:r>
          </a:p>
          <a:p>
            <a:r>
              <a:t>Don’t blame others. Even if it was not your fault, say “I’m sorry about the problem” and then solve it.</a:t>
            </a:r>
          </a:p>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Legal caution: In some countries (for example the US), companies avoid saying “It’s our fault” in writing. Use “We regret the inconvenience” when you are not sure.</a:t>
            </a:r>
          </a:p>
          <a:p>
            <a:r>
              <a:t>Don’t over-apologize. Repeating “sorry” many times makes you sound nervous. One sincere apology plus action is stronger.</a:t>
            </a:r>
          </a:p>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apologize with I’m so sorry about… I apologize for… Please accept our apologies.</a:t>
            </a:r>
          </a:p>
          <a:p>
            <a:r>
              <a:t>I can take responsibility (That was my mistake. It’s entirely our fault.) without making excuses.</a:t>
            </a:r>
          </a:p>
          <a:p>
            <a:r>
              <a:t>I can offer a solution and a promise (Let me make it up to you. We’ll make sure it doesn’t happen again.).</a:t>
            </a:r>
          </a:p>
          <a:p>
            <a:r>
              <a:t>I can accept an apology (That’s all right. No harm done. These things happen.).</a:t>
            </a:r>
          </a:p>
          <a:p>
            <a:r>
              <a:t>I can use sorry for / to / that, apologize, and excuse me correctly.</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sorry for / to / that, apologize (verb) / apology (noun), no “but” after sorry, and spelling (inconvenience).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21 · Telephone small talk 电话寒暄</a:t>
            </a:r>
          </a:p>
          <a:p>
            <a:r>
              <a:t>Goal: start and finish phone calls with friendly small talk: ask about the person, the weather, time zones and travel, move naturally to business, and close the call warmly.</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题讲过去的事,请用过去式(talked, asked, laughed)。第 3 题:电话里看不到表情,所以要用声音表达友好。</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Show how you start a call with a client you haven’t spoken to for months.</a:t>
            </a:r>
          </a:p>
          <a:p>
            <a:r>
              <a:t>Say: greeting → how are you / how is business → one personal comment → “the reason I’m calling is…” → business.</a:t>
            </a:r>
          </a:p>
          <a:p>
            <a:r>
              <a:t>Useful starters: “Hello, how are you?” / “It’s been a while.” / “How’s everything going?” / “Anyway, the reason I’m calling is…”</a:t>
            </a:r>
          </a:p>
          <a:p>
            <a:r>
              <a:t>回答 How are you? 时要加一句:“Fine, thanks. And you?”。从寒暄转到正事:Anyway, the reason I’m calling is…。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Opening the call 开场寒暄</a:t>
            </a:r>
          </a:p>
          <a:p>
            <a:r>
              <a:t>领读 → 学员跟读 → 请学员用表达造一个和自己工作相关的句子。</a:t>
            </a:r>
          </a:p>
          <a:p>
            <a:r>
              <a:t>How are you? / How are things? (phrase) 你好吗?/ 最近怎么样? — “Hello, Henry! How are things?”</a:t>
            </a:r>
          </a:p>
          <a:p>
            <a:r>
              <a:t>It’s been a while. (phrase) 好久不见了 — “It’s been a while since we spoke.”</a:t>
            </a:r>
          </a:p>
          <a:p>
            <a:r>
              <a:t>★ I hope you’re keeping well. (phrase) 希望您一切安好 — “I hope you’re keeping well.”</a:t>
            </a:r>
          </a:p>
          <a:p>
            <a:r>
              <a:t>How’s business? (phrase) 生意怎么样? — “How’s business?” — “Busy, but good.”</a:t>
            </a:r>
          </a:p>
          <a:p>
            <a:r>
              <a:t>What time is it there? (phrase) 你那边几点? — “What time is it there? I hope it’s not too late.”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Chatting 闲聊</a:t>
            </a:r>
          </a:p>
          <a:p>
            <a:r>
              <a:t>领读 → 学员跟读 → 请学员用表达造一个和自己工作相关的句子。</a:t>
            </a:r>
          </a:p>
          <a:p>
            <a:r>
              <a:t>How was your weekend / holiday? (phrase) 周末/假期过得怎么样? — “How was your holiday in Spain?”</a:t>
            </a:r>
          </a:p>
          <a:p>
            <a:r>
              <a:t>How’s the weather there? (phrase) 你那边天气怎么样? — “How’s the weather there?” — “Pouring with rain, as usual.”</a:t>
            </a:r>
          </a:p>
          <a:p>
            <a:r>
              <a:t>★ I hope I’m not calling too early / late. (phrase) 希望我没有打得太早/太晚 — “I hope I’m not calling too early.”</a:t>
            </a:r>
          </a:p>
          <a:p>
            <a:r>
              <a:t>★ That sounds lovely. / Lucky you! (phrase) 听起来真好 / 你真幸运! — “A week in Italy? Lucky you!”</a:t>
            </a:r>
          </a:p>
          <a:p>
            <a:r>
              <a:t>★ Give my regards to… (phrase) 请代我向……问好 — “Please give my regards to your team.”</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Moving to business and closing 转入正题与结束</a:t>
            </a:r>
          </a:p>
          <a:p>
            <a:r>
              <a:t>领读 → 学员跟读 → 请学员用表达造一个和自己工作相关的句子。</a:t>
            </a:r>
          </a:p>
          <a:p>
            <a:r>
              <a:t>Anyway, the reason I’m calling is… (phrase) 好了,我打电话的原因是…… — “Anyway, the reason I’m calling is to ask about the contract.”</a:t>
            </a:r>
          </a:p>
          <a:p>
            <a:r>
              <a:t>★ I’ll let you get back to work. (phrase) 不耽误您工作了 — “I’ll let you get back to work.”</a:t>
            </a:r>
          </a:p>
          <a:p>
            <a:r>
              <a:t>★ Let’s catch up soon. (phrasal verb) 找时间再聊 — “Let’s catch up soon, over lunch.”</a:t>
            </a:r>
          </a:p>
          <a:p>
            <a:r>
              <a:t>Say hello to… (phrase) 向……问好 — “Say hello to your family.”</a:t>
            </a:r>
          </a:p>
          <a:p>
            <a:r>
              <a:t>Take care. / Speak soon. (phrase) 保重/回头再聊 — “Take care. Speak soon.”</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things / catch / early / Anyway / regards / while</a:t>
            </a:r>
          </a:p>
          <a:p>
            <a:r>
              <a:t>1. Hello, Henry! How are _______? → things</a:t>
            </a:r>
          </a:p>
          <a:p>
            <a:r>
              <a:t>2. It’s been a _______ since we spoke. → while</a:t>
            </a:r>
          </a:p>
          <a:p>
            <a:r>
              <a:t>3. I hope I’m not calling too _______. → early</a:t>
            </a:r>
          </a:p>
          <a:p>
            <a:r>
              <a:t>4. Please give my _______ to your team. → regards</a:t>
            </a:r>
          </a:p>
          <a:p>
            <a:r>
              <a:t>5. _______, the reason I’m calling is the contract. → Anyway</a:t>
            </a:r>
          </a:p>
          <a:p>
            <a:r>
              <a:t>6. Let’s _______ up soon. Take care. → catch</a:t>
            </a:r>
          </a:p>
          <a:p>
            <a:r>
              <a:t>Mistake Watch (语调与拼写): weather (not “wheather”), regards (with an s), holiday. “How was your weekend?” uses was (past), because the weekend is finished.</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friendly call with a long-time client 与老客户的电话寒暄</a:t>
            </a:r>
          </a:p>
          <a:p>
            <a:r>
              <a:t>情景：Li Wei calls Karen Ortiz, an overseas client she hasn’t spoken to for three months.</a:t>
            </a:r>
          </a:p>
          <a:p>
            <a:r>
              <a:t>Role A: Li Wei Role B: Karen Ortiz</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Hello, Karen! It’s Li Wei from Orion. How are you?</a:t>
            </a:r>
          </a:p>
          <a:p>
            <a:r>
              <a:t>B (Karen): Li Wei! What a nice surprise. I’m very well, thanks. It’s been a while.</a:t>
            </a:r>
          </a:p>
          <a:p>
            <a:r>
              <a:t>A: It has. I hope I’m not calling too early. What time is it there?</a:t>
            </a:r>
          </a:p>
          <a:p>
            <a:r>
              <a:t>B: It’s just after eight in the morning. I’m still having my coffee.</a:t>
            </a:r>
          </a:p>
          <a:p>
            <a:r>
              <a:t>A: Ha, I know that feeling. How was your holiday? Didn’t you go to Portugal?</a:t>
            </a:r>
          </a:p>
          <a:p>
            <a:r>
              <a:t>B: Yes, a week in Lisbon. It was lovely. And the weather was perfect.</a:t>
            </a:r>
          </a:p>
          <a:p>
            <a:r>
              <a:t>A: Lucky you! It’s been raining here for a week.</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Poor you! How’s business?</a:t>
            </a:r>
          </a:p>
          <a:p>
            <a:r>
              <a:t>A: Busy, but good. Anyway, the reason I’m calling is to ask about the new order.</a:t>
            </a:r>
          </a:p>
          <a:p>
            <a:r>
              <a:t>B: Of course. Go ahead.</a:t>
            </a:r>
          </a:p>
          <a:p>
            <a:r>
              <a:t>(…): The two continue with the business discussion.</a:t>
            </a:r>
          </a:p>
          <a:p>
            <a:r>
              <a:t>A: Thanks, Karen. I’ll let you get back to work. Please give my regards to Mark.</a:t>
            </a:r>
          </a:p>
          <a:p>
            <a:r>
              <a:t>B: I will. Take care, Li Wei. Let’s catch up soon.</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37 | </a:t>
            </a:r>
          </a:p>
          <a:p>
            <a:r>
              <a:t>Situation | You phone a client you know well.</a:t>
            </a:r>
          </a:p>
          <a:p>
            <a:r>
              <a:t>Your role (A) | Caller. Your name and reason: ______________</a:t>
            </a:r>
          </a:p>
          <a:p>
            <a:r>
              <a:t>Partner’s role (B) | Client in another country and time zone.</a:t>
            </a:r>
          </a:p>
          <a:p>
            <a:r>
              <a:t>Must use (4 or more) | It’s been a while. · How was your…? · I hope I’m not calling too… · Anyway, the reason I’m calling is… · Give my regards to…</a:t>
            </a:r>
          </a:p>
          <a:p>
            <a:r>
              <a:t>Goal | 4 lines of small talk, a smooth switch to business, and a warm closing.</a:t>
            </a:r>
          </a:p>
          <a:p>
            <a:r>
              <a:t>My notes | ____________________________________________</a:t>
            </a:r>
          </a:p>
          <a:p>
            <a:r>
              <a:t>The client sounds tired. Say: “You sound a bit tired. Is it a bad time? I can call back.”</a:t>
            </a:r>
          </a:p>
          <a:p>
            <a:r>
              <a:t>Mention a shared interest: “Did you watch the match last night?”</a:t>
            </a:r>
          </a:p>
          <a:p>
            <a:r>
              <a:t>Keep small talk to 45 seconds and then move to business.</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call with a colleague in another time zone 与不同时区同事的简短通话</a:t>
            </a:r>
          </a:p>
          <a:p>
            <a:r>
              <a:t>情景：You call a colleague in London at the end of your working day.</a:t>
            </a:r>
          </a:p>
          <a:p>
            <a:r>
              <a:t>Role A: Li Wei (Shanghai) Role B: Dan Reed (London)</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Hi Dan, it’s Li Wei. Is it OK to talk? It’s seven in the evening here.</a:t>
            </a:r>
          </a:p>
          <a:p>
            <a:r>
              <a:t>B (Dan): Hi, Li Wei. It’s eleven in the morning here, so it’s perfect. How are you?</a:t>
            </a:r>
          </a:p>
          <a:p>
            <a:r>
              <a:t>A: Not bad, thanks. A long day, but nearly done. How about you?</a:t>
            </a:r>
          </a:p>
          <a:p>
            <a:r>
              <a:t>B: Busy. We have the audit next week. How’s the weather in Shanghai?</a:t>
            </a:r>
          </a:p>
          <a:p>
            <a:r>
              <a:t>A: Hot and humid. It’s thirty-two degrees.</a:t>
            </a:r>
          </a:p>
          <a:p>
            <a:r>
              <a:t>B: I envy you. It’s grey and cold here. I’m wearing three layers.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know what you mean. Anyway, I’m calling about the shipping schedule. Have you got a minute?</a:t>
            </a:r>
          </a:p>
          <a:p>
            <a:r>
              <a:t>B: Sure. Let’s go through it.</a:t>
            </a:r>
          </a:p>
          <a:p>
            <a:r>
              <a:t>(…): The two continue with the business discussion.</a:t>
            </a:r>
          </a:p>
          <a:p>
            <a:r>
              <a:t>A: That’s all from me. I’ll let you get back to work. Speak soon.</a:t>
            </a:r>
          </a:p>
          <a:p>
            <a:r>
              <a:t>B: Thanks, Li Wei. Say hello to the team. Bye.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38 | </a:t>
            </a:r>
          </a:p>
          <a:p>
            <a:r>
              <a:t>Situation | A short call with a colleague in another country.</a:t>
            </a:r>
          </a:p>
          <a:p>
            <a:r>
              <a:t>Your role (A) | Caller. Check the time and move on to business after 3 lines of small talk.</a:t>
            </a:r>
          </a:p>
          <a:p>
            <a:r>
              <a:t>Partner’s role (B) | Colleague. Talks about work and weather.</a:t>
            </a:r>
          </a:p>
          <a:p>
            <a:r>
              <a:t>Must use (3 or more) | Is it OK to talk? · What time is it there? · How’s the weather there? · Anyway, I’m calling about… · Speak soon.</a:t>
            </a:r>
          </a:p>
          <a:p>
            <a:r>
              <a:t>Goal | A friendly start, a clear reason for the call, and a quick friendly finish.</a:t>
            </a:r>
          </a:p>
          <a:p>
            <a:r>
              <a:t>My notes | ____________________________________________</a:t>
            </a:r>
          </a:p>
          <a:p>
            <a:r>
              <a:t>Find a time that works for both time zones: “Would 3 p.m. your time suit you?”</a:t>
            </a:r>
          </a:p>
          <a:p>
            <a:r>
              <a:t>Use the phrase “my morning, your evening”.</a:t>
            </a:r>
          </a:p>
          <a:p>
            <a:r>
              <a:t>Add a joke about the weather or the time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small talk on the phone different from face-to-face small talk? How? | “On the phone, you can’t see… so you need to…” / “Phone small talk is usually shorter because…”</a:t>
            </a:r>
          </a:p>
          <a:p>
            <a:r>
              <a:t>2. What are good small-talk topics on a business call? | “Good topics are…” / “I usually ask about…”</a:t>
            </a:r>
          </a:p>
          <a:p>
            <a:r>
              <a:t>3. How do you handle time zones in your work? | “I use a time-zone app.” / “I try to schedule calls at…”</a:t>
            </a:r>
          </a:p>
          <a:p>
            <a:r>
              <a:t>4. How long should small talk be at the start of a call? | “About… seconds is enough.” / “With people I know well, I chat longer.”</a:t>
            </a:r>
          </a:p>
          <a:p>
            <a:r>
              <a:t>5. How do you politely stop someone who talks too long? | “I say, ‘I don’t want to take up too much of your time, so…’” / “I try to move to the main topic with ‘Anyway…’.”</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30 to 60 seconds is enough for most calls. It’s long enough to be friendly, but not so long that the other person gets bored. With people I know well, I chat for a bit longer. If someone talks too long, I say,”I don’t want to take up too much of your time, so shall we go through the agenda?” It keeps things polite and gets us back on track.”</a:t>
            </a:r>
          </a:p>
          <a:p>
            <a:r>
              <a:t>“long enough to…, but not so long that…” 是 B2 的对比结构。“get back on track”(回到正题)是地道说法。“take up too much of your time”(占用您太多时间)。</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friendly call 友好通话话术</a:t>
            </a:r>
          </a:p>
          <a:p>
            <a:r>
              <a:t>Step | Say this</a:t>
            </a:r>
          </a:p>
          <a:p>
            <a:r>
              <a:t>Greet | Hello, [Name]! It’s [Name] from [Company]. How are you?</a:t>
            </a:r>
          </a:p>
          <a:p>
            <a:r>
              <a:t>Check time | Is this a good time? / I hope I’m not calling too early. ★</a:t>
            </a:r>
          </a:p>
          <a:p>
            <a:r>
              <a:t>Small talk | How’s business? / How was your holiday? / How’s the weather there?</a:t>
            </a:r>
          </a:p>
          <a:p>
            <a:r>
              <a:t>Switch | Anyway, the reason I’m calling is… ★</a:t>
            </a:r>
          </a:p>
          <a:p>
            <a:r>
              <a:t>Close business | Thanks for your help. That’s all from me.</a:t>
            </a:r>
          </a:p>
          <a:p>
            <a:r>
              <a:t>Warm close | Give my regards to… ★ / Let’s catch up soon. ★ / Take care.</a:t>
            </a:r>
          </a:p>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Answering “How are you?” 回答 “How are you?”</a:t>
            </a:r>
          </a:p>
          <a:p>
            <a:r>
              <a:t>Reply | Meaning</a:t>
            </a:r>
          </a:p>
          <a:p>
            <a:r>
              <a:t>Fine, thanks. And you? | polite, neutral</a:t>
            </a:r>
          </a:p>
          <a:p>
            <a:r>
              <a:t>Very well, thanks. And how are you? | warm</a:t>
            </a:r>
          </a:p>
          <a:p>
            <a:r>
              <a:t>Not bad. Pretty busy, though. | casual, honest</a:t>
            </a:r>
          </a:p>
          <a:p>
            <a:r>
              <a:t>Can’t complain. ★ | casual, “all fine”</a:t>
            </a:r>
          </a:p>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Answering “How are you?” 回答 “How are you?”</a:t>
            </a:r>
          </a:p>
          <a:p>
            <a:r>
              <a:t>“How are you?” is not a medical question. Don’t say “I have a headache”. Keep it short, then return the question.</a:t>
            </a:r>
          </a:p>
          <a:p>
            <a:r>
              <a:t>Use How are things? / How’s everything? with people you know. Use I hope you’re keeping well in a formal email or at the start of a call.</a:t>
            </a:r>
          </a:p>
          <a:p>
            <a:r>
              <a:t>Use present simple for general business: “How’s business?” Use past simple for finished times: “How was your weekend?”</a:t>
            </a:r>
          </a:p>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How about you? (formal first call)  →  ✓ And how are you? / How are you?  (对不太熟的人用 How are you?)</a:t>
            </a:r>
          </a:p>
          <a:p>
            <a:r>
              <a:t>✗ Have you eaten? (as a greeting)  →  ✓ How are you? / How’s your day?  (英语里不这样打招呼)</a:t>
            </a:r>
          </a:p>
          <a:p>
            <a:r>
              <a:t>✗ Are you busy? (the first sentence)  →  ✓ Is this a good time to talk?  (更礼貌)</a:t>
            </a:r>
          </a:p>
          <a:p>
            <a:r>
              <a:t>✗ Where are you going?  →  ✓ How was your trip?  (避免询问隐私)</a:t>
            </a:r>
          </a:p>
          <a:p>
            <a:r>
              <a:t>✗ You are looking tired.  →  ✓ You sound a bit tired. / Is it a bad time?  (电话中用 sound)</a:t>
            </a:r>
          </a:p>
          <a:p>
            <a:r>
              <a:t>Mistake Watch: How was your weekend? (past), give my regards to…, You sound tired (phone), really (not very) + verb.</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How is your weekend? (on Monday)  →  ✓ How was your weekend?  (周末已过,用过去式)</a:t>
            </a:r>
          </a:p>
          <a:p>
            <a:r>
              <a:t>✗ I very miss talking to you.  →  ✓ I really miss talking to you. / I’m glad to hear your voice.  (very 不修饰动词)</a:t>
            </a:r>
          </a:p>
          <a:p>
            <a:r>
              <a:t>✗ Please give regard to your team.  →  ✓ Please give my regards to your team.  (固定搭配 give my regards to)</a:t>
            </a:r>
          </a:p>
          <a:p>
            <a:r>
              <a:t>✗ Long time no see. (to a client, formal)  →  ✓ It’s been a while. / It’s good to hear from you.  (Long time no see 太随意)</a:t>
            </a:r>
          </a:p>
          <a:p>
            <a:r>
              <a:t>✗ wheather / regard  →  ✓ weather / regards  (拼写)</a:t>
            </a:r>
          </a:p>
          <a:p>
            <a:r>
              <a:t>Mistake Watch: How was your weekend? (past), give my regards to…, You sound tired (phone), really (not very) + verb.</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Keep it light and brief. Phone small talk should be shorter than face-to-face small talk. Aim for 30–60 seconds with people you don’t know well.</a:t>
            </a:r>
          </a:p>
          <a:p>
            <a:r>
              <a:t>Ask permission to start business. “Do you have a few minutes?” is polite, especially if you called without notice.</a:t>
            </a:r>
          </a:p>
          <a:p>
            <a:r>
              <a:t>Weather is a standard opening. In the UK and Canada, talking about the weather is polite and safe.</a:t>
            </a:r>
          </a:p>
          <a:p>
            <a:r>
              <a:t>Time zones: Mention it. “I know it’s late for you.” shows respect. Avoid calling before 8 a.m. or after 6 p.m. local time, unless agreed.</a:t>
            </a:r>
          </a:p>
          <a:p>
            <a:r>
              <a:t>Don’t say “Have you eaten?” In China it is a greeting. In English it sounds like an invitation to lunch.</a:t>
            </a:r>
          </a:p>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start a call warmly (How are you? It’s been a while. How are things?).</a:t>
            </a:r>
          </a:p>
          <a:p>
            <a:r>
              <a:t>I can ask about the other person’s time, weather and week.</a:t>
            </a:r>
          </a:p>
          <a:p>
            <a:r>
              <a:t>I can switch to business with Anyway, the reason I’m calling is…</a:t>
            </a:r>
          </a:p>
          <a:p>
            <a:r>
              <a:t>I can close with I’ll let you get back to work. Give my regards to… Let’s catch up soon.</a:t>
            </a:r>
          </a:p>
          <a:p>
            <a:r>
              <a:t>I can use How was your weekend?, You sound tired, and give my regards to correctly.</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past tense (How was…?), sound / look, regards, and a warm but short opening.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22 · Telephone messages 电话留言</a:t>
            </a:r>
          </a:p>
          <a:p>
            <a:r>
              <a:t>Goal: take, check and pass on telephone messages accurately: ask for name, company, number and message, repeat the key details, write them clearly, and leave your own message politely.</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题讲过去的事,请用过去式(got, wrote, misunderstood)。第 5 题可以说 “I always repeat…”。</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Show how you take a message for a colleague who is out of the office.</a:t>
            </a:r>
          </a:p>
          <a:p>
            <a:r>
              <a:t>Say: say the colleague is out → ask for name, company, number → ask for the message → repeat and check → promise to pass it on.</a:t>
            </a:r>
          </a:p>
          <a:p>
            <a:r>
              <a:t>Useful starters: “I’d say, ‘I’m afraid she’s out. Can I take a message?’” / “Then I ask for…” / “I repeat the number to make sure…”</a:t>
            </a:r>
          </a:p>
          <a:p>
            <a:r>
              <a:t>记留言的要点:Who / From / Number / Message / Action / When。复述确认:Let me read that back to you。</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Offering to take a message 提出代为留言</a:t>
            </a:r>
          </a:p>
          <a:p>
            <a:r>
              <a:t>领读 → 学员跟读 → 请学员用表达造一个和自己工作相关的句子。</a:t>
            </a:r>
          </a:p>
          <a:p>
            <a:r>
              <a:t>Can I take a message? (phrase) 需要我帮您留言吗? — “Can I take a message?”</a:t>
            </a:r>
          </a:p>
          <a:p>
            <a:r>
              <a:t>Would you like to leave a message? (phrase) 您要留言吗? — “Would you like to leave a message?”</a:t>
            </a:r>
          </a:p>
          <a:p>
            <a:r>
              <a:t>Could I have your name and number? (phrase) 请问您的姓名和电话? — “Could I have your name and number, please?”</a:t>
            </a:r>
          </a:p>
          <a:p>
            <a:r>
              <a:t>★ What’s the best number to reach you on? (phrase) 您最方便接听的号码是多少? — “What’s the best number to reach you on?”</a:t>
            </a:r>
          </a:p>
          <a:p>
            <a:r>
              <a:t>Does he have your number? (phrase) 他有您的号码吗? — “Does he have your number?”</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Checking the details 核对信息</a:t>
            </a:r>
          </a:p>
          <a:p>
            <a:r>
              <a:t>领读 → 学员跟读 → 请学员用表达造一个和自己工作相关的句子。</a:t>
            </a:r>
          </a:p>
          <a:p>
            <a:r>
              <a:t>Could you spell that for me, please? (phrase) 能请您拼一下吗? — “Could you spell your surname for me, please?”</a:t>
            </a:r>
          </a:p>
          <a:p>
            <a:r>
              <a:t>Let me read that back to you. (phrase) 我把内容复述一遍 — “Let me read that back to you.”</a:t>
            </a:r>
          </a:p>
          <a:p>
            <a:r>
              <a:t>★ Let me make sure I’ve got that right. (phrase) 我确认一下我记对了 — “Let me make sure I’ve got that right.”</a:t>
            </a:r>
          </a:p>
          <a:p>
            <a:r>
              <a:t>Is that B as in Bravo or P as in Paris? (phrase) 是 B 还是 P? — “Is that B as in Bravo or P as in Paris?”</a:t>
            </a:r>
          </a:p>
          <a:p>
            <a:r>
              <a:t>Is it urgent? (phrase) 紧急吗? — “Is it urgent, or can it wait until tomorrow?”</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Passing on and leaving messages 转达与留言</a:t>
            </a:r>
          </a:p>
          <a:p>
            <a:r>
              <a:t>领读 → 学员跟读 → 请学员用表达造一个和自己工作相关的句子。</a:t>
            </a:r>
          </a:p>
          <a:p>
            <a:r>
              <a:t>I’ll pass the message on. (phrasal verb) 我会转达 — “I’ll pass the message on to Mr Tan.”</a:t>
            </a:r>
          </a:p>
          <a:p>
            <a:r>
              <a:t>★ I’ll make sure he gets it. (phrase) 我会确保他收到 — “I’ll make sure he gets it as soon as he’s back.”</a:t>
            </a:r>
          </a:p>
          <a:p>
            <a:r>
              <a:t>Could you ask her to call me back? (phrase) 请让她给我回电话好吗? — “Could you ask her to call me back?”</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Passing on and leaving messages 转达与留言</a:t>
            </a:r>
          </a:p>
          <a:p>
            <a:r>
              <a:t>领读 → 学员跟读 → 请学员用表达造一个和自己工作相关的句子。</a:t>
            </a:r>
          </a:p>
          <a:p>
            <a:r>
              <a:t>★ Could you tell him I called? (phrase) 请告诉他我来过电话 — “Could you tell him I called about the delivery?”</a:t>
            </a:r>
          </a:p>
          <a:p>
            <a:r>
              <a:t>★ You’ve reached the voicemail of… (phrase) 这里是……的语音信箱 — “You’ve reached the voicemail of Li Wei. Please leave a message.”</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pass / urgent / back / message / reached / spell</a:t>
            </a:r>
          </a:p>
          <a:p>
            <a:r>
              <a:t>1. Can I take a _______? → message</a:t>
            </a:r>
          </a:p>
          <a:p>
            <a:r>
              <a:t>2. Could you _______ that for me, please? → spell</a:t>
            </a:r>
          </a:p>
          <a:p>
            <a:r>
              <a:t>3. Let me read that _______ to you. → back</a:t>
            </a:r>
          </a:p>
          <a:p>
            <a:r>
              <a:t>4. I’ll _______ the message on to Mr Tan. → pass</a:t>
            </a:r>
          </a:p>
          <a:p>
            <a:r>
              <a:t>5. Is it _______, or can it wait? → urgent</a:t>
            </a:r>
          </a:p>
          <a:p>
            <a:r>
              <a:t>6. You’ve _______ the voicemail of Li Wei. → reached</a:t>
            </a:r>
          </a:p>
          <a:p>
            <a:r>
              <a:t>Mistake Watch (拼写与数字): message (not “massage”!), urgent (not “urgant”), voicemail (one word). Numbers: fifteen (stress on -teen) vs fifty (stress on fif-).</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Taking a message for a colleague 为同事记留言</a:t>
            </a:r>
          </a:p>
          <a:p>
            <a:r>
              <a:t>情景：Ms Lin is out of the office. A caller wants to leave a message. You answer.</a:t>
            </a:r>
          </a:p>
          <a:p>
            <a:r>
              <a:t>Role A: Li Wei, receptionist Role B: Mr Anders, caller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Good afternoon, Orion Foods. Li Wei speaking.</a:t>
            </a:r>
          </a:p>
          <a:p>
            <a:r>
              <a:t>B (Anders): Hello. Is Ms Lin there, please?</a:t>
            </a:r>
          </a:p>
          <a:p>
            <a:r>
              <a:t>A: I’m afraid she’s out of the office until Thursday. Can I take a message?</a:t>
            </a:r>
          </a:p>
          <a:p>
            <a:r>
              <a:t>B: Yes, please. Could you tell her that Mr Anders called about the contract?</a:t>
            </a:r>
          </a:p>
          <a:p>
            <a:r>
              <a:t>A: Certainly. Could I have your full name and your company, please?</a:t>
            </a:r>
          </a:p>
          <a:p>
            <a:r>
              <a:t>B: Peter Anders, A-N-D-E-R-S, from Nordland Trading.</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Thank you. And what’s the best number to reach you on?</a:t>
            </a:r>
          </a:p>
          <a:p>
            <a:r>
              <a:t>B: 0044 20 7946 0123.</a:t>
            </a:r>
          </a:p>
          <a:p>
            <a:r>
              <a:t>A: Let me read that back to you: double-oh four four, two oh, seven nine four six, oh one two three. Is that right?</a:t>
            </a:r>
          </a:p>
          <a:p>
            <a:r>
              <a:t>B: That’s correct. Please ask her to call me before Friday if possible.</a:t>
            </a:r>
          </a:p>
          <a:p>
            <a:r>
              <a:t>A: I’ll make sure she gets your message as soon as she’s back.</a:t>
            </a:r>
          </a:p>
          <a:p>
            <a:r>
              <a:t>B: Thank you for your help.</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39 | </a:t>
            </a:r>
          </a:p>
          <a:p>
            <a:r>
              <a:t>Situation | A caller leaves a message for your colleague.</a:t>
            </a:r>
          </a:p>
          <a:p>
            <a:r>
              <a:t>Your role (A) | Receptionist. Write down the Name / Company / Number / Message / When.</a:t>
            </a:r>
          </a:p>
          <a:p>
            <a:r>
              <a:t>Partner’s role (B) | Caller. Name and company: ______________</a:t>
            </a:r>
          </a:p>
          <a:p>
            <a:r>
              <a:t>Must use (4 or more) | Can I take a message? · Could I have your name and number? · Let me read that back to you. · I’ll pass the message on.</a:t>
            </a:r>
          </a:p>
          <a:p>
            <a:r>
              <a:t>Goal | Take a complete message, check it, and promise to pass it on.</a:t>
            </a:r>
          </a:p>
          <a:p>
            <a:r>
              <a:t>My notes | ____________________________________________</a:t>
            </a:r>
          </a:p>
          <a:p>
            <a:r>
              <a:t>The caller speaks fast. Say: “Sorry, could you slow down a little? I want to get this right.”</a:t>
            </a:r>
          </a:p>
          <a:p>
            <a:r>
              <a:t>The name is unusual. Ask the caller to spell it with examples.</a:t>
            </a:r>
          </a:p>
          <a:p>
            <a:r>
              <a:t>The message is urgent. Ask: “Is it urgent? Shall I try to reach her on her mobile?”</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Leaving a voicemail and passing it on 留下语音信息并转达</a:t>
            </a:r>
          </a:p>
          <a:p>
            <a:r>
              <a:t>情景：You get a voicemail from a supplier. You pass it on to your boss.</a:t>
            </a:r>
          </a:p>
          <a:p>
            <a:r>
              <a:t>Role A: Li Wei Role B: Sophie Zhou, team leader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(Li Wei): Sophie, do you have a minute? I got a voicemail from Anna Berg at Nordic Steel.</a:t>
            </a:r>
          </a:p>
          <a:p>
            <a:r>
              <a:t>B (Sophie): Sure. What does she want?</a:t>
            </a:r>
          </a:p>
          <a:p>
            <a:r>
              <a:t>A: She says there’s a small delay with the delivery for the 16th. She wants to discuss a new date.</a:t>
            </a:r>
          </a:p>
          <a:p>
            <a:r>
              <a:t>B: Did she say how long the delay is?</a:t>
            </a:r>
          </a:p>
          <a:p>
            <a:r>
              <a:t>A: No, she didn’t. She asked me to call back this afternoon.</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OK. Can you call her now and ask for the new date? I’d like to know before the customer calls us.</a:t>
            </a:r>
          </a:p>
          <a:p>
            <a:r>
              <a:t>A: Of course. Shall I write her number on your note?</a:t>
            </a:r>
          </a:p>
          <a:p>
            <a:r>
              <a:t>B: Yes, please. And let me know what she says.</a:t>
            </a:r>
          </a:p>
          <a:p>
            <a:r>
              <a:t>A: Will do. I’ll update you by three o’clock.</a:t>
            </a:r>
          </a:p>
          <a:p>
            <a:r>
              <a:t>B: Thanks, Li Wei.</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40 | </a:t>
            </a:r>
          </a:p>
          <a:p>
            <a:r>
              <a:t>Situation | You pass on a message to your boss and plan the call back.</a:t>
            </a:r>
          </a:p>
          <a:p>
            <a:r>
              <a:t>Your role (A) | Colleague who got the voicemail. Report it clearly.</a:t>
            </a:r>
          </a:p>
          <a:p>
            <a:r>
              <a:t>Partner’s role (B) | Boss. Asks 2 follow-up questions.</a:t>
            </a:r>
          </a:p>
          <a:p>
            <a:r>
              <a:t>Must use (3 or more) | She says that… · She asked me to… · I’ll update you by… · Shall I…?</a:t>
            </a:r>
          </a:p>
          <a:p>
            <a:r>
              <a:t>Goal | Pass on a message in 5 sentences. Use reported speech.</a:t>
            </a:r>
          </a:p>
          <a:p>
            <a:r>
              <a:t>My notes | ____________________________________________</a:t>
            </a:r>
          </a:p>
          <a:p>
            <a:r>
              <a:t>Record your own 20-second voicemail for a supplier (name, company, reason, number twice).</a:t>
            </a:r>
          </a:p>
          <a:p>
            <a:r>
              <a:t>Pass on a message with a deadline: “She’d like an answer by Friday.”</a:t>
            </a:r>
          </a:p>
          <a:p>
            <a:r>
              <a:t>Rewrite the message as a short email or a WeChat text.</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most important detail in a phone message? | “The most important detail is… because…” / “If the number is wrong, then…”</a:t>
            </a:r>
          </a:p>
          <a:p>
            <a:r>
              <a:t>2. Do you prefer voicemail, email or chat apps for messages? | “I prefer… because it is faster / clearer.” / “For urgent things I…”</a:t>
            </a:r>
          </a:p>
          <a:p>
            <a:r>
              <a:t>3. How do you leave a good voicemail? | “I say my name and company first.” / “I speak slowly and repeat the number.”</a:t>
            </a:r>
          </a:p>
          <a:p>
            <a:r>
              <a:t>4. What would you do if you can’t read your own notes from a message? | “I would call back and ask…” / “I always write clearly because…”</a:t>
            </a:r>
          </a:p>
          <a:p>
            <a:r>
              <a:t>5. What are the risks of passing on messages by word of mouth? | “The risk is that people forget…” / “Messages can change, so I write them down.”</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good voicemail is short, clear and complete. I start with my name and company, then I say why I’m calling in one sentence. I ask the person to call me back and I give my number slowly. I say it twice, because most people need to write it down. I try to finish within 20 seconds. If it’s urgent, I say so, for example,”It’s urgent, so I’d be grateful if you could call me today.””</a:t>
            </a:r>
          </a:p>
          <a:p>
            <a:r>
              <a:t>“most people need to write it down”(大多数人需要写下来)。“within 20 seconds”(20 秒内)。注意 “I’d be grateful if you could…”(如果您能……我将不胜感激),could 要用过去形式。</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Phone-language script: messages 留言话术</a:t>
            </a:r>
          </a:p>
          <a:p>
            <a:r>
              <a:t>Step | Say this</a:t>
            </a:r>
          </a:p>
          <a:p>
            <a:r>
              <a:t>Offer | I’m afraid she’s out. Can I take a message?</a:t>
            </a:r>
          </a:p>
          <a:p>
            <a:r>
              <a:t>Who | Could I have your name and company? / Could you spell that?</a:t>
            </a:r>
          </a:p>
          <a:p>
            <a:r>
              <a:t>Number | What’s the best number to reach you on? ★</a:t>
            </a:r>
          </a:p>
          <a:p>
            <a:r>
              <a:t>Message | What would you like me to tell her?</a:t>
            </a:r>
          </a:p>
          <a:p>
            <a:r>
              <a:t>Check | Let me read that back to you. / Let me make sure I’ve got that right. ★</a:t>
            </a:r>
          </a:p>
          <a:p>
            <a:r>
              <a:t>Promise | I’ll make sure she gets it. ★ / I’ll pass it on as soon as she’s back.</a:t>
            </a:r>
          </a:p>
          <a:p>
            <a:r>
              <a:t>Close | Thank you for calling. Goodbye.</a:t>
            </a:r>
          </a:p>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form 留言便条</a:t>
            </a:r>
          </a:p>
          <a:p>
            <a:r>
              <a:t>Field | Example</a:t>
            </a:r>
          </a:p>
          <a:p>
            <a:r>
              <a:t>For | Ms Lin</a:t>
            </a:r>
          </a:p>
          <a:p>
            <a:r>
              <a:t>From | Peter Anders, Nordland Trading</a:t>
            </a:r>
          </a:p>
          <a:p>
            <a:r>
              <a:t>Phone | 0044 20 7946 0123</a:t>
            </a:r>
          </a:p>
          <a:p>
            <a:r>
              <a:t>Message | Called about the contract. Please call back before Friday.</a:t>
            </a:r>
          </a:p>
          <a:p>
            <a:r>
              <a:t>Urgent? | Yes / No</a:t>
            </a:r>
          </a:p>
          <a:p>
            <a:r>
              <a:t>Taken by / Date / Time | Li Wei, 8 Oct, 2:15 p.m.</a:t>
            </a:r>
          </a:p>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Passing on a message: reported speech 转述留言</a:t>
            </a:r>
          </a:p>
          <a:p>
            <a:r>
              <a:t>Direct (caller said) | Reported (you tell the boss)</a:t>
            </a:r>
          </a:p>
          <a:p>
            <a:r>
              <a:t>“I’m calling about the contract.” | He says he’s calling about the contract. / He called about the contract.</a:t>
            </a:r>
          </a:p>
          <a:p>
            <a:r>
              <a:t>“Can you call me back?” | He asked me to call him back.</a:t>
            </a:r>
          </a:p>
          <a:p>
            <a:r>
              <a:t>“The delivery will be late.” | She says the delivery will be late.</a:t>
            </a:r>
          </a:p>
          <a:p>
            <a:r>
              <a:t>“Please reply by Friday.” | He’d like a reply by Friday.</a:t>
            </a:r>
          </a:p>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Passing on a message: reported speech 转述留言</a:t>
            </a:r>
          </a:p>
          <a:p>
            <a:r>
              <a:t>Use say / tell: “She said that she’d call back.” / “She told me that she’d call back.” (told + person)</a:t>
            </a:r>
          </a:p>
          <a:p>
            <a:r>
              <a:t>Ask / tell sb to do sth: “He asked me to call him.” (not “He asked me that I call him”)</a:t>
            </a:r>
          </a:p>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write the massage.  →  ✓ I’ll take a message.  (message 不是 massage)</a:t>
            </a:r>
          </a:p>
          <a:p>
            <a:r>
              <a:t>✗ Can I leave a message to Ms Lin?  →  ✓ Can I leave a message for Ms Lin?  (message for sb)</a:t>
            </a:r>
          </a:p>
          <a:p>
            <a:r>
              <a:t>✗ Tell him that I was calling.  →  ✓ Could you tell him I called?  (过去式 called)</a:t>
            </a:r>
          </a:p>
          <a:p>
            <a:r>
              <a:t>✗ He said me to call.  →  ✓ He told me to call. / He said to call.  (say 后不跟人;tell sb)</a:t>
            </a:r>
          </a:p>
          <a:p>
            <a:r>
              <a:t>✗ Your phone number?  →  ✓ What’s the best number to reach you on?  (完整句子,更礼貌)</a:t>
            </a:r>
          </a:p>
          <a:p>
            <a:r>
              <a:t>Mistake Watch: leave a message for sb, tell sb (that)…, ask sb to do, has been out since. Check your spelling of message.</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Wait, I write it.  →  ✓ Hold on, I’ll write that down.  (write down)</a:t>
            </a:r>
          </a:p>
          <a:p>
            <a:r>
              <a:t>✗ Who’s your name?  →  ✓ May I have your name? / What’s your name, please?  (不要用 who’s your name)</a:t>
            </a:r>
          </a:p>
          <a:p>
            <a:r>
              <a:t>✗ I’ll tell to him.  →  ✓ I’ll tell him. / I’ll pass it on to him.  (tell 后直接加人)</a:t>
            </a:r>
          </a:p>
          <a:p>
            <a:r>
              <a:t>✗ Ms Lin is out since Monday.  →  ✓ Ms Lin has been out since Monday.  (since → 现在完成时)</a:t>
            </a:r>
          </a:p>
          <a:p>
            <a:r>
              <a:t>✗ masage / urgant  →  ✓ message / urgent  (拼写)</a:t>
            </a:r>
          </a:p>
          <a:p>
            <a:r>
              <a:t>Mistake Watch: leave a message for sb, tell sb (that)…, ask sb to do, has been out since. Check your spelling of message.</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Always repeat names and numbers. Native speakers do this too. It is not rude. It shows care.</a:t>
            </a:r>
          </a:p>
          <a:p>
            <a:r>
              <a:t>Keep it private. Do not tell strangers where your colleague is or when they are coming back: “I’m afraid she’s not available. Can I take a message?”</a:t>
            </a:r>
          </a:p>
          <a:p>
            <a:r>
              <a:t>Voicemail etiquette: Don’t hang up without a message. Many people won’t call back an unknown number with no message.</a:t>
            </a:r>
          </a:p>
          <a:p>
            <a:r>
              <a:t>Texting: In many offices, a short text or chat message after a missed call (“Sorry I missed your call, I’ll call you back at 3”) is normal and polite.</a:t>
            </a:r>
          </a:p>
          <a:p>
            <a:r>
              <a:t>Date and time: UK 8 Oct / US Oct 8. Write the month in letters on messages to avoid mistakes.</a:t>
            </a:r>
          </a:p>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offer to take a message and ask for name, company, number and message.</a:t>
            </a:r>
          </a:p>
          <a:p>
            <a:r>
              <a:t>I can check details by spelling and repeating (Let me read that back to you).</a:t>
            </a:r>
          </a:p>
          <a:p>
            <a:r>
              <a:t>I can pass on a message accurately (She says… He asked me to…).</a:t>
            </a:r>
          </a:p>
          <a:p>
            <a:r>
              <a:t>I can leave a clear 20-second voicemail with my number said twice.</a:t>
            </a:r>
          </a:p>
          <a:p>
            <a:r>
              <a:t>I can use message for, tell sb, ask sb to, and the present perfect with since correctly.</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Make 2 true sentences with ★ items.</a:t>
            </a:r>
          </a:p>
          <a:p>
            <a:r>
              <a:t>2–5 | Shadow the model dialogue or model email (copy the rhythm and intonation).</a:t>
            </a:r>
          </a:p>
          <a:p>
            <a:r>
              <a:t>5–8 | Do the role play with the blank role card. Record yourself.</a:t>
            </a:r>
          </a:p>
          <a:p>
            <a:r>
              <a:t>8–10 | Listen to the recording. Check: message for, tell / say, ask sb to, number reading, and spelling (message, urgent). Write 3 corrections.</a:t>
            </a:r>
          </a:p>
          <a:p>
            <a:r>
              <a:t>Weekly rhythm: Mon–Tue Scenario 1 · Wed–Thu Scenario 2 · Fri Level-up variation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“请稍等一下/请耐心等一等” in English? → Bear with me a moment.</a:t>
            </a:r>
          </a:p>
          <a:p>
            <a:r>
              <a:t>“请问您的姓名和电话?” in English? → Could I have your name and number?</a:t>
            </a:r>
          </a:p>
          <a:p>
            <a:r>
              <a:t>“希望您一切安好” in English? → I hope you’re keeping well.</a:t>
            </a:r>
          </a:p>
          <a:p>
            <a:r>
              <a:t>Fix it: Please give regard to your team. → Please give my regards to your team.</a:t>
            </a:r>
          </a:p>
          <a:p>
            <a:r>
              <a:t>Fix it: Wait, I write it. → Hold on, I’ll write that down.</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9.xml"/><Relationship Id="rId6" Type="http://schemas.openxmlformats.org/officeDocument/2006/relationships/slide" Target="slide86.xml"/><Relationship Id="rId7" Type="http://schemas.openxmlformats.org/officeDocument/2006/relationships/slide" Target="slide113.xml"/><Relationship Id="rId8" Type="http://schemas.openxmlformats.org/officeDocument/2006/relationships/slide" Target="slide13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 Id="rId4" Type="http://schemas.openxmlformats.org/officeDocument/2006/relationships/slide" Target="slide168.xml"/><Relationship Id="rId5" Type="http://schemas.openxmlformats.org/officeDocument/2006/relationships/slide" Target="slide169.xml"/><Relationship Id="rId6" Type="http://schemas.openxmlformats.org/officeDocument/2006/relationships/slide" Target="slide170.xml"/><Relationship Id="rId7" Type="http://schemas.openxmlformats.org/officeDocument/2006/relationships/slide" Target="slide171.xml"/><Relationship Id="rId8" Type="http://schemas.openxmlformats.org/officeDocument/2006/relationships/slide" Target="slide172.xml"/><Relationship Id="rId9" Type="http://schemas.openxmlformats.org/officeDocument/2006/relationships/slide" Target="slide173.xml"/><Relationship Id="rId10" Type="http://schemas.openxmlformats.org/officeDocument/2006/relationships/slide" Target="slide174.xml"/><Relationship Id="rId11" Type="http://schemas.openxmlformats.org/officeDocument/2006/relationships/slide" Target="slide175.xml"/><Relationship Id="rId12" Type="http://schemas.openxmlformats.org/officeDocument/2006/relationships/slide" Target="slide176.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6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5</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4 · UNIT 5</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Business Calls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6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L17 Incoming calls · L18 Outgoing calls · L19 When things go wrong · L20 Apologizing · L21 Telephone small talk · L22 Telephone messages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17</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Incoming calls</a:t>
            </a:r>
          </a:p>
          <a:p>
            <a:pPr algn="l">
              <a:lnSpc>
                <a:spcPct val="100000"/>
              </a:lnSpc>
              <a:spcAft>
                <a:spcPts val="800"/>
              </a:spcAft>
            </a:pPr>
            <a:r>
              <a:rPr sz="1400" b="0">
                <a:solidFill>
                  <a:srgbClr val="5F677A"/>
                </a:solidFill>
                <a:latin typeface="Arial"/>
                <a:ea typeface="Microsoft YaHei"/>
              </a:rPr>
              <a:t>来电</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18</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Outgoing calls</a:t>
            </a:r>
          </a:p>
          <a:p>
            <a:pPr algn="l">
              <a:lnSpc>
                <a:spcPct val="100000"/>
              </a:lnSpc>
              <a:spcAft>
                <a:spcPts val="800"/>
              </a:spcAft>
            </a:pPr>
            <a:r>
              <a:rPr sz="1400" b="0">
                <a:solidFill>
                  <a:srgbClr val="5F677A"/>
                </a:solidFill>
                <a:latin typeface="Arial"/>
                <a:ea typeface="Microsoft YaHei"/>
              </a:rPr>
              <a:t>去电</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19</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When things go wrong</a:t>
            </a:r>
          </a:p>
          <a:p>
            <a:pPr algn="l">
              <a:lnSpc>
                <a:spcPct val="100000"/>
              </a:lnSpc>
              <a:spcAft>
                <a:spcPts val="800"/>
              </a:spcAft>
            </a:pPr>
            <a:r>
              <a:rPr sz="1400" b="0">
                <a:solidFill>
                  <a:srgbClr val="5F677A"/>
                </a:solidFill>
                <a:latin typeface="Arial"/>
                <a:ea typeface="Microsoft YaHei"/>
              </a:rPr>
              <a:t>当事情出错时</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20</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Apologizing</a:t>
            </a:r>
          </a:p>
          <a:p>
            <a:pPr algn="l">
              <a:lnSpc>
                <a:spcPct val="100000"/>
              </a:lnSpc>
              <a:spcAft>
                <a:spcPts val="800"/>
              </a:spcAft>
            </a:pPr>
            <a:r>
              <a:rPr sz="1400" b="0">
                <a:solidFill>
                  <a:srgbClr val="5F677A"/>
                </a:solidFill>
                <a:latin typeface="Arial"/>
                <a:ea typeface="Microsoft YaHei"/>
              </a:rPr>
              <a:t>道歉</a:t>
            </a:r>
          </a:p>
        </p:txBody>
      </p:sp>
      <p:sp>
        <p:nvSpPr>
          <p:cNvPr id="19" name="Rounded Rectangle 18">
            <a:hlinkClick action="ppaction://hlinksldjump" r:id="rId7"/>
          </p:cNvPr>
          <p:cNvSpPr/>
          <p:nvPr/>
        </p:nvSpPr>
        <p:spPr>
          <a:xfrm>
            <a:off x="4307738" y="2971800"/>
            <a:ext cx="3576218"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17466" y="3268980"/>
            <a:ext cx="8686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21</a:t>
            </a:r>
          </a:p>
        </p:txBody>
      </p:sp>
      <p:sp>
        <p:nvSpPr>
          <p:cNvPr id="21" name="TextBox 20"/>
          <p:cNvSpPr txBox="1"/>
          <p:nvPr/>
        </p:nvSpPr>
        <p:spPr>
          <a:xfrm>
            <a:off x="5405018"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Telephone small talk</a:t>
            </a:r>
          </a:p>
          <a:p>
            <a:pPr algn="l">
              <a:lnSpc>
                <a:spcPct val="100000"/>
              </a:lnSpc>
              <a:spcAft>
                <a:spcPts val="800"/>
              </a:spcAft>
            </a:pPr>
            <a:r>
              <a:rPr sz="1400" b="0">
                <a:solidFill>
                  <a:srgbClr val="5F677A"/>
                </a:solidFill>
                <a:latin typeface="Arial"/>
                <a:ea typeface="Microsoft YaHei"/>
              </a:rPr>
              <a:t>电话寒暄</a:t>
            </a:r>
          </a:p>
        </p:txBody>
      </p:sp>
      <p:sp>
        <p:nvSpPr>
          <p:cNvPr id="22" name="Rounded Rectangle 21">
            <a:hlinkClick action="ppaction://hlinksldjump" r:id="rId8"/>
          </p:cNvPr>
          <p:cNvSpPr/>
          <p:nvPr/>
        </p:nvSpPr>
        <p:spPr>
          <a:xfrm>
            <a:off x="8066836" y="297180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76564" y="326898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22</a:t>
            </a:r>
          </a:p>
        </p:txBody>
      </p:sp>
      <p:sp>
        <p:nvSpPr>
          <p:cNvPr id="24" name="TextBox 23"/>
          <p:cNvSpPr txBox="1"/>
          <p:nvPr/>
        </p:nvSpPr>
        <p:spPr>
          <a:xfrm>
            <a:off x="9164116"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Telephone messages</a:t>
            </a:r>
          </a:p>
          <a:p>
            <a:pPr algn="l">
              <a:lnSpc>
                <a:spcPct val="100000"/>
              </a:lnSpc>
              <a:spcAft>
                <a:spcPts val="800"/>
              </a:spcAft>
            </a:pPr>
            <a:r>
              <a:rPr sz="1400" b="0">
                <a:solidFill>
                  <a:srgbClr val="5F677A"/>
                </a:solidFill>
                <a:latin typeface="Arial"/>
                <a:ea typeface="Microsoft YaHei"/>
              </a:rPr>
              <a:t>电话留言</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5 · Lesson 17 Incoming calls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Incoming calls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来电</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answer business calls politely and professionally, find out who is calling and why, transfer calls, take a message, and handle common problems (bad line, unclear name, absent colleague).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7734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How do you answer the phone at work? What do you say in the first sentence?</a:t>
            </a:r>
          </a:p>
        </p:txBody>
      </p:sp>
      <p:sp>
        <p:nvSpPr>
          <p:cNvPr id="12" name="Oval 11"/>
          <p:cNvSpPr/>
          <p:nvPr/>
        </p:nvSpPr>
        <p:spPr>
          <a:xfrm>
            <a:off x="548640" y="239572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12848"/>
            <a:ext cx="10408615" cy="8686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12848"/>
            <a:ext cx="10180015" cy="86868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What is difficult about phone calls in English compared with face-to-face talks?</a:t>
            </a:r>
          </a:p>
        </p:txBody>
      </p:sp>
      <p:sp>
        <p:nvSpPr>
          <p:cNvPr id="15" name="Oval 14"/>
          <p:cNvSpPr/>
          <p:nvPr/>
        </p:nvSpPr>
        <p:spPr>
          <a:xfrm>
            <a:off x="548640" y="321411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191256"/>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91256"/>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What do you do when you do not understand a caller?</a:t>
            </a:r>
          </a:p>
        </p:txBody>
      </p:sp>
      <p:sp>
        <p:nvSpPr>
          <p:cNvPr id="18" name="Oval 17"/>
          <p:cNvSpPr/>
          <p:nvPr/>
        </p:nvSpPr>
        <p:spPr>
          <a:xfrm>
            <a:off x="548640" y="387248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9624"/>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49624"/>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Tell me about a time you answered a call for a colleague. What happened?</a:t>
            </a:r>
          </a:p>
        </p:txBody>
      </p:sp>
      <p:sp>
        <p:nvSpPr>
          <p:cNvPr id="21" name="Oval 20"/>
          <p:cNvSpPr/>
          <p:nvPr/>
        </p:nvSpPr>
        <p:spPr>
          <a:xfrm>
            <a:off x="548640" y="45308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507992"/>
            <a:ext cx="10408615" cy="548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507992"/>
            <a:ext cx="10180015" cy="548640"/>
          </a:xfrm>
          <a:prstGeom prst="rect">
            <a:avLst/>
          </a:prstGeom>
          <a:noFill/>
        </p:spPr>
        <p:txBody>
          <a:bodyPr wrap="square" anchor="ctr">
            <a:spAutoFit/>
          </a:bodyPr>
          <a:lstStyle/>
          <a:p>
            <a:pPr algn="l">
              <a:lnSpc>
                <a:spcPct val="115000"/>
              </a:lnSpc>
              <a:spcAft>
                <a:spcPts val="800"/>
              </a:spcAft>
            </a:pPr>
            <a:r>
              <a:rPr sz="2100" b="0">
                <a:solidFill>
                  <a:srgbClr val="1F2A44"/>
                </a:solidFill>
                <a:latin typeface="Arial"/>
                <a:ea typeface="Microsoft YaHei"/>
              </a:rPr>
              <a:t>How do you stay polite with a caller who is in a hurry or angry?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题讲过去的事,请用过去式(answered, took, said)。第 2 题可以说 “On the phone, I can’t see…”。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2900" b="1">
                <a:solidFill>
                  <a:srgbClr val="1F2A44"/>
                </a:solidFill>
                <a:latin typeface="Arial"/>
                <a:ea typeface="Microsoft YaHei"/>
              </a:rPr>
              <a:t>Show how to answer a phone call, find out who the caller is, and put the call through.</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greeting</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who and why</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hold / put through</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if the person is not there</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closing</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say, ‘Good morning, … speaking.’   💬 Then I ask, ‘May I ask who’s calling?’   💬 If he isn’t there, I offer to take a message.</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电话里自报家门用 This is…/…speaking,不说 I am…。让对方等一下:Could you hold the line, please?。</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Answering and finding out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接听与询问</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Good morning, Orion Foods. Li Wei speaking.</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早上好,这里是奥利安食品公司,我是李伟</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“Good morning, Orion Foods. Li Wei speaking. How can I help you?”</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How can I help you?</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请问有什么可以帮您?</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“Good afternoon. How can I help you?”</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May I ask who’s calling, please?</a:t>
            </a:r>
          </a:p>
          <a:p>
            <a:pPr algn="l">
              <a:lnSpc>
                <a:spcPct val="115000"/>
              </a:lnSpc>
              <a:spcAft>
                <a:spcPts val="800"/>
              </a:spcAft>
            </a:pPr>
            <a:r>
              <a:rPr sz="1300" b="0">
                <a:solidFill>
                  <a:srgbClr val="5F677A"/>
                </a:solidFill>
                <a:latin typeface="Arial"/>
                <a:ea typeface="Microsoft YaHei"/>
              </a:rPr>
              <a:t>phrase (polite)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请问是哪位?</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“May I ask who’s calling, please?”</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What’s it regarding? / What is it about?</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请问是关于什么事?</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“May I ask what it’s regarding?”</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You’ve come through to…</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您打到了……</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“You’ve come through to the sales department.”</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Holding and transferring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等待与转接</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hold the line, please?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请您稍等(别挂断)好吗?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hold the line, please? I’ll check.”</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Bear with me a moment.</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请稍等一下/请耐心等一等</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“Bear with me a moment while I find her number.”</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I’ll put you through to…</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我给您转接……</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put you through to Ms Lin.”</a:t>
            </a:r>
          </a:p>
        </p:txBody>
      </p:sp>
      <p:sp>
        <p:nvSpPr>
          <p:cNvPr id="24" name="Rounded Rectangle 23"/>
          <p:cNvSpPr/>
          <p:nvPr/>
        </p:nvSpPr>
        <p:spPr>
          <a:xfrm>
            <a:off x="548640" y="44424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see if he’s available.</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4881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我看看他是否有空</a:t>
            </a:r>
          </a:p>
        </p:txBody>
      </p:sp>
      <p:sp>
        <p:nvSpPr>
          <p:cNvPr id="28" name="TextBox 27"/>
          <p:cNvSpPr txBox="1"/>
          <p:nvPr/>
        </p:nvSpPr>
        <p:spPr>
          <a:xfrm>
            <a:off x="6675120" y="44881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see if he’s available.”</a:t>
            </a:r>
          </a:p>
        </p:txBody>
      </p:sp>
      <p:sp>
        <p:nvSpPr>
          <p:cNvPr id="29" name="Rounded Rectangle 28"/>
          <p:cNvSpPr/>
          <p:nvPr/>
        </p:nvSpPr>
        <p:spPr>
          <a:xfrm>
            <a:off x="548640" y="54508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508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4965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holding.</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4965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感谢您的等待</a:t>
            </a:r>
          </a:p>
        </p:txBody>
      </p:sp>
      <p:sp>
        <p:nvSpPr>
          <p:cNvPr id="33" name="TextBox 32"/>
          <p:cNvSpPr txBox="1"/>
          <p:nvPr/>
        </p:nvSpPr>
        <p:spPr>
          <a:xfrm>
            <a:off x="6675120" y="54965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holding. I have Ms Lin on the line.”</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Problems and messages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问题与留言</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afraid he’s not in at the moment.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恐怕他现在不在</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afraid Mr Tan is not in at the moment.”</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Can I take a message?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需要我帮您留言吗?</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I take a message?”</a:t>
            </a:r>
          </a:p>
        </p:txBody>
      </p:sp>
      <p:sp>
        <p:nvSpPr>
          <p:cNvPr id="19" name="Rounded Rectangle 18"/>
          <p:cNvSpPr/>
          <p:nvPr/>
        </p:nvSpPr>
        <p:spPr>
          <a:xfrm>
            <a:off x="548640" y="312928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12400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11760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Sorry, I didn’t catch that. Could you repeat it?</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抱歉,我没听清。能再说一遍吗?</a:t>
            </a:r>
          </a:p>
        </p:txBody>
      </p:sp>
      <p:sp>
        <p:nvSpPr>
          <p:cNvPr id="23" name="TextBox 22"/>
          <p:cNvSpPr txBox="1"/>
          <p:nvPr/>
        </p:nvSpPr>
        <p:spPr>
          <a:xfrm>
            <a:off x="6675120" y="317500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I didn’t catch your name. Could you repeat it?”</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Chunk 3: Problems and messages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问题与留言</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you speak up a little, please?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您可以说大声一点吗?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line is bad. Could you speak up a little, please?”</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get him to call you back.</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我会请他给您回电话</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get him to call you back this afternoon.”</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您打到了……</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You’ve come through to…</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我会请他给您回电话</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I’ll get him to call you back.</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请稍等一下/请耐心等一等</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Bear with me a moment.</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恐怕他现在不在</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I’m afraid he’s not in at the moment.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需要我帮您留言吗?</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Can I take a message?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您可以说大声一点吗?</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Could you speak up a little, please?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300" b="1">
                <a:solidFill>
                  <a:srgbClr val="1F2A44"/>
                </a:solidFill>
                <a:latin typeface="Arial"/>
                <a:ea typeface="Microsoft YaHei"/>
              </a:rPr>
              <a:t>抱歉,我没听清。能再说一遍吗?</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Sorry, I didn’t catch that. Could you repeat it?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请问有什么可以帮您?</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How can I help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speaking</a:t>
            </a:r>
          </a:p>
        </p:txBody>
      </p:sp>
      <p:sp>
        <p:nvSpPr>
          <p:cNvPr id="10" name="Rounded Rectangle 9"/>
          <p:cNvSpPr/>
          <p:nvPr/>
        </p:nvSpPr>
        <p:spPr>
          <a:xfrm>
            <a:off x="3346704"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catch</a:t>
            </a:r>
          </a:p>
        </p:txBody>
      </p:sp>
      <p:sp>
        <p:nvSpPr>
          <p:cNvPr id="11" name="Rounded Rectangle 10"/>
          <p:cNvSpPr/>
          <p:nvPr/>
        </p:nvSpPr>
        <p:spPr>
          <a:xfrm>
            <a:off x="4352544"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calling</a:t>
            </a:r>
          </a:p>
        </p:txBody>
      </p:sp>
      <p:sp>
        <p:nvSpPr>
          <p:cNvPr id="12" name="Rounded Rectangle 11"/>
          <p:cNvSpPr/>
          <p:nvPr/>
        </p:nvSpPr>
        <p:spPr>
          <a:xfrm>
            <a:off x="5577840"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hold</a:t>
            </a:r>
          </a:p>
        </p:txBody>
      </p:sp>
      <p:sp>
        <p:nvSpPr>
          <p:cNvPr id="13" name="Rounded Rectangle 12"/>
          <p:cNvSpPr/>
          <p:nvPr/>
        </p:nvSpPr>
        <p:spPr>
          <a:xfrm>
            <a:off x="6473952"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through</a:t>
            </a:r>
          </a:p>
        </p:txBody>
      </p:sp>
      <p:sp>
        <p:nvSpPr>
          <p:cNvPr id="14" name="Rounded Rectangle 13"/>
          <p:cNvSpPr/>
          <p:nvPr/>
        </p:nvSpPr>
        <p:spPr>
          <a:xfrm>
            <a:off x="7699248" y="987552"/>
            <a:ext cx="58521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Good morning, Orion Foods. Li Wei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speaking</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May I ask who’s _______, please?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calling</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Could you _______ the line, please?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hold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I’ll put you _______ to Ms Lin.</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through</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I’m afraid Mr Tan is not _______ at the moment.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Sorry, I didn’t _______ that. Could you repeat it?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catch</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短语与拼写): speaking (not “speeking”), hold (not “wait”), repeat (not “say again”). On the phone, “This is Li Wei” or “Li Wei speaking” (not “I am Li Wei”).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Answering and transferring a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接听并转接电话</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customer calls the main line and asks for Ms Lin in the sales department.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receptionist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Carlos Diaz, caller</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Answering and transferring a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Orion Foods. Li Wei speaking. How can I help you?</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Carlos</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Could I speak to Ms Lin in sales, please?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Certainly. May I ask who’s calling?</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This is Carlos Diaz from Delta Packaging.</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Mr Diaz. And what is it regarding?</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about an order she placed last week.</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Answering and transferring a call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Could you hold the line for a moment? I’ll see if she’s available.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holding, Mr Diaz. I’ll put you through now.</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Ms Lin) Ms Lin, I have Mr Diaz from Delta Packaging on line two. It’s about an order.</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Answering and transferring a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customer calls the main number of your company.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Receptionist. Company name and your name: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Name, company and reason: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speaking · May I ask who’s calling? · hold the line · I’ll put you through · What’s it regarding?</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Greet, find out who and why, and transfer the call. About 60 seconds.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caller’s name is hard to catch. Say: “I’m sorry, could you spell that for me?”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line is bad. Say: “I’m afraid the line is very poor. Could you speak up, please?”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Ms Lin is not available. Say: “I’m afraid she’s in a meeting. Can I take a message?”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A difficult caller and a message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处理着急的来电并留言</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caller needs Mr Tan urgently, but he is in a meeting. The caller is in a hurry.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receptionist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Anna Berg, caller</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A difficult caller and a message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afternoon, Orion Foods. Li Wei speaking. How can I help you?</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Anna</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I need to speak to Mr Tan immediately. It’s urgent.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May I ask who’s calling, please?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Anna Berg from Nordic Steel.</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Ms Berg. I’m afraid Mr Tan is in a meeting at the moment. It should finish at three.</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too late. I need an answer on the shipment today.</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difficult caller and a message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Let me see if I can reach him. Could you bear with me a moment?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All right, but please be quick.</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holding, Ms Berg. I’ve sent him a note. He’ll get it at the next break. Can I take your number?</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it’s +46 8 555 0123.</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read that back to you: plus four six, eight, five five five, oh one two three. Is that right?</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right. Thank you for your help.</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A difficult caller and a message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 urgent caller wants someone who is in a meeting.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Receptionist. Stay calm. Offer help.</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In a hurry. Name and company: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afraid… · Can I take a message? · bear with me · read that back · I’ll get him to call you back.</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Stay polite, take the number correctly, say what happens next.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caller gets angry. Say: “I completely understand. I’ll make sure he gets your message right away.”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the best time to reach them: “What’s the best time to reach you?”</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Repeat the phone number in groups: “four six, eight, five five five, oh one two three.”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feel when you answer an unexpected call in English?</a:t>
            </a:r>
          </a:p>
          <a:p>
            <a:pPr algn="l">
              <a:lnSpc>
                <a:spcPct val="115000"/>
              </a:lnSpc>
              <a:spcAft>
                <a:spcPts val="800"/>
              </a:spcAft>
            </a:pPr>
            <a:r>
              <a:rPr sz="1400" b="0">
                <a:solidFill>
                  <a:srgbClr val="5F677A"/>
                </a:solidFill>
                <a:latin typeface="Arial"/>
                <a:ea typeface="Microsoft YaHei"/>
              </a:rPr>
              <a:t>💬 “I feel a bit nervous because…” / “What helps me is…”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most useful phrases for answering the phone?</a:t>
            </a:r>
          </a:p>
          <a:p>
            <a:pPr algn="l">
              <a:lnSpc>
                <a:spcPct val="115000"/>
              </a:lnSpc>
              <a:spcAft>
                <a:spcPts val="800"/>
              </a:spcAft>
            </a:pPr>
            <a:r>
              <a:rPr sz="1400" b="0">
                <a:solidFill>
                  <a:srgbClr val="5F677A"/>
                </a:solidFill>
                <a:latin typeface="Arial"/>
                <a:ea typeface="Microsoft YaHei"/>
              </a:rPr>
              <a:t>💬 “The most useful phrase is…” / “I always say…”</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deal with a caller you cannot understand?</a:t>
            </a:r>
          </a:p>
          <a:p>
            <a:pPr algn="l">
              <a:lnSpc>
                <a:spcPct val="115000"/>
              </a:lnSpc>
              <a:spcAft>
                <a:spcPts val="800"/>
              </a:spcAft>
            </a:pPr>
            <a:r>
              <a:rPr sz="1400" b="0">
                <a:solidFill>
                  <a:srgbClr val="5F677A"/>
                </a:solidFill>
                <a:latin typeface="Arial"/>
                <a:ea typeface="Microsoft YaHei"/>
              </a:rPr>
              <a:t>💬 “I ask them to repeat…” / “I repeat what I heard to check.”</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answer the phone yourself or let it go to voicemail?</a:t>
            </a:r>
          </a:p>
          <a:p>
            <a:pPr algn="l">
              <a:lnSpc>
                <a:spcPct val="115000"/>
              </a:lnSpc>
              <a:spcAft>
                <a:spcPts val="800"/>
              </a:spcAft>
            </a:pPr>
            <a:r>
              <a:rPr sz="1400" b="0">
                <a:solidFill>
                  <a:srgbClr val="5F677A"/>
                </a:solidFill>
                <a:latin typeface="Arial"/>
                <a:ea typeface="Microsoft YaHei"/>
              </a:rPr>
              <a:t>💬 “It depends. If I’m busy, I…” / “A voicemail is better when…”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if an angry caller would not stop talking?</a:t>
            </a:r>
          </a:p>
          <a:p>
            <a:pPr algn="l">
              <a:lnSpc>
                <a:spcPct val="115000"/>
              </a:lnSpc>
              <a:spcAft>
                <a:spcPts val="800"/>
              </a:spcAft>
            </a:pPr>
            <a:r>
              <a:rPr sz="1400" b="0">
                <a:solidFill>
                  <a:srgbClr val="5F677A"/>
                </a:solidFill>
                <a:latin typeface="Arial"/>
                <a:ea typeface="Microsoft YaHei"/>
              </a:rPr>
              <a:t>💬 “I would let them finish and then say…” / “I’d stay calm and say, ‘I understand. Let me see what I can do.’”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When I can’t understand a caller, I stay calm and ask politely,”Sorry, I didn’t catch that. Could you say it again, please?” If it’s a name or number, I ask them to spell it or say it slowly. Then I repeat what I heard to check: “So that’s Mr Berg, B-E-R-G, from Nordic Steel. Is that right?” Repeating information is not impolite. It shows that I’m careful and professional.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“I didn’t catch that”(我没听清)是电话里最常用的句子。核对信息时用 “So that’s…, is that right?”。注意 “ask them to spell it”(ask + 人 + to + 动词)。</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Phone-language script: incoming calls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来电话术</a:t>
            </a:r>
          </a:p>
        </p:txBody>
      </p:sp>
      <p:graphicFrame>
        <p:nvGraphicFramePr>
          <p:cNvPr id="9" name="Table 8"/>
          <p:cNvGraphicFramePr>
            <a:graphicFrameLocks noGrp="1"/>
          </p:cNvGraphicFramePr>
          <p:nvPr/>
        </p:nvGraphicFramePr>
        <p:xfrm>
          <a:off x="548640" y="1417320"/>
          <a:ext cx="11094415" cy="277368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Greet</a:t>
                      </a:r>
                    </a:p>
                  </a:txBody>
                  <a:tcPr anchor="ctr">
                    <a:solidFill>
                      <a:srgbClr val="FFFFFF"/>
                    </a:solidFill>
                  </a:tcPr>
                </a:tc>
                <a:tc>
                  <a:txBody>
                    <a:bodyPr wrap="square"/>
                    <a:lstStyle/>
                    <a:p>
                      <a:r>
                        <a:rPr sz="1600" b="0">
                          <a:solidFill>
                            <a:srgbClr val="1F2A44"/>
                          </a:solidFill>
                          <a:latin typeface="Arial"/>
                          <a:ea typeface="Microsoft YaHei"/>
                        </a:rPr>
                        <a:t>Good morning, [Company]. [Name] speaking. How can I help you?</a:t>
                      </a:r>
                    </a:p>
                  </a:txBody>
                  <a:tcPr anchor="ctr">
                    <a:solidFill>
                      <a:srgbClr val="FFFFFF"/>
                    </a:solidFill>
                  </a:tcPr>
                </a:tc>
              </a:tr>
              <a:tr h="652272">
                <a:tc>
                  <a:txBody>
                    <a:bodyPr wrap="square"/>
                    <a:lstStyle/>
                    <a:p>
                      <a:r>
                        <a:rPr sz="1600" b="1">
                          <a:solidFill>
                            <a:srgbClr val="1F2A44"/>
                          </a:solidFill>
                          <a:latin typeface="Arial"/>
                          <a:ea typeface="Microsoft YaHei"/>
                        </a:rPr>
                        <a:t>Ask who</a:t>
                      </a:r>
                    </a:p>
                  </a:txBody>
                  <a:tcPr anchor="ctr">
                    <a:solidFill>
                      <a:srgbClr val="FFEFD9"/>
                    </a:solidFill>
                  </a:tcPr>
                </a:tc>
                <a:tc>
                  <a:txBody>
                    <a:bodyPr wrap="square"/>
                    <a:lstStyle/>
                    <a:p>
                      <a:r>
                        <a:rPr sz="1600" b="0">
                          <a:solidFill>
                            <a:srgbClr val="1F2A44"/>
                          </a:solidFill>
                          <a:latin typeface="Arial"/>
                          <a:ea typeface="Microsoft YaHei"/>
                        </a:rPr>
                        <a:t>May I ask who’s calling, please? / Who’s calling, please?</a:t>
                      </a:r>
                    </a:p>
                  </a:txBody>
                  <a:tcPr anchor="ctr">
                    <a:solidFill>
                      <a:srgbClr val="FFEFD9"/>
                    </a:solidFill>
                  </a:tcPr>
                </a:tc>
              </a:tr>
              <a:tr h="408432">
                <a:tc>
                  <a:txBody>
                    <a:bodyPr wrap="square"/>
                    <a:lstStyle/>
                    <a:p>
                      <a:r>
                        <a:rPr sz="1600" b="1">
                          <a:solidFill>
                            <a:srgbClr val="1F2A44"/>
                          </a:solidFill>
                          <a:latin typeface="Arial"/>
                          <a:ea typeface="Microsoft YaHei"/>
                        </a:rPr>
                        <a:t>Ask why</a:t>
                      </a:r>
                    </a:p>
                  </a:txBody>
                  <a:tcPr anchor="ctr">
                    <a:solidFill>
                      <a:srgbClr val="FFFFFF"/>
                    </a:solidFill>
                  </a:tcPr>
                </a:tc>
                <a:tc>
                  <a:txBody>
                    <a:bodyPr wrap="square"/>
                    <a:lstStyle/>
                    <a:p>
                      <a:r>
                        <a:rPr sz="1600" b="0">
                          <a:solidFill>
                            <a:srgbClr val="1F2A44"/>
                          </a:solidFill>
                          <a:latin typeface="Arial"/>
                          <a:ea typeface="Microsoft YaHei"/>
                        </a:rPr>
                        <a:t>What is it regarding? / May I ask what it’s about?</a:t>
                      </a:r>
                    </a:p>
                  </a:txBody>
                  <a:tcPr anchor="ctr">
                    <a:solidFill>
                      <a:srgbClr val="FFFFFF"/>
                    </a:solidFill>
                  </a:tcPr>
                </a:tc>
              </a:tr>
              <a:tr h="652272">
                <a:tc>
                  <a:txBody>
                    <a:bodyPr wrap="square"/>
                    <a:lstStyle/>
                    <a:p>
                      <a:r>
                        <a:rPr sz="1600" b="1">
                          <a:solidFill>
                            <a:srgbClr val="1F2A44"/>
                          </a:solidFill>
                          <a:latin typeface="Arial"/>
                          <a:ea typeface="Microsoft YaHei"/>
                        </a:rPr>
                        <a:t>Hold</a:t>
                      </a:r>
                    </a:p>
                  </a:txBody>
                  <a:tcPr anchor="ctr">
                    <a:solidFill>
                      <a:srgbClr val="FFEFD9"/>
                    </a:solidFill>
                  </a:tcPr>
                </a:tc>
                <a:tc>
                  <a:txBody>
                    <a:bodyPr wrap="square"/>
                    <a:lstStyle/>
                    <a:p>
                      <a:r>
                        <a:rPr sz="1600" b="0">
                          <a:solidFill>
                            <a:srgbClr val="1F2A44"/>
                          </a:solidFill>
                          <a:latin typeface="Arial"/>
                          <a:ea typeface="Microsoft YaHei"/>
                        </a:rPr>
                        <a:t>Could you hold the line, please? / Bear with me a moment. ★</a:t>
                      </a:r>
                    </a:p>
                  </a:txBody>
                  <a:tcPr anchor="ctr">
                    <a:solidFill>
                      <a:srgbClr val="FFEFD9"/>
                    </a:solidFill>
                  </a:tcPr>
                </a:tc>
              </a:tr>
            </a:tbl>
          </a:graphicData>
        </a:graphic>
      </p:graphicFrame>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Phone-language script: incoming calls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来电话术</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Transfer</a:t>
                      </a:r>
                    </a:p>
                  </a:txBody>
                  <a:tcPr anchor="ctr">
                    <a:solidFill>
                      <a:srgbClr val="FFFFFF"/>
                    </a:solidFill>
                  </a:tcPr>
                </a:tc>
                <a:tc>
                  <a:txBody>
                    <a:bodyPr wrap="square"/>
                    <a:lstStyle/>
                    <a:p>
                      <a:r>
                        <a:rPr sz="1600" b="0">
                          <a:solidFill>
                            <a:srgbClr val="1F2A44"/>
                          </a:solidFill>
                          <a:latin typeface="Arial"/>
                          <a:ea typeface="Microsoft YaHei"/>
                        </a:rPr>
                        <a:t>I’ll put you through to… / Let me transfer you to…</a:t>
                      </a:r>
                    </a:p>
                  </a:txBody>
                  <a:tcPr anchor="ctr">
                    <a:solidFill>
                      <a:srgbClr val="FFFFFF"/>
                    </a:solidFill>
                  </a:tcPr>
                </a:tc>
              </a:tr>
              <a:tr h="652272">
                <a:tc>
                  <a:txBody>
                    <a:bodyPr wrap="square"/>
                    <a:lstStyle/>
                    <a:p>
                      <a:r>
                        <a:rPr sz="1600" b="1">
                          <a:solidFill>
                            <a:srgbClr val="1F2A44"/>
                          </a:solidFill>
                          <a:latin typeface="Arial"/>
                          <a:ea typeface="Microsoft YaHei"/>
                        </a:rPr>
                        <a:t>Not available</a:t>
                      </a:r>
                    </a:p>
                  </a:txBody>
                  <a:tcPr anchor="ctr">
                    <a:solidFill>
                      <a:srgbClr val="FFEFD9"/>
                    </a:solidFill>
                  </a:tcPr>
                </a:tc>
                <a:tc>
                  <a:txBody>
                    <a:bodyPr wrap="square"/>
                    <a:lstStyle/>
                    <a:p>
                      <a:r>
                        <a:rPr sz="1600" b="0">
                          <a:solidFill>
                            <a:srgbClr val="1F2A44"/>
                          </a:solidFill>
                          <a:latin typeface="Arial"/>
                          <a:ea typeface="Microsoft YaHei"/>
                        </a:rPr>
                        <a:t>I’m afraid she’s in a meeting. Can I take a message?</a:t>
                      </a:r>
                    </a:p>
                  </a:txBody>
                  <a:tcPr anchor="ctr">
                    <a:solidFill>
                      <a:srgbClr val="FFEFD9"/>
                    </a:solidFill>
                  </a:tcPr>
                </a:tc>
              </a:tr>
              <a:tr h="652272">
                <a:tc>
                  <a:txBody>
                    <a:bodyPr wrap="square"/>
                    <a:lstStyle/>
                    <a:p>
                      <a:r>
                        <a:rPr sz="1600" b="1">
                          <a:solidFill>
                            <a:srgbClr val="1F2A44"/>
                          </a:solidFill>
                          <a:latin typeface="Arial"/>
                          <a:ea typeface="Microsoft YaHei"/>
                        </a:rPr>
                        <a:t>Check</a:t>
                      </a:r>
                    </a:p>
                  </a:txBody>
                  <a:tcPr anchor="ctr">
                    <a:solidFill>
                      <a:srgbClr val="FFFFFF"/>
                    </a:solidFill>
                  </a:tcPr>
                </a:tc>
                <a:tc>
                  <a:txBody>
                    <a:bodyPr wrap="square"/>
                    <a:lstStyle/>
                    <a:p>
                      <a:r>
                        <a:rPr sz="1600" b="0">
                          <a:solidFill>
                            <a:srgbClr val="1F2A44"/>
                          </a:solidFill>
                          <a:latin typeface="Arial"/>
                          <a:ea typeface="Microsoft YaHei"/>
                        </a:rPr>
                        <a:t>Sorry, I didn’t catch that. Could you repeat it? / Could you spell that?</a:t>
                      </a:r>
                    </a:p>
                  </a:txBody>
                  <a:tcPr anchor="ctr">
                    <a:solidFill>
                      <a:srgbClr val="FFFFFF"/>
                    </a:solidFill>
                  </a:tcPr>
                </a:tc>
              </a:tr>
              <a:tr h="408432">
                <a:tc>
                  <a:txBody>
                    <a:bodyPr wrap="square"/>
                    <a:lstStyle/>
                    <a:p>
                      <a:r>
                        <a:rPr sz="1600" b="1">
                          <a:solidFill>
                            <a:srgbClr val="1F2A44"/>
                          </a:solidFill>
                          <a:latin typeface="Arial"/>
                          <a:ea typeface="Microsoft YaHei"/>
                        </a:rPr>
                        <a:t>Close</a:t>
                      </a:r>
                    </a:p>
                  </a:txBody>
                  <a:tcPr anchor="ctr">
                    <a:solidFill>
                      <a:srgbClr val="FFEFD9"/>
                    </a:solidFill>
                  </a:tcPr>
                </a:tc>
                <a:tc>
                  <a:txBody>
                    <a:bodyPr wrap="square"/>
                    <a:lstStyle/>
                    <a:p>
                      <a:r>
                        <a:rPr sz="1600" b="0">
                          <a:solidFill>
                            <a:srgbClr val="1F2A44"/>
                          </a:solidFill>
                          <a:latin typeface="Arial"/>
                          <a:ea typeface="Microsoft YaHei"/>
                        </a:rPr>
                        <a:t>Thank you for calling. Have a nice day.</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Numbers and spelling on the phone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电话里的数字与拼写</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Phone numbers: </a:t>
            </a:r>
            <a:r>
              <a:rPr sz="1700" b="0">
                <a:solidFill>
                  <a:srgbClr val="1F2A44"/>
                </a:solidFill>
                <a:latin typeface="Arial"/>
                <a:ea typeface="Microsoft YaHei"/>
              </a:rPr>
              <a:t>read digit by digit; “0” is oh (UK) or zero (US). Group them: “139 – 0000 – 1234” = one three nine, oh oh oh oh, one two three four. Say “double five” for 55 in British English.</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Spelling names: </a:t>
            </a:r>
            <a:r>
              <a:rPr sz="1700" b="0">
                <a:solidFill>
                  <a:srgbClr val="1F2A44"/>
                </a:solidFill>
                <a:latin typeface="Arial"/>
                <a:ea typeface="Microsoft YaHei"/>
              </a:rPr>
              <a:t>use clear examples: B for Bravo, M for Mike, P as in Paris. Or “B as in boy”.</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Repeat to check: </a:t>
            </a:r>
            <a:r>
              <a:rPr sz="1700" b="0">
                <a:solidFill>
                  <a:srgbClr val="1F2A44"/>
                </a:solidFill>
                <a:latin typeface="Arial"/>
                <a:ea typeface="Microsoft YaHei"/>
              </a:rPr>
              <a:t>“Let me read that back to you.”</a:t>
            </a:r>
          </a:p>
        </p:txBody>
      </p:sp>
      <p:sp>
        <p:nvSpPr>
          <p:cNvPr id="18" name="Rounded Rectangle 17"/>
          <p:cNvSpPr/>
          <p:nvPr/>
        </p:nvSpPr>
        <p:spPr>
          <a:xfrm>
            <a:off x="548640" y="327659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701039"/>
          </a:xfrm>
          <a:prstGeom prst="rect">
            <a:avLst/>
          </a:prstGeom>
          <a:noFill/>
        </p:spPr>
        <p:txBody>
          <a:bodyPr wrap="square" anchor="ctr">
            <a:spAutoFit/>
          </a:bodyPr>
          <a:lstStyle/>
          <a:p>
            <a:r>
              <a:rPr sz="1700" b="1">
                <a:solidFill>
                  <a:srgbClr val="FFC857"/>
                </a:solidFill>
                <a:latin typeface="Arial"/>
                <a:ea typeface="Microsoft YaHei"/>
              </a:rPr>
              <a:t>Mix-ups: </a:t>
            </a:r>
            <a:r>
              <a:rPr sz="1700" b="0">
                <a:solidFill>
                  <a:srgbClr val="1F2A44"/>
                </a:solidFill>
                <a:latin typeface="Arial"/>
                <a:ea typeface="Microsoft YaHei"/>
              </a:rPr>
              <a:t>15 vs 50 (fifteen / fifty): stress the end for fifteen (fif-teen) and the start for fifty (fif-ty).</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Li Wei.</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is Li Wei. / Li Wei speaking.</a:t>
            </a:r>
          </a:p>
          <a:p>
            <a:pPr algn="l">
              <a:spcAft>
                <a:spcPts val="200"/>
              </a:spcAft>
            </a:pPr>
            <a:r>
              <a:rPr sz="1200" b="0">
                <a:solidFill>
                  <a:srgbClr val="FFFFFF"/>
                </a:solidFill>
                <a:latin typeface="Arial"/>
                <a:ea typeface="Microsoft YaHei"/>
              </a:rPr>
              <a:t>电话里不说 I am</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Who are you?</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May I ask who’s calling?</a:t>
            </a:r>
          </a:p>
          <a:p>
            <a:pPr algn="l">
              <a:spcAft>
                <a:spcPts val="200"/>
              </a:spcAft>
            </a:pPr>
            <a:r>
              <a:rPr sz="1200" b="0">
                <a:solidFill>
                  <a:srgbClr val="FFFFFF"/>
                </a:solidFill>
                <a:latin typeface="Arial"/>
                <a:ea typeface="Microsoft YaHei"/>
              </a:rPr>
              <a:t>太直接,像质问</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Wait a moment.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hold the line, please?</a:t>
            </a:r>
          </a:p>
          <a:p>
            <a:pPr algn="l">
              <a:spcAft>
                <a:spcPts val="200"/>
              </a:spcAft>
            </a:pPr>
            <a:r>
              <a:rPr sz="1200" b="0">
                <a:solidFill>
                  <a:srgbClr val="FFFFFF"/>
                </a:solidFill>
                <a:latin typeface="Arial"/>
                <a:ea typeface="Microsoft YaHei"/>
              </a:rPr>
              <a:t>语气更礼貌</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not here.</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afraid he’s not in at the moment.</a:t>
            </a:r>
          </a:p>
          <a:p>
            <a:pPr algn="l">
              <a:spcAft>
                <a:spcPts val="200"/>
              </a:spcAft>
            </a:pPr>
            <a:r>
              <a:rPr sz="1200" b="0">
                <a:solidFill>
                  <a:srgbClr val="FFFFFF"/>
                </a:solidFill>
                <a:latin typeface="Arial"/>
                <a:ea typeface="Microsoft YaHei"/>
              </a:rPr>
              <a:t>先用 I’m afraid 缓和</a:t>
            </a:r>
          </a:p>
        </p:txBody>
      </p:sp>
      <p:sp>
        <p:nvSpPr>
          <p:cNvPr id="17" name="Rounded Rectangle 16"/>
          <p:cNvSpPr/>
          <p:nvPr/>
        </p:nvSpPr>
        <p:spPr>
          <a:xfrm>
            <a:off x="548640" y="4267196"/>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say again.</a:t>
            </a:r>
          </a:p>
        </p:txBody>
      </p:sp>
      <p:sp>
        <p:nvSpPr>
          <p:cNvPr id="18" name="Rounded Rectangle 17"/>
          <p:cNvSpPr/>
          <p:nvPr/>
        </p:nvSpPr>
        <p:spPr>
          <a:xfrm>
            <a:off x="6187287" y="4267196"/>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Sorry, could you repeat that? / I didn’t catch that.</a:t>
            </a:r>
          </a:p>
          <a:p>
            <a:pPr algn="l">
              <a:spcAft>
                <a:spcPts val="200"/>
              </a:spcAft>
            </a:pPr>
            <a:r>
              <a:rPr sz="1200" b="0">
                <a:solidFill>
                  <a:srgbClr val="FFFFFF"/>
                </a:solidFill>
                <a:latin typeface="Arial"/>
                <a:ea typeface="Microsoft YaHei"/>
              </a:rPr>
              <a:t>更自然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I’ll transfer to Ms Lin.</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put you through to Ms Lin. / I’ll transfer you to Ms Lin.</a:t>
            </a:r>
          </a:p>
          <a:p>
            <a:pPr algn="l">
              <a:spcAft>
                <a:spcPts val="200"/>
              </a:spcAft>
            </a:pPr>
            <a:r>
              <a:rPr sz="1200" b="0">
                <a:solidFill>
                  <a:srgbClr val="FFFFFF"/>
                </a:solidFill>
                <a:latin typeface="Arial"/>
                <a:ea typeface="Microsoft YaHei"/>
              </a:rPr>
              <a:t>缺宾语 you</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can’t listen clearly.</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can’t hear you clearly.</a:t>
            </a:r>
          </a:p>
          <a:p>
            <a:pPr algn="l">
              <a:spcAft>
                <a:spcPts val="200"/>
              </a:spcAft>
            </a:pPr>
            <a:r>
              <a:rPr sz="1200" b="0">
                <a:solidFill>
                  <a:srgbClr val="FFFFFF"/>
                </a:solidFill>
                <a:latin typeface="Arial"/>
                <a:ea typeface="Microsoft YaHei"/>
              </a:rPr>
              <a:t>听电话用 hear,不用 listen</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I’ll call back you.</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call you back.</a:t>
            </a:r>
          </a:p>
          <a:p>
            <a:pPr algn="l">
              <a:spcAft>
                <a:spcPts val="200"/>
              </a:spcAft>
            </a:pPr>
            <a:r>
              <a:rPr sz="1200" b="0">
                <a:solidFill>
                  <a:srgbClr val="FFFFFF"/>
                </a:solidFill>
                <a:latin typeface="Arial"/>
                <a:ea typeface="Microsoft YaHei"/>
              </a:rPr>
              <a:t>短语动词 + 代词:代词放中间</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don’t answer his phone.</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doesn’t answer his phone.</a:t>
            </a:r>
          </a:p>
          <a:p>
            <a:pPr algn="l">
              <a:spcAft>
                <a:spcPts val="200"/>
              </a:spcAft>
            </a:pPr>
            <a:r>
              <a:rPr sz="1200" b="0">
                <a:solidFill>
                  <a:srgbClr val="FFFFFF"/>
                </a:solidFill>
                <a:latin typeface="Arial"/>
                <a:ea typeface="Microsoft YaHei"/>
              </a:rPr>
              <a:t>第三人称单数</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speeking / regarting</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speaking / regarding</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With phrasal verbs, a pronoun goes in the middle: call you back, put him through, pick it up. Never “call back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Answer within 3 rings and say the company name. In many English-speaking offices, employees give their name too: “Orion Foods, Li Wei speaking.”</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Don’t say “Hello? Who is this?” or “Who do you want?” Use “May I ask who’s calling?” / “Who would you like to speak to?”</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0">
                <a:solidFill>
                  <a:srgbClr val="1F2A44"/>
                </a:solidFill>
                <a:latin typeface="Arial"/>
                <a:ea typeface="Microsoft YaHei"/>
              </a:rPr>
              <a:t>Don’t give personal numbers or details to an unknown caller. Offer to take a message instead.</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0">
                <a:solidFill>
                  <a:srgbClr val="1F2A44"/>
                </a:solidFill>
                <a:latin typeface="Arial"/>
                <a:ea typeface="Microsoft YaHei"/>
              </a:rPr>
              <a:t>Smile when you talk. People can hear it. Speak a little slower than normal, and put the stress on key words.</a:t>
            </a:r>
          </a:p>
        </p:txBody>
      </p:sp>
      <p:sp>
        <p:nvSpPr>
          <p:cNvPr id="21" name="Rounded Rectangle 20"/>
          <p:cNvSpPr/>
          <p:nvPr/>
        </p:nvSpPr>
        <p:spPr>
          <a:xfrm>
            <a:off x="548640" y="432815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701039"/>
          </a:xfrm>
          <a:prstGeom prst="rect">
            <a:avLst/>
          </a:prstGeom>
          <a:noFill/>
        </p:spPr>
        <p:txBody>
          <a:bodyPr wrap="square" anchor="ctr">
            <a:spAutoFit/>
          </a:bodyPr>
          <a:lstStyle/>
          <a:p>
            <a:r>
              <a:rPr sz="1700" b="1">
                <a:solidFill>
                  <a:srgbClr val="9B6BE0"/>
                </a:solidFill>
                <a:latin typeface="Arial"/>
                <a:ea typeface="Microsoft YaHei"/>
              </a:rPr>
              <a:t>Mobile calls: </a:t>
            </a:r>
            <a:r>
              <a:rPr sz="1700" b="0">
                <a:solidFill>
                  <a:srgbClr val="1F2A44"/>
                </a:solidFill>
                <a:latin typeface="Arial"/>
                <a:ea typeface="Microsoft YaHei"/>
              </a:rPr>
              <a:t>In English-speaking countries, people often text first before calling. Business calls without warning can be seen as impolite, unless urgent.</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answer a call with the company name and my name.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who is calling and why (May I ask who’s calling? What’s it regarding?).</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hold and transfer a call (Could you hold the line? I’ll put you through to…).</a:t>
            </a:r>
          </a:p>
        </p:txBody>
      </p:sp>
      <p:sp>
        <p:nvSpPr>
          <p:cNvPr id="20" name="TextBox 19"/>
          <p:cNvSpPr txBox="1"/>
          <p:nvPr/>
        </p:nvSpPr>
        <p:spPr>
          <a:xfrm>
            <a:off x="9539935" y="30083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take a message and check names and numbers (Let me read that back to you).</a:t>
            </a:r>
          </a:p>
        </p:txBody>
      </p:sp>
      <p:sp>
        <p:nvSpPr>
          <p:cNvPr id="24" name="TextBox 23"/>
          <p:cNvSpPr txBox="1"/>
          <p:nvPr/>
        </p:nvSpPr>
        <p:spPr>
          <a:xfrm>
            <a:off x="9539935" y="39105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This is…, call you back and hear (not listen) correctly.</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17 Incoming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phone phrases (This is… / speaking), pronoun placement (call you back), polite requests, and spelling.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5 · Lesson 18 Outgoing calls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Outgoing calls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去电</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make business calls politely and professionally: identify yourself, ask for the right person, say why you are calling, handle a gatekeeper, and finish with a clear summary of what happens next.</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8496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prepare before you make an important phone call in English?</a:t>
            </a:r>
          </a:p>
        </p:txBody>
      </p:sp>
      <p:sp>
        <p:nvSpPr>
          <p:cNvPr id="12" name="Oval 11"/>
          <p:cNvSpPr/>
          <p:nvPr/>
        </p:nvSpPr>
        <p:spPr>
          <a:xfrm>
            <a:off x="548640" y="225856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2808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2808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are the first two sentences you say when you call a company?</a:t>
            </a:r>
          </a:p>
        </p:txBody>
      </p:sp>
      <p:sp>
        <p:nvSpPr>
          <p:cNvPr id="15" name="Oval 14"/>
          <p:cNvSpPr/>
          <p:nvPr/>
        </p:nvSpPr>
        <p:spPr>
          <a:xfrm>
            <a:off x="548640" y="29321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0169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0169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do if the person you want is not available?</a:t>
            </a:r>
          </a:p>
        </p:txBody>
      </p:sp>
      <p:sp>
        <p:nvSpPr>
          <p:cNvPr id="18" name="Oval 17"/>
          <p:cNvSpPr/>
          <p:nvPr/>
        </p:nvSpPr>
        <p:spPr>
          <a:xfrm>
            <a:off x="548640" y="360578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575304"/>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575304"/>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Tell me about a business call that went well or badly. What happened?</a:t>
            </a:r>
          </a:p>
        </p:txBody>
      </p:sp>
      <p:sp>
        <p:nvSpPr>
          <p:cNvPr id="21" name="Oval 20"/>
          <p:cNvSpPr/>
          <p:nvPr/>
        </p:nvSpPr>
        <p:spPr>
          <a:xfrm>
            <a:off x="548640" y="427939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24891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24891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Do you prefer to call or send a message? Why?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题讲过去的事,请用过去式(went, said, forgot)。第 1 题:可以先写关键词和问题。</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how you make a business call to a new contact.</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prepare</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greeting and name</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who you want</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why you are calling</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ending and next step</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Before I call, I write down…   💬 I start with ‘Hello, this is… from…’   💬 I end by repeating the next step.</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打电话前写下要点:谁、为什么、要问什么、要对方做什么。结束时总结:So, to confirm…。</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Starting the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开始通话</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Hello, this is Li Wei from Orion Foods.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您好,我是奥利安食品公司的李伟</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“Hello, this is Li Wei from Orion Foods.”</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I speak to Mr Tan, please?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请问我可以和谭先生通话吗?</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I speak to Mr Tan in purchasing, please?”</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calling about / regarding…</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我打电话是关于……</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calling about your order of 12 October.”</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Starting the call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开始通话</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calling to confirm / ask…</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我打电话是想确认/询问……</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calling to confirm the delivery date.”</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Is this a good time to talk?</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现在方便说话吗?</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this a good time to talk? I only need five minutes.”</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Chunk 2: Getting through and leaving a message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转接与留言</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put me through to…?</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请帮我转接……</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put me through to the accounts department?”</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 returning his call.</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我是回他的电话</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returning Mr Tan’s call from this morning.”</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ask him to call me back?</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请让他给我回电话好吗?</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ask him to call me back on 021 5555 0100?”</a:t>
            </a:r>
          </a:p>
        </p:txBody>
      </p:sp>
      <p:sp>
        <p:nvSpPr>
          <p:cNvPr id="24" name="Rounded Rectangle 23"/>
          <p:cNvSpPr/>
          <p:nvPr/>
        </p:nvSpPr>
        <p:spPr>
          <a:xfrm>
            <a:off x="548640" y="44424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try again later.</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4881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我稍后再打</a:t>
            </a:r>
          </a:p>
        </p:txBody>
      </p:sp>
      <p:sp>
        <p:nvSpPr>
          <p:cNvPr id="28" name="TextBox 27"/>
          <p:cNvSpPr txBox="1"/>
          <p:nvPr/>
        </p:nvSpPr>
        <p:spPr>
          <a:xfrm>
            <a:off x="6675120" y="44881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“No problem. I’ll try again later this afternoon.”</a:t>
            </a:r>
          </a:p>
        </p:txBody>
      </p:sp>
      <p:sp>
        <p:nvSpPr>
          <p:cNvPr id="29" name="Rounded Rectangle 28"/>
          <p:cNvSpPr/>
          <p:nvPr/>
        </p:nvSpPr>
        <p:spPr>
          <a:xfrm>
            <a:off x="548640" y="51460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try his mobile.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我试试打他的手机</a:t>
            </a:r>
          </a:p>
        </p:txBody>
      </p:sp>
      <p:sp>
        <p:nvSpPr>
          <p:cNvPr id="33" name="TextBox 32"/>
          <p:cNvSpPr txBox="1"/>
          <p:nvPr/>
        </p:nvSpPr>
        <p:spPr>
          <a:xfrm>
            <a:off x="6675120" y="51917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try his mobile. Thank you.”</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Clarifying and closing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确认与结束</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I just check…?</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我想确认一下……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I just check the delivery date?”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Just to confirm, …</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确认一下……</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“Just to confirm, delivery is on Friday, 16 October.”</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 me give you my number.</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我把我的号码给您</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give you my direct number.”</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your time.</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感谢您的时间</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your time. I’ll send an email to confirm.”</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follow up with an email.</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我会随后发邮件跟进</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follow up with an email to confirm everything.”</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请问我可以和谭先生通话吗?</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I speak to Mr Tan, please?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我打电话是关于……</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calling about / regarding…</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我想确认一下……</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I just check…?</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我打电话是想确认/询问……</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calling to confirm / ask…</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请帮我转接……</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you put me through to…?</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确认一下……</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Just to confirm, …</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200" b="1">
                <a:solidFill>
                  <a:srgbClr val="1F2A44"/>
                </a:solidFill>
                <a:latin typeface="Arial"/>
                <a:ea typeface="Microsoft YaHei"/>
              </a:rPr>
              <a:t>您好,我是奥利安食品公司的李伟</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Hello, this is Li Wei from Orion Foods.</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现在方便说话吗?</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Is this a good time to talk?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confirm</a:t>
            </a:r>
          </a:p>
        </p:txBody>
      </p:sp>
      <p:sp>
        <p:nvSpPr>
          <p:cNvPr id="10" name="Rounded Rectangle 9"/>
          <p:cNvSpPr/>
          <p:nvPr/>
        </p:nvSpPr>
        <p:spPr>
          <a:xfrm>
            <a:off x="3236976"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Just</a:t>
            </a:r>
          </a:p>
        </p:txBody>
      </p:sp>
      <p:sp>
        <p:nvSpPr>
          <p:cNvPr id="11" name="Rounded Rectangle 10"/>
          <p:cNvSpPr/>
          <p:nvPr/>
        </p:nvSpPr>
        <p:spPr>
          <a:xfrm>
            <a:off x="4133088"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time</a:t>
            </a:r>
          </a:p>
        </p:txBody>
      </p:sp>
      <p:sp>
        <p:nvSpPr>
          <p:cNvPr id="12" name="Rounded Rectangle 11"/>
          <p:cNvSpPr/>
          <p:nvPr/>
        </p:nvSpPr>
        <p:spPr>
          <a:xfrm>
            <a:off x="5029200"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back</a:t>
            </a:r>
          </a:p>
        </p:txBody>
      </p:sp>
      <p:sp>
        <p:nvSpPr>
          <p:cNvPr id="13" name="Rounded Rectangle 12"/>
          <p:cNvSpPr/>
          <p:nvPr/>
        </p:nvSpPr>
        <p:spPr>
          <a:xfrm>
            <a:off x="5925312"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this</a:t>
            </a:r>
          </a:p>
        </p:txBody>
      </p:sp>
      <p:sp>
        <p:nvSpPr>
          <p:cNvPr id="14" name="Rounded Rectangle 13"/>
          <p:cNvSpPr/>
          <p:nvPr/>
        </p:nvSpPr>
        <p:spPr>
          <a:xfrm>
            <a:off x="6821424"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speak</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Hello, _______ is Li Wei from Orion Foods.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this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Could I _______ to Mr Tan, please?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speak</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I’m calling to _______ the delivery date.</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confirm</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Could you ask him to call me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_______ to confirm, delivery is on Friday.</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Just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Thank you for your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time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短语与拼写): I’m calling about / to confirm (not “I call for”); speak to (not “speak with” in a formal first call: both are OK in the US); return a call (not “return back”). Say “Could I speak to Mr Tan?” (not “I want to speak to Mr Tan”).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Calling a client to confirm a delivery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致电客户确认交货</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call a client to confirm the delivery date and the address for the container order.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buyer at Orion</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Henry Lee, client contact</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Calling a client to confirm a delivery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this is Li Wei from Orion Foods. Could I speak to Mr Lee, please?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Henry</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Speaking.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Mr Lee. Is this a good time to talk?</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 have a few minutes. What can I do for you?</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calling to confirm the delivery date for our order of 500 containers.</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check. Yes, it is on Friday, 16 October.</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Calling a client to confirm a delivery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I just check the delivery address? Is it still 88 Riverside Road?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that’s right. Warehouse B, door 3.</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Just to confirm: delivery on Friday, 16 October, to Warehouse B at 88 Riverside Road. Is that correct?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correct.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your time, Mr Lee. I’ll follow up with an email to confirm.</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Have a good day.</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Calling a client to confirm a delivery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call a client or supplier to confirm details.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Your name, company and reason: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Answers questions and gives information.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this is… · Is this a good time to talk? · I’m calling to… · Just to confirm… · I’ll follow up with an email.</a:t>
            </a:r>
          </a:p>
        </p:txBody>
      </p:sp>
      <p:sp>
        <p:nvSpPr>
          <p:cNvPr id="16" name="Rounded Rectangle 15"/>
          <p:cNvSpPr/>
          <p:nvPr/>
        </p:nvSpPr>
        <p:spPr>
          <a:xfrm>
            <a:off x="548640" y="3496056"/>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Introduce, state the reason, confirm 2 facts, summarize and close. About 90 seconds.</a:t>
            </a:r>
          </a:p>
        </p:txBody>
      </p:sp>
      <p:sp>
        <p:nvSpPr>
          <p:cNvPr id="18" name="Rounded Rectangle 17"/>
          <p:cNvSpPr/>
          <p:nvPr/>
        </p:nvSpPr>
        <p:spPr>
          <a:xfrm>
            <a:off x="548640" y="42214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42214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79450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5178552"/>
            <a:ext cx="3576218" cy="103936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The client says: “It’s not a good time.” Say: “No problem. When would be better?”</a:t>
            </a:r>
          </a:p>
        </p:txBody>
      </p:sp>
      <p:sp>
        <p:nvSpPr>
          <p:cNvPr id="22" name="Rounded Rectangle 21"/>
          <p:cNvSpPr/>
          <p:nvPr/>
        </p:nvSpPr>
        <p:spPr>
          <a:xfrm>
            <a:off x="4307738" y="5178552"/>
            <a:ext cx="3576218" cy="103936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You reach voicemail. Leave a 20-second message (name, company, reason, number).</a:t>
            </a:r>
          </a:p>
        </p:txBody>
      </p:sp>
      <p:sp>
        <p:nvSpPr>
          <p:cNvPr id="23" name="Rounded Rectangle 22"/>
          <p:cNvSpPr/>
          <p:nvPr/>
        </p:nvSpPr>
        <p:spPr>
          <a:xfrm>
            <a:off x="8066836" y="5178552"/>
            <a:ext cx="3576218" cy="103936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FFFFFF"/>
                </a:solidFill>
                <a:latin typeface="Arial"/>
                <a:ea typeface="Microsoft YaHei"/>
              </a:rPr>
              <a:t>The client gives you wrong information. Say: “I’m sorry, I think my information says Friday the 16th. Could we check?”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Getting past the gatekeeper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通过前台/助理找到负责人</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call a new supplier. The assistant says the manager is in a meeting.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caller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Emma Zhou, assistant</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Getting past the gatekeeper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This is Li Wei from Orion Foods. Could I speak to Mr Tan, please?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Emma</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Mr Tan is in a meeting at the moment. Can I take a message?</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please. I’m calling about the quotation he sent last week. When do you expect him to be free?</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 should be out by about eleven.</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Getting past the gatekeeper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Could you ask him to call me back this morning? My number is 021 5555 0100.</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read that back: zero two one, five five five five, zero one zero zero. Is that right?</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that’s right. If he’s not free before noon, I’ll try his mobile.</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I can’t give out his mobile number, but I’ll pass your message on.</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Getting past the gatekeeper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Thank you very much, Emma. I’ll try again after lunch if I don’t hear from him.</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Fine. I’ll make sure he gets the message.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Goodbye.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Goodbye.</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Getting past the gatekeeper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Your contact is not available.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Polite and persistent.</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Assistant. Helpful but careful.</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afraid… · Can I take a message? · Could you ask him to call me back? · I’ll try again later.</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Leave a clear message and agree when you will call again.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assistant asks “What is it regarding?” Answer in one sentence.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Emphasize urgency without being rude: “It’s quite time-sensitive, so I’d be grateful if he could call me today.”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You have to spell your name and company.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prefer making phone calls or sending emails? Why?</a:t>
            </a:r>
          </a:p>
          <a:p>
            <a:pPr algn="l">
              <a:lnSpc>
                <a:spcPct val="115000"/>
              </a:lnSpc>
              <a:spcAft>
                <a:spcPts val="800"/>
              </a:spcAft>
            </a:pPr>
            <a:r>
              <a:rPr sz="1400" b="0">
                <a:solidFill>
                  <a:srgbClr val="5F677A"/>
                </a:solidFill>
                <a:latin typeface="Arial"/>
                <a:ea typeface="Microsoft YaHei"/>
              </a:rPr>
              <a:t>💬 “I prefer… because I can…” / “It depends on how urgent the matter is.”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should you do before an important call?</a:t>
            </a:r>
          </a:p>
          <a:p>
            <a:pPr algn="l">
              <a:lnSpc>
                <a:spcPct val="115000"/>
              </a:lnSpc>
              <a:spcAft>
                <a:spcPts val="800"/>
              </a:spcAft>
            </a:pPr>
            <a:r>
              <a:rPr sz="1400" b="0">
                <a:solidFill>
                  <a:srgbClr val="5F677A"/>
                </a:solidFill>
                <a:latin typeface="Arial"/>
                <a:ea typeface="Microsoft YaHei"/>
              </a:rPr>
              <a:t>💬 “I make notes of…” / “I check the time zone and…”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politely get past an assistant who says the boss is busy?</a:t>
            </a:r>
          </a:p>
          <a:p>
            <a:pPr algn="l">
              <a:lnSpc>
                <a:spcPct val="115000"/>
              </a:lnSpc>
              <a:spcAft>
                <a:spcPts val="800"/>
              </a:spcAft>
            </a:pPr>
            <a:r>
              <a:rPr sz="1400" b="0">
                <a:solidFill>
                  <a:srgbClr val="5F677A"/>
                </a:solidFill>
                <a:latin typeface="Arial"/>
                <a:ea typeface="Microsoft YaHei"/>
              </a:rPr>
              <a:t>💬 “I’m friendly and I explain why I call.” / “I ask when it’s a good time to call back.”</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long should a business call be? Why?</a:t>
            </a:r>
          </a:p>
          <a:p>
            <a:pPr algn="l">
              <a:lnSpc>
                <a:spcPct val="115000"/>
              </a:lnSpc>
              <a:spcAft>
                <a:spcPts val="800"/>
              </a:spcAft>
            </a:pPr>
            <a:r>
              <a:rPr sz="1400" b="0">
                <a:solidFill>
                  <a:srgbClr val="5F677A"/>
                </a:solidFill>
                <a:latin typeface="Arial"/>
                <a:ea typeface="Microsoft YaHei"/>
              </a:rPr>
              <a:t>💬 “Most calls should take…” / “If it’s too long, I switch to email.”</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if you call the wrong number?</a:t>
            </a:r>
          </a:p>
          <a:p>
            <a:pPr algn="l">
              <a:lnSpc>
                <a:spcPct val="115000"/>
              </a:lnSpc>
              <a:spcAft>
                <a:spcPts val="800"/>
              </a:spcAft>
            </a:pPr>
            <a:r>
              <a:rPr sz="1400" b="0">
                <a:solidFill>
                  <a:srgbClr val="5F677A"/>
                </a:solidFill>
                <a:latin typeface="Arial"/>
                <a:ea typeface="Microsoft YaHei"/>
              </a:rPr>
              <a:t>💬 “I would apologize and…” / “I’d say, ‘Sorry to bother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Before an important call, I make short notes: who I’m calling, why I’m calling, and what I want to happen at the end. I also check the time zone, so I don’t call too early or too late. I decide the three questions I need to ask, and I have the documents ready. When the call starts, I don’t have to look for things, and I sound more confident. After the call, I send a short email to confirm what we agreed.</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“so I don’t call too early” 中 so 引导目的。“check the time zone”(确认时区)。注意 “who I’m calling, why I’m calling” 是名词性从句,用陈述语序。</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Phone-language script: outgoing calls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去电话术</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Greet + identify</a:t>
                      </a:r>
                    </a:p>
                  </a:txBody>
                  <a:tcPr anchor="ctr">
                    <a:solidFill>
                      <a:srgbClr val="FFFFFF"/>
                    </a:solidFill>
                  </a:tcPr>
                </a:tc>
                <a:tc>
                  <a:txBody>
                    <a:bodyPr wrap="square"/>
                    <a:lstStyle/>
                    <a:p>
                      <a:r>
                        <a:rPr sz="1600" b="0">
                          <a:solidFill>
                            <a:srgbClr val="1F2A44"/>
                          </a:solidFill>
                          <a:latin typeface="Arial"/>
                          <a:ea typeface="Microsoft YaHei"/>
                        </a:rPr>
                        <a:t>Hello, this is [Name] from [Company].</a:t>
                      </a:r>
                    </a:p>
                  </a:txBody>
                  <a:tcPr anchor="ctr">
                    <a:solidFill>
                      <a:srgbClr val="FFFFFF"/>
                    </a:solidFill>
                  </a:tcPr>
                </a:tc>
              </a:tr>
              <a:tr h="652272">
                <a:tc>
                  <a:txBody>
                    <a:bodyPr wrap="square"/>
                    <a:lstStyle/>
                    <a:p>
                      <a:r>
                        <a:rPr sz="1600" b="1">
                          <a:solidFill>
                            <a:srgbClr val="1F2A44"/>
                          </a:solidFill>
                          <a:latin typeface="Arial"/>
                          <a:ea typeface="Microsoft YaHei"/>
                        </a:rPr>
                        <a:t>Ask for the person</a:t>
                      </a:r>
                    </a:p>
                  </a:txBody>
                  <a:tcPr anchor="ctr">
                    <a:solidFill>
                      <a:srgbClr val="FFEFD9"/>
                    </a:solidFill>
                  </a:tcPr>
                </a:tc>
                <a:tc>
                  <a:txBody>
                    <a:bodyPr wrap="square"/>
                    <a:lstStyle/>
                    <a:p>
                      <a:r>
                        <a:rPr sz="1600" b="0">
                          <a:solidFill>
                            <a:srgbClr val="1F2A44"/>
                          </a:solidFill>
                          <a:latin typeface="Arial"/>
                          <a:ea typeface="Microsoft YaHei"/>
                        </a:rPr>
                        <a:t>Could I speak to [Name], please? / Could you put me through to [Name / department]?</a:t>
                      </a:r>
                    </a:p>
                  </a:txBody>
                  <a:tcPr anchor="ctr">
                    <a:solidFill>
                      <a:srgbClr val="FFEFD9"/>
                    </a:solidFill>
                  </a:tcPr>
                </a:tc>
              </a:tr>
              <a:tr h="652272">
                <a:tc>
                  <a:txBody>
                    <a:bodyPr wrap="square"/>
                    <a:lstStyle/>
                    <a:p>
                      <a:r>
                        <a:rPr sz="1600" b="1">
                          <a:solidFill>
                            <a:srgbClr val="1F2A44"/>
                          </a:solidFill>
                          <a:latin typeface="Arial"/>
                          <a:ea typeface="Microsoft YaHei"/>
                        </a:rPr>
                        <a:t>Reason</a:t>
                      </a:r>
                    </a:p>
                  </a:txBody>
                  <a:tcPr anchor="ctr">
                    <a:solidFill>
                      <a:srgbClr val="FFFFFF"/>
                    </a:solidFill>
                  </a:tcPr>
                </a:tc>
                <a:tc>
                  <a:txBody>
                    <a:bodyPr wrap="square"/>
                    <a:lstStyle/>
                    <a:p>
                      <a:r>
                        <a:rPr sz="1600" b="0">
                          <a:solidFill>
                            <a:srgbClr val="1F2A44"/>
                          </a:solidFill>
                          <a:latin typeface="Arial"/>
                          <a:ea typeface="Microsoft YaHei"/>
                        </a:rPr>
                        <a:t>I’m calling about / regarding… / I’m calling to ask / confirm…</a:t>
                      </a:r>
                    </a:p>
                  </a:txBody>
                  <a:tcPr anchor="ctr">
                    <a:solidFill>
                      <a:srgbClr val="FFFFFF"/>
                    </a:solidFill>
                  </a:tcPr>
                </a:tc>
              </a:tr>
              <a:tr h="408432">
                <a:tc>
                  <a:txBody>
                    <a:bodyPr wrap="square"/>
                    <a:lstStyle/>
                    <a:p>
                      <a:r>
                        <a:rPr sz="1600" b="1">
                          <a:solidFill>
                            <a:srgbClr val="1F2A44"/>
                          </a:solidFill>
                          <a:latin typeface="Arial"/>
                          <a:ea typeface="Microsoft YaHei"/>
                        </a:rPr>
                        <a:t>Check time</a:t>
                      </a:r>
                    </a:p>
                  </a:txBody>
                  <a:tcPr anchor="ctr">
                    <a:solidFill>
                      <a:srgbClr val="FFEFD9"/>
                    </a:solidFill>
                  </a:tcPr>
                </a:tc>
                <a:tc>
                  <a:txBody>
                    <a:bodyPr wrap="square"/>
                    <a:lstStyle/>
                    <a:p>
                      <a:r>
                        <a:rPr sz="1600" b="0">
                          <a:solidFill>
                            <a:srgbClr val="1F2A44"/>
                          </a:solidFill>
                          <a:latin typeface="Arial"/>
                          <a:ea typeface="Microsoft YaHei"/>
                        </a:rPr>
                        <a:t>Is this a good time to talk? ★</a:t>
                      </a:r>
                    </a:p>
                  </a:txBody>
                  <a:tcPr anchor="ctr">
                    <a:solidFill>
                      <a:srgbClr val="FFEFD9"/>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Phone-language script: outgoing calls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去电话术</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Information</a:t>
                      </a:r>
                    </a:p>
                  </a:txBody>
                  <a:tcPr anchor="ctr">
                    <a:solidFill>
                      <a:srgbClr val="FFFFFF"/>
                    </a:solidFill>
                  </a:tcPr>
                </a:tc>
                <a:tc>
                  <a:txBody>
                    <a:bodyPr wrap="square"/>
                    <a:lstStyle/>
                    <a:p>
                      <a:r>
                        <a:rPr sz="1600" b="0">
                          <a:solidFill>
                            <a:srgbClr val="1F2A44"/>
                          </a:solidFill>
                          <a:latin typeface="Arial"/>
                          <a:ea typeface="Microsoft YaHei"/>
                        </a:rPr>
                        <a:t>Could I just check…? / Could you tell me…?</a:t>
                      </a:r>
                    </a:p>
                  </a:txBody>
                  <a:tcPr anchor="ctr">
                    <a:solidFill>
                      <a:srgbClr val="FFFFFF"/>
                    </a:solidFill>
                  </a:tcPr>
                </a:tc>
              </a:tr>
              <a:tr h="408432">
                <a:tc>
                  <a:txBody>
                    <a:bodyPr wrap="square"/>
                    <a:lstStyle/>
                    <a:p>
                      <a:r>
                        <a:rPr sz="1600" b="1">
                          <a:solidFill>
                            <a:srgbClr val="1F2A44"/>
                          </a:solidFill>
                          <a:latin typeface="Arial"/>
                          <a:ea typeface="Microsoft YaHei"/>
                        </a:rPr>
                        <a:t>Confirm</a:t>
                      </a:r>
                    </a:p>
                  </a:txBody>
                  <a:tcPr anchor="ctr">
                    <a:solidFill>
                      <a:srgbClr val="FFEFD9"/>
                    </a:solidFill>
                  </a:tcPr>
                </a:tc>
                <a:tc>
                  <a:txBody>
                    <a:bodyPr wrap="square"/>
                    <a:lstStyle/>
                    <a:p>
                      <a:r>
                        <a:rPr sz="1600" b="0">
                          <a:solidFill>
                            <a:srgbClr val="1F2A44"/>
                          </a:solidFill>
                          <a:latin typeface="Arial"/>
                          <a:ea typeface="Microsoft YaHei"/>
                        </a:rPr>
                        <a:t>Just to confirm, … ★ / So, to summarize, …</a:t>
                      </a:r>
                    </a:p>
                  </a:txBody>
                  <a:tcPr anchor="ctr">
                    <a:solidFill>
                      <a:srgbClr val="FFEFD9"/>
                    </a:solidFill>
                  </a:tcPr>
                </a:tc>
              </a:tr>
              <a:tr h="408432">
                <a:tc>
                  <a:txBody>
                    <a:bodyPr wrap="square"/>
                    <a:lstStyle/>
                    <a:p>
                      <a:r>
                        <a:rPr sz="1600" b="1">
                          <a:solidFill>
                            <a:srgbClr val="1F2A44"/>
                          </a:solidFill>
                          <a:latin typeface="Arial"/>
                          <a:ea typeface="Microsoft YaHei"/>
                        </a:rPr>
                        <a:t>Leave a message</a:t>
                      </a:r>
                    </a:p>
                  </a:txBody>
                  <a:tcPr anchor="ctr">
                    <a:solidFill>
                      <a:srgbClr val="FFFFFF"/>
                    </a:solidFill>
                  </a:tcPr>
                </a:tc>
                <a:tc>
                  <a:txBody>
                    <a:bodyPr wrap="square"/>
                    <a:lstStyle/>
                    <a:p>
                      <a:r>
                        <a:rPr sz="1600" b="0">
                          <a:solidFill>
                            <a:srgbClr val="1F2A44"/>
                          </a:solidFill>
                          <a:latin typeface="Arial"/>
                          <a:ea typeface="Microsoft YaHei"/>
                        </a:rPr>
                        <a:t>Could you ask him to call me back? My number is…</a:t>
                      </a:r>
                    </a:p>
                  </a:txBody>
                  <a:tcPr anchor="ctr">
                    <a:solidFill>
                      <a:srgbClr val="FFFFFF"/>
                    </a:solidFill>
                  </a:tcPr>
                </a:tc>
              </a:tr>
              <a:tr h="652272">
                <a:tc>
                  <a:txBody>
                    <a:bodyPr wrap="square"/>
                    <a:lstStyle/>
                    <a:p>
                      <a:r>
                        <a:rPr sz="1600" b="1">
                          <a:solidFill>
                            <a:srgbClr val="1F2A44"/>
                          </a:solidFill>
                          <a:latin typeface="Arial"/>
                          <a:ea typeface="Microsoft YaHei"/>
                        </a:rPr>
                        <a:t>Close</a:t>
                      </a:r>
                    </a:p>
                  </a:txBody>
                  <a:tcPr anchor="ctr">
                    <a:solidFill>
                      <a:srgbClr val="FFEFD9"/>
                    </a:solidFill>
                  </a:tcPr>
                </a:tc>
                <a:tc>
                  <a:txBody>
                    <a:bodyPr wrap="square"/>
                    <a:lstStyle/>
                    <a:p>
                      <a:r>
                        <a:rPr sz="1600" b="0">
                          <a:solidFill>
                            <a:srgbClr val="1F2A44"/>
                          </a:solidFill>
                          <a:latin typeface="Arial"/>
                          <a:ea typeface="Microsoft YaHei"/>
                        </a:rPr>
                        <a:t>Thank you for your time. I’ll follow up with an email. Goodbye.</a:t>
                      </a:r>
                    </a:p>
                  </a:txBody>
                  <a:tcPr anchor="ctr">
                    <a:solidFill>
                      <a:srgbClr val="FFEFD9"/>
                    </a:solidFill>
                  </a:tcPr>
                </a:tc>
              </a:tr>
            </a:tbl>
          </a:graphicData>
        </a:graphic>
      </p:graphicFrame>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Voicemail structure: 20 seconds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语音留言结构</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Name and company: </a:t>
            </a:r>
            <a:r>
              <a:rPr sz="1700" b="0">
                <a:solidFill>
                  <a:srgbClr val="1F2A44"/>
                </a:solidFill>
                <a:latin typeface="Arial"/>
                <a:ea typeface="Microsoft YaHei"/>
              </a:rPr>
              <a:t>“Hello, this is Li Wei from Orion Foods.”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Reason: </a:t>
            </a:r>
            <a:r>
              <a:rPr sz="1700" b="0">
                <a:solidFill>
                  <a:srgbClr val="1F2A44"/>
                </a:solidFill>
                <a:latin typeface="Arial"/>
                <a:ea typeface="Microsoft YaHei"/>
              </a:rPr>
              <a:t>“I’m calling about the delivery of 16 October.”</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Request: </a:t>
            </a:r>
            <a:r>
              <a:rPr sz="1700" b="0">
                <a:solidFill>
                  <a:srgbClr val="1F2A44"/>
                </a:solidFill>
                <a:latin typeface="Arial"/>
                <a:ea typeface="Microsoft YaHei"/>
              </a:rPr>
              <a:t>“Could you call me back?”</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Number (slowly, twice): </a:t>
            </a:r>
            <a:r>
              <a:rPr sz="1700" b="0">
                <a:solidFill>
                  <a:srgbClr val="1F2A44"/>
                </a:solidFill>
                <a:latin typeface="Arial"/>
                <a:ea typeface="Microsoft YaHei"/>
              </a:rPr>
              <a:t>“My number is 021 5555 0100. That’s 021 5555 0100.”</a:t>
            </a:r>
          </a:p>
        </p:txBody>
      </p:sp>
      <p:sp>
        <p:nvSpPr>
          <p:cNvPr id="21" name="Rounded Rectangle 20"/>
          <p:cNvSpPr/>
          <p:nvPr/>
        </p:nvSpPr>
        <p:spPr>
          <a:xfrm>
            <a:off x="548640" y="355091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55091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550916"/>
            <a:ext cx="10728655" cy="441959"/>
          </a:xfrm>
          <a:prstGeom prst="rect">
            <a:avLst/>
          </a:prstGeom>
          <a:noFill/>
        </p:spPr>
        <p:txBody>
          <a:bodyPr wrap="square" anchor="ctr">
            <a:spAutoFit/>
          </a:bodyPr>
          <a:lstStyle/>
          <a:p>
            <a:r>
              <a:rPr sz="1700" b="1">
                <a:solidFill>
                  <a:srgbClr val="9B6BE0"/>
                </a:solidFill>
                <a:latin typeface="Arial"/>
                <a:ea typeface="Microsoft YaHei"/>
              </a:rPr>
              <a:t>Close: </a:t>
            </a:r>
            <a:r>
              <a:rPr sz="1700" b="0">
                <a:solidFill>
                  <a:srgbClr val="1F2A44"/>
                </a:solidFill>
                <a:latin typeface="Arial"/>
                <a:ea typeface="Microsoft YaHei"/>
              </a:rPr>
              <a:t>“Thank you. Goodbye.”</a:t>
            </a:r>
          </a:p>
        </p:txBody>
      </p:sp>
      <p:sp>
        <p:nvSpPr>
          <p:cNvPr id="24" name="Rounded Rectangle 23"/>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留言要短,先说姓名公司,电话号码说两遍,每一组数字之间停顿一下。</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find Mr Tan.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I speak to Mr Tan, please?</a:t>
            </a:r>
          </a:p>
          <a:p>
            <a:pPr algn="l">
              <a:spcAft>
                <a:spcPts val="200"/>
              </a:spcAft>
            </a:pPr>
            <a:r>
              <a:rPr sz="1200" b="0">
                <a:solidFill>
                  <a:srgbClr val="FFFFFF"/>
                </a:solidFill>
                <a:latin typeface="Arial"/>
                <a:ea typeface="Microsoft YaHei"/>
              </a:rPr>
              <a:t>find 不用于打电话,用 speak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are Mr Tan?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Is that Mr Tan? / Am I speaking to Mr Tan?</a:t>
            </a:r>
          </a:p>
          <a:p>
            <a:pPr algn="l">
              <a:spcAft>
                <a:spcPts val="200"/>
              </a:spcAft>
            </a:pPr>
            <a:r>
              <a:rPr sz="1200" b="0">
                <a:solidFill>
                  <a:srgbClr val="FFFFFF"/>
                </a:solidFill>
                <a:latin typeface="Arial"/>
                <a:ea typeface="Microsoft YaHei"/>
              </a:rPr>
              <a:t>确认对方身份</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am calling for your price.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calling about your prices.</a:t>
            </a:r>
          </a:p>
          <a:p>
            <a:pPr algn="l">
              <a:spcAft>
                <a:spcPts val="200"/>
              </a:spcAft>
            </a:pPr>
            <a:r>
              <a:rPr sz="1200" b="0">
                <a:solidFill>
                  <a:srgbClr val="FFFFFF"/>
                </a:solidFill>
                <a:latin typeface="Arial"/>
                <a:ea typeface="Microsoft YaHei"/>
              </a:rPr>
              <a:t>call about</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I’ll call you in 3 p.m.</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call you at 3 p.m.</a:t>
            </a:r>
          </a:p>
          <a:p>
            <a:pPr algn="l">
              <a:spcAft>
                <a:spcPts val="200"/>
              </a:spcAft>
            </a:pPr>
            <a:r>
              <a:rPr sz="1200" b="0">
                <a:solidFill>
                  <a:srgbClr val="FFFFFF"/>
                </a:solidFill>
                <a:latin typeface="Arial"/>
                <a:ea typeface="Microsoft YaHei"/>
              </a:rPr>
              <a:t>钟点用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tell him call me back.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ask him to call me back?</a:t>
            </a:r>
          </a:p>
          <a:p>
            <a:pPr algn="l">
              <a:spcAft>
                <a:spcPts val="200"/>
              </a:spcAft>
            </a:pPr>
            <a:r>
              <a:rPr sz="1200" b="0">
                <a:solidFill>
                  <a:srgbClr val="FFFFFF"/>
                </a:solidFill>
                <a:latin typeface="Arial"/>
                <a:ea typeface="Microsoft YaHei"/>
              </a:rPr>
              <a:t>ask sb to do sth</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Just to confirmation, …</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Just to confirm, …</a:t>
            </a:r>
          </a:p>
          <a:p>
            <a:pPr algn="l">
              <a:spcAft>
                <a:spcPts val="200"/>
              </a:spcAft>
            </a:pPr>
            <a:r>
              <a:rPr sz="1200" b="0">
                <a:solidFill>
                  <a:srgbClr val="FFFFFF"/>
                </a:solidFill>
                <a:latin typeface="Arial"/>
                <a:ea typeface="Microsoft YaHei"/>
              </a:rPr>
              <a:t>confirm 动词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Thanks for your attention.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your time.</a:t>
            </a:r>
          </a:p>
          <a:p>
            <a:pPr algn="l">
              <a:spcAft>
                <a:spcPts val="200"/>
              </a:spcAft>
            </a:pPr>
            <a:r>
              <a:rPr sz="1200" b="0">
                <a:solidFill>
                  <a:srgbClr val="FFFFFF"/>
                </a:solidFill>
                <a:latin typeface="Arial"/>
                <a:ea typeface="Microsoft YaHei"/>
              </a:rPr>
              <a:t>电话/会议结束用 your time</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retun / comfirm</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return / confirm</a:t>
            </a:r>
          </a:p>
          <a:p>
            <a:pPr algn="l">
              <a:spcAft>
                <a:spcPts val="200"/>
              </a:spcAft>
            </a:pPr>
            <a:r>
              <a:rPr sz="1200" b="0">
                <a:solidFill>
                  <a:srgbClr val="FFFFFF"/>
                </a:solidFill>
                <a:latin typeface="Arial"/>
                <a:ea typeface="Microsoft YaHei"/>
              </a:rPr>
              <a:t>拼写</a:t>
            </a:r>
          </a:p>
        </p:txBody>
      </p:sp>
      <p:sp>
        <p:nvSpPr>
          <p:cNvPr id="23" name="Rounded Rectangle 2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Use could / would when you ask: Could I speak to…? Could you ask him to…? Don’t say “I want…” on the phone.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Ask “Is this a good time?” In English business culture, you don’t assume that the other person is free. This question is polite and normal.</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Time zones: </a:t>
            </a:r>
            <a:r>
              <a:rPr sz="1700" b="0">
                <a:solidFill>
                  <a:srgbClr val="1F2A44"/>
                </a:solidFill>
                <a:latin typeface="Arial"/>
                <a:ea typeface="Microsoft YaHei"/>
              </a:rPr>
              <a:t>Check before you call. 9 a.m. in Shanghai is 1 a.m. in London (in winter) and 8 p.m. the day before in New York. Use “My morning, your evening” to talk about time.</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0">
                <a:solidFill>
                  <a:srgbClr val="1F2A44"/>
                </a:solidFill>
                <a:latin typeface="Arial"/>
                <a:ea typeface="Microsoft YaHei"/>
              </a:rPr>
              <a:t>Leave short messages. A voicemail longer than 30 seconds is unlikely to be heard to the end.</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0">
                <a:solidFill>
                  <a:srgbClr val="1F2A44"/>
                </a:solidFill>
                <a:latin typeface="Arial"/>
                <a:ea typeface="Microsoft YaHei"/>
              </a:rPr>
              <a:t>Don’t ask for personal mobile numbers. Gatekeepers may not be allowed to share them. Leave your number instead.</a:t>
            </a:r>
          </a:p>
        </p:txBody>
      </p:sp>
      <p:sp>
        <p:nvSpPr>
          <p:cNvPr id="21" name="Rounded Rectangle 20"/>
          <p:cNvSpPr/>
          <p:nvPr/>
        </p:nvSpPr>
        <p:spPr>
          <a:xfrm>
            <a:off x="548640" y="432815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701039"/>
          </a:xfrm>
          <a:prstGeom prst="rect">
            <a:avLst/>
          </a:prstGeom>
          <a:noFill/>
        </p:spPr>
        <p:txBody>
          <a:bodyPr wrap="square" anchor="ctr">
            <a:spAutoFit/>
          </a:bodyPr>
          <a:lstStyle/>
          <a:p>
            <a:r>
              <a:rPr sz="1700" b="0">
                <a:solidFill>
                  <a:srgbClr val="1F2A44"/>
                </a:solidFill>
                <a:latin typeface="Arial"/>
                <a:ea typeface="Microsoft YaHei"/>
              </a:rPr>
              <a:t>Follow up in writing. After the call, send an email: “Further to our call today…”. This is normal practice.</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start a call with Hello, this is… from… and ask for the right person.</a:t>
            </a:r>
          </a:p>
        </p:txBody>
      </p:sp>
      <p:sp>
        <p:nvSpPr>
          <p:cNvPr id="12" name="TextBox 11"/>
          <p:cNvSpPr txBox="1"/>
          <p:nvPr/>
        </p:nvSpPr>
        <p:spPr>
          <a:xfrm>
            <a:off x="9539935" y="1508760"/>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80488"/>
            <a:ext cx="11094415" cy="49072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80488"/>
            <a:ext cx="548640" cy="49072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80488"/>
            <a:ext cx="8168335" cy="4907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explain why I am calling (I’m calling about / to confirm…).</a:t>
            </a:r>
          </a:p>
        </p:txBody>
      </p:sp>
      <p:sp>
        <p:nvSpPr>
          <p:cNvPr id="16" name="TextBox 15"/>
          <p:cNvSpPr txBox="1"/>
          <p:nvPr/>
        </p:nvSpPr>
        <p:spPr>
          <a:xfrm>
            <a:off x="9539935" y="2380488"/>
            <a:ext cx="2011680" cy="49072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962656"/>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962656"/>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962656"/>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leave a clear message or voicemail with my name, number and request.</a:t>
            </a:r>
          </a:p>
        </p:txBody>
      </p:sp>
      <p:sp>
        <p:nvSpPr>
          <p:cNvPr id="20" name="TextBox 19"/>
          <p:cNvSpPr txBox="1"/>
          <p:nvPr/>
        </p:nvSpPr>
        <p:spPr>
          <a:xfrm>
            <a:off x="9539935" y="2962656"/>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834384"/>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834384"/>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834384"/>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confirm details with Just to confirm… and close with I’ll follow up with an email.</a:t>
            </a:r>
          </a:p>
        </p:txBody>
      </p:sp>
      <p:sp>
        <p:nvSpPr>
          <p:cNvPr id="24" name="TextBox 23"/>
          <p:cNvSpPr txBox="1"/>
          <p:nvPr/>
        </p:nvSpPr>
        <p:spPr>
          <a:xfrm>
            <a:off x="9539935" y="3834384"/>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706112"/>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706112"/>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706112"/>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use could for requests and phrasal verbs with pronouns (call you back).</a:t>
            </a:r>
          </a:p>
        </p:txBody>
      </p:sp>
      <p:sp>
        <p:nvSpPr>
          <p:cNvPr id="28" name="TextBox 27"/>
          <p:cNvSpPr txBox="1"/>
          <p:nvPr/>
        </p:nvSpPr>
        <p:spPr>
          <a:xfrm>
            <a:off x="9539935" y="4706112"/>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18 Outgoing calls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Could I speak to…?, call about, number reading, and phrasal verbs with pronouns.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5 · Lesson 19 When things go wrong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19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When things go wrong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当事情出错时</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handle problems on the phone professionally and honestly: bad connections, cut-off calls, late or damaged deliveries and mistakes. Explain the problem, listen to the other side, and agree on a solution.</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kind of problems do you meet on business calls (technical or business)?</a:t>
            </a:r>
          </a:p>
        </p:txBody>
      </p:sp>
      <p:sp>
        <p:nvSpPr>
          <p:cNvPr id="12" name="Oval 11"/>
          <p:cNvSpPr/>
          <p:nvPr/>
        </p:nvSpPr>
        <p:spPr>
          <a:xfrm>
            <a:off x="548640" y="2593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do you say when the line is bad or the call is cut off?</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complain about a problem politely?</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Tell me about a time when something went wrong with an order or delivery. What did you do?</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should a company respond when a customer complains?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题讲过去的事,请用过去式(went wrong, called, solved)。第 2 题可以说 “I say…”。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to handle a customer’s phone complaint about a late delivery.</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listen</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show understanding</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ask for details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give a solution</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confirm what happens next</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First, I listen carefully.   💬 Then I say, ‘I’m sorry to hear that.’   💬 I offer a solution such as…</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处理投诉的顺序:听 → 同理 → 问细节 → 给方案 → 确认。别一开始就辩解。</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1: Technical problems on the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通话中的技术问题</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line is bad. / It’s a bad line.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线路不好</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sorry, it’s a bad line. Could you say that again?”</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You’re breaking up.</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您的声音断断续续</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“You’re breaking up. Could you repeat that?”</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 seem to have been cut off.</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我们好像断线了</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seem to have been cut off. I’ll call you back.”</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can’t hear you very well.</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我听不太清</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can’t hear you very well. Could you speak up?”</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call you back on a landline.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我换座机给您回电话</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call you back on a landline. The signal is poor.”</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Describing the problem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描述问题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There’s a problem with…</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……出了问题</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problem with our order.”</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damaged / faulty / missing / late</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受损/有故障/缺失/迟到</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“Three boxes arrived damaged, and two are missing.”</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I’d like to make a complaint.</a:t>
            </a:r>
          </a:p>
          <a:p>
            <a:pPr algn="l">
              <a:lnSpc>
                <a:spcPct val="115000"/>
              </a:lnSpc>
              <a:spcAft>
                <a:spcPts val="800"/>
              </a:spcAft>
            </a:pPr>
            <a:r>
              <a:rPr sz="1300" b="0">
                <a:solidFill>
                  <a:srgbClr val="5F677A"/>
                </a:solidFill>
                <a:latin typeface="Arial"/>
                <a:ea typeface="Microsoft YaHei"/>
              </a:rPr>
              <a:t>phrase (formal)</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我要投诉</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make a complaint about the delivery.”</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seems to be the problem?</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请问是什么问题?</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seems to be the problem?”</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This is the second time this has happened.</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这已经是第二次出这样的问题</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“This is the second time this has happened.”</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Finding a solution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寻找解决办法</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 me look into it.</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让我调查一下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look into it and call you back in an hour.”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sort it out.</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我来处理好</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“Leave it with me. I’ll sort it out.”</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We’ll send a replacement. / a refund</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我们会补发/退款</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send a replacement by Friday, or give you a full refund.”</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letting us know.</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谢谢您告诉我们</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letting us know.”</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keep you posted.</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我会随时告诉您进展</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keep you posted on the investigation.”</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我要投诉</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I’d like to make a complaint.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我们会补发/退款</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We’ll send a replacement. / a refund</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请问是什么问题?</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What seems to be the problem?</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受损/有故障/缺失/迟到</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damaged / faulty / missing / late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我们好像断线了</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 seem to have been cut off.</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让我调查一下</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 me look into it.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我听不太清</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can’t hear you very well.</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线路不好</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The line is bad. / It’s a bad line.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cut</a:t>
            </a:r>
          </a:p>
        </p:txBody>
      </p:sp>
      <p:sp>
        <p:nvSpPr>
          <p:cNvPr id="10" name="Rounded Rectangle 9"/>
          <p:cNvSpPr/>
          <p:nvPr/>
        </p:nvSpPr>
        <p:spPr>
          <a:xfrm>
            <a:off x="2798064"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problem</a:t>
            </a:r>
          </a:p>
        </p:txBody>
      </p:sp>
      <p:sp>
        <p:nvSpPr>
          <p:cNvPr id="11" name="Rounded Rectangle 10"/>
          <p:cNvSpPr/>
          <p:nvPr/>
        </p:nvSpPr>
        <p:spPr>
          <a:xfrm>
            <a:off x="4023360"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damaged</a:t>
            </a:r>
          </a:p>
        </p:txBody>
      </p:sp>
      <p:sp>
        <p:nvSpPr>
          <p:cNvPr id="12" name="Rounded Rectangle 11"/>
          <p:cNvSpPr/>
          <p:nvPr/>
        </p:nvSpPr>
        <p:spPr>
          <a:xfrm>
            <a:off x="5248656"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look</a:t>
            </a:r>
          </a:p>
        </p:txBody>
      </p:sp>
      <p:sp>
        <p:nvSpPr>
          <p:cNvPr id="13" name="Rounded Rectangle 12"/>
          <p:cNvSpPr/>
          <p:nvPr/>
        </p:nvSpPr>
        <p:spPr>
          <a:xfrm>
            <a:off x="6144768"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line</a:t>
            </a:r>
          </a:p>
        </p:txBody>
      </p:sp>
      <p:sp>
        <p:nvSpPr>
          <p:cNvPr id="14" name="Rounded Rectangle 13"/>
          <p:cNvSpPr/>
          <p:nvPr/>
        </p:nvSpPr>
        <p:spPr>
          <a:xfrm>
            <a:off x="70408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replacement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I’m sorry, it’s a bad _______. Could you say that again?</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line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We seem to have been _______ off.</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Three boxes arrived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damaged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What seems to be the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problem</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Let me _______ into it and call you back.</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look</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We’ll send a _______ by Friday.</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replacement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damaged (not “damage” for adjective), replacement (not “replacment”), refund (noun and verb, stress on RE-fund / re-FUND). Say “look into it” (investigate), not “see into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A complaint about a damaged delivery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投诉到货受损</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customer calls to complain that part of the order arrived damaged. You are the supplier.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Anna Berg, supplier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Carlos Diaz, customer</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complaint about a damaged delivery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Anna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Nordic Steel, Anna Berg speaking. How can I help you?</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Carlos</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Anna. It’s Carlos Diaz. I’m afraid there’s a problem with our delivery.</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to hear that. What seems to be the problem?</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Three of the boxes arrived damaged, and two boxes are missing. This is the second time this has happened.</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very sorry, Carlos. I can understand how frustrating that must be. Can you give me the order number?</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2209-114.</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complaint about a damaged delivery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Let me look into it. Could you send me photos of the damaged boxes?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 can do that this afternoon.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We’ll send replacements for the damaged ones, and I’ll find out about the missing boxes today.</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When can I expect the replacements?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sort that out right away and keep you posted. I’ll call you back by five today.</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Thank you for dealing with it so quickly.</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A complaint about a damaged delivery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customer phones with a delivery problem.</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Supplier. Listen and offer a solution.</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Customer. Frustrated but reasonable.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sorry to hear that. · What seems to be the problem? · Let me look into it. · I’ll sort it out. · I’ll keep you posted.</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Apologize, get facts, offer a solution with a time, and agree on the next step.</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customer wants a refund. Say: “I understand. Could you tell me which would be better: a replacement or a refund?”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what you can’t do: “I’m afraid I can’t promise a date yet, but I’ll find out and call you by three.”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customer says: “This is not acceptable.” Stay calm and polite.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A bad line and a cut-off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线路不好、通话中断</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are on a call with a client who has a poor signal. The call is cut off, and you call back.</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Park, client in Seoul</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A bad line and a cut-off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Mr Park. Can you hear me OK?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Park</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Li Wei. I can hear you, but the line is not very good.</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it better now? I’ll move closer to the window. … I’m sorry, you’re breaking up. Could you repeat that?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said, the delivery date is …</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I only heard “date”. I can’t hear you very well. Shall I call you back on your landline?</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call drops.)</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bad line and a cut-off call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(Li Wei calls again.) Hello, Mr Park? We seem to have been cut off.</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I’m in the lift. Let me go to the lobby. … Is that better?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Much better, thanks. You were saying the delivery date.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The delivery date is the 20th of November.</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20th of November. Just to confirm, that’s a Friday. I’ll note that. Thank you for your patience.</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Please send me an email to confirm.</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A bad line and a cut-off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Your call has a poor connection and gets cut off.</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Keep calm and polite.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In a place with a poor signal.</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You’re breaking up. · I can’t hear you very well. · We seem to have been cut off. · Just to confirm… · Let me call you back.</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Complete the call and confirm the key information in writing.</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call drops twice. Suggest changing to a video app or a landline.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only simple words so the other person understands even with a bad line.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End the call with an offer to continue by email: “Why don’t I send you an email with the details?”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problems do you often have on phone or video calls?</a:t>
            </a:r>
          </a:p>
          <a:p>
            <a:pPr algn="l">
              <a:lnSpc>
                <a:spcPct val="115000"/>
              </a:lnSpc>
              <a:spcAft>
                <a:spcPts val="800"/>
              </a:spcAft>
            </a:pPr>
            <a:r>
              <a:rPr sz="1400" b="0">
                <a:solidFill>
                  <a:srgbClr val="5F677A"/>
                </a:solidFill>
                <a:latin typeface="Arial"/>
                <a:ea typeface="Microsoft YaHei"/>
              </a:rPr>
              <a:t>💬 “The most common problem is…” / “Sometimes the sound is…”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should a company do when a delivery goes wrong?</a:t>
            </a:r>
          </a:p>
          <a:p>
            <a:pPr algn="l">
              <a:lnSpc>
                <a:spcPct val="115000"/>
              </a:lnSpc>
              <a:spcAft>
                <a:spcPts val="800"/>
              </a:spcAft>
            </a:pPr>
            <a:r>
              <a:rPr sz="1400" b="0">
                <a:solidFill>
                  <a:srgbClr val="5F677A"/>
                </a:solidFill>
                <a:latin typeface="Arial"/>
                <a:ea typeface="Microsoft YaHei"/>
              </a:rPr>
              <a:t>💬 “First, they should apologize.” / “They should find the cause and…”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stay calm when a customer is angry?</a:t>
            </a:r>
          </a:p>
          <a:p>
            <a:pPr algn="l">
              <a:lnSpc>
                <a:spcPct val="115000"/>
              </a:lnSpc>
              <a:spcAft>
                <a:spcPts val="800"/>
              </a:spcAft>
            </a:pPr>
            <a:r>
              <a:rPr sz="1400" b="0">
                <a:solidFill>
                  <a:srgbClr val="5F677A"/>
                </a:solidFill>
                <a:latin typeface="Arial"/>
                <a:ea typeface="Microsoft YaHei"/>
              </a:rPr>
              <a:t>💬 “I try to breathe and…” / “I remember that the customer is angry about the problem, not about me.”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give a refund or a replacement?</a:t>
            </a:r>
          </a:p>
          <a:p>
            <a:pPr algn="l">
              <a:lnSpc>
                <a:spcPct val="115000"/>
              </a:lnSpc>
              <a:spcAft>
                <a:spcPts val="800"/>
              </a:spcAft>
            </a:pPr>
            <a:r>
              <a:rPr sz="1400" b="0">
                <a:solidFill>
                  <a:srgbClr val="5F677A"/>
                </a:solidFill>
                <a:latin typeface="Arial"/>
                <a:ea typeface="Microsoft YaHei"/>
              </a:rPr>
              <a:t>💬 “It depends on…” / “A replacement is better when the customer still needs the product.”</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make you a loyal customer after a problem?</a:t>
            </a:r>
          </a:p>
          <a:p>
            <a:pPr algn="l">
              <a:lnSpc>
                <a:spcPct val="115000"/>
              </a:lnSpc>
              <a:spcAft>
                <a:spcPts val="800"/>
              </a:spcAft>
            </a:pPr>
            <a:r>
              <a:rPr sz="1400" b="0">
                <a:solidFill>
                  <a:srgbClr val="5F677A"/>
                </a:solidFill>
                <a:latin typeface="Arial"/>
                <a:ea typeface="Microsoft YaHei"/>
              </a:rPr>
              <a:t>💬 “If the company… I would…” / “A fast reply and an honest answer would…”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try to remind myself that the customer is angry about the problem, not about me. I listen without interrupting, and I say,”I’m sorry to hear that. Let me look into it.” I don’t make excuses, and I focus on a solution. If I can’t solve it immediately, I give a time when I will call back, for example, “I’ll get back to you by five.” People are usually calmer when they know what will happen next.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“angry about the problem, not about me” 注意介词 about。“make excuses”(找借口)。“People are usually calmer when they know what will happen next.” 说明给出明确时间能让对方放心。</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Phone-language script: problems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电话中出现问题</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Situation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Bad line</a:t>
                      </a:r>
                    </a:p>
                  </a:txBody>
                  <a:tcPr anchor="ctr">
                    <a:solidFill>
                      <a:srgbClr val="FFFFFF"/>
                    </a:solidFill>
                  </a:tcPr>
                </a:tc>
                <a:tc>
                  <a:txBody>
                    <a:bodyPr wrap="square"/>
                    <a:lstStyle/>
                    <a:p>
                      <a:r>
                        <a:rPr sz="1600" b="0">
                          <a:solidFill>
                            <a:srgbClr val="1F2A44"/>
                          </a:solidFill>
                          <a:latin typeface="Arial"/>
                          <a:ea typeface="Microsoft YaHei"/>
                        </a:rPr>
                        <a:t>I’m afraid it’s a bad line. Could you say that again?</a:t>
                      </a:r>
                    </a:p>
                  </a:txBody>
                  <a:tcPr anchor="ctr">
                    <a:solidFill>
                      <a:srgbClr val="FFFFFF"/>
                    </a:solidFill>
                  </a:tcPr>
                </a:tc>
              </a:tr>
              <a:tr h="408432">
                <a:tc>
                  <a:txBody>
                    <a:bodyPr wrap="square"/>
                    <a:lstStyle/>
                    <a:p>
                      <a:r>
                        <a:rPr sz="1600" b="1">
                          <a:solidFill>
                            <a:srgbClr val="1F2A44"/>
                          </a:solidFill>
                          <a:latin typeface="Arial"/>
                          <a:ea typeface="Microsoft YaHei"/>
                        </a:rPr>
                        <a:t>Can’t hear</a:t>
                      </a:r>
                    </a:p>
                  </a:txBody>
                  <a:tcPr anchor="ctr">
                    <a:solidFill>
                      <a:srgbClr val="FFEFD9"/>
                    </a:solidFill>
                  </a:tcPr>
                </a:tc>
                <a:tc>
                  <a:txBody>
                    <a:bodyPr wrap="square"/>
                    <a:lstStyle/>
                    <a:p>
                      <a:r>
                        <a:rPr sz="1600" b="0">
                          <a:solidFill>
                            <a:srgbClr val="1F2A44"/>
                          </a:solidFill>
                          <a:latin typeface="Arial"/>
                          <a:ea typeface="Microsoft YaHei"/>
                        </a:rPr>
                        <a:t>I can’t hear you very well. Could you speak up?</a:t>
                      </a:r>
                    </a:p>
                  </a:txBody>
                  <a:tcPr anchor="ctr">
                    <a:solidFill>
                      <a:srgbClr val="FFEFD9"/>
                    </a:solidFill>
                  </a:tcPr>
                </a:tc>
              </a:tr>
              <a:tr h="408432">
                <a:tc>
                  <a:txBody>
                    <a:bodyPr wrap="square"/>
                    <a:lstStyle/>
                    <a:p>
                      <a:r>
                        <a:rPr sz="1600" b="1">
                          <a:solidFill>
                            <a:srgbClr val="1F2A44"/>
                          </a:solidFill>
                          <a:latin typeface="Arial"/>
                          <a:ea typeface="Microsoft YaHei"/>
                        </a:rPr>
                        <a:t>Breaking up</a:t>
                      </a:r>
                    </a:p>
                  </a:txBody>
                  <a:tcPr anchor="ctr">
                    <a:solidFill>
                      <a:srgbClr val="FFFFFF"/>
                    </a:solidFill>
                  </a:tcPr>
                </a:tc>
                <a:tc>
                  <a:txBody>
                    <a:bodyPr wrap="square"/>
                    <a:lstStyle/>
                    <a:p>
                      <a:r>
                        <a:rPr sz="1600" b="0">
                          <a:solidFill>
                            <a:srgbClr val="1F2A44"/>
                          </a:solidFill>
                          <a:latin typeface="Arial"/>
                          <a:ea typeface="Microsoft YaHei"/>
                        </a:rPr>
                        <a:t>You’re breaking up. ★</a:t>
                      </a:r>
                    </a:p>
                  </a:txBody>
                  <a:tcPr anchor="ctr">
                    <a:solidFill>
                      <a:srgbClr val="FFFFFF"/>
                    </a:solidFill>
                  </a:tcPr>
                </a:tc>
              </a:tr>
              <a:tr h="408432">
                <a:tc>
                  <a:txBody>
                    <a:bodyPr wrap="square"/>
                    <a:lstStyle/>
                    <a:p>
                      <a:r>
                        <a:rPr sz="1600" b="1">
                          <a:solidFill>
                            <a:srgbClr val="1F2A44"/>
                          </a:solidFill>
                          <a:latin typeface="Arial"/>
                          <a:ea typeface="Microsoft YaHei"/>
                        </a:rPr>
                        <a:t>Cut off</a:t>
                      </a:r>
                    </a:p>
                  </a:txBody>
                  <a:tcPr anchor="ctr">
                    <a:solidFill>
                      <a:srgbClr val="FFEFD9"/>
                    </a:solidFill>
                  </a:tcPr>
                </a:tc>
                <a:tc>
                  <a:txBody>
                    <a:bodyPr wrap="square"/>
                    <a:lstStyle/>
                    <a:p>
                      <a:r>
                        <a:rPr sz="1600" b="0">
                          <a:solidFill>
                            <a:srgbClr val="1F2A44"/>
                          </a:solidFill>
                          <a:latin typeface="Arial"/>
                          <a:ea typeface="Microsoft YaHei"/>
                        </a:rPr>
                        <a:t>We seem to have been cut off. I’ll call you back.</a:t>
                      </a:r>
                    </a:p>
                  </a:txBody>
                  <a:tcPr anchor="ctr">
                    <a:solidFill>
                      <a:srgbClr val="FFEFD9"/>
                    </a:solidFill>
                  </a:tcPr>
                </a:tc>
              </a:tr>
              <a:tr h="652272">
                <a:tc>
                  <a:txBody>
                    <a:bodyPr wrap="square"/>
                    <a:lstStyle/>
                    <a:p>
                      <a:r>
                        <a:rPr sz="1600" b="1">
                          <a:solidFill>
                            <a:srgbClr val="1F2A44"/>
                          </a:solidFill>
                          <a:latin typeface="Arial"/>
                          <a:ea typeface="Microsoft YaHei"/>
                        </a:rPr>
                        <a:t>Complain</a:t>
                      </a:r>
                    </a:p>
                  </a:txBody>
                  <a:tcPr anchor="ctr">
                    <a:solidFill>
                      <a:srgbClr val="FFFFFF"/>
                    </a:solidFill>
                  </a:tcPr>
                </a:tc>
                <a:tc>
                  <a:txBody>
                    <a:bodyPr wrap="square"/>
                    <a:lstStyle/>
                    <a:p>
                      <a:r>
                        <a:rPr sz="1600" b="0">
                          <a:solidFill>
                            <a:srgbClr val="1F2A44"/>
                          </a:solidFill>
                          <a:latin typeface="Arial"/>
                          <a:ea typeface="Microsoft YaHei"/>
                        </a:rPr>
                        <a:t>I’m calling about a problem with… / I’d like to make a complaint. ★</a:t>
                      </a:r>
                    </a:p>
                  </a:txBody>
                  <a:tcPr anchor="ctr">
                    <a:solidFill>
                      <a:srgbClr val="FFFFFF"/>
                    </a:solidFill>
                  </a:tcPr>
                </a:tc>
              </a:tr>
            </a:tbl>
          </a:graphicData>
        </a:graphic>
      </p:graphicFrame>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Phone-language script: problems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电话中出现问题</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Situation</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Respond</a:t>
                      </a:r>
                    </a:p>
                  </a:txBody>
                  <a:tcPr anchor="ctr">
                    <a:solidFill>
                      <a:srgbClr val="FFFFFF"/>
                    </a:solidFill>
                  </a:tcPr>
                </a:tc>
                <a:tc>
                  <a:txBody>
                    <a:bodyPr wrap="square"/>
                    <a:lstStyle/>
                    <a:p>
                      <a:r>
                        <a:rPr sz="1600" b="0">
                          <a:solidFill>
                            <a:srgbClr val="1F2A44"/>
                          </a:solidFill>
                          <a:latin typeface="Arial"/>
                          <a:ea typeface="Microsoft YaHei"/>
                        </a:rPr>
                        <a:t>I’m sorry to hear that. / I understand how frustrating this must be.</a:t>
                      </a:r>
                    </a:p>
                  </a:txBody>
                  <a:tcPr anchor="ctr">
                    <a:solidFill>
                      <a:srgbClr val="FFFFFF"/>
                    </a:solidFill>
                  </a:tcPr>
                </a:tc>
              </a:tr>
              <a:tr h="408432">
                <a:tc>
                  <a:txBody>
                    <a:bodyPr wrap="square"/>
                    <a:lstStyle/>
                    <a:p>
                      <a:r>
                        <a:rPr sz="1600" b="1">
                          <a:solidFill>
                            <a:srgbClr val="1F2A44"/>
                          </a:solidFill>
                          <a:latin typeface="Arial"/>
                          <a:ea typeface="Microsoft YaHei"/>
                        </a:rPr>
                        <a:t>Investigate</a:t>
                      </a:r>
                    </a:p>
                  </a:txBody>
                  <a:tcPr anchor="ctr">
                    <a:solidFill>
                      <a:srgbClr val="FFEFD9"/>
                    </a:solidFill>
                  </a:tcPr>
                </a:tc>
                <a:tc>
                  <a:txBody>
                    <a:bodyPr wrap="square"/>
                    <a:lstStyle/>
                    <a:p>
                      <a:r>
                        <a:rPr sz="1600" b="0">
                          <a:solidFill>
                            <a:srgbClr val="1F2A44"/>
                          </a:solidFill>
                          <a:latin typeface="Arial"/>
                          <a:ea typeface="Microsoft YaHei"/>
                        </a:rPr>
                        <a:t>Let me look into it. ★</a:t>
                      </a:r>
                    </a:p>
                  </a:txBody>
                  <a:tcPr anchor="ctr">
                    <a:solidFill>
                      <a:srgbClr val="FFEFD9"/>
                    </a:solidFill>
                  </a:tcPr>
                </a:tc>
              </a:tr>
              <a:tr h="408432">
                <a:tc>
                  <a:txBody>
                    <a:bodyPr wrap="square"/>
                    <a:lstStyle/>
                    <a:p>
                      <a:r>
                        <a:rPr sz="1600" b="1">
                          <a:solidFill>
                            <a:srgbClr val="1F2A44"/>
                          </a:solidFill>
                          <a:latin typeface="Arial"/>
                          <a:ea typeface="Microsoft YaHei"/>
                        </a:rPr>
                        <a:t>Solve</a:t>
                      </a:r>
                    </a:p>
                  </a:txBody>
                  <a:tcPr anchor="ctr">
                    <a:solidFill>
                      <a:srgbClr val="FFFFFF"/>
                    </a:solidFill>
                  </a:tcPr>
                </a:tc>
                <a:tc>
                  <a:txBody>
                    <a:bodyPr wrap="square"/>
                    <a:lstStyle/>
                    <a:p>
                      <a:r>
                        <a:rPr sz="1600" b="0">
                          <a:solidFill>
                            <a:srgbClr val="1F2A44"/>
                          </a:solidFill>
                          <a:latin typeface="Arial"/>
                          <a:ea typeface="Microsoft YaHei"/>
                        </a:rPr>
                        <a:t>We can send a replacement / refund / discount.</a:t>
                      </a:r>
                    </a:p>
                  </a:txBody>
                  <a:tcPr anchor="ctr">
                    <a:solidFill>
                      <a:srgbClr val="FFFFFF"/>
                    </a:solidFill>
                  </a:tcPr>
                </a:tc>
              </a:tr>
              <a:tr h="408432">
                <a:tc>
                  <a:txBody>
                    <a:bodyPr wrap="square"/>
                    <a:lstStyle/>
                    <a:p>
                      <a:r>
                        <a:rPr sz="1600" b="1">
                          <a:solidFill>
                            <a:srgbClr val="1F2A44"/>
                          </a:solidFill>
                          <a:latin typeface="Arial"/>
                          <a:ea typeface="Microsoft YaHei"/>
                        </a:rPr>
                        <a:t>Close</a:t>
                      </a:r>
                    </a:p>
                  </a:txBody>
                  <a:tcPr anchor="ctr">
                    <a:solidFill>
                      <a:srgbClr val="FFEFD9"/>
                    </a:solidFill>
                  </a:tcPr>
                </a:tc>
                <a:tc>
                  <a:txBody>
                    <a:bodyPr wrap="square"/>
                    <a:lstStyle/>
                    <a:p>
                      <a:r>
                        <a:rPr sz="1600" b="0">
                          <a:solidFill>
                            <a:srgbClr val="1F2A44"/>
                          </a:solidFill>
                          <a:latin typeface="Arial"/>
                          <a:ea typeface="Microsoft YaHei"/>
                        </a:rPr>
                        <a:t>I’ll keep you posted. ★ / I’ll call you back by…</a:t>
                      </a:r>
                    </a:p>
                  </a:txBody>
                  <a:tcPr anchor="ctr">
                    <a:solidFill>
                      <a:srgbClr val="FFEFD9"/>
                    </a:solidFill>
                  </a:tcPr>
                </a:tc>
              </a:tr>
            </a:tbl>
          </a:graphicData>
        </a:graphic>
      </p:graphicFrame>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Describing problems clearly: use facts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用事实描述问题</a:t>
            </a:r>
          </a:p>
        </p:txBody>
      </p:sp>
      <p:graphicFrame>
        <p:nvGraphicFramePr>
          <p:cNvPr id="9" name="Table 8"/>
          <p:cNvGraphicFramePr>
            <a:graphicFrameLocks noGrp="1"/>
          </p:cNvGraphicFramePr>
          <p:nvPr/>
        </p:nvGraphicFramePr>
        <p:xfrm>
          <a:off x="548640" y="1417320"/>
          <a:ext cx="11094415" cy="1877568"/>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Vague ✗</a:t>
                      </a:r>
                    </a:p>
                  </a:txBody>
                  <a:tcPr anchor="ctr">
                    <a:solidFill>
                      <a:srgbClr val="3CC49A"/>
                    </a:solidFill>
                  </a:tcPr>
                </a:tc>
                <a:tc>
                  <a:txBody>
                    <a:bodyPr wrap="square"/>
                    <a:lstStyle/>
                    <a:p>
                      <a:r>
                        <a:rPr sz="1600" b="1">
                          <a:solidFill>
                            <a:srgbClr val="FFFFFF"/>
                          </a:solidFill>
                          <a:latin typeface="Arial"/>
                          <a:ea typeface="Microsoft YaHei"/>
                        </a:rPr>
                        <a:t>Clear ✓</a:t>
                      </a:r>
                    </a:p>
                  </a:txBody>
                  <a:tcPr anchor="ctr">
                    <a:solidFill>
                      <a:srgbClr val="3CC49A"/>
                    </a:solidFill>
                  </a:tcPr>
                </a:tc>
              </a:tr>
              <a:tr h="408432">
                <a:tc>
                  <a:txBody>
                    <a:bodyPr wrap="square"/>
                    <a:lstStyle/>
                    <a:p>
                      <a:r>
                        <a:rPr sz="1600" b="1">
                          <a:solidFill>
                            <a:srgbClr val="1F2A44"/>
                          </a:solidFill>
                          <a:latin typeface="Arial"/>
                          <a:ea typeface="Microsoft YaHei"/>
                        </a:rPr>
                        <a:t>It’s broken.</a:t>
                      </a:r>
                    </a:p>
                  </a:txBody>
                  <a:tcPr anchor="ctr">
                    <a:solidFill>
                      <a:srgbClr val="FFFFFF"/>
                    </a:solidFill>
                  </a:tcPr>
                </a:tc>
                <a:tc>
                  <a:txBody>
                    <a:bodyPr wrap="square"/>
                    <a:lstStyle/>
                    <a:p>
                      <a:r>
                        <a:rPr sz="1600" b="0">
                          <a:solidFill>
                            <a:srgbClr val="1F2A44"/>
                          </a:solidFill>
                          <a:latin typeface="Arial"/>
                          <a:ea typeface="Microsoft YaHei"/>
                        </a:rPr>
                        <a:t>The screen is cracked and the machine won’t start.</a:t>
                      </a:r>
                    </a:p>
                  </a:txBody>
                  <a:tcPr anchor="ctr">
                    <a:solidFill>
                      <a:srgbClr val="FFFFFF"/>
                    </a:solidFill>
                  </a:tcPr>
                </a:tc>
              </a:tr>
              <a:tr h="652272">
                <a:tc>
                  <a:txBody>
                    <a:bodyPr wrap="square"/>
                    <a:lstStyle/>
                    <a:p>
                      <a:r>
                        <a:rPr sz="1600" b="1">
                          <a:solidFill>
                            <a:srgbClr val="1F2A44"/>
                          </a:solidFill>
                          <a:latin typeface="Arial"/>
                          <a:ea typeface="Microsoft YaHei"/>
                        </a:rPr>
                        <a:t>The delivery is bad.</a:t>
                      </a:r>
                    </a:p>
                  </a:txBody>
                  <a:tcPr anchor="ctr">
                    <a:solidFill>
                      <a:srgbClr val="FFEFD9"/>
                    </a:solidFill>
                  </a:tcPr>
                </a:tc>
                <a:tc>
                  <a:txBody>
                    <a:bodyPr wrap="square"/>
                    <a:lstStyle/>
                    <a:p>
                      <a:r>
                        <a:rPr sz="1600" b="0">
                          <a:solidFill>
                            <a:srgbClr val="1F2A44"/>
                          </a:solidFill>
                          <a:latin typeface="Arial"/>
                          <a:ea typeface="Microsoft YaHei"/>
                        </a:rPr>
                        <a:t>Three boxes arrived damaged, and two boxes are missing.</a:t>
                      </a:r>
                    </a:p>
                  </a:txBody>
                  <a:tcPr anchor="ctr">
                    <a:solidFill>
                      <a:srgbClr val="FFEFD9"/>
                    </a:solidFill>
                  </a:tcPr>
                </a:tc>
              </a:tr>
              <a:tr h="408432">
                <a:tc>
                  <a:txBody>
                    <a:bodyPr wrap="square"/>
                    <a:lstStyle/>
                    <a:p>
                      <a:r>
                        <a:rPr sz="1600" b="1">
                          <a:solidFill>
                            <a:srgbClr val="1F2A44"/>
                          </a:solidFill>
                          <a:latin typeface="Arial"/>
                          <a:ea typeface="Microsoft YaHei"/>
                        </a:rPr>
                        <a:t>It’s late.</a:t>
                      </a:r>
                    </a:p>
                  </a:txBody>
                  <a:tcPr anchor="ctr">
                    <a:solidFill>
                      <a:srgbClr val="FFFFFF"/>
                    </a:solidFill>
                  </a:tcPr>
                </a:tc>
                <a:tc>
                  <a:txBody>
                    <a:bodyPr wrap="square"/>
                    <a:lstStyle/>
                    <a:p>
                      <a:r>
                        <a:rPr sz="1600" b="0">
                          <a:solidFill>
                            <a:srgbClr val="1F2A44"/>
                          </a:solidFill>
                          <a:latin typeface="Arial"/>
                          <a:ea typeface="Microsoft YaHei"/>
                        </a:rPr>
                        <a:t>It was due on Monday and hasn’t arrived yet.</a:t>
                      </a:r>
                    </a:p>
                  </a:txBody>
                  <a:tcPr anchor="ctr">
                    <a:solidFill>
                      <a:srgbClr val="FFFFFF"/>
                    </a:solidFill>
                  </a:tcPr>
                </a:tc>
              </a:tr>
            </a:tbl>
          </a:graphicData>
        </a:graphic>
      </p:graphicFrame>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Describing problems clearly: use facts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用事实描述问题</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Do: </a:t>
            </a:r>
            <a:r>
              <a:rPr sz="1700" b="0">
                <a:solidFill>
                  <a:srgbClr val="1F2A44"/>
                </a:solidFill>
                <a:latin typeface="Arial"/>
                <a:ea typeface="Microsoft YaHei"/>
              </a:rPr>
              <a:t>say what happened, when, how many, and what you want.</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Don’t: </a:t>
            </a:r>
            <a:r>
              <a:rPr sz="1700" b="0">
                <a:solidFill>
                  <a:srgbClr val="1F2A44"/>
                </a:solidFill>
                <a:latin typeface="Arial"/>
                <a:ea typeface="Microsoft YaHei"/>
              </a:rPr>
              <a:t>accuse (“You always make mistakes!”). Say: “This is the second time this has happened.”</a:t>
            </a:r>
          </a:p>
        </p:txBody>
      </p:sp>
      <p:sp>
        <p:nvSpPr>
          <p:cNvPr id="15" name="Rounded Rectangle 14"/>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701039"/>
          </a:xfrm>
          <a:prstGeom prst="rect">
            <a:avLst/>
          </a:prstGeom>
          <a:noFill/>
        </p:spPr>
        <p:txBody>
          <a:bodyPr wrap="square" anchor="ctr">
            <a:spAutoFit/>
          </a:bodyPr>
          <a:lstStyle/>
          <a:p>
            <a:r>
              <a:rPr sz="1700" b="1">
                <a:solidFill>
                  <a:srgbClr val="3CC49A"/>
                </a:solidFill>
                <a:latin typeface="Arial"/>
                <a:ea typeface="Microsoft YaHei"/>
              </a:rPr>
              <a:t>Past vs present perfect: </a:t>
            </a:r>
            <a:r>
              <a:rPr sz="1700" b="0">
                <a:solidFill>
                  <a:srgbClr val="1F2A44"/>
                </a:solidFill>
                <a:latin typeface="Arial"/>
                <a:ea typeface="Microsoft YaHei"/>
              </a:rPr>
              <a:t>“The goods arrived on Monday” (finished time) but “They haven’t arrived yet” (no result until now).</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goods are damage.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goods are damaged. / arrived damaged.</a:t>
            </a:r>
          </a:p>
          <a:p>
            <a:pPr algn="l">
              <a:spcAft>
                <a:spcPts val="200"/>
              </a:spcAft>
            </a:pPr>
            <a:r>
              <a:rPr sz="1200" b="0">
                <a:solidFill>
                  <a:srgbClr val="FFFFFF"/>
                </a:solidFill>
                <a:latin typeface="Arial"/>
                <a:ea typeface="Microsoft YaHei"/>
              </a:rPr>
              <a:t>damaged 是形容词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goods didn’t arrive until now.</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goods haven’t arrived yet.</a:t>
            </a:r>
          </a:p>
          <a:p>
            <a:pPr algn="l">
              <a:spcAft>
                <a:spcPts val="200"/>
              </a:spcAft>
            </a:pPr>
            <a:r>
              <a:rPr sz="1200" b="0">
                <a:solidFill>
                  <a:srgbClr val="FFFFFF"/>
                </a:solidFill>
                <a:latin typeface="Arial"/>
                <a:ea typeface="Microsoft YaHei"/>
              </a:rPr>
              <a:t>到现在为止 → 现在完成时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a problem about the delivery.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a problem with the delivery.</a:t>
            </a:r>
          </a:p>
          <a:p>
            <a:pPr algn="l">
              <a:spcAft>
                <a:spcPts val="200"/>
              </a:spcAft>
            </a:pPr>
            <a:r>
              <a:rPr sz="1200" b="0">
                <a:solidFill>
                  <a:srgbClr val="FFFFFF"/>
                </a:solidFill>
                <a:latin typeface="Arial"/>
                <a:ea typeface="Microsoft YaHei"/>
              </a:rPr>
              <a:t>problem with</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solve this problem at once.</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look into this as soon as possible?</a:t>
            </a:r>
          </a:p>
          <a:p>
            <a:pPr algn="l">
              <a:spcAft>
                <a:spcPts val="200"/>
              </a:spcAft>
            </a:pPr>
            <a:r>
              <a:rPr sz="1200" b="0">
                <a:solidFill>
                  <a:srgbClr val="FFFFFF"/>
                </a:solidFill>
                <a:latin typeface="Arial"/>
                <a:ea typeface="Microsoft YaHei"/>
              </a:rPr>
              <a:t>更礼貌</a:t>
            </a:r>
          </a:p>
        </p:txBody>
      </p:sp>
      <p:sp>
        <p:nvSpPr>
          <p:cNvPr id="17" name="Rounded Rectangle 16"/>
          <p:cNvSpPr/>
          <p:nvPr/>
        </p:nvSpPr>
        <p:spPr>
          <a:xfrm>
            <a:off x="548640" y="426719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is your fault.</a:t>
            </a:r>
          </a:p>
        </p:txBody>
      </p:sp>
      <p:sp>
        <p:nvSpPr>
          <p:cNvPr id="18" name="Rounded Rectangle 17"/>
          <p:cNvSpPr/>
          <p:nvPr/>
        </p:nvSpPr>
        <p:spPr>
          <a:xfrm>
            <a:off x="6187287" y="426719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seems to have been a mistake.</a:t>
            </a:r>
          </a:p>
          <a:p>
            <a:pPr algn="l">
              <a:spcAft>
                <a:spcPts val="200"/>
              </a:spcAft>
            </a:pPr>
            <a:r>
              <a:rPr sz="1200" b="0">
                <a:solidFill>
                  <a:srgbClr val="FFFFFF"/>
                </a:solidFill>
                <a:latin typeface="Arial"/>
                <a:ea typeface="Microsoft YaHei"/>
              </a:rPr>
              <a:t>避免指责</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I’ll see into it.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look into it.</a:t>
            </a:r>
          </a:p>
          <a:p>
            <a:pPr algn="l">
              <a:spcAft>
                <a:spcPts val="200"/>
              </a:spcAft>
            </a:pPr>
            <a:r>
              <a:rPr sz="1200" b="0">
                <a:solidFill>
                  <a:srgbClr val="FFFFFF"/>
                </a:solidFill>
                <a:latin typeface="Arial"/>
                <a:ea typeface="Microsoft YaHei"/>
              </a:rPr>
              <a:t>look into = 调查</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will deal the problem soon.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We’ll deal with the problem soon.</a:t>
            </a:r>
          </a:p>
          <a:p>
            <a:pPr algn="l">
              <a:spcAft>
                <a:spcPts val="200"/>
              </a:spcAft>
            </a:pPr>
            <a:r>
              <a:rPr sz="1200" b="0">
                <a:solidFill>
                  <a:srgbClr val="FFFFFF"/>
                </a:solidFill>
                <a:latin typeface="Arial"/>
                <a:ea typeface="Microsoft YaHei"/>
              </a:rPr>
              <a:t>deal with</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can’t listen you.</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can’t hear you.</a:t>
            </a:r>
          </a:p>
          <a:p>
            <a:pPr algn="l">
              <a:spcAft>
                <a:spcPts val="200"/>
              </a:spcAft>
            </a:pPr>
            <a:r>
              <a:rPr sz="1200" b="0">
                <a:solidFill>
                  <a:srgbClr val="FFFFFF"/>
                </a:solidFill>
                <a:latin typeface="Arial"/>
                <a:ea typeface="Microsoft YaHei"/>
              </a:rPr>
              <a:t>听电话用 hear</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refound / replacment</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refund / replacement</a:t>
            </a:r>
          </a:p>
          <a:p>
            <a:pPr algn="l">
              <a:spcAft>
                <a:spcPts val="200"/>
              </a:spcAft>
            </a:pPr>
            <a:r>
              <a:rPr sz="1200" b="0">
                <a:solidFill>
                  <a:srgbClr val="FFFFFF"/>
                </a:solidFill>
                <a:latin typeface="Arial"/>
                <a:ea typeface="Microsoft YaHei"/>
              </a:rPr>
              <a:t>拼写</a:t>
            </a:r>
          </a:p>
        </p:txBody>
      </p:sp>
      <p:sp>
        <p:nvSpPr>
          <p:cNvPr id="17" name="Rounded Rectangle 16"/>
          <p:cNvSpPr/>
          <p:nvPr/>
        </p:nvSpPr>
        <p:spPr>
          <a:xfrm>
            <a:off x="548640" y="4267196"/>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sorry for trouble.</a:t>
            </a:r>
          </a:p>
        </p:txBody>
      </p:sp>
      <p:sp>
        <p:nvSpPr>
          <p:cNvPr id="18" name="Rounded Rectangle 17"/>
          <p:cNvSpPr/>
          <p:nvPr/>
        </p:nvSpPr>
        <p:spPr>
          <a:xfrm>
            <a:off x="6187287" y="4267196"/>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sorry for the trouble / for any inconvenience.</a:t>
            </a:r>
          </a:p>
          <a:p>
            <a:pPr algn="l">
              <a:spcAft>
                <a:spcPts val="200"/>
              </a:spcAft>
            </a:pPr>
            <a:r>
              <a:rPr sz="1200" b="0">
                <a:solidFill>
                  <a:srgbClr val="FFFFFF"/>
                </a:solidFill>
                <a:latin typeface="Arial"/>
                <a:ea typeface="Microsoft YaHei"/>
              </a:rPr>
              <a:t>缺冠词 the</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hear (can’t hear you), look into, deal with, problem with, and present perfect for “not yet”: hasn’t arrived yet.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Complain with facts and a solution. Western businesses expect: what is wrong, when it happened, what you want. Raising your voice does not help.</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1">
                <a:solidFill>
                  <a:srgbClr val="4A90E2"/>
                </a:solidFill>
                <a:latin typeface="Arial"/>
                <a:ea typeface="Microsoft YaHei"/>
              </a:rPr>
              <a:t>Say “We” not “I” for company problems: </a:t>
            </a:r>
            <a:r>
              <a:rPr sz="1700" b="0">
                <a:solidFill>
                  <a:srgbClr val="1F2A44"/>
                </a:solidFill>
                <a:latin typeface="Arial"/>
                <a:ea typeface="Microsoft YaHei"/>
              </a:rPr>
              <a:t>“We are sorry that…” shows that the company takes responsibility.</a:t>
            </a:r>
          </a:p>
        </p:txBody>
      </p:sp>
      <p:sp>
        <p:nvSpPr>
          <p:cNvPr id="15" name="Rounded Rectangle 14"/>
          <p:cNvSpPr/>
          <p:nvPr/>
        </p:nvSpPr>
        <p:spPr>
          <a:xfrm>
            <a:off x="548640" y="300227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441959"/>
          </a:xfrm>
          <a:prstGeom prst="rect">
            <a:avLst/>
          </a:prstGeom>
          <a:noFill/>
        </p:spPr>
        <p:txBody>
          <a:bodyPr wrap="square" anchor="ctr">
            <a:spAutoFit/>
          </a:bodyPr>
          <a:lstStyle/>
          <a:p>
            <a:r>
              <a:rPr sz="1700" b="0">
                <a:solidFill>
                  <a:srgbClr val="1F2A44"/>
                </a:solidFill>
                <a:latin typeface="Arial"/>
                <a:ea typeface="Microsoft YaHei"/>
              </a:rPr>
              <a:t>Don’t blame a colleague in front of a customer. Say “I’ll look into what happened.”</a:t>
            </a:r>
          </a:p>
        </p:txBody>
      </p:sp>
      <p:sp>
        <p:nvSpPr>
          <p:cNvPr id="18" name="Rounded Rectangle 17"/>
          <p:cNvSpPr/>
          <p:nvPr/>
        </p:nvSpPr>
        <p:spPr>
          <a:xfrm>
            <a:off x="548640" y="353567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441959"/>
          </a:xfrm>
          <a:prstGeom prst="rect">
            <a:avLst/>
          </a:prstGeom>
          <a:noFill/>
        </p:spPr>
        <p:txBody>
          <a:bodyPr wrap="square" anchor="ctr">
            <a:spAutoFit/>
          </a:bodyPr>
          <a:lstStyle/>
          <a:p>
            <a:r>
              <a:rPr sz="1700" b="1">
                <a:solidFill>
                  <a:srgbClr val="FFC857"/>
                </a:solidFill>
                <a:latin typeface="Arial"/>
                <a:ea typeface="Microsoft YaHei"/>
              </a:rPr>
              <a:t>Give a time frame: </a:t>
            </a:r>
            <a:r>
              <a:rPr sz="1700" b="0">
                <a:solidFill>
                  <a:srgbClr val="1F2A44"/>
                </a:solidFill>
                <a:latin typeface="Arial"/>
                <a:ea typeface="Microsoft YaHei"/>
              </a:rPr>
              <a:t>“by five o’clock today”, not “soon”. “Soon” can mean any time.</a:t>
            </a:r>
          </a:p>
        </p:txBody>
      </p:sp>
      <p:sp>
        <p:nvSpPr>
          <p:cNvPr id="21" name="Rounded Rectangle 20"/>
          <p:cNvSpPr/>
          <p:nvPr/>
        </p:nvSpPr>
        <p:spPr>
          <a:xfrm>
            <a:off x="548640" y="406907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06907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069076"/>
            <a:ext cx="10728655" cy="701039"/>
          </a:xfrm>
          <a:prstGeom prst="rect">
            <a:avLst/>
          </a:prstGeom>
          <a:noFill/>
        </p:spPr>
        <p:txBody>
          <a:bodyPr wrap="square" anchor="ctr">
            <a:spAutoFit/>
          </a:bodyPr>
          <a:lstStyle/>
          <a:p>
            <a:r>
              <a:rPr sz="1700" b="0">
                <a:solidFill>
                  <a:srgbClr val="1F2A44"/>
                </a:solidFill>
                <a:latin typeface="Arial"/>
                <a:ea typeface="Microsoft YaHei"/>
              </a:rPr>
              <a:t>Follow up in writing. After a complaint call, send an email with the order number, photos and the agreed action.</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19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say what’s wrong with the phone line (You’re breaking up. We seem to have been cut off.).</a:t>
            </a:r>
          </a:p>
        </p:txBody>
      </p:sp>
      <p:sp>
        <p:nvSpPr>
          <p:cNvPr id="12" name="TextBox 11"/>
          <p:cNvSpPr txBox="1"/>
          <p:nvPr/>
        </p:nvSpPr>
        <p:spPr>
          <a:xfrm>
            <a:off x="9539935" y="1508760"/>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50008"/>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50008"/>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50008"/>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describe a business problem with facts (arrived damaged, haven’t arrived yet).</a:t>
            </a:r>
          </a:p>
        </p:txBody>
      </p:sp>
      <p:sp>
        <p:nvSpPr>
          <p:cNvPr id="16" name="TextBox 15"/>
          <p:cNvSpPr txBox="1"/>
          <p:nvPr/>
        </p:nvSpPr>
        <p:spPr>
          <a:xfrm>
            <a:off x="9539935" y="2350008"/>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191256"/>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191256"/>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191256"/>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respond to a complaint (I’m sorry to hear that. Let me look into it.).</a:t>
            </a:r>
          </a:p>
        </p:txBody>
      </p:sp>
      <p:sp>
        <p:nvSpPr>
          <p:cNvPr id="20" name="TextBox 19"/>
          <p:cNvSpPr txBox="1"/>
          <p:nvPr/>
        </p:nvSpPr>
        <p:spPr>
          <a:xfrm>
            <a:off x="9539935" y="3191256"/>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032504"/>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032504"/>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032504"/>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offer solutions and a time (replacement, refund, I’ll keep you posted).</a:t>
            </a:r>
          </a:p>
        </p:txBody>
      </p:sp>
      <p:sp>
        <p:nvSpPr>
          <p:cNvPr id="24" name="TextBox 23"/>
          <p:cNvSpPr txBox="1"/>
          <p:nvPr/>
        </p:nvSpPr>
        <p:spPr>
          <a:xfrm>
            <a:off x="9539935" y="4032504"/>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73752"/>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73752"/>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73752"/>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use hear, look into, deal with and the present perfect (hasn’t arrived yet).</a:t>
            </a:r>
          </a:p>
        </p:txBody>
      </p:sp>
      <p:sp>
        <p:nvSpPr>
          <p:cNvPr id="28" name="TextBox 27"/>
          <p:cNvSpPr txBox="1"/>
          <p:nvPr/>
        </p:nvSpPr>
        <p:spPr>
          <a:xfrm>
            <a:off x="9539935" y="4873752"/>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19 When things go wrong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hear / listen, look into, present perfect for not yet, and a calm, polite tone.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5 · Lesson 20 Apologizing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Apologizing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道歉</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apologize sincerely and appropriately in business situations: accept responsibility, express regret, explain briefly, offer to put things right, and respond when someone apologizes to you.</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someone last apologize to you at work? How did you feel?</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easy or difficult for you to say sorry in English? Why?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difference between “I’m sorry” and “I apologize”?</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Tell me about a mistake you made at work. What did you say to the person?</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do you say when someone apologizes to you?</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题讲过去的事,请用过去式(made, forgot, said)。第 3 题:apologize 比 sorry 更正式。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mistake at work and how you apologized.</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1. what happened</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2. who it affected</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3. your apology</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4. how you fixed it</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5. what you did to avoid it next time</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made a mistake with…   💬 I apologized by saying…   💬 To fix it, I…   💬 Since then, I…</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讲故事用过去式。“从那以后”用 Since then + 现在完成时或过去式。道歉后要有行动:我会如何改正。</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Saying sorry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表达歉意</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I’m so sorry about…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对于……我非常抱歉</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so sorry about the confusion.”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apologize for…</a:t>
            </a:r>
          </a:p>
          <a:p>
            <a:pPr algn="l">
              <a:lnSpc>
                <a:spcPct val="115000"/>
              </a:lnSpc>
              <a:spcAft>
                <a:spcPts val="800"/>
              </a:spcAft>
            </a:pPr>
            <a:r>
              <a:rPr sz="1300" b="0">
                <a:solidFill>
                  <a:srgbClr val="5F677A"/>
                </a:solidFill>
                <a:latin typeface="Arial"/>
                <a:ea typeface="Microsoft YaHei"/>
              </a:rPr>
              <a:t>phrase (formal)</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我为……道歉</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apologize for the late delivery.”</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Please accept our apologies.</a:t>
            </a:r>
          </a:p>
          <a:p>
            <a:pPr algn="l">
              <a:lnSpc>
                <a:spcPct val="115000"/>
              </a:lnSpc>
              <a:spcAft>
                <a:spcPts val="800"/>
              </a:spcAft>
            </a:pPr>
            <a:r>
              <a:rPr sz="1300" b="0">
                <a:solidFill>
                  <a:srgbClr val="5F677A"/>
                </a:solidFill>
                <a:latin typeface="Arial"/>
                <a:ea typeface="Microsoft YaHei"/>
              </a:rPr>
              <a:t>phrase (formal)</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请接受我们的歉意</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accept our apologies for the inconvenience.”</a:t>
            </a:r>
          </a:p>
        </p:txBody>
      </p:sp>
      <p:sp>
        <p:nvSpPr>
          <p:cNvPr id="24" name="Rounded Rectangle 23"/>
          <p:cNvSpPr/>
          <p:nvPr/>
        </p:nvSpPr>
        <p:spPr>
          <a:xfrm>
            <a:off x="548640" y="3832860"/>
            <a:ext cx="11094415" cy="12400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12400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11760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sincerely apologize for any inconvenience this has caused.</a:t>
            </a:r>
          </a:p>
          <a:p>
            <a:pPr algn="l">
              <a:lnSpc>
                <a:spcPct val="115000"/>
              </a:lnSpc>
              <a:spcAft>
                <a:spcPts val="800"/>
              </a:spcAft>
            </a:pPr>
            <a:r>
              <a:rPr sz="1300" b="0">
                <a:solidFill>
                  <a:srgbClr val="5F677A"/>
                </a:solidFill>
                <a:latin typeface="Arial"/>
                <a:ea typeface="Microsoft YaHei"/>
              </a:rPr>
              <a:t>phrase (formal)</a:t>
            </a:r>
          </a:p>
        </p:txBody>
      </p:sp>
      <p:sp>
        <p:nvSpPr>
          <p:cNvPr id="27" name="TextBox 26"/>
          <p:cNvSpPr txBox="1"/>
          <p:nvPr/>
        </p:nvSpPr>
        <p:spPr>
          <a:xfrm>
            <a:off x="4206240" y="3878580"/>
            <a:ext cx="2377440" cy="11760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对由此造成的不便,我诚挚道歉</a:t>
            </a:r>
          </a:p>
        </p:txBody>
      </p:sp>
      <p:sp>
        <p:nvSpPr>
          <p:cNvPr id="28" name="TextBox 27"/>
          <p:cNvSpPr txBox="1"/>
          <p:nvPr/>
        </p:nvSpPr>
        <p:spPr>
          <a:xfrm>
            <a:off x="6675120" y="3878580"/>
            <a:ext cx="4846320" cy="11760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sincerely apologize for any inconvenience this has caused.”</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Sorry to keep you waiting.</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抱歉让您久等</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to keep you waiting.”</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Taking responsibility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承担责任</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It’s entirely our fault.</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这完全是我们的错</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entirely our fault. We sent the wrong model.”</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That was my mistake.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那是我的失误</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 was my mistake. I entered the wrong date.”</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take full responsibility for this.</a:t>
            </a:r>
          </a:p>
          <a:p>
            <a:pPr algn="l">
              <a:lnSpc>
                <a:spcPct val="115000"/>
              </a:lnSpc>
              <a:spcAft>
                <a:spcPts val="800"/>
              </a:spcAft>
            </a:pPr>
            <a:r>
              <a:rPr sz="1300" b="0">
                <a:solidFill>
                  <a:srgbClr val="5F677A"/>
                </a:solidFill>
                <a:latin typeface="Arial"/>
                <a:ea typeface="Microsoft YaHei"/>
              </a:rPr>
              <a:t>phrase (formal)</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我对此负全责</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take full responsibility for this.”</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 should have checked…</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我本应该核对……</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should have checked the invoice before I sent it.”</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There was a misunderstanding on our side.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是我们这边有误会</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 was a misunderstanding on our side.”</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3: Making it right and responding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补救与回应</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make it up to you.</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让我来补偿您</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make it up to you with a discount on your next order.”</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We’ll make sure it doesn’t happen again.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我们会确保这种情况不再发生</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make sure it doesn’t happen again.”</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your understanding.</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感谢您的理解</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“Thank you for your understanding and patience.”</a:t>
            </a:r>
          </a:p>
        </p:txBody>
      </p:sp>
      <p:sp>
        <p:nvSpPr>
          <p:cNvPr id="24" name="Rounded Rectangle 23"/>
          <p:cNvSpPr/>
          <p:nvPr/>
        </p:nvSpPr>
        <p:spPr>
          <a:xfrm>
            <a:off x="548640" y="44424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That’s all right. / No harm done.</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4881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没关系 / 没造成什么损害</a:t>
            </a:r>
          </a:p>
        </p:txBody>
      </p:sp>
      <p:sp>
        <p:nvSpPr>
          <p:cNvPr id="28" name="TextBox 27"/>
          <p:cNvSpPr txBox="1"/>
          <p:nvPr/>
        </p:nvSpPr>
        <p:spPr>
          <a:xfrm>
            <a:off x="6675120" y="44881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worry about it. No harm done.”</a:t>
            </a:r>
          </a:p>
        </p:txBody>
      </p:sp>
      <p:sp>
        <p:nvSpPr>
          <p:cNvPr id="29" name="Rounded Rectangle 28"/>
          <p:cNvSpPr/>
          <p:nvPr/>
        </p:nvSpPr>
        <p:spPr>
          <a:xfrm>
            <a:off x="548640" y="54508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508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4965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These things happen.</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4965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这种事难免会发生</a:t>
            </a:r>
          </a:p>
        </p:txBody>
      </p:sp>
      <p:sp>
        <p:nvSpPr>
          <p:cNvPr id="33" name="TextBox 32"/>
          <p:cNvSpPr txBox="1"/>
          <p:nvPr/>
        </p:nvSpPr>
        <p:spPr>
          <a:xfrm>
            <a:off x="6675120" y="54965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fine. These things happen.”</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没关系 / 没造成什么损害</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That’s all right. / No harm done.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我为……道歉</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apologize for…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那是我的失误</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That was my mistake.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我们会确保这种情况不再发生</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We’ll make sure it doesn’t happen again.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我本应该核对……</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should have checked…</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感谢您的理解</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Thank you for your understanding.</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让我来补偿您</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 me make it up to you.</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是我们这边有误会</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There was a misunderstanding on our side.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sure</a:t>
            </a:r>
          </a:p>
        </p:txBody>
      </p:sp>
      <p:sp>
        <p:nvSpPr>
          <p:cNvPr id="10" name="Rounded Rectangle 9"/>
          <p:cNvSpPr/>
          <p:nvPr/>
        </p:nvSpPr>
        <p:spPr>
          <a:xfrm>
            <a:off x="2907792"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apologize</a:t>
            </a:r>
          </a:p>
        </p:txBody>
      </p:sp>
      <p:sp>
        <p:nvSpPr>
          <p:cNvPr id="11" name="Rounded Rectangle 10"/>
          <p:cNvSpPr/>
          <p:nvPr/>
        </p:nvSpPr>
        <p:spPr>
          <a:xfrm>
            <a:off x="4352544"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checked</a:t>
            </a:r>
          </a:p>
        </p:txBody>
      </p:sp>
      <p:sp>
        <p:nvSpPr>
          <p:cNvPr id="12" name="Rounded Rectangle 11"/>
          <p:cNvSpPr/>
          <p:nvPr/>
        </p:nvSpPr>
        <p:spPr>
          <a:xfrm>
            <a:off x="5577840"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fault</a:t>
            </a:r>
          </a:p>
        </p:txBody>
      </p:sp>
      <p:sp>
        <p:nvSpPr>
          <p:cNvPr id="13" name="Rounded Rectangle 12"/>
          <p:cNvSpPr/>
          <p:nvPr/>
        </p:nvSpPr>
        <p:spPr>
          <a:xfrm>
            <a:off x="6583680"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accept</a:t>
            </a:r>
          </a:p>
        </p:txBody>
      </p:sp>
      <p:sp>
        <p:nvSpPr>
          <p:cNvPr id="14" name="Rounded Rectangle 13"/>
          <p:cNvSpPr/>
          <p:nvPr/>
        </p:nvSpPr>
        <p:spPr>
          <a:xfrm>
            <a:off x="7699248"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harm</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 _______ for the late delivery.</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apologize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Please _______ our apologies for the inconvenience.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accept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It’s entirely our _______. We sent the wrong model.</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fault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 should have _______ the invoice before I sent it.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checked</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We’ll make _______ it doesn’t happen again.</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sure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Don’t worry about it. No _______ done.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harm</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拼写与结构): apologize (UK: apologise), apology (noun), inconvenience (not “inconvinience”), responsibility (not “responsability”). Say “apologize for + noun / -ing”: “I apologize for being late.”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Apologizing to a customer for a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向客户道歉</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Your invoice had the wrong amount. A customer calls you.</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accounts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Henry Lee, customer</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Apologizing to a customer for a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Orion Foods, Li Wei speaking.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Henry</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Li Wei. It’s Henry Lee. I’m calling about the invoice you sent yesterday. The total is wrong.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Oh no. I’m so sorry, Henry. Let me check. … You’re right. That was my mistake. I entered the wrong unit price.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about $800 too high.</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apologize for the error and for the inconvenience. I should have checked it before I sent it.</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These things happen. Can you send a corrected invoice?</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Apologizing to a customer for a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send it within the hour. And I’d like to make it up to you. I can offer a 3% discount on your next order.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very kind of you.</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the least we can do. We’ll make sure it doesn’t happen again. A second person will check every invoice from now on.</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Thank you for sorting it out so quickly.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your understanding.</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Apologizing to a customer for a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made a mistake and a customer is calling.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Staff member. Apologize, take responsibility, offer a solution.</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Customer. Polite but unhappy.</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so sorry about… · That was my mistake. · I apologize for… · make it up to you · make sure it doesn’t happen again.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Short apology → explanation → solution → promise. About 90 seconds.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customer is angry and says, “This is unacceptable.” Stay calm: “You’re absolutely right, and I’m sorry.”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It was not your fault, but your company’s. Say: “I apologize on behalf of our company.”</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Don’t give excuses. Replace “It was the system” with “I’ll look into what happened.”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Apologizing for being late and accepting an apology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为迟到道歉及回应</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are late for an online meeting and your client has been waiting for ten minutes.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late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Karen Ortiz, client</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Apologizing for being late and accepting an apology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Karen, I’m so sorry I’m late. I apologize for keeping you waiting.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Karen</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Don’t worry about it. These things happen. Is everything OK?</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thanks. My previous meeting ran over, and I should have told you earlier. That was my mistake.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harm done. We still have fifty minutes.</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your understanding. Shall we start with the agenda?</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Apologizing for being late and accepting an apology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But first, did you get my email about the schedule?</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did. Sorry, I haven’t had a chance to reply yet. I’ll do it right after this call.</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problem. Let’s get started.</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make sure the next meeting starts on time. I’ll also add a reminder to my calendar.</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great, thanks.</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Apologizing for being late and accepting an apology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are late for a call, and your partner has been waiting.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Late person. Apologize once, give a short reason, move on.</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Accepts the apology with a friendly phrase.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I’m so sorry I’m late. · I should have… · Thank you for your understanding. · No harm done. · These things happen.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Apologize in two sentences, accept an apology in one, and begin the meeting.</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It’s the second time you were late. Say: “I know this is not the first time, and I take full responsibility.”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Respond to a very angry person: “I completely understand why you’re upset.”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Reply to an apology with a warm line, then move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When should you apologize at work?</a:t>
            </a:r>
          </a:p>
          <a:p>
            <a:pPr algn="l">
              <a:lnSpc>
                <a:spcPct val="115000"/>
              </a:lnSpc>
              <a:spcAft>
                <a:spcPts val="800"/>
              </a:spcAft>
            </a:pPr>
            <a:r>
              <a:rPr sz="1400" b="0">
                <a:solidFill>
                  <a:srgbClr val="5F677A"/>
                </a:solidFill>
                <a:latin typeface="Arial"/>
                <a:ea typeface="Microsoft YaHei"/>
              </a:rPr>
              <a:t>💬 “I think you should apologize when…” / “Even a small mistake needs…”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is a good apology different from a bad one?</a:t>
            </a:r>
          </a:p>
          <a:p>
            <a:pPr algn="l">
              <a:lnSpc>
                <a:spcPct val="115000"/>
              </a:lnSpc>
              <a:spcAft>
                <a:spcPts val="800"/>
              </a:spcAft>
            </a:pPr>
            <a:r>
              <a:rPr sz="1400" b="0">
                <a:solidFill>
                  <a:srgbClr val="5F677A"/>
                </a:solidFill>
                <a:latin typeface="Arial"/>
                <a:ea typeface="Microsoft YaHei"/>
              </a:rPr>
              <a:t>💬 “A good apology is… It includes…” / “A bad apology sounds like…”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think people in your country apologize too much or too little?</a:t>
            </a:r>
          </a:p>
          <a:p>
            <a:pPr algn="l">
              <a:lnSpc>
                <a:spcPct val="115000"/>
              </a:lnSpc>
              <a:spcAft>
                <a:spcPts val="800"/>
              </a:spcAft>
            </a:pPr>
            <a:r>
              <a:rPr sz="1400" b="0">
                <a:solidFill>
                  <a:srgbClr val="5F677A"/>
                </a:solidFill>
                <a:latin typeface="Arial"/>
                <a:ea typeface="Microsoft YaHei"/>
              </a:rPr>
              <a:t>💬 “In my country, people often…” / “It’s common to say sorry for…”</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a company apologize to a customer in public (for example on social media)?</a:t>
            </a:r>
          </a:p>
          <a:p>
            <a:pPr algn="l">
              <a:lnSpc>
                <a:spcPct val="115000"/>
              </a:lnSpc>
              <a:spcAft>
                <a:spcPts val="800"/>
              </a:spcAft>
            </a:pPr>
            <a:r>
              <a:rPr sz="1400" b="0">
                <a:solidFill>
                  <a:srgbClr val="5F677A"/>
                </a:solidFill>
                <a:latin typeface="Arial"/>
                <a:ea typeface="Microsoft YaHei"/>
              </a:rPr>
              <a:t>💬 “A company should apologize quickly and…” / “It’s important to explain the next step.”</a:t>
            </a:r>
          </a:p>
        </p:txBody>
      </p:sp>
      <p:sp>
        <p:nvSpPr>
          <p:cNvPr id="21" name="Oval 20"/>
          <p:cNvSpPr/>
          <p:nvPr/>
        </p:nvSpPr>
        <p:spPr>
          <a:xfrm>
            <a:off x="548640" y="495300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072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530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accept someone’s apology politely?</a:t>
            </a:r>
          </a:p>
          <a:p>
            <a:pPr algn="l">
              <a:lnSpc>
                <a:spcPct val="115000"/>
              </a:lnSpc>
              <a:spcAft>
                <a:spcPts val="800"/>
              </a:spcAft>
            </a:pPr>
            <a:r>
              <a:rPr sz="1400" b="0">
                <a:solidFill>
                  <a:srgbClr val="5F677A"/>
                </a:solidFill>
                <a:latin typeface="Arial"/>
                <a:ea typeface="Microsoft YaHei"/>
              </a:rPr>
              <a:t>💬 “I usually say…” / “I tell them it’s fine, and I move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good apology has four parts. First, you say sorry clearly. Second, you take responsibility, for example”That was my mistake.” Third, you explain how you will fix it. Finally, you promise to prevent it in the future. A bad apology sounds like an excuse: “I’m sorry, but it wasn’t my fault.” The word “but” cancels the apology.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记住 “I’m sorry, but…” 会抵消道歉。“cancel”(取消、抵消)很生动。四个步骤用 first / second / third / finally 排序。</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Phone-language script: apologizing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道歉话术</a:t>
            </a:r>
          </a:p>
        </p:txBody>
      </p:sp>
      <p:graphicFrame>
        <p:nvGraphicFramePr>
          <p:cNvPr id="9" name="Table 8"/>
          <p:cNvGraphicFramePr>
            <a:graphicFrameLocks noGrp="1"/>
          </p:cNvGraphicFramePr>
          <p:nvPr/>
        </p:nvGraphicFramePr>
        <p:xfrm>
          <a:off x="548640" y="1417320"/>
          <a:ext cx="11094415" cy="3755136"/>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Apologize</a:t>
                      </a:r>
                    </a:p>
                  </a:txBody>
                  <a:tcPr anchor="ctr">
                    <a:solidFill>
                      <a:srgbClr val="FFFFFF"/>
                    </a:solidFill>
                  </a:tcPr>
                </a:tc>
                <a:tc>
                  <a:txBody>
                    <a:bodyPr wrap="square"/>
                    <a:lstStyle/>
                    <a:p>
                      <a:r>
                        <a:rPr sz="1600" b="0">
                          <a:solidFill>
                            <a:srgbClr val="1F2A44"/>
                          </a:solidFill>
                          <a:latin typeface="Arial"/>
                          <a:ea typeface="Microsoft YaHei"/>
                        </a:rPr>
                        <a:t>I’m so sorry about… / I apologize for…</a:t>
                      </a:r>
                    </a:p>
                  </a:txBody>
                  <a:tcPr anchor="ctr">
                    <a:solidFill>
                      <a:srgbClr val="FFFFFF"/>
                    </a:solidFill>
                  </a:tcPr>
                </a:tc>
              </a:tr>
              <a:tr h="408432">
                <a:tc>
                  <a:txBody>
                    <a:bodyPr wrap="square"/>
                    <a:lstStyle/>
                    <a:p>
                      <a:r>
                        <a:rPr sz="1600" b="1">
                          <a:solidFill>
                            <a:srgbClr val="1F2A44"/>
                          </a:solidFill>
                          <a:latin typeface="Arial"/>
                          <a:ea typeface="Microsoft YaHei"/>
                        </a:rPr>
                        <a:t>Take responsibility</a:t>
                      </a:r>
                    </a:p>
                  </a:txBody>
                  <a:tcPr anchor="ctr">
                    <a:solidFill>
                      <a:srgbClr val="FFEFD9"/>
                    </a:solidFill>
                  </a:tcPr>
                </a:tc>
                <a:tc>
                  <a:txBody>
                    <a:bodyPr wrap="square"/>
                    <a:lstStyle/>
                    <a:p>
                      <a:r>
                        <a:rPr sz="1600" b="0">
                          <a:solidFill>
                            <a:srgbClr val="1F2A44"/>
                          </a:solidFill>
                          <a:latin typeface="Arial"/>
                          <a:ea typeface="Microsoft YaHei"/>
                        </a:rPr>
                        <a:t>That was my mistake. / It’s entirely our fault. ★</a:t>
                      </a:r>
                    </a:p>
                  </a:txBody>
                  <a:tcPr anchor="ctr">
                    <a:solidFill>
                      <a:srgbClr val="FFEFD9"/>
                    </a:solidFill>
                  </a:tcPr>
                </a:tc>
              </a:tr>
              <a:tr h="408432">
                <a:tc>
                  <a:txBody>
                    <a:bodyPr wrap="square"/>
                    <a:lstStyle/>
                    <a:p>
                      <a:r>
                        <a:rPr sz="1600" b="1">
                          <a:solidFill>
                            <a:srgbClr val="1F2A44"/>
                          </a:solidFill>
                          <a:latin typeface="Arial"/>
                          <a:ea typeface="Microsoft YaHei"/>
                        </a:rPr>
                        <a:t>Explain (briefly)</a:t>
                      </a:r>
                    </a:p>
                  </a:txBody>
                  <a:tcPr anchor="ctr">
                    <a:solidFill>
                      <a:srgbClr val="FFFFFF"/>
                    </a:solidFill>
                  </a:tcPr>
                </a:tc>
                <a:tc>
                  <a:txBody>
                    <a:bodyPr wrap="square"/>
                    <a:lstStyle/>
                    <a:p>
                      <a:r>
                        <a:rPr sz="1600" b="0">
                          <a:solidFill>
                            <a:srgbClr val="1F2A44"/>
                          </a:solidFill>
                          <a:latin typeface="Arial"/>
                          <a:ea typeface="Microsoft YaHei"/>
                        </a:rPr>
                        <a:t>What happened was that… / The reason is…</a:t>
                      </a:r>
                    </a:p>
                  </a:txBody>
                  <a:tcPr anchor="ctr">
                    <a:solidFill>
                      <a:srgbClr val="FFFFFF"/>
                    </a:solidFill>
                  </a:tcPr>
                </a:tc>
              </a:tr>
              <a:tr h="652272">
                <a:tc>
                  <a:txBody>
                    <a:bodyPr wrap="square"/>
                    <a:lstStyle/>
                    <a:p>
                      <a:r>
                        <a:rPr sz="1600" b="1">
                          <a:solidFill>
                            <a:srgbClr val="1F2A44"/>
                          </a:solidFill>
                          <a:latin typeface="Arial"/>
                          <a:ea typeface="Microsoft YaHei"/>
                        </a:rPr>
                        <a:t>Fix</a:t>
                      </a:r>
                    </a:p>
                  </a:txBody>
                  <a:tcPr anchor="ctr">
                    <a:solidFill>
                      <a:srgbClr val="FFEFD9"/>
                    </a:solidFill>
                  </a:tcPr>
                </a:tc>
                <a:tc>
                  <a:txBody>
                    <a:bodyPr wrap="square"/>
                    <a:lstStyle/>
                    <a:p>
                      <a:r>
                        <a:rPr sz="1600" b="0">
                          <a:solidFill>
                            <a:srgbClr val="1F2A44"/>
                          </a:solidFill>
                          <a:latin typeface="Arial"/>
                          <a:ea typeface="Microsoft YaHei"/>
                        </a:rPr>
                        <a:t>I’ll send a corrected… right away. / Let me make it up to you. ★</a:t>
                      </a:r>
                    </a:p>
                  </a:txBody>
                  <a:tcPr anchor="ctr">
                    <a:solidFill>
                      <a:srgbClr val="FFEFD9"/>
                    </a:solidFill>
                  </a:tcPr>
                </a:tc>
              </a:tr>
              <a:tr h="408432">
                <a:tc>
                  <a:txBody>
                    <a:bodyPr wrap="square"/>
                    <a:lstStyle/>
                    <a:p>
                      <a:r>
                        <a:rPr sz="1600" b="1">
                          <a:solidFill>
                            <a:srgbClr val="1F2A44"/>
                          </a:solidFill>
                          <a:latin typeface="Arial"/>
                          <a:ea typeface="Microsoft YaHei"/>
                        </a:rPr>
                        <a:t>Prevent</a:t>
                      </a:r>
                    </a:p>
                  </a:txBody>
                  <a:tcPr anchor="ctr">
                    <a:solidFill>
                      <a:srgbClr val="FFFFFF"/>
                    </a:solidFill>
                  </a:tcPr>
                </a:tc>
                <a:tc>
                  <a:txBody>
                    <a:bodyPr wrap="square"/>
                    <a:lstStyle/>
                    <a:p>
                      <a:r>
                        <a:rPr sz="1600" b="0">
                          <a:solidFill>
                            <a:srgbClr val="1F2A44"/>
                          </a:solidFill>
                          <a:latin typeface="Arial"/>
                          <a:ea typeface="Microsoft YaHei"/>
                        </a:rPr>
                        <a:t>We’ll make sure it doesn’t happen again. ★</a:t>
                      </a:r>
                    </a:p>
                  </a:txBody>
                  <a:tcPr anchor="ctr">
                    <a:solidFill>
                      <a:srgbClr val="FFFFFF"/>
                    </a:solidFill>
                  </a:tcPr>
                </a:tc>
              </a:tr>
              <a:tr h="408432">
                <a:tc>
                  <a:txBody>
                    <a:bodyPr wrap="square"/>
                    <a:lstStyle/>
                    <a:p>
                      <a:r>
                        <a:rPr sz="1600" b="1">
                          <a:solidFill>
                            <a:srgbClr val="1F2A44"/>
                          </a:solidFill>
                          <a:latin typeface="Arial"/>
                          <a:ea typeface="Microsoft YaHei"/>
                        </a:rPr>
                        <a:t>Thank</a:t>
                      </a:r>
                    </a:p>
                  </a:txBody>
                  <a:tcPr anchor="ctr">
                    <a:solidFill>
                      <a:srgbClr val="FFEFD9"/>
                    </a:solidFill>
                  </a:tcPr>
                </a:tc>
                <a:tc>
                  <a:txBody>
                    <a:bodyPr wrap="square"/>
                    <a:lstStyle/>
                    <a:p>
                      <a:r>
                        <a:rPr sz="1600" b="0">
                          <a:solidFill>
                            <a:srgbClr val="1F2A44"/>
                          </a:solidFill>
                          <a:latin typeface="Arial"/>
                          <a:ea typeface="Microsoft YaHei"/>
                        </a:rPr>
                        <a:t>Thank you for your understanding / patience.</a:t>
                      </a:r>
                    </a:p>
                  </a:txBody>
                  <a:tcPr anchor="ctr">
                    <a:solidFill>
                      <a:srgbClr val="FFEFD9"/>
                    </a:solidFill>
                  </a:tcPr>
                </a:tc>
              </a:tr>
              <a:tr h="652272">
                <a:tc>
                  <a:txBody>
                    <a:bodyPr wrap="square"/>
                    <a:lstStyle/>
                    <a:p>
                      <a:r>
                        <a:rPr sz="1600" b="1">
                          <a:solidFill>
                            <a:srgbClr val="1F2A44"/>
                          </a:solidFill>
                          <a:latin typeface="Arial"/>
                          <a:ea typeface="Microsoft YaHei"/>
                        </a:rPr>
                        <a:t>Reply to an apology</a:t>
                      </a:r>
                    </a:p>
                  </a:txBody>
                  <a:tcPr anchor="ctr">
                    <a:solidFill>
                      <a:srgbClr val="FFFFFF"/>
                    </a:solidFill>
                  </a:tcPr>
                </a:tc>
                <a:tc>
                  <a:txBody>
                    <a:bodyPr wrap="square"/>
                    <a:lstStyle/>
                    <a:p>
                      <a:r>
                        <a:rPr sz="1600" b="0">
                          <a:solidFill>
                            <a:srgbClr val="1F2A44"/>
                          </a:solidFill>
                          <a:latin typeface="Arial"/>
                          <a:ea typeface="Microsoft YaHei"/>
                        </a:rPr>
                        <a:t>That’s all right. / No harm done. ★ / These things happen. ★</a:t>
                      </a:r>
                    </a:p>
                  </a:txBody>
                  <a:tcPr anchor="ctr">
                    <a:solidFill>
                      <a:srgbClr val="FFFFFF"/>
                    </a:solidFill>
                  </a:tcPr>
                </a:tc>
              </a:tr>
            </a:tbl>
          </a:graphicData>
        </a:graphic>
      </p:graphicFrame>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Strength of apology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道歉的力度</a:t>
            </a:r>
          </a:p>
        </p:txBody>
      </p:sp>
      <p:graphicFrame>
        <p:nvGraphicFramePr>
          <p:cNvPr id="9" name="Table 8"/>
          <p:cNvGraphicFramePr>
            <a:graphicFrameLocks noGrp="1"/>
          </p:cNvGraphicFramePr>
          <p:nvPr/>
        </p:nvGraphicFramePr>
        <p:xfrm>
          <a:off x="548640" y="1417320"/>
          <a:ext cx="11094415" cy="3017520"/>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Level</a:t>
                      </a:r>
                    </a:p>
                  </a:txBody>
                  <a:tcPr anchor="ctr">
                    <a:solidFill>
                      <a:srgbClr val="3CC49A"/>
                    </a:solidFill>
                  </a:tcPr>
                </a:tc>
                <a:tc>
                  <a:txBody>
                    <a:bodyPr wrap="square"/>
                    <a:lstStyle/>
                    <a:p>
                      <a:r>
                        <a:rPr sz="1600" b="1">
                          <a:solidFill>
                            <a:srgbClr val="FFFFFF"/>
                          </a:solidFill>
                          <a:latin typeface="Arial"/>
                          <a:ea typeface="Microsoft YaHei"/>
                        </a:rPr>
                        <a:t>Phrase</a:t>
                      </a:r>
                    </a:p>
                  </a:txBody>
                  <a:tcPr anchor="ctr">
                    <a:solidFill>
                      <a:srgbClr val="3CC49A"/>
                    </a:solidFill>
                  </a:tcPr>
                </a:tc>
                <a:tc>
                  <a:txBody>
                    <a:bodyPr wrap="square"/>
                    <a:lstStyle/>
                    <a:p>
                      <a:r>
                        <a:rPr sz="1600" b="1">
                          <a:solidFill>
                            <a:srgbClr val="FFFFFF"/>
                          </a:solidFill>
                          <a:latin typeface="Arial"/>
                          <a:ea typeface="Microsoft YaHei"/>
                        </a:rPr>
                        <a:t>Use</a:t>
                      </a:r>
                    </a:p>
                  </a:txBody>
                  <a:tcPr anchor="ctr">
                    <a:solidFill>
                      <a:srgbClr val="3CC49A"/>
                    </a:solidFill>
                  </a:tcPr>
                </a:tc>
              </a:tr>
              <a:tr h="652272">
                <a:tc>
                  <a:txBody>
                    <a:bodyPr wrap="square"/>
                    <a:lstStyle/>
                    <a:p>
                      <a:r>
                        <a:rPr sz="1600" b="1">
                          <a:solidFill>
                            <a:srgbClr val="1F2A44"/>
                          </a:solidFill>
                          <a:latin typeface="Arial"/>
                          <a:ea typeface="Microsoft YaHei"/>
                        </a:rPr>
                        <a:t>Light</a:t>
                      </a:r>
                    </a:p>
                  </a:txBody>
                  <a:tcPr anchor="ctr">
                    <a:solidFill>
                      <a:srgbClr val="FFFFFF"/>
                    </a:solidFill>
                  </a:tcPr>
                </a:tc>
                <a:tc>
                  <a:txBody>
                    <a:bodyPr wrap="square"/>
                    <a:lstStyle/>
                    <a:p>
                      <a:r>
                        <a:rPr sz="1600" b="0">
                          <a:solidFill>
                            <a:srgbClr val="1F2A44"/>
                          </a:solidFill>
                          <a:latin typeface="Arial"/>
                          <a:ea typeface="Microsoft YaHei"/>
                        </a:rPr>
                        <a:t>Sorry! / Oops, sorry.</a:t>
                      </a:r>
                    </a:p>
                  </a:txBody>
                  <a:tcPr anchor="ctr">
                    <a:solidFill>
                      <a:srgbClr val="FFFFFF"/>
                    </a:solidFill>
                  </a:tcPr>
                </a:tc>
                <a:tc>
                  <a:txBody>
                    <a:bodyPr wrap="square"/>
                    <a:lstStyle/>
                    <a:p>
                      <a:r>
                        <a:rPr sz="1600" b="0">
                          <a:solidFill>
                            <a:srgbClr val="1F2A44"/>
                          </a:solidFill>
                          <a:latin typeface="Arial"/>
                          <a:ea typeface="Microsoft YaHei"/>
                        </a:rPr>
                        <a:t>Small things (bumping, interrupting)</a:t>
                      </a:r>
                    </a:p>
                  </a:txBody>
                  <a:tcPr anchor="ctr">
                    <a:solidFill>
                      <a:srgbClr val="FFFFFF"/>
                    </a:solidFill>
                  </a:tcPr>
                </a:tc>
              </a:tr>
              <a:tr h="652272">
                <a:tc>
                  <a:txBody>
                    <a:bodyPr wrap="square"/>
                    <a:lstStyle/>
                    <a:p>
                      <a:r>
                        <a:rPr sz="1600" b="1">
                          <a:solidFill>
                            <a:srgbClr val="1F2A44"/>
                          </a:solidFill>
                          <a:latin typeface="Arial"/>
                          <a:ea typeface="Microsoft YaHei"/>
                        </a:rPr>
                        <a:t>Medium</a:t>
                      </a:r>
                    </a:p>
                  </a:txBody>
                  <a:tcPr anchor="ctr">
                    <a:solidFill>
                      <a:srgbClr val="FFEFD9"/>
                    </a:solidFill>
                  </a:tcPr>
                </a:tc>
                <a:tc>
                  <a:txBody>
                    <a:bodyPr wrap="square"/>
                    <a:lstStyle/>
                    <a:p>
                      <a:r>
                        <a:rPr sz="1600" b="0">
                          <a:solidFill>
                            <a:srgbClr val="1F2A44"/>
                          </a:solidFill>
                          <a:latin typeface="Arial"/>
                          <a:ea typeface="Microsoft YaHei"/>
                        </a:rPr>
                        <a:t>I’m so sorry about that. / I’m really sorry for…</a:t>
                      </a:r>
                    </a:p>
                  </a:txBody>
                  <a:tcPr anchor="ctr">
                    <a:solidFill>
                      <a:srgbClr val="FFEFD9"/>
                    </a:solidFill>
                  </a:tcPr>
                </a:tc>
                <a:tc>
                  <a:txBody>
                    <a:bodyPr wrap="square"/>
                    <a:lstStyle/>
                    <a:p>
                      <a:r>
                        <a:rPr sz="1600" b="0">
                          <a:solidFill>
                            <a:srgbClr val="1F2A44"/>
                          </a:solidFill>
                          <a:latin typeface="Arial"/>
                          <a:ea typeface="Microsoft YaHei"/>
                        </a:rPr>
                        <a:t>Colleagues, normal mistakes</a:t>
                      </a:r>
                    </a:p>
                  </a:txBody>
                  <a:tcPr anchor="ctr">
                    <a:solidFill>
                      <a:srgbClr val="FFEFD9"/>
                    </a:solidFill>
                  </a:tcPr>
                </a:tc>
              </a:tr>
              <a:tr h="652272">
                <a:tc>
                  <a:txBody>
                    <a:bodyPr wrap="square"/>
                    <a:lstStyle/>
                    <a:p>
                      <a:r>
                        <a:rPr sz="1600" b="1">
                          <a:solidFill>
                            <a:srgbClr val="1F2A44"/>
                          </a:solidFill>
                          <a:latin typeface="Arial"/>
                          <a:ea typeface="Microsoft YaHei"/>
                        </a:rPr>
                        <a:t>Formal ★</a:t>
                      </a:r>
                    </a:p>
                  </a:txBody>
                  <a:tcPr anchor="ctr">
                    <a:solidFill>
                      <a:srgbClr val="FFFFFF"/>
                    </a:solidFill>
                  </a:tcPr>
                </a:tc>
                <a:tc>
                  <a:txBody>
                    <a:bodyPr wrap="square"/>
                    <a:lstStyle/>
                    <a:p>
                      <a:r>
                        <a:rPr sz="1600" b="0">
                          <a:solidFill>
                            <a:srgbClr val="1F2A44"/>
                          </a:solidFill>
                          <a:latin typeface="Arial"/>
                          <a:ea typeface="Microsoft YaHei"/>
                        </a:rPr>
                        <a:t>I apologize for… / Please accept our apologies.</a:t>
                      </a:r>
                    </a:p>
                  </a:txBody>
                  <a:tcPr anchor="ctr">
                    <a:solidFill>
                      <a:srgbClr val="FFFFFF"/>
                    </a:solidFill>
                  </a:tcPr>
                </a:tc>
                <a:tc>
                  <a:txBody>
                    <a:bodyPr wrap="square"/>
                    <a:lstStyle/>
                    <a:p>
                      <a:r>
                        <a:rPr sz="1600" b="0">
                          <a:solidFill>
                            <a:srgbClr val="1F2A44"/>
                          </a:solidFill>
                          <a:latin typeface="Arial"/>
                          <a:ea typeface="Microsoft YaHei"/>
                        </a:rPr>
                        <a:t>Customers, written apologies</a:t>
                      </a:r>
                    </a:p>
                  </a:txBody>
                  <a:tcPr anchor="ctr">
                    <a:solidFill>
                      <a:srgbClr val="FFFFFF"/>
                    </a:solidFill>
                  </a:tcPr>
                </a:tc>
              </a:tr>
              <a:tr h="652272">
                <a:tc>
                  <a:txBody>
                    <a:bodyPr wrap="square"/>
                    <a:lstStyle/>
                    <a:p>
                      <a:r>
                        <a:rPr sz="1600" b="1">
                          <a:solidFill>
                            <a:srgbClr val="1F2A44"/>
                          </a:solidFill>
                          <a:latin typeface="Arial"/>
                          <a:ea typeface="Microsoft YaHei"/>
                        </a:rPr>
                        <a:t>Serious ★</a:t>
                      </a:r>
                    </a:p>
                  </a:txBody>
                  <a:tcPr anchor="ctr">
                    <a:solidFill>
                      <a:srgbClr val="FFEFD9"/>
                    </a:solidFill>
                  </a:tcPr>
                </a:tc>
                <a:tc>
                  <a:txBody>
                    <a:bodyPr wrap="square"/>
                    <a:lstStyle/>
                    <a:p>
                      <a:r>
                        <a:rPr sz="1600" b="0">
                          <a:solidFill>
                            <a:srgbClr val="1F2A44"/>
                          </a:solidFill>
                          <a:latin typeface="Arial"/>
                          <a:ea typeface="Microsoft YaHei"/>
                        </a:rPr>
                        <a:t>I sincerely apologize. I take full responsibility.</a:t>
                      </a:r>
                    </a:p>
                  </a:txBody>
                  <a:tcPr anchor="ctr">
                    <a:solidFill>
                      <a:srgbClr val="FFEFD9"/>
                    </a:solidFill>
                  </a:tcPr>
                </a:tc>
                <a:tc>
                  <a:txBody>
                    <a:bodyPr wrap="square"/>
                    <a:lstStyle/>
                    <a:p>
                      <a:r>
                        <a:rPr sz="1600" b="0">
                          <a:solidFill>
                            <a:srgbClr val="1F2A44"/>
                          </a:solidFill>
                          <a:latin typeface="Arial"/>
                          <a:ea typeface="Microsoft YaHei"/>
                        </a:rPr>
                        <a:t>Serious problems, repeated mistakes</a:t>
                      </a:r>
                    </a:p>
                  </a:txBody>
                  <a:tcPr anchor="ctr">
                    <a:solidFill>
                      <a:srgbClr val="FFEFD9"/>
                    </a:solidFill>
                  </a:tcPr>
                </a:tc>
              </a:tr>
            </a:tbl>
          </a:graphicData>
        </a:graphic>
      </p:graphicFrame>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Strength of apology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道歉的力度</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sorry for + noun / -ing: </a:t>
            </a:r>
            <a:r>
              <a:rPr sz="1700" b="0">
                <a:solidFill>
                  <a:srgbClr val="1F2A44"/>
                </a:solidFill>
                <a:latin typeface="Arial"/>
                <a:ea typeface="Microsoft YaHei"/>
              </a:rPr>
              <a:t>“Sorry for the delay.” / “Sorry for being late.”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sorry that + clause: </a:t>
            </a:r>
            <a:r>
              <a:rPr sz="1700" b="0">
                <a:solidFill>
                  <a:srgbClr val="1F2A44"/>
                </a:solidFill>
                <a:latin typeface="Arial"/>
                <a:ea typeface="Microsoft YaHei"/>
              </a:rPr>
              <a:t>“I’m sorry that you had to wait.”</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sorry to + verb: </a:t>
            </a:r>
            <a:r>
              <a:rPr sz="1700" b="0">
                <a:solidFill>
                  <a:srgbClr val="1F2A44"/>
                </a:solidFill>
                <a:latin typeface="Arial"/>
                <a:ea typeface="Microsoft YaHei"/>
              </a:rPr>
              <a:t>“I’m sorry to hear that.” / “Sorry to bother you.”</a:t>
            </a:r>
          </a:p>
        </p:txBody>
      </p:sp>
      <p:sp>
        <p:nvSpPr>
          <p:cNvPr id="18" name="Rounded Rectangle 17"/>
          <p:cNvSpPr/>
          <p:nvPr/>
        </p:nvSpPr>
        <p:spPr>
          <a:xfrm>
            <a:off x="548640" y="301751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701039"/>
          </a:xfrm>
          <a:prstGeom prst="rect">
            <a:avLst/>
          </a:prstGeom>
          <a:noFill/>
        </p:spPr>
        <p:txBody>
          <a:bodyPr wrap="square" anchor="ctr">
            <a:spAutoFit/>
          </a:bodyPr>
          <a:lstStyle/>
          <a:p>
            <a:r>
              <a:rPr sz="1700" b="1">
                <a:solidFill>
                  <a:srgbClr val="FFC857"/>
                </a:solidFill>
                <a:latin typeface="Arial"/>
                <a:ea typeface="Microsoft YaHei"/>
              </a:rPr>
              <a:t>Don’t add but. Compare: </a:t>
            </a:r>
            <a:r>
              <a:rPr sz="1700" b="0">
                <a:solidFill>
                  <a:srgbClr val="1F2A44"/>
                </a:solidFill>
                <a:latin typeface="Arial"/>
                <a:ea typeface="Microsoft YaHei"/>
              </a:rPr>
              <a:t>“I’m sorry I’m late, but the traffic was terrible.” (excuse) vs “I’m sorry I’m late. The traffic was terrible.” (explanation)</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sorry for trouble you.</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sorry to trouble you. / I’m sorry for the trouble.</a:t>
            </a:r>
          </a:p>
          <a:p>
            <a:pPr algn="l">
              <a:spcAft>
                <a:spcPts val="200"/>
              </a:spcAft>
            </a:pPr>
            <a:r>
              <a:rPr sz="1200" b="0">
                <a:solidFill>
                  <a:srgbClr val="FFFFFF"/>
                </a:solidFill>
                <a:latin typeface="Arial"/>
                <a:ea typeface="Microsoft YaHei"/>
              </a:rPr>
              <a:t>sorry to + 动词 / sorry for + 名词</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sorry to be late. (about a past event)</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sorry I’m late. / I’m sorry for being late.</a:t>
            </a:r>
          </a:p>
          <a:p>
            <a:pPr algn="l">
              <a:spcAft>
                <a:spcPts val="200"/>
              </a:spcAft>
            </a:pPr>
            <a:r>
              <a:rPr sz="1200" b="0">
                <a:solidFill>
                  <a:srgbClr val="FFFFFF"/>
                </a:solidFill>
                <a:latin typeface="Arial"/>
                <a:ea typeface="Microsoft YaHei"/>
              </a:rPr>
              <a:t>已经迟到:用现在时 I’m late</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Sorry sorry sorry, it’s my fault!</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sorry about that. That was my mistake.</a:t>
            </a:r>
          </a:p>
          <a:p>
            <a:pPr algn="l">
              <a:spcAft>
                <a:spcPts val="200"/>
              </a:spcAft>
            </a:pPr>
            <a:r>
              <a:rPr sz="1200" b="0">
                <a:solidFill>
                  <a:srgbClr val="FFFFFF"/>
                </a:solidFill>
                <a:latin typeface="Arial"/>
                <a:ea typeface="Microsoft YaHei"/>
              </a:rPr>
              <a:t>道歉一次就够,要有具体内容</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Excuse me, I made a mistake.</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sorry, that was my mistake.</a:t>
            </a:r>
          </a:p>
          <a:p>
            <a:pPr algn="l">
              <a:spcAft>
                <a:spcPts val="200"/>
              </a:spcAft>
            </a:pPr>
            <a:r>
              <a:rPr sz="1200" b="0">
                <a:solidFill>
                  <a:srgbClr val="FFFFFF"/>
                </a:solidFill>
                <a:latin typeface="Arial"/>
                <a:ea typeface="Microsoft YaHei"/>
              </a:rPr>
              <a:t>excuse me 用于引起注意,不是道歉</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apology for the delay.</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apologize for the delay.</a:t>
            </a:r>
          </a:p>
          <a:p>
            <a:pPr algn="l">
              <a:spcAft>
                <a:spcPts val="200"/>
              </a:spcAft>
            </a:pPr>
            <a:r>
              <a:rPr sz="1200" b="0">
                <a:solidFill>
                  <a:srgbClr val="FFFFFF"/>
                </a:solidFill>
                <a:latin typeface="Arial"/>
                <a:ea typeface="Microsoft YaHei"/>
              </a:rPr>
              <a:t>动词 apologize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Sorry for my bad English.</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Sorry, could you say that again?</a:t>
            </a:r>
          </a:p>
          <a:p>
            <a:pPr algn="l">
              <a:spcAft>
                <a:spcPts val="200"/>
              </a:spcAft>
            </a:pPr>
            <a:r>
              <a:rPr sz="1200" b="0">
                <a:solidFill>
                  <a:srgbClr val="FFFFFF"/>
                </a:solidFill>
                <a:latin typeface="Arial"/>
                <a:ea typeface="Microsoft YaHei"/>
              </a:rPr>
              <a:t>不要为英语道歉</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not my fault, it’s the system.</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There seems to have been a problem with the system. I’ll look into it.</a:t>
            </a:r>
          </a:p>
          <a:p>
            <a:pPr algn="l">
              <a:spcAft>
                <a:spcPts val="200"/>
              </a:spcAft>
            </a:pPr>
            <a:r>
              <a:rPr sz="1200" b="0">
                <a:solidFill>
                  <a:srgbClr val="FFFFFF"/>
                </a:solidFill>
                <a:latin typeface="Arial"/>
                <a:ea typeface="Microsoft YaHei"/>
              </a:rPr>
              <a:t>不要推卸责任</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doesn’t matter. (reply to an apology)</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That’s all right. / No harm done.</a:t>
            </a:r>
          </a:p>
          <a:p>
            <a:pPr algn="l">
              <a:spcAft>
                <a:spcPts val="200"/>
              </a:spcAft>
            </a:pPr>
            <a:r>
              <a:rPr sz="1200" b="0">
                <a:solidFill>
                  <a:srgbClr val="FFFFFF"/>
                </a:solidFill>
                <a:latin typeface="Arial"/>
                <a:ea typeface="Microsoft YaHei"/>
              </a:rPr>
              <a:t>It doesn’t matter 语气冷淡</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Thanks for your understand.</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your understanding.</a:t>
            </a:r>
          </a:p>
          <a:p>
            <a:pPr algn="l">
              <a:spcAft>
                <a:spcPts val="200"/>
              </a:spcAft>
            </a:pPr>
            <a:r>
              <a:rPr sz="1200" b="0">
                <a:solidFill>
                  <a:srgbClr val="FFFFFF"/>
                </a:solidFill>
                <a:latin typeface="Arial"/>
                <a:ea typeface="Microsoft YaHei"/>
              </a:rPr>
              <a:t>名词 understanding</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inconvinience / responsability</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inconvenience / responsibility</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Excuse me = get attention; Sorry / I apologize = say sorry. Sorry for (noun / -ing), sorry to (verb), sorry (that) + clause.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Apologizing in the UK is automatic. British people say “Sorry” for small things (bumping into a chair). It doesn’t always mean they did something wrong.</a:t>
            </a:r>
          </a:p>
        </p:txBody>
      </p:sp>
      <p:sp>
        <p:nvSpPr>
          <p:cNvPr id="12" name="Rounded Rectangle 11"/>
          <p:cNvSpPr/>
          <p:nvPr/>
        </p:nvSpPr>
        <p:spPr>
          <a:xfrm>
            <a:off x="548640" y="2209799"/>
            <a:ext cx="11094415" cy="960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96012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960120"/>
          </a:xfrm>
          <a:prstGeom prst="rect">
            <a:avLst/>
          </a:prstGeom>
          <a:noFill/>
        </p:spPr>
        <p:txBody>
          <a:bodyPr wrap="square" anchor="ctr">
            <a:spAutoFit/>
          </a:bodyPr>
          <a:lstStyle/>
          <a:p>
            <a:r>
              <a:rPr sz="1700" b="0">
                <a:solidFill>
                  <a:srgbClr val="1F2A44"/>
                </a:solidFill>
                <a:latin typeface="Arial"/>
                <a:ea typeface="Microsoft YaHei"/>
              </a:rPr>
              <a:t>In business, a clear apology builds trust. In China, giving a gift or a meal after a problem is common. In Western business, a clear apology and a concrete solution (refund, discount, corrected invoice) matter more.</a:t>
            </a:r>
          </a:p>
        </p:txBody>
      </p:sp>
      <p:sp>
        <p:nvSpPr>
          <p:cNvPr id="15" name="Rounded Rectangle 14"/>
          <p:cNvSpPr/>
          <p:nvPr/>
        </p:nvSpPr>
        <p:spPr>
          <a:xfrm>
            <a:off x="548640" y="326135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61359"/>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261359"/>
            <a:ext cx="10728655" cy="701039"/>
          </a:xfrm>
          <a:prstGeom prst="rect">
            <a:avLst/>
          </a:prstGeom>
          <a:noFill/>
        </p:spPr>
        <p:txBody>
          <a:bodyPr wrap="square" anchor="ctr">
            <a:spAutoFit/>
          </a:bodyPr>
          <a:lstStyle/>
          <a:p>
            <a:r>
              <a:rPr sz="1700" b="0">
                <a:solidFill>
                  <a:srgbClr val="1F2A44"/>
                </a:solidFill>
                <a:latin typeface="Arial"/>
                <a:ea typeface="Microsoft YaHei"/>
              </a:rPr>
              <a:t>Don’t blame others. Even if it was not your fault, say “I’m sorry about the problem” and then solve it.</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Legal caution: </a:t>
            </a:r>
            <a:r>
              <a:rPr sz="1700" b="0">
                <a:solidFill>
                  <a:srgbClr val="1F2A44"/>
                </a:solidFill>
                <a:latin typeface="Arial"/>
                <a:ea typeface="Microsoft YaHei"/>
              </a:rPr>
              <a:t>In some countries (for example the US), companies avoid saying “It’s our fault” in writing. Use “We regret the inconvenience” when you are not sure.</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Don’t over-apologize. Repeating “sorry” many times makes you sound nervous. One sincere apology plus action is stronger.</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apologize with I’m so sorry about… I apologize for… Please accept our apologies.</a:t>
            </a:r>
          </a:p>
        </p:txBody>
      </p:sp>
      <p:sp>
        <p:nvSpPr>
          <p:cNvPr id="12" name="TextBox 11"/>
          <p:cNvSpPr txBox="1"/>
          <p:nvPr/>
        </p:nvSpPr>
        <p:spPr>
          <a:xfrm>
            <a:off x="9539935" y="1508760"/>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50008"/>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50008"/>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50008"/>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take responsibility (That was my mistake. It’s entirely our fault.) without making excuses.</a:t>
            </a:r>
          </a:p>
        </p:txBody>
      </p:sp>
      <p:sp>
        <p:nvSpPr>
          <p:cNvPr id="16" name="TextBox 15"/>
          <p:cNvSpPr txBox="1"/>
          <p:nvPr/>
        </p:nvSpPr>
        <p:spPr>
          <a:xfrm>
            <a:off x="9539935" y="2350008"/>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191256"/>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191256"/>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191256"/>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offer a solution and a promise (Let me make it up to you. We’ll make sure it doesn’t happen again.).</a:t>
            </a:r>
          </a:p>
        </p:txBody>
      </p:sp>
      <p:sp>
        <p:nvSpPr>
          <p:cNvPr id="20" name="TextBox 19"/>
          <p:cNvSpPr txBox="1"/>
          <p:nvPr/>
        </p:nvSpPr>
        <p:spPr>
          <a:xfrm>
            <a:off x="9539935" y="3191256"/>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4032504"/>
            <a:ext cx="11094415" cy="74980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032504"/>
            <a:ext cx="548640" cy="74980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4032504"/>
            <a:ext cx="8168335" cy="74980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accept an apology (That’s all right. No harm done. These things happen.).</a:t>
            </a:r>
          </a:p>
        </p:txBody>
      </p:sp>
      <p:sp>
        <p:nvSpPr>
          <p:cNvPr id="24" name="TextBox 23"/>
          <p:cNvSpPr txBox="1"/>
          <p:nvPr/>
        </p:nvSpPr>
        <p:spPr>
          <a:xfrm>
            <a:off x="9539935" y="4032504"/>
            <a:ext cx="2011680" cy="74980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73752"/>
            <a:ext cx="11094415" cy="4754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73752"/>
            <a:ext cx="548640" cy="4754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73752"/>
            <a:ext cx="8168335" cy="47548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I can use sorry for / to / that, apologize, and excuse me correctly.</a:t>
            </a:r>
          </a:p>
        </p:txBody>
      </p:sp>
      <p:sp>
        <p:nvSpPr>
          <p:cNvPr id="28" name="TextBox 27"/>
          <p:cNvSpPr txBox="1"/>
          <p:nvPr/>
        </p:nvSpPr>
        <p:spPr>
          <a:xfrm>
            <a:off x="9539935" y="4873752"/>
            <a:ext cx="2011680" cy="4754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20 Apologizing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98755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98755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sorry for / to / that, apologize (verb) / apology (noun), no “but” after sorry, and spelling (inconvenience).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5 · Lesson 21 Telephone small talk</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Telephone small talk</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电话寒暄</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900" b="0">
                <a:solidFill>
                  <a:srgbClr val="FFC857"/>
                </a:solidFill>
                <a:latin typeface="Arial"/>
                <a:ea typeface="Microsoft YaHei"/>
              </a:rPr>
              <a:t>🎯 start and finish phone calls with friendly small talk: ask about the person, the weather, time zones and travel, move naturally to business, and close the call warmly.</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5260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Do you chat before you get to the point on a business call? What do you talk about?</a:t>
            </a:r>
          </a:p>
        </p:txBody>
      </p:sp>
      <p:sp>
        <p:nvSpPr>
          <p:cNvPr id="12" name="Oval 11"/>
          <p:cNvSpPr/>
          <p:nvPr/>
        </p:nvSpPr>
        <p:spPr>
          <a:xfrm>
            <a:off x="548640" y="259384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63368"/>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563368"/>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start a call with a client you know well?</a:t>
            </a:r>
          </a:p>
        </p:txBody>
      </p:sp>
      <p:sp>
        <p:nvSpPr>
          <p:cNvPr id="15" name="Oval 14"/>
          <p:cNvSpPr/>
          <p:nvPr/>
        </p:nvSpPr>
        <p:spPr>
          <a:xfrm>
            <a:off x="548640" y="326745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236976"/>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236976"/>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What is different between small talk face-to-face and on the phone?</a:t>
            </a:r>
          </a:p>
        </p:txBody>
      </p:sp>
      <p:sp>
        <p:nvSpPr>
          <p:cNvPr id="18" name="Oval 17"/>
          <p:cNvSpPr/>
          <p:nvPr/>
        </p:nvSpPr>
        <p:spPr>
          <a:xfrm>
            <a:off x="548640" y="410870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910584"/>
            <a:ext cx="10408615" cy="89916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910584"/>
            <a:ext cx="10180015" cy="89916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Tell me about a friendly business call you had recently. What did you talk about?</a:t>
            </a:r>
          </a:p>
        </p:txBody>
      </p:sp>
      <p:sp>
        <p:nvSpPr>
          <p:cNvPr id="21" name="Oval 20"/>
          <p:cNvSpPr/>
          <p:nvPr/>
        </p:nvSpPr>
        <p:spPr>
          <a:xfrm>
            <a:off x="548640" y="494995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19472"/>
            <a:ext cx="10408615" cy="56388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19472"/>
            <a:ext cx="10180015" cy="563880"/>
          </a:xfrm>
          <a:prstGeom prst="rect">
            <a:avLst/>
          </a:prstGeom>
          <a:noFill/>
        </p:spPr>
        <p:txBody>
          <a:bodyPr wrap="square" anchor="ctr">
            <a:spAutoFit/>
          </a:bodyPr>
          <a:lstStyle/>
          <a:p>
            <a:pPr algn="l">
              <a:lnSpc>
                <a:spcPct val="115000"/>
              </a:lnSpc>
              <a:spcAft>
                <a:spcPts val="800"/>
              </a:spcAft>
            </a:pPr>
            <a:r>
              <a:rPr sz="2200" b="0">
                <a:solidFill>
                  <a:srgbClr val="1F2A44"/>
                </a:solidFill>
                <a:latin typeface="Arial"/>
                <a:ea typeface="Microsoft YaHei"/>
              </a:rPr>
              <a:t>How do you know when to stop chatting and start the business?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题讲过去的事,请用过去式(talked, asked, laughed)。第 3 题:电话里看不到表情,所以要用声音表达友好。</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Show how you start a call with a client you haven’t spoken to for months.</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1. greeting</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2. how are you / how is business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 one personal comment</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 “the reason I’m calling is…”</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 business</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Hello, how are you?   💬 It’s been a while.   💬 How’s everything going?   💬 Anyway, the reason I’m calling is…</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回答 How are you? 时要加一句:“Fine, thanks. And you?”。从寒暄转到正事:Anyway, the reason I’m calling is…。</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Opening the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开场寒暄</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How are you? / How are things?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你好吗?/ 最近怎么样?</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“Hello, Henry! How are things?”</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It’s been a while.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好久不见了</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been a while since we spoke.”</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hope you’re keeping well.</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希望您一切安好</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hope you’re keeping well.”</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How’s business?</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生意怎么样?</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“How’s business?” — “Busy, but good.”</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time is it there?</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你那边几点?</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time is it there? I hope it’s not too late.”</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Chatting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闲聊</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How was your weekend / holiday?</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周末/假期过得怎么样?</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was your holiday in Spain?”</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How’s the weather there?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你那边天气怎么样?</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“How’s the weather there?” — “Pouring with rain, as usual.”</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 hope I’m not calling too early / late.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希望我没有打得太早/太晚</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hope I’m not calling too early.”</a:t>
            </a:r>
          </a:p>
        </p:txBody>
      </p:sp>
      <p:sp>
        <p:nvSpPr>
          <p:cNvPr id="24" name="Rounded Rectangle 23"/>
          <p:cNvSpPr/>
          <p:nvPr/>
        </p:nvSpPr>
        <p:spPr>
          <a:xfrm>
            <a:off x="548640" y="44424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That sounds lovely. / Lucky you!</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4881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听起来真好 / 你真幸运!</a:t>
            </a:r>
          </a:p>
        </p:txBody>
      </p:sp>
      <p:sp>
        <p:nvSpPr>
          <p:cNvPr id="28" name="TextBox 27"/>
          <p:cNvSpPr txBox="1"/>
          <p:nvPr/>
        </p:nvSpPr>
        <p:spPr>
          <a:xfrm>
            <a:off x="6675120" y="44881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week in Italy? Lucky you!”</a:t>
            </a:r>
          </a:p>
        </p:txBody>
      </p:sp>
      <p:sp>
        <p:nvSpPr>
          <p:cNvPr id="29" name="Rounded Rectangle 28"/>
          <p:cNvSpPr/>
          <p:nvPr/>
        </p:nvSpPr>
        <p:spPr>
          <a:xfrm>
            <a:off x="548640" y="54508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508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4965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Give my regards to…</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4965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请代我向……问好</a:t>
            </a:r>
          </a:p>
        </p:txBody>
      </p:sp>
      <p:sp>
        <p:nvSpPr>
          <p:cNvPr id="33" name="TextBox 32"/>
          <p:cNvSpPr txBox="1"/>
          <p:nvPr/>
        </p:nvSpPr>
        <p:spPr>
          <a:xfrm>
            <a:off x="6675120" y="54965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give my regards to your team.”</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3: Moving to business and closing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转入正题与结束</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Anyway, the reason I’m calling is…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好了,我打电话的原因是……</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“Anyway, the reason I’m calling is to ask about the contract.”</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let you get back to work.</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不耽误您工作了</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let you get back to work.”</a:t>
            </a:r>
          </a:p>
        </p:txBody>
      </p:sp>
      <p:sp>
        <p:nvSpPr>
          <p:cNvPr id="19" name="Rounded Rectangle 18"/>
          <p:cNvSpPr/>
          <p:nvPr/>
        </p:nvSpPr>
        <p:spPr>
          <a:xfrm>
            <a:off x="548640" y="34340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Let’s catch up soon.</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34798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找时间再聊</a:t>
            </a:r>
          </a:p>
        </p:txBody>
      </p:sp>
      <p:sp>
        <p:nvSpPr>
          <p:cNvPr id="23" name="TextBox 22"/>
          <p:cNvSpPr txBox="1"/>
          <p:nvPr/>
        </p:nvSpPr>
        <p:spPr>
          <a:xfrm>
            <a:off x="6675120" y="34798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catch up soon, over lunch.”</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Say hello to…</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向……问好</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“Say hello to your family.”</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care. / Speak soon.</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保重/回头再聊</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“Take care. Speak soon.”</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你那边天气怎么样?</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How’s the weather there?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好久不见了</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It’s been a while.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不耽误您工作了</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I’ll let you get back to work.</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你好吗?/ 最近怎么样?</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How are you? / How are things?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生意怎么样?</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How’s business?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保重/回头再聊</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care. / Speak soon.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找时间再聊</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catch up soon.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听起来真好 / 你真幸运!</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That sounds lovely. / Lucky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things</a:t>
            </a:r>
          </a:p>
        </p:txBody>
      </p:sp>
      <p:sp>
        <p:nvSpPr>
          <p:cNvPr id="10" name="Rounded Rectangle 9"/>
          <p:cNvSpPr/>
          <p:nvPr/>
        </p:nvSpPr>
        <p:spPr>
          <a:xfrm>
            <a:off x="3127248"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catch</a:t>
            </a:r>
          </a:p>
        </p:txBody>
      </p:sp>
      <p:sp>
        <p:nvSpPr>
          <p:cNvPr id="11" name="Rounded Rectangle 10"/>
          <p:cNvSpPr/>
          <p:nvPr/>
        </p:nvSpPr>
        <p:spPr>
          <a:xfrm>
            <a:off x="4133088"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early</a:t>
            </a:r>
          </a:p>
        </p:txBody>
      </p:sp>
      <p:sp>
        <p:nvSpPr>
          <p:cNvPr id="12" name="Rounded Rectangle 11"/>
          <p:cNvSpPr/>
          <p:nvPr/>
        </p:nvSpPr>
        <p:spPr>
          <a:xfrm>
            <a:off x="5138928"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Anyway</a:t>
            </a:r>
          </a:p>
        </p:txBody>
      </p:sp>
      <p:sp>
        <p:nvSpPr>
          <p:cNvPr id="13" name="Rounded Rectangle 12"/>
          <p:cNvSpPr/>
          <p:nvPr/>
        </p:nvSpPr>
        <p:spPr>
          <a:xfrm>
            <a:off x="6254496"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regards</a:t>
            </a:r>
          </a:p>
        </p:txBody>
      </p:sp>
      <p:sp>
        <p:nvSpPr>
          <p:cNvPr id="14" name="Rounded Rectangle 13"/>
          <p:cNvSpPr/>
          <p:nvPr/>
        </p:nvSpPr>
        <p:spPr>
          <a:xfrm>
            <a:off x="7479792"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while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Hello, Henry! How are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things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It’s been a _______ since we spoke.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while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 hope I’m not calling too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early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Please give my _______ to your team.</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regards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_______, the reason I’m calling is the contract.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Anyway</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Let’s _______ up soon. Take care.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catch</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语调与拼写): weather (not “wheather”), regards (with an s), holiday. “How was your weekend?” uses was (past), because the weekend is finished.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 friendly call with a long-time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与老客户的电话寒暄</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Li Wei calls Karen Ortiz, an overseas client she hasn’t spoken to for three months.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Karen Ortiz</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friendly call with a long-time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Karen! It’s Li Wei from Orion. How are you?</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Karen</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Li Wei! What a nice surprise. I’m very well, thanks. It’s been a while.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has. I hope I’m not calling too early. What time is it there?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just after eight in the morning. I’m still having my coffee.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 I know that feeling. How was your holiday? Didn’t you go to Portugal?</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a week in Lisbon. It was lovely. And the weather was perfect.</a:t>
            </a:r>
          </a:p>
        </p:txBody>
      </p:sp>
      <p:sp>
        <p:nvSpPr>
          <p:cNvPr id="26" name="Rounded Rectangle 25"/>
          <p:cNvSpPr/>
          <p:nvPr/>
        </p:nvSpPr>
        <p:spPr>
          <a:xfrm>
            <a:off x="548640" y="53980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3980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Lucky you! It’s been raining here for a week.</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friendly call with a long-time client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Poor you! How’s business?</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Busy, but good. Anyway, the reason I’m calling is to ask about the new order.</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Go ahead.</a:t>
            </a:r>
          </a:p>
        </p:txBody>
      </p:sp>
      <p:sp>
        <p:nvSpPr>
          <p:cNvPr id="17" name="Rounded Rectangle 16"/>
          <p:cNvSpPr/>
          <p:nvPr/>
        </p:nvSpPr>
        <p:spPr>
          <a:xfrm>
            <a:off x="548640" y="3361944"/>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two continue with the business discussion.</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Karen. I’ll let you get back to work. Please give my regards to Mark.</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will. Take care, Li Wei. Let’s catch up soon.</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 friendly call with a long-time client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phone a client you know well.</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Your name and reason: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in another country and time zone.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It’s been a while. · How was your…? · I hope I’m not calling too… · Anyway, the reason I’m calling is… · Give my regards to…</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4 lines of small talk, a smooth switch to business, and a warm closing.</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client sounds tired. Say: “You sound a bit tired. Is it a bad time? I can call back.”</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shared interest: “Did you watch the match last night?”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Keep small talk to 45 seconds and then move to business.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A short call with a colleague in another time zone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与不同时区同事的简短通话</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call a colleague in London at the end of your working day.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(Shanghai)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Dan Reed (London)</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short call with a colleague in another time zone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Dan, it’s Li Wei. Is it OK to talk? It’s seven in the evening here.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Dan</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Hi, Li Wei. It’s eleven in the morning here, so it’s perfect. How are you?</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bad, thanks. A long day, but nearly done. How about you?</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Busy. We have the audit next week. How’s the weather in Shanghai?</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Hot and humid. It’s thirty-two degrees.</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envy you. It’s grey and cold here. I’m wearing three layers.</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 short call with a colleague in another time zone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know what you mean. Anyway, I’m calling about the shipping schedule. Have you got a minute?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Let’s go through it.</a:t>
            </a:r>
          </a:p>
        </p:txBody>
      </p:sp>
      <p:sp>
        <p:nvSpPr>
          <p:cNvPr id="14" name="Rounded Rectangle 13"/>
          <p:cNvSpPr/>
          <p:nvPr/>
        </p:nvSpPr>
        <p:spPr>
          <a:xfrm>
            <a:off x="548640" y="2779776"/>
            <a:ext cx="731520" cy="4572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two continue with the business discussion.</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all from me. I’ll let you get back to work. Speak soon.</a:t>
            </a:r>
          </a:p>
        </p:txBody>
      </p:sp>
      <p:sp>
        <p:nvSpPr>
          <p:cNvPr id="20" name="Rounded Rectangle 19"/>
          <p:cNvSpPr/>
          <p:nvPr/>
        </p:nvSpPr>
        <p:spPr>
          <a:xfrm>
            <a:off x="10911535" y="394411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394411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Li Wei. Say hello to the team. Bye.</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A short call with a colleague in another time zone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short call with a colleague in another country.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Check the time and move on to business after 3 lines of small talk.</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Talks about work and weather.</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Is it OK to talk? · What time is it there? · How’s the weather there? · Anyway, I’m calling about… · Speak soon.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friendly start, a clear reason for the call, and a quick friendly finish.</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Find a time that works for both time zones: “Would 3 p.m. your time suit you?”</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the phrase “my morning, your evening”.</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joke about the weather or the time difference.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small talk on the phone different from face-to-face small talk? How?</a:t>
            </a:r>
          </a:p>
          <a:p>
            <a:pPr algn="l">
              <a:lnSpc>
                <a:spcPct val="115000"/>
              </a:lnSpc>
              <a:spcAft>
                <a:spcPts val="800"/>
              </a:spcAft>
            </a:pPr>
            <a:r>
              <a:rPr sz="1400" b="0">
                <a:solidFill>
                  <a:srgbClr val="5F677A"/>
                </a:solidFill>
                <a:latin typeface="Arial"/>
                <a:ea typeface="Microsoft YaHei"/>
              </a:rPr>
              <a:t>💬 “On the phone, you can’t see… so you need to…” / “Phone small talk is usually shorter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good small-talk topics on a business call?</a:t>
            </a:r>
          </a:p>
          <a:p>
            <a:pPr algn="l">
              <a:lnSpc>
                <a:spcPct val="115000"/>
              </a:lnSpc>
              <a:spcAft>
                <a:spcPts val="800"/>
              </a:spcAft>
            </a:pPr>
            <a:r>
              <a:rPr sz="1400" b="0">
                <a:solidFill>
                  <a:srgbClr val="5F677A"/>
                </a:solidFill>
                <a:latin typeface="Arial"/>
                <a:ea typeface="Microsoft YaHei"/>
              </a:rPr>
              <a:t>💬 “Good topics are…” / “I usually ask about…”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handle time zones in your work?</a:t>
            </a:r>
          </a:p>
          <a:p>
            <a:pPr algn="l">
              <a:lnSpc>
                <a:spcPct val="115000"/>
              </a:lnSpc>
              <a:spcAft>
                <a:spcPts val="800"/>
              </a:spcAft>
            </a:pPr>
            <a:r>
              <a:rPr sz="1400" b="0">
                <a:solidFill>
                  <a:srgbClr val="5F677A"/>
                </a:solidFill>
                <a:latin typeface="Arial"/>
                <a:ea typeface="Microsoft YaHei"/>
              </a:rPr>
              <a:t>💬 “I use a time-zone app.” / “I try to schedule calls at…”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long should small talk be at the start of a call?</a:t>
            </a:r>
          </a:p>
          <a:p>
            <a:pPr algn="l">
              <a:lnSpc>
                <a:spcPct val="115000"/>
              </a:lnSpc>
              <a:spcAft>
                <a:spcPts val="800"/>
              </a:spcAft>
            </a:pPr>
            <a:r>
              <a:rPr sz="1400" b="0">
                <a:solidFill>
                  <a:srgbClr val="5F677A"/>
                </a:solidFill>
                <a:latin typeface="Arial"/>
                <a:ea typeface="Microsoft YaHei"/>
              </a:rPr>
              <a:t>💬 “About… seconds is enough.” / “With people I know well, I chat longer.”</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politely stop someone who talks too long?</a:t>
            </a:r>
          </a:p>
          <a:p>
            <a:pPr algn="l">
              <a:lnSpc>
                <a:spcPct val="115000"/>
              </a:lnSpc>
              <a:spcAft>
                <a:spcPts val="800"/>
              </a:spcAft>
            </a:pPr>
            <a:r>
              <a:rPr sz="1400" b="0">
                <a:solidFill>
                  <a:srgbClr val="5F677A"/>
                </a:solidFill>
                <a:latin typeface="Arial"/>
                <a:ea typeface="Microsoft YaHei"/>
              </a:rPr>
              <a:t>💬 “I say, ‘I don’t want to take up too much of your time, so…’” / “I try to move to the main topic with ‘Anyway…’.”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30 to 60 seconds is enough for most calls. It’s long enough to be friendly, but not so long that the other person gets bored. With people I know well, I chat for a bit longer. If someone talks too long, I say,”I don’t want to take up too much of your time, so shall we go through the agenda?” It keeps things polite and gets us back on track.</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“long enough to…, but not so long that…” 是 B2 的对比结构。“get back on track”(回到正题)是地道说法。“take up too much of your time”(占用您太多时间)。</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Phone-language script: friendly call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友好通话话术</a:t>
            </a:r>
          </a:p>
        </p:txBody>
      </p:sp>
      <p:graphicFrame>
        <p:nvGraphicFramePr>
          <p:cNvPr id="9" name="Table 8"/>
          <p:cNvGraphicFramePr>
            <a:graphicFrameLocks noGrp="1"/>
          </p:cNvGraphicFramePr>
          <p:nvPr/>
        </p:nvGraphicFramePr>
        <p:xfrm>
          <a:off x="548640" y="1417320"/>
          <a:ext cx="11094415" cy="3834384"/>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652272">
                <a:tc>
                  <a:txBody>
                    <a:bodyPr wrap="square"/>
                    <a:lstStyle/>
                    <a:p>
                      <a:r>
                        <a:rPr sz="1600" b="1">
                          <a:solidFill>
                            <a:srgbClr val="1F2A44"/>
                          </a:solidFill>
                          <a:latin typeface="Arial"/>
                          <a:ea typeface="Microsoft YaHei"/>
                        </a:rPr>
                        <a:t>Greet</a:t>
                      </a:r>
                    </a:p>
                  </a:txBody>
                  <a:tcPr anchor="ctr">
                    <a:solidFill>
                      <a:srgbClr val="FFFFFF"/>
                    </a:solidFill>
                  </a:tcPr>
                </a:tc>
                <a:tc>
                  <a:txBody>
                    <a:bodyPr wrap="square"/>
                    <a:lstStyle/>
                    <a:p>
                      <a:r>
                        <a:rPr sz="1600" b="0">
                          <a:solidFill>
                            <a:srgbClr val="1F2A44"/>
                          </a:solidFill>
                          <a:latin typeface="Arial"/>
                          <a:ea typeface="Microsoft YaHei"/>
                        </a:rPr>
                        <a:t>Hello, [Name]! It’s [Name] from [Company]. How are you?</a:t>
                      </a:r>
                    </a:p>
                  </a:txBody>
                  <a:tcPr anchor="ctr">
                    <a:solidFill>
                      <a:srgbClr val="FFFFFF"/>
                    </a:solidFill>
                  </a:tcPr>
                </a:tc>
              </a:tr>
              <a:tr h="652272">
                <a:tc>
                  <a:txBody>
                    <a:bodyPr wrap="square"/>
                    <a:lstStyle/>
                    <a:p>
                      <a:r>
                        <a:rPr sz="1600" b="1">
                          <a:solidFill>
                            <a:srgbClr val="1F2A44"/>
                          </a:solidFill>
                          <a:latin typeface="Arial"/>
                          <a:ea typeface="Microsoft YaHei"/>
                        </a:rPr>
                        <a:t>Check time</a:t>
                      </a:r>
                    </a:p>
                  </a:txBody>
                  <a:tcPr anchor="ctr">
                    <a:solidFill>
                      <a:srgbClr val="FFEFD9"/>
                    </a:solidFill>
                  </a:tcPr>
                </a:tc>
                <a:tc>
                  <a:txBody>
                    <a:bodyPr wrap="square"/>
                    <a:lstStyle/>
                    <a:p>
                      <a:r>
                        <a:rPr sz="1600" b="0">
                          <a:solidFill>
                            <a:srgbClr val="1F2A44"/>
                          </a:solidFill>
                          <a:latin typeface="Arial"/>
                          <a:ea typeface="Microsoft YaHei"/>
                        </a:rPr>
                        <a:t>Is this a good time? / I hope I’m not calling too early. ★</a:t>
                      </a:r>
                    </a:p>
                  </a:txBody>
                  <a:tcPr anchor="ctr">
                    <a:solidFill>
                      <a:srgbClr val="FFEFD9"/>
                    </a:solidFill>
                  </a:tcPr>
                </a:tc>
              </a:tr>
              <a:tr h="652272">
                <a:tc>
                  <a:txBody>
                    <a:bodyPr wrap="square"/>
                    <a:lstStyle/>
                    <a:p>
                      <a:r>
                        <a:rPr sz="1600" b="1">
                          <a:solidFill>
                            <a:srgbClr val="1F2A44"/>
                          </a:solidFill>
                          <a:latin typeface="Arial"/>
                          <a:ea typeface="Microsoft YaHei"/>
                        </a:rPr>
                        <a:t>Small talk</a:t>
                      </a:r>
                    </a:p>
                  </a:txBody>
                  <a:tcPr anchor="ctr">
                    <a:solidFill>
                      <a:srgbClr val="FFFFFF"/>
                    </a:solidFill>
                  </a:tcPr>
                </a:tc>
                <a:tc>
                  <a:txBody>
                    <a:bodyPr wrap="square"/>
                    <a:lstStyle/>
                    <a:p>
                      <a:r>
                        <a:rPr sz="1600" b="0">
                          <a:solidFill>
                            <a:srgbClr val="1F2A44"/>
                          </a:solidFill>
                          <a:latin typeface="Arial"/>
                          <a:ea typeface="Microsoft YaHei"/>
                        </a:rPr>
                        <a:t>How’s business? / How was your holiday? / How’s the weather there?</a:t>
                      </a:r>
                    </a:p>
                  </a:txBody>
                  <a:tcPr anchor="ctr">
                    <a:solidFill>
                      <a:srgbClr val="FFFFFF"/>
                    </a:solidFill>
                  </a:tcPr>
                </a:tc>
              </a:tr>
              <a:tr h="408432">
                <a:tc>
                  <a:txBody>
                    <a:bodyPr wrap="square"/>
                    <a:lstStyle/>
                    <a:p>
                      <a:r>
                        <a:rPr sz="1600" b="1">
                          <a:solidFill>
                            <a:srgbClr val="1F2A44"/>
                          </a:solidFill>
                          <a:latin typeface="Arial"/>
                          <a:ea typeface="Microsoft YaHei"/>
                        </a:rPr>
                        <a:t>Switch</a:t>
                      </a:r>
                    </a:p>
                  </a:txBody>
                  <a:tcPr anchor="ctr">
                    <a:solidFill>
                      <a:srgbClr val="FFEFD9"/>
                    </a:solidFill>
                  </a:tcPr>
                </a:tc>
                <a:tc>
                  <a:txBody>
                    <a:bodyPr wrap="square"/>
                    <a:lstStyle/>
                    <a:p>
                      <a:r>
                        <a:rPr sz="1600" b="0">
                          <a:solidFill>
                            <a:srgbClr val="1F2A44"/>
                          </a:solidFill>
                          <a:latin typeface="Arial"/>
                          <a:ea typeface="Microsoft YaHei"/>
                        </a:rPr>
                        <a:t>Anyway, the reason I’m calling is… ★</a:t>
                      </a:r>
                    </a:p>
                  </a:txBody>
                  <a:tcPr anchor="ctr">
                    <a:solidFill>
                      <a:srgbClr val="FFEFD9"/>
                    </a:solidFill>
                  </a:tcPr>
                </a:tc>
              </a:tr>
              <a:tr h="408432">
                <a:tc>
                  <a:txBody>
                    <a:bodyPr wrap="square"/>
                    <a:lstStyle/>
                    <a:p>
                      <a:r>
                        <a:rPr sz="1600" b="1">
                          <a:solidFill>
                            <a:srgbClr val="1F2A44"/>
                          </a:solidFill>
                          <a:latin typeface="Arial"/>
                          <a:ea typeface="Microsoft YaHei"/>
                        </a:rPr>
                        <a:t>Close business</a:t>
                      </a:r>
                    </a:p>
                  </a:txBody>
                  <a:tcPr anchor="ctr">
                    <a:solidFill>
                      <a:srgbClr val="FFFFFF"/>
                    </a:solidFill>
                  </a:tcPr>
                </a:tc>
                <a:tc>
                  <a:txBody>
                    <a:bodyPr wrap="square"/>
                    <a:lstStyle/>
                    <a:p>
                      <a:r>
                        <a:rPr sz="1600" b="0">
                          <a:solidFill>
                            <a:srgbClr val="1F2A44"/>
                          </a:solidFill>
                          <a:latin typeface="Arial"/>
                          <a:ea typeface="Microsoft YaHei"/>
                        </a:rPr>
                        <a:t>Thanks for your help. That’s all from me.</a:t>
                      </a:r>
                    </a:p>
                  </a:txBody>
                  <a:tcPr anchor="ctr">
                    <a:solidFill>
                      <a:srgbClr val="FFFFFF"/>
                    </a:solidFill>
                  </a:tcPr>
                </a:tc>
              </a:tr>
              <a:tr h="652272">
                <a:tc>
                  <a:txBody>
                    <a:bodyPr wrap="square"/>
                    <a:lstStyle/>
                    <a:p>
                      <a:r>
                        <a:rPr sz="1600" b="1">
                          <a:solidFill>
                            <a:srgbClr val="1F2A44"/>
                          </a:solidFill>
                          <a:latin typeface="Arial"/>
                          <a:ea typeface="Microsoft YaHei"/>
                        </a:rPr>
                        <a:t>Warm close</a:t>
                      </a:r>
                    </a:p>
                  </a:txBody>
                  <a:tcPr anchor="ctr">
                    <a:solidFill>
                      <a:srgbClr val="FFEFD9"/>
                    </a:solidFill>
                  </a:tcPr>
                </a:tc>
                <a:tc>
                  <a:txBody>
                    <a:bodyPr wrap="square"/>
                    <a:lstStyle/>
                    <a:p>
                      <a:r>
                        <a:rPr sz="1600" b="0">
                          <a:solidFill>
                            <a:srgbClr val="1F2A44"/>
                          </a:solidFill>
                          <a:latin typeface="Arial"/>
                          <a:ea typeface="Microsoft YaHei"/>
                        </a:rPr>
                        <a:t>Give my regards to… ★ / Let’s catch up soon. ★ / Take care.</a:t>
                      </a:r>
                    </a:p>
                  </a:txBody>
                  <a:tcPr anchor="ctr">
                    <a:solidFill>
                      <a:srgbClr val="FFEFD9"/>
                    </a:solidFill>
                  </a:tcPr>
                </a:tc>
              </a:tr>
            </a:tbl>
          </a:graphicData>
        </a:graphic>
      </p:graphicFrame>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Answering “How are you?”</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回答 “How are you?”</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Reply</a:t>
                      </a:r>
                    </a:p>
                  </a:txBody>
                  <a:tcPr anchor="ctr">
                    <a:solidFill>
                      <a:srgbClr val="3CC49A"/>
                    </a:solidFill>
                  </a:tcPr>
                </a:tc>
                <a:tc>
                  <a:txBody>
                    <a:bodyPr wrap="square"/>
                    <a:lstStyle/>
                    <a:p>
                      <a:r>
                        <a:rPr sz="1600" b="1">
                          <a:solidFill>
                            <a:srgbClr val="FFFFFF"/>
                          </a:solidFill>
                          <a:latin typeface="Arial"/>
                          <a:ea typeface="Microsoft YaHei"/>
                        </a:rPr>
                        <a:t>Meaning</a:t>
                      </a:r>
                    </a:p>
                  </a:txBody>
                  <a:tcPr anchor="ctr">
                    <a:solidFill>
                      <a:srgbClr val="3CC49A"/>
                    </a:solidFill>
                  </a:tcPr>
                </a:tc>
              </a:tr>
              <a:tr h="408432">
                <a:tc>
                  <a:txBody>
                    <a:bodyPr wrap="square"/>
                    <a:lstStyle/>
                    <a:p>
                      <a:r>
                        <a:rPr sz="1600" b="1">
                          <a:solidFill>
                            <a:srgbClr val="1F2A44"/>
                          </a:solidFill>
                          <a:latin typeface="Arial"/>
                          <a:ea typeface="Microsoft YaHei"/>
                        </a:rPr>
                        <a:t>Fine, thanks. And you?</a:t>
                      </a:r>
                    </a:p>
                  </a:txBody>
                  <a:tcPr anchor="ctr">
                    <a:solidFill>
                      <a:srgbClr val="FFFFFF"/>
                    </a:solidFill>
                  </a:tcPr>
                </a:tc>
                <a:tc>
                  <a:txBody>
                    <a:bodyPr wrap="square"/>
                    <a:lstStyle/>
                    <a:p>
                      <a:r>
                        <a:rPr sz="1600" b="0">
                          <a:solidFill>
                            <a:srgbClr val="1F2A44"/>
                          </a:solidFill>
                          <a:latin typeface="Arial"/>
                          <a:ea typeface="Microsoft YaHei"/>
                        </a:rPr>
                        <a:t>polite, neutral</a:t>
                      </a:r>
                    </a:p>
                  </a:txBody>
                  <a:tcPr anchor="ctr">
                    <a:solidFill>
                      <a:srgbClr val="FFFFFF"/>
                    </a:solidFill>
                  </a:tcPr>
                </a:tc>
              </a:tr>
              <a:tr h="408432">
                <a:tc>
                  <a:txBody>
                    <a:bodyPr wrap="square"/>
                    <a:lstStyle/>
                    <a:p>
                      <a:r>
                        <a:rPr sz="1600" b="1">
                          <a:solidFill>
                            <a:srgbClr val="1F2A44"/>
                          </a:solidFill>
                          <a:latin typeface="Arial"/>
                          <a:ea typeface="Microsoft YaHei"/>
                        </a:rPr>
                        <a:t>Very well, thanks. And how are you?</a:t>
                      </a:r>
                    </a:p>
                  </a:txBody>
                  <a:tcPr anchor="ctr">
                    <a:solidFill>
                      <a:srgbClr val="FFEFD9"/>
                    </a:solidFill>
                  </a:tcPr>
                </a:tc>
                <a:tc>
                  <a:txBody>
                    <a:bodyPr wrap="square"/>
                    <a:lstStyle/>
                    <a:p>
                      <a:r>
                        <a:rPr sz="1600" b="0">
                          <a:solidFill>
                            <a:srgbClr val="1F2A44"/>
                          </a:solidFill>
                          <a:latin typeface="Arial"/>
                          <a:ea typeface="Microsoft YaHei"/>
                        </a:rPr>
                        <a:t>warm</a:t>
                      </a:r>
                    </a:p>
                  </a:txBody>
                  <a:tcPr anchor="ctr">
                    <a:solidFill>
                      <a:srgbClr val="FFEFD9"/>
                    </a:solidFill>
                  </a:tcPr>
                </a:tc>
              </a:tr>
              <a:tr h="408432">
                <a:tc>
                  <a:txBody>
                    <a:bodyPr wrap="square"/>
                    <a:lstStyle/>
                    <a:p>
                      <a:r>
                        <a:rPr sz="1600" b="1">
                          <a:solidFill>
                            <a:srgbClr val="1F2A44"/>
                          </a:solidFill>
                          <a:latin typeface="Arial"/>
                          <a:ea typeface="Microsoft YaHei"/>
                        </a:rPr>
                        <a:t>Not bad. Pretty busy, though.</a:t>
                      </a:r>
                    </a:p>
                  </a:txBody>
                  <a:tcPr anchor="ctr">
                    <a:solidFill>
                      <a:srgbClr val="FFFFFF"/>
                    </a:solidFill>
                  </a:tcPr>
                </a:tc>
                <a:tc>
                  <a:txBody>
                    <a:bodyPr wrap="square"/>
                    <a:lstStyle/>
                    <a:p>
                      <a:r>
                        <a:rPr sz="1600" b="0">
                          <a:solidFill>
                            <a:srgbClr val="1F2A44"/>
                          </a:solidFill>
                          <a:latin typeface="Arial"/>
                          <a:ea typeface="Microsoft YaHei"/>
                        </a:rPr>
                        <a:t>casual, honest</a:t>
                      </a:r>
                    </a:p>
                  </a:txBody>
                  <a:tcPr anchor="ctr">
                    <a:solidFill>
                      <a:srgbClr val="FFFFFF"/>
                    </a:solidFill>
                  </a:tcPr>
                </a:tc>
              </a:tr>
              <a:tr h="408432">
                <a:tc>
                  <a:txBody>
                    <a:bodyPr wrap="square"/>
                    <a:lstStyle/>
                    <a:p>
                      <a:r>
                        <a:rPr sz="1600" b="1">
                          <a:solidFill>
                            <a:srgbClr val="1F2A44"/>
                          </a:solidFill>
                          <a:latin typeface="Arial"/>
                          <a:ea typeface="Microsoft YaHei"/>
                        </a:rPr>
                        <a:t>Can’t complain. ★</a:t>
                      </a:r>
                    </a:p>
                  </a:txBody>
                  <a:tcPr anchor="ctr">
                    <a:solidFill>
                      <a:srgbClr val="FFEFD9"/>
                    </a:solidFill>
                  </a:tcPr>
                </a:tc>
                <a:tc>
                  <a:txBody>
                    <a:bodyPr wrap="square"/>
                    <a:lstStyle/>
                    <a:p>
                      <a:r>
                        <a:rPr sz="1600" b="0">
                          <a:solidFill>
                            <a:srgbClr val="1F2A44"/>
                          </a:solidFill>
                          <a:latin typeface="Arial"/>
                          <a:ea typeface="Microsoft YaHei"/>
                        </a:rPr>
                        <a:t>casual, “all fine”</a:t>
                      </a:r>
                    </a:p>
                  </a:txBody>
                  <a:tcPr anchor="ctr">
                    <a:solidFill>
                      <a:srgbClr val="FFEFD9"/>
                    </a:solidFill>
                  </a:tcPr>
                </a:tc>
              </a:tr>
            </a:tbl>
          </a:graphicData>
        </a:graphic>
      </p:graphicFrame>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Answering “How are you?”</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回答 “How are you?”</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“How are you?” is not a medical question. Don’t say “I have a headache”. Keep it short, then return the question.</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Use How are things? / How’s everything? with people you know. Use I hope you’re keeping well in a formal email or at the start of a call.</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1">
                <a:solidFill>
                  <a:srgbClr val="3CC49A"/>
                </a:solidFill>
                <a:latin typeface="Arial"/>
                <a:ea typeface="Microsoft YaHei"/>
              </a:rPr>
              <a:t>Use present simple for general business: </a:t>
            </a:r>
            <a:r>
              <a:rPr sz="1700" b="0">
                <a:solidFill>
                  <a:srgbClr val="1F2A44"/>
                </a:solidFill>
                <a:latin typeface="Arial"/>
                <a:ea typeface="Microsoft YaHei"/>
              </a:rPr>
              <a:t>“How’s business?” Use past simple for finished times: “How was your weekend?”</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How about you? (formal first call)</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And how are you? / How are you?</a:t>
            </a:r>
          </a:p>
          <a:p>
            <a:pPr algn="l">
              <a:spcAft>
                <a:spcPts val="200"/>
              </a:spcAft>
            </a:pPr>
            <a:r>
              <a:rPr sz="1200" b="0">
                <a:solidFill>
                  <a:srgbClr val="FFFFFF"/>
                </a:solidFill>
                <a:latin typeface="Arial"/>
                <a:ea typeface="Microsoft YaHei"/>
              </a:rPr>
              <a:t>对不太熟的人用 How are you?</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Have you eaten? (as a greeting)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How are you? / How’s your day?</a:t>
            </a:r>
          </a:p>
          <a:p>
            <a:pPr algn="l">
              <a:spcAft>
                <a:spcPts val="200"/>
              </a:spcAft>
            </a:pPr>
            <a:r>
              <a:rPr sz="1200" b="0">
                <a:solidFill>
                  <a:srgbClr val="FFFFFF"/>
                </a:solidFill>
                <a:latin typeface="Arial"/>
                <a:ea typeface="Microsoft YaHei"/>
              </a:rPr>
              <a:t>英语里不这样打招呼</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Are you busy? (the first sentence)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Is this a good time to talk?</a:t>
            </a:r>
          </a:p>
          <a:p>
            <a:pPr algn="l">
              <a:spcAft>
                <a:spcPts val="200"/>
              </a:spcAft>
            </a:pPr>
            <a:r>
              <a:rPr sz="1200" b="0">
                <a:solidFill>
                  <a:srgbClr val="FFFFFF"/>
                </a:solidFill>
                <a:latin typeface="Arial"/>
                <a:ea typeface="Microsoft YaHei"/>
              </a:rPr>
              <a:t>更礼貌</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Where are you going?</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How was your trip?</a:t>
            </a:r>
          </a:p>
          <a:p>
            <a:pPr algn="l">
              <a:spcAft>
                <a:spcPts val="200"/>
              </a:spcAft>
            </a:pPr>
            <a:r>
              <a:rPr sz="1200" b="0">
                <a:solidFill>
                  <a:srgbClr val="FFFFFF"/>
                </a:solidFill>
                <a:latin typeface="Arial"/>
                <a:ea typeface="Microsoft YaHei"/>
              </a:rPr>
              <a:t>避免询问隐私</a:t>
            </a:r>
          </a:p>
        </p:txBody>
      </p:sp>
      <p:sp>
        <p:nvSpPr>
          <p:cNvPr id="17" name="Rounded Rectangle 16"/>
          <p:cNvSpPr/>
          <p:nvPr/>
        </p:nvSpPr>
        <p:spPr>
          <a:xfrm>
            <a:off x="548640" y="426719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 are looking tired.</a:t>
            </a:r>
          </a:p>
        </p:txBody>
      </p:sp>
      <p:sp>
        <p:nvSpPr>
          <p:cNvPr id="18" name="Rounded Rectangle 17"/>
          <p:cNvSpPr/>
          <p:nvPr/>
        </p:nvSpPr>
        <p:spPr>
          <a:xfrm>
            <a:off x="6187287" y="426719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You sound a bit tired. / Is it a bad time?</a:t>
            </a:r>
          </a:p>
          <a:p>
            <a:pPr algn="l">
              <a:spcAft>
                <a:spcPts val="200"/>
              </a:spcAft>
            </a:pPr>
            <a:r>
              <a:rPr sz="1200" b="0">
                <a:solidFill>
                  <a:srgbClr val="FFFFFF"/>
                </a:solidFill>
                <a:latin typeface="Arial"/>
                <a:ea typeface="Microsoft YaHei"/>
              </a:rPr>
              <a:t>电话中用 sound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How is your weekend? (on Monday)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How was your weekend?</a:t>
            </a:r>
          </a:p>
          <a:p>
            <a:pPr algn="l">
              <a:spcAft>
                <a:spcPts val="200"/>
              </a:spcAft>
            </a:pPr>
            <a:r>
              <a:rPr sz="1200" b="0">
                <a:solidFill>
                  <a:srgbClr val="FFFFFF"/>
                </a:solidFill>
                <a:latin typeface="Arial"/>
                <a:ea typeface="Microsoft YaHei"/>
              </a:rPr>
              <a:t>周末已过,用过去式</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very miss talking to you.</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really miss talking to you. / I’m glad to hear your voice.</a:t>
            </a:r>
          </a:p>
          <a:p>
            <a:pPr algn="l">
              <a:spcAft>
                <a:spcPts val="200"/>
              </a:spcAft>
            </a:pPr>
            <a:r>
              <a:rPr sz="1200" b="0">
                <a:solidFill>
                  <a:srgbClr val="FFFFFF"/>
                </a:solidFill>
                <a:latin typeface="Arial"/>
                <a:ea typeface="Microsoft YaHei"/>
              </a:rPr>
              <a:t>very 不修饰动词</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give regard to your team.</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give my regards to your team.</a:t>
            </a:r>
          </a:p>
          <a:p>
            <a:pPr algn="l">
              <a:spcAft>
                <a:spcPts val="200"/>
              </a:spcAft>
            </a:pPr>
            <a:r>
              <a:rPr sz="1200" b="0">
                <a:solidFill>
                  <a:srgbClr val="FFFFFF"/>
                </a:solidFill>
                <a:latin typeface="Arial"/>
                <a:ea typeface="Microsoft YaHei"/>
              </a:rPr>
              <a:t>固定搭配 give my regards to</a:t>
            </a:r>
          </a:p>
        </p:txBody>
      </p:sp>
      <p:sp>
        <p:nvSpPr>
          <p:cNvPr id="15" name="Rounded Rectangle 14"/>
          <p:cNvSpPr/>
          <p:nvPr/>
        </p:nvSpPr>
        <p:spPr>
          <a:xfrm>
            <a:off x="548640" y="3809997"/>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Long time no see. (to a client, formal)</a:t>
            </a:r>
          </a:p>
        </p:txBody>
      </p:sp>
      <p:sp>
        <p:nvSpPr>
          <p:cNvPr id="16" name="Rounded Rectangle 15"/>
          <p:cNvSpPr/>
          <p:nvPr/>
        </p:nvSpPr>
        <p:spPr>
          <a:xfrm>
            <a:off x="6187287" y="3809997"/>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been a while. / It’s good to hear from you.</a:t>
            </a:r>
          </a:p>
          <a:p>
            <a:pPr algn="l">
              <a:spcAft>
                <a:spcPts val="200"/>
              </a:spcAft>
            </a:pPr>
            <a:r>
              <a:rPr sz="1200" b="0">
                <a:solidFill>
                  <a:srgbClr val="FFFFFF"/>
                </a:solidFill>
                <a:latin typeface="Arial"/>
                <a:ea typeface="Microsoft YaHei"/>
              </a:rPr>
              <a:t>Long time no see 太随意</a:t>
            </a:r>
          </a:p>
        </p:txBody>
      </p:sp>
      <p:sp>
        <p:nvSpPr>
          <p:cNvPr id="17" name="Rounded Rectangle 16"/>
          <p:cNvSpPr/>
          <p:nvPr/>
        </p:nvSpPr>
        <p:spPr>
          <a:xfrm>
            <a:off x="548640" y="475487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wheather / regard</a:t>
            </a:r>
          </a:p>
        </p:txBody>
      </p:sp>
      <p:sp>
        <p:nvSpPr>
          <p:cNvPr id="18" name="Rounded Rectangle 17"/>
          <p:cNvSpPr/>
          <p:nvPr/>
        </p:nvSpPr>
        <p:spPr>
          <a:xfrm>
            <a:off x="6187287" y="475487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weather / regards</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How was your weekend? (past), give my regards to…, You sound tired (phone), really (not very) + 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Keep it light and brief. Phone small talk should be shorter than face-to-face small talk. Aim for 30–60 seconds with people you don’t know well.</a:t>
            </a:r>
          </a:p>
        </p:txBody>
      </p:sp>
      <p:sp>
        <p:nvSpPr>
          <p:cNvPr id="12" name="Rounded Rectangle 11"/>
          <p:cNvSpPr/>
          <p:nvPr/>
        </p:nvSpPr>
        <p:spPr>
          <a:xfrm>
            <a:off x="548640" y="220979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701039"/>
          </a:xfrm>
          <a:prstGeom prst="rect">
            <a:avLst/>
          </a:prstGeom>
          <a:noFill/>
        </p:spPr>
        <p:txBody>
          <a:bodyPr wrap="square" anchor="ctr">
            <a:spAutoFit/>
          </a:bodyPr>
          <a:lstStyle/>
          <a:p>
            <a:r>
              <a:rPr sz="1700" b="0">
                <a:solidFill>
                  <a:srgbClr val="1F2A44"/>
                </a:solidFill>
                <a:latin typeface="Arial"/>
                <a:ea typeface="Microsoft YaHei"/>
              </a:rPr>
              <a:t>Ask permission to start business. “Do you have a few minutes?” is polite, especially if you called without notice.</a:t>
            </a:r>
          </a:p>
        </p:txBody>
      </p:sp>
      <p:sp>
        <p:nvSpPr>
          <p:cNvPr id="15" name="Rounded Rectangle 14"/>
          <p:cNvSpPr/>
          <p:nvPr/>
        </p:nvSpPr>
        <p:spPr>
          <a:xfrm>
            <a:off x="548640" y="300227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00227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002278"/>
            <a:ext cx="10728655" cy="701039"/>
          </a:xfrm>
          <a:prstGeom prst="rect">
            <a:avLst/>
          </a:prstGeom>
          <a:noFill/>
        </p:spPr>
        <p:txBody>
          <a:bodyPr wrap="square" anchor="ctr">
            <a:spAutoFit/>
          </a:bodyPr>
          <a:lstStyle/>
          <a:p>
            <a:r>
              <a:rPr sz="1700" b="0">
                <a:solidFill>
                  <a:srgbClr val="1F2A44"/>
                </a:solidFill>
                <a:latin typeface="Arial"/>
                <a:ea typeface="Microsoft YaHei"/>
              </a:rPr>
              <a:t>Weather is a standard opening. In the UK and Canada, talking about the weather is polite and safe.</a:t>
            </a:r>
          </a:p>
        </p:txBody>
      </p:sp>
      <p:sp>
        <p:nvSpPr>
          <p:cNvPr id="18" name="Rounded Rectangle 17"/>
          <p:cNvSpPr/>
          <p:nvPr/>
        </p:nvSpPr>
        <p:spPr>
          <a:xfrm>
            <a:off x="548640" y="379475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9475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794757"/>
            <a:ext cx="10728655" cy="701039"/>
          </a:xfrm>
          <a:prstGeom prst="rect">
            <a:avLst/>
          </a:prstGeom>
          <a:noFill/>
        </p:spPr>
        <p:txBody>
          <a:bodyPr wrap="square" anchor="ctr">
            <a:spAutoFit/>
          </a:bodyPr>
          <a:lstStyle/>
          <a:p>
            <a:r>
              <a:rPr sz="1700" b="1">
                <a:solidFill>
                  <a:srgbClr val="FFC857"/>
                </a:solidFill>
                <a:latin typeface="Arial"/>
                <a:ea typeface="Microsoft YaHei"/>
              </a:rPr>
              <a:t>Time zones: </a:t>
            </a:r>
            <a:r>
              <a:rPr sz="1700" b="0">
                <a:solidFill>
                  <a:srgbClr val="1F2A44"/>
                </a:solidFill>
                <a:latin typeface="Arial"/>
                <a:ea typeface="Microsoft YaHei"/>
              </a:rPr>
              <a:t>Mention it. “I know it’s late for you.” shows respect. Avoid calling before 8 a.m. or after 6 p.m. local time, unless agreed.</a:t>
            </a:r>
          </a:p>
        </p:txBody>
      </p:sp>
      <p:sp>
        <p:nvSpPr>
          <p:cNvPr id="21" name="Rounded Rectangle 20"/>
          <p:cNvSpPr/>
          <p:nvPr/>
        </p:nvSpPr>
        <p:spPr>
          <a:xfrm>
            <a:off x="548640" y="4587236"/>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587236"/>
            <a:ext cx="91440" cy="70103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87236"/>
            <a:ext cx="10728655" cy="701039"/>
          </a:xfrm>
          <a:prstGeom prst="rect">
            <a:avLst/>
          </a:prstGeom>
          <a:noFill/>
        </p:spPr>
        <p:txBody>
          <a:bodyPr wrap="square" anchor="ctr">
            <a:spAutoFit/>
          </a:bodyPr>
          <a:lstStyle/>
          <a:p>
            <a:r>
              <a:rPr sz="1700" b="0">
                <a:solidFill>
                  <a:srgbClr val="1F2A44"/>
                </a:solidFill>
                <a:latin typeface="Arial"/>
                <a:ea typeface="Microsoft YaHei"/>
              </a:rPr>
              <a:t>Don’t say “Have you eaten?” In China it is a greeting. In English it sounds like an invitation to lunch.</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start a call warmly (How are you? It’s been a while. How are things?).</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ask about the other person’s time, weather and week.</a:t>
            </a:r>
          </a:p>
        </p:txBody>
      </p:sp>
      <p:sp>
        <p:nvSpPr>
          <p:cNvPr id="16" name="TextBox 15"/>
          <p:cNvSpPr txBox="1"/>
          <p:nvPr/>
        </p:nvSpPr>
        <p:spPr>
          <a:xfrm>
            <a:off x="9539935" y="24109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switch to business with Anyway, the reason I’m calling is…</a:t>
            </a:r>
          </a:p>
        </p:txBody>
      </p:sp>
      <p:sp>
        <p:nvSpPr>
          <p:cNvPr id="20" name="TextBox 19"/>
          <p:cNvSpPr txBox="1"/>
          <p:nvPr/>
        </p:nvSpPr>
        <p:spPr>
          <a:xfrm>
            <a:off x="9539935" y="30083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close with I’ll let you get back to work. Give my regards to… Let’s catch up soon.</a:t>
            </a:r>
          </a:p>
        </p:txBody>
      </p:sp>
      <p:sp>
        <p:nvSpPr>
          <p:cNvPr id="24" name="TextBox 23"/>
          <p:cNvSpPr txBox="1"/>
          <p:nvPr/>
        </p:nvSpPr>
        <p:spPr>
          <a:xfrm>
            <a:off x="9539935" y="39105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How was your weekend?, You sound tired, and give my regards to correctly.</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21 Telephone small talk</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past tense (How was…?), sound / look, regards, and a warm but short opening.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5 · Lesson 22 Telephone messages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139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22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Telephone messages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电话留言</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1700" b="0">
                <a:solidFill>
                  <a:srgbClr val="FFC857"/>
                </a:solidFill>
                <a:latin typeface="Arial"/>
                <a:ea typeface="Microsoft YaHei"/>
              </a:rPr>
              <a:t>🎯 take, check and pass on telephone messages accurately: ask for name, company, number and message, repeat the key details, write them clearly, and leave your own message politely.</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9258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How do you record a message when someone calls for your colleague?</a:t>
            </a:r>
          </a:p>
        </p:txBody>
      </p:sp>
      <p:sp>
        <p:nvSpPr>
          <p:cNvPr id="12" name="Oval 11"/>
          <p:cNvSpPr/>
          <p:nvPr/>
        </p:nvSpPr>
        <p:spPr>
          <a:xfrm>
            <a:off x="548640" y="228142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43328"/>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43328"/>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details must a phone message always include?</a:t>
            </a:r>
          </a:p>
        </p:txBody>
      </p:sp>
      <p:sp>
        <p:nvSpPr>
          <p:cNvPr id="15" name="Oval 14"/>
          <p:cNvSpPr/>
          <p:nvPr/>
        </p:nvSpPr>
        <p:spPr>
          <a:xfrm>
            <a:off x="548640" y="29702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32176"/>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32176"/>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Do you prefer to leave a voicemail or send a text? Why?</a:t>
            </a:r>
          </a:p>
        </p:txBody>
      </p:sp>
      <p:sp>
        <p:nvSpPr>
          <p:cNvPr id="18" name="Oval 17"/>
          <p:cNvSpPr/>
          <p:nvPr/>
        </p:nvSpPr>
        <p:spPr>
          <a:xfrm>
            <a:off x="548640" y="383438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21024"/>
            <a:ext cx="10408615" cy="929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21024"/>
            <a:ext cx="10180015" cy="92964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Tell me about a time when you got a phone message wrong. What was the problem?</a:t>
            </a:r>
          </a:p>
        </p:txBody>
      </p:sp>
      <p:sp>
        <p:nvSpPr>
          <p:cNvPr id="21" name="Oval 20"/>
          <p:cNvSpPr/>
          <p:nvPr/>
        </p:nvSpPr>
        <p:spPr>
          <a:xfrm>
            <a:off x="548640" y="469849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60392"/>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0392"/>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can you do to make sure names and numbers are correct?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题讲过去的事,请用过去式(got, wrote, misunderstood)。第 5 题可以说 “I always repeat…”。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Show how you take a message for a colleague who is out of the office.</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1. say the colleague is out</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2. ask for name, company, number</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3. ask for the message</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4. repeat and check</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5. promise to pass it on</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I’d say, ‘I’m afraid she’s out. Can I take a message?’   💬 Then I ask for…   💬 I repeat the number to make sure…</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记留言的要点:Who / From / Number / Message / Action / When。复述确认:Let me read that back to you。</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Chunk 1: Offering to take a message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提出代为留言</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Can I take a message?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需要我帮您留言吗?</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I take a message?”</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Would you like to leave a message?</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您要留言吗?</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“Would you like to leave a message?”</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I have your name and number?</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请问您的姓名和电话?</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I have your name and number, please?”</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What’s the best number to reach you on?</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您最方便接听的号码是多少?</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“What’s the best number to reach you on?”</a:t>
            </a:r>
          </a:p>
        </p:txBody>
      </p:sp>
      <p:sp>
        <p:nvSpPr>
          <p:cNvPr id="29" name="Rounded Rectangle 28"/>
          <p:cNvSpPr/>
          <p:nvPr/>
        </p:nvSpPr>
        <p:spPr>
          <a:xfrm>
            <a:off x="548640" y="51460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Does he have your number?</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1917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他有您的号码吗?</a:t>
            </a:r>
          </a:p>
        </p:txBody>
      </p:sp>
      <p:sp>
        <p:nvSpPr>
          <p:cNvPr id="33" name="TextBox 32"/>
          <p:cNvSpPr txBox="1"/>
          <p:nvPr/>
        </p:nvSpPr>
        <p:spPr>
          <a:xfrm>
            <a:off x="6675120" y="51917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“Does he have your number?”</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Checking the details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核对信息</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spell that for me, please?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能请您拼一下吗?</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spell your surname for me, please?”</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 me read that back to you.</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我把内容复述一遍</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read that back to you.”</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Let me make sure I’ve got that right.</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我确认一下我记对了</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make sure I’ve got that right.”</a:t>
            </a:r>
          </a:p>
        </p:txBody>
      </p:sp>
      <p:sp>
        <p:nvSpPr>
          <p:cNvPr id="24" name="Rounded Rectangle 23"/>
          <p:cNvSpPr/>
          <p:nvPr/>
        </p:nvSpPr>
        <p:spPr>
          <a:xfrm>
            <a:off x="548640" y="44424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424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4881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Is that B as in Bravo or P as in Paris?</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4881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是 B 还是 P?</a:t>
            </a:r>
          </a:p>
        </p:txBody>
      </p:sp>
      <p:sp>
        <p:nvSpPr>
          <p:cNvPr id="28" name="TextBox 27"/>
          <p:cNvSpPr txBox="1"/>
          <p:nvPr/>
        </p:nvSpPr>
        <p:spPr>
          <a:xfrm>
            <a:off x="6675120" y="44881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that B as in Bravo or P as in Paris?”</a:t>
            </a:r>
          </a:p>
        </p:txBody>
      </p:sp>
      <p:sp>
        <p:nvSpPr>
          <p:cNvPr id="29" name="Rounded Rectangle 28"/>
          <p:cNvSpPr/>
          <p:nvPr/>
        </p:nvSpPr>
        <p:spPr>
          <a:xfrm>
            <a:off x="548640" y="54508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4508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4965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Is it urgent?</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54965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紧急吗?</a:t>
            </a:r>
          </a:p>
        </p:txBody>
      </p:sp>
      <p:sp>
        <p:nvSpPr>
          <p:cNvPr id="33" name="TextBox 32"/>
          <p:cNvSpPr txBox="1"/>
          <p:nvPr/>
        </p:nvSpPr>
        <p:spPr>
          <a:xfrm>
            <a:off x="6675120" y="54965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“Is it urgent, or can it wait until tomorrow?”</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Chunk 3: Passing on and leaving messages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转达与留言</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I’ll pass the message on.</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我会转达</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pass the message on to Mr Tan.”</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make sure he gets it.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我会确保他收到</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make sure he gets it as soon as he’s back.”</a:t>
            </a:r>
          </a:p>
        </p:txBody>
      </p:sp>
      <p:sp>
        <p:nvSpPr>
          <p:cNvPr id="19" name="Rounded Rectangle 18"/>
          <p:cNvSpPr/>
          <p:nvPr/>
        </p:nvSpPr>
        <p:spPr>
          <a:xfrm>
            <a:off x="548640" y="34340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4340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4798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Could you ask her to call me back?</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4798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请让她给我回电话好吗?</a:t>
            </a:r>
          </a:p>
        </p:txBody>
      </p:sp>
      <p:sp>
        <p:nvSpPr>
          <p:cNvPr id="23" name="TextBox 22"/>
          <p:cNvSpPr txBox="1"/>
          <p:nvPr/>
        </p:nvSpPr>
        <p:spPr>
          <a:xfrm>
            <a:off x="6675120" y="34798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ask her to call me back?”</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Chunk 3: Passing on and leaving messages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转达与留言</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Could you tell him I called?</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请告诉他我来过电话</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“Could you tell him I called about the delivery?”</a:t>
            </a:r>
          </a:p>
        </p:txBody>
      </p:sp>
      <p:sp>
        <p:nvSpPr>
          <p:cNvPr id="14" name="Rounded Rectangle 13"/>
          <p:cNvSpPr/>
          <p:nvPr/>
        </p:nvSpPr>
        <p:spPr>
          <a:xfrm>
            <a:off x="548640" y="24257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You’ve reached the voicemail of…</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这里是……的语音信箱</a:t>
            </a:r>
          </a:p>
        </p:txBody>
      </p:sp>
      <p:sp>
        <p:nvSpPr>
          <p:cNvPr id="18" name="TextBox 17"/>
          <p:cNvSpPr txBox="1"/>
          <p:nvPr/>
        </p:nvSpPr>
        <p:spPr>
          <a:xfrm>
            <a:off x="6675120" y="24714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“You’ve reached the voicemail of Li Wei. Please leave a message.”</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我确认一下我记对了</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Let me make sure I’ve got that right.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请问您的姓名和电话?</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Could I have your name and number?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是 B 还是 P?</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Is that B as in Bravo or P as in Paris?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我会确保他收到</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I’ll make sure he gets it.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我把内容复述一遍</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 me read that back to you.</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这里是……的语音信箱</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You’ve reached the voicemail of…</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需要我帮您留言吗?</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Can I take a message?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请让她给我回电话好吗?</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Could you ask her to call me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pass</a:t>
            </a:r>
          </a:p>
        </p:txBody>
      </p:sp>
      <p:sp>
        <p:nvSpPr>
          <p:cNvPr id="10" name="Rounded Rectangle 9"/>
          <p:cNvSpPr/>
          <p:nvPr/>
        </p:nvSpPr>
        <p:spPr>
          <a:xfrm>
            <a:off x="2907792"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urgent</a:t>
            </a:r>
          </a:p>
        </p:txBody>
      </p:sp>
      <p:sp>
        <p:nvSpPr>
          <p:cNvPr id="11" name="Rounded Rectangle 10"/>
          <p:cNvSpPr/>
          <p:nvPr/>
        </p:nvSpPr>
        <p:spPr>
          <a:xfrm>
            <a:off x="4023360"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back</a:t>
            </a:r>
          </a:p>
        </p:txBody>
      </p:sp>
      <p:sp>
        <p:nvSpPr>
          <p:cNvPr id="12" name="Rounded Rectangle 11"/>
          <p:cNvSpPr/>
          <p:nvPr/>
        </p:nvSpPr>
        <p:spPr>
          <a:xfrm>
            <a:off x="4919472"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message</a:t>
            </a:r>
          </a:p>
        </p:txBody>
      </p:sp>
      <p:sp>
        <p:nvSpPr>
          <p:cNvPr id="13" name="Rounded Rectangle 12"/>
          <p:cNvSpPr/>
          <p:nvPr/>
        </p:nvSpPr>
        <p:spPr>
          <a:xfrm>
            <a:off x="6144768"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reached</a:t>
            </a:r>
          </a:p>
        </p:txBody>
      </p:sp>
      <p:sp>
        <p:nvSpPr>
          <p:cNvPr id="14" name="Rounded Rectangle 13"/>
          <p:cNvSpPr/>
          <p:nvPr/>
        </p:nvSpPr>
        <p:spPr>
          <a:xfrm>
            <a:off x="7370064"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spell</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Can I take a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message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Could you _______ that for me, please?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spell</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Let me read that _______ to you.</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back</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I’ll _______ the message on to Mr Tan.</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pass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Is it _______, or can it wait?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urgent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You’ve _______ the voicemail of Li Wei.</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reached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拼写与数字): message (not “massage”!), urgent (not “urgant”), voicemail (one word). Numbers: fifteen (stress on -teen) vs fifty (stress on fif-).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Taking a message for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为同事记留言</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Ms Lin is out of the office. A caller wants to leave a message. You answer.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 receptionist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Anders, caller</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Taking a message for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afternoon, Orion Foods. Li Wei speaking.</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Anders</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Hello. Is Ms Lin there, please?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afraid she’s out of the office until Thursday. Can I take a message?</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please. Could you tell her that Mr Anders called about the contract?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Certainly. Could I have your full name and your company, please?</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Peter Anders, A-N-D-E-R-S, from Nordland Trading.</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Taking a message for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And what’s the best number to reach you on?</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0044 20 7946 0123.</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read that back to you: double-oh four four, two oh, seven nine four six, oh one two three. Is that right?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correct. Please ask her to call me before Friday if possible.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make sure she gets your message as soon as she’s back.</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your help.</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Taking a message for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caller leaves a message for your colleague.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Receptionist. Write down the Name / Company / Number / Message / When.</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Caller. Name and company: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 I take a message? · Could I have your name and number? · Let me read that back to you. · I’ll pass the message on.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Take a complete message, check it, and promise to pass it 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caller speaks fast. Say: “Sorry, could you slow down a little? I want to get this right.”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name is unusual. Ask the caller to spell it with examples.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message is urgent. Ask: “Is it urgent? Shall I try to reach her on her mobile?”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Leaving a voicemail and passing it 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留下语音信息并转达</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get a voicemail from a supplier. You pass it on to your boss.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Li Wei</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Sophie Zhou, team leader</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Leaving a voicemail and passing it 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Li Wei</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Sophie, do you have a minute? I got a voicemail from Anna Berg at Nordic Steel.</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Sophie</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Sure. What does she want?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She says there’s a small delay with the delivery for the 16th. She wants to discuss a new date.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Did she say how long the delay is?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she didn’t. She asked me to call back this afternoon.</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Leaving a voicemail and passing it 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Can you call her now and ask for the new date? I’d like to know before the customer calls us.</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Shall I write her number on your note?</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please. And let me know what she says.</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do. I’ll update you by three o’clock.</a:t>
            </a:r>
          </a:p>
        </p:txBody>
      </p:sp>
      <p:sp>
        <p:nvSpPr>
          <p:cNvPr id="20" name="Rounded Rectangle 19"/>
          <p:cNvSpPr/>
          <p:nvPr/>
        </p:nvSpPr>
        <p:spPr>
          <a:xfrm>
            <a:off x="10911535" y="394411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394411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Li Wei.</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Leaving a voicemail and passing it 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pass on a message to your boss and plan the call back.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Colleague who got the voicemail. Report it clearly.</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Boss. Asks 2 follow-up questions.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She says that… · She asked me to… · I’ll update you by… · Shall I…?</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Pass on a message in 5 sentences. Use reported speech.</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Record your own 20-second voicemail for a supplier (name, company, reason, number twice).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Pass on a message with a deadline: “She’d like an answer by Friday.”</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Rewrite the message as a short email or a WeChat text.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most important detail in a phone message?</a:t>
            </a:r>
          </a:p>
          <a:p>
            <a:pPr algn="l">
              <a:lnSpc>
                <a:spcPct val="115000"/>
              </a:lnSpc>
              <a:spcAft>
                <a:spcPts val="800"/>
              </a:spcAft>
            </a:pPr>
            <a:r>
              <a:rPr sz="1400" b="0">
                <a:solidFill>
                  <a:srgbClr val="5F677A"/>
                </a:solidFill>
                <a:latin typeface="Arial"/>
                <a:ea typeface="Microsoft YaHei"/>
              </a:rPr>
              <a:t>💬 “The most important detail is… because…” / “If the number is wrong, then…”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prefer voicemail, email or chat apps for messages?</a:t>
            </a:r>
          </a:p>
          <a:p>
            <a:pPr algn="l">
              <a:lnSpc>
                <a:spcPct val="115000"/>
              </a:lnSpc>
              <a:spcAft>
                <a:spcPts val="800"/>
              </a:spcAft>
            </a:pPr>
            <a:r>
              <a:rPr sz="1400" b="0">
                <a:solidFill>
                  <a:srgbClr val="5F677A"/>
                </a:solidFill>
                <a:latin typeface="Arial"/>
                <a:ea typeface="Microsoft YaHei"/>
              </a:rPr>
              <a:t>💬 “I prefer… because it is faster / clearer.” / “For urgent things I…”</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leave a good voicemail?</a:t>
            </a:r>
          </a:p>
          <a:p>
            <a:pPr algn="l">
              <a:lnSpc>
                <a:spcPct val="115000"/>
              </a:lnSpc>
              <a:spcAft>
                <a:spcPts val="800"/>
              </a:spcAft>
            </a:pPr>
            <a:r>
              <a:rPr sz="1400" b="0">
                <a:solidFill>
                  <a:srgbClr val="5F677A"/>
                </a:solidFill>
                <a:latin typeface="Arial"/>
                <a:ea typeface="Microsoft YaHei"/>
              </a:rPr>
              <a:t>💬 “I say my name and company first.” / “I speak slowly and repeat the number.”</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if you can’t read your own notes from a message?</a:t>
            </a:r>
          </a:p>
          <a:p>
            <a:pPr algn="l">
              <a:lnSpc>
                <a:spcPct val="115000"/>
              </a:lnSpc>
              <a:spcAft>
                <a:spcPts val="800"/>
              </a:spcAft>
            </a:pPr>
            <a:r>
              <a:rPr sz="1400" b="0">
                <a:solidFill>
                  <a:srgbClr val="5F677A"/>
                </a:solidFill>
                <a:latin typeface="Arial"/>
                <a:ea typeface="Microsoft YaHei"/>
              </a:rPr>
              <a:t>💬 “I would call back and ask…” / “I always write clearly because…”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risks of passing on messages by word of mouth?</a:t>
            </a:r>
          </a:p>
          <a:p>
            <a:pPr algn="l">
              <a:lnSpc>
                <a:spcPct val="115000"/>
              </a:lnSpc>
              <a:spcAft>
                <a:spcPts val="800"/>
              </a:spcAft>
            </a:pPr>
            <a:r>
              <a:rPr sz="1400" b="0">
                <a:solidFill>
                  <a:srgbClr val="5F677A"/>
                </a:solidFill>
                <a:latin typeface="Arial"/>
                <a:ea typeface="Microsoft YaHei"/>
              </a:rPr>
              <a:t>💬 “The risk is that people forget…” / “Messages can change, so I write them down.”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good voicemail is short, clear and complete. I start with my name and company, then I say why I’m calling in one sentence. I ask the person to call me back and I give my number slowly. I say it twice, because most people need to write it down. I try to finish within 20 seconds. If it’s urgent, I say so, for example,”It’s urgent, so I’d be grateful if you could call me today.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“most people need to write it down”(大多数人需要写下来)。“within 20 seconds”(20 秒内)。注意 “I’d be grateful if you could…”(如果您能……我将不胜感激),could 要用过去形式。</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Phone-language script: messages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留言话术</a:t>
            </a:r>
          </a:p>
        </p:txBody>
      </p:sp>
      <p:graphicFrame>
        <p:nvGraphicFramePr>
          <p:cNvPr id="9" name="Table 8"/>
          <p:cNvGraphicFramePr>
            <a:graphicFrameLocks noGrp="1"/>
          </p:cNvGraphicFramePr>
          <p:nvPr/>
        </p:nvGraphicFramePr>
        <p:xfrm>
          <a:off x="548640" y="1417320"/>
          <a:ext cx="11094415" cy="3998976"/>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Say this</a:t>
                      </a:r>
                    </a:p>
                  </a:txBody>
                  <a:tcPr anchor="ctr">
                    <a:solidFill>
                      <a:srgbClr val="3CC49A"/>
                    </a:solidFill>
                  </a:tcPr>
                </a:tc>
              </a:tr>
              <a:tr h="408432">
                <a:tc>
                  <a:txBody>
                    <a:bodyPr wrap="square"/>
                    <a:lstStyle/>
                    <a:p>
                      <a:r>
                        <a:rPr sz="1600" b="1">
                          <a:solidFill>
                            <a:srgbClr val="1F2A44"/>
                          </a:solidFill>
                          <a:latin typeface="Arial"/>
                          <a:ea typeface="Microsoft YaHei"/>
                        </a:rPr>
                        <a:t>Offer</a:t>
                      </a:r>
                    </a:p>
                  </a:txBody>
                  <a:tcPr anchor="ctr">
                    <a:solidFill>
                      <a:srgbClr val="FFFFFF"/>
                    </a:solidFill>
                  </a:tcPr>
                </a:tc>
                <a:tc>
                  <a:txBody>
                    <a:bodyPr wrap="square"/>
                    <a:lstStyle/>
                    <a:p>
                      <a:r>
                        <a:rPr sz="1600" b="0">
                          <a:solidFill>
                            <a:srgbClr val="1F2A44"/>
                          </a:solidFill>
                          <a:latin typeface="Arial"/>
                          <a:ea typeface="Microsoft YaHei"/>
                        </a:rPr>
                        <a:t>I’m afraid she’s out. Can I take a message?</a:t>
                      </a:r>
                    </a:p>
                  </a:txBody>
                  <a:tcPr anchor="ctr">
                    <a:solidFill>
                      <a:srgbClr val="FFFFFF"/>
                    </a:solidFill>
                  </a:tcPr>
                </a:tc>
              </a:tr>
              <a:tr h="652272">
                <a:tc>
                  <a:txBody>
                    <a:bodyPr wrap="square"/>
                    <a:lstStyle/>
                    <a:p>
                      <a:r>
                        <a:rPr sz="1600" b="1">
                          <a:solidFill>
                            <a:srgbClr val="1F2A44"/>
                          </a:solidFill>
                          <a:latin typeface="Arial"/>
                          <a:ea typeface="Microsoft YaHei"/>
                        </a:rPr>
                        <a:t>Who</a:t>
                      </a:r>
                    </a:p>
                  </a:txBody>
                  <a:tcPr anchor="ctr">
                    <a:solidFill>
                      <a:srgbClr val="FFEFD9"/>
                    </a:solidFill>
                  </a:tcPr>
                </a:tc>
                <a:tc>
                  <a:txBody>
                    <a:bodyPr wrap="square"/>
                    <a:lstStyle/>
                    <a:p>
                      <a:r>
                        <a:rPr sz="1600" b="0">
                          <a:solidFill>
                            <a:srgbClr val="1F2A44"/>
                          </a:solidFill>
                          <a:latin typeface="Arial"/>
                          <a:ea typeface="Microsoft YaHei"/>
                        </a:rPr>
                        <a:t>Could I have your name and company? / Could you spell that?</a:t>
                      </a:r>
                    </a:p>
                  </a:txBody>
                  <a:tcPr anchor="ctr">
                    <a:solidFill>
                      <a:srgbClr val="FFEFD9"/>
                    </a:solidFill>
                  </a:tcPr>
                </a:tc>
              </a:tr>
              <a:tr h="408432">
                <a:tc>
                  <a:txBody>
                    <a:bodyPr wrap="square"/>
                    <a:lstStyle/>
                    <a:p>
                      <a:r>
                        <a:rPr sz="1600" b="1">
                          <a:solidFill>
                            <a:srgbClr val="1F2A44"/>
                          </a:solidFill>
                          <a:latin typeface="Arial"/>
                          <a:ea typeface="Microsoft YaHei"/>
                        </a:rPr>
                        <a:t>Number</a:t>
                      </a:r>
                    </a:p>
                  </a:txBody>
                  <a:tcPr anchor="ctr">
                    <a:solidFill>
                      <a:srgbClr val="FFFFFF"/>
                    </a:solidFill>
                  </a:tcPr>
                </a:tc>
                <a:tc>
                  <a:txBody>
                    <a:bodyPr wrap="square"/>
                    <a:lstStyle/>
                    <a:p>
                      <a:r>
                        <a:rPr sz="1600" b="0">
                          <a:solidFill>
                            <a:srgbClr val="1F2A44"/>
                          </a:solidFill>
                          <a:latin typeface="Arial"/>
                          <a:ea typeface="Microsoft YaHei"/>
                        </a:rPr>
                        <a:t>What’s the best number to reach you on? ★</a:t>
                      </a:r>
                    </a:p>
                  </a:txBody>
                  <a:tcPr anchor="ctr">
                    <a:solidFill>
                      <a:srgbClr val="FFFFFF"/>
                    </a:solidFill>
                  </a:tcPr>
                </a:tc>
              </a:tr>
              <a:tr h="408432">
                <a:tc>
                  <a:txBody>
                    <a:bodyPr wrap="square"/>
                    <a:lstStyle/>
                    <a:p>
                      <a:r>
                        <a:rPr sz="1600" b="1">
                          <a:solidFill>
                            <a:srgbClr val="1F2A44"/>
                          </a:solidFill>
                          <a:latin typeface="Arial"/>
                          <a:ea typeface="Microsoft YaHei"/>
                        </a:rPr>
                        <a:t>Message</a:t>
                      </a:r>
                    </a:p>
                  </a:txBody>
                  <a:tcPr anchor="ctr">
                    <a:solidFill>
                      <a:srgbClr val="FFEFD9"/>
                    </a:solidFill>
                  </a:tcPr>
                </a:tc>
                <a:tc>
                  <a:txBody>
                    <a:bodyPr wrap="square"/>
                    <a:lstStyle/>
                    <a:p>
                      <a:r>
                        <a:rPr sz="1600" b="0">
                          <a:solidFill>
                            <a:srgbClr val="1F2A44"/>
                          </a:solidFill>
                          <a:latin typeface="Arial"/>
                          <a:ea typeface="Microsoft YaHei"/>
                        </a:rPr>
                        <a:t>What would you like me to tell her?</a:t>
                      </a:r>
                    </a:p>
                  </a:txBody>
                  <a:tcPr anchor="ctr">
                    <a:solidFill>
                      <a:srgbClr val="FFEFD9"/>
                    </a:solidFill>
                  </a:tcPr>
                </a:tc>
              </a:tr>
              <a:tr h="652272">
                <a:tc>
                  <a:txBody>
                    <a:bodyPr wrap="square"/>
                    <a:lstStyle/>
                    <a:p>
                      <a:r>
                        <a:rPr sz="1600" b="1">
                          <a:solidFill>
                            <a:srgbClr val="1F2A44"/>
                          </a:solidFill>
                          <a:latin typeface="Arial"/>
                          <a:ea typeface="Microsoft YaHei"/>
                        </a:rPr>
                        <a:t>Check</a:t>
                      </a:r>
                    </a:p>
                  </a:txBody>
                  <a:tcPr anchor="ctr">
                    <a:solidFill>
                      <a:srgbClr val="FFFFFF"/>
                    </a:solidFill>
                  </a:tcPr>
                </a:tc>
                <a:tc>
                  <a:txBody>
                    <a:bodyPr wrap="square"/>
                    <a:lstStyle/>
                    <a:p>
                      <a:r>
                        <a:rPr sz="1600" b="0">
                          <a:solidFill>
                            <a:srgbClr val="1F2A44"/>
                          </a:solidFill>
                          <a:latin typeface="Arial"/>
                          <a:ea typeface="Microsoft YaHei"/>
                        </a:rPr>
                        <a:t>Let me read that back to you. / Let me make sure I’ve got that right. ★</a:t>
                      </a:r>
                    </a:p>
                  </a:txBody>
                  <a:tcPr anchor="ctr">
                    <a:solidFill>
                      <a:srgbClr val="FFFFFF"/>
                    </a:solidFill>
                  </a:tcPr>
                </a:tc>
              </a:tr>
              <a:tr h="652272">
                <a:tc>
                  <a:txBody>
                    <a:bodyPr wrap="square"/>
                    <a:lstStyle/>
                    <a:p>
                      <a:r>
                        <a:rPr sz="1600" b="1">
                          <a:solidFill>
                            <a:srgbClr val="1F2A44"/>
                          </a:solidFill>
                          <a:latin typeface="Arial"/>
                          <a:ea typeface="Microsoft YaHei"/>
                        </a:rPr>
                        <a:t>Promise</a:t>
                      </a:r>
                    </a:p>
                  </a:txBody>
                  <a:tcPr anchor="ctr">
                    <a:solidFill>
                      <a:srgbClr val="FFEFD9"/>
                    </a:solidFill>
                  </a:tcPr>
                </a:tc>
                <a:tc>
                  <a:txBody>
                    <a:bodyPr wrap="square"/>
                    <a:lstStyle/>
                    <a:p>
                      <a:r>
                        <a:rPr sz="1600" b="0">
                          <a:solidFill>
                            <a:srgbClr val="1F2A44"/>
                          </a:solidFill>
                          <a:latin typeface="Arial"/>
                          <a:ea typeface="Microsoft YaHei"/>
                        </a:rPr>
                        <a:t>I’ll make sure she gets it. ★ / I’ll pass it on as soon as she’s back.</a:t>
                      </a:r>
                    </a:p>
                  </a:txBody>
                  <a:tcPr anchor="ctr">
                    <a:solidFill>
                      <a:srgbClr val="FFEFD9"/>
                    </a:solidFill>
                  </a:tcPr>
                </a:tc>
              </a:tr>
              <a:tr h="408432">
                <a:tc>
                  <a:txBody>
                    <a:bodyPr wrap="square"/>
                    <a:lstStyle/>
                    <a:p>
                      <a:r>
                        <a:rPr sz="1600" b="1">
                          <a:solidFill>
                            <a:srgbClr val="1F2A44"/>
                          </a:solidFill>
                          <a:latin typeface="Arial"/>
                          <a:ea typeface="Microsoft YaHei"/>
                        </a:rPr>
                        <a:t>Close</a:t>
                      </a:r>
                    </a:p>
                  </a:txBody>
                  <a:tcPr anchor="ctr">
                    <a:solidFill>
                      <a:srgbClr val="FFFFFF"/>
                    </a:solidFill>
                  </a:tcPr>
                </a:tc>
                <a:tc>
                  <a:txBody>
                    <a:bodyPr wrap="square"/>
                    <a:lstStyle/>
                    <a:p>
                      <a:r>
                        <a:rPr sz="1600" b="0">
                          <a:solidFill>
                            <a:srgbClr val="1F2A44"/>
                          </a:solidFill>
                          <a:latin typeface="Arial"/>
                          <a:ea typeface="Microsoft YaHei"/>
                        </a:rPr>
                        <a:t>Thank you for calling. Goodbye.</a:t>
                      </a:r>
                    </a:p>
                  </a:txBody>
                  <a:tcPr anchor="ctr">
                    <a:solidFill>
                      <a:srgbClr val="FFFFFF"/>
                    </a:solidFill>
                  </a:tcPr>
                </a:tc>
              </a:tr>
            </a:tbl>
          </a:graphicData>
        </a:graphic>
      </p:graphicFrame>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Message form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留言便条</a:t>
            </a:r>
          </a:p>
        </p:txBody>
      </p:sp>
      <p:graphicFrame>
        <p:nvGraphicFramePr>
          <p:cNvPr id="9" name="Table 8"/>
          <p:cNvGraphicFramePr>
            <a:graphicFrameLocks noGrp="1"/>
          </p:cNvGraphicFramePr>
          <p:nvPr/>
        </p:nvGraphicFramePr>
        <p:xfrm>
          <a:off x="548640" y="1417320"/>
          <a:ext cx="11094415" cy="3102864"/>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Field</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For</a:t>
                      </a:r>
                    </a:p>
                  </a:txBody>
                  <a:tcPr anchor="ctr">
                    <a:solidFill>
                      <a:srgbClr val="FFFFFF"/>
                    </a:solidFill>
                  </a:tcPr>
                </a:tc>
                <a:tc>
                  <a:txBody>
                    <a:bodyPr wrap="square"/>
                    <a:lstStyle/>
                    <a:p>
                      <a:r>
                        <a:rPr sz="1600" b="0">
                          <a:solidFill>
                            <a:srgbClr val="1F2A44"/>
                          </a:solidFill>
                          <a:latin typeface="Arial"/>
                          <a:ea typeface="Microsoft YaHei"/>
                        </a:rPr>
                        <a:t>Ms Lin</a:t>
                      </a:r>
                    </a:p>
                  </a:txBody>
                  <a:tcPr anchor="ctr">
                    <a:solidFill>
                      <a:srgbClr val="FFFFFF"/>
                    </a:solidFill>
                  </a:tcPr>
                </a:tc>
              </a:tr>
              <a:tr h="408432">
                <a:tc>
                  <a:txBody>
                    <a:bodyPr wrap="square"/>
                    <a:lstStyle/>
                    <a:p>
                      <a:r>
                        <a:rPr sz="1600" b="1">
                          <a:solidFill>
                            <a:srgbClr val="1F2A44"/>
                          </a:solidFill>
                          <a:latin typeface="Arial"/>
                          <a:ea typeface="Microsoft YaHei"/>
                        </a:rPr>
                        <a:t>From</a:t>
                      </a:r>
                    </a:p>
                  </a:txBody>
                  <a:tcPr anchor="ctr">
                    <a:solidFill>
                      <a:srgbClr val="FFEFD9"/>
                    </a:solidFill>
                  </a:tcPr>
                </a:tc>
                <a:tc>
                  <a:txBody>
                    <a:bodyPr wrap="square"/>
                    <a:lstStyle/>
                    <a:p>
                      <a:r>
                        <a:rPr sz="1600" b="0">
                          <a:solidFill>
                            <a:srgbClr val="1F2A44"/>
                          </a:solidFill>
                          <a:latin typeface="Arial"/>
                          <a:ea typeface="Microsoft YaHei"/>
                        </a:rPr>
                        <a:t>Peter Anders, Nordland Trading</a:t>
                      </a:r>
                    </a:p>
                  </a:txBody>
                  <a:tcPr anchor="ctr">
                    <a:solidFill>
                      <a:srgbClr val="FFEFD9"/>
                    </a:solidFill>
                  </a:tcPr>
                </a:tc>
              </a:tr>
              <a:tr h="408432">
                <a:tc>
                  <a:txBody>
                    <a:bodyPr wrap="square"/>
                    <a:lstStyle/>
                    <a:p>
                      <a:r>
                        <a:rPr sz="1600" b="1">
                          <a:solidFill>
                            <a:srgbClr val="1F2A44"/>
                          </a:solidFill>
                          <a:latin typeface="Arial"/>
                          <a:ea typeface="Microsoft YaHei"/>
                        </a:rPr>
                        <a:t>Phone</a:t>
                      </a:r>
                    </a:p>
                  </a:txBody>
                  <a:tcPr anchor="ctr">
                    <a:solidFill>
                      <a:srgbClr val="FFFFFF"/>
                    </a:solidFill>
                  </a:tcPr>
                </a:tc>
                <a:tc>
                  <a:txBody>
                    <a:bodyPr wrap="square"/>
                    <a:lstStyle/>
                    <a:p>
                      <a:r>
                        <a:rPr sz="1600" b="0">
                          <a:solidFill>
                            <a:srgbClr val="1F2A44"/>
                          </a:solidFill>
                          <a:latin typeface="Arial"/>
                          <a:ea typeface="Microsoft YaHei"/>
                        </a:rPr>
                        <a:t>0044 20 7946 0123</a:t>
                      </a:r>
                    </a:p>
                  </a:txBody>
                  <a:tcPr anchor="ctr">
                    <a:solidFill>
                      <a:srgbClr val="FFFFFF"/>
                    </a:solidFill>
                  </a:tcPr>
                </a:tc>
              </a:tr>
              <a:tr h="652272">
                <a:tc>
                  <a:txBody>
                    <a:bodyPr wrap="square"/>
                    <a:lstStyle/>
                    <a:p>
                      <a:r>
                        <a:rPr sz="1600" b="1">
                          <a:solidFill>
                            <a:srgbClr val="1F2A44"/>
                          </a:solidFill>
                          <a:latin typeface="Arial"/>
                          <a:ea typeface="Microsoft YaHei"/>
                        </a:rPr>
                        <a:t>Message</a:t>
                      </a:r>
                    </a:p>
                  </a:txBody>
                  <a:tcPr anchor="ctr">
                    <a:solidFill>
                      <a:srgbClr val="FFEFD9"/>
                    </a:solidFill>
                  </a:tcPr>
                </a:tc>
                <a:tc>
                  <a:txBody>
                    <a:bodyPr wrap="square"/>
                    <a:lstStyle/>
                    <a:p>
                      <a:r>
                        <a:rPr sz="1600" b="0">
                          <a:solidFill>
                            <a:srgbClr val="1F2A44"/>
                          </a:solidFill>
                          <a:latin typeface="Arial"/>
                          <a:ea typeface="Microsoft YaHei"/>
                        </a:rPr>
                        <a:t>Called about the contract. Please call back before Friday.</a:t>
                      </a:r>
                    </a:p>
                  </a:txBody>
                  <a:tcPr anchor="ctr">
                    <a:solidFill>
                      <a:srgbClr val="FFEFD9"/>
                    </a:solidFill>
                  </a:tcPr>
                </a:tc>
              </a:tr>
              <a:tr h="408432">
                <a:tc>
                  <a:txBody>
                    <a:bodyPr wrap="square"/>
                    <a:lstStyle/>
                    <a:p>
                      <a:r>
                        <a:rPr sz="1600" b="1">
                          <a:solidFill>
                            <a:srgbClr val="1F2A44"/>
                          </a:solidFill>
                          <a:latin typeface="Arial"/>
                          <a:ea typeface="Microsoft YaHei"/>
                        </a:rPr>
                        <a:t>Urgent?</a:t>
                      </a:r>
                    </a:p>
                  </a:txBody>
                  <a:tcPr anchor="ctr">
                    <a:solidFill>
                      <a:srgbClr val="FFFFFF"/>
                    </a:solidFill>
                  </a:tcPr>
                </a:tc>
                <a:tc>
                  <a:txBody>
                    <a:bodyPr wrap="square"/>
                    <a:lstStyle/>
                    <a:p>
                      <a:r>
                        <a:rPr sz="1600" b="0">
                          <a:solidFill>
                            <a:srgbClr val="1F2A44"/>
                          </a:solidFill>
                          <a:latin typeface="Arial"/>
                          <a:ea typeface="Microsoft YaHei"/>
                        </a:rPr>
                        <a:t>Yes / No</a:t>
                      </a:r>
                    </a:p>
                  </a:txBody>
                  <a:tcPr anchor="ctr">
                    <a:solidFill>
                      <a:srgbClr val="FFFFFF"/>
                    </a:solidFill>
                  </a:tcPr>
                </a:tc>
              </a:tr>
              <a:tr h="408432">
                <a:tc>
                  <a:txBody>
                    <a:bodyPr wrap="square"/>
                    <a:lstStyle/>
                    <a:p>
                      <a:r>
                        <a:rPr sz="1600" b="1">
                          <a:solidFill>
                            <a:srgbClr val="1F2A44"/>
                          </a:solidFill>
                          <a:latin typeface="Arial"/>
                          <a:ea typeface="Microsoft YaHei"/>
                        </a:rPr>
                        <a:t>Taken by / Date / Time</a:t>
                      </a:r>
                    </a:p>
                  </a:txBody>
                  <a:tcPr anchor="ctr">
                    <a:solidFill>
                      <a:srgbClr val="FFEFD9"/>
                    </a:solidFill>
                  </a:tcPr>
                </a:tc>
                <a:tc>
                  <a:txBody>
                    <a:bodyPr wrap="square"/>
                    <a:lstStyle/>
                    <a:p>
                      <a:r>
                        <a:rPr sz="1600" b="0">
                          <a:solidFill>
                            <a:srgbClr val="1F2A44"/>
                          </a:solidFill>
                          <a:latin typeface="Arial"/>
                          <a:ea typeface="Microsoft YaHei"/>
                        </a:rPr>
                        <a:t>Li Wei, 8 Oct, 2:15 p.m.</a:t>
                      </a:r>
                    </a:p>
                  </a:txBody>
                  <a:tcPr anchor="ctr">
                    <a:solidFill>
                      <a:srgbClr val="FFEFD9"/>
                    </a:solidFill>
                  </a:tcPr>
                </a:tc>
              </a:tr>
            </a:tbl>
          </a:graphicData>
        </a:graphic>
      </p:graphicFrame>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Passing on a message: reported speech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转述留言</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Direct (caller said)</a:t>
                      </a:r>
                    </a:p>
                  </a:txBody>
                  <a:tcPr anchor="ctr">
                    <a:solidFill>
                      <a:srgbClr val="3CC49A"/>
                    </a:solidFill>
                  </a:tcPr>
                </a:tc>
                <a:tc>
                  <a:txBody>
                    <a:bodyPr wrap="square"/>
                    <a:lstStyle/>
                    <a:p>
                      <a:r>
                        <a:rPr sz="1600" b="1">
                          <a:solidFill>
                            <a:srgbClr val="FFFFFF"/>
                          </a:solidFill>
                          <a:latin typeface="Arial"/>
                          <a:ea typeface="Microsoft YaHei"/>
                        </a:rPr>
                        <a:t>Reported (you tell the boss)</a:t>
                      </a:r>
                    </a:p>
                  </a:txBody>
                  <a:tcPr anchor="ctr">
                    <a:solidFill>
                      <a:srgbClr val="3CC49A"/>
                    </a:solidFill>
                  </a:tcPr>
                </a:tc>
              </a:tr>
              <a:tr h="652272">
                <a:tc>
                  <a:txBody>
                    <a:bodyPr wrap="square"/>
                    <a:lstStyle/>
                    <a:p>
                      <a:r>
                        <a:rPr sz="1600" b="1">
                          <a:solidFill>
                            <a:srgbClr val="1F2A44"/>
                          </a:solidFill>
                          <a:latin typeface="Arial"/>
                          <a:ea typeface="Microsoft YaHei"/>
                        </a:rPr>
                        <a:t>“I’m calling about the contract.”</a:t>
                      </a:r>
                    </a:p>
                  </a:txBody>
                  <a:tcPr anchor="ctr">
                    <a:solidFill>
                      <a:srgbClr val="FFFFFF"/>
                    </a:solidFill>
                  </a:tcPr>
                </a:tc>
                <a:tc>
                  <a:txBody>
                    <a:bodyPr wrap="square"/>
                    <a:lstStyle/>
                    <a:p>
                      <a:r>
                        <a:rPr sz="1600" b="0">
                          <a:solidFill>
                            <a:srgbClr val="1F2A44"/>
                          </a:solidFill>
                          <a:latin typeface="Arial"/>
                          <a:ea typeface="Microsoft YaHei"/>
                        </a:rPr>
                        <a:t>He says he’s calling about the contract. / He called about the contract.</a:t>
                      </a:r>
                    </a:p>
                  </a:txBody>
                  <a:tcPr anchor="ctr">
                    <a:solidFill>
                      <a:srgbClr val="FFFFFF"/>
                    </a:solidFill>
                  </a:tcPr>
                </a:tc>
              </a:tr>
              <a:tr h="408432">
                <a:tc>
                  <a:txBody>
                    <a:bodyPr wrap="square"/>
                    <a:lstStyle/>
                    <a:p>
                      <a:r>
                        <a:rPr sz="1600" b="1">
                          <a:solidFill>
                            <a:srgbClr val="1F2A44"/>
                          </a:solidFill>
                          <a:latin typeface="Arial"/>
                          <a:ea typeface="Microsoft YaHei"/>
                        </a:rPr>
                        <a:t>“Can you call me back?”</a:t>
                      </a:r>
                    </a:p>
                  </a:txBody>
                  <a:tcPr anchor="ctr">
                    <a:solidFill>
                      <a:srgbClr val="FFEFD9"/>
                    </a:solidFill>
                  </a:tcPr>
                </a:tc>
                <a:tc>
                  <a:txBody>
                    <a:bodyPr wrap="square"/>
                    <a:lstStyle/>
                    <a:p>
                      <a:r>
                        <a:rPr sz="1600" b="0">
                          <a:solidFill>
                            <a:srgbClr val="1F2A44"/>
                          </a:solidFill>
                          <a:latin typeface="Arial"/>
                          <a:ea typeface="Microsoft YaHei"/>
                        </a:rPr>
                        <a:t>He asked me to call him back.</a:t>
                      </a:r>
                    </a:p>
                  </a:txBody>
                  <a:tcPr anchor="ctr">
                    <a:solidFill>
                      <a:srgbClr val="FFEFD9"/>
                    </a:solidFill>
                  </a:tcPr>
                </a:tc>
              </a:tr>
              <a:tr h="408432">
                <a:tc>
                  <a:txBody>
                    <a:bodyPr wrap="square"/>
                    <a:lstStyle/>
                    <a:p>
                      <a:r>
                        <a:rPr sz="1600" b="1">
                          <a:solidFill>
                            <a:srgbClr val="1F2A44"/>
                          </a:solidFill>
                          <a:latin typeface="Arial"/>
                          <a:ea typeface="Microsoft YaHei"/>
                        </a:rPr>
                        <a:t>“The delivery will be late.”</a:t>
                      </a:r>
                    </a:p>
                  </a:txBody>
                  <a:tcPr anchor="ctr">
                    <a:solidFill>
                      <a:srgbClr val="FFFFFF"/>
                    </a:solidFill>
                  </a:tcPr>
                </a:tc>
                <a:tc>
                  <a:txBody>
                    <a:bodyPr wrap="square"/>
                    <a:lstStyle/>
                    <a:p>
                      <a:r>
                        <a:rPr sz="1600" b="0">
                          <a:solidFill>
                            <a:srgbClr val="1F2A44"/>
                          </a:solidFill>
                          <a:latin typeface="Arial"/>
                          <a:ea typeface="Microsoft YaHei"/>
                        </a:rPr>
                        <a:t>She says the delivery will be late.</a:t>
                      </a:r>
                    </a:p>
                  </a:txBody>
                  <a:tcPr anchor="ctr">
                    <a:solidFill>
                      <a:srgbClr val="FFFFFF"/>
                    </a:solidFill>
                  </a:tcPr>
                </a:tc>
              </a:tr>
              <a:tr h="408432">
                <a:tc>
                  <a:txBody>
                    <a:bodyPr wrap="square"/>
                    <a:lstStyle/>
                    <a:p>
                      <a:r>
                        <a:rPr sz="1600" b="1">
                          <a:solidFill>
                            <a:srgbClr val="1F2A44"/>
                          </a:solidFill>
                          <a:latin typeface="Arial"/>
                          <a:ea typeface="Microsoft YaHei"/>
                        </a:rPr>
                        <a:t>“Please reply by Friday.”</a:t>
                      </a:r>
                    </a:p>
                  </a:txBody>
                  <a:tcPr anchor="ctr">
                    <a:solidFill>
                      <a:srgbClr val="FFEFD9"/>
                    </a:solidFill>
                  </a:tcPr>
                </a:tc>
                <a:tc>
                  <a:txBody>
                    <a:bodyPr wrap="square"/>
                    <a:lstStyle/>
                    <a:p>
                      <a:r>
                        <a:rPr sz="1600" b="0">
                          <a:solidFill>
                            <a:srgbClr val="1F2A44"/>
                          </a:solidFill>
                          <a:latin typeface="Arial"/>
                          <a:ea typeface="Microsoft YaHei"/>
                        </a:rPr>
                        <a:t>He’d like a reply by Friday.</a:t>
                      </a:r>
                    </a:p>
                  </a:txBody>
                  <a:tcPr anchor="ctr">
                    <a:solidFill>
                      <a:srgbClr val="FFEFD9"/>
                    </a:solidFill>
                  </a:tcPr>
                </a:tc>
              </a:tr>
            </a:tbl>
          </a:graphicData>
        </a:graphic>
      </p:graphicFrame>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Passing on a message: reported speech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转述留言</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Use say / tell: </a:t>
            </a:r>
            <a:r>
              <a:rPr sz="1700" b="0">
                <a:solidFill>
                  <a:srgbClr val="1F2A44"/>
                </a:solidFill>
                <a:latin typeface="Arial"/>
                <a:ea typeface="Microsoft YaHei"/>
              </a:rPr>
              <a:t>“She said that she’d call back.” / “She told me that she’d call back.” (told + person)</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Ask / tell sb to do sth: </a:t>
            </a:r>
            <a:r>
              <a:rPr sz="1700" b="0">
                <a:solidFill>
                  <a:srgbClr val="1F2A44"/>
                </a:solidFill>
                <a:latin typeface="Arial"/>
                <a:ea typeface="Microsoft YaHei"/>
              </a:rPr>
              <a:t>“He asked me to call him.” (not “He asked me that I call him”)</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write the massage.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take a message.</a:t>
            </a:r>
          </a:p>
          <a:p>
            <a:pPr algn="l">
              <a:spcAft>
                <a:spcPts val="200"/>
              </a:spcAft>
            </a:pPr>
            <a:r>
              <a:rPr sz="1200" b="0">
                <a:solidFill>
                  <a:srgbClr val="FFFFFF"/>
                </a:solidFill>
                <a:latin typeface="Arial"/>
                <a:ea typeface="Microsoft YaHei"/>
              </a:rPr>
              <a:t>message 不是 massage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Can I leave a message to Ms Lin?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Can I leave a message for Ms Lin?</a:t>
            </a:r>
          </a:p>
          <a:p>
            <a:pPr algn="l">
              <a:spcAft>
                <a:spcPts val="200"/>
              </a:spcAft>
            </a:pPr>
            <a:r>
              <a:rPr sz="1200" b="0">
                <a:solidFill>
                  <a:srgbClr val="FFFFFF"/>
                </a:solidFill>
                <a:latin typeface="Arial"/>
                <a:ea typeface="Microsoft YaHei"/>
              </a:rPr>
              <a:t>message for sb</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Tell him that I was calling.</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Could you tell him I called?</a:t>
            </a:r>
          </a:p>
          <a:p>
            <a:pPr algn="l">
              <a:spcAft>
                <a:spcPts val="200"/>
              </a:spcAft>
            </a:pPr>
            <a:r>
              <a:rPr sz="1200" b="0">
                <a:solidFill>
                  <a:srgbClr val="FFFFFF"/>
                </a:solidFill>
                <a:latin typeface="Arial"/>
                <a:ea typeface="Microsoft YaHei"/>
              </a:rPr>
              <a:t>过去式 called</a:t>
            </a:r>
          </a:p>
        </p:txBody>
      </p:sp>
      <p:sp>
        <p:nvSpPr>
          <p:cNvPr id="15" name="Rounded Rectangle 14"/>
          <p:cNvSpPr/>
          <p:nvPr/>
        </p:nvSpPr>
        <p:spPr>
          <a:xfrm>
            <a:off x="548640" y="356615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said me to call.</a:t>
            </a:r>
          </a:p>
        </p:txBody>
      </p:sp>
      <p:sp>
        <p:nvSpPr>
          <p:cNvPr id="16" name="Rounded Rectangle 15"/>
          <p:cNvSpPr/>
          <p:nvPr/>
        </p:nvSpPr>
        <p:spPr>
          <a:xfrm>
            <a:off x="6187287" y="356615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told me to call. / He said to call.</a:t>
            </a:r>
          </a:p>
          <a:p>
            <a:pPr algn="l">
              <a:spcAft>
                <a:spcPts val="200"/>
              </a:spcAft>
            </a:pPr>
            <a:r>
              <a:rPr sz="1200" b="0">
                <a:solidFill>
                  <a:srgbClr val="FFFFFF"/>
                </a:solidFill>
                <a:latin typeface="Arial"/>
                <a:ea typeface="Microsoft YaHei"/>
              </a:rPr>
              <a:t>say 后不跟人;tell sb</a:t>
            </a:r>
          </a:p>
        </p:txBody>
      </p:sp>
      <p:sp>
        <p:nvSpPr>
          <p:cNvPr id="17" name="Rounded Rectangle 16"/>
          <p:cNvSpPr/>
          <p:nvPr/>
        </p:nvSpPr>
        <p:spPr>
          <a:xfrm>
            <a:off x="548640" y="426719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Your phone number?</a:t>
            </a:r>
          </a:p>
        </p:txBody>
      </p:sp>
      <p:sp>
        <p:nvSpPr>
          <p:cNvPr id="18" name="Rounded Rectangle 17"/>
          <p:cNvSpPr/>
          <p:nvPr/>
        </p:nvSpPr>
        <p:spPr>
          <a:xfrm>
            <a:off x="6187287" y="426719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What’s the best number to reach you on?</a:t>
            </a:r>
          </a:p>
          <a:p>
            <a:pPr algn="l">
              <a:spcAft>
                <a:spcPts val="200"/>
              </a:spcAft>
            </a:pPr>
            <a:r>
              <a:rPr sz="1200" b="0">
                <a:solidFill>
                  <a:srgbClr val="FFFFFF"/>
                </a:solidFill>
                <a:latin typeface="Arial"/>
                <a:ea typeface="Microsoft YaHei"/>
              </a:rPr>
              <a:t>完整句子,更礼貌</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Wait, I write it.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Hold on, I’ll write that down.</a:t>
            </a:r>
          </a:p>
          <a:p>
            <a:pPr algn="l">
              <a:spcAft>
                <a:spcPts val="200"/>
              </a:spcAft>
            </a:pPr>
            <a:r>
              <a:rPr sz="1200" b="0">
                <a:solidFill>
                  <a:srgbClr val="FFFFFF"/>
                </a:solidFill>
                <a:latin typeface="Arial"/>
                <a:ea typeface="Microsoft YaHei"/>
              </a:rPr>
              <a:t>write down</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Who’s your name?</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May I have your name? / What’s your name, please?</a:t>
            </a:r>
          </a:p>
          <a:p>
            <a:pPr algn="l">
              <a:spcAft>
                <a:spcPts val="200"/>
              </a:spcAft>
            </a:pPr>
            <a:r>
              <a:rPr sz="1200" b="0">
                <a:solidFill>
                  <a:srgbClr val="FFFFFF"/>
                </a:solidFill>
                <a:latin typeface="Arial"/>
                <a:ea typeface="Microsoft YaHei"/>
              </a:rPr>
              <a:t>不要用 who’s your name</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I’ll tell to him.</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tell him. / I’ll pass it on to him.</a:t>
            </a:r>
          </a:p>
          <a:p>
            <a:pPr algn="l">
              <a:spcAft>
                <a:spcPts val="200"/>
              </a:spcAft>
            </a:pPr>
            <a:r>
              <a:rPr sz="1200" b="0">
                <a:solidFill>
                  <a:srgbClr val="FFFFFF"/>
                </a:solidFill>
                <a:latin typeface="Arial"/>
                <a:ea typeface="Microsoft YaHei"/>
              </a:rPr>
              <a:t>tell 后直接加人</a:t>
            </a:r>
          </a:p>
        </p:txBody>
      </p:sp>
      <p:sp>
        <p:nvSpPr>
          <p:cNvPr id="15" name="Rounded Rectangle 14"/>
          <p:cNvSpPr/>
          <p:nvPr/>
        </p:nvSpPr>
        <p:spPr>
          <a:xfrm>
            <a:off x="548640" y="3809997"/>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Ms Lin is out since Monday.</a:t>
            </a:r>
          </a:p>
        </p:txBody>
      </p:sp>
      <p:sp>
        <p:nvSpPr>
          <p:cNvPr id="16" name="Rounded Rectangle 15"/>
          <p:cNvSpPr/>
          <p:nvPr/>
        </p:nvSpPr>
        <p:spPr>
          <a:xfrm>
            <a:off x="6187287" y="3809997"/>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Ms Lin has been out since Monday.</a:t>
            </a:r>
          </a:p>
          <a:p>
            <a:pPr algn="l">
              <a:spcAft>
                <a:spcPts val="200"/>
              </a:spcAft>
            </a:pPr>
            <a:r>
              <a:rPr sz="1200" b="0">
                <a:solidFill>
                  <a:srgbClr val="FFFFFF"/>
                </a:solidFill>
                <a:latin typeface="Arial"/>
                <a:ea typeface="Microsoft YaHei"/>
              </a:rPr>
              <a:t>since → 现在完成时</a:t>
            </a:r>
          </a:p>
        </p:txBody>
      </p:sp>
      <p:sp>
        <p:nvSpPr>
          <p:cNvPr id="17" name="Rounded Rectangle 16"/>
          <p:cNvSpPr/>
          <p:nvPr/>
        </p:nvSpPr>
        <p:spPr>
          <a:xfrm>
            <a:off x="548640" y="4511036"/>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masage / urgant</a:t>
            </a:r>
          </a:p>
        </p:txBody>
      </p:sp>
      <p:sp>
        <p:nvSpPr>
          <p:cNvPr id="18" name="Rounded Rectangle 17"/>
          <p:cNvSpPr/>
          <p:nvPr/>
        </p:nvSpPr>
        <p:spPr>
          <a:xfrm>
            <a:off x="6187287" y="4511036"/>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message / urgent</a:t>
            </a:r>
          </a:p>
          <a:p>
            <a:pPr algn="l">
              <a:spcAft>
                <a:spcPts val="200"/>
              </a:spcAft>
            </a:pPr>
            <a:r>
              <a:rPr sz="1200" b="0">
                <a:solidFill>
                  <a:srgbClr val="FFFFFF"/>
                </a:solidFill>
                <a:latin typeface="Arial"/>
                <a:ea typeface="Microsoft YaHei"/>
              </a:rPr>
              <a:t>拼写</a:t>
            </a:r>
          </a:p>
        </p:txBody>
      </p:sp>
      <p:sp>
        <p:nvSpPr>
          <p:cNvPr id="28" name="Rounded Rectangle 2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leave a message for sb, tell sb (that)…, ask sb to do, has been out since. Check your spelling of message.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4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Always repeat names and numbers. Native speakers do this too. It is not rude. It shows care.</a:t>
            </a:r>
          </a:p>
        </p:txBody>
      </p:sp>
      <p:sp>
        <p:nvSpPr>
          <p:cNvPr id="12" name="Rounded Rectangle 11"/>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701039"/>
          </a:xfrm>
          <a:prstGeom prst="rect">
            <a:avLst/>
          </a:prstGeom>
          <a:noFill/>
        </p:spPr>
        <p:txBody>
          <a:bodyPr wrap="square" anchor="ctr">
            <a:spAutoFit/>
          </a:bodyPr>
          <a:lstStyle/>
          <a:p>
            <a:r>
              <a:rPr sz="1700" b="0">
                <a:solidFill>
                  <a:srgbClr val="1F2A44"/>
                </a:solidFill>
                <a:latin typeface="Arial"/>
                <a:ea typeface="Microsoft YaHei"/>
              </a:rPr>
              <a:t>Keep it private. Do not tell strangers where your colleague is or when they are coming back: “I’m afraid she’s not available. Can I take a message?”</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Voicemail etiquette: </a:t>
            </a:r>
            <a:r>
              <a:rPr sz="1700" b="0">
                <a:solidFill>
                  <a:srgbClr val="1F2A44"/>
                </a:solidFill>
                <a:latin typeface="Arial"/>
                <a:ea typeface="Microsoft YaHei"/>
              </a:rPr>
              <a:t>Don’t hang up without a message. Many people won’t call back an unknown number with no message.</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1">
                <a:solidFill>
                  <a:srgbClr val="FFC857"/>
                </a:solidFill>
                <a:latin typeface="Arial"/>
                <a:ea typeface="Microsoft YaHei"/>
              </a:rPr>
              <a:t>Texting: </a:t>
            </a:r>
            <a:r>
              <a:rPr sz="1700" b="0">
                <a:solidFill>
                  <a:srgbClr val="1F2A44"/>
                </a:solidFill>
                <a:latin typeface="Arial"/>
                <a:ea typeface="Microsoft YaHei"/>
              </a:rPr>
              <a:t>In many offices, a short text or chat message after a missed call (“Sorry I missed your call, I’ll call you back at 3”) is normal and polite.</a:t>
            </a:r>
          </a:p>
        </p:txBody>
      </p:sp>
      <p:sp>
        <p:nvSpPr>
          <p:cNvPr id="21" name="Rounded Rectangle 20"/>
          <p:cNvSpPr/>
          <p:nvPr/>
        </p:nvSpPr>
        <p:spPr>
          <a:xfrm>
            <a:off x="548640" y="4328156"/>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328156"/>
            <a:ext cx="91440" cy="441959"/>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328156"/>
            <a:ext cx="10728655" cy="441959"/>
          </a:xfrm>
          <a:prstGeom prst="rect">
            <a:avLst/>
          </a:prstGeom>
          <a:noFill/>
        </p:spPr>
        <p:txBody>
          <a:bodyPr wrap="square" anchor="ctr">
            <a:spAutoFit/>
          </a:bodyPr>
          <a:lstStyle/>
          <a:p>
            <a:r>
              <a:rPr sz="1700" b="1">
                <a:solidFill>
                  <a:srgbClr val="9B6BE0"/>
                </a:solidFill>
                <a:latin typeface="Arial"/>
                <a:ea typeface="Microsoft YaHei"/>
              </a:rPr>
              <a:t>Date and time: </a:t>
            </a:r>
            <a:r>
              <a:rPr sz="1700" b="0">
                <a:solidFill>
                  <a:srgbClr val="1F2A44"/>
                </a:solidFill>
                <a:latin typeface="Arial"/>
                <a:ea typeface="Microsoft YaHei"/>
              </a:rPr>
              <a:t>UK 8 Oct / US Oct 8. Write the month in letters on messages to avoid mistakes.</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22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offer to take a message and ask for name, company, number and message.</a:t>
            </a:r>
          </a:p>
        </p:txBody>
      </p:sp>
      <p:sp>
        <p:nvSpPr>
          <p:cNvPr id="12" name="TextBox 11"/>
          <p:cNvSpPr txBox="1"/>
          <p:nvPr/>
        </p:nvSpPr>
        <p:spPr>
          <a:xfrm>
            <a:off x="9539935" y="1508760"/>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380488"/>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380488"/>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380488"/>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check details by spelling and repeating (Let me read that back to you).</a:t>
            </a:r>
          </a:p>
        </p:txBody>
      </p:sp>
      <p:sp>
        <p:nvSpPr>
          <p:cNvPr id="16" name="TextBox 15"/>
          <p:cNvSpPr txBox="1"/>
          <p:nvPr/>
        </p:nvSpPr>
        <p:spPr>
          <a:xfrm>
            <a:off x="9539935" y="2380488"/>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252216"/>
            <a:ext cx="11094415" cy="49072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252216"/>
            <a:ext cx="548640" cy="49072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252216"/>
            <a:ext cx="8168335" cy="4907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pass on a message accurately (She says… He asked me to…).</a:t>
            </a:r>
          </a:p>
        </p:txBody>
      </p:sp>
      <p:sp>
        <p:nvSpPr>
          <p:cNvPr id="20" name="TextBox 19"/>
          <p:cNvSpPr txBox="1"/>
          <p:nvPr/>
        </p:nvSpPr>
        <p:spPr>
          <a:xfrm>
            <a:off x="9539935" y="3252216"/>
            <a:ext cx="2011680" cy="49072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834384"/>
            <a:ext cx="11094415" cy="49072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834384"/>
            <a:ext cx="548640" cy="49072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834384"/>
            <a:ext cx="8168335" cy="49072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leave a clear 20-second voicemail with my number said twice.</a:t>
            </a:r>
          </a:p>
        </p:txBody>
      </p:sp>
      <p:sp>
        <p:nvSpPr>
          <p:cNvPr id="24" name="TextBox 23"/>
          <p:cNvSpPr txBox="1"/>
          <p:nvPr/>
        </p:nvSpPr>
        <p:spPr>
          <a:xfrm>
            <a:off x="9539935" y="3834384"/>
            <a:ext cx="2011680" cy="49072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416552"/>
            <a:ext cx="11094415" cy="78028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416552"/>
            <a:ext cx="548640" cy="78028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416552"/>
            <a:ext cx="8168335" cy="780288"/>
          </a:xfrm>
          <a:prstGeom prst="rect">
            <a:avLst/>
          </a:prstGeom>
          <a:noFill/>
        </p:spPr>
        <p:txBody>
          <a:bodyPr wrap="square" anchor="ctr">
            <a:spAutoFit/>
          </a:bodyPr>
          <a:lstStyle/>
          <a:p>
            <a:pPr algn="l">
              <a:lnSpc>
                <a:spcPct val="115000"/>
              </a:lnSpc>
              <a:spcAft>
                <a:spcPts val="800"/>
              </a:spcAft>
            </a:pPr>
            <a:r>
              <a:rPr sz="1900" b="0">
                <a:solidFill>
                  <a:srgbClr val="1F2A44"/>
                </a:solidFill>
                <a:latin typeface="Arial"/>
                <a:ea typeface="Microsoft YaHei"/>
              </a:rPr>
              <a:t>I can use message for, tell sb, ask sb to, and the present perfect with since correctly.</a:t>
            </a:r>
          </a:p>
        </p:txBody>
      </p:sp>
      <p:sp>
        <p:nvSpPr>
          <p:cNvPr id="28" name="TextBox 27"/>
          <p:cNvSpPr txBox="1"/>
          <p:nvPr/>
        </p:nvSpPr>
        <p:spPr>
          <a:xfrm>
            <a:off x="9539935" y="4416552"/>
            <a:ext cx="2011680" cy="78028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 · Lesson 22 Telephone messages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Make 2 true sentences with ★ items.</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2–5</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or model email (copy the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5–8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Do the role play with the blank role card. Record yourself.</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message for, tell / say, ask sb to, number reading, and spelling (message, urgent).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record the 1-minute speaking prompt again and compare with Monday.</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对由此造成的不便,我诚挚道歉</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 sincerely apologize for any inconvenience this has caused.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请接受我们的歉意</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Please accept our apologies.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I’m calling to confirm / ask…</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I’m calling to confirm the delivery date.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The line is bad. / It’s a bad line.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I’m sorry, it’s a bad line. Could you say that again?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Just to confirmation, …</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Just to confirm, …</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谢谢您告诉我们</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Thank you for letting us know.</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4 · Unit 5</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“请稍等一下/请耐心等一等”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Bear with me a moment.</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“请问您的姓名和电话?”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Could I have your name and number?</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“希望您一切安好”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hope you’re keeping well.</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Please give regard to your team.</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Please give my regards to your team.</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Wait, I write it.</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Hold on, I’ll write that down.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5</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178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4 · Unit 5</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179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5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