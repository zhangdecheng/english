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00.xml" ContentType="application/vnd.openxmlformats-officedocument.presentationml.notesSlide+xml"/>
  <Override PartName="/ppt/notesSlides/notesSlide101.xml" ContentType="application/vnd.openxmlformats-officedocument.presentationml.notesSlide+xml"/>
  <Override PartName="/ppt/notesSlides/notesSlide102.xml" ContentType="application/vnd.openxmlformats-officedocument.presentationml.notesSlide+xml"/>
  <Override PartName="/ppt/notesSlides/notesSlide103.xml" ContentType="application/vnd.openxmlformats-officedocument.presentationml.notesSlide+xml"/>
  <Override PartName="/ppt/notesSlides/notesSlide104.xml" ContentType="application/vnd.openxmlformats-officedocument.presentationml.notesSlide+xml"/>
  <Override PartName="/ppt/notesSlides/notesSlide105.xml" ContentType="application/vnd.openxmlformats-officedocument.presentationml.notesSlide+xml"/>
  <Override PartName="/ppt/notesSlides/notesSlide106.xml" ContentType="application/vnd.openxmlformats-officedocument.presentationml.notesSlide+xml"/>
  <Override PartName="/ppt/notesSlides/notesSlide107.xml" ContentType="application/vnd.openxmlformats-officedocument.presentationml.notesSlide+xml"/>
  <Override PartName="/ppt/notesSlides/notesSlide108.xml" ContentType="application/vnd.openxmlformats-officedocument.presentationml.notesSlide+xml"/>
  <Override PartName="/ppt/notesSlides/notesSlide109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10.xml" ContentType="application/vnd.openxmlformats-officedocument.presentationml.notesSlide+xml"/>
  <Override PartName="/ppt/notesSlides/notesSlide111.xml" ContentType="application/vnd.openxmlformats-officedocument.presentationml.notesSlide+xml"/>
  <Override PartName="/ppt/notesSlides/notesSlide112.xml" ContentType="application/vnd.openxmlformats-officedocument.presentationml.notesSlide+xml"/>
  <Override PartName="/ppt/notesSlides/notesSlide113.xml" ContentType="application/vnd.openxmlformats-officedocument.presentationml.notesSlide+xml"/>
  <Override PartName="/ppt/notesSlides/notesSlide114.xml" ContentType="application/vnd.openxmlformats-officedocument.presentationml.notesSlide+xml"/>
  <Override PartName="/ppt/notesSlides/notesSlide115.xml" ContentType="application/vnd.openxmlformats-officedocument.presentationml.notesSlide+xml"/>
  <Override PartName="/ppt/notesSlides/notesSlide116.xml" ContentType="application/vnd.openxmlformats-officedocument.presentationml.notesSlide+xml"/>
  <Override PartName="/ppt/notesSlides/notesSlide117.xml" ContentType="application/vnd.openxmlformats-officedocument.presentationml.notesSlide+xml"/>
  <Override PartName="/ppt/notesSlides/notesSlide118.xml" ContentType="application/vnd.openxmlformats-officedocument.presentationml.notesSlide+xml"/>
  <Override PartName="/ppt/notesSlides/notesSlide119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20.xml" ContentType="application/vnd.openxmlformats-officedocument.presentationml.notesSlide+xml"/>
  <Override PartName="/ppt/notesSlides/notesSlide121.xml" ContentType="application/vnd.openxmlformats-officedocument.presentationml.notesSlide+xml"/>
  <Override PartName="/ppt/notesSlides/notesSlide122.xml" ContentType="application/vnd.openxmlformats-officedocument.presentationml.notesSlide+xml"/>
  <Override PartName="/ppt/notesSlides/notesSlide123.xml" ContentType="application/vnd.openxmlformats-officedocument.presentationml.notesSlide+xml"/>
  <Override PartName="/ppt/notesSlides/notesSlide124.xml" ContentType="application/vnd.openxmlformats-officedocument.presentationml.notesSlide+xml"/>
  <Override PartName="/ppt/notesSlides/notesSlide125.xml" ContentType="application/vnd.openxmlformats-officedocument.presentationml.notesSlide+xml"/>
  <Override PartName="/ppt/notesSlides/notesSlide126.xml" ContentType="application/vnd.openxmlformats-officedocument.presentationml.notesSlide+xml"/>
  <Override PartName="/ppt/notesSlides/notesSlide127.xml" ContentType="application/vnd.openxmlformats-officedocument.presentationml.notesSlide+xml"/>
  <Override PartName="/ppt/notesSlides/notesSlide128.xml" ContentType="application/vnd.openxmlformats-officedocument.presentationml.notesSlide+xml"/>
  <Override PartName="/ppt/notesSlides/notesSlide129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30.xml" ContentType="application/vnd.openxmlformats-officedocument.presentationml.notesSlide+xml"/>
  <Override PartName="/ppt/notesSlides/notesSlide131.xml" ContentType="application/vnd.openxmlformats-officedocument.presentationml.notesSlide+xml"/>
  <Override PartName="/ppt/notesSlides/notesSlide132.xml" ContentType="application/vnd.openxmlformats-officedocument.presentationml.notesSlide+xml"/>
  <Override PartName="/ppt/notesSlides/notesSlide133.xml" ContentType="application/vnd.openxmlformats-officedocument.presentationml.notesSlide+xml"/>
  <Override PartName="/ppt/notesSlides/notesSlide134.xml" ContentType="application/vnd.openxmlformats-officedocument.presentationml.notesSlide+xml"/>
  <Override PartName="/ppt/notesSlides/notesSlide135.xml" ContentType="application/vnd.openxmlformats-officedocument.presentationml.notesSlide+xml"/>
  <Override PartName="/ppt/notesSlides/notesSlide136.xml" ContentType="application/vnd.openxmlformats-officedocument.presentationml.notesSlide+xml"/>
  <Override PartName="/ppt/notesSlides/notesSlide137.xml" ContentType="application/vnd.openxmlformats-officedocument.presentationml.notesSlide+xml"/>
  <Override PartName="/ppt/notesSlides/notesSlide138.xml" ContentType="application/vnd.openxmlformats-officedocument.presentationml.notesSlide+xml"/>
  <Override PartName="/ppt/notesSlides/notesSlide139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40.xml" ContentType="application/vnd.openxmlformats-officedocument.presentationml.notesSlide+xml"/>
  <Override PartName="/ppt/notesSlides/notesSlide141.xml" ContentType="application/vnd.openxmlformats-officedocument.presentationml.notesSlide+xml"/>
  <Override PartName="/ppt/notesSlides/notesSlide142.xml" ContentType="application/vnd.openxmlformats-officedocument.presentationml.notesSlide+xml"/>
  <Override PartName="/ppt/notesSlides/notesSlide143.xml" ContentType="application/vnd.openxmlformats-officedocument.presentationml.notesSlide+xml"/>
  <Override PartName="/ppt/notesSlides/notesSlide14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89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90.xml" ContentType="application/vnd.openxmlformats-officedocument.presentationml.notesSlide+xml"/>
  <Override PartName="/ppt/notesSlides/notesSlide91.xml" ContentType="application/vnd.openxmlformats-officedocument.presentationml.notesSlide+xml"/>
  <Override PartName="/ppt/notesSlides/notesSlide92.xml" ContentType="application/vnd.openxmlformats-officedocument.presentationml.notesSlide+xml"/>
  <Override PartName="/ppt/notesSlides/notesSlide93.xml" ContentType="application/vnd.openxmlformats-officedocument.presentationml.notesSlide+xml"/>
  <Override PartName="/ppt/notesSlides/notesSlide94.xml" ContentType="application/vnd.openxmlformats-officedocument.presentationml.notesSlide+xml"/>
  <Override PartName="/ppt/notesSlides/notesSlide95.xml" ContentType="application/vnd.openxmlformats-officedocument.presentationml.notesSlide+xml"/>
  <Override PartName="/ppt/notesSlides/notesSlide96.xml" ContentType="application/vnd.openxmlformats-officedocument.presentationml.notesSlide+xml"/>
  <Override PartName="/ppt/notesSlides/notesSlide97.xml" ContentType="application/vnd.openxmlformats-officedocument.presentationml.notesSlide+xml"/>
  <Override PartName="/ppt/notesSlides/notesSlide98.xml" ContentType="application/vnd.openxmlformats-officedocument.presentationml.notesSlide+xml"/>
  <Override PartName="/ppt/notesSlides/notesSlide9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44.xml" ContentType="application/vnd.openxmlformats-officedocument.presentationml.slide+xml"/>
  <Override PartName="/ppt/slides/slide145.xml" ContentType="application/vnd.openxmlformats-officedocument.presentationml.slide+xml"/>
  <Override PartName="/ppt/slides/slide146.xml" ContentType="application/vnd.openxmlformats-officedocument.presentationml.slide+xml"/>
  <Override PartName="/ppt/slides/slide147.xml" ContentType="application/vnd.openxmlformats-officedocument.presentationml.slide+xml"/>
  <Override PartName="/ppt/slides/slide148.xml" ContentType="application/vnd.openxmlformats-officedocument.presentationml.slide+xml"/>
  <Override PartName="/ppt/slides/slide149.xml" ContentType="application/vnd.openxmlformats-officedocument.presentationml.slide+xml"/>
  <Override PartName="/ppt/slides/slide15.xml" ContentType="application/vnd.openxmlformats-officedocument.presentationml.slide+xml"/>
  <Override PartName="/ppt/slides/slide150.xml" ContentType="application/vnd.openxmlformats-officedocument.presentationml.slide+xml"/>
  <Override PartName="/ppt/slides/slide151.xml" ContentType="application/vnd.openxmlformats-officedocument.presentationml.slide+xml"/>
  <Override PartName="/ppt/slides/slide152.xml" ContentType="application/vnd.openxmlformats-officedocument.presentationml.slide+xml"/>
  <Override PartName="/ppt/slides/slide153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  <p:sldId id="301" r:id="rId53"/>
    <p:sldId id="302" r:id="rId54"/>
    <p:sldId id="303" r:id="rId55"/>
    <p:sldId id="304" r:id="rId56"/>
    <p:sldId id="305" r:id="rId57"/>
    <p:sldId id="306" r:id="rId58"/>
    <p:sldId id="307" r:id="rId59"/>
    <p:sldId id="308" r:id="rId60"/>
    <p:sldId id="309" r:id="rId61"/>
    <p:sldId id="310" r:id="rId62"/>
    <p:sldId id="311" r:id="rId63"/>
    <p:sldId id="312" r:id="rId64"/>
    <p:sldId id="313" r:id="rId65"/>
    <p:sldId id="314" r:id="rId66"/>
    <p:sldId id="315" r:id="rId67"/>
    <p:sldId id="316" r:id="rId68"/>
    <p:sldId id="317" r:id="rId69"/>
    <p:sldId id="318" r:id="rId70"/>
    <p:sldId id="319" r:id="rId71"/>
    <p:sldId id="320" r:id="rId72"/>
    <p:sldId id="321" r:id="rId73"/>
    <p:sldId id="322" r:id="rId74"/>
    <p:sldId id="323" r:id="rId75"/>
    <p:sldId id="324" r:id="rId76"/>
    <p:sldId id="325" r:id="rId77"/>
    <p:sldId id="326" r:id="rId78"/>
    <p:sldId id="327" r:id="rId79"/>
    <p:sldId id="328" r:id="rId80"/>
    <p:sldId id="329" r:id="rId81"/>
    <p:sldId id="330" r:id="rId82"/>
    <p:sldId id="331" r:id="rId83"/>
    <p:sldId id="332" r:id="rId84"/>
    <p:sldId id="333" r:id="rId85"/>
    <p:sldId id="334" r:id="rId86"/>
    <p:sldId id="335" r:id="rId87"/>
    <p:sldId id="336" r:id="rId88"/>
    <p:sldId id="337" r:id="rId89"/>
    <p:sldId id="338" r:id="rId90"/>
    <p:sldId id="339" r:id="rId91"/>
    <p:sldId id="340" r:id="rId92"/>
    <p:sldId id="341" r:id="rId93"/>
    <p:sldId id="342" r:id="rId94"/>
    <p:sldId id="343" r:id="rId95"/>
    <p:sldId id="344" r:id="rId96"/>
    <p:sldId id="345" r:id="rId97"/>
    <p:sldId id="346" r:id="rId98"/>
    <p:sldId id="347" r:id="rId99"/>
    <p:sldId id="348" r:id="rId100"/>
    <p:sldId id="349" r:id="rId101"/>
    <p:sldId id="350" r:id="rId102"/>
    <p:sldId id="351" r:id="rId103"/>
    <p:sldId id="352" r:id="rId104"/>
    <p:sldId id="353" r:id="rId105"/>
    <p:sldId id="354" r:id="rId106"/>
    <p:sldId id="355" r:id="rId107"/>
    <p:sldId id="356" r:id="rId108"/>
    <p:sldId id="357" r:id="rId109"/>
    <p:sldId id="358" r:id="rId110"/>
    <p:sldId id="359" r:id="rId111"/>
    <p:sldId id="360" r:id="rId112"/>
    <p:sldId id="361" r:id="rId113"/>
    <p:sldId id="362" r:id="rId114"/>
    <p:sldId id="363" r:id="rId115"/>
    <p:sldId id="364" r:id="rId116"/>
    <p:sldId id="365" r:id="rId117"/>
    <p:sldId id="366" r:id="rId118"/>
    <p:sldId id="367" r:id="rId119"/>
    <p:sldId id="368" r:id="rId120"/>
    <p:sldId id="369" r:id="rId121"/>
    <p:sldId id="370" r:id="rId122"/>
    <p:sldId id="371" r:id="rId123"/>
    <p:sldId id="372" r:id="rId124"/>
    <p:sldId id="373" r:id="rId125"/>
    <p:sldId id="374" r:id="rId126"/>
    <p:sldId id="375" r:id="rId127"/>
    <p:sldId id="376" r:id="rId128"/>
    <p:sldId id="377" r:id="rId129"/>
    <p:sldId id="378" r:id="rId130"/>
    <p:sldId id="379" r:id="rId131"/>
    <p:sldId id="380" r:id="rId132"/>
    <p:sldId id="381" r:id="rId133"/>
    <p:sldId id="382" r:id="rId134"/>
    <p:sldId id="383" r:id="rId135"/>
    <p:sldId id="384" r:id="rId136"/>
    <p:sldId id="385" r:id="rId137"/>
    <p:sldId id="386" r:id="rId138"/>
    <p:sldId id="387" r:id="rId139"/>
    <p:sldId id="388" r:id="rId140"/>
    <p:sldId id="389" r:id="rId141"/>
    <p:sldId id="390" r:id="rId142"/>
    <p:sldId id="391" r:id="rId143"/>
    <p:sldId id="392" r:id="rId144"/>
    <p:sldId id="393" r:id="rId145"/>
    <p:sldId id="394" r:id="rId146"/>
    <p:sldId id="395" r:id="rId147"/>
    <p:sldId id="396" r:id="rId148"/>
    <p:sldId id="397" r:id="rId149"/>
    <p:sldId id="398" r:id="rId150"/>
    <p:sldId id="399" r:id="rId151"/>
    <p:sldId id="400" r:id="rId152"/>
    <p:sldId id="401" r:id="rId153"/>
    <p:sldId id="402" r:id="rId154"/>
    <p:sldId id="403" r:id="rId155"/>
    <p:sldId id="404" r:id="rId156"/>
    <p:sldId id="405" r:id="rId157"/>
    <p:sldId id="406" r:id="rId158"/>
    <p:sldId id="407" r:id="rId159"/>
    <p:sldId id="408" r:id="rId16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Relationship Id="rId49" Type="http://schemas.openxmlformats.org/officeDocument/2006/relationships/slide" Target="slides/slide42.xml"/><Relationship Id="rId50" Type="http://schemas.openxmlformats.org/officeDocument/2006/relationships/slide" Target="slides/slide43.xml"/><Relationship Id="rId51" Type="http://schemas.openxmlformats.org/officeDocument/2006/relationships/slide" Target="slides/slide44.xml"/><Relationship Id="rId52" Type="http://schemas.openxmlformats.org/officeDocument/2006/relationships/slide" Target="slides/slide45.xml"/><Relationship Id="rId53" Type="http://schemas.openxmlformats.org/officeDocument/2006/relationships/slide" Target="slides/slide46.xml"/><Relationship Id="rId54" Type="http://schemas.openxmlformats.org/officeDocument/2006/relationships/slide" Target="slides/slide47.xml"/><Relationship Id="rId55" Type="http://schemas.openxmlformats.org/officeDocument/2006/relationships/slide" Target="slides/slide48.xml"/><Relationship Id="rId56" Type="http://schemas.openxmlformats.org/officeDocument/2006/relationships/slide" Target="slides/slide49.xml"/><Relationship Id="rId57" Type="http://schemas.openxmlformats.org/officeDocument/2006/relationships/slide" Target="slides/slide50.xml"/><Relationship Id="rId58" Type="http://schemas.openxmlformats.org/officeDocument/2006/relationships/slide" Target="slides/slide51.xml"/><Relationship Id="rId59" Type="http://schemas.openxmlformats.org/officeDocument/2006/relationships/slide" Target="slides/slide52.xml"/><Relationship Id="rId60" Type="http://schemas.openxmlformats.org/officeDocument/2006/relationships/slide" Target="slides/slide53.xml"/><Relationship Id="rId61" Type="http://schemas.openxmlformats.org/officeDocument/2006/relationships/slide" Target="slides/slide54.xml"/><Relationship Id="rId62" Type="http://schemas.openxmlformats.org/officeDocument/2006/relationships/slide" Target="slides/slide55.xml"/><Relationship Id="rId63" Type="http://schemas.openxmlformats.org/officeDocument/2006/relationships/slide" Target="slides/slide56.xml"/><Relationship Id="rId64" Type="http://schemas.openxmlformats.org/officeDocument/2006/relationships/slide" Target="slides/slide57.xml"/><Relationship Id="rId65" Type="http://schemas.openxmlformats.org/officeDocument/2006/relationships/slide" Target="slides/slide58.xml"/><Relationship Id="rId66" Type="http://schemas.openxmlformats.org/officeDocument/2006/relationships/slide" Target="slides/slide59.xml"/><Relationship Id="rId67" Type="http://schemas.openxmlformats.org/officeDocument/2006/relationships/slide" Target="slides/slide60.xml"/><Relationship Id="rId68" Type="http://schemas.openxmlformats.org/officeDocument/2006/relationships/slide" Target="slides/slide61.xml"/><Relationship Id="rId69" Type="http://schemas.openxmlformats.org/officeDocument/2006/relationships/slide" Target="slides/slide62.xml"/><Relationship Id="rId70" Type="http://schemas.openxmlformats.org/officeDocument/2006/relationships/slide" Target="slides/slide63.xml"/><Relationship Id="rId71" Type="http://schemas.openxmlformats.org/officeDocument/2006/relationships/slide" Target="slides/slide64.xml"/><Relationship Id="rId72" Type="http://schemas.openxmlformats.org/officeDocument/2006/relationships/slide" Target="slides/slide65.xml"/><Relationship Id="rId73" Type="http://schemas.openxmlformats.org/officeDocument/2006/relationships/slide" Target="slides/slide66.xml"/><Relationship Id="rId74" Type="http://schemas.openxmlformats.org/officeDocument/2006/relationships/slide" Target="slides/slide67.xml"/><Relationship Id="rId75" Type="http://schemas.openxmlformats.org/officeDocument/2006/relationships/slide" Target="slides/slide68.xml"/><Relationship Id="rId76" Type="http://schemas.openxmlformats.org/officeDocument/2006/relationships/slide" Target="slides/slide69.xml"/><Relationship Id="rId77" Type="http://schemas.openxmlformats.org/officeDocument/2006/relationships/slide" Target="slides/slide70.xml"/><Relationship Id="rId78" Type="http://schemas.openxmlformats.org/officeDocument/2006/relationships/slide" Target="slides/slide71.xml"/><Relationship Id="rId79" Type="http://schemas.openxmlformats.org/officeDocument/2006/relationships/slide" Target="slides/slide72.xml"/><Relationship Id="rId80" Type="http://schemas.openxmlformats.org/officeDocument/2006/relationships/slide" Target="slides/slide73.xml"/><Relationship Id="rId81" Type="http://schemas.openxmlformats.org/officeDocument/2006/relationships/slide" Target="slides/slide74.xml"/><Relationship Id="rId82" Type="http://schemas.openxmlformats.org/officeDocument/2006/relationships/slide" Target="slides/slide75.xml"/><Relationship Id="rId83" Type="http://schemas.openxmlformats.org/officeDocument/2006/relationships/slide" Target="slides/slide76.xml"/><Relationship Id="rId84" Type="http://schemas.openxmlformats.org/officeDocument/2006/relationships/slide" Target="slides/slide77.xml"/><Relationship Id="rId85" Type="http://schemas.openxmlformats.org/officeDocument/2006/relationships/slide" Target="slides/slide78.xml"/><Relationship Id="rId86" Type="http://schemas.openxmlformats.org/officeDocument/2006/relationships/slide" Target="slides/slide79.xml"/><Relationship Id="rId87" Type="http://schemas.openxmlformats.org/officeDocument/2006/relationships/slide" Target="slides/slide80.xml"/><Relationship Id="rId88" Type="http://schemas.openxmlformats.org/officeDocument/2006/relationships/slide" Target="slides/slide81.xml"/><Relationship Id="rId89" Type="http://schemas.openxmlformats.org/officeDocument/2006/relationships/slide" Target="slides/slide82.xml"/><Relationship Id="rId90" Type="http://schemas.openxmlformats.org/officeDocument/2006/relationships/slide" Target="slides/slide83.xml"/><Relationship Id="rId91" Type="http://schemas.openxmlformats.org/officeDocument/2006/relationships/slide" Target="slides/slide84.xml"/><Relationship Id="rId92" Type="http://schemas.openxmlformats.org/officeDocument/2006/relationships/slide" Target="slides/slide85.xml"/><Relationship Id="rId93" Type="http://schemas.openxmlformats.org/officeDocument/2006/relationships/slide" Target="slides/slide86.xml"/><Relationship Id="rId94" Type="http://schemas.openxmlformats.org/officeDocument/2006/relationships/slide" Target="slides/slide87.xml"/><Relationship Id="rId95" Type="http://schemas.openxmlformats.org/officeDocument/2006/relationships/slide" Target="slides/slide88.xml"/><Relationship Id="rId96" Type="http://schemas.openxmlformats.org/officeDocument/2006/relationships/slide" Target="slides/slide89.xml"/><Relationship Id="rId97" Type="http://schemas.openxmlformats.org/officeDocument/2006/relationships/slide" Target="slides/slide90.xml"/><Relationship Id="rId98" Type="http://schemas.openxmlformats.org/officeDocument/2006/relationships/slide" Target="slides/slide91.xml"/><Relationship Id="rId99" Type="http://schemas.openxmlformats.org/officeDocument/2006/relationships/slide" Target="slides/slide92.xml"/><Relationship Id="rId100" Type="http://schemas.openxmlformats.org/officeDocument/2006/relationships/slide" Target="slides/slide93.xml"/><Relationship Id="rId101" Type="http://schemas.openxmlformats.org/officeDocument/2006/relationships/slide" Target="slides/slide94.xml"/><Relationship Id="rId102" Type="http://schemas.openxmlformats.org/officeDocument/2006/relationships/slide" Target="slides/slide95.xml"/><Relationship Id="rId103" Type="http://schemas.openxmlformats.org/officeDocument/2006/relationships/slide" Target="slides/slide96.xml"/><Relationship Id="rId104" Type="http://schemas.openxmlformats.org/officeDocument/2006/relationships/slide" Target="slides/slide97.xml"/><Relationship Id="rId105" Type="http://schemas.openxmlformats.org/officeDocument/2006/relationships/slide" Target="slides/slide98.xml"/><Relationship Id="rId106" Type="http://schemas.openxmlformats.org/officeDocument/2006/relationships/slide" Target="slides/slide99.xml"/><Relationship Id="rId107" Type="http://schemas.openxmlformats.org/officeDocument/2006/relationships/slide" Target="slides/slide100.xml"/><Relationship Id="rId108" Type="http://schemas.openxmlformats.org/officeDocument/2006/relationships/slide" Target="slides/slide101.xml"/><Relationship Id="rId109" Type="http://schemas.openxmlformats.org/officeDocument/2006/relationships/slide" Target="slides/slide102.xml"/><Relationship Id="rId110" Type="http://schemas.openxmlformats.org/officeDocument/2006/relationships/slide" Target="slides/slide103.xml"/><Relationship Id="rId111" Type="http://schemas.openxmlformats.org/officeDocument/2006/relationships/slide" Target="slides/slide104.xml"/><Relationship Id="rId112" Type="http://schemas.openxmlformats.org/officeDocument/2006/relationships/slide" Target="slides/slide105.xml"/><Relationship Id="rId113" Type="http://schemas.openxmlformats.org/officeDocument/2006/relationships/slide" Target="slides/slide106.xml"/><Relationship Id="rId114" Type="http://schemas.openxmlformats.org/officeDocument/2006/relationships/slide" Target="slides/slide107.xml"/><Relationship Id="rId115" Type="http://schemas.openxmlformats.org/officeDocument/2006/relationships/slide" Target="slides/slide108.xml"/><Relationship Id="rId116" Type="http://schemas.openxmlformats.org/officeDocument/2006/relationships/slide" Target="slides/slide109.xml"/><Relationship Id="rId117" Type="http://schemas.openxmlformats.org/officeDocument/2006/relationships/slide" Target="slides/slide110.xml"/><Relationship Id="rId118" Type="http://schemas.openxmlformats.org/officeDocument/2006/relationships/slide" Target="slides/slide111.xml"/><Relationship Id="rId119" Type="http://schemas.openxmlformats.org/officeDocument/2006/relationships/slide" Target="slides/slide112.xml"/><Relationship Id="rId120" Type="http://schemas.openxmlformats.org/officeDocument/2006/relationships/slide" Target="slides/slide113.xml"/><Relationship Id="rId121" Type="http://schemas.openxmlformats.org/officeDocument/2006/relationships/slide" Target="slides/slide114.xml"/><Relationship Id="rId122" Type="http://schemas.openxmlformats.org/officeDocument/2006/relationships/slide" Target="slides/slide115.xml"/><Relationship Id="rId123" Type="http://schemas.openxmlformats.org/officeDocument/2006/relationships/slide" Target="slides/slide116.xml"/><Relationship Id="rId124" Type="http://schemas.openxmlformats.org/officeDocument/2006/relationships/slide" Target="slides/slide117.xml"/><Relationship Id="rId125" Type="http://schemas.openxmlformats.org/officeDocument/2006/relationships/slide" Target="slides/slide118.xml"/><Relationship Id="rId126" Type="http://schemas.openxmlformats.org/officeDocument/2006/relationships/slide" Target="slides/slide119.xml"/><Relationship Id="rId127" Type="http://schemas.openxmlformats.org/officeDocument/2006/relationships/slide" Target="slides/slide120.xml"/><Relationship Id="rId128" Type="http://schemas.openxmlformats.org/officeDocument/2006/relationships/slide" Target="slides/slide121.xml"/><Relationship Id="rId129" Type="http://schemas.openxmlformats.org/officeDocument/2006/relationships/slide" Target="slides/slide122.xml"/><Relationship Id="rId130" Type="http://schemas.openxmlformats.org/officeDocument/2006/relationships/slide" Target="slides/slide123.xml"/><Relationship Id="rId131" Type="http://schemas.openxmlformats.org/officeDocument/2006/relationships/slide" Target="slides/slide124.xml"/><Relationship Id="rId132" Type="http://schemas.openxmlformats.org/officeDocument/2006/relationships/slide" Target="slides/slide125.xml"/><Relationship Id="rId133" Type="http://schemas.openxmlformats.org/officeDocument/2006/relationships/slide" Target="slides/slide126.xml"/><Relationship Id="rId134" Type="http://schemas.openxmlformats.org/officeDocument/2006/relationships/slide" Target="slides/slide127.xml"/><Relationship Id="rId135" Type="http://schemas.openxmlformats.org/officeDocument/2006/relationships/slide" Target="slides/slide128.xml"/><Relationship Id="rId136" Type="http://schemas.openxmlformats.org/officeDocument/2006/relationships/slide" Target="slides/slide129.xml"/><Relationship Id="rId137" Type="http://schemas.openxmlformats.org/officeDocument/2006/relationships/slide" Target="slides/slide130.xml"/><Relationship Id="rId138" Type="http://schemas.openxmlformats.org/officeDocument/2006/relationships/slide" Target="slides/slide131.xml"/><Relationship Id="rId139" Type="http://schemas.openxmlformats.org/officeDocument/2006/relationships/slide" Target="slides/slide132.xml"/><Relationship Id="rId140" Type="http://schemas.openxmlformats.org/officeDocument/2006/relationships/slide" Target="slides/slide133.xml"/><Relationship Id="rId141" Type="http://schemas.openxmlformats.org/officeDocument/2006/relationships/slide" Target="slides/slide134.xml"/><Relationship Id="rId142" Type="http://schemas.openxmlformats.org/officeDocument/2006/relationships/slide" Target="slides/slide135.xml"/><Relationship Id="rId143" Type="http://schemas.openxmlformats.org/officeDocument/2006/relationships/slide" Target="slides/slide136.xml"/><Relationship Id="rId144" Type="http://schemas.openxmlformats.org/officeDocument/2006/relationships/slide" Target="slides/slide137.xml"/><Relationship Id="rId145" Type="http://schemas.openxmlformats.org/officeDocument/2006/relationships/slide" Target="slides/slide138.xml"/><Relationship Id="rId146" Type="http://schemas.openxmlformats.org/officeDocument/2006/relationships/slide" Target="slides/slide139.xml"/><Relationship Id="rId147" Type="http://schemas.openxmlformats.org/officeDocument/2006/relationships/slide" Target="slides/slide140.xml"/><Relationship Id="rId148" Type="http://schemas.openxmlformats.org/officeDocument/2006/relationships/slide" Target="slides/slide141.xml"/><Relationship Id="rId149" Type="http://schemas.openxmlformats.org/officeDocument/2006/relationships/slide" Target="slides/slide142.xml"/><Relationship Id="rId150" Type="http://schemas.openxmlformats.org/officeDocument/2006/relationships/slide" Target="slides/slide143.xml"/><Relationship Id="rId151" Type="http://schemas.openxmlformats.org/officeDocument/2006/relationships/slide" Target="slides/slide144.xml"/><Relationship Id="rId152" Type="http://schemas.openxmlformats.org/officeDocument/2006/relationships/slide" Target="slides/slide145.xml"/><Relationship Id="rId153" Type="http://schemas.openxmlformats.org/officeDocument/2006/relationships/slide" Target="slides/slide146.xml"/><Relationship Id="rId154" Type="http://schemas.openxmlformats.org/officeDocument/2006/relationships/slide" Target="slides/slide147.xml"/><Relationship Id="rId155" Type="http://schemas.openxmlformats.org/officeDocument/2006/relationships/slide" Target="slides/slide148.xml"/><Relationship Id="rId156" Type="http://schemas.openxmlformats.org/officeDocument/2006/relationships/slide" Target="slides/slide149.xml"/><Relationship Id="rId157" Type="http://schemas.openxmlformats.org/officeDocument/2006/relationships/slide" Target="slides/slide150.xml"/><Relationship Id="rId158" Type="http://schemas.openxmlformats.org/officeDocument/2006/relationships/slide" Target="slides/slide151.xml"/><Relationship Id="rId159" Type="http://schemas.openxmlformats.org/officeDocument/2006/relationships/slide" Target="slides/slide152.xml"/><Relationship Id="rId160" Type="http://schemas.openxmlformats.org/officeDocument/2006/relationships/slide" Target="slides/slide15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_rels/notesSlide4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_rels/notesSlide4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9.xml"/></Relationships>
</file>

<file path=ppt/notesSlides/_rels/notesSlide5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0.xml"/></Relationships>
</file>

<file path=ppt/notesSlides/_rels/notesSlide5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1.xml"/></Relationships>
</file>

<file path=ppt/notesSlides/_rels/notesSlide5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2.xml"/></Relationships>
</file>

<file path=ppt/notesSlides/_rels/notesSlide5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3.xml"/></Relationships>
</file>

<file path=ppt/notesSlides/_rels/notesSlide5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4.xml"/></Relationships>
</file>

<file path=ppt/notesSlides/_rels/notesSlide5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5.xml"/></Relationships>
</file>

<file path=ppt/notesSlides/_rels/notesSlide5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6.xml"/></Relationships>
</file>

<file path=ppt/notesSlides/_rels/notesSlide5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7.xml"/></Relationships>
</file>

<file path=ppt/notesSlides/_rels/notesSlide5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8.xml"/></Relationships>
</file>

<file path=ppt/notesSlides/_rels/notesSlide5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9.xml"/></Relationships>
</file>

<file path=ppt/notesSlides/_rels/notesSlide6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0.xml"/></Relationships>
</file>

<file path=ppt/notesSlides/_rels/notesSlide6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1.xml"/></Relationships>
</file>

<file path=ppt/notesSlides/_rels/notesSlide6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2.xml"/></Relationships>
</file>

<file path=ppt/notesSlides/_rels/notesSlide6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3.xml"/></Relationships>
</file>

<file path=ppt/notesSlides/_rels/notesSlide6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4.xml"/></Relationships>
</file>

<file path=ppt/notesSlides/_rels/notesSlide6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5.xml"/></Relationships>
</file>

<file path=ppt/notesSlides/_rels/notesSlide6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6.xml"/></Relationships>
</file>

<file path=ppt/notesSlides/_rels/notesSlide6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7.xml"/></Relationships>
</file>

<file path=ppt/notesSlides/_rels/notesSlide6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8.xml"/></Relationships>
</file>

<file path=ppt/notesSlides/_rels/notesSlide6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9.xml"/></Relationships>
</file>

<file path=ppt/notesSlides/_rels/notesSlide7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0.xml"/></Relationships>
</file>

<file path=ppt/notesSlides/_rels/notesSlide7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1.xml"/></Relationships>
</file>

<file path=ppt/notesSlides/_rels/notesSlide7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2.xml"/></Relationships>
</file>

<file path=ppt/notesSlides/_rels/notesSlide7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3.xml"/></Relationships>
</file>

<file path=ppt/notesSlides/_rels/notesSlide7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4.xml"/></Relationships>
</file>

<file path=ppt/notesSlides/_rels/notesSlide7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5.xml"/></Relationships>
</file>

<file path=ppt/notesSlides/_rels/notesSlide7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6.xml"/></Relationships>
</file>

<file path=ppt/notesSlides/_rels/notesSlide7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7.xml"/></Relationships>
</file>

<file path=ppt/notesSlides/_rels/notesSlide7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8.xml"/></Relationships>
</file>

<file path=ppt/notesSlides/_rels/notesSlide7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9.xml"/></Relationships>
</file>

<file path=ppt/notesSlides/_rels/notesSlide8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0.xml"/></Relationships>
</file>

<file path=ppt/notesSlides/_rels/notesSlide8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1.xml"/></Relationships>
</file>

<file path=ppt/notesSlides/_rels/notesSlide8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2.xml"/></Relationships>
</file>

<file path=ppt/notesSlides/_rels/notesSlide8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3.xml"/></Relationships>
</file>

<file path=ppt/notesSlides/_rels/notesSlide8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4.xml"/></Relationships>
</file>

<file path=ppt/notesSlides/_rels/notesSlide8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5.xml"/></Relationships>
</file>

<file path=ppt/notesSlides/_rels/notesSlide8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6.xml"/></Relationships>
</file>

<file path=ppt/notesSlides/_rels/notesSlide8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7.xml"/></Relationships>
</file>

<file path=ppt/notesSlides/_rels/notesSlide8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8.xml"/></Relationships>
</file>

<file path=ppt/notesSlides/_rels/notesSlide8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9.xml"/></Relationships>
</file>

<file path=ppt/notesSlides/_rels/notesSlide9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0.xml"/></Relationships>
</file>

<file path=ppt/notesSlides/_rels/notesSlide9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1.xml"/></Relationships>
</file>

<file path=ppt/notesSlides/_rels/notesSlide9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2.xml"/></Relationships>
</file>

<file path=ppt/notesSlides/_rels/notesSlide9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3.xml"/></Relationships>
</file>

<file path=ppt/notesSlides/_rels/notesSlide9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4.xml"/></Relationships>
</file>

<file path=ppt/notesSlides/_rels/notesSlide9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5.xml"/></Relationships>
</file>

<file path=ppt/notesSlides/_rels/notesSlide9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6.xml"/></Relationships>
</file>

<file path=ppt/notesSlides/_rels/notesSlide9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7.xml"/></Relationships>
</file>

<file path=ppt/notesSlides/_rels/notesSlide9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8.xml"/></Relationships>
</file>

<file path=ppt/notesSlides/_rels/notesSlide9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9.xml"/></Relationships>
</file>

<file path=ppt/notesSlides/_rels/notesSlide10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0.xml"/></Relationships>
</file>

<file path=ppt/notesSlides/_rels/notesSlide10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1.xml"/></Relationships>
</file>

<file path=ppt/notesSlides/_rels/notesSlide10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2.xml"/></Relationships>
</file>

<file path=ppt/notesSlides/_rels/notesSlide10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3.xml"/></Relationships>
</file>

<file path=ppt/notesSlides/_rels/notesSlide10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4.xml"/></Relationships>
</file>

<file path=ppt/notesSlides/_rels/notesSlide10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5.xml"/></Relationships>
</file>

<file path=ppt/notesSlides/_rels/notesSlide10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6.xml"/></Relationships>
</file>

<file path=ppt/notesSlides/_rels/notesSlide10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7.xml"/></Relationships>
</file>

<file path=ppt/notesSlides/_rels/notesSlide10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8.xml"/></Relationships>
</file>

<file path=ppt/notesSlides/_rels/notesSlide10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9.xml"/></Relationships>
</file>

<file path=ppt/notesSlides/_rels/notesSlide1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0.xml"/></Relationships>
</file>

<file path=ppt/notesSlides/_rels/notesSlide1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1.xml"/></Relationships>
</file>

<file path=ppt/notesSlides/_rels/notesSlide1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2.xml"/></Relationships>
</file>

<file path=ppt/notesSlides/_rels/notesSlide1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3.xml"/></Relationships>
</file>

<file path=ppt/notesSlides/_rels/notesSlide1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4.xml"/></Relationships>
</file>

<file path=ppt/notesSlides/_rels/notesSlide1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5.xml"/></Relationships>
</file>

<file path=ppt/notesSlides/_rels/notesSlide1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6.xml"/></Relationships>
</file>

<file path=ppt/notesSlides/_rels/notesSlide1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7.xml"/></Relationships>
</file>

<file path=ppt/notesSlides/_rels/notesSlide1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8.xml"/></Relationships>
</file>

<file path=ppt/notesSlides/_rels/notesSlide1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9.xml"/></Relationships>
</file>

<file path=ppt/notesSlides/_rels/notesSlide1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0.xml"/></Relationships>
</file>

<file path=ppt/notesSlides/_rels/notesSlide1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1.xml"/></Relationships>
</file>

<file path=ppt/notesSlides/_rels/notesSlide1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2.xml"/></Relationships>
</file>

<file path=ppt/notesSlides/_rels/notesSlide1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3.xml"/></Relationships>
</file>

<file path=ppt/notesSlides/_rels/notesSlide1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4.xml"/></Relationships>
</file>

<file path=ppt/notesSlides/_rels/notesSlide1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5.xml"/></Relationships>
</file>

<file path=ppt/notesSlides/_rels/notesSlide1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6.xml"/></Relationships>
</file>

<file path=ppt/notesSlides/_rels/notesSlide1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7.xml"/></Relationships>
</file>

<file path=ppt/notesSlides/_rels/notesSlide1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8.xml"/></Relationships>
</file>

<file path=ppt/notesSlides/_rels/notesSlide1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9.xml"/></Relationships>
</file>

<file path=ppt/notesSlides/_rels/notesSlide1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0.xml"/></Relationships>
</file>

<file path=ppt/notesSlides/_rels/notesSlide1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1.xml"/></Relationships>
</file>

<file path=ppt/notesSlides/_rels/notesSlide1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2.xml"/></Relationships>
</file>

<file path=ppt/notesSlides/_rels/notesSlide1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3.xml"/></Relationships>
</file>

<file path=ppt/notesSlides/_rels/notesSlide1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4.xml"/></Relationships>
</file>

<file path=ppt/notesSlides/_rels/notesSlide1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5.xml"/></Relationships>
</file>

<file path=ppt/notesSlides/_rels/notesSlide1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6.xml"/></Relationships>
</file>

<file path=ppt/notesSlides/_rels/notesSlide1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7.xml"/></Relationships>
</file>

<file path=ppt/notesSlides/_rels/notesSlide1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8.xml"/></Relationships>
</file>

<file path=ppt/notesSlides/_rels/notesSlide1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9.xml"/></Relationships>
</file>

<file path=ppt/notesSlides/_rels/notesSlide1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0.xml"/></Relationships>
</file>

<file path=ppt/notesSlides/_rels/notesSlide1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1.xml"/></Relationships>
</file>

<file path=ppt/notesSlides/_rels/notesSlide1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1.xml"/></Relationships>
</file>

<file path=ppt/notesSlides/_rels/notesSlide1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2.xml"/></Relationships>
</file>

<file path=ppt/notesSlides/_rels/notesSlide1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Business English – Intermediate Level 4</a:t>
            </a:r>
          </a:p>
          <a:p>
            <a:r>
              <a:t>Unit 3: Business Visitors — Self-Study Workbook (Lessons 06–10)</a:t>
            </a:r>
          </a:p>
          <a:p/>
          <a:p>
            <a:r>
              <a:t>开场：简单介绍本单元的主题和要完成的 5 个 Lesson，说明全程会以小组积分赛的形式进行。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把学员分成 2–4 组。热身发言、答题、角色扮演表现好都可以加分，最后一页评出冠军组。</a:t>
            </a:r>
          </a:p>
          <a:p>
            <a:r>
              <a:t>可以直接在 Score 框里打字记分，或在白板上记录。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点击任意 Lesson 可直接跳转；每页右下角的 🗺 Map 按钮可以随时回到这里。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Lesson 06 · At reception 在前台</a:t>
            </a:r>
          </a:p>
          <a:p>
            <a:r>
              <a:t>Goal: greet visitors, check appointments, sign people in, give directions, and solve common reception problems (no appointment, wrong day, host unavailable) politely and professionally.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热身：每题请一位学员用 2–3 句话回答，点击逐题出现。积极发言的小组 +1。</a:t>
            </a:r>
          </a:p>
          <a:p>
            <a:r>
              <a:t>第 1、5 题讲过去的经历,请用过去式(went, waited, said)。第 2 题可以用 “should” 或 “I think… should…”。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一分钟挑战：给 1 分钟准备，然后每组派一人计时发言 60 秒，不停顿、不说中文即可得分。</a:t>
            </a:r>
          </a:p>
          <a:p>
            <a:r>
              <a:t>Describe how a good receptionist welcomes a visitor.</a:t>
            </a:r>
          </a:p>
          <a:p>
            <a:r>
              <a:t>Say: first words → asking for the name and the appointment → sign-in and badge → waiting or going up → one problem and how to solve it.</a:t>
            </a:r>
          </a:p>
          <a:p>
            <a:r>
              <a:t>Useful starters: “First, the receptionist should…” / “Then they ask…” / “If the host is busy, they can…”</a:t>
            </a:r>
          </a:p>
          <a:p>
            <a:r>
              <a:t>说话时按先后顺序,用 first / then / after that / finally 串联。注意第三人称单数:she asks, he checks, it takes。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Chunk 1: Greeting and checking in 问候与登记</a:t>
            </a:r>
          </a:p>
          <a:p>
            <a:r>
              <a:t>领读 → 学员跟读 → 请学员用表达造一个和自己工作相关的句子。</a:t>
            </a:r>
          </a:p>
          <a:p>
            <a:r>
              <a:t>Good morning. How can I help you? (phrase) 早上好,请问有什么可以帮您? — “Good morning. How can I help you?” — “I’m here for a meeting.”</a:t>
            </a:r>
          </a:p>
          <a:p>
            <a:r>
              <a:t>Do you have an appointment? (phrase) 您有预约吗? — “Do you have an appointment with Mr Wang?”</a:t>
            </a:r>
          </a:p>
          <a:p>
            <a:r>
              <a:t>★ Who are you here to see? (phrase) 您是来找哪位的? — “Who are you here to see, please?”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Chunk 1: Greeting and checking in 问候与登记</a:t>
            </a:r>
          </a:p>
          <a:p>
            <a:r>
              <a:t>领读 → 学员跟读 → 请学员用表达造一个和自己工作相关的句子。</a:t>
            </a:r>
          </a:p>
          <a:p>
            <a:r>
              <a:t>I’m here to see… / I have a meeting with… (phrase) 我来找…… / 我和……有会议 — “I’m here to see Ms Lin. I have a ten o’clock meeting with her.”</a:t>
            </a:r>
          </a:p>
          <a:p>
            <a:r>
              <a:t>Could you sign in, please? (phrase) 请您登记一下好吗? — “Could you sign in here, please? Just your name, company and time.”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Chunk 2: Directing and arranging 引导与安排</a:t>
            </a:r>
          </a:p>
          <a:p>
            <a:r>
              <a:t>领读 → 学员跟读 → 请学员用表达造一个和自己工作相关的句子。</a:t>
            </a:r>
          </a:p>
          <a:p>
            <a:r>
              <a:t>visitor’s badge / visitor pass (noun) 访客证 — “Please wear your visitor’s badge while you’re in the building.”</a:t>
            </a:r>
          </a:p>
          <a:p>
            <a:r>
              <a:t>★ Please take a seat. I’ll let her know you’re here. (phrase) 请坐,我这就通知她您到了 — “Please take a seat. I’ll let Ms Lin know you’re here.”</a:t>
            </a:r>
          </a:p>
          <a:p>
            <a:r>
              <a:t>★ She’ll be right with you. (phrase) 她马上就来 — “Ms Lin will be right with you. Can I get you a coffee?”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Chunk 2: Directing and arranging 引导与安排</a:t>
            </a:r>
          </a:p>
          <a:p>
            <a:r>
              <a:t>领读 → 学员跟读 → 请学员用表达造一个和自己工作相关的句子。</a:t>
            </a:r>
          </a:p>
          <a:p>
            <a:r>
              <a:t>Take the lift to the third floor. (phrase) 请乘电梯到三楼 — “Take the lift to the third floor. The meeting room is on your left.”</a:t>
            </a:r>
          </a:p>
          <a:p>
            <a:r>
              <a:t>★ I’ll show you the way. (phrase) 我带您过去 — “It’s a bit hard to find. I’ll show you the way.”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Chunk 3: Solving problems 解决问题</a:t>
            </a:r>
          </a:p>
          <a:p>
            <a:r>
              <a:t>领读 → 学员跟读 → 请学员用表达造一个和自己工作相关的句子。</a:t>
            </a:r>
          </a:p>
          <a:p>
            <a:r>
              <a:t>I’m afraid he’s in a meeting at the moment. (phrase (polite)) 恐怕他现在在开会 — “I’m afraid Mr Tan is in a meeting at the moment.”</a:t>
            </a:r>
          </a:p>
          <a:p>
            <a:r>
              <a:t>★ She’s tied up until eleven. (idiom) 她十一点前走不开(忙着) — “I’m afraid she’s tied up until eleven. Would you like to wait?”</a:t>
            </a:r>
          </a:p>
          <a:p>
            <a:r>
              <a:t>Can I take a message? (phrase) 需要我帮您留言吗? — “Mr Tan is out today. Can I take a message?”</a:t>
            </a:r>
          </a:p>
          <a:p>
            <a:r>
              <a:t>★ I’m sorry about the mix-up. (phrase) 对于这个误会/弄错的事,我很抱歉 — “I’m sorry about the mix-up with the date.”</a:t>
            </a:r>
          </a:p>
          <a:p>
            <a:r>
              <a:t>Is there anything else I can help you with? (phrase) 还有什么我能帮您的吗? — “Is there anything else I can help you with?” — “No, that’s all. Thanks.”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抢答：老师指一张卡，各组抢答英文表达，答对 +1。点击按顺序揭晓答案。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限时 2 分钟独立完成，然后逐题点击揭晓答案。全对的学员为小组 +1。</a:t>
            </a:r>
          </a:p>
          <a:p>
            <a:r>
              <a:t>badge / show / sign / afraid / appointment / tied</a:t>
            </a:r>
          </a:p>
          <a:p>
            <a:r>
              <a:t>1. “Do you have an _______ with Ms Lin?” → appointment</a:t>
            </a:r>
          </a:p>
          <a:p>
            <a:r>
              <a:t>2. Could you _______ in at the desk, please? → sign</a:t>
            </a:r>
          </a:p>
          <a:p>
            <a:r>
              <a:t>3. Please wear this visitor’s _______ during your visit. → badge</a:t>
            </a:r>
          </a:p>
          <a:p>
            <a:r>
              <a:t>4. I’m _______ Mr Park is in a meeting at the moment. → afraid</a:t>
            </a:r>
          </a:p>
          <a:p>
            <a:r>
              <a:t>5. Sorry, she’s _______ up until eleven. Would you like to wait? → tied</a:t>
            </a:r>
          </a:p>
          <a:p>
            <a:r>
              <a:t>6. Please follow me. I’ll _______ you the way. → show</a:t>
            </a:r>
          </a:p>
          <a:p>
            <a:r>
              <a:t>Mistake Watch (拼写与冠词): appointment (two p’s, one m before -ent: ap-point-ment), receptionist (not “recepcionist”), colleague. Use an before appointment: “I have an appointment.”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Checking in a visitor with an appointment 接待有预约的访客</a:t>
            </a:r>
          </a:p>
          <a:p>
            <a:r>
              <a:t>情景：Mr Carlos Diaz arrives at 10 a.m. for a meeting with Ms Lin. You are the receptionist.</a:t>
            </a:r>
          </a:p>
          <a:p>
            <a:r>
              <a:t>Role A: Amy Wu, receptionist Role B: Carlos Diaz, visitor from Delta Packaging</a:t>
            </a:r>
          </a:p>
          <a:p>
            <a:r>
              <a:t>先师生示范一遍，再两人一组练习，最后请 1–2 组上台表演，表现最好的组 +2。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先全班分角色朗读（模仿语音语调），再两人一组练习。</a:t>
            </a:r>
          </a:p>
          <a:p>
            <a:r>
              <a:t>A (Amy): Good morning. How can I help you?</a:t>
            </a:r>
          </a:p>
          <a:p>
            <a:r>
              <a:t>B (Carlos): Good morning. I’m Carlos Diaz from Delta Packaging. I have a ten o’clock appointment with Ms Lin.</a:t>
            </a:r>
          </a:p>
          <a:p>
            <a:r>
              <a:t>A: Let me just check. Yes, Mr Diaz, she’s expecting you. Could you sign in here, please?</a:t>
            </a:r>
          </a:p>
          <a:p>
            <a:r>
              <a:t>B: Of course. What do I need to write?</a:t>
            </a:r>
          </a:p>
          <a:p>
            <a:r>
              <a:t>A: Just your name, your company and the time, please. Thank you. And here’s your visitor’s badge. Please wear it while you’re in the building.</a:t>
            </a:r>
          </a:p>
          <a:p>
            <a:r>
              <a:t>B: Thanks. Is the meeting room far from here?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先全班分角色朗读（模仿语音语调），再两人一组练习。</a:t>
            </a:r>
          </a:p>
          <a:p>
            <a:r>
              <a:t>A: Not at all. Take the lift to the third floor and turn left. Actually, I’ll let Ms Lin know you’re here, and she’ll come and get you.</a:t>
            </a:r>
          </a:p>
          <a:p>
            <a:r>
              <a:t>B: That’s very kind of you.</a:t>
            </a:r>
          </a:p>
          <a:p>
            <a:r>
              <a:t>A: Please take a seat. She’ll be right with you. Can I get you a tea or coffee while you wait?</a:t>
            </a:r>
          </a:p>
          <a:p>
            <a:r>
              <a:t>B: A coffee would be great, thanks.</a:t>
            </a:r>
          </a:p>
          <a:p>
            <a:r>
              <a:t>A: Milk or sugar?</a:t>
            </a:r>
          </a:p>
          <a:p>
            <a:r>
              <a:t>B: Just milk, please.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学员两人一组，按角色卡即兴对话 3 分钟（不看范文）。完成后挑战进阶版任务，挑战成功 +2。</a:t>
            </a:r>
          </a:p>
          <a:p>
            <a:r>
              <a:t>Role card 7 | </a:t>
            </a:r>
          </a:p>
          <a:p>
            <a:r>
              <a:t>Situation | A visitor with an appointment arrives at your reception desk.</a:t>
            </a:r>
          </a:p>
          <a:p>
            <a:r>
              <a:t>Your role (A) | Receptionist. Your name and company: ______________</a:t>
            </a:r>
          </a:p>
          <a:p>
            <a:r>
              <a:t>Partner’s role (B) | Visitor. Name, company and host: ______________</a:t>
            </a:r>
          </a:p>
          <a:p>
            <a:r>
              <a:t>Must use (4 or more) | Do you have an appointment? · Could you sign in? · visitor’s badge · Please take a seat. · She’ll be right with you.</a:t>
            </a:r>
          </a:p>
          <a:p>
            <a:r>
              <a:t>Goal | Greet, check the appointment, sign in, give the badge, offer a drink, call the host. About 90 seconds.</a:t>
            </a:r>
          </a:p>
          <a:p>
            <a:r>
              <a:t>My notes | ____________________________________________</a:t>
            </a:r>
          </a:p>
          <a:p>
            <a:r>
              <a:t>The visitor’s name is hard to spell. Ask: “Sorry, could you spell your surname for me?”</a:t>
            </a:r>
          </a:p>
          <a:p>
            <a:r>
              <a:t>The host does not answer the phone. Say: “I’m afraid I can’t reach her at the moment. Would you mind waiting a few minutes?”</a:t>
            </a:r>
          </a:p>
          <a:p>
            <a:r>
              <a:t>Add one more ★ phrase: “Who are you here to see?” or “I’ll show you the way.”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Wrong day and an unavailable host 日期搞错、负责人不在</a:t>
            </a:r>
          </a:p>
          <a:p>
            <a:r>
              <a:t>情景：Ms Hana Sato arrives on Tuesday, but her meeting with Mr Tan is booked for Wednesday. Mr Tan is also in another meeting.</a:t>
            </a:r>
          </a:p>
          <a:p>
            <a:r>
              <a:t>Role A: Amy Wu, receptionist Role B: Hana Sato, visitor from Orbit Software</a:t>
            </a:r>
          </a:p>
          <a:p>
            <a:r>
              <a:t>先师生示范一遍，再两人一组练习，最后请 1–2 组上台表演，表现最好的组 +2。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先全班分角色朗读（模仿语音语调），再两人一组练习。</a:t>
            </a:r>
          </a:p>
          <a:p>
            <a:r>
              <a:t>A (Amy): Good afternoon. How can I help you?</a:t>
            </a:r>
          </a:p>
          <a:p>
            <a:r>
              <a:t>B (Hana): Hello. I’m Hana Sato from Orbit Software. I’m here to see Mr Tan.</a:t>
            </a:r>
          </a:p>
          <a:p>
            <a:r>
              <a:t>A: Do you have an appointment?</a:t>
            </a:r>
          </a:p>
          <a:p>
            <a:r>
              <a:t>B: Yes, at two o’clock today, I thought.</a:t>
            </a:r>
          </a:p>
          <a:p>
            <a:r>
              <a:t>A: Let me check the diary. Hmm, I’m afraid I have you down for tomorrow, Wednesday, at two.</a:t>
            </a:r>
          </a:p>
          <a:p>
            <a:r>
              <a:t>B: Oh no. Let me check my email. … You’re right. I’m so sorry. I must have misread the invitation.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先全班分角色朗读（模仿语音语调），再两人一组练习。</a:t>
            </a:r>
          </a:p>
          <a:p>
            <a:r>
              <a:t>A: Not at all. These things happen. Mr Tan is tied up in a meeting until three, I’m afraid, but he may have a few minutes afterwards. Shall I ask?</a:t>
            </a:r>
          </a:p>
          <a:p>
            <a:r>
              <a:t>B: That would be very kind of you. I don’t want to cause any trouble.</a:t>
            </a:r>
          </a:p>
          <a:p>
            <a:r>
              <a:t>A: It’s no trouble. Could I take your mobile number in case he can fit you in?</a:t>
            </a:r>
          </a:p>
          <a:p>
            <a:r>
              <a:t>B: Of course. It’s 139 0000 1234.</a:t>
            </a:r>
          </a:p>
          <a:p>
            <a:r>
              <a:t>A: Thank you. Please take a seat. I’ll call you if he’s free. Otherwise, I’ll book you in for tomorrow at two.</a:t>
            </a:r>
          </a:p>
          <a:p>
            <a:r>
              <a:t>B: Thank you, and sorry about the mix-up.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学员两人一组，按角色卡即兴对话 3 分钟（不看范文）。完成后挑战进阶版任务，挑战成功 +2。</a:t>
            </a:r>
          </a:p>
          <a:p>
            <a:r>
              <a:t>Role card 8 | </a:t>
            </a:r>
          </a:p>
          <a:p>
            <a:r>
              <a:t>Situation | A visitor comes on the wrong day. The host is busy.</a:t>
            </a:r>
          </a:p>
          <a:p>
            <a:r>
              <a:t>Your role (A) | Receptionist. Check the diary, stay calm and polite.</a:t>
            </a:r>
          </a:p>
          <a:p>
            <a:r>
              <a:t>Partner’s role (B) | Visitor. Embarrassed about the mistake. Name and company: ______________</a:t>
            </a:r>
          </a:p>
          <a:p>
            <a:r>
              <a:t>Must use (4 or more) | I’m afraid… · tied up · mix-up · Shall I ask…? · Could I take your…?</a:t>
            </a:r>
          </a:p>
          <a:p>
            <a:r>
              <a:t>Goal | Solve the problem in a friendly way. Offer two options (wait / come back).</a:t>
            </a:r>
          </a:p>
          <a:p>
            <a:r>
              <a:t>My notes | ____________________________________________</a:t>
            </a:r>
          </a:p>
          <a:p>
            <a:r>
              <a:t>The visitor is annoyed: “I flew in from Seoul for this!” Stay calm and offer a solution. Say: “I completely understand. Let me see what I can do.”</a:t>
            </a:r>
          </a:p>
          <a:p>
            <a:r>
              <a:t>The visitor has no appointment at all. Ask politely: “May I ask what it’s regarding?”</a:t>
            </a:r>
          </a:p>
          <a:p>
            <a:r>
              <a:t>Ask the visitor to leave a message: “Can I take a message for Mr Tan?”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小组讨论：每组抽 1–2 题，准备 2 分钟后派代表发言，鼓励使用 Starters 里的句型。</a:t>
            </a:r>
          </a:p>
          <a:p>
            <a:r>
              <a:t>1. What makes a good first impression at reception? | “A good first impression is…” / “The first thing visitors notice is…”</a:t>
            </a:r>
          </a:p>
          <a:p>
            <a:r>
              <a:t>2. What should a receptionist do when a visitor has no appointment? | “I would ask… first.” / “If the host is free, I would…”</a:t>
            </a:r>
          </a:p>
          <a:p>
            <a:r>
              <a:t>3. Are badges and sign-in rules important in your company? Why? | “In my company, visitors must… because…” / “It is important for security because…”</a:t>
            </a:r>
          </a:p>
          <a:p>
            <a:r>
              <a:t>4. Have you ever been left waiting at a reception desk? How did you feel? | “Last time, I waited for… I felt…” / “It would have been better if they had…”</a:t>
            </a:r>
          </a:p>
          <a:p>
            <a:r>
              <a:t>5. How can a receptionist make a long wait more pleasant? | “They could offer…” / “They can keep visitors informed by…”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范例回答：先请学员自己回答，再展示范例，标出可以借用的句型。</a:t>
            </a:r>
          </a:p>
          <a:p>
            <a:r>
              <a:t>“I would stay polite and ask a few simple questions first, for example,”May I ask who you’d like to see?” If the host is free, I would call them and ask whether they can spare a few minutes. If not, I would offer to take a message or book a proper appointment. The key is not to say “No” too quickly. I would rather say, “I’m afraid he’s tied up at the moment, but let me see what I can do.””</a:t>
            </a:r>
          </a:p>
          <a:p>
            <a:r>
              <a:t>“I’d rather say…” 和 “I would rather… than…” 是常用的委婉表达。注意 “spare a few minutes”(抽出几分钟)是地道搭配。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Direct vs polite: be indirect at the desk 前台用语要委婉</a:t>
            </a:r>
          </a:p>
          <a:p>
            <a:r>
              <a:t>Too direct ✗ | Polite and natural ✓ | Why 原因</a:t>
            </a:r>
          </a:p>
          <a:p>
            <a:r>
              <a:t>Who are you? | May I ask who you’re here to see? | 直接问 Who are you? 很不礼貌</a:t>
            </a:r>
          </a:p>
          <a:p>
            <a:r>
              <a:t>He is busy. | I’m afraid he’s tied up at the moment. | I’m afraid 用来柔化坏消息</a:t>
            </a:r>
          </a:p>
          <a:p>
            <a:r>
              <a:t>Wait here. | Would you mind waiting here for a moment? | 用 Would you mind… 代替命令</a:t>
            </a:r>
          </a:p>
          <a:p>
            <a:r>
              <a:t>You come on the wrong day. | I have you down for tomorrow, I’m afraid. | 不要指责对方,说明事实</a:t>
            </a:r>
          </a:p>
          <a:p>
            <a:r>
              <a:t>No, you can’t see him. | He’s not available right now. Can I take a message? | 先说原因,再给出办法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Useful points </a:t>
            </a:r>
          </a:p>
          <a:p>
            <a:r>
              <a:t>Sign in vs register: use sign in for visitors at a front desk. Register is for conferences, hospitals and schools.</a:t>
            </a:r>
          </a:p>
          <a:p>
            <a:r>
              <a:t>Make vs have an appointment: you make (or book) an appointment, but on the day you have one: “I have an appointment with Mr Wu.”</a:t>
            </a:r>
          </a:p>
          <a:p>
            <a:r>
              <a:t>Ask who + preposition: “Who are you here to see?” “Who did you say you were meeting?” The preposition stays at the end in natural speech.</a:t>
            </a:r>
          </a:p>
          <a:p>
            <a:r>
              <a:t>Lift vs elevator: UK English says lift and ground floor. US English says elevator and first floor (= UK ground floor). Check which one your visitor uses.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Reception script 接待话术</a:t>
            </a:r>
          </a:p>
          <a:p>
            <a:r>
              <a:t>Step | Say this</a:t>
            </a:r>
          </a:p>
          <a:p>
            <a:r>
              <a:t>Greet | Good morning. Welcome to Delta. How can I help you?</a:t>
            </a:r>
          </a:p>
          <a:p>
            <a:r>
              <a:t>Check | Do you have an appointment? / Who are you here to see?</a:t>
            </a:r>
          </a:p>
          <a:p>
            <a:r>
              <a:t>Sign in | Could you sign in here, please? Here’s your badge.</a:t>
            </a:r>
          </a:p>
          <a:p>
            <a:r>
              <a:t>Wait | Please take a seat. I’ll let her know you’re here.</a:t>
            </a:r>
          </a:p>
          <a:p>
            <a:r>
              <a:t>Problem | I’m afraid he’s tied up. Would you like to wait, or shall I take a message?</a:t>
            </a:r>
          </a:p>
          <a:p>
            <a:r>
              <a:t>Close | Is there anything else I can help you with?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找错游戏：各组抢答，指出错误并说出正确说法 +1。点击逐条揭晓正确答案。</a:t>
            </a:r>
          </a:p>
          <a:p>
            <a:r>
              <a:t>✗ I have a appointment with Mr Wu.  →  ✓ I have an appointment with Mr Wu.  (an + 元音音素开头的词)</a:t>
            </a:r>
          </a:p>
          <a:p>
            <a:r>
              <a:t>✗ I find Mr Wang.  →  ✓ I’m here to see Mr Wang.  (“找某人” 不是 find)</a:t>
            </a:r>
          </a:p>
          <a:p>
            <a:r>
              <a:t>✗ I make an appointment with Ms Lin at ten.  →  ✓ I have an appointment with Ms Lin at ten.  (当天已经约好:用 have)</a:t>
            </a:r>
          </a:p>
          <a:p>
            <a:r>
              <a:t>✗ Please register here.  →  ✓ Please sign in here.  (访客登记用 sign in)</a:t>
            </a:r>
          </a:p>
          <a:p>
            <a:r>
              <a:t>✗ The meeting room is at the third floor.  →  ✓ The meeting room is on the third floor.  (楼层用 on)</a:t>
            </a:r>
          </a:p>
          <a:p>
            <a:r>
              <a:t>Mistake Watch: Say “an appointment” and “on the third floor” out loud five times. Then check: does every he / she verb end in -s?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找错游戏：各组抢答，指出错误并说出正确说法 +1。点击逐条揭晓正确答案。</a:t>
            </a:r>
          </a:p>
          <a:p>
            <a:r>
              <a:t>✗ Welcome to visit our company.  →  ✓ Welcome to Delta. / Thank you for coming.  (“欢迎参观” 不能直译)</a:t>
            </a:r>
          </a:p>
          <a:p>
            <a:r>
              <a:t>✗ Mr Tan is busy now.  →  ✓ I’m afraid Mr Tan is tied up at the moment.  (太直接,语气不礼貌)</a:t>
            </a:r>
          </a:p>
          <a:p>
            <a:r>
              <a:t>✗ You wait a moment.  →  ✓ Could you wait a moment, please?  (加 Could you…, please)</a:t>
            </a:r>
          </a:p>
          <a:p>
            <a:r>
              <a:t>✗ She don’t come yet.  →  ✓ She hasn’t come yet. / She isn’t here yet.  (第三人称否定:doesn’t / hasn’t)</a:t>
            </a:r>
          </a:p>
          <a:p>
            <a:r>
              <a:t>✗ apointment / recepcionist  →  ✓ appointment / receptionist  (拼写)</a:t>
            </a:r>
          </a:p>
          <a:p>
            <a:r>
              <a:t>Mistake Watch: Say “an appointment” and “on the third floor” out loud five times. Then check: does every he / she verb end in -s?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Cultural tips 文化小贴士</a:t>
            </a:r>
          </a:p>
          <a:p>
            <a:r>
              <a:t>Smile and make eye contact when the visitor arrives. Don’t keep looking at the screen. A short “Good morning” is better than silence.</a:t>
            </a:r>
          </a:p>
          <a:p>
            <a:r>
              <a:t>Don’t ask for ID unless it is your company’s security rule. In many Western offices a name, company and signature are enough. If you need ID, explain why: “For security reasons, I need to see some ID.”</a:t>
            </a:r>
          </a:p>
          <a:p>
            <a:r>
              <a:t>Never leave a visitor waiting without news. After about five minutes, update them: “I’m sorry, she’s running a few minutes late.”</a:t>
            </a:r>
          </a:p>
          <a:p>
            <a:r>
              <a:t>Offer a drink. Water, tea or coffee is a normal sign of hospitality. Ask “How do you take your coffee?”</a:t>
            </a:r>
          </a:p>
          <a:p>
            <a:r>
              <a:t>Return the badge. Remind visitors to sign out and give back the badge when they leave.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课堂小结：请学员对每一条自评 1–3 星，选一条“还没做到”的作为课后练习目标。</a:t>
            </a:r>
          </a:p>
          <a:p>
            <a:r>
              <a:t>I can greet a visitor and ask about their appointment politely (Do you have an appointment?).</a:t>
            </a:r>
          </a:p>
          <a:p>
            <a:r>
              <a:t>I can sign a visitor in, give a badge and tell them where to wait or go.</a:t>
            </a:r>
          </a:p>
          <a:p>
            <a:r>
              <a:t>I can give simple directions with on the third floor and take the lift.</a:t>
            </a:r>
          </a:p>
          <a:p>
            <a:r>
              <a:t>I can say “no” politely with I’m afraid… and tied up.</a:t>
            </a:r>
          </a:p>
          <a:p>
            <a:r>
              <a:t>I can use an appointment, sign in and the right prepositions without mistakes.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布置课后练习：每天 10 分钟，按下表完成，下节课开头抽查。</a:t>
            </a:r>
          </a:p>
          <a:p>
            <a:r>
              <a:t>Minutes | Activity</a:t>
            </a:r>
          </a:p>
          <a:p>
            <a:r>
              <a:t>0–2 | Read the 15 expressions aloud. Cover the English and say it from the Chinese. Make 2 true sentences with ★ items.</a:t>
            </a:r>
          </a:p>
          <a:p>
            <a:r>
              <a:t>2–5 | Shadow the model dialogue or model email (copy the rhythm and intonation).</a:t>
            </a:r>
          </a:p>
          <a:p>
            <a:r>
              <a:t>5–8 | Do the role play with the blank role card. Record yourself.</a:t>
            </a:r>
          </a:p>
          <a:p>
            <a:r>
              <a:t>8–10 | Listen to the recording. Check: an appointment, on the third floor, -s on he/she verbs, and polite wording (I’m afraid…). Write 3 corrections.</a:t>
            </a:r>
          </a:p>
          <a:p>
            <a:r>
              <a:t>Weekly rhythm: Mon–Tue Scenario 1 · Wed–Thu Scenario 2 · Fri Level-up variation · Weekend: record the 1-minute speaking prompt again and compare with Monday.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Lesson 07 · Company visitors 公司访客</a:t>
            </a:r>
          </a:p>
          <a:p>
            <a:r>
              <a:t>Goal: welcome visitors who come to your company, show them around, make them comfortable (drinks, Wi-Fi, restrooms) and explain the schedule for their visit.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热身：每题请一位学员用 2–3 句话回答，点击逐题出现。积极发言的小组 +1。</a:t>
            </a:r>
          </a:p>
          <a:p>
            <a:r>
              <a:t>第 5 题讲过去的事,请用过去式(showed, took, offered)。第 2 题可以用 “I usually offer…”。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一分钟挑战：给 1 分钟准备，然后每组派一人计时发言 60 秒，不停顿、不说中文即可得分。</a:t>
            </a:r>
          </a:p>
          <a:p>
            <a:r>
              <a:t>You are the host. Welcome a visitor and explain the plan for the day.</a:t>
            </a:r>
          </a:p>
          <a:p>
            <a:r>
              <a:t>Say: welcome → a drink and basic facilities → a short tour → today’s schedule → “Please let me know if you need anything.”</a:t>
            </a:r>
          </a:p>
          <a:p>
            <a:r>
              <a:t>Useful starters: “Welcome to…” / “Let me show you around.” / “We’ll start with…, then…” / “Please don’t hesitate to ask.”</a:t>
            </a:r>
          </a:p>
          <a:p>
            <a:r>
              <a:t>计划用 will / be going to:“We’ll start with a tour. Then we’ll have lunch.”。按时间顺序讲:first, then, after that, finally。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Chunk 1: Welcoming and showing around 欢迎与带路</a:t>
            </a:r>
          </a:p>
          <a:p>
            <a:r>
              <a:t>领读 → 学员跟读 → 请学员用表达造一个和自己工作相关的句子。</a:t>
            </a:r>
          </a:p>
          <a:p>
            <a:r>
              <a:t>Welcome to our Shanghai office. (phrase) 欢迎来到我们的上海办公室 — “Welcome to our Shanghai office. I’m Ben Zhou.”</a:t>
            </a:r>
          </a:p>
          <a:p>
            <a:r>
              <a:t>★ Thank you for making the trip. (phrase) 感谢您远道而来 — “Thank you for making the trip. I know it’s a long way.”</a:t>
            </a:r>
          </a:p>
          <a:p>
            <a:r>
              <a:t>Let me show you around. (phrase) 让我带您参观一下 — “Let me show you around before the meeting.”</a:t>
            </a:r>
          </a:p>
          <a:p>
            <a:r>
              <a:t>This way, please. (phrase) 请这边走 — “This way, please. The meeting room is down the corridor.”</a:t>
            </a:r>
          </a:p>
          <a:p>
            <a:r>
              <a:t>★ After you. (phrase) 您先请 — “After you.” — “Thank you.”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Chunk 2: Comfort and facilities 舒适与设施</a:t>
            </a:r>
          </a:p>
          <a:p>
            <a:r>
              <a:t>领读 → 学员跟读 → 请学员用表达造一个和自己工作相关的句子。</a:t>
            </a:r>
          </a:p>
          <a:p>
            <a:r>
              <a:t>Would you like something to drink? (phrase) 您想喝点什么吗? — “Would you like something to drink? We have tea, coffee and water.”</a:t>
            </a:r>
          </a:p>
          <a:p>
            <a:r>
              <a:t>★ Make yourself at home. (idiom) 请不要拘束 — “Please make yourself at home. I’ll be back in a minute.”</a:t>
            </a:r>
          </a:p>
          <a:p>
            <a:r>
              <a:t>★ Help yourself to coffee. (phrase) 咖啡请自取 — “Help yourself to coffee and snacks over there.”</a:t>
            </a:r>
          </a:p>
          <a:p>
            <a:r>
              <a:t>guest Wi-Fi (noun phrase) 访客无线网络 — “The guest Wi-Fi password is on this card.”</a:t>
            </a:r>
          </a:p>
          <a:p>
            <a:r>
              <a:t>restroom (noun) 洗手间(美式) — “The restrooms are at the end of the corridor, on your left.”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Chunk 3: Schedule and support 日程与协助</a:t>
            </a:r>
          </a:p>
          <a:p>
            <a:r>
              <a:t>领读 → 学员跟读 → 请学员用表达造一个和自己工作相关的句子。</a:t>
            </a:r>
          </a:p>
          <a:p>
            <a:r>
              <a:t>itinerary (noun) 行程安排 — “I’ve sent you the itinerary for your two-day visit.”</a:t>
            </a:r>
          </a:p>
          <a:p>
            <a:r>
              <a:t>agenda (noun) 议程 — “Here’s the agenda for this morning’s meeting.”</a:t>
            </a:r>
          </a:p>
          <a:p>
            <a:r>
              <a:t>★ We’ve got a packed schedule today. (phrase) 今天日程排得很满 — “We’ve got a packed schedule today, so we’ll start right away.”</a:t>
            </a:r>
          </a:p>
          <a:p>
            <a:r>
              <a:t>★ We’re running a little behind schedule. (phrase) 我们的进度稍微落后了 — “We’re running a little behind schedule. Shall we skip the break?”</a:t>
            </a:r>
          </a:p>
          <a:p>
            <a:r>
              <a:t>Please don’t hesitate to ask. (phrase (formal)) 有需要请尽管说 — “If you need anything, please don’t hesitate to ask.”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抢答：老师指一张卡，各组抢答英文表达，答对 +1。点击按顺序揭晓答案。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限时 2 分钟独立完成，然后逐题点击揭晓答案。全对的学员为小组 +1。</a:t>
            </a:r>
          </a:p>
          <a:p>
            <a:r>
              <a:t>itinerary / Welcome / schedule / Wi-Fi / drink / home</a:t>
            </a:r>
          </a:p>
          <a:p>
            <a:r>
              <a:t>1. “Good morning, Mr Davis. _______ to our office.” → Welcome</a:t>
            </a:r>
          </a:p>
          <a:p>
            <a:r>
              <a:t>2. Would you like something to _______? → drink</a:t>
            </a:r>
          </a:p>
          <a:p>
            <a:r>
              <a:t>3. Please make yourself at _______. I’ll be back in a minute. → home</a:t>
            </a:r>
          </a:p>
          <a:p>
            <a:r>
              <a:t>4. The guest _______ password is on this card. → Wi-Fi</a:t>
            </a:r>
          </a:p>
          <a:p>
            <a:r>
              <a:t>5. I’ve sent you the _______ for your visit. → itinerary</a:t>
            </a:r>
          </a:p>
          <a:p>
            <a:r>
              <a:t>6. We’re running a little behind _______. → schedule</a:t>
            </a:r>
          </a:p>
          <a:p>
            <a:r>
              <a:t>Mistake Watch (拼写): itinerary (not “itinary”), schedule (UK: /ˈʃedjuːl/, US: /ˈskedʒuːl/), restroom (one word), Wi-Fi (not “wifi” in formal writing).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Welcoming a visitor and showing the office 迎接访客并带参观</a:t>
            </a:r>
          </a:p>
          <a:p>
            <a:r>
              <a:t>情景：Ms Laura Kim from your Korean partner company arrives. You are her host and you show her around before the meeting.</a:t>
            </a:r>
          </a:p>
          <a:p>
            <a:r>
              <a:t>Role A: Ben Zhou, host (Sales Manager) Role B: Laura Kim, visitor</a:t>
            </a:r>
          </a:p>
          <a:p>
            <a:r>
              <a:t>先师生示范一遍，再两人一组练习，最后请 1–2 组上台表演，表现最好的组 +2。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先全班分角色朗读（模仿语音语调），再两人一组练习。</a:t>
            </a:r>
          </a:p>
          <a:p>
            <a:r>
              <a:t>A (Ben): Laura, welcome to our Shanghai office! Thank you for making the trip.</a:t>
            </a:r>
          </a:p>
          <a:p>
            <a:r>
              <a:t>B (Laura): Thanks, Ben. It’s good to be here. Your office is lovely.</a:t>
            </a:r>
          </a:p>
          <a:p>
            <a:r>
              <a:t>A: Thank you. Would you like something to drink before we start? We have tea, coffee and water.</a:t>
            </a:r>
          </a:p>
          <a:p>
            <a:r>
              <a:t>B: A green tea would be great.</a:t>
            </a:r>
          </a:p>
          <a:p>
            <a:r>
              <a:t>A: Of course. Please make yourself at home. Let me show you around while the tea is brewing. This way, please.</a:t>
            </a:r>
          </a:p>
          <a:p>
            <a:r>
              <a:t>B: After you.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先全班分角色朗读（模仿语音语调），再两人一组练习。</a:t>
            </a:r>
          </a:p>
          <a:p>
            <a:r>
              <a:t>A: This is our open-plan area, where the sales team sits. Over there is the kitchen. Please help yourself to snacks at any time.</a:t>
            </a:r>
          </a:p>
          <a:p>
            <a:r>
              <a:t>B: That’s very kind. Could I get on your Wi-Fi? I need to check my email.</a:t>
            </a:r>
          </a:p>
          <a:p>
            <a:r>
              <a:t>A: Sure. The guest Wi-Fi password is on this card. And the restrooms are at the end of the corridor, on your left.</a:t>
            </a:r>
          </a:p>
          <a:p>
            <a:r>
              <a:t>B: Perfect, thanks.</a:t>
            </a:r>
          </a:p>
          <a:p>
            <a:r>
              <a:t>A: Now, here’s the itinerary. We’ll start with the meeting at ten, then have lunch, and finish with a tour of the warehouse.</a:t>
            </a:r>
          </a:p>
          <a:p>
            <a:r>
              <a:t>B: That sounds great.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学员两人一组，按角色卡即兴对话 3 分钟（不看范文）。完成后挑战进阶版任务，挑战成功 +2。</a:t>
            </a:r>
          </a:p>
          <a:p>
            <a:r>
              <a:t>Role card 9 | </a:t>
            </a:r>
          </a:p>
          <a:p>
            <a:r>
              <a:t>Situation | A visitor arrives at your company for a full day.</a:t>
            </a:r>
          </a:p>
          <a:p>
            <a:r>
              <a:t>Your role (A) | Host. Your name and job: ______________</a:t>
            </a:r>
          </a:p>
          <a:p>
            <a:r>
              <a:t>Partner’s role (B) | Visitor. Name, company and country: ______________</a:t>
            </a:r>
          </a:p>
          <a:p>
            <a:r>
              <a:t>Must use (4 or more) | Welcome to… · Let me show you around. · Make yourself at home. · Help yourself to… · itinerary · This way, please.</a:t>
            </a:r>
          </a:p>
          <a:p>
            <a:r>
              <a:t>Goal | Welcome, offer a drink, show 3 places, explain the day’s schedule. About 2 minutes.</a:t>
            </a:r>
          </a:p>
          <a:p>
            <a:r>
              <a:t>My notes | ____________________________________________</a:t>
            </a:r>
          </a:p>
          <a:p>
            <a:r>
              <a:t>Add one question about the visitor’s comfort: “Is the hotel all right?”</a:t>
            </a:r>
          </a:p>
          <a:p>
            <a:r>
              <a:t>Your boss is running late. Explain: “I’m afraid Mr Lee is running a little behind schedule. He’ll join us in ten minutes.”</a:t>
            </a:r>
          </a:p>
          <a:p>
            <a:r>
              <a:t>Give directions without pointing: “Go down the corridor, then turn right at the printer.”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visitor asks for help 访客需要帮助</a:t>
            </a:r>
          </a:p>
          <a:p>
            <a:r>
              <a:t>情景：Your visitor needs to print documents and make a quiet phone call before the meeting.</a:t>
            </a:r>
          </a:p>
          <a:p>
            <a:r>
              <a:t>Role A: Ben Zhou, host Role B: Laura Kim, visitor</a:t>
            </a:r>
          </a:p>
          <a:p>
            <a:r>
              <a:t>先师生示范一遍，再两人一组练习，最后请 1–2 组上台表演，表现最好的组 +2。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先全班分角色朗读（模仿语音语调），再两人一组练习。</a:t>
            </a:r>
          </a:p>
          <a:p>
            <a:r>
              <a:t>A (Ben): How are you getting on, Laura? Is there anything you need before we start?</a:t>
            </a:r>
          </a:p>
          <a:p>
            <a:r>
              <a:t>B (Laura): Actually, I need to print a few pages. Is there a printer I can use?</a:t>
            </a:r>
          </a:p>
          <a:p>
            <a:r>
              <a:t>A: Of course. I’ll take you to the print room. You can send the file to the printer from your laptop, or I can do it for you.</a:t>
            </a:r>
          </a:p>
          <a:p>
            <a:r>
              <a:t>B: Thanks. I’ll just email the file to you, if that’s OK.</a:t>
            </a:r>
          </a:p>
          <a:p>
            <a:r>
              <a:t>A: No problem. Shall I print one copy or two?</a:t>
            </a:r>
          </a:p>
          <a:p>
            <a:r>
              <a:t>B: Two, please. Also, I have an important call at nine. Is there somewhere quiet I can take it?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先全班分角色朗读（模仿语音语调），再两人一组练习。</a:t>
            </a:r>
          </a:p>
          <a:p>
            <a:r>
              <a:t>A: Yes, you can use Meeting Room 2. It’s free until ten. I’ll show you the way.</a:t>
            </a:r>
          </a:p>
          <a:p>
            <a:r>
              <a:t>B: That’s very helpful. I really appreciate it.</a:t>
            </a:r>
          </a:p>
          <a:p>
            <a:r>
              <a:t>A: Not at all. Please don’t hesitate to ask if you need anything else.</a:t>
            </a:r>
          </a:p>
          <a:p>
            <a:r>
              <a:t>B: I will, thank you. I’ll come and find you when I’m done.</a:t>
            </a:r>
          </a:p>
          <a:p>
            <a:r>
              <a:t>A: Perfect. We’ll be ready to start at ten.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学员两人一组，按角色卡即兴对话 3 分钟（不看范文）。完成后挑战进阶版任务，挑战成功 +2。</a:t>
            </a:r>
          </a:p>
          <a:p>
            <a:r>
              <a:t>Role card 10 | </a:t>
            </a:r>
          </a:p>
          <a:p>
            <a:r>
              <a:t>Situation | A visitor asks for small favours before an important meeting.</a:t>
            </a:r>
          </a:p>
          <a:p>
            <a:r>
              <a:t>Your role (A) | Host. Offer help in a friendly way.</a:t>
            </a:r>
          </a:p>
          <a:p>
            <a:r>
              <a:t>Partner’s role (B) | Visitor. Ask for a printer, a quiet room and a charger.</a:t>
            </a:r>
          </a:p>
          <a:p>
            <a:r>
              <a:t>Must use (3 or more) | Is there anything you need? · Shall I…? · I’ll show you the way. · Please don’t hesitate to ask.</a:t>
            </a:r>
          </a:p>
          <a:p>
            <a:r>
              <a:t>Goal | Solve three requests quickly and politely.</a:t>
            </a:r>
          </a:p>
          <a:p>
            <a:r>
              <a:t>My notes | ____________________________________________</a:t>
            </a:r>
          </a:p>
          <a:p>
            <a:r>
              <a:t>The room is not free. Offer an alternative: “I’m afraid it’s taken, but the small room next door is free.”</a:t>
            </a:r>
          </a:p>
          <a:p>
            <a:r>
              <a:t>Suggest a better plan: “Would you like me to book a room for the rest of the day?”</a:t>
            </a:r>
          </a:p>
          <a:p>
            <a:r>
              <a:t>Use ★ language: “We’ve got a packed schedule today.”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小组讨论：每组抽 1–2 题，准备 2 分钟后派代表发言，鼓励使用 Starters 里的句型。</a:t>
            </a:r>
          </a:p>
          <a:p>
            <a:r>
              <a:t>1. Who should host visitors: a receptionist, an assistant or the manager? Why? | “I think the host should be… because…” / “It depends on how important the visitor is.”</a:t>
            </a:r>
          </a:p>
          <a:p>
            <a:r>
              <a:t>2. What should you show on an office tour? What should you not show? | “I would show… but not…” / “Some areas are private because…”</a:t>
            </a:r>
          </a:p>
          <a:p>
            <a:r>
              <a:t>3. What small things make a visitor feel comfortable? | “Small things like… make a big difference.” / “I always offer…”</a:t>
            </a:r>
          </a:p>
          <a:p>
            <a:r>
              <a:t>4. How do you plan a day for a visitor from overseas? | “First, I check… Then I…” / “I try not to plan too much because…”</a:t>
            </a:r>
          </a:p>
          <a:p>
            <a:r>
              <a:t>5. What do you do when your schedule changes on the day? | “I let the visitor know as soon as possible.” / “I offer two options…”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范例回答：先请学员自己回答，再展示范例，标出可以借用的句型。</a:t>
            </a:r>
          </a:p>
          <a:p>
            <a:r>
              <a:t>“I think small things make a big difference. When a visitor arrives, I always offer a drink and show them where the restrooms are. I also give them the Wi-Fi password straight away because most people need to check their email. If they’ve travelled a long way, I leave ten minutes for them to relax before the meeting. It shows that I’ve thought about them, not just about the schedule.”</a:t>
            </a:r>
          </a:p>
          <a:p>
            <a:r>
              <a:t>“make a big difference”(有很大影响)、“straight away”(马上)、“it shows that…” 都是 B2 常用表达。注意 “a long way”(很远)。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Offering and responding 提供与回应</a:t>
            </a:r>
          </a:p>
          <a:p>
            <a:r>
              <a:t>Offer | Accept ✓ | Decline politely ✓</a:t>
            </a:r>
          </a:p>
          <a:p>
            <a:r>
              <a:t>Would you like a coffee? | Yes, please. / That would be lovely. | No, thank you. I’m fine. / I’m OK for now, thanks.</a:t>
            </a:r>
          </a:p>
          <a:p>
            <a:r>
              <a:t>Shall I take your coat? | Thank you, that’s kind. | It’s OK, I’ll keep it with me.</a:t>
            </a:r>
          </a:p>
          <a:p>
            <a:r>
              <a:t>Can I get you anything? | A glass of water would be great. | Nothing for now, thanks.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Offering and responding 提供与回应</a:t>
            </a:r>
          </a:p>
          <a:p>
            <a:r>
              <a:t>Would you like…? is for offers. Do you want…? sounds blunt to a visitor.</a:t>
            </a:r>
          </a:p>
          <a:p>
            <a:r>
              <a:t>Answer Would you like…? with “Yes, please” or “No, thank you”. A bare “Yes” or “No” can sound cold.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Giving directions inside the building 室内指路</a:t>
            </a:r>
          </a:p>
          <a:p>
            <a:r>
              <a:t>Direction | Useful phrase</a:t>
            </a:r>
          </a:p>
          <a:p>
            <a:r>
              <a:t>Straight | Go straight along the corridor.</a:t>
            </a:r>
          </a:p>
          <a:p>
            <a:r>
              <a:t>Turn | Turn left at the end / at the printer.</a:t>
            </a:r>
          </a:p>
          <a:p>
            <a:r>
              <a:t>Floor | It’s on the second floor. Take the stairs or the lift.</a:t>
            </a:r>
          </a:p>
          <a:p>
            <a:r>
              <a:t>Position | It’s next to / opposite / behind the kitchen.</a:t>
            </a:r>
          </a:p>
          <a:p>
            <a:r>
              <a:t>Time | It’s only a two-minute walk.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找错游戏：各组抢答，指出错误并说出正确说法 +1。点击逐条揭晓正确答案。</a:t>
            </a:r>
          </a:p>
          <a:p>
            <a:r>
              <a:t>✗ Welcome to visit our company.  →  ✓ Welcome to our company. / Thank you for coming.  (不要直译 “欢迎参观”)</a:t>
            </a:r>
          </a:p>
          <a:p>
            <a:r>
              <a:t>✗ I will accompany you to the meeting room.  →  ✓ I’ll take you to the meeting room.  (accompany 太书面,口语用 take you to)</a:t>
            </a:r>
          </a:p>
          <a:p>
            <a:r>
              <a:t>✗ Do you want a coffee?  →  ✓ Would you like a coffee?  (对访客用 would like,更礼貌)</a:t>
            </a:r>
          </a:p>
          <a:p>
            <a:r>
              <a:t>✗ You can use freely the coffee.  →  ✓ Please help yourself to the coffee.  (help yourself to… 是固定搭配)</a:t>
            </a:r>
          </a:p>
          <a:p>
            <a:r>
              <a:t>✗ I introduce you our office.  →  ✓ I’ll show you around the office. / Let me show you around.  (introduce 用于人,参观用 show around)</a:t>
            </a:r>
          </a:p>
          <a:p>
            <a:r>
              <a:t>Mistake Watch: Check your offers. Do you say Would you like…? (polite) or Do you want…? (blunt)? Check on this card, at the end of, on the third floor.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找错游戏：各组抢答，指出错误并说出正确说法 +1。点击逐条揭晓正确答案。</a:t>
            </a:r>
          </a:p>
          <a:p>
            <a:r>
              <a:t>✗ The toilet is in the end of the corridor.  →  ✓ The restroom is at the end of the corridor.  (at the end of…)</a:t>
            </a:r>
          </a:p>
          <a:p>
            <a:r>
              <a:t>✗ The WIFI password is in this card.  →  ✓ The Wi-Fi password is on this card.  (on the card / on the wall)</a:t>
            </a:r>
          </a:p>
          <a:p>
            <a:r>
              <a:t>✗ This is the schedule of we visit.  →  ✓ This is the schedule for your visit.  (所有格 your,介词 for)</a:t>
            </a:r>
          </a:p>
          <a:p>
            <a:r>
              <a:t>✗ She don’t know the way.  →  ✓ She doesn’t know the way.  (第三人称否定 doesn’t)</a:t>
            </a:r>
          </a:p>
          <a:p>
            <a:r>
              <a:t>Mistake Watch: Check your offers. Do you say Would you like…? (polite) or Do you want…? (blunt)? Check on this card, at the end of, on the third floor.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Cultural tips 文化小贴士</a:t>
            </a:r>
          </a:p>
          <a:p>
            <a:r>
              <a:t>Ask, don’t assume. Chinese hosts often put food and tea in front of the guest. In Western settings it’s more usual to offer and let the guest choose: “Tea or coffee?” Some guests say no, and that’s fine.</a:t>
            </a:r>
          </a:p>
          <a:p>
            <a:r>
              <a:t>Let the visitor go first through doors and into the lift. “After you” is a small sign of respect.</a:t>
            </a:r>
          </a:p>
          <a:p>
            <a:r>
              <a:t>Tell the guest the plan. Westerners like to know the schedule and the time of the next break. A one-page itinerary is normal.</a:t>
            </a:r>
          </a:p>
          <a:p>
            <a:r>
              <a:t>Don’t over-insist. If a guest says “No, thank you, I’m fine”, accept it once. Pushing three times can feel uncomfortable.</a:t>
            </a:r>
          </a:p>
          <a:p>
            <a:r>
              <a:t>Privacy: Check before photographing or showing screens with sensitive information during a tour.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课堂小结：请学员对每一条自评 1–3 星，选一条“还没做到”的作为课后练习目标。</a:t>
            </a:r>
          </a:p>
          <a:p>
            <a:r>
              <a:t>I can welcome a visitor and offer a drink with Would you like…?</a:t>
            </a:r>
          </a:p>
          <a:p>
            <a:r>
              <a:t>I can show a visitor around with Let me show you around and This way, please.</a:t>
            </a:r>
          </a:p>
          <a:p>
            <a:r>
              <a:t>I can explain Wi-Fi, restrooms and the schedule clearly.</a:t>
            </a:r>
          </a:p>
          <a:p>
            <a:r>
              <a:t>I can handle a request or a delay politely (Shall I…? I’m afraid we’re running behind…).</a:t>
            </a:r>
          </a:p>
          <a:p>
            <a:r>
              <a:t>I can use on / at / for correctly (on this card, at the end of, for your visit).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布置课后练习：每天 10 分钟，按下表完成，下节课开头抽查。</a:t>
            </a:r>
          </a:p>
          <a:p>
            <a:r>
              <a:t>Minutes | Activity</a:t>
            </a:r>
          </a:p>
          <a:p>
            <a:r>
              <a:t>0–2 | Read the 15 expressions aloud. Cover the English and say it from the Chinese. Make 2 true sentences with ★ items.</a:t>
            </a:r>
          </a:p>
          <a:p>
            <a:r>
              <a:t>2–5 | Shadow the model dialogue or model email (copy the rhythm and intonation).</a:t>
            </a:r>
          </a:p>
          <a:p>
            <a:r>
              <a:t>5–8 | Do the role play with the blank role card. Record yourself.</a:t>
            </a:r>
          </a:p>
          <a:p>
            <a:r>
              <a:t>8–10 | Listen to the recording. Check: Would you like…? (not Do you want…?), prepositions (on, at, for), and -s on he/she verbs. Write 3 corrections.</a:t>
            </a:r>
          </a:p>
          <a:p>
            <a:r>
              <a:t>Weekly rhythm: Mon–Tue Scenario 1 · Wed–Thu Scenario 2 · Fri Level-up variation · Weekend: record the 1-minute speaking prompt again and compare with Monday.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Lesson 08 · Visitors to the company 访问公司的人</a:t>
            </a:r>
          </a:p>
          <a:p>
            <a:r>
              <a:t>Goal: visit another company politely and professionally: introduce yourself, apologize for being early or late, make polite requests, thank your host, and communicate clearly with the employees you meet.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热身：每题请一位学员用 2–3 句话回答，点击逐题出现。积极发言的小组 +1。</a:t>
            </a:r>
          </a:p>
          <a:p>
            <a:r>
              <a:t>第 4 题讲过去的事,请用过去式(was, got, said)。第 2 题可以直接说 “I say…”。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一分钟挑战：给 1 分钟准备，然后每组派一人计时发言 60 秒，不停顿、不说中文即可得分。</a:t>
            </a:r>
          </a:p>
          <a:p>
            <a:r>
              <a:t>Describe how you prepare for and behave during a visit to a client’s office.</a:t>
            </a:r>
          </a:p>
          <a:p>
            <a:r>
              <a:t>Say: before the visit → arriving → introducing yourself → being a polite guest → thanking your host.</a:t>
            </a:r>
          </a:p>
          <a:p>
            <a:r>
              <a:t>Useful starters: “Before I go, I always…” / “When I arrive, I tell the receptionist…” / “At the end, I thank…”</a:t>
            </a:r>
          </a:p>
          <a:p>
            <a:r>
              <a:t>向别人提要求时多用 Could / Would / Would you mind…?。thank 后面的人称要对:thank my host。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Chunk 1: Arriving and introducing yourself 到达与自我介绍</a:t>
            </a:r>
          </a:p>
          <a:p>
            <a:r>
              <a:t>领读 → 学员跟读 → 请学员用表达造一个和自己工作相关的句子。</a:t>
            </a:r>
          </a:p>
          <a:p>
            <a:r>
              <a:t>I have a meeting with… at… (phrase) 我和……约了……点开会 — “I have a meeting with Ms Lin at ten o’clock.”</a:t>
            </a:r>
          </a:p>
          <a:p>
            <a:r>
              <a:t>I’m a few minutes early. (phrase) 我早到了几分钟 — “I’m a few minutes early. I can wait here.”</a:t>
            </a:r>
          </a:p>
          <a:p>
            <a:r>
              <a:t>★ I got held up in traffic. (phrase) 我在路上被堵住了 — “I’m so sorry I’m late. I got held up in traffic.”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Chunk 1: Arriving and introducing yourself 到达与自我介绍</a:t>
            </a:r>
          </a:p>
          <a:p>
            <a:r>
              <a:t>领读 → 学员跟读 → 请学员用表达造一个和自己工作相关的句子。</a:t>
            </a:r>
          </a:p>
          <a:p>
            <a:r>
              <a:t>★ Sorry to keep you waiting. (phrase) 抱歉让您久等了 — “Sorry to keep you waiting. Please come in.”</a:t>
            </a:r>
          </a:p>
          <a:p>
            <a:r>
              <a:t>Let me introduce myself. (phrase) 请允许我自我介绍 — “Let me introduce myself. I’m Kevin Wu from Orion Foods.”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Chunk 2: Polite requests 礼貌地提要求</a:t>
            </a:r>
          </a:p>
          <a:p>
            <a:r>
              <a:t>领读 → 学员跟读 → 请学员用表达造一个和自己工作相关的句子。</a:t>
            </a:r>
          </a:p>
          <a:p>
            <a:r>
              <a:t>Could I possibly use…? (phrase (polite)) 我可以借用……吗? — “Could I possibly use your meeting room for a call?”</a:t>
            </a:r>
          </a:p>
          <a:p>
            <a:r>
              <a:t>Would it be all right if I…? (phrase (polite)) 如果我……可以吗? — “Would it be all right if I plugged in my laptop?”</a:t>
            </a:r>
          </a:p>
          <a:p>
            <a:r>
              <a:t>★ Would you mind if I opened the window? (phrase (polite)) 您介意我开一下窗吗? — “Would you mind if I took a few notes?”</a:t>
            </a:r>
          </a:p>
          <a:p>
            <a:r>
              <a:t>Where can I find…? (phrase) 我在哪里能找到……? — “Where can I find the restrooms?”</a:t>
            </a:r>
          </a:p>
          <a:p>
            <a:r>
              <a:t>★ Do you happen to know…? (phrase (indirect)) 您碰巧知道……吗? — “Do you happen to know where Mr Tan’s office is?”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Chunk 3: Thanking and following up 致谢与跟进</a:t>
            </a:r>
          </a:p>
          <a:p>
            <a:r>
              <a:t>领读 → 学员跟读 → 请学员用表达造一个和自己工作相关的句子。</a:t>
            </a:r>
          </a:p>
          <a:p>
            <a:r>
              <a:t>Thank you for your time. (phrase) 感谢您抽出时间 — “Thank you for your time. It was very useful.”</a:t>
            </a:r>
          </a:p>
          <a:p>
            <a:r>
              <a:t>I really appreciate it. (phrase) 我真的非常感谢 — “I really appreciate your help today.”</a:t>
            </a:r>
          </a:p>
          <a:p>
            <a:r>
              <a:t>★ I won’t take up much of your time. (phrase) 我不会占用您太多时间 — “I won’t take up much of your time. Just a few questions.”</a:t>
            </a:r>
          </a:p>
          <a:p>
            <a:r>
              <a:t>★ I’d love to follow up by email. (phrase) 我想之后用邮件跟进 — “I’d love to follow up by email with the details.”</a:t>
            </a:r>
          </a:p>
          <a:p>
            <a:r>
              <a:t>It was great to meet the team. (phrase) 很高兴认识团队 — “It was great to meet the team. Thank you for having me.”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抢答：老师指一张卡，各组抢答英文表达，答对 +1。点击按顺序揭晓答案。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限时 2 分钟独立完成，然后逐题点击揭晓答案。全对的学员为小组 +1。</a:t>
            </a:r>
          </a:p>
          <a:p>
            <a:r>
              <a:t>time / mind / meeting / Could / waiting / held</a:t>
            </a:r>
          </a:p>
          <a:p>
            <a:r>
              <a:t>1. “I have a _______ with Ms Lin at ten.” → meeting</a:t>
            </a:r>
          </a:p>
          <a:p>
            <a:r>
              <a:t>2. I’m so sorry I’m late. I got _______ up in traffic. → held</a:t>
            </a:r>
          </a:p>
          <a:p>
            <a:r>
              <a:t>3. Sorry to keep you _______. → waiting</a:t>
            </a:r>
          </a:p>
          <a:p>
            <a:r>
              <a:t>4. _______ I possibly use your meeting room for a call? → Could</a:t>
            </a:r>
          </a:p>
          <a:p>
            <a:r>
              <a:t>5. Would you _______ if I took a few notes? → mind</a:t>
            </a:r>
          </a:p>
          <a:p>
            <a:r>
              <a:t>6. Thank you for your _______. It was very useful. → time</a:t>
            </a:r>
          </a:p>
          <a:p>
            <a:r>
              <a:t>Mistake Watch (拼写与动词形式): appreciate (not “apreciate”), possibly (not “possibley”), early (not “eraly”). After Would you mind if I… use the past simple: “Would you mind if I opened the window?”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Arriving a little late 到访时稍微迟到</a:t>
            </a:r>
          </a:p>
          <a:p>
            <a:r>
              <a:t>情景：You are Kevin Wu, a visitor. Your taxi was stuck in traffic and you arrive fifteen minutes late for a meeting with Ms Lin.</a:t>
            </a:r>
          </a:p>
          <a:p>
            <a:r>
              <a:t>Role A: Amy Wu, receptionist Role B: Kevin Wu, visitor from Orion Foods (Ms Lin is the host; Amy plays both Amy and Ms Lin)</a:t>
            </a:r>
          </a:p>
          <a:p>
            <a:r>
              <a:t>先师生示范一遍，再两人一组练习，最后请 1–2 组上台表演，表现最好的组 +2。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先全班分角色朗读（模仿语音语调），再两人一组练习。</a:t>
            </a:r>
          </a:p>
          <a:p>
            <a:r>
              <a:t>B (Kevin): Good morning. I’m Kevin Wu from Orion Foods. I have a meeting with Ms Lin at ten. I’m so sorry I’m late. I got held up in traffic.</a:t>
            </a:r>
          </a:p>
          <a:p>
            <a:r>
              <a:t>A (Amy): Don’t worry, Mr Wu. Let me call her. Could you sign in here, please?</a:t>
            </a:r>
          </a:p>
          <a:p>
            <a:r>
              <a:t>B: Of course. Do you happen to know if the meeting has started?</a:t>
            </a:r>
          </a:p>
          <a:p>
            <a:r>
              <a:t>A: I think they’re just getting coffee. I’ll tell her you’re here. Please take a seat.</a:t>
            </a:r>
          </a:p>
          <a:p>
            <a:r>
              <a:t>A (as Ms Lin): Kevin! Good to see you. Sorry to keep you waiting.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先全班分角色朗读（模仿语音语调），再两人一组练习。</a:t>
            </a:r>
          </a:p>
          <a:p>
            <a:r>
              <a:t>B: Not at all. I’m the one who’s late. Thank you for waiting for me.</a:t>
            </a:r>
          </a:p>
          <a:p>
            <a:r>
              <a:t>A (as Ms Lin): It’s fine. We’ve only just started. Would you like some water?</a:t>
            </a:r>
          </a:p>
          <a:p>
            <a:r>
              <a:t>B: Yes, please. Would it be all right if I plugged in my laptop? The battery is low.</a:t>
            </a:r>
          </a:p>
          <a:p>
            <a:r>
              <a:t>A (as Ms Lin): Of course. There’s a socket under the table. Shall we go in?</a:t>
            </a:r>
          </a:p>
          <a:p>
            <a:r>
              <a:t>B: Yes, thanks. I won’t take up too much of your time. I know you’re busy.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学员两人一组，按角色卡即兴对话 3 分钟（不看范文）。完成后挑战进阶版任务，挑战成功 +2。</a:t>
            </a:r>
          </a:p>
          <a:p>
            <a:r>
              <a:t>Role card 11 | </a:t>
            </a:r>
          </a:p>
          <a:p>
            <a:r>
              <a:t>Situation | You visit a client’s office and arrive a few minutes late.</a:t>
            </a:r>
          </a:p>
          <a:p>
            <a:r>
              <a:t>Your role (B) | Visitor. Your name and company: ______________</a:t>
            </a:r>
          </a:p>
          <a:p>
            <a:r>
              <a:t>Partner’s role (A) | Receptionist and host. Friendly, but busy.</a:t>
            </a:r>
          </a:p>
          <a:p>
            <a:r>
              <a:t>Must use (4 or more) | I have a meeting with… · I got held up in… · Sorry to keep you waiting. · Would it be all right if I…? · I won’t take up much of your time.</a:t>
            </a:r>
          </a:p>
          <a:p>
            <a:r>
              <a:t>Goal | Apologize briefly, sign in, make one polite request, start the meeting. About 90 seconds.</a:t>
            </a:r>
          </a:p>
          <a:p>
            <a:r>
              <a:t>My notes | ____________________________________________</a:t>
            </a:r>
          </a:p>
          <a:p>
            <a:r>
              <a:t>Give a short apology only: one sentence, then move on. Don’t explain for a long time.</a:t>
            </a:r>
          </a:p>
          <a:p>
            <a:r>
              <a:t>The receptionist cannot find your name. Say: “Could you check again? It might be under Orion Foods.”</a:t>
            </a:r>
          </a:p>
          <a:p>
            <a:r>
              <a:t>You are early instead. Say: “I’m about twenty minutes early. Is there somewhere I can wait?”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polite request, and thanking the host 提出请求并致谢</a:t>
            </a:r>
          </a:p>
          <a:p>
            <a:r>
              <a:t>情景：At the end of your visit, you thank your host, ask for a small favour, and say you will follow up.</a:t>
            </a:r>
          </a:p>
          <a:p>
            <a:r>
              <a:t>Role A: Ms Lin, host Role B: Kevin Wu, visitor</a:t>
            </a:r>
          </a:p>
          <a:p>
            <a:r>
              <a:t>先师生示范一遍，再两人一组练习，最后请 1–2 组上台表演，表现最好的组 +2。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先全班分角色朗读（模仿语音语调），再两人一组练习。</a:t>
            </a:r>
          </a:p>
          <a:p>
            <a:r>
              <a:t>A (Ms Lin): Well, Kevin, I think that covers everything for today. Is there anything else?</a:t>
            </a:r>
          </a:p>
          <a:p>
            <a:r>
              <a:t>B (Kevin): Just one thing. Could I possibly take a photo of the whiteboard? It has the schedule on it.</a:t>
            </a:r>
          </a:p>
          <a:p>
            <a:r>
              <a:t>A: Of course, go ahead.</a:t>
            </a:r>
          </a:p>
          <a:p>
            <a:r>
              <a:t>B: Thanks. And would you mind if I borrowed a copy of the product brochure?</a:t>
            </a:r>
          </a:p>
          <a:p>
            <a:r>
              <a:t>A: Not at all. Here you are.</a:t>
            </a:r>
          </a:p>
          <a:p>
            <a:r>
              <a:t>B: Thank you for your time, and thank you for the tour. I really appreciate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先全班分角色朗读（模仿语音语调），再两人一组练习。</a:t>
            </a:r>
          </a:p>
          <a:p>
            <a:r>
              <a:t>A: My pleasure. It was good to meet you in person.</a:t>
            </a:r>
          </a:p>
          <a:p>
            <a:r>
              <a:t>B: You too. It was great to meet the team. I’d love to follow up by email with the details tomorrow.</a:t>
            </a:r>
          </a:p>
          <a:p>
            <a:r>
              <a:t>A: That would be perfect. Let me walk you out.</a:t>
            </a:r>
          </a:p>
          <a:p>
            <a:r>
              <a:t>B: There’s no need, I can find my way, but thank you.</a:t>
            </a:r>
          </a:p>
          <a:p>
            <a:r>
              <a:t>A: No, I’ll come down. I’ll get you a taxi.</a:t>
            </a:r>
          </a:p>
          <a:p>
            <a:r>
              <a:t>B: That’s very kind. Thank you again.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学员两人一组，按角色卡即兴对话 3 分钟（不看范文）。完成后挑战进阶版任务，挑战成功 +2。</a:t>
            </a:r>
          </a:p>
          <a:p>
            <a:r>
              <a:t>Role card 12 | </a:t>
            </a:r>
          </a:p>
          <a:p>
            <a:r>
              <a:t>Situation | You say goodbye after a meeting at the client’s office.</a:t>
            </a:r>
          </a:p>
          <a:p>
            <a:r>
              <a:t>Your role (B) | Visitor. Thank your host and ask for one small thing.</a:t>
            </a:r>
          </a:p>
          <a:p>
            <a:r>
              <a:t>Partner’s role (A) | Host. Agrees and walks you out.</a:t>
            </a:r>
          </a:p>
          <a:p>
            <a:r>
              <a:t>Must use (3 or more) | Could I possibly…? · Would you mind if I…? · Thank you for your time. · I’d love to follow up…</a:t>
            </a:r>
          </a:p>
          <a:p>
            <a:r>
              <a:t>Goal | Make a request, thank your host, say how you will follow up.</a:t>
            </a:r>
          </a:p>
          <a:p>
            <a:r>
              <a:t>My notes | ____________________________________________</a:t>
            </a:r>
          </a:p>
          <a:p>
            <a:r>
              <a:t>Refuse an offer politely: “That’s very kind, but I’m fine, thanks.”</a:t>
            </a:r>
          </a:p>
          <a:p>
            <a:r>
              <a:t>Ask the host about the next step: “What’s the best way to follow up?”</a:t>
            </a:r>
          </a:p>
          <a:p>
            <a:r>
              <a:t>Add a personal comment: “I enjoyed the tour of the factory, especially…”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小组讨论：每组抽 1–2 题，准备 2 分钟后派代表发言，鼓励使用 Starters 里的句型。</a:t>
            </a:r>
          </a:p>
          <a:p>
            <a:r>
              <a:t>1. How early should a visitor arrive for a meeting? What if you are late? | “I try to arrive about… minutes early because…” / “If I’m going to be late, I…”</a:t>
            </a:r>
          </a:p>
          <a:p>
            <a:r>
              <a:t>2. Is it acceptable to ask a host for help (charger, quiet room, printer)? | “Yes, as long as I ask politely.” / “I try not to ask for too much because…”</a:t>
            </a:r>
          </a:p>
          <a:p>
            <a:r>
              <a:t>3. What small gifts or gestures are appropriate when visiting a client? | “A small gift such as… is appropriate.” / “In my country, people often…”</a:t>
            </a:r>
          </a:p>
          <a:p>
            <a:r>
              <a:t>4. How do you prepare for a first visit to a client? | “Before I go, I look up…” / “I prepare a few questions about…”</a:t>
            </a:r>
          </a:p>
          <a:p>
            <a:r>
              <a:t>5. What do you do after a visit to keep the relationship warm? | “I usually send a short thank-you email…” / “I follow up on one point we discussed.”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范例回答：先请学员自己回答，再展示范例，标出可以借用的句型。</a:t>
            </a:r>
          </a:p>
          <a:p>
            <a:r>
              <a:t>“I try to arrive about ten minutes early, but not more than fifteen. If I arrive too early, I wait outside or in a café, because the host may not be ready. If I’m going to be late, I call or send a message as soon as I know, for example,”I’m sorry, I’m held up in traffic. I’ll be there in about ten minutes.” Then, when I arrive, I apologize briefly and move on.”</a:t>
            </a:r>
          </a:p>
          <a:p>
            <a:r>
              <a:t>“as soon as I know”(一知道就…)中的 as soon as 后面用一般现在时表示将来。“apologize briefly and move on”(简短道歉然后继续)是地道说法。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Polite requests: from B1 to B2 礼貌请求</a:t>
            </a:r>
          </a:p>
          <a:p>
            <a:r>
              <a:t>Level | Request | Example</a:t>
            </a:r>
          </a:p>
          <a:p>
            <a:r>
              <a:t>Basic | Can I…? | Can I use your phone?</a:t>
            </a:r>
          </a:p>
          <a:p>
            <a:r>
              <a:t>Polite | Could I…? / May I…? | Could I use your phone, please?</a:t>
            </a:r>
          </a:p>
          <a:p>
            <a:r>
              <a:t>Very polite ★ | Would it be all right if I…? / Would you mind if I…? | Would you mind if I used your phone?</a:t>
            </a:r>
          </a:p>
          <a:p>
            <a:r>
              <a:t>Indirect ★ | I was wondering if I could… | I was wondering if I could use your phone.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Polite requests: from B1 to B2 礼貌请求</a:t>
            </a:r>
          </a:p>
          <a:p>
            <a:r>
              <a:t>After Would you mind if I… and I was wondering if I… use a past form: took, opened, used.</a:t>
            </a:r>
          </a:p>
          <a:p>
            <a:r>
              <a:t>To agree: “Not at all.” / “Go ahead.” / “Of course.” To refuse politely: “I’m afraid that’s not possible, but…”</a:t>
            </a:r>
          </a:p>
          <a:p>
            <a:r>
              <a:t>Don’t answer “Would you mind…?” with “Yes”. “Yes” means “I do mind”. Say “Not at all.”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Apologizing for lateness briefly 简短道歉</a:t>
            </a:r>
          </a:p>
          <a:p>
            <a:r>
              <a:t>Apologize once: “I’m so sorry I’m late.”</a:t>
            </a:r>
          </a:p>
          <a:p>
            <a:r>
              <a:t>Give a short reason: “I got held up in traffic.”</a:t>
            </a:r>
          </a:p>
          <a:p>
            <a:r>
              <a:t>Thank them: “Thank you for waiting.”</a:t>
            </a:r>
          </a:p>
          <a:p>
            <a:r>
              <a:t>Move on: “Shall we get started?”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找错游戏：各组抢答，指出错误并说出正确说法 +1。点击逐条揭晓正确答案。</a:t>
            </a:r>
          </a:p>
          <a:p>
            <a:r>
              <a:t>✗ Can you to help me?  →  ✓ Can you help me?  (can / could 后面不加 to)</a:t>
            </a:r>
          </a:p>
          <a:p>
            <a:r>
              <a:t>✗ Would you mind if I open the window?  →  ✓ Would you mind if I opened the window?  (mind if I + 过去式)</a:t>
            </a:r>
          </a:p>
          <a:p>
            <a:r>
              <a:t>✗ Would you mind to open the window?  →  ✓ Would you mind opening the window?  (mind + -ing)</a:t>
            </a:r>
          </a:p>
          <a:p>
            <a:r>
              <a:t>✗ Yes, I mind. (agreeing to a request)  →  ✓ Not at all.  (同意时回答 Not at all,不是 Yes)</a:t>
            </a:r>
          </a:p>
          <a:p>
            <a:r>
              <a:t>✗ I’m sorry for late.  →  ✓ I’m sorry I’m late. / I’m sorry for being late.  (for 后面用 -ing)</a:t>
            </a:r>
          </a:p>
          <a:p>
            <a:r>
              <a:t>Mistake Watch: After Would you mind… choose: + -ing (“Would you mind opening…?”) or if I + past (“Would you mind if I opened…?”).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找错游戏：各组抢答，指出错误并说出正确说法 +1。点击逐条揭晓正确答案。</a:t>
            </a:r>
          </a:p>
          <a:p>
            <a:r>
              <a:t>✗ I arrive at the company in ten o’clock.  →  ✓ I arrived at the company at ten o’clock.  (at + 具体时间,过去式)</a:t>
            </a:r>
          </a:p>
          <a:p>
            <a:r>
              <a:t>✗ I’m here for meeting Ms Lin.  →  ✓ I’m here to meet Ms Lin.  (目的用 to + 动词)</a:t>
            </a:r>
          </a:p>
          <a:p>
            <a:r>
              <a:t>✗ Thanks for your help me.  →  ✓ Thanks for your help. / Thanks for helping me.  (for + 名词 / -ing)</a:t>
            </a:r>
          </a:p>
          <a:p>
            <a:r>
              <a:t>✗ apreciate / posibly  →  ✓ appreciate / possibly  (拼写)</a:t>
            </a:r>
          </a:p>
          <a:p>
            <a:r>
              <a:t>Mistake Watch: After Would you mind… choose: + -ing (“Would you mind opening…?”) or if I + past (“Would you mind if I opened…?”).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Cultural tips 文化小贴士</a:t>
            </a:r>
          </a:p>
          <a:p>
            <a:r>
              <a:t>Arrive 5–10 minutes early, not 30. Arriving very early can put pressure on the host. In Germany and the UK, being exactly on time or slightly early is the norm.</a:t>
            </a:r>
          </a:p>
          <a:p>
            <a:r>
              <a:t>If you are going to be late, call or message before the meeting. Waiting until you arrive is too late. Everyone understands traffic, but they want to be told.</a:t>
            </a:r>
          </a:p>
          <a:p>
            <a:r>
              <a:t>Gifts: Small gifts are welcome but not expected in the US and UK. Avoid expensive gifts, because they may break company rules on bribery.</a:t>
            </a:r>
          </a:p>
          <a:p>
            <a:r>
              <a:t>Thank-you emails: A short thank-you email the same day is common and appreciated in most Western countries.</a:t>
            </a:r>
          </a:p>
          <a:p>
            <a:r>
              <a:t>Don’t wander. Wait for your host. Do not walk into offices or take photos without asking.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课堂小结：请学员对每一条自评 1–3 星，选一条“还没做到”的作为课后练习目标。</a:t>
            </a:r>
          </a:p>
          <a:p>
            <a:r>
              <a:t>I can say who I am and who I am here to see.</a:t>
            </a:r>
          </a:p>
          <a:p>
            <a:r>
              <a:t>I can apologize briefly for being late and then move on.</a:t>
            </a:r>
          </a:p>
          <a:p>
            <a:r>
              <a:t>I can ask for things politely (Could I possibly…? Would it be all right if I…?).</a:t>
            </a:r>
          </a:p>
          <a:p>
            <a:r>
              <a:t>I can thank my host and say how I will follow up.</a:t>
            </a:r>
          </a:p>
          <a:p>
            <a:r>
              <a:t>I can use mind + -ing and mind if I + past simple correctly.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布置课后练习：每天 10 分钟，按下表完成，下节课开头抽查。</a:t>
            </a:r>
          </a:p>
          <a:p>
            <a:r>
              <a:t>Minutes | Activity</a:t>
            </a:r>
          </a:p>
          <a:p>
            <a:r>
              <a:t>0–2 | Read the 15 expressions aloud. Cover the English and say it from the Chinese. Make 2 true sentences with ★ items.</a:t>
            </a:r>
          </a:p>
          <a:p>
            <a:r>
              <a:t>2–5 | Shadow the model dialogue or model email (copy the rhythm and intonation).</a:t>
            </a:r>
          </a:p>
          <a:p>
            <a:r>
              <a:t>5–8 | Do the role play with the blank role card. Record yourself.</a:t>
            </a:r>
          </a:p>
          <a:p>
            <a:r>
              <a:t>8–10 | Listen to the recording. Check: would you mind + -ing / if I + past, at + time, past tense, and spelling (appreciate, possibly). Write 3 corrections.</a:t>
            </a:r>
          </a:p>
          <a:p>
            <a:r>
              <a:t>Weekly rhythm: Mon–Tue Scenario 1 · Wed–Thu Scenario 2 · Fri Level-up variation · Weekend: record the 1-minute speaking prompt again and compare with Monday.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Lesson 09 · Making visitors feel welcome 让访客感到受欢迎</a:t>
            </a:r>
          </a:p>
          <a:p>
            <a:r>
              <a:t>Goal: go the extra mile for visitors: arrange transport and hotels, ask about preferences and dietary needs, check that guests are comfortable and respond warmly when they say thank you.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热身：每题请一位学员用 2–3 句话回答，点击逐题出现。积极发言的小组 +1。</a:t>
            </a:r>
          </a:p>
          <a:p>
            <a:r>
              <a:t>第 1 题讲过去的事,请用过去式(made, gave, picked up)。第 3 题可以用 “I would ask…”。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一分钟挑战：给 1 分钟准备，然后每组派一人计时发言 60 秒，不停顿、不说中文即可得分。</a:t>
            </a:r>
          </a:p>
          <a:p>
            <a:r>
              <a:t>Describe how you would welcome an important client from overseas.</a:t>
            </a:r>
          </a:p>
          <a:p>
            <a:r>
              <a:t>Say: before arrival (hotel, transport) → at the airport or reception → during the visit (food, comfort) → at the end (a small gift or a farewell).</a:t>
            </a:r>
          </a:p>
          <a:p>
            <a:r>
              <a:t>Useful starters: “Before the visit, I would arrange…” / “When they arrive, I would…” / “I would also check whether…”</a:t>
            </a:r>
          </a:p>
          <a:p>
            <a:r>
              <a:t>would + 动词原形:I would book / I would ask。表达“为他们准备好”:I’d arrange for a car to pick them up。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Chunk 1: Planning ahead 提前安排</a:t>
            </a:r>
          </a:p>
          <a:p>
            <a:r>
              <a:t>领读 → 学员跟读 → 请学员用表达造一个和自己工作相关的句子。</a:t>
            </a:r>
          </a:p>
          <a:p>
            <a:r>
              <a:t>I’ve arranged for a car to pick you up. (phrase) 我已经安排了车去接您 — “I’ve arranged for a car to pick you up at the airport.”</a:t>
            </a:r>
          </a:p>
          <a:p>
            <a:r>
              <a:t>I’ve booked a hotel for you. (phrase) 我已经为您订了酒店 — “I’ve booked a hotel near the office for you.”</a:t>
            </a:r>
          </a:p>
          <a:p>
            <a:r>
              <a:t>Do you have any dietary requirements? (phrase) 您有什么饮食方面的要求吗? — “Do you have any dietary requirements? Are you vegetarian?”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Chunk 1: Planning ahead 提前安排</a:t>
            </a:r>
          </a:p>
          <a:p>
            <a:r>
              <a:t>领读 → 学员跟读 → 请学员用表达造一个和自己工作相关的句子。</a:t>
            </a:r>
          </a:p>
          <a:p>
            <a:r>
              <a:t>★ We want to go the extra mile. (idiom) 我们想格外用心/多做一点 — “For our top clients, we always go the extra mile.”</a:t>
            </a:r>
          </a:p>
          <a:p>
            <a:r>
              <a:t>★ We’ll roll out the red carpet. (idiom) 我们会隆重接待 — “We’ll roll out the red carpet for the delegation.”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Chunk 2: Checking comfort 关心访客</a:t>
            </a:r>
          </a:p>
          <a:p>
            <a:r>
              <a:t>领读 → 学员跟读 → 请学员用表达造一个和自己工作相关的句子。</a:t>
            </a:r>
          </a:p>
          <a:p>
            <a:r>
              <a:t>I hope you had a pleasant journey. (phrase) 希望您旅途愉快 — “I hope you had a pleasant journey.”</a:t>
            </a:r>
          </a:p>
          <a:p>
            <a:r>
              <a:t>Is everything all right with your hotel? (phrase) 您的酒店一切还好吗? — “Is everything all right with your hotel room?”</a:t>
            </a:r>
          </a:p>
          <a:p>
            <a:r>
              <a:t>★ You must be exhausted. (phrase) 您一定累坏了 — “You must be exhausted after such a long flight.”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Chunk 2: Checking comfort 关心访客</a:t>
            </a:r>
          </a:p>
          <a:p>
            <a:r>
              <a:t>领读 → 学员跟读 → 请学员用表达造一个和自己工作相关的句子。</a:t>
            </a:r>
          </a:p>
          <a:p>
            <a:r>
              <a:t>★ Would you like to freshen up first? (phrase) 您想先稍微整理/洗漱一下吗? — “Would you like to freshen up first, or go straight to the meeting?”</a:t>
            </a:r>
          </a:p>
          <a:p>
            <a:r>
              <a:t>Is there anything we can do to make your stay more comfortable? (phrase) 我们有什么可以让您住得更舒服的吗? — “Is there anything we can do to make your stay more comfortable?”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Chunk 3: Responding warmly 热情回应</a:t>
            </a:r>
          </a:p>
          <a:p>
            <a:r>
              <a:t>领读 → 学员跟读 → 请学员用表达造一个和自己工作相关的句子。</a:t>
            </a:r>
          </a:p>
          <a:p>
            <a:r>
              <a:t>It’s no trouble at all. (phrase) 一点也不麻烦 — “Thank you so much for picking me up.” — “It’s no trouble at all.”</a:t>
            </a:r>
          </a:p>
          <a:p>
            <a:r>
              <a:t>My pleasure. (phrase) 不客气,我的荣幸 — “Thanks for dinner.” — “My pleasure.”</a:t>
            </a:r>
          </a:p>
          <a:p>
            <a:r>
              <a:t>★ I’m at your disposal. (phrase (formal)) 听候您的安排 — “I’m at your disposal for the whole week.”</a:t>
            </a:r>
          </a:p>
          <a:p>
            <a:r>
              <a:t>★ Don’t mention it. (phrase) 别客气 — “Thanks for the help.” — “Don’t mention it.”</a:t>
            </a:r>
          </a:p>
          <a:p>
            <a:r>
              <a:t>It’s the least we could do. (phrase) 这是我们应该做的 — “It’s the least we could do after your long trip.”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抢答：老师指一张卡，各组抢答英文表达，答对 +1。点击按顺序揭晓答案。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限时 2 分钟独立完成，然后逐题点击揭晓答案。全对的学员为小组 +1。</a:t>
            </a:r>
          </a:p>
          <a:p>
            <a:r>
              <a:t>trouble / arranged / dietary / mile / freshen / exhausted</a:t>
            </a:r>
          </a:p>
          <a:p>
            <a:r>
              <a:t>1. I’ve _______ for a car to pick you up at the airport. → arranged</a:t>
            </a:r>
          </a:p>
          <a:p>
            <a:r>
              <a:t>2. Do you have any _______ requirements? → dietary</a:t>
            </a:r>
          </a:p>
          <a:p>
            <a:r>
              <a:t>3. For our top clients, we always go the extra _______. → mile</a:t>
            </a:r>
          </a:p>
          <a:p>
            <a:r>
              <a:t>4. You must be _______ after such a long flight. → exhausted</a:t>
            </a:r>
          </a:p>
          <a:p>
            <a:r>
              <a:t>5. Would you like to _______ up first? → freshen</a:t>
            </a:r>
          </a:p>
          <a:p>
            <a:r>
              <a:t>6. Thank you for the lift. — It’s no _______ at all. → trouble</a:t>
            </a:r>
          </a:p>
          <a:p>
            <a:r>
              <a:t>Mistake Watch (拼写): arranged (rr), dietary (not “dietry”), exhausted (h after x), vegetarian (not “vegeterian”). Remember: “arrange for a car to pick you up”.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Meeting a visitor at the airport 机场接机</a:t>
            </a:r>
          </a:p>
          <a:p>
            <a:r>
              <a:t>情景：Mr James Reed lands in Shanghai after a 12-hour flight. You meet him at the airport and drive him to the hotel.</a:t>
            </a:r>
          </a:p>
          <a:p>
            <a:r>
              <a:t>Role A: Wang Fang, host Role B: James Reed, visitor from the UK</a:t>
            </a:r>
          </a:p>
          <a:p>
            <a:r>
              <a:t>先师生示范一遍，再两人一组练习，最后请 1–2 组上台表演，表现最好的组 +2。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先全班分角色朗读（模仿语音语调），再两人一组练习。</a:t>
            </a:r>
          </a:p>
          <a:p>
            <a:r>
              <a:t>A (Fang): Mr Reed? Hello, I’m Wang Fang from Orion. Welcome to Shanghai.</a:t>
            </a:r>
          </a:p>
          <a:p>
            <a:r>
              <a:t>B (James): Hello, Fang. Please call me James. It’s very kind of you to come to the airport.</a:t>
            </a:r>
          </a:p>
          <a:p>
            <a:r>
              <a:t>A: It’s no trouble at all. Let me take your suitcase. I hope you had a pleasant journey.</a:t>
            </a:r>
          </a:p>
          <a:p>
            <a:r>
              <a:t>B: It was long, but fine. I’m a bit tired, to be honest.</a:t>
            </a:r>
          </a:p>
          <a:p>
            <a:r>
              <a:t>A: You must be exhausted. The car is just outside. The hotel is about forty minutes from here.</a:t>
            </a:r>
          </a:p>
          <a:p>
            <a:r>
              <a:t>B: That’s fine. I’d love to see a bit of the city.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先全班分角色朗读（模仿语音语调），再两人一组练习。</a:t>
            </a:r>
          </a:p>
          <a:p>
            <a:r>
              <a:t>A: I’ve booked you into the Riverside Hotel, close to our office. Would you like to freshen up first, or go straight to a meeting tomorrow?</a:t>
            </a:r>
          </a:p>
          <a:p>
            <a:r>
              <a:t>B: Tomorrow is fine. I’d like to rest tonight.</a:t>
            </a:r>
          </a:p>
          <a:p>
            <a:r>
              <a:t>A: Of course. I’ll leave the evening free. Do you have any dietary requirements for lunch tomorrow?</a:t>
            </a:r>
          </a:p>
          <a:p>
            <a:r>
              <a:t>B: I don’t eat much meat, but I’m not strict. Fish is fine.</a:t>
            </a:r>
          </a:p>
          <a:p>
            <a:r>
              <a:t>A: Noted. I’ll make sure we choose a good place. If you need anything, please call me. I’m at your disposal.</a:t>
            </a:r>
          </a:p>
          <a:p>
            <a:r>
              <a:t>B: Thank you. You’ve been so kind.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学员两人一组，按角色卡即兴对话 3 分钟（不看范文）。完成后挑战进阶版任务，挑战成功 +2。</a:t>
            </a:r>
          </a:p>
          <a:p>
            <a:r>
              <a:t>Role card 13 | </a:t>
            </a:r>
          </a:p>
          <a:p>
            <a:r>
              <a:t>Situation | You meet an overseas visitor at the airport or station and take them to the hotel.</a:t>
            </a:r>
          </a:p>
          <a:p>
            <a:r>
              <a:t>Your role (A) | Host. Your name and company: ______________</a:t>
            </a:r>
          </a:p>
          <a:p>
            <a:r>
              <a:t>Partner’s role (B) | Visitor. Tired after a long journey. Has a food preference.</a:t>
            </a:r>
          </a:p>
          <a:p>
            <a:r>
              <a:t>Must use (4 or more) | I hope you had a pleasant journey. · You must be exhausted. · dietary requirements · freshen up · It’s no trouble at all.</a:t>
            </a:r>
          </a:p>
          <a:p>
            <a:r>
              <a:t>Goal | Welcome the visitor, ask about comfort and food, explain the plan for tomorrow.</a:t>
            </a:r>
          </a:p>
          <a:p>
            <a:r>
              <a:t>My notes | ____________________________________________</a:t>
            </a:r>
          </a:p>
          <a:p>
            <a:r>
              <a:t>The flight was delayed and the car left. Say: “I’m so sorry about this. Let me arrange another car right away.”</a:t>
            </a:r>
          </a:p>
          <a:p>
            <a:r>
              <a:t>Ask about the visitor’s preferences for the schedule: “Would you prefer a quiet evening or a short city tour?”</a:t>
            </a:r>
          </a:p>
          <a:p>
            <a:r>
              <a:t>Include one idiom: “We’d like to go the extra mile.”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Planning a welcome with a colleague 与同事商量接待安排</a:t>
            </a:r>
          </a:p>
          <a:p>
            <a:r>
              <a:t>情景：A delegation of five visitors will arrive next week. You discuss the welcome with your assistant.</a:t>
            </a:r>
          </a:p>
          <a:p>
            <a:r>
              <a:t>Role A: Wang Fang, manager Role B: Ivy Chen, assistant</a:t>
            </a:r>
          </a:p>
          <a:p>
            <a:r>
              <a:t>先师生示范一遍，再两人一组练习，最后请 1–2 组上台表演，表现最好的组 +2。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先全班分角色朗读（模仿语音语调），再两人一组练习。</a:t>
            </a:r>
          </a:p>
          <a:p>
            <a:r>
              <a:t>A (Fang): Ivy, the delegation from Manchester arrives next Tuesday. I’d like to make sure they feel welcome.</a:t>
            </a:r>
          </a:p>
          <a:p>
            <a:r>
              <a:t>B (Ivy): Of course. What have we got so far?</a:t>
            </a:r>
          </a:p>
          <a:p>
            <a:r>
              <a:t>A: We need a car at the airport, and the hotel is booked. Have we got a welcome sign?</a:t>
            </a:r>
          </a:p>
          <a:p>
            <a:r>
              <a:t>B: Not yet. I’ll make one with their names on it. Shall I also put a small welcome pack in each room?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先全班分角色朗读（模仿语音语调），再两人一组练习。</a:t>
            </a:r>
          </a:p>
          <a:p>
            <a:r>
              <a:t>A: Good idea. Maybe a map, a SIM card and a box of tea. I don’t want to overdo it, but I’d like to go the extra mile.</a:t>
            </a:r>
          </a:p>
          <a:p>
            <a:r>
              <a:t>B: Understood. What about food? Do you know if anyone has dietary requirements?</a:t>
            </a:r>
          </a:p>
          <a:p>
            <a:r>
              <a:t>A: Good question. Could you email them and ask? Something like: “Please let us know if you have any dietary requirements.”</a:t>
            </a:r>
          </a:p>
          <a:p>
            <a:r>
              <a:t>B: I’ll do that today. And the schedule? They’ll be tired on Tuesday.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先全班分角色朗读（模仿语音语调），再两人一组练习。</a:t>
            </a:r>
          </a:p>
          <a:p>
            <a:r>
              <a:t>A: Let’s keep the first evening free. A short dinner at the hotel, then rest.</a:t>
            </a:r>
          </a:p>
          <a:p>
            <a:r>
              <a:t>B: That makes sense. I’ll draft the itinerary and send it to you tonight.</a:t>
            </a:r>
          </a:p>
          <a:p>
            <a:r>
              <a:t>A: Thanks, Ivy. I really appreciate it.</a:t>
            </a:r>
          </a:p>
          <a:p>
            <a:r>
              <a:t>B: No problem at all.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学员两人一组，按角色卡即兴对话 3 分钟（不看范文）。完成后挑战进阶版任务，挑战成功 +2。</a:t>
            </a:r>
          </a:p>
          <a:p>
            <a:r>
              <a:t>Role card 14 | </a:t>
            </a:r>
          </a:p>
          <a:p>
            <a:r>
              <a:t>Situation | You plan how to welcome a group of visitors with a colleague.</a:t>
            </a:r>
          </a:p>
          <a:p>
            <a:r>
              <a:t>Your role (A) | Manager. Explain what you want.</a:t>
            </a:r>
          </a:p>
          <a:p>
            <a:r>
              <a:t>Partner’s role (B) | Assistant. Ask questions and suggest ideas.</a:t>
            </a:r>
          </a:p>
          <a:p>
            <a:r>
              <a:t>Must use (3 or more) | I’d like to make sure… · Shall I…? · I’ve arranged… · go the extra mile · dietary requirements</a:t>
            </a:r>
          </a:p>
          <a:p>
            <a:r>
              <a:t>Goal | Agree on a 5-point welcome plan (transport, hotel, food, gift, schedule).</a:t>
            </a:r>
          </a:p>
          <a:p>
            <a:r>
              <a:t>My notes | ____________________________________________</a:t>
            </a:r>
          </a:p>
          <a:p>
            <a:r>
              <a:t>There is a budget limit. Say: “We’re on a tight budget, so let’s focus on the things that matter most.”</a:t>
            </a:r>
          </a:p>
          <a:p>
            <a:r>
              <a:t>One visitor has a wheelchair. Add: “Could you check that the hotel and the restaurant are accessible?”</a:t>
            </a:r>
          </a:p>
          <a:p>
            <a:r>
              <a:t>Reduce the plan to three actions and explain why.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小组讨论：每组抽 1–2 题，准备 2 分钟后派代表发言，鼓励使用 Starters 里的句型。</a:t>
            </a:r>
          </a:p>
          <a:p>
            <a:r>
              <a:t>1. What was the best welcome you ever received as a visitor? | “The best welcome I received was…” / “What impressed me most was…”</a:t>
            </a:r>
          </a:p>
          <a:p>
            <a:r>
              <a:t>2. How much should a company spend on welcoming visitors? | “I think it depends on…” / “Spending a lot is not necessary if…”</a:t>
            </a:r>
          </a:p>
          <a:p>
            <a:r>
              <a:t>3. How do you ask about food or religious needs without being awkward? | “I would simply ask…” / “A polite way to say it is…”</a:t>
            </a:r>
          </a:p>
          <a:p>
            <a:r>
              <a:t>4. Should the host take the visitor to dinner every night? | “On the one hand… On the other hand…” / “Some visitors prefer to…”</a:t>
            </a:r>
          </a:p>
          <a:p>
            <a:r>
              <a:t>5. Are small gifts a good idea? What would you choose? | “A small gift such as… shows that…” / “I would avoid… because…”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范例回答：先请学员自己回答，再展示范例，标出可以借用的句型。</a:t>
            </a:r>
          </a:p>
          <a:p>
            <a:r>
              <a:t>“I would just ask directly and politely. In an email before the visit, I would write,”Please let us know if you have any dietary requirements or other needs.” I think it is better to ask before the visit than to guess. It also shows that I care. If a guest says they don’t eat a certain food, I never ask for the reason. I just say, “Thank you for letting me know. I’ll make sure we choose a suitable restaurant.””</a:t>
            </a:r>
          </a:p>
          <a:p>
            <a:r>
              <a:t>“It shows that I care”(这说明我很在意)。“I never ask for the reason” 里 never 放在动词前。“suitable”(合适的)比 good 更准确。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Making welcoming small talk with “you must be…” 用 “You must be…” 表示体贴</a:t>
            </a:r>
          </a:p>
          <a:p>
            <a:r>
              <a:t>Situation | What to say</a:t>
            </a:r>
          </a:p>
          <a:p>
            <a:r>
              <a:t>After a long flight | You must be exhausted. / You must be jet-lagged.</a:t>
            </a:r>
          </a:p>
          <a:p>
            <a:r>
              <a:t>After a hot or cold journey | You must be freezing! Let’s get you inside.</a:t>
            </a:r>
          </a:p>
          <a:p>
            <a:r>
              <a:t>Before lunch | You must be hungry. Shall we eat first?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Making welcoming small talk with “you must be…” 用 “You must be…” 表示体贴</a:t>
            </a:r>
          </a:p>
          <a:p>
            <a:r>
              <a:t>must be = “I guess that you are”. It shows you understand how they feel. Don’t use it for facts you don’t know.</a:t>
            </a:r>
          </a:p>
          <a:p>
            <a:r>
              <a:t>Offer, don’t push. “Would you like to… or would you prefer to…?” gives the visitor a choice.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Responding to thanks 回应感谢</a:t>
            </a:r>
          </a:p>
          <a:p>
            <a:r>
              <a:t>Casual | Formal / warm</a:t>
            </a:r>
          </a:p>
          <a:p>
            <a:r>
              <a:t>No problem. / No worries. | It’s my pleasure. / It’s no trouble at all.</a:t>
            </a:r>
          </a:p>
          <a:p>
            <a:r>
              <a:t>Sure! | Don’t mention it. / The pleasure is mine.</a:t>
            </a:r>
          </a:p>
          <a:p>
            <a:r>
              <a:t>Anytime. | It’s the least we could do. / I’m happy to help.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找错游戏：各组抢答，指出错误并说出正确说法 +1。点击逐条揭晓正确答案。</a:t>
            </a:r>
          </a:p>
          <a:p>
            <a:r>
              <a:t>✗ I arranged a car pick you up.  →  ✓ I arranged for a car to pick you up.  (arrange for sb to do sth)</a:t>
            </a:r>
          </a:p>
          <a:p>
            <a:r>
              <a:t>✗ I book the hotel last week.  →  ✓ I booked the hotel last week.  (last week → 过去式)</a:t>
            </a:r>
          </a:p>
          <a:p>
            <a:r>
              <a:t>✗ I’m very tired after the flight long.  →  ✓ I’m very tired after the long flight.  (形容词放名词前)</a:t>
            </a:r>
          </a:p>
          <a:p>
            <a:r>
              <a:t>✗ You are exhausted. (as a guess)  →  ✓ You must be exhausted.  (表示推测用 must be)</a:t>
            </a:r>
          </a:p>
          <a:p>
            <a:r>
              <a:t>✗ You are welcome. (as a greeting at the airport)  →  ✓ Welcome to Shanghai.  (欢迎光临 ≠ You’re welcome(不客气))</a:t>
            </a:r>
          </a:p>
          <a:p>
            <a:r>
              <a:t>Mistake Watch: Welcome (to a visitor) and You’re welcome (reply to thanks) are different. Say: “Welcome to Shanghai!” and “You’re welcome” or “My pleasure.”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找错游戏：各组抢答，指出错误并说出正确说法 +1。点击逐条揭晓正确答案。</a:t>
            </a:r>
          </a:p>
          <a:p>
            <a:r>
              <a:t>✗ Please be careful your head.  →  ✓ Please mind your head. / Watch your head.  (mind / watch)</a:t>
            </a:r>
          </a:p>
          <a:p>
            <a:r>
              <a:t>✗ Do you have any diet requirements?  →  ✓ Do you have any dietary requirements?  (形容词 dietary)</a:t>
            </a:r>
          </a:p>
          <a:p>
            <a:r>
              <a:t>✗ Is there something we can do?  →  ✓ Is there anything we can do?  (疑问句用 anything)</a:t>
            </a:r>
          </a:p>
          <a:p>
            <a:r>
              <a:t>✗ dietry / vegeterian / exausted  →  ✓ dietary / vegetarian / exhausted  (拼写)</a:t>
            </a:r>
          </a:p>
          <a:p>
            <a:r>
              <a:t>Mistake Watch: Welcome (to a visitor) and You’re welcome (reply to thanks) are different. Say: “Welcome to Shanghai!” and “You’re welcome” or “My pleasure.”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Cultural tips 文化小贴士</a:t>
            </a:r>
          </a:p>
          <a:p>
            <a:r>
              <a:t>Ask before ordering for the guest. In China, hosts often order many dishes for the guest. Many Western guests prefer to choose their own meal. Say: “Please order whatever you like.”</a:t>
            </a:r>
          </a:p>
          <a:p>
            <a:r>
              <a:t>Dietary needs are normal. Vegetarian, halal, kosher, gluten-free and allergies are common. Ask before the visit and keep the answer private.</a:t>
            </a:r>
          </a:p>
          <a:p>
            <a:r>
              <a:t>Jet lag is real. A visitor from Europe or the US may not be at their best on the first day. A light schedule on day one shows you are thoughtful.</a:t>
            </a:r>
          </a:p>
          <a:p>
            <a:r>
              <a:t>Gifts: In many Western companies, gifts should be small and not expensive. A local specialty (tea, sweets) is better than something very expensive.</a:t>
            </a:r>
          </a:p>
          <a:p>
            <a:r>
              <a:t>Say thank you for their effort as well as yours: “Thank you for travelling so far for this meeting.”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课堂小结：请学员对每一条自评 1–3 星，选一条“还没做到”的作为课后练习目标。</a:t>
            </a:r>
          </a:p>
          <a:p>
            <a:r>
              <a:t>I can plan a welcome (transport, hotel, food) and say it with I’ve arranged for…</a:t>
            </a:r>
          </a:p>
          <a:p>
            <a:r>
              <a:t>I can ask about food and other needs politely (Do you have any dietary requirements?).</a:t>
            </a:r>
          </a:p>
          <a:p>
            <a:r>
              <a:t>I can show I care with You must be… and Would you like to freshen up first?</a:t>
            </a:r>
          </a:p>
          <a:p>
            <a:r>
              <a:t>I can respond to thanks warmly (It’s no trouble at all. My pleasure. Don’t mention it.).</a:t>
            </a:r>
          </a:p>
          <a:p>
            <a:r>
              <a:t>I can use arrange for sb to do, must be and the right form of welcome correctly.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布置课后练习：每天 10 分钟，按下表完成，下节课开头抽查。</a:t>
            </a:r>
          </a:p>
          <a:p>
            <a:r>
              <a:t>Minutes | Activity</a:t>
            </a:r>
          </a:p>
          <a:p>
            <a:r>
              <a:t>0–2 | Read the 15 expressions aloud. Cover the English and say it from the Chinese. Make 2 true sentences with ★ items.</a:t>
            </a:r>
          </a:p>
          <a:p>
            <a:r>
              <a:t>2–5 | Shadow the model dialogue or model email (copy the rhythm and intonation).</a:t>
            </a:r>
          </a:p>
          <a:p>
            <a:r>
              <a:t>5–8 | Do the role play with the blank role card. Record yourself.</a:t>
            </a:r>
          </a:p>
          <a:p>
            <a:r>
              <a:t>8–10 | Listen to the recording. Check: arrange for sb to do, past tense (booked, arranged), Welcome vs You’re welcome, and spelling (dietary, exhausted). Write 3 corrections.</a:t>
            </a:r>
          </a:p>
          <a:p>
            <a:r>
              <a:t>Weekly rhythm: Mon–Tue Scenario 1 · Wed–Thu Scenario 2 · Fri Level-up variation · Weekend: record the 1-minute speaking prompt again and compare with Monday.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Lesson 10 · Small talk with visitors 与访客聊天</a:t>
            </a:r>
          </a:p>
          <a:p>
            <a:r>
              <a:t>Goal: start, keep going and politely end small talk with visitors: ask open questions, show interest, choose safe topics, and move smoothly from small talk to business.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热身：每题请一位学员用 2–3 句话回答，点击逐题出现。积极发言的小组 +1。</a:t>
            </a:r>
          </a:p>
          <a:p>
            <a:r>
              <a:t>第 4 题讲过去的事,请用过去式(talked, asked, found)。第 2 题回答时注意 “avoid + -ing”。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一分钟挑战：给 1 分钟准备，然后每组派一人计时发言 60 秒，不停顿、不说中文即可得分。</a:t>
            </a:r>
          </a:p>
          <a:p>
            <a:r>
              <a:t>Show how you would make small talk with a visitor from another country.</a:t>
            </a:r>
          </a:p>
          <a:p>
            <a:r>
              <a:t>Say: a first question → a follow-up question → a comment to show interest → a shared experience → a smooth change to business.</a:t>
            </a:r>
          </a:p>
          <a:p>
            <a:r>
              <a:t>Useful starters: “Is this your first time in…?” / “How are you finding…?” / “That sounds great.” / “Anyway, shall we get started?”</a:t>
            </a:r>
          </a:p>
          <a:p>
            <a:r>
              <a:t>小贴士:不要只回答 Yes / No。回答后加一句信息,再把问题抛回去(And you?)。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Chunk 1: Starting small talk 开始寒暄</a:t>
            </a:r>
          </a:p>
          <a:p>
            <a:r>
              <a:t>领读 → 学员跟读 → 请学员用表达造一个和自己工作相关的句子。</a:t>
            </a:r>
          </a:p>
          <a:p>
            <a:r>
              <a:t>Is this your first time in Shanghai? (phrase) 这是您第一次来上海吗? — “Is this your first time in Shanghai?”</a:t>
            </a:r>
          </a:p>
          <a:p>
            <a:r>
              <a:t>★ How are you finding Shanghai? (phrase) 您觉得上海怎么样? — “How are you finding Shanghai so far?”</a:t>
            </a:r>
          </a:p>
          <a:p>
            <a:r>
              <a:t>What brings you to China? (phrase) 您来中国是为了什么? — “What brings you to China this time?”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Chunk 1: Starting small talk 开始寒暄</a:t>
            </a:r>
          </a:p>
          <a:p>
            <a:r>
              <a:t>领读 → 学员跟读 → 请学员用表达造一个和自己工作相关的句子。</a:t>
            </a:r>
          </a:p>
          <a:p>
            <a:r>
              <a:t>Did you manage to get some rest? (phrase) 您休息得好吗? — “Did you manage to get some rest after the flight?”</a:t>
            </a:r>
          </a:p>
          <a:p>
            <a:r>
              <a:t>★ The weather’s been lovely, hasn’t it? (question tag) 天气一直很好,不是吗? — “The weather’s been lovely, hasn’t it?” — “It has. Much better than London!”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Chunk 2: Keeping it going 保持话题</a:t>
            </a:r>
          </a:p>
          <a:p>
            <a:r>
              <a:t>领读 → 学员跟读 → 请学员用表达造一个和自己工作相关的句子。</a:t>
            </a:r>
          </a:p>
          <a:p>
            <a:r>
              <a:t>Really? (reaction) 是吗?(表示感兴趣) — “I lived in Tokyo for two years.” — “Really? What was it like?”</a:t>
            </a:r>
          </a:p>
          <a:p>
            <a:r>
              <a:t>That sounds great / interesting. (phrase) 听起来很棒/有趣 — “You run marathons? That sounds great.”</a:t>
            </a:r>
          </a:p>
          <a:p>
            <a:r>
              <a:t>★ I know what you mean. (phrase) 我明白你的意思 — “The traffic is awful.” — “I know what you mean.”</a:t>
            </a:r>
          </a:p>
          <a:p>
            <a:r>
              <a:t>★ Me too. / So do I. (phrase) 我也是 — “I love Sichuan food.” — “So do I.”</a:t>
            </a:r>
          </a:p>
          <a:p>
            <a:r>
              <a:t>What about you? / And you? (phrase) 那你呢? — “I’m from Leeds. What about you?”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Chunk 3: Changing topic and finishing 转换话题与收尾</a:t>
            </a:r>
          </a:p>
          <a:p>
            <a:r>
              <a:t>领读 → 学员跟读 → 请学员用表达造一个和自己工作相关的句子。</a:t>
            </a:r>
          </a:p>
          <a:p>
            <a:r>
              <a:t>★ By the way, … (discourse marker) 顺便问一下…… — “By the way, did you find the hotel OK?”</a:t>
            </a:r>
          </a:p>
          <a:p>
            <a:r>
              <a:t>★ Speaking of food, … (discourse marker) 说到食物…… — “Speaking of food, would you like to try a local restaurant tonight?”</a:t>
            </a:r>
          </a:p>
          <a:p>
            <a:r>
              <a:t>★ Anyway, shall we get started? (discourse marker) 好了,我们开始吧? — “Anyway, shall we get started? Everyone is waiting.”</a:t>
            </a:r>
          </a:p>
          <a:p>
            <a:r>
              <a:t>It’s been nice chatting. (phrase) 聊得很愉快 — “It’s been nice chatting with you.”</a:t>
            </a:r>
          </a:p>
          <a:p>
            <a:r>
              <a:t>I’ll let you get on. (phrase) 我不耽误您了 — “I’ll let you get on. I know you have a lot to do.”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抢答：老师指一张卡，各组抢答英文表达，答对 +1。点击按顺序揭晓答案。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限时 2 分钟独立完成，然后逐题点击揭晓答案。全对的学员为小组 +1。</a:t>
            </a:r>
          </a:p>
          <a:p>
            <a:r>
              <a:t>brings / Anyway / finding / mean / time / Speaking</a:t>
            </a:r>
          </a:p>
          <a:p>
            <a:r>
              <a:t>1. Is this your first _______ in Shanghai? → time</a:t>
            </a:r>
          </a:p>
          <a:p>
            <a:r>
              <a:t>2. How are you _______ the city so far? → finding</a:t>
            </a:r>
          </a:p>
          <a:p>
            <a:r>
              <a:t>3. What _______ you to China? → brings</a:t>
            </a:r>
          </a:p>
          <a:p>
            <a:r>
              <a:t>4. I know what you _______. The traffic is terrible. → mean</a:t>
            </a:r>
          </a:p>
          <a:p>
            <a:r>
              <a:t>5. _______ of food, shall we try a local restaurant tonight? → Speaking</a:t>
            </a:r>
          </a:p>
          <a:p>
            <a:r>
              <a:t>6. _______, shall we get started? → Anyway</a:t>
            </a:r>
          </a:p>
          <a:p>
            <a:r>
              <a:t>Mistake Watch (拼写与句型): restaurant (not “restuarant”), weather (not “wether”), interesting (3 syllables: IN-tres-ting). In English “How are you finding Shanghai?” uses finding, not “feeling”.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the lift and in the corridor 电梯里和走廊上</a:t>
            </a:r>
          </a:p>
          <a:p>
            <a:r>
              <a:t>情景：You walk with Mr Park, a visitor from Seoul, to the meeting room. It is his first time in Shanghai.</a:t>
            </a:r>
          </a:p>
          <a:p>
            <a:r>
              <a:t>Role A: Yan Zhang, host Role B: Mr Park, visitor</a:t>
            </a:r>
          </a:p>
          <a:p>
            <a:r>
              <a:t>先师生示范一遍，再两人一组练习，最后请 1–2 组上台表演，表现最好的组 +2。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先全班分角色朗读（模仿语音语调），再两人一组练习。</a:t>
            </a:r>
          </a:p>
          <a:p>
            <a:r>
              <a:t>A (Yan): Mr Park, is this your first time in Shanghai?</a:t>
            </a:r>
          </a:p>
          <a:p>
            <a:r>
              <a:t>B (Park): Yes, it is. I arrived yesterday.</a:t>
            </a:r>
          </a:p>
          <a:p>
            <a:r>
              <a:t>A: How are you finding the city so far?</a:t>
            </a:r>
          </a:p>
          <a:p>
            <a:r>
              <a:t>B: It’s amazing. So much bigger than Seoul, and so many tall buildings.</a:t>
            </a:r>
          </a:p>
          <a:p>
            <a:r>
              <a:t>A: I know what you mean. I’ve lived here for years, and it still surprises me. Did you manage to get some rest?</a:t>
            </a:r>
          </a:p>
          <a:p>
            <a:r>
              <a:t>B: A little. I didn’t sleep well on the plane, but the hotel bed was very comfortable.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先全班分角色朗读（模仿语音语调），再两人一组练习。</a:t>
            </a:r>
          </a:p>
          <a:p>
            <a:r>
              <a:t>A: Good. What brings you to Shanghai this time? Is it only this meeting?</a:t>
            </a:r>
          </a:p>
          <a:p>
            <a:r>
              <a:t>B: Mostly the meeting, but I’m also visiting a trade fair on Friday.</a:t>
            </a:r>
          </a:p>
          <a:p>
            <a:r>
              <a:t>A: That sounds busy. By the way, have you tried any local food yet?</a:t>
            </a:r>
          </a:p>
          <a:p>
            <a:r>
              <a:t>B: I had a bowl of noodles last night. It was delicious.</a:t>
            </a:r>
          </a:p>
          <a:p>
            <a:r>
              <a:t>A: Great. Anyway, here we are. Shall we get started?</a:t>
            </a:r>
          </a:p>
          <a:p>
            <a:r>
              <a:t>B: Yes, of course.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学员两人一组，按角色卡即兴对话 3 分钟（不看范文）。完成后挑战进阶版任务，挑战成功 +2。</a:t>
            </a:r>
          </a:p>
          <a:p>
            <a:r>
              <a:t>Role card 15 | </a:t>
            </a:r>
          </a:p>
          <a:p>
            <a:r>
              <a:t>Situation | You walk with a visitor to the meeting room and make small talk.</a:t>
            </a:r>
          </a:p>
          <a:p>
            <a:r>
              <a:t>Your role (A) | Host. Your name and city: ______________</a:t>
            </a:r>
          </a:p>
          <a:p>
            <a:r>
              <a:t>Partner’s role (B) | Visitor from another country. Country and reason for the trip: ______________</a:t>
            </a:r>
          </a:p>
          <a:p>
            <a:r>
              <a:t>Must use (4 or more) | Is this your first time…? · How are you finding…? · I know what you mean. · By the way, … · Anyway, shall we get started?</a:t>
            </a:r>
          </a:p>
          <a:p>
            <a:r>
              <a:t>Goal | Ask 4 questions, give 4 comments, and end with a smooth change to business.</a:t>
            </a:r>
          </a:p>
          <a:p>
            <a:r>
              <a:t>My notes | ____________________________________________</a:t>
            </a:r>
          </a:p>
          <a:p>
            <a:r>
              <a:t>Your visitor gives very short answers. Ask open questions: “What did you think of the food?” instead of “Did you like the food?”</a:t>
            </a:r>
          </a:p>
          <a:p>
            <a:r>
              <a:t>Say something about yourself after each answer to keep the conversation balanced: “I’m from Chengdu, actually.”</a:t>
            </a:r>
          </a:p>
          <a:p>
            <a:r>
              <a:t>Add one question tag: “It’s been a long week, hasn’t it?”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Waiting for the host 等待主人时的闲聊</a:t>
            </a:r>
          </a:p>
          <a:p>
            <a:r>
              <a:t>情景：A visitor waits in the meeting room for ten minutes while his host finishes a call. A colleague keeps him company.</a:t>
            </a:r>
          </a:p>
          <a:p>
            <a:r>
              <a:t>Role A: Lily Sun, colleague Role B: Tom Hayes, visitor from Canada</a:t>
            </a:r>
          </a:p>
          <a:p>
            <a:r>
              <a:t>先师生示范一遍，再两人一组练习，最后请 1–2 组上台表演，表现最好的组 +2。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先全班分角色朗读（模仿语音语调），再两人一组练习。</a:t>
            </a:r>
          </a:p>
          <a:p>
            <a:r>
              <a:t>A (Lily): I’m sorry about the wait, Mr Hayes. Mr Lee will be here in about ten minutes. Can I get you anything?</a:t>
            </a:r>
          </a:p>
          <a:p>
            <a:r>
              <a:t>B (Tom): Just some water would be great. And please call me Tom.</a:t>
            </a:r>
          </a:p>
          <a:p>
            <a:r>
              <a:t>A: Of course, Tom. Please call me Lily. How was your flight?</a:t>
            </a:r>
          </a:p>
          <a:p>
            <a:r>
              <a:t>B: Long, but OK. I watched three films. And you? Do you travel much for work?</a:t>
            </a:r>
          </a:p>
          <a:p>
            <a:r>
              <a:t>A: Quite a lot, actually. Last month I went to Frankfurt and Milan.</a:t>
            </a:r>
          </a:p>
          <a:p>
            <a:r>
              <a:t>B: Wow, that sounds great. Which did you like better?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先全班分角色朗读（模仿语音语调），再两人一组练习。</a:t>
            </a:r>
          </a:p>
          <a:p>
            <a:r>
              <a:t>A: Milan, I think. The food was fantastic. Have you been to Italy?</a:t>
            </a:r>
          </a:p>
          <a:p>
            <a:r>
              <a:t>B: I went once, years ago. I loved it. Speaking of food, I’d love to try some Chinese food while I’m here.</a:t>
            </a:r>
          </a:p>
          <a:p>
            <a:r>
              <a:t>A: You must try hotpot. Are you OK with spicy food?</a:t>
            </a:r>
          </a:p>
          <a:p>
            <a:r>
              <a:t>B: Absolutely. The spicier, the better!</a:t>
            </a:r>
          </a:p>
          <a:p>
            <a:r>
              <a:t>A: Then I’ll make sure we find a good place. Oh, here comes Mr Lee. It’s been nice chatting, Tom.</a:t>
            </a:r>
          </a:p>
          <a:p>
            <a:r>
              <a:t>B: You too, Lily. Thanks for keeping me company.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学员两人一组，按角色卡即兴对话 3 分钟（不看范文）。完成后挑战进阶版任务，挑战成功 +2。</a:t>
            </a:r>
          </a:p>
          <a:p>
            <a:r>
              <a:t>Role card 16 | </a:t>
            </a:r>
          </a:p>
          <a:p>
            <a:r>
              <a:t>Situation | A visitor waits for the host and you keep them company.</a:t>
            </a:r>
          </a:p>
          <a:p>
            <a:r>
              <a:t>Your role (A) | Colleague. Your name and favourite food: ______________</a:t>
            </a:r>
          </a:p>
          <a:p>
            <a:r>
              <a:t>Partner’s role (B) | Visitor. Friendly, but a little tired.</a:t>
            </a:r>
          </a:p>
          <a:p>
            <a:r>
              <a:t>Must use (4 or more) | Do you travel much…? · That sounds great. · Me too. / So do I. · Speaking of… · It’s been nice chatting.</a:t>
            </a:r>
          </a:p>
          <a:p>
            <a:r>
              <a:t>Goal | Keep a conversation going for 2 minutes without silence.</a:t>
            </a:r>
          </a:p>
          <a:p>
            <a:r>
              <a:t>My notes | ____________________________________________</a:t>
            </a:r>
          </a:p>
          <a:p>
            <a:r>
              <a:t>Your visitor mentions a sensitive topic (politics). Change the topic politely: “Anyway, have you seen much of the city?”</a:t>
            </a:r>
          </a:p>
          <a:p>
            <a:r>
              <a:t>You run out of ideas. Use a fallback question: “What do you usually do on weekends?”</a:t>
            </a:r>
          </a:p>
          <a:p>
            <a:r>
              <a:t>End the chat politely: “I’ll let you get on. It was lovely to meet you.”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小组讨论：每组抽 1–2 题，准备 2 分钟后派代表发言，鼓励使用 Starters 里的句型。</a:t>
            </a:r>
          </a:p>
          <a:p>
            <a:r>
              <a:t>1. What are good small-talk topics with visitors? What should you avoid? | “Safe topics are… I try to avoid…” / “I wouldn’t ask about… because it’s too personal.”</a:t>
            </a:r>
          </a:p>
          <a:p>
            <a:r>
              <a:t>2. How do you keep a conversation going when the other person gives short answers? | “I ask open questions such as…” / “I share a little about myself.”</a:t>
            </a:r>
          </a:p>
          <a:p>
            <a:r>
              <a:t>3. Is small talk important in business? Why or why not? | “I think small talk is important because…” / “It builds trust by…”</a:t>
            </a:r>
          </a:p>
          <a:p>
            <a:r>
              <a:t>4. How do you end small talk politely? | “I usually say…” / “A smooth way to change topic is…”</a:t>
            </a:r>
          </a:p>
          <a:p>
            <a:r>
              <a:t>5. Is small talk different in your country and in English-speaking countries? | “In my country, people usually…” / “In English-speaking countries, it is common to…”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范例回答：先请学员自己回答，再展示范例，标出可以借用的句型。</a:t>
            </a:r>
          </a:p>
          <a:p>
            <a:r>
              <a:t>“Safe topics are travel, food, the weather, the city and sport. These topics are easy and rarely cause problems. I try to avoid asking about money, age, politics or religion, because they can feel too personal. If I’m not sure, I ask an open question, such as”What did you think of the city?” rather than “Do you like it?”, because the first question invites a longer answer.”</a:t>
            </a:r>
          </a:p>
          <a:p>
            <a:r>
              <a:t>“rather than” 是 B2 常用对比结构,后面接同类结构。“invite a longer answer”(引出更长的回答)是地道搭配。注意 “avoid asking”(avoid + -ing)。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vs closed questions 开放式与封闭式问题</a:t>
            </a:r>
          </a:p>
          <a:p>
            <a:r>
              <a:t>Closed (short answer) | Open (longer answer) ★</a:t>
            </a:r>
          </a:p>
          <a:p>
            <a:r>
              <a:t>Do you like Shanghai? | What do you like most about Shanghai?</a:t>
            </a:r>
          </a:p>
          <a:p>
            <a:r>
              <a:t>Was your flight OK? | How was your flight?</a:t>
            </a:r>
          </a:p>
          <a:p>
            <a:r>
              <a:t>Do you travel a lot? | How often do you travel for work?</a:t>
            </a:r>
          </a:p>
          <a:p>
            <a:r>
              <a:t>Did you enjoy the food? | What did you think of the food?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Showing interest: reactions 表达兴趣的反应</a:t>
            </a:r>
          </a:p>
          <a:p>
            <a:r>
              <a:t>Short reaction + follow-up: “Really? When was that?” “Oh, nice! What was it like?”</a:t>
            </a:r>
          </a:p>
          <a:p>
            <a:r>
              <a:t>Question tags invite agreement: “It’s been a long day, hasn’t it?” “It’s not too cold, is it?” Positive statement → negative tag; negative statement → positive tag.</a:t>
            </a:r>
          </a:p>
          <a:p>
            <a:r>
              <a:t>Me too / So do I / Neither do I: “I love hotpot.” — “So do I.” “I don’t eat meat.” — “Neither do I.”</a:t>
            </a:r>
          </a:p>
          <a:p>
            <a:r>
              <a:t>Balance: Ask about 50% of the time, share about 50% of the time. Don’t turn it into an interview.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Moving from small talk to business 转入正题</a:t>
            </a:r>
          </a:p>
          <a:p>
            <a:r>
              <a:t>Step | Say this</a:t>
            </a:r>
          </a:p>
          <a:p>
            <a:r>
              <a:t>Close the topic | That sounds great. / I’d love to hear more about that later.</a:t>
            </a:r>
          </a:p>
          <a:p>
            <a:r>
              <a:t>Signal | Anyway, … / Well, … / Right, …</a:t>
            </a:r>
          </a:p>
          <a:p>
            <a:r>
              <a:t>Move | Shall we get started? / Shall we get down to business? ★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找错游戏：各组抢答，指出错误并说出正确说法 +1。点击逐条揭晓正确答案。</a:t>
            </a:r>
          </a:p>
          <a:p>
            <a:r>
              <a:t>✗ How do you feel Shanghai?  →  ✓ How are you finding Shanghai?  (询问感受用 find,不用 feel)</a:t>
            </a:r>
          </a:p>
          <a:p>
            <a:r>
              <a:t>✗ You are married? How old are you? (to a visitor)  →  ✓ What brings you to Shanghai? / Is this your first visit?  (避免个人隐私问题)</a:t>
            </a:r>
          </a:p>
          <a:p>
            <a:r>
              <a:t>✗ I am agree with you.  →  ✓ I agree with you. / I know what you mean.  (agree 是动词,不加 am)</a:t>
            </a:r>
          </a:p>
          <a:p>
            <a:r>
              <a:t>✗ I also like it too.  →  ✓ I like it too. / So do I.  (also 和 too 不连用)</a:t>
            </a:r>
          </a:p>
          <a:p>
            <a:r>
              <a:t>Mistake Watch: I like it very much (not “I very like it”). Interested / bored describe people; interesting / boring describe things.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找错游戏：各组抢答，指出错误并说出正确说法 +1。点击逐条揭晓正确答案。</a:t>
            </a:r>
          </a:p>
          <a:p>
            <a:r>
              <a:t>✗ Yes, I very like Chinese food.  →  ✓ Yes, I really like Chinese food. / I like Chinese food very much.  (very 不修饰动词)</a:t>
            </a:r>
          </a:p>
          <a:p>
            <a:r>
              <a:t>✗ How was the weather in your country now?  →  ✓ How’s the weather in your country now?  (现在 → 现在时)</a:t>
            </a:r>
          </a:p>
          <a:p>
            <a:r>
              <a:t>✗ I’m boring in this city.  →  ✓ I’m bored in this city. / This city is boring.  (人是 bored,事物是 boring)</a:t>
            </a:r>
          </a:p>
          <a:p>
            <a:r>
              <a:t>✗ I’m busy now, I go first.  →  ✓ I’ll let you get on. / I should get back to work.  (结束聊天要委婉,不要直接说走)</a:t>
            </a:r>
          </a:p>
          <a:p>
            <a:r>
              <a:t>Mistake Watch: I like it very much (not “I very like it”). Interested / bored describe people; interesting / boring describe things.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Cultural tips 文化小贴士</a:t>
            </a:r>
          </a:p>
          <a:p>
            <a:r>
              <a:t>Small talk is part of business, not a waste of time. In the US, UK and Australia, a few minutes of friendly chat before a meeting builds trust.</a:t>
            </a:r>
          </a:p>
          <a:p>
            <a:r>
              <a:t>Weather is a real topic. In the UK, “Lovely day, isn’t it?” is a normal way to start. You are not talking about the weather; you are saying hello.</a:t>
            </a:r>
          </a:p>
          <a:p>
            <a:r>
              <a:t>Avoid: age, salary, marital status, weight, politics, religion. In China these questions (age, marriage, salary) can be a sign of friendly interest, but in English-speaking settings they can feel intrusive.</a:t>
            </a:r>
          </a:p>
          <a:p>
            <a:r>
              <a:t>Compliments are fine (about the city, the food, the office), but keep them specific and sincere: “I love the view from your office.”</a:t>
            </a:r>
          </a:p>
          <a:p>
            <a:r>
              <a:t>Don’t talk too long. About 3–5 minutes is enough before moving to business.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课堂小结：请学员对每一条自评 1–3 星，选一条“还没做到”的作为课后练习目标。</a:t>
            </a:r>
          </a:p>
          <a:p>
            <a:r>
              <a:t>I can start a conversation with Is this your first time…? How are you finding…?</a:t>
            </a:r>
          </a:p>
          <a:p>
            <a:r>
              <a:t>I can show interest with Really? That sounds great. I know what you mean.</a:t>
            </a:r>
          </a:p>
          <a:p>
            <a:r>
              <a:t>I can ask open questions instead of yes/no questions.</a:t>
            </a:r>
          </a:p>
          <a:p>
            <a:r>
              <a:t>I can change the topic and end small talk with By the way, … Anyway, shall we get started?</a:t>
            </a:r>
          </a:p>
          <a:p>
            <a:r>
              <a:t>I can use question tags, So do I, and interested / interesting correctly.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布置课后练习：每天 10 分钟，按下表完成，下节课开头抽查。</a:t>
            </a:r>
          </a:p>
          <a:p>
            <a:r>
              <a:t>Minutes | Activity</a:t>
            </a:r>
          </a:p>
          <a:p>
            <a:r>
              <a:t>0–2 | Read the 15 expressions aloud. Cover the English and say it from the Chinese. Make 2 true sentences with ★ items.</a:t>
            </a:r>
          </a:p>
          <a:p>
            <a:r>
              <a:t>2–5 | Shadow the model dialogue or model email (copy the rhythm and intonation).</a:t>
            </a:r>
          </a:p>
          <a:p>
            <a:r>
              <a:t>5–8 | Do the role play with the blank role card. Record yourself.</a:t>
            </a:r>
          </a:p>
          <a:p>
            <a:r>
              <a:t>8–10 | Listen to the recording. Check: open questions, question tags, bored / boring, very much (not “very like”), and spelling. Write 3 corrections.</a:t>
            </a:r>
          </a:p>
          <a:p>
            <a:r>
              <a:t>Weekly rhythm: Mon–Tue Scenario 1 · Wed–Thu Scenario 2 · Fri Level-up variation · Weekend: record the 1-minute speaking prompt again and compare with Monday.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单元复习游戏：各组轮流选数字，点击进入挑战页，完成挑战得分；盒子里有奖励、炸弹和偷分卡。</a:t>
            </a:r>
          </a:p>
          <a:p>
            <a:r>
              <a:t>挑战页右下角 ↩ Back 返回本页。挑战页为隐藏幻灯片，正常翻页不会出现。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单元终极挑战：每题限时 10 秒抢答，答对 +1。点一次出题，再点一次出答案。</a:t>
            </a:r>
          </a:p>
          <a:p>
            <a:r>
              <a:t>“您先请” in English? → After you.</a:t>
            </a:r>
          </a:p>
          <a:p>
            <a:r>
              <a:t>“访客无线网络” in English? → guest Wi-Fi</a:t>
            </a:r>
          </a:p>
          <a:p>
            <a:r>
              <a:t>“您想喝点什么吗?” in English? → Would you like something to drink?</a:t>
            </a:r>
          </a:p>
          <a:p>
            <a:r>
              <a:t>Fix it: Please be careful your head. → Please mind your head. / Watch your head.</a:t>
            </a:r>
          </a:p>
          <a:p>
            <a:r>
              <a:t>Fix it: The meeting room is at the third floor. → The meeting room is on the third floor.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统计各组得分，宣布冠军组，全班鼓掌！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结束：提醒学员完成每日 10 分钟练习，下节课开头抽查。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Relationship Id="rId3" Type="http://schemas.openxmlformats.org/officeDocument/2006/relationships/slide" Target="slide4.xml"/><Relationship Id="rId4" Type="http://schemas.openxmlformats.org/officeDocument/2006/relationships/slide" Target="slide32.xml"/><Relationship Id="rId5" Type="http://schemas.openxmlformats.org/officeDocument/2006/relationships/slide" Target="slide58.xml"/><Relationship Id="rId6" Type="http://schemas.openxmlformats.org/officeDocument/2006/relationships/slide" Target="slide85.xml"/><Relationship Id="rId7" Type="http://schemas.openxmlformats.org/officeDocument/2006/relationships/slide" Target="slide114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3.xml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3.xml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3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3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3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3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3.xml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3.xml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3.xml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3.xml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3.xml"/><Relationship Id="rId3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3.xml"/><Relationship Id="rId3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3.xml"/><Relationship Id="rId3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3.xml"/><Relationship Id="rId3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3.xml"/><Relationship Id="rId3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3.xml"/><Relationship Id="rId3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3.xml"/><Relationship Id="rId3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3.xml"/><Relationship Id="rId3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3.xml"/><Relationship Id="rId3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3.xml"/><Relationship Id="rId3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3.xml"/><Relationship Id="rId3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3.xml"/><Relationship Id="rId3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3.xml"/><Relationship Id="rId3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3.xml"/><Relationship Id="rId3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3.xml"/><Relationship Id="rId3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3.xml"/><Relationship Id="rId3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3.xml"/><Relationship Id="rId3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3.xml"/><Relationship Id="rId3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3.xml"/><Relationship Id="rId3" Type="http://schemas.openxmlformats.org/officeDocument/2006/relationships/notesSlide" Target="../notesSlides/notesSlide3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3.xml"/><Relationship Id="rId3" Type="http://schemas.openxmlformats.org/officeDocument/2006/relationships/notesSlide" Target="../notesSlides/notesSlide3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3.xml"/><Relationship Id="rId3" Type="http://schemas.openxmlformats.org/officeDocument/2006/relationships/notesSlide" Target="../notesSlides/notesSlide34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3.xml"/><Relationship Id="rId3" Type="http://schemas.openxmlformats.org/officeDocument/2006/relationships/notesSlide" Target="../notesSlides/notesSlide35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3.xml"/><Relationship Id="rId3" Type="http://schemas.openxmlformats.org/officeDocument/2006/relationships/notesSlide" Target="../notesSlides/notesSlide36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3.xml"/><Relationship Id="rId3" Type="http://schemas.openxmlformats.org/officeDocument/2006/relationships/notesSlide" Target="../notesSlides/notesSlide3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3.xml"/><Relationship Id="rId3" Type="http://schemas.openxmlformats.org/officeDocument/2006/relationships/notesSlide" Target="../notesSlides/notesSlide38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3.xml"/><Relationship Id="rId3" Type="http://schemas.openxmlformats.org/officeDocument/2006/relationships/notesSlide" Target="../notesSlides/notesSlide39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3.xml"/><Relationship Id="rId3" Type="http://schemas.openxmlformats.org/officeDocument/2006/relationships/notesSlide" Target="../notesSlides/notesSlide40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3.xml"/><Relationship Id="rId3" Type="http://schemas.openxmlformats.org/officeDocument/2006/relationships/notesSlide" Target="../notesSlides/notesSlide41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3.xml"/><Relationship Id="rId3" Type="http://schemas.openxmlformats.org/officeDocument/2006/relationships/notesSlide" Target="../notesSlides/notesSlide42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3.xml"/><Relationship Id="rId3" Type="http://schemas.openxmlformats.org/officeDocument/2006/relationships/notesSlide" Target="../notesSlides/notesSlide43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3.xml"/><Relationship Id="rId3" Type="http://schemas.openxmlformats.org/officeDocument/2006/relationships/notesSlide" Target="../notesSlides/notesSlide44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3.xml"/><Relationship Id="rId3" Type="http://schemas.openxmlformats.org/officeDocument/2006/relationships/notesSlide" Target="../notesSlides/notesSlide45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3.xml"/><Relationship Id="rId3" Type="http://schemas.openxmlformats.org/officeDocument/2006/relationships/notesSlide" Target="../notesSlides/notesSlide46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3.xml"/><Relationship Id="rId3" Type="http://schemas.openxmlformats.org/officeDocument/2006/relationships/notesSlide" Target="../notesSlides/notesSlide4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3.xml"/><Relationship Id="rId3" Type="http://schemas.openxmlformats.org/officeDocument/2006/relationships/notesSlide" Target="../notesSlides/notesSlide48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3.xml"/><Relationship Id="rId3" Type="http://schemas.openxmlformats.org/officeDocument/2006/relationships/notesSlide" Target="../notesSlides/notesSlide49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3.xml"/><Relationship Id="rId3" Type="http://schemas.openxmlformats.org/officeDocument/2006/relationships/notesSlide" Target="../notesSlides/notesSlide50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3.xml"/><Relationship Id="rId3" Type="http://schemas.openxmlformats.org/officeDocument/2006/relationships/notesSlide" Target="../notesSlides/notesSlide51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3.xml"/><Relationship Id="rId3" Type="http://schemas.openxmlformats.org/officeDocument/2006/relationships/notesSlide" Target="../notesSlides/notesSlide52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3.xml"/><Relationship Id="rId3" Type="http://schemas.openxmlformats.org/officeDocument/2006/relationships/notesSlide" Target="../notesSlides/notesSlide53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3.xml"/><Relationship Id="rId3" Type="http://schemas.openxmlformats.org/officeDocument/2006/relationships/notesSlide" Target="../notesSlides/notesSlide54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3.xml"/><Relationship Id="rId3" Type="http://schemas.openxmlformats.org/officeDocument/2006/relationships/notesSlide" Target="../notesSlides/notesSlide55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3.xml"/><Relationship Id="rId3" Type="http://schemas.openxmlformats.org/officeDocument/2006/relationships/notesSlide" Target="../notesSlides/notesSlide56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3.xml"/><Relationship Id="rId3" Type="http://schemas.openxmlformats.org/officeDocument/2006/relationships/notesSlide" Target="../notesSlides/notesSlide5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3.xml"/><Relationship Id="rId3" Type="http://schemas.openxmlformats.org/officeDocument/2006/relationships/notesSlide" Target="../notesSlides/notesSlide58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3.xml"/><Relationship Id="rId3" Type="http://schemas.openxmlformats.org/officeDocument/2006/relationships/notesSlide" Target="../notesSlides/notesSlide59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3.xml"/><Relationship Id="rId3" Type="http://schemas.openxmlformats.org/officeDocument/2006/relationships/notesSlide" Target="../notesSlides/notesSlide60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3.xml"/><Relationship Id="rId3" Type="http://schemas.openxmlformats.org/officeDocument/2006/relationships/notesSlide" Target="../notesSlides/notesSlide61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3.xml"/><Relationship Id="rId3" Type="http://schemas.openxmlformats.org/officeDocument/2006/relationships/notesSlide" Target="../notesSlides/notesSlide62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3.xml"/><Relationship Id="rId3" Type="http://schemas.openxmlformats.org/officeDocument/2006/relationships/notesSlide" Target="../notesSlides/notesSlide63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3.xml"/><Relationship Id="rId3" Type="http://schemas.openxmlformats.org/officeDocument/2006/relationships/notesSlide" Target="../notesSlides/notesSlide64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3.xml"/><Relationship Id="rId3" Type="http://schemas.openxmlformats.org/officeDocument/2006/relationships/notesSlide" Target="../notesSlides/notesSlide65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3.xml"/><Relationship Id="rId3" Type="http://schemas.openxmlformats.org/officeDocument/2006/relationships/notesSlide" Target="../notesSlides/notesSlide66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3.xml"/><Relationship Id="rId3" Type="http://schemas.openxmlformats.org/officeDocument/2006/relationships/notesSlide" Target="../notesSlides/notesSlide67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3.xml"/><Relationship Id="rId3" Type="http://schemas.openxmlformats.org/officeDocument/2006/relationships/notesSlide" Target="../notesSlides/notesSlide68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3.xml"/><Relationship Id="rId3" Type="http://schemas.openxmlformats.org/officeDocument/2006/relationships/notesSlide" Target="../notesSlides/notesSlide69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3.xml"/><Relationship Id="rId3" Type="http://schemas.openxmlformats.org/officeDocument/2006/relationships/notesSlide" Target="../notesSlides/notesSlide70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3.xml"/><Relationship Id="rId3" Type="http://schemas.openxmlformats.org/officeDocument/2006/relationships/notesSlide" Target="../notesSlides/notesSlide71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3.xml"/><Relationship Id="rId3" Type="http://schemas.openxmlformats.org/officeDocument/2006/relationships/notesSlide" Target="../notesSlides/notesSlide72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3.xml"/><Relationship Id="rId3" Type="http://schemas.openxmlformats.org/officeDocument/2006/relationships/notesSlide" Target="../notesSlides/notesSlide73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3.xml"/><Relationship Id="rId3" Type="http://schemas.openxmlformats.org/officeDocument/2006/relationships/notesSlide" Target="../notesSlides/notesSlide74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3.xml"/><Relationship Id="rId3" Type="http://schemas.openxmlformats.org/officeDocument/2006/relationships/notesSlide" Target="../notesSlides/notesSlide75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3.xml"/><Relationship Id="rId3" Type="http://schemas.openxmlformats.org/officeDocument/2006/relationships/notesSlide" Target="../notesSlides/notesSlide76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3.xml"/><Relationship Id="rId3" Type="http://schemas.openxmlformats.org/officeDocument/2006/relationships/notesSlide" Target="../notesSlides/notesSlide77.xml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3.xml"/><Relationship Id="rId3" Type="http://schemas.openxmlformats.org/officeDocument/2006/relationships/notesSlide" Target="../notesSlides/notesSlide78.xml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3.xml"/><Relationship Id="rId3" Type="http://schemas.openxmlformats.org/officeDocument/2006/relationships/notesSlide" Target="../notesSlides/notesSlide79.xml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3.xml"/><Relationship Id="rId3" Type="http://schemas.openxmlformats.org/officeDocument/2006/relationships/notesSlide" Target="../notesSlides/notesSlide80.xml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3.xml"/><Relationship Id="rId3" Type="http://schemas.openxmlformats.org/officeDocument/2006/relationships/notesSlide" Target="../notesSlides/notesSlide81.xml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3.xml"/><Relationship Id="rId3" Type="http://schemas.openxmlformats.org/officeDocument/2006/relationships/notesSlide" Target="../notesSlides/notesSlide82.xml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3.xml"/><Relationship Id="rId3" Type="http://schemas.openxmlformats.org/officeDocument/2006/relationships/notesSlide" Target="../notesSlides/notesSlide83.xml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3.xml"/><Relationship Id="rId3" Type="http://schemas.openxmlformats.org/officeDocument/2006/relationships/notesSlide" Target="../notesSlides/notesSlide84.xml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3.xml"/><Relationship Id="rId3" Type="http://schemas.openxmlformats.org/officeDocument/2006/relationships/notesSlide" Target="../notesSlides/notesSlide85.xml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3.xml"/><Relationship Id="rId3" Type="http://schemas.openxmlformats.org/officeDocument/2006/relationships/notesSlide" Target="../notesSlides/notesSlide86.xml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3.xml"/><Relationship Id="rId3" Type="http://schemas.openxmlformats.org/officeDocument/2006/relationships/notesSlide" Target="../notesSlides/notesSlide87.xml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3.xml"/><Relationship Id="rId3" Type="http://schemas.openxmlformats.org/officeDocument/2006/relationships/notesSlide" Target="../notesSlides/notesSlide88.xml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3.xml"/><Relationship Id="rId3" Type="http://schemas.openxmlformats.org/officeDocument/2006/relationships/notesSlide" Target="../notesSlides/notesSlide89.xml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3.xml"/><Relationship Id="rId3" Type="http://schemas.openxmlformats.org/officeDocument/2006/relationships/notesSlide" Target="../notesSlides/notesSlide90.xml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3.xml"/><Relationship Id="rId3" Type="http://schemas.openxmlformats.org/officeDocument/2006/relationships/notesSlide" Target="../notesSlides/notesSlide91.xml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3.xml"/><Relationship Id="rId3" Type="http://schemas.openxmlformats.org/officeDocument/2006/relationships/notesSlide" Target="../notesSlides/notesSlide92.xml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3.xml"/><Relationship Id="rId3" Type="http://schemas.openxmlformats.org/officeDocument/2006/relationships/notesSlide" Target="../notesSlides/notesSlide93.xml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3.xml"/><Relationship Id="rId3" Type="http://schemas.openxmlformats.org/officeDocument/2006/relationships/notesSlide" Target="../notesSlides/notesSlide94.xml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3.xml"/><Relationship Id="rId3" Type="http://schemas.openxmlformats.org/officeDocument/2006/relationships/notesSlide" Target="../notesSlides/notesSlide95.xml"/></Relationships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3.xml"/><Relationship Id="rId3" Type="http://schemas.openxmlformats.org/officeDocument/2006/relationships/notesSlide" Target="../notesSlides/notesSlide96.xml"/></Relationships>
</file>

<file path=ppt/slides/_rels/slide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3.xml"/><Relationship Id="rId3" Type="http://schemas.openxmlformats.org/officeDocument/2006/relationships/notesSlide" Target="../notesSlides/notesSlide97.xml"/></Relationships>
</file>

<file path=ppt/slides/_rels/slide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3.xml"/><Relationship Id="rId3" Type="http://schemas.openxmlformats.org/officeDocument/2006/relationships/notesSlide" Target="../notesSlides/notesSlide98.xml"/></Relationships>
</file>

<file path=ppt/slides/_rels/slide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3.xml"/><Relationship Id="rId3" Type="http://schemas.openxmlformats.org/officeDocument/2006/relationships/notesSlide" Target="../notesSlides/notesSlide99.xml"/></Relationships>
</file>

<file path=ppt/slides/_rels/slide1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3.xml"/><Relationship Id="rId3" Type="http://schemas.openxmlformats.org/officeDocument/2006/relationships/notesSlide" Target="../notesSlides/notesSlide100.xml"/></Relationships>
</file>

<file path=ppt/slides/_rels/slide1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3.xml"/><Relationship Id="rId3" Type="http://schemas.openxmlformats.org/officeDocument/2006/relationships/notesSlide" Target="../notesSlides/notesSlide101.xml"/></Relationships>
</file>

<file path=ppt/slides/_rels/slide1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3.xml"/><Relationship Id="rId3" Type="http://schemas.openxmlformats.org/officeDocument/2006/relationships/notesSlide" Target="../notesSlides/notesSlide102.xml"/></Relationships>
</file>

<file path=ppt/slides/_rels/slide1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3.xml"/><Relationship Id="rId3" Type="http://schemas.openxmlformats.org/officeDocument/2006/relationships/notesSlide" Target="../notesSlides/notesSlide103.xml"/></Relationships>
</file>

<file path=ppt/slides/_rels/slide1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3.xml"/><Relationship Id="rId3" Type="http://schemas.openxmlformats.org/officeDocument/2006/relationships/notesSlide" Target="../notesSlides/notesSlide104.xml"/></Relationships>
</file>

<file path=ppt/slides/_rels/slide1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3.xml"/><Relationship Id="rId3" Type="http://schemas.openxmlformats.org/officeDocument/2006/relationships/notesSlide" Target="../notesSlides/notesSlide105.xml"/></Relationships>
</file>

<file path=ppt/slides/_rels/slide1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3.xml"/><Relationship Id="rId3" Type="http://schemas.openxmlformats.org/officeDocument/2006/relationships/notesSlide" Target="../notesSlides/notesSlide106.xml"/></Relationships>
</file>

<file path=ppt/slides/_rels/slide1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3.xml"/><Relationship Id="rId3" Type="http://schemas.openxmlformats.org/officeDocument/2006/relationships/notesSlide" Target="../notesSlides/notesSlide107.xml"/></Relationships>
</file>

<file path=ppt/slides/_rels/slide1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3.xml"/><Relationship Id="rId3" Type="http://schemas.openxmlformats.org/officeDocument/2006/relationships/notesSlide" Target="../notesSlides/notesSlide108.xml"/></Relationships>
</file>

<file path=ppt/slides/_rels/slide1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3.xml"/><Relationship Id="rId3" Type="http://schemas.openxmlformats.org/officeDocument/2006/relationships/notesSlide" Target="../notesSlides/notesSlide109.xml"/></Relationships>
</file>

<file path=ppt/slides/_rels/slide1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3.xml"/><Relationship Id="rId3" Type="http://schemas.openxmlformats.org/officeDocument/2006/relationships/notesSlide" Target="../notesSlides/notesSlide110.xml"/></Relationships>
</file>

<file path=ppt/slides/_rels/slide1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3.xml"/><Relationship Id="rId3" Type="http://schemas.openxmlformats.org/officeDocument/2006/relationships/notesSlide" Target="../notesSlides/notesSlide111.xml"/></Relationships>
</file>

<file path=ppt/slides/_rels/slide1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3.xml"/><Relationship Id="rId3" Type="http://schemas.openxmlformats.org/officeDocument/2006/relationships/notesSlide" Target="../notesSlides/notesSlide112.xml"/></Relationships>
</file>

<file path=ppt/slides/_rels/slide1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3.xml"/><Relationship Id="rId3" Type="http://schemas.openxmlformats.org/officeDocument/2006/relationships/notesSlide" Target="../notesSlides/notesSlide113.xml"/></Relationships>
</file>

<file path=ppt/slides/_rels/slide1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3.xml"/><Relationship Id="rId3" Type="http://schemas.openxmlformats.org/officeDocument/2006/relationships/notesSlide" Target="../notesSlides/notesSlide114.xml"/></Relationships>
</file>

<file path=ppt/slides/_rels/slide1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3.xml"/><Relationship Id="rId3" Type="http://schemas.openxmlformats.org/officeDocument/2006/relationships/notesSlide" Target="../notesSlides/notesSlide115.xml"/></Relationships>
</file>

<file path=ppt/slides/_rels/slide1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3.xml"/><Relationship Id="rId3" Type="http://schemas.openxmlformats.org/officeDocument/2006/relationships/notesSlide" Target="../notesSlides/notesSlide116.xml"/></Relationships>
</file>

<file path=ppt/slides/_rels/slide1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3.xml"/><Relationship Id="rId3" Type="http://schemas.openxmlformats.org/officeDocument/2006/relationships/notesSlide" Target="../notesSlides/notesSlide117.xml"/></Relationships>
</file>

<file path=ppt/slides/_rels/slide1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3.xml"/><Relationship Id="rId3" Type="http://schemas.openxmlformats.org/officeDocument/2006/relationships/notesSlide" Target="../notesSlides/notesSlide118.xml"/></Relationships>
</file>

<file path=ppt/slides/_rels/slide1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3.xml"/><Relationship Id="rId3" Type="http://schemas.openxmlformats.org/officeDocument/2006/relationships/notesSlide" Target="../notesSlides/notesSlide119.xml"/></Relationships>
</file>

<file path=ppt/slides/_rels/slide1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3.xml"/><Relationship Id="rId3" Type="http://schemas.openxmlformats.org/officeDocument/2006/relationships/notesSlide" Target="../notesSlides/notesSlide120.xml"/></Relationships>
</file>

<file path=ppt/slides/_rels/slide1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3.xml"/><Relationship Id="rId3" Type="http://schemas.openxmlformats.org/officeDocument/2006/relationships/notesSlide" Target="../notesSlides/notesSlide121.xml"/></Relationships>
</file>

<file path=ppt/slides/_rels/slide1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3.xml"/><Relationship Id="rId3" Type="http://schemas.openxmlformats.org/officeDocument/2006/relationships/notesSlide" Target="../notesSlides/notesSlide122.xml"/></Relationships>
</file>

<file path=ppt/slides/_rels/slide1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3.xml"/><Relationship Id="rId3" Type="http://schemas.openxmlformats.org/officeDocument/2006/relationships/notesSlide" Target="../notesSlides/notesSlide123.xml"/></Relationships>
</file>

<file path=ppt/slides/_rels/slide1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3.xml"/><Relationship Id="rId3" Type="http://schemas.openxmlformats.org/officeDocument/2006/relationships/notesSlide" Target="../notesSlides/notesSlide124.xml"/></Relationships>
</file>

<file path=ppt/slides/_rels/slide1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3.xml"/><Relationship Id="rId3" Type="http://schemas.openxmlformats.org/officeDocument/2006/relationships/notesSlide" Target="../notesSlides/notesSlide125.xml"/></Relationships>
</file>

<file path=ppt/slides/_rels/slide1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3.xml"/><Relationship Id="rId3" Type="http://schemas.openxmlformats.org/officeDocument/2006/relationships/notesSlide" Target="../notesSlides/notesSlide126.xml"/></Relationships>
</file>

<file path=ppt/slides/_rels/slide1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3.xml"/><Relationship Id="rId3" Type="http://schemas.openxmlformats.org/officeDocument/2006/relationships/notesSlide" Target="../notesSlides/notesSlide127.xml"/></Relationships>
</file>

<file path=ppt/slides/_rels/slide1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3.xml"/><Relationship Id="rId3" Type="http://schemas.openxmlformats.org/officeDocument/2006/relationships/notesSlide" Target="../notesSlides/notesSlide128.xml"/></Relationships>
</file>

<file path=ppt/slides/_rels/slide1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3.xml"/><Relationship Id="rId3" Type="http://schemas.openxmlformats.org/officeDocument/2006/relationships/notesSlide" Target="../notesSlides/notesSlide129.xml"/></Relationships>
</file>

<file path=ppt/slides/_rels/slide1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3.xml"/><Relationship Id="rId3" Type="http://schemas.openxmlformats.org/officeDocument/2006/relationships/notesSlide" Target="../notesSlides/notesSlide130.xml"/></Relationships>
</file>

<file path=ppt/slides/_rels/slide1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3.xml"/><Relationship Id="rId3" Type="http://schemas.openxmlformats.org/officeDocument/2006/relationships/notesSlide" Target="../notesSlides/notesSlide131.xml"/></Relationships>
</file>

<file path=ppt/slides/_rels/slide1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3.xml"/><Relationship Id="rId3" Type="http://schemas.openxmlformats.org/officeDocument/2006/relationships/notesSlide" Target="../notesSlides/notesSlide132.xml"/></Relationships>
</file>

<file path=ppt/slides/_rels/slide1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3.xml"/><Relationship Id="rId3" Type="http://schemas.openxmlformats.org/officeDocument/2006/relationships/notesSlide" Target="../notesSlides/notesSlide133.xml"/></Relationships>
</file>

<file path=ppt/slides/_rels/slide1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3.xml"/><Relationship Id="rId3" Type="http://schemas.openxmlformats.org/officeDocument/2006/relationships/notesSlide" Target="../notesSlides/notesSlide134.xml"/></Relationships>
</file>

<file path=ppt/slides/_rels/slide1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3.xml"/><Relationship Id="rId3" Type="http://schemas.openxmlformats.org/officeDocument/2006/relationships/notesSlide" Target="../notesSlides/notesSlide135.xml"/></Relationships>
</file>

<file path=ppt/slides/_rels/slide1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3.xml"/><Relationship Id="rId3" Type="http://schemas.openxmlformats.org/officeDocument/2006/relationships/notesSlide" Target="../notesSlides/notesSlide136.xml"/></Relationships>
</file>

<file path=ppt/slides/_rels/slide1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3.xml"/><Relationship Id="rId3" Type="http://schemas.openxmlformats.org/officeDocument/2006/relationships/notesSlide" Target="../notesSlides/notesSlide137.xml"/></Relationships>
</file>

<file path=ppt/slides/_rels/slide1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3.xml"/><Relationship Id="rId3" Type="http://schemas.openxmlformats.org/officeDocument/2006/relationships/notesSlide" Target="../notesSlides/notesSlide138.xml"/></Relationships>
</file>

<file path=ppt/slides/_rels/slide1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3.xml"/><Relationship Id="rId3" Type="http://schemas.openxmlformats.org/officeDocument/2006/relationships/notesSlide" Target="../notesSlides/notesSlide139.xml"/></Relationships>
</file>

<file path=ppt/slides/_rels/slide1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3.xml"/><Relationship Id="rId3" Type="http://schemas.openxmlformats.org/officeDocument/2006/relationships/notesSlide" Target="../notesSlides/notesSlide140.xml"/></Relationships>
</file>

<file path=ppt/slides/_rels/slide1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3.xml"/><Relationship Id="rId3" Type="http://schemas.openxmlformats.org/officeDocument/2006/relationships/notesSlide" Target="../notesSlides/notesSlide141.xml"/><Relationship Id="rId4" Type="http://schemas.openxmlformats.org/officeDocument/2006/relationships/slide" Target="slide142.xml"/><Relationship Id="rId5" Type="http://schemas.openxmlformats.org/officeDocument/2006/relationships/slide" Target="slide143.xml"/><Relationship Id="rId6" Type="http://schemas.openxmlformats.org/officeDocument/2006/relationships/slide" Target="slide144.xml"/><Relationship Id="rId7" Type="http://schemas.openxmlformats.org/officeDocument/2006/relationships/slide" Target="slide145.xml"/><Relationship Id="rId8" Type="http://schemas.openxmlformats.org/officeDocument/2006/relationships/slide" Target="slide146.xml"/><Relationship Id="rId9" Type="http://schemas.openxmlformats.org/officeDocument/2006/relationships/slide" Target="slide147.xml"/><Relationship Id="rId10" Type="http://schemas.openxmlformats.org/officeDocument/2006/relationships/slide" Target="slide148.xml"/><Relationship Id="rId11" Type="http://schemas.openxmlformats.org/officeDocument/2006/relationships/slide" Target="slide149.xml"/><Relationship Id="rId12" Type="http://schemas.openxmlformats.org/officeDocument/2006/relationships/slide" Target="slide150.xml"/></Relationships>
</file>

<file path=ppt/slides/_rels/slide1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141.xml"/></Relationships>
</file>

<file path=ppt/slides/_rels/slide1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141.xml"/></Relationships>
</file>

<file path=ppt/slides/_rels/slide1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141.xml"/></Relationships>
</file>

<file path=ppt/slides/_rels/slide1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141.xml"/></Relationships>
</file>

<file path=ppt/slides/_rels/slide1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141.xml"/></Relationships>
</file>

<file path=ppt/slides/_rels/slide1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141.xml"/></Relationships>
</file>

<file path=ppt/slides/_rels/slide1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141.xml"/></Relationships>
</file>

<file path=ppt/slides/_rels/slide1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141.xml"/></Relationships>
</file>

<file path=ppt/slides/_rels/slide1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141.xml"/></Relationships>
</file>

<file path=ppt/slides/_rels/slide1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3.xml"/><Relationship Id="rId3" Type="http://schemas.openxmlformats.org/officeDocument/2006/relationships/notesSlide" Target="../notesSlides/notesSlide142.xml"/></Relationships>
</file>

<file path=ppt/slides/_rels/slide1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3.xml"/><Relationship Id="rId3" Type="http://schemas.openxmlformats.org/officeDocument/2006/relationships/notesSlide" Target="../notesSlides/notesSlide143.xml"/></Relationships>
</file>

<file path=ppt/slides/_rels/slide1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3.xml"/><Relationship Id="rId3" Type="http://schemas.openxmlformats.org/officeDocument/2006/relationships/notesSlide" Target="../notesSlides/notesSlide14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6419088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100" b="0">
                <a:solidFill>
                  <a:srgbClr val="FFC857"/>
                </a:solidFill>
                <a:latin typeface="Arial"/>
                <a:ea typeface="Microsoft YaHei"/>
              </a:rPr>
              <a:t>Business English · Level 4 · Unit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728655" y="6419088"/>
            <a:ext cx="914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  <a:spcAft>
                <a:spcPts val="800"/>
              </a:spcAft>
            </a:pPr>
            <a:r>
              <a:rPr sz="1100" b="0">
                <a:solidFill>
                  <a:srgbClr val="FFC857"/>
                </a:solidFill>
                <a:latin typeface="Arial"/>
                <a:ea typeface="Microsoft YaHei"/>
              </a:rPr>
              <a:t>1</a:t>
            </a:r>
          </a:p>
        </p:txBody>
      </p:sp>
      <p:sp>
        <p:nvSpPr>
          <p:cNvPr id="4" name="Oval 3"/>
          <p:cNvSpPr/>
          <p:nvPr/>
        </p:nvSpPr>
        <p:spPr>
          <a:xfrm>
            <a:off x="9692640" y="457200"/>
            <a:ext cx="2011680" cy="2011680"/>
          </a:xfrm>
          <a:prstGeom prst="ellipse">
            <a:avLst/>
          </a:prstGeom>
          <a:solidFill>
            <a:srgbClr val="FF6B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698480" y="2286000"/>
            <a:ext cx="1097280" cy="1097280"/>
          </a:xfrm>
          <a:prstGeom prst="ellipse">
            <a:avLst/>
          </a:prstGeom>
          <a:solidFill>
            <a:srgbClr val="FFC8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052560" y="4480560"/>
            <a:ext cx="1463040" cy="1463040"/>
          </a:xfrm>
          <a:prstGeom prst="ellipse">
            <a:avLst/>
          </a:prstGeom>
          <a:solidFill>
            <a:srgbClr val="3CC4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92640" y="457200"/>
            <a:ext cx="2011680" cy="2011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800"/>
              </a:spcAft>
            </a:pPr>
            <a:r>
              <a:rPr sz="8000" b="0">
                <a:solidFill>
                  <a:srgbClr val="1F2A44"/>
                </a:solidFill>
                <a:latin typeface="Arial"/>
                <a:ea typeface="Microsoft YaHei"/>
              </a:rPr>
              <a:t>💼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188720"/>
            <a:ext cx="8229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2000" b="1">
                <a:solidFill>
                  <a:srgbClr val="FFC857"/>
                </a:solidFill>
                <a:latin typeface="Arial"/>
                <a:ea typeface="Microsoft YaHei"/>
              </a:rPr>
              <a:t>BUSINESS ENGLISH · LEVEL 4 · UNIT 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1691640"/>
            <a:ext cx="8046720" cy="1737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6000" b="1">
                <a:solidFill>
                  <a:srgbClr val="FFFFFF"/>
                </a:solidFill>
                <a:latin typeface="Arial"/>
                <a:ea typeface="Microsoft YaHei"/>
              </a:rPr>
              <a:t>Business Visitors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3657600"/>
            <a:ext cx="1645920" cy="502920"/>
          </a:xfrm>
          <a:prstGeom prst="roundRect">
            <a:avLst>
              <a:gd name="adj" fmla="val 50000"/>
            </a:avLst>
          </a:prstGeom>
          <a:solidFill>
            <a:srgbClr val="FF6B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Arial"/>
                <a:ea typeface="Microsoft YaHei"/>
              </a:rPr>
              <a:t>CEFR B1→B2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606040" y="3657600"/>
            <a:ext cx="1527048" cy="502920"/>
          </a:xfrm>
          <a:prstGeom prst="roundRect">
            <a:avLst>
              <a:gd name="adj" fmla="val 50000"/>
            </a:avLst>
          </a:prstGeom>
          <a:solidFill>
            <a:srgbClr val="4A90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Arial"/>
                <a:ea typeface="Microsoft YaHei"/>
              </a:rPr>
              <a:t>5 Lessons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70248" y="3657600"/>
            <a:ext cx="1408176" cy="502920"/>
          </a:xfrm>
          <a:prstGeom prst="roundRect">
            <a:avLst>
              <a:gd name="adj" fmla="val 50000"/>
            </a:avLst>
          </a:prstGeom>
          <a:solidFill>
            <a:srgbClr val="3CC4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Arial"/>
                <a:ea typeface="Microsoft YaHei"/>
              </a:rPr>
              <a:t>同桌英语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4434840"/>
            <a:ext cx="822960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600" b="0">
                <a:solidFill>
                  <a:srgbClr val="FFFFFF"/>
                </a:solidFill>
                <a:latin typeface="Arial"/>
                <a:ea typeface="Microsoft YaHei"/>
              </a:rPr>
              <a:t>L06 At reception · L07 Company visitors · L08 Visitors to the company · L09 Making visitors feel welcome · L10 Small talk with visitors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FC8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8442656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3200" b="1">
                <a:solidFill>
                  <a:srgbClr val="1F2A44"/>
                </a:solidFill>
                <a:latin typeface="Arial"/>
                <a:ea typeface="Microsoft YaHei"/>
              </a:rPr>
              <a:t>Team Challenge 小组积分赛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74175" y="438912"/>
            <a:ext cx="2560320" cy="475488"/>
          </a:xfrm>
          <a:prstGeom prst="roundRect">
            <a:avLst>
              <a:gd name="adj" fmla="val 50000"/>
            </a:avLst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3152" rIns="73152"/>
          <a:lstStyle/>
          <a:p>
            <a:pPr algn="ctr">
              <a:spcAft>
                <a:spcPts val="200"/>
              </a:spcAft>
            </a:pPr>
            <a:r>
              <a:rPr sz="1300" b="1">
                <a:solidFill>
                  <a:srgbClr val="FFFFFF"/>
                </a:solidFill>
                <a:latin typeface="Arial"/>
                <a:ea typeface="Microsoft YaHei"/>
              </a:rPr>
              <a:t>🏆 Game rules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19088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100" b="0">
                <a:solidFill>
                  <a:srgbClr val="5F677A"/>
                </a:solidFill>
                <a:latin typeface="Arial"/>
                <a:ea typeface="Microsoft YaHei"/>
              </a:rPr>
              <a:t>Business English · Level 4 · Unit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28655" y="6419088"/>
            <a:ext cx="914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  <a:spcAft>
                <a:spcPts val="800"/>
              </a:spcAft>
            </a:pPr>
            <a:r>
              <a:rPr sz="1100" b="0">
                <a:solidFill>
                  <a:srgbClr val="5F677A"/>
                </a:solidFill>
                <a:latin typeface="Arial"/>
                <a:ea typeface="Microsoft YaHei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024128"/>
            <a:ext cx="11094415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500" b="0">
                <a:solidFill>
                  <a:srgbClr val="5F677A"/>
                </a:solidFill>
                <a:latin typeface="Arial"/>
                <a:ea typeface="Microsoft YaHei"/>
              </a:rPr>
              <a:t>Speak up, answer fast, role-play well — every point counts.  积极发言、快速答题、精彩演绎都能得分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691640"/>
            <a:ext cx="2606040" cy="28346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31750">
            <a:solidFill>
              <a:srgbClr val="FF6B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48640" y="1691640"/>
            <a:ext cx="2606040" cy="777240"/>
          </a:xfrm>
          <a:prstGeom prst="roundRect">
            <a:avLst>
              <a:gd name="adj" fmla="val 15000"/>
            </a:avLst>
          </a:prstGeom>
          <a:solidFill>
            <a:srgbClr val="FF6B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Aft>
                <a:spcPts val="200"/>
              </a:spcAft>
            </a:pPr>
            <a:r>
              <a:rPr sz="2200" b="1">
                <a:solidFill>
                  <a:srgbClr val="FFFFFF"/>
                </a:solidFill>
                <a:latin typeface="Arial"/>
                <a:ea typeface="Microsoft YaHei"/>
              </a:rPr>
              <a:t>🦅 Team Alpha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697480"/>
            <a:ext cx="26060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800"/>
              </a:spcAft>
            </a:pPr>
            <a:r>
              <a:rPr sz="2800" b="0">
                <a:solidFill>
                  <a:srgbClr val="FFC857"/>
                </a:solidFill>
                <a:latin typeface="Arial"/>
                <a:ea typeface="Microsoft YaHei"/>
              </a:rPr>
              <a:t>☆ ☆ ☆ ☆ ☆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3611880"/>
            <a:ext cx="26060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800"/>
              </a:spcAft>
            </a:pPr>
            <a:r>
              <a:rPr sz="2000" b="0">
                <a:solidFill>
                  <a:srgbClr val="5F677A"/>
                </a:solidFill>
                <a:latin typeface="Arial"/>
                <a:ea typeface="Microsoft YaHei"/>
              </a:rPr>
              <a:t>Score: ____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383280" y="1691640"/>
            <a:ext cx="2606040" cy="28346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31750">
            <a:solidFill>
              <a:srgbClr val="4A90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3383280" y="1691640"/>
            <a:ext cx="2606040" cy="777240"/>
          </a:xfrm>
          <a:prstGeom prst="roundRect">
            <a:avLst>
              <a:gd name="adj" fmla="val 15000"/>
            </a:avLst>
          </a:prstGeom>
          <a:solidFill>
            <a:srgbClr val="4A90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Aft>
                <a:spcPts val="200"/>
              </a:spcAft>
            </a:pPr>
            <a:r>
              <a:rPr sz="2200" b="1">
                <a:solidFill>
                  <a:srgbClr val="FFFFFF"/>
                </a:solidFill>
                <a:latin typeface="Arial"/>
                <a:ea typeface="Microsoft YaHei"/>
              </a:rPr>
              <a:t>🐺 Team Bravo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83280" y="2697480"/>
            <a:ext cx="26060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800"/>
              </a:spcAft>
            </a:pPr>
            <a:r>
              <a:rPr sz="2800" b="0">
                <a:solidFill>
                  <a:srgbClr val="FFC857"/>
                </a:solidFill>
                <a:latin typeface="Arial"/>
                <a:ea typeface="Microsoft YaHei"/>
              </a:rPr>
              <a:t>☆ ☆ ☆ ☆ ☆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83280" y="3611880"/>
            <a:ext cx="26060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800"/>
              </a:spcAft>
            </a:pPr>
            <a:r>
              <a:rPr sz="2000" b="0">
                <a:solidFill>
                  <a:srgbClr val="5F677A"/>
                </a:solidFill>
                <a:latin typeface="Arial"/>
                <a:ea typeface="Microsoft YaHei"/>
              </a:rPr>
              <a:t>Score: ____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0" y="1691640"/>
            <a:ext cx="2606040" cy="28346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31750">
            <a:solidFill>
              <a:srgbClr val="3CC4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217920" y="1691640"/>
            <a:ext cx="2606040" cy="777240"/>
          </a:xfrm>
          <a:prstGeom prst="roundRect">
            <a:avLst>
              <a:gd name="adj" fmla="val 15000"/>
            </a:avLst>
          </a:prstGeom>
          <a:solidFill>
            <a:srgbClr val="3CC4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Aft>
                <a:spcPts val="200"/>
              </a:spcAft>
            </a:pPr>
            <a:r>
              <a:rPr sz="2200" b="1">
                <a:solidFill>
                  <a:srgbClr val="FFFFFF"/>
                </a:solidFill>
                <a:latin typeface="Arial"/>
                <a:ea typeface="Microsoft YaHei"/>
              </a:rPr>
              <a:t>🦁 Team Charlie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17920" y="2697480"/>
            <a:ext cx="26060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800"/>
              </a:spcAft>
            </a:pPr>
            <a:r>
              <a:rPr sz="2800" b="0">
                <a:solidFill>
                  <a:srgbClr val="FFC857"/>
                </a:solidFill>
                <a:latin typeface="Arial"/>
                <a:ea typeface="Microsoft YaHei"/>
              </a:rPr>
              <a:t>☆ ☆ ☆ ☆ ☆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17920" y="3611880"/>
            <a:ext cx="26060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800"/>
              </a:spcAft>
            </a:pPr>
            <a:r>
              <a:rPr sz="2000" b="0">
                <a:solidFill>
                  <a:srgbClr val="5F677A"/>
                </a:solidFill>
                <a:latin typeface="Arial"/>
                <a:ea typeface="Microsoft YaHei"/>
              </a:rPr>
              <a:t>Score: ____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052560" y="1691640"/>
            <a:ext cx="2606040" cy="28346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31750">
            <a:solidFill>
              <a:srgbClr val="FFC8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9052560" y="1691640"/>
            <a:ext cx="2606040" cy="777240"/>
          </a:xfrm>
          <a:prstGeom prst="roundRect">
            <a:avLst>
              <a:gd name="adj" fmla="val 15000"/>
            </a:avLst>
          </a:prstGeom>
          <a:solidFill>
            <a:srgbClr val="FFC8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Aft>
                <a:spcPts val="200"/>
              </a:spcAft>
            </a:pPr>
            <a:r>
              <a:rPr sz="2200" b="1">
                <a:solidFill>
                  <a:srgbClr val="FFFFFF"/>
                </a:solidFill>
                <a:latin typeface="Arial"/>
                <a:ea typeface="Microsoft YaHei"/>
              </a:rPr>
              <a:t>🐬 Team Delta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52560" y="2697480"/>
            <a:ext cx="26060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800"/>
              </a:spcAft>
            </a:pPr>
            <a:r>
              <a:rPr sz="2800" b="0">
                <a:solidFill>
                  <a:srgbClr val="FFC857"/>
                </a:solidFill>
                <a:latin typeface="Arial"/>
                <a:ea typeface="Microsoft YaHei"/>
              </a:rPr>
              <a:t>☆ ☆ ☆ ☆ ☆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052560" y="3611880"/>
            <a:ext cx="26060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800"/>
              </a:spcAft>
            </a:pPr>
            <a:r>
              <a:rPr sz="2000" b="0">
                <a:solidFill>
                  <a:srgbClr val="5F677A"/>
                </a:solidFill>
                <a:latin typeface="Arial"/>
                <a:ea typeface="Microsoft YaHei"/>
              </a:rPr>
              <a:t>Score: ____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48640" y="4846320"/>
            <a:ext cx="2606040" cy="777240"/>
          </a:xfrm>
          <a:prstGeom prst="roundRect">
            <a:avLst>
              <a:gd name="adj" fmla="val 30000"/>
            </a:avLst>
          </a:prstGeom>
          <a:solidFill>
            <a:srgbClr val="FFE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1F2A44"/>
                </a:solidFill>
                <a:latin typeface="Arial"/>
                <a:ea typeface="Microsoft YaHei"/>
              </a:rPr>
              <a:t>🎤 Speak in English  +1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383280" y="4846320"/>
            <a:ext cx="2606040" cy="777240"/>
          </a:xfrm>
          <a:prstGeom prst="roundRect">
            <a:avLst>
              <a:gd name="adj" fmla="val 30000"/>
            </a:avLst>
          </a:prstGeom>
          <a:solidFill>
            <a:srgbClr val="FFE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1F2A44"/>
                </a:solidFill>
                <a:latin typeface="Arial"/>
                <a:ea typeface="Microsoft YaHei"/>
              </a:rPr>
              <a:t>⚡ Fastest correct answer  +1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217920" y="4846320"/>
            <a:ext cx="2606040" cy="777240"/>
          </a:xfrm>
          <a:prstGeom prst="roundRect">
            <a:avLst>
              <a:gd name="adj" fmla="val 30000"/>
            </a:avLst>
          </a:prstGeom>
          <a:solidFill>
            <a:srgbClr val="FFE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1F2A44"/>
                </a:solidFill>
                <a:latin typeface="Arial"/>
                <a:ea typeface="Microsoft YaHei"/>
              </a:rPr>
              <a:t>🎭 Best role play  +2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052560" y="4846320"/>
            <a:ext cx="2606040" cy="777240"/>
          </a:xfrm>
          <a:prstGeom prst="roundRect">
            <a:avLst>
              <a:gd name="adj" fmla="val 30000"/>
            </a:avLst>
          </a:prstGeom>
          <a:solidFill>
            <a:srgbClr val="FFE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1F2A44"/>
                </a:solidFill>
                <a:latin typeface="Arial"/>
                <a:ea typeface="Microsoft YaHei"/>
              </a:rPr>
              <a:t>🎁 Lucky Box  ?</a:t>
            </a:r>
          </a:p>
        </p:txBody>
      </p:sp>
    </p:spTree>
  </p:cSld>
  <p:clrMapOvr>
    <a:masterClrMapping/>
  </p:clrMapOvr>
  <p:transition spd="med">
    <p:fade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3CC4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8442656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3200" b="1">
                <a:solidFill>
                  <a:srgbClr val="1F2A44"/>
                </a:solidFill>
                <a:latin typeface="Arial"/>
                <a:ea typeface="Microsoft YaHei"/>
              </a:rPr>
              <a:t>Unit Roadmap 单元路线图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74175" y="438912"/>
            <a:ext cx="2560320" cy="475488"/>
          </a:xfrm>
          <a:prstGeom prst="roundRect">
            <a:avLst>
              <a:gd name="adj" fmla="val 50000"/>
            </a:avLst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3152" rIns="73152"/>
          <a:lstStyle/>
          <a:p>
            <a:pPr algn="ctr">
              <a:spcAft>
                <a:spcPts val="200"/>
              </a:spcAft>
            </a:pPr>
            <a:r>
              <a:rPr sz="1300" b="1">
                <a:solidFill>
                  <a:srgbClr val="FFFFFF"/>
                </a:solidFill>
                <a:latin typeface="Arial"/>
                <a:ea typeface="Microsoft YaHei"/>
              </a:rPr>
              <a:t>🗺 Click a lesson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19088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100" b="0">
                <a:solidFill>
                  <a:srgbClr val="5F677A"/>
                </a:solidFill>
                <a:latin typeface="Arial"/>
                <a:ea typeface="Microsoft YaHei"/>
              </a:rPr>
              <a:t>Business English · Level 4 · Unit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28655" y="6419088"/>
            <a:ext cx="914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  <a:spcAft>
                <a:spcPts val="800"/>
              </a:spcAft>
            </a:pPr>
            <a:r>
              <a:rPr sz="1100" b="0">
                <a:solidFill>
                  <a:srgbClr val="5F677A"/>
                </a:solidFill>
                <a:latin typeface="Arial"/>
                <a:ea typeface="Microsoft YaHei"/>
              </a:rPr>
              <a:t>3</a:t>
            </a:r>
          </a:p>
        </p:txBody>
      </p:sp>
      <p:sp>
        <p:nvSpPr>
          <p:cNvPr id="7" name="Rounded Rectangle 6">
            <a:hlinkClick action="ppaction://hlinksldjump" r:id="rId3"/>
          </p:cNvPr>
          <p:cNvSpPr/>
          <p:nvPr/>
        </p:nvSpPr>
        <p:spPr>
          <a:xfrm>
            <a:off x="548640" y="1554480"/>
            <a:ext cx="3576218" cy="12344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31750">
            <a:solidFill>
              <a:srgbClr val="FF6B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58368" y="1851660"/>
            <a:ext cx="868680" cy="640080"/>
          </a:xfrm>
          <a:prstGeom prst="roundRect">
            <a:avLst>
              <a:gd name="adj" fmla="val 30000"/>
            </a:avLst>
          </a:prstGeom>
          <a:solidFill>
            <a:srgbClr val="FF6B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Aft>
                <a:spcPts val="200"/>
              </a:spcAft>
            </a:pPr>
            <a:r>
              <a:rPr sz="2000" b="1">
                <a:solidFill>
                  <a:srgbClr val="FFFFFF"/>
                </a:solidFill>
                <a:latin typeface="Arial"/>
                <a:ea typeface="Microsoft YaHei"/>
              </a:rPr>
              <a:t>06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45920" y="1581912"/>
            <a:ext cx="2387498" cy="11795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800" b="1">
                <a:solidFill>
                  <a:srgbClr val="1F2A44"/>
                </a:solidFill>
                <a:latin typeface="Arial"/>
                <a:ea typeface="Microsoft YaHei"/>
              </a:rPr>
              <a:t>At reception</a:t>
            </a:r>
          </a:p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1400" b="0">
                <a:solidFill>
                  <a:srgbClr val="5F677A"/>
                </a:solidFill>
                <a:latin typeface="Arial"/>
                <a:ea typeface="Microsoft YaHei"/>
              </a:rPr>
              <a:t>在前台</a:t>
            </a:r>
          </a:p>
        </p:txBody>
      </p:sp>
      <p:sp>
        <p:nvSpPr>
          <p:cNvPr id="10" name="Rounded Rectangle 9">
            <a:hlinkClick action="ppaction://hlinksldjump" r:id="rId4"/>
          </p:cNvPr>
          <p:cNvSpPr/>
          <p:nvPr/>
        </p:nvSpPr>
        <p:spPr>
          <a:xfrm>
            <a:off x="4307738" y="1554480"/>
            <a:ext cx="3576218" cy="12344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31750">
            <a:solidFill>
              <a:srgbClr val="4A90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417466" y="1851660"/>
            <a:ext cx="868680" cy="640080"/>
          </a:xfrm>
          <a:prstGeom prst="roundRect">
            <a:avLst>
              <a:gd name="adj" fmla="val 30000"/>
            </a:avLst>
          </a:prstGeom>
          <a:solidFill>
            <a:srgbClr val="4A90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Aft>
                <a:spcPts val="200"/>
              </a:spcAft>
            </a:pPr>
            <a:r>
              <a:rPr sz="2000" b="1">
                <a:solidFill>
                  <a:srgbClr val="FFFFFF"/>
                </a:solidFill>
                <a:latin typeface="Arial"/>
                <a:ea typeface="Microsoft YaHei"/>
              </a:rPr>
              <a:t>07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05018" y="1581912"/>
            <a:ext cx="2387498" cy="11795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800" b="1">
                <a:solidFill>
                  <a:srgbClr val="1F2A44"/>
                </a:solidFill>
                <a:latin typeface="Arial"/>
                <a:ea typeface="Microsoft YaHei"/>
              </a:rPr>
              <a:t>Company visitors</a:t>
            </a:r>
          </a:p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1400" b="0">
                <a:solidFill>
                  <a:srgbClr val="5F677A"/>
                </a:solidFill>
                <a:latin typeface="Arial"/>
                <a:ea typeface="Microsoft YaHei"/>
              </a:rPr>
              <a:t>公司访客</a:t>
            </a:r>
          </a:p>
        </p:txBody>
      </p:sp>
      <p:sp>
        <p:nvSpPr>
          <p:cNvPr id="13" name="Rounded Rectangle 12">
            <a:hlinkClick action="ppaction://hlinksldjump" r:id="rId5"/>
          </p:cNvPr>
          <p:cNvSpPr/>
          <p:nvPr/>
        </p:nvSpPr>
        <p:spPr>
          <a:xfrm>
            <a:off x="8066836" y="1554480"/>
            <a:ext cx="3576218" cy="12344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31750">
            <a:solidFill>
              <a:srgbClr val="3CC4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8176564" y="1851660"/>
            <a:ext cx="868680" cy="640080"/>
          </a:xfrm>
          <a:prstGeom prst="roundRect">
            <a:avLst>
              <a:gd name="adj" fmla="val 30000"/>
            </a:avLst>
          </a:prstGeom>
          <a:solidFill>
            <a:srgbClr val="3CC4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Aft>
                <a:spcPts val="200"/>
              </a:spcAft>
            </a:pPr>
            <a:r>
              <a:rPr sz="2000" b="1">
                <a:solidFill>
                  <a:srgbClr val="FFFFFF"/>
                </a:solidFill>
                <a:latin typeface="Arial"/>
                <a:ea typeface="Microsoft YaHei"/>
              </a:rPr>
              <a:t>08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64116" y="1581912"/>
            <a:ext cx="2387498" cy="11795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800" b="1">
                <a:solidFill>
                  <a:srgbClr val="1F2A44"/>
                </a:solidFill>
                <a:latin typeface="Arial"/>
                <a:ea typeface="Microsoft YaHei"/>
              </a:rPr>
              <a:t>Visitors to the company</a:t>
            </a:r>
          </a:p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1400" b="0">
                <a:solidFill>
                  <a:srgbClr val="5F677A"/>
                </a:solidFill>
                <a:latin typeface="Arial"/>
                <a:ea typeface="Microsoft YaHei"/>
              </a:rPr>
              <a:t>访问公司的人</a:t>
            </a:r>
          </a:p>
        </p:txBody>
      </p:sp>
      <p:sp>
        <p:nvSpPr>
          <p:cNvPr id="16" name="Rounded Rectangle 15">
            <a:hlinkClick action="ppaction://hlinksldjump" r:id="rId6"/>
          </p:cNvPr>
          <p:cNvSpPr/>
          <p:nvPr/>
        </p:nvSpPr>
        <p:spPr>
          <a:xfrm>
            <a:off x="548640" y="2971800"/>
            <a:ext cx="3576218" cy="12344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31750">
            <a:solidFill>
              <a:srgbClr val="FFC8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58368" y="3268980"/>
            <a:ext cx="868680" cy="640080"/>
          </a:xfrm>
          <a:prstGeom prst="roundRect">
            <a:avLst>
              <a:gd name="adj" fmla="val 30000"/>
            </a:avLst>
          </a:prstGeom>
          <a:solidFill>
            <a:srgbClr val="FFC8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Aft>
                <a:spcPts val="200"/>
              </a:spcAft>
            </a:pPr>
            <a:r>
              <a:rPr sz="2000" b="1">
                <a:solidFill>
                  <a:srgbClr val="FFFFFF"/>
                </a:solidFill>
                <a:latin typeface="Arial"/>
                <a:ea typeface="Microsoft YaHei"/>
              </a:rPr>
              <a:t>09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45920" y="2999232"/>
            <a:ext cx="2387498" cy="11795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800" b="1">
                <a:solidFill>
                  <a:srgbClr val="1F2A44"/>
                </a:solidFill>
                <a:latin typeface="Arial"/>
                <a:ea typeface="Microsoft YaHei"/>
              </a:rPr>
              <a:t>Making visitors feel welcome</a:t>
            </a:r>
          </a:p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1400" b="0">
                <a:solidFill>
                  <a:srgbClr val="5F677A"/>
                </a:solidFill>
                <a:latin typeface="Arial"/>
                <a:ea typeface="Microsoft YaHei"/>
              </a:rPr>
              <a:t>让访客感到受欢迎</a:t>
            </a:r>
          </a:p>
        </p:txBody>
      </p:sp>
      <p:sp>
        <p:nvSpPr>
          <p:cNvPr id="19" name="Rounded Rectangle 18">
            <a:hlinkClick action="ppaction://hlinksldjump" r:id="rId7"/>
          </p:cNvPr>
          <p:cNvSpPr/>
          <p:nvPr/>
        </p:nvSpPr>
        <p:spPr>
          <a:xfrm>
            <a:off x="4307738" y="2971800"/>
            <a:ext cx="3576218" cy="12344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31750">
            <a:solidFill>
              <a:srgbClr val="9B6B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4417466" y="3268980"/>
            <a:ext cx="868680" cy="640080"/>
          </a:xfrm>
          <a:prstGeom prst="roundRect">
            <a:avLst>
              <a:gd name="adj" fmla="val 30000"/>
            </a:avLst>
          </a:prstGeom>
          <a:solidFill>
            <a:srgbClr val="9B6B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Aft>
                <a:spcPts val="200"/>
              </a:spcAft>
            </a:pPr>
            <a:r>
              <a:rPr sz="2000" b="1">
                <a:solidFill>
                  <a:srgbClr val="FFFFFF"/>
                </a:solidFill>
                <a:latin typeface="Arial"/>
                <a:ea typeface="Microsoft YaHei"/>
              </a:rPr>
              <a:t>10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05018" y="2999232"/>
            <a:ext cx="2387498" cy="11795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800" b="1">
                <a:solidFill>
                  <a:srgbClr val="1F2A44"/>
                </a:solidFill>
                <a:latin typeface="Arial"/>
                <a:ea typeface="Microsoft YaHei"/>
              </a:rPr>
              <a:t>Small talk with visitors</a:t>
            </a:r>
          </a:p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1400" b="0">
                <a:solidFill>
                  <a:srgbClr val="5F677A"/>
                </a:solidFill>
                <a:latin typeface="Arial"/>
                <a:ea typeface="Microsoft YaHei"/>
              </a:rPr>
              <a:t>与访客聊天</a:t>
            </a:r>
          </a:p>
        </p:txBody>
      </p:sp>
    </p:spTree>
  </p:cSld>
  <p:clrMapOvr>
    <a:masterClrMapping/>
  </p:clrMapOvr>
  <p:transition spd="med">
    <p:fade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6419088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100" b="0">
                <a:solidFill>
                  <a:srgbClr val="FFC857"/>
                </a:solidFill>
                <a:latin typeface="Arial"/>
                <a:ea typeface="Microsoft YaHei"/>
              </a:rPr>
              <a:t>Business English · Level 4 · Unit 3 · Lesson 06 At reception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728655" y="6419088"/>
            <a:ext cx="914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  <a:spcAft>
                <a:spcPts val="800"/>
              </a:spcAft>
            </a:pPr>
            <a:r>
              <a:rPr sz="1100" b="0">
                <a:solidFill>
                  <a:srgbClr val="FFC857"/>
                </a:solidFill>
                <a:latin typeface="Arial"/>
                <a:ea typeface="Microsoft YaHei"/>
              </a:rPr>
              <a:t>4</a:t>
            </a:r>
          </a:p>
        </p:txBody>
      </p:sp>
      <p:sp>
        <p:nvSpPr>
          <p:cNvPr id="4" name="Rounded Rectangle 3">
            <a:hlinkClick action="ppaction://hlinksldjump" r:id="rId2"/>
          </p:cNvPr>
          <p:cNvSpPr/>
          <p:nvPr/>
        </p:nvSpPr>
        <p:spPr>
          <a:xfrm>
            <a:off x="9677095" y="6382512"/>
            <a:ext cx="960120" cy="329184"/>
          </a:xfrm>
          <a:prstGeom prst="roundRect">
            <a:avLst>
              <a:gd name="adj" fmla="val 50000"/>
            </a:avLst>
          </a:prstGeom>
          <a:solidFill>
            <a:srgbClr val="3642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Aft>
                <a:spcPts val="200"/>
              </a:spcAft>
            </a:pPr>
            <a:r>
              <a:rPr sz="1100" b="1">
                <a:solidFill>
                  <a:srgbClr val="FFFFFF"/>
                </a:solidFill>
                <a:latin typeface="Arial"/>
                <a:ea typeface="Microsoft YaHei"/>
              </a:rPr>
              <a:t>🗺 Map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685800"/>
            <a:ext cx="1097280" cy="91440"/>
          </a:xfrm>
          <a:prstGeom prst="rect">
            <a:avLst/>
          </a:prstGeom>
          <a:solidFill>
            <a:srgbClr val="FF6B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822960"/>
            <a:ext cx="5486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2200" b="1">
                <a:solidFill>
                  <a:srgbClr val="FFC857"/>
                </a:solidFill>
                <a:latin typeface="Arial"/>
                <a:ea typeface="Microsoft YaHei"/>
              </a:rPr>
              <a:t>LESSON 06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280160"/>
            <a:ext cx="10515600" cy="12801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5400" b="1">
                <a:solidFill>
                  <a:srgbClr val="FFFFFF"/>
                </a:solidFill>
                <a:latin typeface="Arial"/>
                <a:ea typeface="Microsoft YaHei"/>
              </a:rPr>
              <a:t>At reception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560320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2400" b="0">
                <a:solidFill>
                  <a:srgbClr val="FFFFFF"/>
                </a:solidFill>
                <a:latin typeface="Arial"/>
                <a:ea typeface="Microsoft YaHei"/>
              </a:rPr>
              <a:t>在前台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246120"/>
            <a:ext cx="105156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700" b="0">
                <a:solidFill>
                  <a:srgbClr val="FFC857"/>
                </a:solidFill>
                <a:latin typeface="Arial"/>
                <a:ea typeface="Microsoft YaHei"/>
              </a:rPr>
              <a:t>🎯 greet visitors, check appointments, sign people in, give directions, and solve common reception problems (no appointment, wrong day, host unavailable) politely and professionally.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4389120"/>
            <a:ext cx="1956816" cy="1143000"/>
          </a:xfrm>
          <a:prstGeom prst="roundRect">
            <a:avLst>
              <a:gd name="adj" fmla="val 20000"/>
            </a:avLst>
          </a:prstGeom>
          <a:solidFill>
            <a:srgbClr val="FF6B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Arial"/>
                <a:ea typeface="Microsoft YaHei"/>
              </a:rPr>
              <a:t>🔥 01</a:t>
            </a:r>
          </a:p>
          <a:p>
            <a:pPr algn="ctr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Arial"/>
                <a:ea typeface="Microsoft YaHei"/>
              </a:rPr>
              <a:t>Warm up</a:t>
            </a:r>
          </a:p>
          <a:p>
            <a:pPr algn="ctr">
              <a:spcAft>
                <a:spcPts val="200"/>
              </a:spcAft>
            </a:pPr>
            <a:r>
              <a:rPr sz="1300" b="0">
                <a:solidFill>
                  <a:srgbClr val="FFFFFF"/>
                </a:solidFill>
                <a:latin typeface="Arial"/>
                <a:ea typeface="Microsoft YaHei"/>
              </a:rPr>
              <a:t>热身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962656" y="4389120"/>
            <a:ext cx="1956816" cy="1143000"/>
          </a:xfrm>
          <a:prstGeom prst="roundRect">
            <a:avLst>
              <a:gd name="adj" fmla="val 20000"/>
            </a:avLst>
          </a:prstGeom>
          <a:solidFill>
            <a:srgbClr val="4A90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Arial"/>
                <a:ea typeface="Microsoft YaHei"/>
              </a:rPr>
              <a:t>📚 02</a:t>
            </a:r>
          </a:p>
          <a:p>
            <a:pPr algn="ctr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Arial"/>
                <a:ea typeface="Microsoft YaHei"/>
              </a:rPr>
              <a:t>Vocabulary</a:t>
            </a:r>
          </a:p>
          <a:p>
            <a:pPr algn="ctr">
              <a:spcAft>
                <a:spcPts val="200"/>
              </a:spcAft>
            </a:pPr>
            <a:r>
              <a:rPr sz="1300" b="0">
                <a:solidFill>
                  <a:srgbClr val="FFFFFF"/>
                </a:solidFill>
                <a:latin typeface="Arial"/>
                <a:ea typeface="Microsoft YaHei"/>
              </a:rPr>
              <a:t>词汇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102352" y="4389120"/>
            <a:ext cx="1956816" cy="1143000"/>
          </a:xfrm>
          <a:prstGeom prst="roundRect">
            <a:avLst>
              <a:gd name="adj" fmla="val 20000"/>
            </a:avLst>
          </a:prstGeom>
          <a:solidFill>
            <a:srgbClr val="3CC4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Arial"/>
                <a:ea typeface="Microsoft YaHei"/>
              </a:rPr>
              <a:t>🎭 03</a:t>
            </a:r>
          </a:p>
          <a:p>
            <a:pPr algn="ctr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Arial"/>
                <a:ea typeface="Microsoft YaHei"/>
              </a:rPr>
              <a:t>Role play</a:t>
            </a:r>
          </a:p>
          <a:p>
            <a:pPr algn="ctr">
              <a:spcAft>
                <a:spcPts val="200"/>
              </a:spcAft>
            </a:pPr>
            <a:r>
              <a:rPr sz="1300" b="0">
                <a:solidFill>
                  <a:srgbClr val="FFFFFF"/>
                </a:solidFill>
                <a:latin typeface="Arial"/>
                <a:ea typeface="Microsoft YaHei"/>
              </a:rPr>
              <a:t>角色扮演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242048" y="4389120"/>
            <a:ext cx="1956816" cy="1143000"/>
          </a:xfrm>
          <a:prstGeom prst="roundRect">
            <a:avLst>
              <a:gd name="adj" fmla="val 20000"/>
            </a:avLst>
          </a:prstGeom>
          <a:solidFill>
            <a:srgbClr val="FFC8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Arial"/>
                <a:ea typeface="Microsoft YaHei"/>
              </a:rPr>
              <a:t>💬 04</a:t>
            </a:r>
          </a:p>
          <a:p>
            <a:pPr algn="ctr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Arial"/>
                <a:ea typeface="Microsoft YaHei"/>
              </a:rPr>
              <a:t>Discussion</a:t>
            </a:r>
          </a:p>
          <a:p>
            <a:pPr algn="ctr">
              <a:spcAft>
                <a:spcPts val="200"/>
              </a:spcAft>
            </a:pPr>
            <a:r>
              <a:rPr sz="1300" b="0">
                <a:solidFill>
                  <a:srgbClr val="FFFFFF"/>
                </a:solidFill>
                <a:latin typeface="Arial"/>
                <a:ea typeface="Microsoft YaHei"/>
              </a:rPr>
              <a:t>讨论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381744" y="4389120"/>
            <a:ext cx="1956816" cy="1143000"/>
          </a:xfrm>
          <a:prstGeom prst="roundRect">
            <a:avLst>
              <a:gd name="adj" fmla="val 20000"/>
            </a:avLst>
          </a:prstGeom>
          <a:solidFill>
            <a:srgbClr val="9B6B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Arial"/>
                <a:ea typeface="Microsoft YaHei"/>
              </a:rPr>
              <a:t>💡 05</a:t>
            </a:r>
          </a:p>
          <a:p>
            <a:pPr algn="ctr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Arial"/>
                <a:ea typeface="Microsoft YaHei"/>
              </a:rPr>
              <a:t>Language Tips</a:t>
            </a:r>
          </a:p>
          <a:p>
            <a:pPr algn="ctr">
              <a:spcAft>
                <a:spcPts val="200"/>
              </a:spcAft>
            </a:pPr>
            <a:r>
              <a:rPr sz="1300" b="0">
                <a:solidFill>
                  <a:srgbClr val="FFFFFF"/>
                </a:solidFill>
                <a:latin typeface="Arial"/>
                <a:ea typeface="Microsoft YaHei"/>
              </a:rPr>
              <a:t>语言贴士</a:t>
            </a:r>
          </a:p>
        </p:txBody>
      </p:sp>
    </p:spTree>
  </p:cSld>
  <p:clrMapOvr>
    <a:masterClrMapping/>
  </p:clrMapOvr>
  <p:transition spd="med">
    <p:fade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F6B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8442656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3200" b="1">
                <a:solidFill>
                  <a:srgbClr val="1F2A44"/>
                </a:solidFill>
                <a:latin typeface="Arial"/>
                <a:ea typeface="Microsoft YaHei"/>
              </a:rPr>
              <a:t>🔥 Warm up · Ice-breaker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74175" y="438912"/>
            <a:ext cx="2560320" cy="475488"/>
          </a:xfrm>
          <a:prstGeom prst="roundRect">
            <a:avLst>
              <a:gd name="adj" fmla="val 50000"/>
            </a:avLst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3152" rIns="73152"/>
          <a:lstStyle/>
          <a:p>
            <a:pPr algn="ctr">
              <a:spcAft>
                <a:spcPts val="200"/>
              </a:spcAft>
            </a:pPr>
            <a:r>
              <a:rPr sz="1300" b="1">
                <a:solidFill>
                  <a:srgbClr val="FFFFFF"/>
                </a:solidFill>
                <a:latin typeface="Arial"/>
                <a:ea typeface="Microsoft YaHei"/>
              </a:rPr>
              <a:t>01 Warm up 热身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19088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100" b="0">
                <a:solidFill>
                  <a:srgbClr val="5F677A"/>
                </a:solidFill>
                <a:latin typeface="Arial"/>
                <a:ea typeface="Microsoft YaHei"/>
              </a:rPr>
              <a:t>Business English · Level 4 · Unit 3 · Lesson 06 At reception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28655" y="6419088"/>
            <a:ext cx="914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  <a:spcAft>
                <a:spcPts val="800"/>
              </a:spcAft>
            </a:pPr>
            <a:r>
              <a:rPr sz="1100" b="0">
                <a:solidFill>
                  <a:srgbClr val="5F677A"/>
                </a:solidFill>
                <a:latin typeface="Arial"/>
                <a:ea typeface="Microsoft YaHei"/>
              </a:rPr>
              <a:t>5</a:t>
            </a:r>
          </a:p>
        </p:txBody>
      </p:sp>
      <p:sp>
        <p:nvSpPr>
          <p:cNvPr id="7" name="Rounded Rectangle 6">
            <a:hlinkClick action="ppaction://hlinksldjump" r:id="rId2"/>
          </p:cNvPr>
          <p:cNvSpPr/>
          <p:nvPr/>
        </p:nvSpPr>
        <p:spPr>
          <a:xfrm>
            <a:off x="9677095" y="6382512"/>
            <a:ext cx="960120" cy="329184"/>
          </a:xfrm>
          <a:prstGeom prst="roundRect">
            <a:avLst>
              <a:gd name="adj" fmla="val 50000"/>
            </a:avLst>
          </a:prstGeom>
          <a:solidFill>
            <a:srgbClr val="FFE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Aft>
                <a:spcPts val="200"/>
              </a:spcAft>
            </a:pPr>
            <a:r>
              <a:rPr sz="1100" b="1">
                <a:solidFill>
                  <a:srgbClr val="1F2A44"/>
                </a:solidFill>
                <a:latin typeface="Arial"/>
                <a:ea typeface="Microsoft YaHei"/>
              </a:rPr>
              <a:t>🗺 Map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024128"/>
            <a:ext cx="11094415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500" b="0">
                <a:solidFill>
                  <a:srgbClr val="5F677A"/>
                </a:solidFill>
                <a:latin typeface="Arial"/>
                <a:ea typeface="Microsoft YaHei"/>
              </a:rPr>
              <a:t>Answer in 2–3 sentences. Say it out loud!  用 2–3 句话回答，大声说出来</a:t>
            </a:r>
          </a:p>
        </p:txBody>
      </p:sp>
      <p:sp>
        <p:nvSpPr>
          <p:cNvPr id="9" name="Oval 8"/>
          <p:cNvSpPr/>
          <p:nvPr/>
        </p:nvSpPr>
        <p:spPr>
          <a:xfrm>
            <a:off x="548640" y="1562100"/>
            <a:ext cx="502920" cy="502920"/>
          </a:xfrm>
          <a:prstGeom prst="ellipse">
            <a:avLst/>
          </a:prstGeom>
          <a:solidFill>
            <a:srgbClr val="FF6B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FFFFFF"/>
                </a:solidFill>
                <a:latin typeface="Arial"/>
                <a:ea typeface="Microsoft YaHei"/>
              </a:rPr>
              <a:t>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234440" y="1554480"/>
            <a:ext cx="10408615" cy="51816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325880" y="1554480"/>
            <a:ext cx="10180015" cy="5181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900" b="0">
                <a:solidFill>
                  <a:srgbClr val="1F2A44"/>
                </a:solidFill>
                <a:latin typeface="Arial"/>
                <a:ea typeface="Microsoft YaHei"/>
              </a:rPr>
              <a:t>Think about the last time you visited another company. What happened at reception?</a:t>
            </a:r>
          </a:p>
        </p:txBody>
      </p:sp>
      <p:sp>
        <p:nvSpPr>
          <p:cNvPr id="12" name="Oval 11"/>
          <p:cNvSpPr/>
          <p:nvPr/>
        </p:nvSpPr>
        <p:spPr>
          <a:xfrm>
            <a:off x="548640" y="2334768"/>
            <a:ext cx="502920" cy="502920"/>
          </a:xfrm>
          <a:prstGeom prst="ellipse">
            <a:avLst/>
          </a:prstGeom>
          <a:solidFill>
            <a:srgbClr val="4A90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FFFFFF"/>
                </a:solidFill>
                <a:latin typeface="Arial"/>
                <a:ea typeface="Microsoft YaHei"/>
              </a:rPr>
              <a:t>2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234440" y="2182368"/>
            <a:ext cx="10408615" cy="80772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25880" y="2182368"/>
            <a:ext cx="10180015" cy="807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900" b="0">
                <a:solidFill>
                  <a:srgbClr val="1F2A44"/>
                </a:solidFill>
                <a:latin typeface="Arial"/>
                <a:ea typeface="Microsoft YaHei"/>
              </a:rPr>
              <a:t>What are the three most important things a receptionist should do in the first minute?</a:t>
            </a:r>
          </a:p>
        </p:txBody>
      </p:sp>
      <p:sp>
        <p:nvSpPr>
          <p:cNvPr id="15" name="Oval 14"/>
          <p:cNvSpPr/>
          <p:nvPr/>
        </p:nvSpPr>
        <p:spPr>
          <a:xfrm>
            <a:off x="548640" y="3107436"/>
            <a:ext cx="502920" cy="502920"/>
          </a:xfrm>
          <a:prstGeom prst="ellipse">
            <a:avLst/>
          </a:prstGeom>
          <a:solidFill>
            <a:srgbClr val="3CC4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FFFFFF"/>
                </a:solidFill>
                <a:latin typeface="Arial"/>
                <a:ea typeface="Microsoft YaHei"/>
              </a:rPr>
              <a:t>3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234440" y="3099816"/>
            <a:ext cx="10408615" cy="51816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325880" y="3099816"/>
            <a:ext cx="10180015" cy="5181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900" b="0">
                <a:solidFill>
                  <a:srgbClr val="1F2A44"/>
                </a:solidFill>
                <a:latin typeface="Arial"/>
                <a:ea typeface="Microsoft YaHei"/>
              </a:rPr>
              <a:t>Do you prefer a front desk with a person, or a self-service sign-in tablet? Why?</a:t>
            </a:r>
          </a:p>
        </p:txBody>
      </p:sp>
      <p:sp>
        <p:nvSpPr>
          <p:cNvPr id="18" name="Oval 17"/>
          <p:cNvSpPr/>
          <p:nvPr/>
        </p:nvSpPr>
        <p:spPr>
          <a:xfrm>
            <a:off x="548640" y="3735324"/>
            <a:ext cx="502920" cy="502920"/>
          </a:xfrm>
          <a:prstGeom prst="ellipse">
            <a:avLst/>
          </a:prstGeom>
          <a:solidFill>
            <a:srgbClr val="FFC8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FFFFFF"/>
                </a:solidFill>
                <a:latin typeface="Arial"/>
                <a:ea typeface="Microsoft YaHei"/>
              </a:rPr>
              <a:t>4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234440" y="3727704"/>
            <a:ext cx="10408615" cy="51816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325880" y="3727704"/>
            <a:ext cx="10180015" cy="5181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900" b="0">
                <a:solidFill>
                  <a:srgbClr val="1F2A44"/>
                </a:solidFill>
                <a:latin typeface="Arial"/>
                <a:ea typeface="Microsoft YaHei"/>
              </a:rPr>
              <a:t>What do you do when a visitor arrives and your colleague is not in the office?</a:t>
            </a:r>
          </a:p>
        </p:txBody>
      </p:sp>
      <p:sp>
        <p:nvSpPr>
          <p:cNvPr id="21" name="Oval 20"/>
          <p:cNvSpPr/>
          <p:nvPr/>
        </p:nvSpPr>
        <p:spPr>
          <a:xfrm>
            <a:off x="548640" y="4507992"/>
            <a:ext cx="502920" cy="502920"/>
          </a:xfrm>
          <a:prstGeom prst="ellipse">
            <a:avLst/>
          </a:prstGeom>
          <a:solidFill>
            <a:srgbClr val="9B6B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FFFFFF"/>
                </a:solidFill>
                <a:latin typeface="Arial"/>
                <a:ea typeface="Microsoft YaHei"/>
              </a:rPr>
              <a:t>5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234440" y="4355592"/>
            <a:ext cx="10408615" cy="80772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325880" y="4355592"/>
            <a:ext cx="10180015" cy="807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900" b="0">
                <a:solidFill>
                  <a:srgbClr val="1F2A44"/>
                </a:solidFill>
                <a:latin typeface="Arial"/>
                <a:ea typeface="Microsoft YaHei"/>
              </a:rPr>
              <a:t>Have you ever gone to the wrong place or the wrong day for a meeting? What happened?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548640" y="5760720"/>
            <a:ext cx="11094415" cy="502920"/>
          </a:xfrm>
          <a:prstGeom prst="roundRect">
            <a:avLst>
              <a:gd name="adj" fmla="val 30000"/>
            </a:avLst>
          </a:prstGeom>
          <a:solidFill>
            <a:srgbClr val="FFE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l">
              <a:spcAft>
                <a:spcPts val="200"/>
              </a:spcAft>
            </a:pPr>
            <a:r>
              <a:rPr sz="1500" b="1">
                <a:solidFill>
                  <a:srgbClr val="1F2A44"/>
                </a:solidFill>
                <a:latin typeface="Arial"/>
                <a:ea typeface="Microsoft YaHei"/>
              </a:rPr>
              <a:t>💡 第 1、5 题讲过去的经历,请用过去式(went, waited, said)。第 2 题可以用 “should” 或 “I think… should…”。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FC8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8442656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3200" b="1">
                <a:solidFill>
                  <a:srgbClr val="1F2A44"/>
                </a:solidFill>
                <a:latin typeface="Arial"/>
                <a:ea typeface="Microsoft YaHei"/>
              </a:rPr>
              <a:t>⏱ 1-Minute Challenge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74175" y="438912"/>
            <a:ext cx="2560320" cy="475488"/>
          </a:xfrm>
          <a:prstGeom prst="roundRect">
            <a:avLst>
              <a:gd name="adj" fmla="val 50000"/>
            </a:avLst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3152" rIns="73152"/>
          <a:lstStyle/>
          <a:p>
            <a:pPr algn="ctr">
              <a:spcAft>
                <a:spcPts val="200"/>
              </a:spcAft>
            </a:pPr>
            <a:r>
              <a:rPr sz="1300" b="1">
                <a:solidFill>
                  <a:srgbClr val="FFFFFF"/>
                </a:solidFill>
                <a:latin typeface="Arial"/>
                <a:ea typeface="Microsoft YaHei"/>
              </a:rPr>
              <a:t>01 Warm up 热身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19088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100" b="0">
                <a:solidFill>
                  <a:srgbClr val="5F677A"/>
                </a:solidFill>
                <a:latin typeface="Arial"/>
                <a:ea typeface="Microsoft YaHei"/>
              </a:rPr>
              <a:t>Business English · Level 4 · Unit 3 · Lesson 06 At reception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28655" y="6419088"/>
            <a:ext cx="914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  <a:spcAft>
                <a:spcPts val="800"/>
              </a:spcAft>
            </a:pPr>
            <a:r>
              <a:rPr sz="1100" b="0">
                <a:solidFill>
                  <a:srgbClr val="5F677A"/>
                </a:solidFill>
                <a:latin typeface="Arial"/>
                <a:ea typeface="Microsoft YaHei"/>
              </a:rPr>
              <a:t>6</a:t>
            </a:r>
          </a:p>
        </p:txBody>
      </p:sp>
      <p:sp>
        <p:nvSpPr>
          <p:cNvPr id="7" name="Rounded Rectangle 6">
            <a:hlinkClick action="ppaction://hlinksldjump" r:id="rId2"/>
          </p:cNvPr>
          <p:cNvSpPr/>
          <p:nvPr/>
        </p:nvSpPr>
        <p:spPr>
          <a:xfrm>
            <a:off x="9677095" y="6382512"/>
            <a:ext cx="960120" cy="329184"/>
          </a:xfrm>
          <a:prstGeom prst="roundRect">
            <a:avLst>
              <a:gd name="adj" fmla="val 50000"/>
            </a:avLst>
          </a:prstGeom>
          <a:solidFill>
            <a:srgbClr val="FFE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Aft>
                <a:spcPts val="200"/>
              </a:spcAft>
            </a:pPr>
            <a:r>
              <a:rPr sz="1100" b="1">
                <a:solidFill>
                  <a:srgbClr val="1F2A44"/>
                </a:solidFill>
                <a:latin typeface="Arial"/>
                <a:ea typeface="Microsoft YaHei"/>
              </a:rPr>
              <a:t>🗺 Map</a:t>
            </a:r>
          </a:p>
        </p:txBody>
      </p:sp>
      <p:sp>
        <p:nvSpPr>
          <p:cNvPr id="8" name="Oval 7"/>
          <p:cNvSpPr/>
          <p:nvPr/>
        </p:nvSpPr>
        <p:spPr>
          <a:xfrm>
            <a:off x="9814255" y="1463040"/>
            <a:ext cx="1737360" cy="1737360"/>
          </a:xfrm>
          <a:prstGeom prst="ellipse">
            <a:avLst/>
          </a:prstGeom>
          <a:solidFill>
            <a:srgbClr val="FF6B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Aft>
                <a:spcPts val="200"/>
              </a:spcAft>
            </a:pPr>
            <a:r>
              <a:rPr sz="4000" b="1">
                <a:solidFill>
                  <a:srgbClr val="FFFFFF"/>
                </a:solidFill>
                <a:latin typeface="Arial"/>
                <a:ea typeface="Microsoft YaHei"/>
              </a:rPr>
              <a:t>⏱</a:t>
            </a:r>
          </a:p>
          <a:p>
            <a:pPr algn="ctr">
              <a:spcAft>
                <a:spcPts val="200"/>
              </a:spcAft>
            </a:pPr>
            <a:r>
              <a:rPr sz="2600" b="1">
                <a:solidFill>
                  <a:srgbClr val="FFFFFF"/>
                </a:solidFill>
                <a:latin typeface="Arial"/>
                <a:ea typeface="Microsoft YaHei"/>
              </a:rPr>
              <a:t>60s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417320"/>
            <a:ext cx="877824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400" b="0">
                <a:solidFill>
                  <a:srgbClr val="5F677A"/>
                </a:solidFill>
                <a:latin typeface="Arial"/>
                <a:ea typeface="Microsoft YaHei"/>
              </a:rPr>
              <a:t>TOPIC</a:t>
            </a:r>
          </a:p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3000" b="1">
                <a:solidFill>
                  <a:srgbClr val="1F2A44"/>
                </a:solidFill>
                <a:latin typeface="Arial"/>
                <a:ea typeface="Microsoft YaHei"/>
              </a:rPr>
              <a:t>Describe how a good receptionist welcomes a visitor.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3017520"/>
            <a:ext cx="1901952" cy="868680"/>
          </a:xfrm>
          <a:prstGeom prst="roundRect">
            <a:avLst>
              <a:gd name="adj" fmla="val 20000"/>
            </a:avLst>
          </a:prstGeom>
          <a:solidFill>
            <a:srgbClr val="FF6B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Arial"/>
                <a:ea typeface="Microsoft YaHei"/>
              </a:rPr>
              <a:t>1. first words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587752" y="3017520"/>
            <a:ext cx="1901952" cy="868680"/>
          </a:xfrm>
          <a:prstGeom prst="roundRect">
            <a:avLst>
              <a:gd name="adj" fmla="val 20000"/>
            </a:avLst>
          </a:prstGeom>
          <a:solidFill>
            <a:srgbClr val="4A90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Arial"/>
                <a:ea typeface="Microsoft YaHei"/>
              </a:rPr>
              <a:t>2. asking for the name and the appointment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626864" y="3017520"/>
            <a:ext cx="1901952" cy="868680"/>
          </a:xfrm>
          <a:prstGeom prst="roundRect">
            <a:avLst>
              <a:gd name="adj" fmla="val 20000"/>
            </a:avLst>
          </a:prstGeom>
          <a:solidFill>
            <a:srgbClr val="3CC4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Arial"/>
                <a:ea typeface="Microsoft YaHei"/>
              </a:rPr>
              <a:t>3. sign-in and badge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665976" y="3017520"/>
            <a:ext cx="1901952" cy="868680"/>
          </a:xfrm>
          <a:prstGeom prst="roundRect">
            <a:avLst>
              <a:gd name="adj" fmla="val 20000"/>
            </a:avLst>
          </a:prstGeom>
          <a:solidFill>
            <a:srgbClr val="FFC8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Arial"/>
                <a:ea typeface="Microsoft YaHei"/>
              </a:rPr>
              <a:t>4. waiting or going up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705088" y="3017520"/>
            <a:ext cx="1901952" cy="868680"/>
          </a:xfrm>
          <a:prstGeom prst="roundRect">
            <a:avLst>
              <a:gd name="adj" fmla="val 20000"/>
            </a:avLst>
          </a:prstGeom>
          <a:solidFill>
            <a:srgbClr val="9B6B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Arial"/>
                <a:ea typeface="Microsoft YaHei"/>
              </a:rPr>
              <a:t>5. one problem and how to solve it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4069080"/>
            <a:ext cx="11094415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400" b="0">
                <a:solidFill>
                  <a:srgbClr val="5F677A"/>
                </a:solidFill>
                <a:latin typeface="Arial"/>
                <a:ea typeface="Microsoft YaHei"/>
              </a:rPr>
              <a:t>Useful starters 开头句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4389120"/>
            <a:ext cx="11094415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2000" b="1">
                <a:solidFill>
                  <a:srgbClr val="1F2A44"/>
                </a:solidFill>
                <a:latin typeface="Arial"/>
                <a:ea typeface="Microsoft YaHei"/>
              </a:rPr>
              <a:t>💬 First, the receptionist should…   💬 Then they ask…   💬 If the host is busy, they can…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5760720"/>
            <a:ext cx="11094415" cy="502920"/>
          </a:xfrm>
          <a:prstGeom prst="roundRect">
            <a:avLst>
              <a:gd name="adj" fmla="val 30000"/>
            </a:avLst>
          </a:prstGeom>
          <a:solidFill>
            <a:srgbClr val="FFE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F2A44"/>
                </a:solidFill>
                <a:latin typeface="Arial"/>
                <a:ea typeface="Microsoft YaHei"/>
              </a:rPr>
              <a:t>💡 说话时按先后顺序,用 first / then / after that / finally 串联。注意第三人称单数:she asks, he checks, it takes。</a:t>
            </a:r>
          </a:p>
        </p:txBody>
      </p:sp>
    </p:spTree>
  </p:cSld>
  <p:clrMapOvr>
    <a:masterClrMapping/>
  </p:clrMapOvr>
  <p:transition spd="med">
    <p:fade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4A90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8442656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3200" b="1">
                <a:solidFill>
                  <a:srgbClr val="1F2A44"/>
                </a:solidFill>
                <a:latin typeface="Arial"/>
                <a:ea typeface="Microsoft YaHei"/>
              </a:rPr>
              <a:t>📚 Chunk 1: Greeting and checking in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74175" y="438912"/>
            <a:ext cx="2560320" cy="475488"/>
          </a:xfrm>
          <a:prstGeom prst="roundRect">
            <a:avLst>
              <a:gd name="adj" fmla="val 50000"/>
            </a:avLst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3152" rIns="73152"/>
          <a:lstStyle/>
          <a:p>
            <a:pPr algn="ctr">
              <a:spcAft>
                <a:spcPts val="200"/>
              </a:spcAft>
            </a:pPr>
            <a:r>
              <a:rPr sz="1300" b="1">
                <a:solidFill>
                  <a:srgbClr val="FFFFFF"/>
                </a:solidFill>
                <a:latin typeface="Arial"/>
                <a:ea typeface="Microsoft YaHei"/>
              </a:rPr>
              <a:t>02 Vocabulary 词汇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19088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100" b="0">
                <a:solidFill>
                  <a:srgbClr val="5F677A"/>
                </a:solidFill>
                <a:latin typeface="Arial"/>
                <a:ea typeface="Microsoft YaHei"/>
              </a:rPr>
              <a:t>Business English · Level 4 · Unit 3 · Lesson 06 At reception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28655" y="6419088"/>
            <a:ext cx="914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  <a:spcAft>
                <a:spcPts val="800"/>
              </a:spcAft>
            </a:pPr>
            <a:r>
              <a:rPr sz="1100" b="0">
                <a:solidFill>
                  <a:srgbClr val="5F677A"/>
                </a:solidFill>
                <a:latin typeface="Arial"/>
                <a:ea typeface="Microsoft YaHei"/>
              </a:rPr>
              <a:t>7</a:t>
            </a:r>
          </a:p>
        </p:txBody>
      </p:sp>
      <p:sp>
        <p:nvSpPr>
          <p:cNvPr id="7" name="Rounded Rectangle 6">
            <a:hlinkClick action="ppaction://hlinksldjump" r:id="rId2"/>
          </p:cNvPr>
          <p:cNvSpPr/>
          <p:nvPr/>
        </p:nvSpPr>
        <p:spPr>
          <a:xfrm>
            <a:off x="9677095" y="6382512"/>
            <a:ext cx="960120" cy="329184"/>
          </a:xfrm>
          <a:prstGeom prst="roundRect">
            <a:avLst>
              <a:gd name="adj" fmla="val 50000"/>
            </a:avLst>
          </a:prstGeom>
          <a:solidFill>
            <a:srgbClr val="FFE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Aft>
                <a:spcPts val="200"/>
              </a:spcAft>
            </a:pPr>
            <a:r>
              <a:rPr sz="1100" b="1">
                <a:solidFill>
                  <a:srgbClr val="1F2A44"/>
                </a:solidFill>
                <a:latin typeface="Arial"/>
                <a:ea typeface="Microsoft YaHei"/>
              </a:rPr>
              <a:t>🗺 Map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960120"/>
            <a:ext cx="11094415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500" b="0">
                <a:solidFill>
                  <a:srgbClr val="5F677A"/>
                </a:solidFill>
                <a:latin typeface="Arial"/>
                <a:ea typeface="Microsoft YaHei"/>
              </a:rPr>
              <a:t>问候与登记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417320"/>
            <a:ext cx="11094415" cy="93522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1417320"/>
            <a:ext cx="91440" cy="935228"/>
          </a:xfrm>
          <a:prstGeom prst="rect">
            <a:avLst/>
          </a:prstGeom>
          <a:solidFill>
            <a:srgbClr val="FF6B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1463040"/>
            <a:ext cx="3429000" cy="8712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2000" b="1">
                <a:solidFill>
                  <a:srgbClr val="1F2A44"/>
                </a:solidFill>
                <a:latin typeface="Arial"/>
                <a:ea typeface="Microsoft YaHei"/>
              </a:rPr>
              <a:t>Good morning. How can I help you?</a:t>
            </a:r>
          </a:p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300" b="0">
                <a:solidFill>
                  <a:srgbClr val="5F677A"/>
                </a:solidFill>
                <a:latin typeface="Arial"/>
                <a:ea typeface="Microsoft YaHei"/>
              </a:rPr>
              <a:t>phrase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06240" y="1463040"/>
            <a:ext cx="2377440" cy="8712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700" b="1">
                <a:solidFill>
                  <a:srgbClr val="FF6B5B"/>
                </a:solidFill>
                <a:latin typeface="Arial"/>
                <a:ea typeface="Microsoft YaHei"/>
              </a:rPr>
              <a:t>早上好,请问有什么可以帮您?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75120" y="1463040"/>
            <a:ext cx="4846320" cy="8712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700" b="0" i="1">
                <a:solidFill>
                  <a:srgbClr val="1F2A44"/>
                </a:solidFill>
                <a:latin typeface="Arial"/>
                <a:ea typeface="Microsoft YaHei"/>
              </a:rPr>
              <a:t>“Good morning. How can I help you?” — “I’m here for a meeting.”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2425700"/>
            <a:ext cx="11094415" cy="93522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48640" y="2425700"/>
            <a:ext cx="91440" cy="935228"/>
          </a:xfrm>
          <a:prstGeom prst="rect">
            <a:avLst/>
          </a:prstGeom>
          <a:solidFill>
            <a:srgbClr val="4A90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2471420"/>
            <a:ext cx="3429000" cy="8712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2000" b="1">
                <a:solidFill>
                  <a:srgbClr val="1F2A44"/>
                </a:solidFill>
                <a:latin typeface="Arial"/>
                <a:ea typeface="Microsoft YaHei"/>
              </a:rPr>
              <a:t>Do you have an appointment?</a:t>
            </a:r>
          </a:p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300" b="0">
                <a:solidFill>
                  <a:srgbClr val="5F677A"/>
                </a:solidFill>
                <a:latin typeface="Arial"/>
                <a:ea typeface="Microsoft YaHei"/>
              </a:rPr>
              <a:t>phrase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06240" y="2471420"/>
            <a:ext cx="2377440" cy="8712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700" b="1">
                <a:solidFill>
                  <a:srgbClr val="FF6B5B"/>
                </a:solidFill>
                <a:latin typeface="Arial"/>
                <a:ea typeface="Microsoft YaHei"/>
              </a:rPr>
              <a:t>您有预约吗?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75120" y="2471420"/>
            <a:ext cx="4846320" cy="8712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700" b="0" i="1">
                <a:solidFill>
                  <a:srgbClr val="1F2A44"/>
                </a:solidFill>
                <a:latin typeface="Arial"/>
                <a:ea typeface="Microsoft YaHei"/>
              </a:rPr>
              <a:t>“Do you have an appointment with Mr Wang?”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3434080"/>
            <a:ext cx="11094415" cy="93522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48640" y="3434080"/>
            <a:ext cx="91440" cy="935228"/>
          </a:xfrm>
          <a:prstGeom prst="rect">
            <a:avLst/>
          </a:prstGeom>
          <a:solidFill>
            <a:srgbClr val="9B6B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1520" y="3479800"/>
            <a:ext cx="3429000" cy="8712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2000" b="1">
                <a:solidFill>
                  <a:srgbClr val="9B6BE0"/>
                </a:solidFill>
                <a:latin typeface="Arial"/>
                <a:ea typeface="Microsoft YaHei"/>
              </a:rPr>
              <a:t>★ Who are you here to see?</a:t>
            </a:r>
          </a:p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300" b="0">
                <a:solidFill>
                  <a:srgbClr val="5F677A"/>
                </a:solidFill>
                <a:latin typeface="Arial"/>
                <a:ea typeface="Microsoft YaHei"/>
              </a:rPr>
              <a:t>phrase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206240" y="3479800"/>
            <a:ext cx="2377440" cy="8712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700" b="1">
                <a:solidFill>
                  <a:srgbClr val="FF6B5B"/>
                </a:solidFill>
                <a:latin typeface="Arial"/>
                <a:ea typeface="Microsoft YaHei"/>
              </a:rPr>
              <a:t>您是来找哪位的?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75120" y="3479800"/>
            <a:ext cx="4846320" cy="8712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700" b="0" i="1">
                <a:solidFill>
                  <a:srgbClr val="1F2A44"/>
                </a:solidFill>
                <a:latin typeface="Arial"/>
                <a:ea typeface="Microsoft YaHei"/>
              </a:rPr>
              <a:t>“Who are you here to see, please?”</a:t>
            </a:r>
          </a:p>
        </p:txBody>
      </p:sp>
    </p:spTree>
  </p:cSld>
  <p:clrMapOvr>
    <a:masterClrMapping/>
  </p:clrMapOvr>
  <p:transition spd="med">
    <p:fade/>
  </p:transition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4A90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8442656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2700" b="1">
                <a:solidFill>
                  <a:srgbClr val="1F2A44"/>
                </a:solidFill>
                <a:latin typeface="Arial"/>
                <a:ea typeface="Microsoft YaHei"/>
              </a:rPr>
              <a:t>📚 Chunk 1: Greeting and checking in (cont.)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74175" y="438912"/>
            <a:ext cx="2560320" cy="475488"/>
          </a:xfrm>
          <a:prstGeom prst="roundRect">
            <a:avLst>
              <a:gd name="adj" fmla="val 50000"/>
            </a:avLst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3152" rIns="73152"/>
          <a:lstStyle/>
          <a:p>
            <a:pPr algn="ctr">
              <a:spcAft>
                <a:spcPts val="200"/>
              </a:spcAft>
            </a:pPr>
            <a:r>
              <a:rPr sz="1300" b="1">
                <a:solidFill>
                  <a:srgbClr val="FFFFFF"/>
                </a:solidFill>
                <a:latin typeface="Arial"/>
                <a:ea typeface="Microsoft YaHei"/>
              </a:rPr>
              <a:t>02 Vocabulary 词汇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19088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100" b="0">
                <a:solidFill>
                  <a:srgbClr val="5F677A"/>
                </a:solidFill>
                <a:latin typeface="Arial"/>
                <a:ea typeface="Microsoft YaHei"/>
              </a:rPr>
              <a:t>Business English · Level 4 · Unit 3 · Lesson 06 At reception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28655" y="6419088"/>
            <a:ext cx="914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  <a:spcAft>
                <a:spcPts val="800"/>
              </a:spcAft>
            </a:pPr>
            <a:r>
              <a:rPr sz="1100" b="0">
                <a:solidFill>
                  <a:srgbClr val="5F677A"/>
                </a:solidFill>
                <a:latin typeface="Arial"/>
                <a:ea typeface="Microsoft YaHei"/>
              </a:rPr>
              <a:t>8</a:t>
            </a:r>
          </a:p>
        </p:txBody>
      </p:sp>
      <p:sp>
        <p:nvSpPr>
          <p:cNvPr id="7" name="Rounded Rectangle 6">
            <a:hlinkClick action="ppaction://hlinksldjump" r:id="rId2"/>
          </p:cNvPr>
          <p:cNvSpPr/>
          <p:nvPr/>
        </p:nvSpPr>
        <p:spPr>
          <a:xfrm>
            <a:off x="9677095" y="6382512"/>
            <a:ext cx="960120" cy="329184"/>
          </a:xfrm>
          <a:prstGeom prst="roundRect">
            <a:avLst>
              <a:gd name="adj" fmla="val 50000"/>
            </a:avLst>
          </a:prstGeom>
          <a:solidFill>
            <a:srgbClr val="FFE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Aft>
                <a:spcPts val="200"/>
              </a:spcAft>
            </a:pPr>
            <a:r>
              <a:rPr sz="1100" b="1">
                <a:solidFill>
                  <a:srgbClr val="1F2A44"/>
                </a:solidFill>
                <a:latin typeface="Arial"/>
                <a:ea typeface="Microsoft YaHei"/>
              </a:rPr>
              <a:t>🗺 Map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960120"/>
            <a:ext cx="11094415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500" b="0">
                <a:solidFill>
                  <a:srgbClr val="5F677A"/>
                </a:solidFill>
                <a:latin typeface="Arial"/>
                <a:ea typeface="Microsoft YaHei"/>
              </a:rPr>
              <a:t>问候与登记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417320"/>
            <a:ext cx="11094415" cy="93522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1417320"/>
            <a:ext cx="91440" cy="935228"/>
          </a:xfrm>
          <a:prstGeom prst="rect">
            <a:avLst/>
          </a:prstGeom>
          <a:solidFill>
            <a:srgbClr val="FF6B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1463040"/>
            <a:ext cx="3429000" cy="8712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2000" b="1">
                <a:solidFill>
                  <a:srgbClr val="1F2A44"/>
                </a:solidFill>
                <a:latin typeface="Arial"/>
                <a:ea typeface="Microsoft YaHei"/>
              </a:rPr>
              <a:t>I’m here to see… / I have a meeting with…</a:t>
            </a:r>
          </a:p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300" b="0">
                <a:solidFill>
                  <a:srgbClr val="5F677A"/>
                </a:solidFill>
                <a:latin typeface="Arial"/>
                <a:ea typeface="Microsoft YaHei"/>
              </a:rPr>
              <a:t>phrase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06240" y="1463040"/>
            <a:ext cx="2377440" cy="8712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700" b="1">
                <a:solidFill>
                  <a:srgbClr val="FF6B5B"/>
                </a:solidFill>
                <a:latin typeface="Arial"/>
                <a:ea typeface="Microsoft YaHei"/>
              </a:rPr>
              <a:t>我来找…… / 我和……有会议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75120" y="1463040"/>
            <a:ext cx="4846320" cy="8712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700" b="0" i="1">
                <a:solidFill>
                  <a:srgbClr val="1F2A44"/>
                </a:solidFill>
                <a:latin typeface="Arial"/>
                <a:ea typeface="Microsoft YaHei"/>
              </a:rPr>
              <a:t>“I’m here to see Ms Lin. I have a ten o’clock meeting with her.”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2425700"/>
            <a:ext cx="11094415" cy="93522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48640" y="2425700"/>
            <a:ext cx="91440" cy="935228"/>
          </a:xfrm>
          <a:prstGeom prst="rect">
            <a:avLst/>
          </a:prstGeom>
          <a:solidFill>
            <a:srgbClr val="4A90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2471420"/>
            <a:ext cx="3429000" cy="8712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2000" b="1">
                <a:solidFill>
                  <a:srgbClr val="1F2A44"/>
                </a:solidFill>
                <a:latin typeface="Arial"/>
                <a:ea typeface="Microsoft YaHei"/>
              </a:rPr>
              <a:t>Could you sign in, please?</a:t>
            </a:r>
          </a:p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300" b="0">
                <a:solidFill>
                  <a:srgbClr val="5F677A"/>
                </a:solidFill>
                <a:latin typeface="Arial"/>
                <a:ea typeface="Microsoft YaHei"/>
              </a:rPr>
              <a:t>phrase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06240" y="2471420"/>
            <a:ext cx="2377440" cy="8712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700" b="1">
                <a:solidFill>
                  <a:srgbClr val="FF6B5B"/>
                </a:solidFill>
                <a:latin typeface="Arial"/>
                <a:ea typeface="Microsoft YaHei"/>
              </a:rPr>
              <a:t>请您登记一下好吗?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75120" y="2471420"/>
            <a:ext cx="4846320" cy="8712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700" b="0" i="1">
                <a:solidFill>
                  <a:srgbClr val="1F2A44"/>
                </a:solidFill>
                <a:latin typeface="Arial"/>
                <a:ea typeface="Microsoft YaHei"/>
              </a:rPr>
              <a:t>“Could you sign in here, please? Just your name, company and time.”</a:t>
            </a:r>
          </a:p>
        </p:txBody>
      </p:sp>
    </p:spTree>
  </p:cSld>
  <p:clrMapOvr>
    <a:masterClrMapping/>
  </p:clrMapOvr>
  <p:transition spd="med">
    <p:fade/>
  </p:transition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4A90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8442656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3200" b="1">
                <a:solidFill>
                  <a:srgbClr val="1F2A44"/>
                </a:solidFill>
                <a:latin typeface="Arial"/>
                <a:ea typeface="Microsoft YaHei"/>
              </a:rPr>
              <a:t>📚 Chunk 2: Directing and arranging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74175" y="438912"/>
            <a:ext cx="2560320" cy="475488"/>
          </a:xfrm>
          <a:prstGeom prst="roundRect">
            <a:avLst>
              <a:gd name="adj" fmla="val 50000"/>
            </a:avLst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3152" rIns="73152"/>
          <a:lstStyle/>
          <a:p>
            <a:pPr algn="ctr">
              <a:spcAft>
                <a:spcPts val="200"/>
              </a:spcAft>
            </a:pPr>
            <a:r>
              <a:rPr sz="1300" b="1">
                <a:solidFill>
                  <a:srgbClr val="FFFFFF"/>
                </a:solidFill>
                <a:latin typeface="Arial"/>
                <a:ea typeface="Microsoft YaHei"/>
              </a:rPr>
              <a:t>02 Vocabulary 词汇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19088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100" b="0">
                <a:solidFill>
                  <a:srgbClr val="5F677A"/>
                </a:solidFill>
                <a:latin typeface="Arial"/>
                <a:ea typeface="Microsoft YaHei"/>
              </a:rPr>
              <a:t>Business English · Level 4 · Unit 3 · Lesson 06 At reception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28655" y="6419088"/>
            <a:ext cx="914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  <a:spcAft>
                <a:spcPts val="800"/>
              </a:spcAft>
            </a:pPr>
            <a:r>
              <a:rPr sz="1100" b="0">
                <a:solidFill>
                  <a:srgbClr val="5F677A"/>
                </a:solidFill>
                <a:latin typeface="Arial"/>
                <a:ea typeface="Microsoft YaHei"/>
              </a:rPr>
              <a:t>9</a:t>
            </a:r>
          </a:p>
        </p:txBody>
      </p:sp>
      <p:sp>
        <p:nvSpPr>
          <p:cNvPr id="7" name="Rounded Rectangle 6">
            <a:hlinkClick action="ppaction://hlinksldjump" r:id="rId2"/>
          </p:cNvPr>
          <p:cNvSpPr/>
          <p:nvPr/>
        </p:nvSpPr>
        <p:spPr>
          <a:xfrm>
            <a:off x="9677095" y="6382512"/>
            <a:ext cx="960120" cy="329184"/>
          </a:xfrm>
          <a:prstGeom prst="roundRect">
            <a:avLst>
              <a:gd name="adj" fmla="val 50000"/>
            </a:avLst>
          </a:prstGeom>
          <a:solidFill>
            <a:srgbClr val="FFE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Aft>
                <a:spcPts val="200"/>
              </a:spcAft>
            </a:pPr>
            <a:r>
              <a:rPr sz="1100" b="1">
                <a:solidFill>
                  <a:srgbClr val="1F2A44"/>
                </a:solidFill>
                <a:latin typeface="Arial"/>
                <a:ea typeface="Microsoft YaHei"/>
              </a:rPr>
              <a:t>🗺 Map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960120"/>
            <a:ext cx="11094415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500" b="0">
                <a:solidFill>
                  <a:srgbClr val="5F677A"/>
                </a:solidFill>
                <a:latin typeface="Arial"/>
                <a:ea typeface="Microsoft YaHei"/>
              </a:rPr>
              <a:t>引导与安排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417320"/>
            <a:ext cx="11094415" cy="93522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1417320"/>
            <a:ext cx="91440" cy="935228"/>
          </a:xfrm>
          <a:prstGeom prst="rect">
            <a:avLst/>
          </a:prstGeom>
          <a:solidFill>
            <a:srgbClr val="FF6B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1463040"/>
            <a:ext cx="3429000" cy="8712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2000" b="1">
                <a:solidFill>
                  <a:srgbClr val="1F2A44"/>
                </a:solidFill>
                <a:latin typeface="Arial"/>
                <a:ea typeface="Microsoft YaHei"/>
              </a:rPr>
              <a:t>visitor’s badge / visitor pass</a:t>
            </a:r>
          </a:p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300" b="0">
                <a:solidFill>
                  <a:srgbClr val="5F677A"/>
                </a:solidFill>
                <a:latin typeface="Arial"/>
                <a:ea typeface="Microsoft YaHei"/>
              </a:rPr>
              <a:t>noun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06240" y="1463040"/>
            <a:ext cx="2377440" cy="8712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700" b="1">
                <a:solidFill>
                  <a:srgbClr val="FF6B5B"/>
                </a:solidFill>
                <a:latin typeface="Arial"/>
                <a:ea typeface="Microsoft YaHei"/>
              </a:rPr>
              <a:t>访客证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75120" y="1463040"/>
            <a:ext cx="4846320" cy="8712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700" b="0" i="1">
                <a:solidFill>
                  <a:srgbClr val="1F2A44"/>
                </a:solidFill>
                <a:latin typeface="Arial"/>
                <a:ea typeface="Microsoft YaHei"/>
              </a:rPr>
              <a:t>“Please wear your visitor’s badge while you’re in the building.”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2425700"/>
            <a:ext cx="11094415" cy="124002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48640" y="2425700"/>
            <a:ext cx="91440" cy="1240028"/>
          </a:xfrm>
          <a:prstGeom prst="rect">
            <a:avLst/>
          </a:prstGeom>
          <a:solidFill>
            <a:srgbClr val="9B6B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2471420"/>
            <a:ext cx="3429000" cy="11760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2000" b="1">
                <a:solidFill>
                  <a:srgbClr val="9B6BE0"/>
                </a:solidFill>
                <a:latin typeface="Arial"/>
                <a:ea typeface="Microsoft YaHei"/>
              </a:rPr>
              <a:t>★ Please take a seat. I’ll let her know you’re here.</a:t>
            </a:r>
          </a:p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300" b="0">
                <a:solidFill>
                  <a:srgbClr val="5F677A"/>
                </a:solidFill>
                <a:latin typeface="Arial"/>
                <a:ea typeface="Microsoft YaHei"/>
              </a:rPr>
              <a:t>phrase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06240" y="2471420"/>
            <a:ext cx="2377440" cy="11760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700" b="1">
                <a:solidFill>
                  <a:srgbClr val="FF6B5B"/>
                </a:solidFill>
                <a:latin typeface="Arial"/>
                <a:ea typeface="Microsoft YaHei"/>
              </a:rPr>
              <a:t>请坐,我这就通知她您到了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75120" y="2471420"/>
            <a:ext cx="4846320" cy="11760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700" b="0" i="1">
                <a:solidFill>
                  <a:srgbClr val="1F2A44"/>
                </a:solidFill>
                <a:latin typeface="Arial"/>
                <a:ea typeface="Microsoft YaHei"/>
              </a:rPr>
              <a:t>“Please take a seat. I’ll let Ms Lin know you’re here.”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3738880"/>
            <a:ext cx="11094415" cy="93522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48640" y="3738880"/>
            <a:ext cx="91440" cy="935228"/>
          </a:xfrm>
          <a:prstGeom prst="rect">
            <a:avLst/>
          </a:prstGeom>
          <a:solidFill>
            <a:srgbClr val="9B6B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1520" y="3784600"/>
            <a:ext cx="3429000" cy="8712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2000" b="1">
                <a:solidFill>
                  <a:srgbClr val="9B6BE0"/>
                </a:solidFill>
                <a:latin typeface="Arial"/>
                <a:ea typeface="Microsoft YaHei"/>
              </a:rPr>
              <a:t>★ She’ll be right with you.</a:t>
            </a:r>
          </a:p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300" b="0">
                <a:solidFill>
                  <a:srgbClr val="5F677A"/>
                </a:solidFill>
                <a:latin typeface="Arial"/>
                <a:ea typeface="Microsoft YaHei"/>
              </a:rPr>
              <a:t>phrase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206240" y="3784600"/>
            <a:ext cx="2377440" cy="8712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700" b="1">
                <a:solidFill>
                  <a:srgbClr val="FF6B5B"/>
                </a:solidFill>
                <a:latin typeface="Arial"/>
                <a:ea typeface="Microsoft YaHei"/>
              </a:rPr>
              <a:t>她马上就来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75120" y="3784600"/>
            <a:ext cx="4846320" cy="8712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700" b="0" i="1">
                <a:solidFill>
                  <a:srgbClr val="1F2A44"/>
                </a:solidFill>
                <a:latin typeface="Arial"/>
                <a:ea typeface="Microsoft YaHei"/>
              </a:rPr>
              <a:t>“Ms Lin will be right with you. Can I get you a coffee?”</a:t>
            </a:r>
          </a:p>
        </p:txBody>
      </p:sp>
    </p:spTree>
  </p:cSld>
  <p:clrMapOvr>
    <a:masterClrMapping/>
  </p:clrMapOvr>
  <p:transition spd="med">
    <p:fade/>
  </p:transition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4A90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8442656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2800" b="1">
                <a:solidFill>
                  <a:srgbClr val="1F2A44"/>
                </a:solidFill>
                <a:latin typeface="Arial"/>
                <a:ea typeface="Microsoft YaHei"/>
              </a:rPr>
              <a:t>📚 Chunk 2: Directing and arranging (cont.)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74175" y="438912"/>
            <a:ext cx="2560320" cy="475488"/>
          </a:xfrm>
          <a:prstGeom prst="roundRect">
            <a:avLst>
              <a:gd name="adj" fmla="val 50000"/>
            </a:avLst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3152" rIns="73152"/>
          <a:lstStyle/>
          <a:p>
            <a:pPr algn="ctr">
              <a:spcAft>
                <a:spcPts val="200"/>
              </a:spcAft>
            </a:pPr>
            <a:r>
              <a:rPr sz="1300" b="1">
                <a:solidFill>
                  <a:srgbClr val="FFFFFF"/>
                </a:solidFill>
                <a:latin typeface="Arial"/>
                <a:ea typeface="Microsoft YaHei"/>
              </a:rPr>
              <a:t>02 Vocabulary 词汇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19088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100" b="0">
                <a:solidFill>
                  <a:srgbClr val="5F677A"/>
                </a:solidFill>
                <a:latin typeface="Arial"/>
                <a:ea typeface="Microsoft YaHei"/>
              </a:rPr>
              <a:t>Business English · Level 4 · Unit 3 · Lesson 06 At reception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28655" y="6419088"/>
            <a:ext cx="914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  <a:spcAft>
                <a:spcPts val="800"/>
              </a:spcAft>
            </a:pPr>
            <a:r>
              <a:rPr sz="1100" b="0">
                <a:solidFill>
                  <a:srgbClr val="5F677A"/>
                </a:solidFill>
                <a:latin typeface="Arial"/>
                <a:ea typeface="Microsoft YaHei"/>
              </a:rPr>
              <a:t>10</a:t>
            </a:r>
          </a:p>
        </p:txBody>
      </p:sp>
      <p:sp>
        <p:nvSpPr>
          <p:cNvPr id="7" name="Rounded Rectangle 6">
            <a:hlinkClick action="ppaction://hlinksldjump" r:id="rId2"/>
          </p:cNvPr>
          <p:cNvSpPr/>
          <p:nvPr/>
        </p:nvSpPr>
        <p:spPr>
          <a:xfrm>
            <a:off x="9677095" y="6382512"/>
            <a:ext cx="960120" cy="329184"/>
          </a:xfrm>
          <a:prstGeom prst="roundRect">
            <a:avLst>
              <a:gd name="adj" fmla="val 50000"/>
            </a:avLst>
          </a:prstGeom>
          <a:solidFill>
            <a:srgbClr val="FFE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Aft>
                <a:spcPts val="200"/>
              </a:spcAft>
            </a:pPr>
            <a:r>
              <a:rPr sz="1100" b="1">
                <a:solidFill>
                  <a:srgbClr val="1F2A44"/>
                </a:solidFill>
                <a:latin typeface="Arial"/>
                <a:ea typeface="Microsoft YaHei"/>
              </a:rPr>
              <a:t>🗺 Map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960120"/>
            <a:ext cx="11094415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500" b="0">
                <a:solidFill>
                  <a:srgbClr val="5F677A"/>
                </a:solidFill>
                <a:latin typeface="Arial"/>
                <a:ea typeface="Microsoft YaHei"/>
              </a:rPr>
              <a:t>引导与安排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417320"/>
            <a:ext cx="11094415" cy="93522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1417320"/>
            <a:ext cx="91440" cy="935228"/>
          </a:xfrm>
          <a:prstGeom prst="rect">
            <a:avLst/>
          </a:prstGeom>
          <a:solidFill>
            <a:srgbClr val="FF6B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1463040"/>
            <a:ext cx="3429000" cy="8712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2000" b="1">
                <a:solidFill>
                  <a:srgbClr val="1F2A44"/>
                </a:solidFill>
                <a:latin typeface="Arial"/>
                <a:ea typeface="Microsoft YaHei"/>
              </a:rPr>
              <a:t>Take the lift to the third floor.</a:t>
            </a:r>
          </a:p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300" b="0">
                <a:solidFill>
                  <a:srgbClr val="5F677A"/>
                </a:solidFill>
                <a:latin typeface="Arial"/>
                <a:ea typeface="Microsoft YaHei"/>
              </a:rPr>
              <a:t>phrase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06240" y="1463040"/>
            <a:ext cx="2377440" cy="8712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700" b="1">
                <a:solidFill>
                  <a:srgbClr val="FF6B5B"/>
                </a:solidFill>
                <a:latin typeface="Arial"/>
                <a:ea typeface="Microsoft YaHei"/>
              </a:rPr>
              <a:t>请乘电梯到三楼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75120" y="1463040"/>
            <a:ext cx="4846320" cy="8712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700" b="0" i="1">
                <a:solidFill>
                  <a:srgbClr val="1F2A44"/>
                </a:solidFill>
                <a:latin typeface="Arial"/>
                <a:ea typeface="Microsoft YaHei"/>
              </a:rPr>
              <a:t>“Take the lift to the third floor. The meeting room is on your left.”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2425700"/>
            <a:ext cx="11094415" cy="93522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48640" y="2425700"/>
            <a:ext cx="91440" cy="935228"/>
          </a:xfrm>
          <a:prstGeom prst="rect">
            <a:avLst/>
          </a:prstGeom>
          <a:solidFill>
            <a:srgbClr val="9B6B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2471420"/>
            <a:ext cx="3429000" cy="8712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2000" b="1">
                <a:solidFill>
                  <a:srgbClr val="9B6BE0"/>
                </a:solidFill>
                <a:latin typeface="Arial"/>
                <a:ea typeface="Microsoft YaHei"/>
              </a:rPr>
              <a:t>★ I’ll show you the way.</a:t>
            </a:r>
          </a:p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300" b="0">
                <a:solidFill>
                  <a:srgbClr val="5F677A"/>
                </a:solidFill>
                <a:latin typeface="Arial"/>
                <a:ea typeface="Microsoft YaHei"/>
              </a:rPr>
              <a:t>phrase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06240" y="2471420"/>
            <a:ext cx="2377440" cy="8712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700" b="1">
                <a:solidFill>
                  <a:srgbClr val="FF6B5B"/>
                </a:solidFill>
                <a:latin typeface="Arial"/>
                <a:ea typeface="Microsoft YaHei"/>
              </a:rPr>
              <a:t>我带您过去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75120" y="2471420"/>
            <a:ext cx="4846320" cy="8712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700" b="0" i="1">
                <a:solidFill>
                  <a:srgbClr val="1F2A44"/>
                </a:solidFill>
                <a:latin typeface="Arial"/>
                <a:ea typeface="Microsoft YaHei"/>
              </a:rPr>
              <a:t>“It’s a bit hard to find. I’ll show you the way.”</a:t>
            </a:r>
          </a:p>
        </p:txBody>
      </p:sp>
    </p:spTree>
  </p:cSld>
  <p:clrMapOvr>
    <a:masterClrMapping/>
  </p:clrMapOvr>
  <p:transition spd="med">
    <p:fade/>
  </p:transition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4A90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8442656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3200" b="1">
                <a:solidFill>
                  <a:srgbClr val="1F2A44"/>
                </a:solidFill>
                <a:latin typeface="Arial"/>
                <a:ea typeface="Microsoft YaHei"/>
              </a:rPr>
              <a:t>📚 Chunk 3: Solving problems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74175" y="438912"/>
            <a:ext cx="2560320" cy="475488"/>
          </a:xfrm>
          <a:prstGeom prst="roundRect">
            <a:avLst>
              <a:gd name="adj" fmla="val 50000"/>
            </a:avLst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3152" rIns="73152"/>
          <a:lstStyle/>
          <a:p>
            <a:pPr algn="ctr">
              <a:spcAft>
                <a:spcPts val="200"/>
              </a:spcAft>
            </a:pPr>
            <a:r>
              <a:rPr sz="1300" b="1">
                <a:solidFill>
                  <a:srgbClr val="FFFFFF"/>
                </a:solidFill>
                <a:latin typeface="Arial"/>
                <a:ea typeface="Microsoft YaHei"/>
              </a:rPr>
              <a:t>02 Vocabulary 词汇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19088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100" b="0">
                <a:solidFill>
                  <a:srgbClr val="5F677A"/>
                </a:solidFill>
                <a:latin typeface="Arial"/>
                <a:ea typeface="Microsoft YaHei"/>
              </a:rPr>
              <a:t>Business English · Level 4 · Unit 3 · Lesson 06 At reception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28655" y="6419088"/>
            <a:ext cx="914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  <a:spcAft>
                <a:spcPts val="800"/>
              </a:spcAft>
            </a:pPr>
            <a:r>
              <a:rPr sz="1100" b="0">
                <a:solidFill>
                  <a:srgbClr val="5F677A"/>
                </a:solidFill>
                <a:latin typeface="Arial"/>
                <a:ea typeface="Microsoft YaHei"/>
              </a:rPr>
              <a:t>11</a:t>
            </a:r>
          </a:p>
        </p:txBody>
      </p:sp>
      <p:sp>
        <p:nvSpPr>
          <p:cNvPr id="7" name="Rounded Rectangle 6">
            <a:hlinkClick action="ppaction://hlinksldjump" r:id="rId2"/>
          </p:cNvPr>
          <p:cNvSpPr/>
          <p:nvPr/>
        </p:nvSpPr>
        <p:spPr>
          <a:xfrm>
            <a:off x="9677095" y="6382512"/>
            <a:ext cx="960120" cy="329184"/>
          </a:xfrm>
          <a:prstGeom prst="roundRect">
            <a:avLst>
              <a:gd name="adj" fmla="val 50000"/>
            </a:avLst>
          </a:prstGeom>
          <a:solidFill>
            <a:srgbClr val="FFE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Aft>
                <a:spcPts val="200"/>
              </a:spcAft>
            </a:pPr>
            <a:r>
              <a:rPr sz="1100" b="1">
                <a:solidFill>
                  <a:srgbClr val="1F2A44"/>
                </a:solidFill>
                <a:latin typeface="Arial"/>
                <a:ea typeface="Microsoft YaHei"/>
              </a:rPr>
              <a:t>🗺 Map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960120"/>
            <a:ext cx="11094415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500" b="0">
                <a:solidFill>
                  <a:srgbClr val="5F677A"/>
                </a:solidFill>
                <a:latin typeface="Arial"/>
                <a:ea typeface="Microsoft YaHei"/>
              </a:rPr>
              <a:t>解决问题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417320"/>
            <a:ext cx="11094415" cy="93522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1417320"/>
            <a:ext cx="91440" cy="935228"/>
          </a:xfrm>
          <a:prstGeom prst="rect">
            <a:avLst/>
          </a:prstGeom>
          <a:solidFill>
            <a:srgbClr val="FF6B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1463040"/>
            <a:ext cx="3429000" cy="8712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2000" b="1">
                <a:solidFill>
                  <a:srgbClr val="1F2A44"/>
                </a:solidFill>
                <a:latin typeface="Arial"/>
                <a:ea typeface="Microsoft YaHei"/>
              </a:rPr>
              <a:t>I’m afraid he’s in a meeting at the moment.</a:t>
            </a:r>
          </a:p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300" b="0">
                <a:solidFill>
                  <a:srgbClr val="5F677A"/>
                </a:solidFill>
                <a:latin typeface="Arial"/>
                <a:ea typeface="Microsoft YaHei"/>
              </a:rPr>
              <a:t>phrase (polite)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06240" y="1463040"/>
            <a:ext cx="2377440" cy="8712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700" b="1">
                <a:solidFill>
                  <a:srgbClr val="FF6B5B"/>
                </a:solidFill>
                <a:latin typeface="Arial"/>
                <a:ea typeface="Microsoft YaHei"/>
              </a:rPr>
              <a:t>恐怕他现在在开会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75120" y="1463040"/>
            <a:ext cx="4846320" cy="8712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700" b="0" i="1">
                <a:solidFill>
                  <a:srgbClr val="1F2A44"/>
                </a:solidFill>
                <a:latin typeface="Arial"/>
                <a:ea typeface="Microsoft YaHei"/>
              </a:rPr>
              <a:t>“I’m afraid Mr Tan is in a meeting at the moment.”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2425700"/>
            <a:ext cx="11094415" cy="93522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48640" y="2425700"/>
            <a:ext cx="91440" cy="935228"/>
          </a:xfrm>
          <a:prstGeom prst="rect">
            <a:avLst/>
          </a:prstGeom>
          <a:solidFill>
            <a:srgbClr val="9B6B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2471420"/>
            <a:ext cx="3429000" cy="8712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2000" b="1">
                <a:solidFill>
                  <a:srgbClr val="9B6BE0"/>
                </a:solidFill>
                <a:latin typeface="Arial"/>
                <a:ea typeface="Microsoft YaHei"/>
              </a:rPr>
              <a:t>★ She’s tied up until eleven.</a:t>
            </a:r>
          </a:p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300" b="0">
                <a:solidFill>
                  <a:srgbClr val="5F677A"/>
                </a:solidFill>
                <a:latin typeface="Arial"/>
                <a:ea typeface="Microsoft YaHei"/>
              </a:rPr>
              <a:t>idiom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06240" y="2471420"/>
            <a:ext cx="2377440" cy="8712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700" b="1">
                <a:solidFill>
                  <a:srgbClr val="FF6B5B"/>
                </a:solidFill>
                <a:latin typeface="Arial"/>
                <a:ea typeface="Microsoft YaHei"/>
              </a:rPr>
              <a:t>她十一点前走不开(忙着)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75120" y="2471420"/>
            <a:ext cx="4846320" cy="8712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700" b="0" i="1">
                <a:solidFill>
                  <a:srgbClr val="1F2A44"/>
                </a:solidFill>
                <a:latin typeface="Arial"/>
                <a:ea typeface="Microsoft YaHei"/>
              </a:rPr>
              <a:t>“I’m afraid she’s tied up until eleven. Would you like to wait?”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3434080"/>
            <a:ext cx="11094415" cy="63042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48640" y="3434080"/>
            <a:ext cx="91440" cy="630428"/>
          </a:xfrm>
          <a:prstGeom prst="rect">
            <a:avLst/>
          </a:prstGeom>
          <a:solidFill>
            <a:srgbClr val="3CC4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1520" y="3479800"/>
            <a:ext cx="3429000" cy="5664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2000" b="1">
                <a:solidFill>
                  <a:srgbClr val="1F2A44"/>
                </a:solidFill>
                <a:latin typeface="Arial"/>
                <a:ea typeface="Microsoft YaHei"/>
              </a:rPr>
              <a:t>Can I take a message?</a:t>
            </a:r>
          </a:p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300" b="0">
                <a:solidFill>
                  <a:srgbClr val="5F677A"/>
                </a:solidFill>
                <a:latin typeface="Arial"/>
                <a:ea typeface="Microsoft YaHei"/>
              </a:rPr>
              <a:t>phrase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206240" y="3479800"/>
            <a:ext cx="2377440" cy="5664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700" b="1">
                <a:solidFill>
                  <a:srgbClr val="FF6B5B"/>
                </a:solidFill>
                <a:latin typeface="Arial"/>
                <a:ea typeface="Microsoft YaHei"/>
              </a:rPr>
              <a:t>需要我帮您留言吗?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75120" y="3479800"/>
            <a:ext cx="4846320" cy="5664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700" b="0" i="1">
                <a:solidFill>
                  <a:srgbClr val="1F2A44"/>
                </a:solidFill>
                <a:latin typeface="Arial"/>
                <a:ea typeface="Microsoft YaHei"/>
              </a:rPr>
              <a:t>“Mr Tan is out today. Can I take a message?”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48640" y="4137660"/>
            <a:ext cx="11094415" cy="93522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48640" y="4137660"/>
            <a:ext cx="91440" cy="935228"/>
          </a:xfrm>
          <a:prstGeom prst="rect">
            <a:avLst/>
          </a:prstGeom>
          <a:solidFill>
            <a:srgbClr val="9B6B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31520" y="4183380"/>
            <a:ext cx="3429000" cy="8712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2000" b="1">
                <a:solidFill>
                  <a:srgbClr val="9B6BE0"/>
                </a:solidFill>
                <a:latin typeface="Arial"/>
                <a:ea typeface="Microsoft YaHei"/>
              </a:rPr>
              <a:t>★ I’m sorry about the mix-up.</a:t>
            </a:r>
          </a:p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300" b="0">
                <a:solidFill>
                  <a:srgbClr val="5F677A"/>
                </a:solidFill>
                <a:latin typeface="Arial"/>
                <a:ea typeface="Microsoft YaHei"/>
              </a:rPr>
              <a:t>phrase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206240" y="4183380"/>
            <a:ext cx="2377440" cy="8712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700" b="1">
                <a:solidFill>
                  <a:srgbClr val="FF6B5B"/>
                </a:solidFill>
                <a:latin typeface="Arial"/>
                <a:ea typeface="Microsoft YaHei"/>
              </a:rPr>
              <a:t>对于这个误会/弄错的事,我很抱歉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675120" y="4183380"/>
            <a:ext cx="4846320" cy="8712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700" b="0" i="1">
                <a:solidFill>
                  <a:srgbClr val="1F2A44"/>
                </a:solidFill>
                <a:latin typeface="Arial"/>
                <a:ea typeface="Microsoft YaHei"/>
              </a:rPr>
              <a:t>“I’m sorry about the mix-up with the date.”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48640" y="5146040"/>
            <a:ext cx="11094415" cy="93522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548640" y="5146040"/>
            <a:ext cx="91440" cy="935228"/>
          </a:xfrm>
          <a:prstGeom prst="rect">
            <a:avLst/>
          </a:prstGeom>
          <a:solidFill>
            <a:srgbClr val="9B6B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31520" y="5191760"/>
            <a:ext cx="3429000" cy="8712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2000" b="1">
                <a:solidFill>
                  <a:srgbClr val="1F2A44"/>
                </a:solidFill>
                <a:latin typeface="Arial"/>
                <a:ea typeface="Microsoft YaHei"/>
              </a:rPr>
              <a:t>Is there anything else I can help you with?</a:t>
            </a:r>
          </a:p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300" b="0">
                <a:solidFill>
                  <a:srgbClr val="5F677A"/>
                </a:solidFill>
                <a:latin typeface="Arial"/>
                <a:ea typeface="Microsoft YaHei"/>
              </a:rPr>
              <a:t>phrase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206240" y="5191760"/>
            <a:ext cx="2377440" cy="8712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700" b="1">
                <a:solidFill>
                  <a:srgbClr val="FF6B5B"/>
                </a:solidFill>
                <a:latin typeface="Arial"/>
                <a:ea typeface="Microsoft YaHei"/>
              </a:rPr>
              <a:t>还有什么我能帮您的吗?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675120" y="5191760"/>
            <a:ext cx="4846320" cy="8712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700" b="0" i="1">
                <a:solidFill>
                  <a:srgbClr val="1F2A44"/>
                </a:solidFill>
                <a:latin typeface="Arial"/>
                <a:ea typeface="Microsoft YaHei"/>
              </a:rPr>
              <a:t>“Is there anything else I can help you with?” — “No, that’s all. Thanks.”</a:t>
            </a:r>
          </a:p>
        </p:txBody>
      </p:sp>
    </p:spTree>
  </p:cSld>
  <p:clrMapOvr>
    <a:masterClrMapping/>
  </p:clrMapOvr>
  <p:transition spd="med">
    <p:fade/>
  </p:transition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F6B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8442656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3200" b="1">
                <a:solidFill>
                  <a:srgbClr val="1F2A44"/>
                </a:solidFill>
                <a:latin typeface="Arial"/>
                <a:ea typeface="Microsoft YaHei"/>
              </a:rPr>
              <a:t>⚡ Speed Round: Say it in English!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74175" y="438912"/>
            <a:ext cx="2560320" cy="475488"/>
          </a:xfrm>
          <a:prstGeom prst="roundRect">
            <a:avLst>
              <a:gd name="adj" fmla="val 50000"/>
            </a:avLst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3152" rIns="73152"/>
          <a:lstStyle/>
          <a:p>
            <a:pPr algn="ctr">
              <a:spcAft>
                <a:spcPts val="200"/>
              </a:spcAft>
            </a:pPr>
            <a:r>
              <a:rPr sz="1300" b="1">
                <a:solidFill>
                  <a:srgbClr val="FFFFFF"/>
                </a:solidFill>
                <a:latin typeface="Arial"/>
                <a:ea typeface="Microsoft YaHei"/>
              </a:rPr>
              <a:t>🎮 Game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19088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100" b="0">
                <a:solidFill>
                  <a:srgbClr val="5F677A"/>
                </a:solidFill>
                <a:latin typeface="Arial"/>
                <a:ea typeface="Microsoft YaHei"/>
              </a:rPr>
              <a:t>Business English · Level 4 · Unit 3 · Lesson 06 At reception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28655" y="6419088"/>
            <a:ext cx="914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  <a:spcAft>
                <a:spcPts val="800"/>
              </a:spcAft>
            </a:pPr>
            <a:r>
              <a:rPr sz="1100" b="0">
                <a:solidFill>
                  <a:srgbClr val="5F677A"/>
                </a:solidFill>
                <a:latin typeface="Arial"/>
                <a:ea typeface="Microsoft YaHei"/>
              </a:rPr>
              <a:t>12</a:t>
            </a:r>
          </a:p>
        </p:txBody>
      </p:sp>
      <p:sp>
        <p:nvSpPr>
          <p:cNvPr id="7" name="Rounded Rectangle 6">
            <a:hlinkClick action="ppaction://hlinksldjump" r:id="rId2"/>
          </p:cNvPr>
          <p:cNvSpPr/>
          <p:nvPr/>
        </p:nvSpPr>
        <p:spPr>
          <a:xfrm>
            <a:off x="9677095" y="6382512"/>
            <a:ext cx="960120" cy="329184"/>
          </a:xfrm>
          <a:prstGeom prst="roundRect">
            <a:avLst>
              <a:gd name="adj" fmla="val 50000"/>
            </a:avLst>
          </a:prstGeom>
          <a:solidFill>
            <a:srgbClr val="FFE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Aft>
                <a:spcPts val="200"/>
              </a:spcAft>
            </a:pPr>
            <a:r>
              <a:rPr sz="1100" b="1">
                <a:solidFill>
                  <a:srgbClr val="1F2A44"/>
                </a:solidFill>
                <a:latin typeface="Arial"/>
                <a:ea typeface="Microsoft YaHei"/>
              </a:rPr>
              <a:t>🗺 Map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024128"/>
            <a:ext cx="11094415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500" b="0">
                <a:solidFill>
                  <a:srgbClr val="5F677A"/>
                </a:solidFill>
                <a:latin typeface="Arial"/>
                <a:ea typeface="Microsoft YaHei"/>
              </a:rPr>
              <a:t>Read the Chinese, shout the English expression! Click to reveal.  看中文，抢答英文表达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554480"/>
            <a:ext cx="2636443" cy="21488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31750">
            <a:solidFill>
              <a:srgbClr val="FF6B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1691640"/>
            <a:ext cx="2453563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800"/>
              </a:spcAft>
            </a:pPr>
            <a:r>
              <a:rPr sz="2400" b="1">
                <a:solidFill>
                  <a:srgbClr val="1F2A44"/>
                </a:solidFill>
                <a:latin typeface="Arial"/>
                <a:ea typeface="Microsoft YaHei"/>
              </a:rPr>
              <a:t>请乘电梯到三楼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2651760"/>
            <a:ext cx="2362123" cy="914400"/>
          </a:xfrm>
          <a:prstGeom prst="roundRect">
            <a:avLst>
              <a:gd name="adj" fmla="val 20000"/>
            </a:avLst>
          </a:prstGeom>
          <a:solidFill>
            <a:srgbClr val="FF6B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FFFFFF"/>
                </a:solidFill>
                <a:latin typeface="Arial"/>
                <a:ea typeface="Microsoft YaHei"/>
              </a:rPr>
              <a:t>Take the lift to the third floor.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367963" y="1554480"/>
            <a:ext cx="2636443" cy="21488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31750">
            <a:solidFill>
              <a:srgbClr val="4A90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59403" y="1691640"/>
            <a:ext cx="2453563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800"/>
              </a:spcAft>
            </a:pPr>
            <a:r>
              <a:rPr sz="2200" b="1">
                <a:solidFill>
                  <a:srgbClr val="1F2A44"/>
                </a:solidFill>
                <a:latin typeface="Arial"/>
                <a:ea typeface="Microsoft YaHei"/>
              </a:rPr>
              <a:t>对于这个误会/弄错的事,我很抱歉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505123" y="2651760"/>
            <a:ext cx="2362123" cy="914400"/>
          </a:xfrm>
          <a:prstGeom prst="roundRect">
            <a:avLst>
              <a:gd name="adj" fmla="val 20000"/>
            </a:avLst>
          </a:prstGeom>
          <a:solidFill>
            <a:srgbClr val="4A90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FFFFFF"/>
                </a:solidFill>
                <a:latin typeface="Arial"/>
                <a:ea typeface="Microsoft YaHei"/>
              </a:rPr>
              <a:t>I’m sorry about the mix-up.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87286" y="1554480"/>
            <a:ext cx="2636443" cy="21488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31750">
            <a:solidFill>
              <a:srgbClr val="3CC4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78726" y="1691640"/>
            <a:ext cx="2453563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800"/>
              </a:spcAft>
            </a:pPr>
            <a:r>
              <a:rPr sz="2400" b="1">
                <a:solidFill>
                  <a:srgbClr val="1F2A44"/>
                </a:solidFill>
                <a:latin typeface="Arial"/>
                <a:ea typeface="Microsoft YaHei"/>
              </a:rPr>
              <a:t>您有预约吗?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24446" y="2651760"/>
            <a:ext cx="2362123" cy="914400"/>
          </a:xfrm>
          <a:prstGeom prst="roundRect">
            <a:avLst>
              <a:gd name="adj" fmla="val 20000"/>
            </a:avLst>
          </a:prstGeom>
          <a:solidFill>
            <a:srgbClr val="3CC4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FFFFFF"/>
                </a:solidFill>
                <a:latin typeface="Arial"/>
                <a:ea typeface="Microsoft YaHei"/>
              </a:rPr>
              <a:t>Do you have an appointment?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006609" y="1554480"/>
            <a:ext cx="2636443" cy="21488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31750">
            <a:solidFill>
              <a:srgbClr val="FFC8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098049" y="1691640"/>
            <a:ext cx="2453563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800"/>
              </a:spcAft>
            </a:pPr>
            <a:r>
              <a:rPr sz="2400" b="1">
                <a:solidFill>
                  <a:srgbClr val="1F2A44"/>
                </a:solidFill>
                <a:latin typeface="Arial"/>
                <a:ea typeface="Microsoft YaHei"/>
              </a:rPr>
              <a:t>我来找…… / 我和……有会议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143769" y="2651760"/>
            <a:ext cx="2362123" cy="914400"/>
          </a:xfrm>
          <a:prstGeom prst="roundRect">
            <a:avLst>
              <a:gd name="adj" fmla="val 20000"/>
            </a:avLst>
          </a:prstGeom>
          <a:solidFill>
            <a:srgbClr val="FFC8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Arial"/>
                <a:ea typeface="Microsoft YaHei"/>
              </a:rPr>
              <a:t>I’m here to see… / I have a meeting with…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8640" y="3886200"/>
            <a:ext cx="2636443" cy="21488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31750">
            <a:solidFill>
              <a:srgbClr val="9B6B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4023360"/>
            <a:ext cx="2453563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800"/>
              </a:spcAft>
            </a:pPr>
            <a:r>
              <a:rPr sz="2400" b="1">
                <a:solidFill>
                  <a:srgbClr val="1F2A44"/>
                </a:solidFill>
                <a:latin typeface="Arial"/>
                <a:ea typeface="Microsoft YaHei"/>
              </a:rPr>
              <a:t>您是来找哪位的?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85800" y="4983480"/>
            <a:ext cx="2362123" cy="914400"/>
          </a:xfrm>
          <a:prstGeom prst="roundRect">
            <a:avLst>
              <a:gd name="adj" fmla="val 20000"/>
            </a:avLst>
          </a:prstGeom>
          <a:solidFill>
            <a:srgbClr val="9B6B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FFFFFF"/>
                </a:solidFill>
                <a:latin typeface="Arial"/>
                <a:ea typeface="Microsoft YaHei"/>
              </a:rPr>
              <a:t>Who are you here to see?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367963" y="3886200"/>
            <a:ext cx="2636443" cy="21488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31750">
            <a:solidFill>
              <a:srgbClr val="FF6B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459403" y="4023360"/>
            <a:ext cx="2453563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800"/>
              </a:spcAft>
            </a:pPr>
            <a:r>
              <a:rPr sz="2400" b="1">
                <a:solidFill>
                  <a:srgbClr val="1F2A44"/>
                </a:solidFill>
                <a:latin typeface="Arial"/>
                <a:ea typeface="Microsoft YaHei"/>
              </a:rPr>
              <a:t>她马上就来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505123" y="4983480"/>
            <a:ext cx="2362123" cy="914400"/>
          </a:xfrm>
          <a:prstGeom prst="roundRect">
            <a:avLst>
              <a:gd name="adj" fmla="val 20000"/>
            </a:avLst>
          </a:prstGeom>
          <a:solidFill>
            <a:srgbClr val="FF6B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FFFFFF"/>
                </a:solidFill>
                <a:latin typeface="Arial"/>
                <a:ea typeface="Microsoft YaHei"/>
              </a:rPr>
              <a:t>She’ll be right with you.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187286" y="3886200"/>
            <a:ext cx="2636443" cy="21488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31750">
            <a:solidFill>
              <a:srgbClr val="4A90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278726" y="4023360"/>
            <a:ext cx="2453563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800"/>
              </a:spcAft>
            </a:pPr>
            <a:r>
              <a:rPr sz="2400" b="1">
                <a:solidFill>
                  <a:srgbClr val="1F2A44"/>
                </a:solidFill>
                <a:latin typeface="Arial"/>
                <a:ea typeface="Microsoft YaHei"/>
              </a:rPr>
              <a:t>访客证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324446" y="4983480"/>
            <a:ext cx="2362123" cy="914400"/>
          </a:xfrm>
          <a:prstGeom prst="roundRect">
            <a:avLst>
              <a:gd name="adj" fmla="val 20000"/>
            </a:avLst>
          </a:prstGeom>
          <a:solidFill>
            <a:srgbClr val="4A90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FFFFFF"/>
                </a:solidFill>
                <a:latin typeface="Arial"/>
                <a:ea typeface="Microsoft YaHei"/>
              </a:rPr>
              <a:t>visitor’s badge / visitor pass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006609" y="3886200"/>
            <a:ext cx="2636443" cy="21488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31750">
            <a:solidFill>
              <a:srgbClr val="3CC4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098049" y="4023360"/>
            <a:ext cx="2453563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800"/>
              </a:spcAft>
            </a:pPr>
            <a:r>
              <a:rPr sz="2400" b="1">
                <a:solidFill>
                  <a:srgbClr val="1F2A44"/>
                </a:solidFill>
                <a:latin typeface="Arial"/>
                <a:ea typeface="Microsoft YaHei"/>
              </a:rPr>
              <a:t>请您登记一下好吗?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9143769" y="4983480"/>
            <a:ext cx="2362123" cy="914400"/>
          </a:xfrm>
          <a:prstGeom prst="roundRect">
            <a:avLst>
              <a:gd name="adj" fmla="val 20000"/>
            </a:avLst>
          </a:prstGeom>
          <a:solidFill>
            <a:srgbClr val="3CC4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FFFFFF"/>
                </a:solidFill>
                <a:latin typeface="Arial"/>
                <a:ea typeface="Microsoft YaHei"/>
              </a:rPr>
              <a:t>Could you sign in, please?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" fill="hold">
                      <p:stCondLst>
                        <p:cond delay="indefinite"/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4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3CC4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8442656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3200" b="1">
                <a:solidFill>
                  <a:srgbClr val="1F2A44"/>
                </a:solidFill>
                <a:latin typeface="Arial"/>
                <a:ea typeface="Microsoft YaHei"/>
              </a:rPr>
              <a:t>✏️ Mini Quiz: Fill in the Blanks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74175" y="438912"/>
            <a:ext cx="2560320" cy="475488"/>
          </a:xfrm>
          <a:prstGeom prst="roundRect">
            <a:avLst>
              <a:gd name="adj" fmla="val 50000"/>
            </a:avLst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3152" rIns="73152"/>
          <a:lstStyle/>
          <a:p>
            <a:pPr algn="ctr">
              <a:spcAft>
                <a:spcPts val="200"/>
              </a:spcAft>
            </a:pPr>
            <a:r>
              <a:rPr sz="1300" b="1">
                <a:solidFill>
                  <a:srgbClr val="FFFFFF"/>
                </a:solidFill>
                <a:latin typeface="Arial"/>
                <a:ea typeface="Microsoft YaHei"/>
              </a:rPr>
              <a:t>02 Vocabulary 词汇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19088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100" b="0">
                <a:solidFill>
                  <a:srgbClr val="5F677A"/>
                </a:solidFill>
                <a:latin typeface="Arial"/>
                <a:ea typeface="Microsoft YaHei"/>
              </a:rPr>
              <a:t>Business English · Level 4 · Unit 3 · Lesson 06 At reception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28655" y="6419088"/>
            <a:ext cx="914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  <a:spcAft>
                <a:spcPts val="800"/>
              </a:spcAft>
            </a:pPr>
            <a:r>
              <a:rPr sz="1100" b="0">
                <a:solidFill>
                  <a:srgbClr val="5F677A"/>
                </a:solidFill>
                <a:latin typeface="Arial"/>
                <a:ea typeface="Microsoft YaHei"/>
              </a:rPr>
              <a:t>13</a:t>
            </a:r>
          </a:p>
        </p:txBody>
      </p:sp>
      <p:sp>
        <p:nvSpPr>
          <p:cNvPr id="7" name="Rounded Rectangle 6">
            <a:hlinkClick action="ppaction://hlinksldjump" r:id="rId2"/>
          </p:cNvPr>
          <p:cNvSpPr/>
          <p:nvPr/>
        </p:nvSpPr>
        <p:spPr>
          <a:xfrm>
            <a:off x="9677095" y="6382512"/>
            <a:ext cx="960120" cy="329184"/>
          </a:xfrm>
          <a:prstGeom prst="roundRect">
            <a:avLst>
              <a:gd name="adj" fmla="val 50000"/>
            </a:avLst>
          </a:prstGeom>
          <a:solidFill>
            <a:srgbClr val="FFE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Aft>
                <a:spcPts val="200"/>
              </a:spcAft>
            </a:pPr>
            <a:r>
              <a:rPr sz="1100" b="1">
                <a:solidFill>
                  <a:srgbClr val="1F2A44"/>
                </a:solidFill>
                <a:latin typeface="Arial"/>
                <a:ea typeface="Microsoft YaHei"/>
              </a:rPr>
              <a:t>🗺 Map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960120"/>
            <a:ext cx="146304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400" b="0">
                <a:solidFill>
                  <a:srgbClr val="5F677A"/>
                </a:solidFill>
                <a:latin typeface="Arial"/>
                <a:ea typeface="Microsoft YaHei"/>
              </a:rPr>
              <a:t>Word bank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011680" y="987552"/>
            <a:ext cx="914400" cy="411480"/>
          </a:xfrm>
          <a:prstGeom prst="roundRect">
            <a:avLst>
              <a:gd name="adj" fmla="val 50000"/>
            </a:avLst>
          </a:prstGeom>
          <a:solidFill>
            <a:srgbClr val="FF6B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Arial"/>
                <a:ea typeface="Microsoft YaHei"/>
              </a:rPr>
              <a:t>badge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017520" y="987552"/>
            <a:ext cx="804672" cy="411480"/>
          </a:xfrm>
          <a:prstGeom prst="roundRect">
            <a:avLst>
              <a:gd name="adj" fmla="val 50000"/>
            </a:avLst>
          </a:prstGeom>
          <a:solidFill>
            <a:srgbClr val="4A90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Arial"/>
                <a:ea typeface="Microsoft YaHei"/>
              </a:rPr>
              <a:t>show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913632" y="987552"/>
            <a:ext cx="804672" cy="411480"/>
          </a:xfrm>
          <a:prstGeom prst="roundRect">
            <a:avLst>
              <a:gd name="adj" fmla="val 50000"/>
            </a:avLst>
          </a:prstGeom>
          <a:solidFill>
            <a:srgbClr val="3CC4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Arial"/>
                <a:ea typeface="Microsoft YaHei"/>
              </a:rPr>
              <a:t>sign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809744" y="987552"/>
            <a:ext cx="1024128" cy="411480"/>
          </a:xfrm>
          <a:prstGeom prst="roundRect">
            <a:avLst>
              <a:gd name="adj" fmla="val 50000"/>
            </a:avLst>
          </a:prstGeom>
          <a:solidFill>
            <a:srgbClr val="FFC8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Arial"/>
                <a:ea typeface="Microsoft YaHei"/>
              </a:rPr>
              <a:t>afraid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925312" y="987552"/>
            <a:ext cx="1572767" cy="411480"/>
          </a:xfrm>
          <a:prstGeom prst="roundRect">
            <a:avLst>
              <a:gd name="adj" fmla="val 50000"/>
            </a:avLst>
          </a:prstGeom>
          <a:solidFill>
            <a:srgbClr val="9B6B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Arial"/>
                <a:ea typeface="Microsoft YaHei"/>
              </a:rPr>
              <a:t>appointment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589519" y="987552"/>
            <a:ext cx="804672" cy="411480"/>
          </a:xfrm>
          <a:prstGeom prst="roundRect">
            <a:avLst>
              <a:gd name="adj" fmla="val 50000"/>
            </a:avLst>
          </a:prstGeom>
          <a:solidFill>
            <a:srgbClr val="FF6B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Arial"/>
                <a:ea typeface="Microsoft YaHei"/>
              </a:rPr>
              <a:t>tied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1600200"/>
            <a:ext cx="11094415" cy="605028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5800" y="1600200"/>
            <a:ext cx="8076895" cy="6050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2000" b="0">
                <a:solidFill>
                  <a:srgbClr val="1F2A44"/>
                </a:solidFill>
                <a:latin typeface="Arial"/>
                <a:ea typeface="Microsoft YaHei"/>
              </a:rPr>
              <a:t>1.  “Do you have an _______ with Ms Lin?”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082735" y="1655064"/>
            <a:ext cx="2468880" cy="495300"/>
          </a:xfrm>
          <a:prstGeom prst="roundRect">
            <a:avLst>
              <a:gd name="adj" fmla="val 50000"/>
            </a:avLst>
          </a:prstGeom>
          <a:solidFill>
            <a:srgbClr val="3CC4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FFFFFF"/>
                </a:solidFill>
                <a:latin typeface="Arial"/>
                <a:ea typeface="Microsoft YaHei"/>
              </a:rPr>
              <a:t>appointment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2278380"/>
            <a:ext cx="11094415" cy="605028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2278380"/>
            <a:ext cx="8076895" cy="6050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2000" b="0">
                <a:solidFill>
                  <a:srgbClr val="1F2A44"/>
                </a:solidFill>
                <a:latin typeface="Arial"/>
                <a:ea typeface="Microsoft YaHei"/>
              </a:rPr>
              <a:t>2.  Could you _______ in at the desk, please?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082735" y="2333244"/>
            <a:ext cx="2468880" cy="495300"/>
          </a:xfrm>
          <a:prstGeom prst="roundRect">
            <a:avLst>
              <a:gd name="adj" fmla="val 50000"/>
            </a:avLst>
          </a:prstGeom>
          <a:solidFill>
            <a:srgbClr val="3CC4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FFFFFF"/>
                </a:solidFill>
                <a:latin typeface="Arial"/>
                <a:ea typeface="Microsoft YaHei"/>
              </a:rPr>
              <a:t>sign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8640" y="2956560"/>
            <a:ext cx="11094415" cy="605028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85800" y="2956560"/>
            <a:ext cx="8076895" cy="6050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2000" b="0">
                <a:solidFill>
                  <a:srgbClr val="1F2A44"/>
                </a:solidFill>
                <a:latin typeface="Arial"/>
                <a:ea typeface="Microsoft YaHei"/>
              </a:rPr>
              <a:t>3.  Please wear this visitor’s _______ during your visit.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082735" y="3011424"/>
            <a:ext cx="2468880" cy="495300"/>
          </a:xfrm>
          <a:prstGeom prst="roundRect">
            <a:avLst>
              <a:gd name="adj" fmla="val 50000"/>
            </a:avLst>
          </a:prstGeom>
          <a:solidFill>
            <a:srgbClr val="3CC4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FFFFFF"/>
                </a:solidFill>
                <a:latin typeface="Arial"/>
                <a:ea typeface="Microsoft YaHei"/>
              </a:rPr>
              <a:t>badge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48640" y="3634740"/>
            <a:ext cx="11094415" cy="605028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85800" y="3634740"/>
            <a:ext cx="8076895" cy="6050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2000" b="0">
                <a:solidFill>
                  <a:srgbClr val="1F2A44"/>
                </a:solidFill>
                <a:latin typeface="Arial"/>
                <a:ea typeface="Microsoft YaHei"/>
              </a:rPr>
              <a:t>4.  I’m _______ Mr Park is in a meeting at the moment.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082735" y="3689604"/>
            <a:ext cx="2468880" cy="495300"/>
          </a:xfrm>
          <a:prstGeom prst="roundRect">
            <a:avLst>
              <a:gd name="adj" fmla="val 50000"/>
            </a:avLst>
          </a:prstGeom>
          <a:solidFill>
            <a:srgbClr val="3CC4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FFFFFF"/>
                </a:solidFill>
                <a:latin typeface="Arial"/>
                <a:ea typeface="Microsoft YaHei"/>
              </a:rPr>
              <a:t>afraid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48640" y="4312920"/>
            <a:ext cx="11094415" cy="605028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85800" y="4312920"/>
            <a:ext cx="8076895" cy="6050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2000" b="0">
                <a:solidFill>
                  <a:srgbClr val="1F2A44"/>
                </a:solidFill>
                <a:latin typeface="Arial"/>
                <a:ea typeface="Microsoft YaHei"/>
              </a:rPr>
              <a:t>5.  Sorry, she’s _______ up until eleven. Would you like to wait?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082735" y="4367784"/>
            <a:ext cx="2468880" cy="495300"/>
          </a:xfrm>
          <a:prstGeom prst="roundRect">
            <a:avLst>
              <a:gd name="adj" fmla="val 50000"/>
            </a:avLst>
          </a:prstGeom>
          <a:solidFill>
            <a:srgbClr val="3CC4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FFFFFF"/>
                </a:solidFill>
                <a:latin typeface="Arial"/>
                <a:ea typeface="Microsoft YaHei"/>
              </a:rPr>
              <a:t>tied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48640" y="4991100"/>
            <a:ext cx="11094415" cy="605028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85800" y="4991100"/>
            <a:ext cx="8076895" cy="6050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2000" b="0">
                <a:solidFill>
                  <a:srgbClr val="1F2A44"/>
                </a:solidFill>
                <a:latin typeface="Arial"/>
                <a:ea typeface="Microsoft YaHei"/>
              </a:rPr>
              <a:t>6.  Please follow me. I’ll _______ you the way.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9082735" y="5045964"/>
            <a:ext cx="2468880" cy="495300"/>
          </a:xfrm>
          <a:prstGeom prst="roundRect">
            <a:avLst>
              <a:gd name="adj" fmla="val 50000"/>
            </a:avLst>
          </a:prstGeom>
          <a:solidFill>
            <a:srgbClr val="3CC4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FFFFFF"/>
                </a:solidFill>
                <a:latin typeface="Arial"/>
                <a:ea typeface="Microsoft YaHei"/>
              </a:rPr>
              <a:t>show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48640" y="5760720"/>
            <a:ext cx="11094415" cy="502920"/>
          </a:xfrm>
          <a:prstGeom prst="roundRect">
            <a:avLst>
              <a:gd name="adj" fmla="val 30000"/>
            </a:avLst>
          </a:prstGeom>
          <a:solidFill>
            <a:srgbClr val="FFE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1F2A44"/>
                </a:solidFill>
                <a:latin typeface="Arial"/>
                <a:ea typeface="Microsoft YaHei"/>
              </a:rPr>
              <a:t>⚠️ 拼写与冠词): appointment (two p’s, one m before -ent: ap-point-ment), receptionist (not “recepcionist”), colleague. Use an before appointment: “I have an appointment.”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" fill="hold">
                      <p:stCondLst>
                        <p:cond delay="indefinite"/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9B6B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8442656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2200" b="1">
                <a:solidFill>
                  <a:srgbClr val="1F2A44"/>
                </a:solidFill>
                <a:latin typeface="Arial"/>
                <a:ea typeface="Microsoft YaHei"/>
              </a:rPr>
              <a:t>🎭 Role Play · Checking in a visitor with an appointment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74175" y="438912"/>
            <a:ext cx="2560320" cy="475488"/>
          </a:xfrm>
          <a:prstGeom prst="roundRect">
            <a:avLst>
              <a:gd name="adj" fmla="val 50000"/>
            </a:avLst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3152" rIns="73152"/>
          <a:lstStyle/>
          <a:p>
            <a:pPr algn="ctr">
              <a:spcAft>
                <a:spcPts val="200"/>
              </a:spcAft>
            </a:pPr>
            <a:r>
              <a:rPr sz="1300" b="1">
                <a:solidFill>
                  <a:srgbClr val="FFFFFF"/>
                </a:solidFill>
                <a:latin typeface="Arial"/>
                <a:ea typeface="Microsoft YaHei"/>
              </a:rPr>
              <a:t>03 Role play 角色扮演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19088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100" b="0">
                <a:solidFill>
                  <a:srgbClr val="5F677A"/>
                </a:solidFill>
                <a:latin typeface="Arial"/>
                <a:ea typeface="Microsoft YaHei"/>
              </a:rPr>
              <a:t>Business English · Level 4 · Unit 3 · Lesson 06 At reception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28655" y="6419088"/>
            <a:ext cx="914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  <a:spcAft>
                <a:spcPts val="800"/>
              </a:spcAft>
            </a:pPr>
            <a:r>
              <a:rPr sz="1100" b="0">
                <a:solidFill>
                  <a:srgbClr val="5F677A"/>
                </a:solidFill>
                <a:latin typeface="Arial"/>
                <a:ea typeface="Microsoft YaHei"/>
              </a:rPr>
              <a:t>14</a:t>
            </a:r>
          </a:p>
        </p:txBody>
      </p:sp>
      <p:sp>
        <p:nvSpPr>
          <p:cNvPr id="7" name="Rounded Rectangle 6">
            <a:hlinkClick action="ppaction://hlinksldjump" r:id="rId2"/>
          </p:cNvPr>
          <p:cNvSpPr/>
          <p:nvPr/>
        </p:nvSpPr>
        <p:spPr>
          <a:xfrm>
            <a:off x="9677095" y="6382512"/>
            <a:ext cx="960120" cy="329184"/>
          </a:xfrm>
          <a:prstGeom prst="roundRect">
            <a:avLst>
              <a:gd name="adj" fmla="val 50000"/>
            </a:avLst>
          </a:prstGeom>
          <a:solidFill>
            <a:srgbClr val="FFE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Aft>
                <a:spcPts val="200"/>
              </a:spcAft>
            </a:pPr>
            <a:r>
              <a:rPr sz="1100" b="1">
                <a:solidFill>
                  <a:srgbClr val="1F2A44"/>
                </a:solidFill>
                <a:latin typeface="Arial"/>
                <a:ea typeface="Microsoft YaHei"/>
              </a:rPr>
              <a:t>🗺 Map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960120"/>
            <a:ext cx="11094415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500" b="0">
                <a:solidFill>
                  <a:srgbClr val="5F677A"/>
                </a:solidFill>
                <a:latin typeface="Arial"/>
                <a:ea typeface="Microsoft YaHei"/>
              </a:rPr>
              <a:t>接待有预约的访客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463040"/>
            <a:ext cx="11094415" cy="14630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31750">
            <a:solidFill>
              <a:srgbClr val="9B6B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5F677A"/>
                </a:solidFill>
                <a:latin typeface="Arial"/>
                <a:ea typeface="Microsoft YaHei"/>
              </a:rPr>
              <a:t>📍 Situation 情景</a:t>
            </a:r>
          </a:p>
          <a:p>
            <a:pPr algn="l">
              <a:spcAft>
                <a:spcPts val="200"/>
              </a:spcAft>
            </a:pPr>
            <a:r>
              <a:rPr sz="2400" b="1">
                <a:solidFill>
                  <a:srgbClr val="1F2A44"/>
                </a:solidFill>
                <a:latin typeface="Arial"/>
                <a:ea typeface="Microsoft YaHei"/>
              </a:rPr>
              <a:t>Mr Carlos Diaz arrives at 10 a.m. for a meeting with Ms Lin. You are the receptionist.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3200400"/>
            <a:ext cx="5410047" cy="21945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777240" y="3429000"/>
            <a:ext cx="1097280" cy="1097280"/>
          </a:xfrm>
          <a:prstGeom prst="ellipse">
            <a:avLst/>
          </a:prstGeom>
          <a:solidFill>
            <a:srgbClr val="FF6B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3152" rIns="73152"/>
          <a:lstStyle/>
          <a:p>
            <a:pPr algn="ctr">
              <a:spcAft>
                <a:spcPts val="200"/>
              </a:spcAft>
            </a:pPr>
            <a:r>
              <a:rPr sz="3600" b="1">
                <a:solidFill>
                  <a:srgbClr val="FFFFFF"/>
                </a:solidFill>
                <a:latin typeface="Arial"/>
                <a:ea typeface="Microsoft YaHei"/>
              </a:rPr>
              <a:t>👔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11680" y="3291840"/>
            <a:ext cx="3809847" cy="2011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400" b="1">
                <a:solidFill>
                  <a:srgbClr val="FF6B5B"/>
                </a:solidFill>
                <a:latin typeface="Arial"/>
                <a:ea typeface="Microsoft YaHei"/>
              </a:rPr>
              <a:t>Role A</a:t>
            </a:r>
          </a:p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2000" b="1">
                <a:solidFill>
                  <a:srgbClr val="1F2A44"/>
                </a:solidFill>
                <a:latin typeface="Arial"/>
                <a:ea typeface="Microsoft YaHei"/>
              </a:rPr>
              <a:t>Amy Wu, receptionist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33007" y="3200400"/>
            <a:ext cx="5410047" cy="21945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61607" y="3429000"/>
            <a:ext cx="1097280" cy="1097280"/>
          </a:xfrm>
          <a:prstGeom prst="ellipse">
            <a:avLst/>
          </a:prstGeom>
          <a:solidFill>
            <a:srgbClr val="4A90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3152" rIns="73152"/>
          <a:lstStyle/>
          <a:p>
            <a:pPr algn="ctr">
              <a:spcAft>
                <a:spcPts val="200"/>
              </a:spcAft>
            </a:pPr>
            <a:r>
              <a:rPr sz="3600" b="1">
                <a:solidFill>
                  <a:srgbClr val="FFFFFF"/>
                </a:solidFill>
                <a:latin typeface="Arial"/>
                <a:ea typeface="Microsoft YaHei"/>
              </a:rPr>
              <a:t>💼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96047" y="3291840"/>
            <a:ext cx="3809847" cy="2011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400" b="1">
                <a:solidFill>
                  <a:srgbClr val="4A90E2"/>
                </a:solidFill>
                <a:latin typeface="Arial"/>
                <a:ea typeface="Microsoft YaHei"/>
              </a:rPr>
              <a:t>Role B</a:t>
            </a:r>
          </a:p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2000" b="1">
                <a:solidFill>
                  <a:srgbClr val="1F2A44"/>
                </a:solidFill>
                <a:latin typeface="Arial"/>
                <a:ea typeface="Microsoft YaHei"/>
              </a:rPr>
              <a:t>Carlos Diaz, visitor from Delta Packaging</a:t>
            </a:r>
          </a:p>
        </p:txBody>
      </p:sp>
    </p:spTree>
  </p:cSld>
  <p:clrMapOvr>
    <a:masterClrMapping/>
  </p:clrMapOvr>
  <p:transition spd="med">
    <p:fade/>
  </p:transition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9B6B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8442656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2200" b="1">
                <a:solidFill>
                  <a:srgbClr val="1F2A44"/>
                </a:solidFill>
                <a:latin typeface="Arial"/>
                <a:ea typeface="Microsoft YaHei"/>
              </a:rPr>
              <a:t>🎭 Model Dialogue · Checking in a visitor with an appointment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74175" y="438912"/>
            <a:ext cx="2560320" cy="475488"/>
          </a:xfrm>
          <a:prstGeom prst="roundRect">
            <a:avLst>
              <a:gd name="adj" fmla="val 50000"/>
            </a:avLst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3152" rIns="73152"/>
          <a:lstStyle/>
          <a:p>
            <a:pPr algn="ctr">
              <a:spcAft>
                <a:spcPts val="200"/>
              </a:spcAft>
            </a:pPr>
            <a:r>
              <a:rPr sz="1300" b="1">
                <a:solidFill>
                  <a:srgbClr val="FFFFFF"/>
                </a:solidFill>
                <a:latin typeface="Arial"/>
                <a:ea typeface="Microsoft YaHei"/>
              </a:rPr>
              <a:t>Part 1/2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19088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100" b="0">
                <a:solidFill>
                  <a:srgbClr val="5F677A"/>
                </a:solidFill>
                <a:latin typeface="Arial"/>
                <a:ea typeface="Microsoft YaHei"/>
              </a:rPr>
              <a:t>Business English · Level 4 · Unit 3 · Lesson 06 At reception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28655" y="6419088"/>
            <a:ext cx="914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  <a:spcAft>
                <a:spcPts val="800"/>
              </a:spcAft>
            </a:pPr>
            <a:r>
              <a:rPr sz="1100" b="0">
                <a:solidFill>
                  <a:srgbClr val="5F677A"/>
                </a:solidFill>
                <a:latin typeface="Arial"/>
                <a:ea typeface="Microsoft YaHei"/>
              </a:rPr>
              <a:t>15</a:t>
            </a:r>
          </a:p>
        </p:txBody>
      </p:sp>
      <p:sp>
        <p:nvSpPr>
          <p:cNvPr id="7" name="Rounded Rectangle 6">
            <a:hlinkClick action="ppaction://hlinksldjump" r:id="rId2"/>
          </p:cNvPr>
          <p:cNvSpPr/>
          <p:nvPr/>
        </p:nvSpPr>
        <p:spPr>
          <a:xfrm>
            <a:off x="9677095" y="6382512"/>
            <a:ext cx="960120" cy="329184"/>
          </a:xfrm>
          <a:prstGeom prst="roundRect">
            <a:avLst>
              <a:gd name="adj" fmla="val 50000"/>
            </a:avLst>
          </a:prstGeom>
          <a:solidFill>
            <a:srgbClr val="FFE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Aft>
                <a:spcPts val="200"/>
              </a:spcAft>
            </a:pPr>
            <a:r>
              <a:rPr sz="1100" b="1">
                <a:solidFill>
                  <a:srgbClr val="1F2A44"/>
                </a:solidFill>
                <a:latin typeface="Arial"/>
                <a:ea typeface="Microsoft YaHei"/>
              </a:rPr>
              <a:t>🗺 Map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325880"/>
            <a:ext cx="731520" cy="457200"/>
          </a:xfrm>
          <a:prstGeom prst="roundRect">
            <a:avLst>
              <a:gd name="adj" fmla="val 50000"/>
            </a:avLst>
          </a:prstGeom>
          <a:solidFill>
            <a:srgbClr val="FF6B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Arial"/>
                <a:ea typeface="Microsoft YaHei"/>
              </a:rPr>
              <a:t>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1764792"/>
            <a:ext cx="1280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800"/>
              </a:spcAft>
            </a:pPr>
            <a:r>
              <a:rPr sz="1000" b="0">
                <a:solidFill>
                  <a:srgbClr val="5F677A"/>
                </a:solidFill>
                <a:latin typeface="Arial"/>
                <a:ea typeface="Microsoft YaHei"/>
              </a:rPr>
              <a:t>Amy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463040" y="1325880"/>
            <a:ext cx="8595360" cy="490728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31750">
            <a:solidFill>
              <a:srgbClr val="FF6B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l">
              <a:spcAft>
                <a:spcPts val="200"/>
              </a:spcAft>
            </a:pPr>
            <a:r>
              <a:rPr sz="1900" b="1">
                <a:solidFill>
                  <a:srgbClr val="1F2A44"/>
                </a:solidFill>
                <a:latin typeface="Arial"/>
                <a:ea typeface="Microsoft YaHei"/>
              </a:rPr>
              <a:t>Good morning. How can I help you?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911535" y="1908048"/>
            <a:ext cx="731520" cy="457200"/>
          </a:xfrm>
          <a:prstGeom prst="roundRect">
            <a:avLst>
              <a:gd name="adj" fmla="val 50000"/>
            </a:avLst>
          </a:prstGeom>
          <a:solidFill>
            <a:srgbClr val="4A90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Arial"/>
                <a:ea typeface="Microsoft YaHei"/>
              </a:rPr>
              <a:t>B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37215" y="2346960"/>
            <a:ext cx="1280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800"/>
              </a:spcAft>
            </a:pPr>
            <a:r>
              <a:rPr sz="1000" b="0">
                <a:solidFill>
                  <a:srgbClr val="5F677A"/>
                </a:solidFill>
                <a:latin typeface="Arial"/>
                <a:ea typeface="Microsoft YaHei"/>
              </a:rPr>
              <a:t>Carlos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133295" y="1908048"/>
            <a:ext cx="8595360" cy="780288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31750">
            <a:solidFill>
              <a:srgbClr val="4A90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l">
              <a:spcAft>
                <a:spcPts val="200"/>
              </a:spcAft>
            </a:pPr>
            <a:r>
              <a:rPr sz="1900" b="1">
                <a:solidFill>
                  <a:srgbClr val="1F2A44"/>
                </a:solidFill>
                <a:latin typeface="Arial"/>
                <a:ea typeface="Microsoft YaHei"/>
              </a:rPr>
              <a:t>Good morning. I’m Carlos Diaz from Delta Packaging. I have a ten o’clock appointment with Ms Lin.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2779776"/>
            <a:ext cx="731520" cy="457200"/>
          </a:xfrm>
          <a:prstGeom prst="roundRect">
            <a:avLst>
              <a:gd name="adj" fmla="val 50000"/>
            </a:avLst>
          </a:prstGeom>
          <a:solidFill>
            <a:srgbClr val="FF6B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Arial"/>
                <a:ea typeface="Microsoft YaHei"/>
              </a:rPr>
              <a:t>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4320" y="3218688"/>
            <a:ext cx="1280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800"/>
              </a:spcAft>
            </a:pPr>
            <a:r>
              <a:rPr sz="1000" b="0">
                <a:solidFill>
                  <a:srgbClr val="5F677A"/>
                </a:solidFill>
                <a:latin typeface="Arial"/>
                <a:ea typeface="Microsoft YaHei"/>
              </a:rPr>
              <a:t> 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463040" y="2779776"/>
            <a:ext cx="8595360" cy="780288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31750">
            <a:solidFill>
              <a:srgbClr val="FF6B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l">
              <a:spcAft>
                <a:spcPts val="200"/>
              </a:spcAft>
            </a:pPr>
            <a:r>
              <a:rPr sz="1900" b="1">
                <a:solidFill>
                  <a:srgbClr val="1F2A44"/>
                </a:solidFill>
                <a:latin typeface="Arial"/>
                <a:ea typeface="Microsoft YaHei"/>
              </a:rPr>
              <a:t>Let me just check. Yes, Mr Diaz, she’s expecting you. Could you sign in here, please?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911535" y="3651504"/>
            <a:ext cx="731520" cy="457200"/>
          </a:xfrm>
          <a:prstGeom prst="roundRect">
            <a:avLst>
              <a:gd name="adj" fmla="val 50000"/>
            </a:avLst>
          </a:prstGeom>
          <a:solidFill>
            <a:srgbClr val="4A90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Arial"/>
                <a:ea typeface="Microsoft YaHei"/>
              </a:rPr>
              <a:t>B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637215" y="4090416"/>
            <a:ext cx="1280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800"/>
              </a:spcAft>
            </a:pPr>
            <a:r>
              <a:rPr sz="1000" b="0">
                <a:solidFill>
                  <a:srgbClr val="5F677A"/>
                </a:solidFill>
                <a:latin typeface="Arial"/>
                <a:ea typeface="Microsoft YaHei"/>
              </a:rPr>
              <a:t> 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133295" y="3651504"/>
            <a:ext cx="8595360" cy="490728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31750">
            <a:solidFill>
              <a:srgbClr val="4A90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l">
              <a:spcAft>
                <a:spcPts val="200"/>
              </a:spcAft>
            </a:pPr>
            <a:r>
              <a:rPr sz="1900" b="1">
                <a:solidFill>
                  <a:srgbClr val="1F2A44"/>
                </a:solidFill>
                <a:latin typeface="Arial"/>
                <a:ea typeface="Microsoft YaHei"/>
              </a:rPr>
              <a:t>Of course. What do I need to write?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4233672"/>
            <a:ext cx="731520" cy="457200"/>
          </a:xfrm>
          <a:prstGeom prst="roundRect">
            <a:avLst>
              <a:gd name="adj" fmla="val 50000"/>
            </a:avLst>
          </a:prstGeom>
          <a:solidFill>
            <a:srgbClr val="FF6B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Arial"/>
                <a:ea typeface="Microsoft YaHei"/>
              </a:rPr>
              <a:t>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74320" y="4672584"/>
            <a:ext cx="1280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800"/>
              </a:spcAft>
            </a:pPr>
            <a:r>
              <a:rPr sz="1000" b="0">
                <a:solidFill>
                  <a:srgbClr val="5F677A"/>
                </a:solidFill>
                <a:latin typeface="Arial"/>
                <a:ea typeface="Microsoft YaHei"/>
              </a:rPr>
              <a:t> 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463040" y="4233672"/>
            <a:ext cx="8595360" cy="1069847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31750">
            <a:solidFill>
              <a:srgbClr val="FF6B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l">
              <a:spcAft>
                <a:spcPts val="200"/>
              </a:spcAft>
            </a:pPr>
            <a:r>
              <a:rPr sz="1900" b="1">
                <a:solidFill>
                  <a:srgbClr val="1F2A44"/>
                </a:solidFill>
                <a:latin typeface="Arial"/>
                <a:ea typeface="Microsoft YaHei"/>
              </a:rPr>
              <a:t>Just your name, your company and the time, please. Thank you. And here’s your visitor’s badge. Please wear it while you’re in the building.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0911535" y="5394959"/>
            <a:ext cx="731520" cy="457200"/>
          </a:xfrm>
          <a:prstGeom prst="roundRect">
            <a:avLst>
              <a:gd name="adj" fmla="val 50000"/>
            </a:avLst>
          </a:prstGeom>
          <a:solidFill>
            <a:srgbClr val="4A90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Arial"/>
                <a:ea typeface="Microsoft YaHei"/>
              </a:rPr>
              <a:t>B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637215" y="5833871"/>
            <a:ext cx="1280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800"/>
              </a:spcAft>
            </a:pPr>
            <a:r>
              <a:rPr sz="1000" b="0">
                <a:solidFill>
                  <a:srgbClr val="5F677A"/>
                </a:solidFill>
                <a:latin typeface="Arial"/>
                <a:ea typeface="Microsoft YaHei"/>
              </a:rPr>
              <a:t> 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2133295" y="5394959"/>
            <a:ext cx="8595360" cy="490728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31750">
            <a:solidFill>
              <a:srgbClr val="4A90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l">
              <a:spcAft>
                <a:spcPts val="200"/>
              </a:spcAft>
            </a:pPr>
            <a:r>
              <a:rPr sz="1900" b="1">
                <a:solidFill>
                  <a:srgbClr val="1F2A44"/>
                </a:solidFill>
                <a:latin typeface="Arial"/>
                <a:ea typeface="Microsoft YaHei"/>
              </a:rPr>
              <a:t>Thanks. Is the meeting room far from here?</a:t>
            </a:r>
          </a:p>
        </p:txBody>
      </p:sp>
    </p:spTree>
  </p:cSld>
  <p:clrMapOvr>
    <a:masterClrMapping/>
  </p:clrMapOvr>
  <p:transition spd="med">
    <p:fade/>
  </p:transition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9B6B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8442656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2200" b="1">
                <a:solidFill>
                  <a:srgbClr val="1F2A44"/>
                </a:solidFill>
                <a:latin typeface="Arial"/>
                <a:ea typeface="Microsoft YaHei"/>
              </a:rPr>
              <a:t>🎭 Model Dialogue · Checking in a visitor with an appointment (cont.)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74175" y="438912"/>
            <a:ext cx="2560320" cy="475488"/>
          </a:xfrm>
          <a:prstGeom prst="roundRect">
            <a:avLst>
              <a:gd name="adj" fmla="val 50000"/>
            </a:avLst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3152" rIns="73152"/>
          <a:lstStyle/>
          <a:p>
            <a:pPr algn="ctr">
              <a:spcAft>
                <a:spcPts val="200"/>
              </a:spcAft>
            </a:pPr>
            <a:r>
              <a:rPr sz="1300" b="1">
                <a:solidFill>
                  <a:srgbClr val="FFFFFF"/>
                </a:solidFill>
                <a:latin typeface="Arial"/>
                <a:ea typeface="Microsoft YaHei"/>
              </a:rPr>
              <a:t>Part 2/2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19088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100" b="0">
                <a:solidFill>
                  <a:srgbClr val="5F677A"/>
                </a:solidFill>
                <a:latin typeface="Arial"/>
                <a:ea typeface="Microsoft YaHei"/>
              </a:rPr>
              <a:t>Business English · Level 4 · Unit 3 · Lesson 06 At reception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28655" y="6419088"/>
            <a:ext cx="914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  <a:spcAft>
                <a:spcPts val="800"/>
              </a:spcAft>
            </a:pPr>
            <a:r>
              <a:rPr sz="1100" b="0">
                <a:solidFill>
                  <a:srgbClr val="5F677A"/>
                </a:solidFill>
                <a:latin typeface="Arial"/>
                <a:ea typeface="Microsoft YaHei"/>
              </a:rPr>
              <a:t>16</a:t>
            </a:r>
          </a:p>
        </p:txBody>
      </p:sp>
      <p:sp>
        <p:nvSpPr>
          <p:cNvPr id="7" name="Rounded Rectangle 6">
            <a:hlinkClick action="ppaction://hlinksldjump" r:id="rId2"/>
          </p:cNvPr>
          <p:cNvSpPr/>
          <p:nvPr/>
        </p:nvSpPr>
        <p:spPr>
          <a:xfrm>
            <a:off x="9677095" y="6382512"/>
            <a:ext cx="960120" cy="329184"/>
          </a:xfrm>
          <a:prstGeom prst="roundRect">
            <a:avLst>
              <a:gd name="adj" fmla="val 50000"/>
            </a:avLst>
          </a:prstGeom>
          <a:solidFill>
            <a:srgbClr val="FFE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Aft>
                <a:spcPts val="200"/>
              </a:spcAft>
            </a:pPr>
            <a:r>
              <a:rPr sz="1100" b="1">
                <a:solidFill>
                  <a:srgbClr val="1F2A44"/>
                </a:solidFill>
                <a:latin typeface="Arial"/>
                <a:ea typeface="Microsoft YaHei"/>
              </a:rPr>
              <a:t>🗺 Map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325880"/>
            <a:ext cx="731520" cy="457200"/>
          </a:xfrm>
          <a:prstGeom prst="roundRect">
            <a:avLst>
              <a:gd name="adj" fmla="val 50000"/>
            </a:avLst>
          </a:prstGeom>
          <a:solidFill>
            <a:srgbClr val="FF6B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Arial"/>
                <a:ea typeface="Microsoft YaHei"/>
              </a:rPr>
              <a:t>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1764792"/>
            <a:ext cx="1280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800"/>
              </a:spcAft>
            </a:pPr>
            <a:r>
              <a:rPr sz="1000" b="0">
                <a:solidFill>
                  <a:srgbClr val="5F677A"/>
                </a:solidFill>
                <a:latin typeface="Arial"/>
                <a:ea typeface="Microsoft YaHei"/>
              </a:rPr>
              <a:t> 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463040" y="1325880"/>
            <a:ext cx="8595360" cy="780288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31750">
            <a:solidFill>
              <a:srgbClr val="FF6B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l">
              <a:spcAft>
                <a:spcPts val="200"/>
              </a:spcAft>
            </a:pPr>
            <a:r>
              <a:rPr sz="1900" b="1">
                <a:solidFill>
                  <a:srgbClr val="1F2A44"/>
                </a:solidFill>
                <a:latin typeface="Arial"/>
                <a:ea typeface="Microsoft YaHei"/>
              </a:rPr>
              <a:t>Not at all. Take the lift to the third floor and turn left. Actually, I’ll let Ms Lin know you’re here, and she’ll come and get you.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911535" y="2197608"/>
            <a:ext cx="731520" cy="457200"/>
          </a:xfrm>
          <a:prstGeom prst="roundRect">
            <a:avLst>
              <a:gd name="adj" fmla="val 50000"/>
            </a:avLst>
          </a:prstGeom>
          <a:solidFill>
            <a:srgbClr val="4A90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Arial"/>
                <a:ea typeface="Microsoft YaHei"/>
              </a:rPr>
              <a:t>B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37215" y="2636520"/>
            <a:ext cx="1280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800"/>
              </a:spcAft>
            </a:pPr>
            <a:r>
              <a:rPr sz="1000" b="0">
                <a:solidFill>
                  <a:srgbClr val="5F677A"/>
                </a:solidFill>
                <a:latin typeface="Arial"/>
                <a:ea typeface="Microsoft YaHei"/>
              </a:rPr>
              <a:t> 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133295" y="2197608"/>
            <a:ext cx="8595360" cy="490728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31750">
            <a:solidFill>
              <a:srgbClr val="4A90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l">
              <a:spcAft>
                <a:spcPts val="200"/>
              </a:spcAft>
            </a:pPr>
            <a:r>
              <a:rPr sz="1900" b="1">
                <a:solidFill>
                  <a:srgbClr val="1F2A44"/>
                </a:solidFill>
                <a:latin typeface="Arial"/>
                <a:ea typeface="Microsoft YaHei"/>
              </a:rPr>
              <a:t>That’s very kind of you.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2779776"/>
            <a:ext cx="731520" cy="457200"/>
          </a:xfrm>
          <a:prstGeom prst="roundRect">
            <a:avLst>
              <a:gd name="adj" fmla="val 50000"/>
            </a:avLst>
          </a:prstGeom>
          <a:solidFill>
            <a:srgbClr val="FF6B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Arial"/>
                <a:ea typeface="Microsoft YaHei"/>
              </a:rPr>
              <a:t>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4320" y="3218688"/>
            <a:ext cx="1280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800"/>
              </a:spcAft>
            </a:pPr>
            <a:r>
              <a:rPr sz="1000" b="0">
                <a:solidFill>
                  <a:srgbClr val="5F677A"/>
                </a:solidFill>
                <a:latin typeface="Arial"/>
                <a:ea typeface="Microsoft YaHei"/>
              </a:rPr>
              <a:t> 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463040" y="2779776"/>
            <a:ext cx="8595360" cy="780288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31750">
            <a:solidFill>
              <a:srgbClr val="FF6B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l">
              <a:spcAft>
                <a:spcPts val="200"/>
              </a:spcAft>
            </a:pPr>
            <a:r>
              <a:rPr sz="1900" b="1">
                <a:solidFill>
                  <a:srgbClr val="1F2A44"/>
                </a:solidFill>
                <a:latin typeface="Arial"/>
                <a:ea typeface="Microsoft YaHei"/>
              </a:rPr>
              <a:t>Please take a seat. She’ll be right with you. Can I get you a tea or coffee while you wait?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911535" y="3651504"/>
            <a:ext cx="731520" cy="457200"/>
          </a:xfrm>
          <a:prstGeom prst="roundRect">
            <a:avLst>
              <a:gd name="adj" fmla="val 50000"/>
            </a:avLst>
          </a:prstGeom>
          <a:solidFill>
            <a:srgbClr val="4A90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Arial"/>
                <a:ea typeface="Microsoft YaHei"/>
              </a:rPr>
              <a:t>B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637215" y="4090416"/>
            <a:ext cx="1280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800"/>
              </a:spcAft>
            </a:pPr>
            <a:r>
              <a:rPr sz="1000" b="0">
                <a:solidFill>
                  <a:srgbClr val="5F677A"/>
                </a:solidFill>
                <a:latin typeface="Arial"/>
                <a:ea typeface="Microsoft YaHei"/>
              </a:rPr>
              <a:t> 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133295" y="3651504"/>
            <a:ext cx="8595360" cy="490728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31750">
            <a:solidFill>
              <a:srgbClr val="4A90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l">
              <a:spcAft>
                <a:spcPts val="200"/>
              </a:spcAft>
            </a:pPr>
            <a:r>
              <a:rPr sz="1900" b="1">
                <a:solidFill>
                  <a:srgbClr val="1F2A44"/>
                </a:solidFill>
                <a:latin typeface="Arial"/>
                <a:ea typeface="Microsoft YaHei"/>
              </a:rPr>
              <a:t>A coffee would be great, thanks.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4233672"/>
            <a:ext cx="731520" cy="457200"/>
          </a:xfrm>
          <a:prstGeom prst="roundRect">
            <a:avLst>
              <a:gd name="adj" fmla="val 50000"/>
            </a:avLst>
          </a:prstGeom>
          <a:solidFill>
            <a:srgbClr val="FF6B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Arial"/>
                <a:ea typeface="Microsoft YaHei"/>
              </a:rPr>
              <a:t>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74320" y="4672584"/>
            <a:ext cx="1280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800"/>
              </a:spcAft>
            </a:pPr>
            <a:r>
              <a:rPr sz="1000" b="0">
                <a:solidFill>
                  <a:srgbClr val="5F677A"/>
                </a:solidFill>
                <a:latin typeface="Arial"/>
                <a:ea typeface="Microsoft YaHei"/>
              </a:rPr>
              <a:t> 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463040" y="4233672"/>
            <a:ext cx="8595360" cy="490728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31750">
            <a:solidFill>
              <a:srgbClr val="FF6B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l">
              <a:spcAft>
                <a:spcPts val="200"/>
              </a:spcAft>
            </a:pPr>
            <a:r>
              <a:rPr sz="1900" b="1">
                <a:solidFill>
                  <a:srgbClr val="1F2A44"/>
                </a:solidFill>
                <a:latin typeface="Arial"/>
                <a:ea typeface="Microsoft YaHei"/>
              </a:rPr>
              <a:t>Milk or sugar?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0911535" y="4815840"/>
            <a:ext cx="731520" cy="457200"/>
          </a:xfrm>
          <a:prstGeom prst="roundRect">
            <a:avLst>
              <a:gd name="adj" fmla="val 50000"/>
            </a:avLst>
          </a:prstGeom>
          <a:solidFill>
            <a:srgbClr val="4A90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Arial"/>
                <a:ea typeface="Microsoft YaHei"/>
              </a:rPr>
              <a:t>B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637215" y="5254752"/>
            <a:ext cx="1280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800"/>
              </a:spcAft>
            </a:pPr>
            <a:r>
              <a:rPr sz="1000" b="0">
                <a:solidFill>
                  <a:srgbClr val="5F677A"/>
                </a:solidFill>
                <a:latin typeface="Arial"/>
                <a:ea typeface="Microsoft YaHei"/>
              </a:rPr>
              <a:t> 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2133295" y="4815840"/>
            <a:ext cx="8595360" cy="490728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31750">
            <a:solidFill>
              <a:srgbClr val="4A90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l">
              <a:spcAft>
                <a:spcPts val="200"/>
              </a:spcAft>
            </a:pPr>
            <a:r>
              <a:rPr sz="1900" b="1">
                <a:solidFill>
                  <a:srgbClr val="1F2A44"/>
                </a:solidFill>
                <a:latin typeface="Arial"/>
                <a:ea typeface="Microsoft YaHei"/>
              </a:rPr>
              <a:t>Just milk, please.</a:t>
            </a:r>
          </a:p>
        </p:txBody>
      </p:sp>
    </p:spTree>
  </p:cSld>
  <p:clrMapOvr>
    <a:masterClrMapping/>
  </p:clrMapOvr>
  <p:transition spd="med">
    <p:fade/>
  </p:transition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FC8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8442656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2200" b="1">
                <a:solidFill>
                  <a:srgbClr val="1F2A44"/>
                </a:solidFill>
                <a:latin typeface="Arial"/>
                <a:ea typeface="Microsoft YaHei"/>
              </a:rPr>
              <a:t>🎯 Your Turn · Checking in a visitor with an appointment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74175" y="438912"/>
            <a:ext cx="2560320" cy="475488"/>
          </a:xfrm>
          <a:prstGeom prst="roundRect">
            <a:avLst>
              <a:gd name="adj" fmla="val 50000"/>
            </a:avLst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3152" rIns="73152"/>
          <a:lstStyle/>
          <a:p>
            <a:pPr algn="ctr">
              <a:spcAft>
                <a:spcPts val="200"/>
              </a:spcAft>
            </a:pPr>
            <a:r>
              <a:rPr sz="1300" b="1">
                <a:solidFill>
                  <a:srgbClr val="FFFFFF"/>
                </a:solidFill>
                <a:latin typeface="Arial"/>
                <a:ea typeface="Microsoft YaHei"/>
              </a:rPr>
              <a:t>03 Role play 角色扮演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19088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100" b="0">
                <a:solidFill>
                  <a:srgbClr val="5F677A"/>
                </a:solidFill>
                <a:latin typeface="Arial"/>
                <a:ea typeface="Microsoft YaHei"/>
              </a:rPr>
              <a:t>Business English · Level 4 · Unit 3 · Lesson 06 At reception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28655" y="6419088"/>
            <a:ext cx="914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  <a:spcAft>
                <a:spcPts val="800"/>
              </a:spcAft>
            </a:pPr>
            <a:r>
              <a:rPr sz="1100" b="0">
                <a:solidFill>
                  <a:srgbClr val="5F677A"/>
                </a:solidFill>
                <a:latin typeface="Arial"/>
                <a:ea typeface="Microsoft YaHei"/>
              </a:rPr>
              <a:t>17</a:t>
            </a:r>
          </a:p>
        </p:txBody>
      </p:sp>
      <p:sp>
        <p:nvSpPr>
          <p:cNvPr id="7" name="Rounded Rectangle 6">
            <a:hlinkClick action="ppaction://hlinksldjump" r:id="rId2"/>
          </p:cNvPr>
          <p:cNvSpPr/>
          <p:nvPr/>
        </p:nvSpPr>
        <p:spPr>
          <a:xfrm>
            <a:off x="9677095" y="6382512"/>
            <a:ext cx="960120" cy="329184"/>
          </a:xfrm>
          <a:prstGeom prst="roundRect">
            <a:avLst>
              <a:gd name="adj" fmla="val 50000"/>
            </a:avLst>
          </a:prstGeom>
          <a:solidFill>
            <a:srgbClr val="FFE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Aft>
                <a:spcPts val="200"/>
              </a:spcAft>
            </a:pPr>
            <a:r>
              <a:rPr sz="1100" b="1">
                <a:solidFill>
                  <a:srgbClr val="1F2A44"/>
                </a:solidFill>
                <a:latin typeface="Arial"/>
                <a:ea typeface="Microsoft YaHei"/>
              </a:rPr>
              <a:t>🗺 Map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325880"/>
            <a:ext cx="2377440" cy="408432"/>
          </a:xfrm>
          <a:prstGeom prst="roundRect">
            <a:avLst>
              <a:gd name="adj" fmla="val 15000"/>
            </a:avLst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Arial"/>
                <a:ea typeface="Microsoft YaHei"/>
              </a:rPr>
              <a:t>Situation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017520" y="1325880"/>
            <a:ext cx="8625535" cy="408432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1F2A44"/>
                </a:solidFill>
                <a:latin typeface="Arial"/>
                <a:ea typeface="Microsoft YaHei"/>
              </a:rPr>
              <a:t>A visitor with an appointment arrives at your reception desk.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1807464"/>
            <a:ext cx="2377440" cy="408432"/>
          </a:xfrm>
          <a:prstGeom prst="roundRect">
            <a:avLst>
              <a:gd name="adj" fmla="val 15000"/>
            </a:avLst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Arial"/>
                <a:ea typeface="Microsoft YaHei"/>
              </a:rPr>
              <a:t>Your role (A)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017520" y="1807464"/>
            <a:ext cx="8625535" cy="408432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1F2A44"/>
                </a:solidFill>
                <a:latin typeface="Arial"/>
                <a:ea typeface="Microsoft YaHei"/>
              </a:rPr>
              <a:t>Receptionist. Your name and company: ______________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2289048"/>
            <a:ext cx="2377440" cy="408432"/>
          </a:xfrm>
          <a:prstGeom prst="roundRect">
            <a:avLst>
              <a:gd name="adj" fmla="val 15000"/>
            </a:avLst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Arial"/>
                <a:ea typeface="Microsoft YaHei"/>
              </a:rPr>
              <a:t>Partner’s role (B)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017520" y="2289048"/>
            <a:ext cx="8625535" cy="408432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1F2A44"/>
                </a:solidFill>
                <a:latin typeface="Arial"/>
                <a:ea typeface="Microsoft YaHei"/>
              </a:rPr>
              <a:t>Visitor. Name, company and host: ______________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2770632"/>
            <a:ext cx="2377440" cy="652272"/>
          </a:xfrm>
          <a:prstGeom prst="roundRect">
            <a:avLst>
              <a:gd name="adj" fmla="val 15000"/>
            </a:avLst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Arial"/>
                <a:ea typeface="Microsoft YaHei"/>
              </a:rPr>
              <a:t>Must use (4 or more)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017520" y="2770632"/>
            <a:ext cx="8625535" cy="652272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1F2A44"/>
                </a:solidFill>
                <a:latin typeface="Arial"/>
                <a:ea typeface="Microsoft YaHei"/>
              </a:rPr>
              <a:t>Do you have an appointment? · Could you sign in? · visitor’s badge · Please take a seat. · She’ll be right with you.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3496056"/>
            <a:ext cx="2377440" cy="652272"/>
          </a:xfrm>
          <a:prstGeom prst="roundRect">
            <a:avLst>
              <a:gd name="adj" fmla="val 15000"/>
            </a:avLst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Arial"/>
                <a:ea typeface="Microsoft YaHei"/>
              </a:rPr>
              <a:t>Goal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017520" y="3496056"/>
            <a:ext cx="8625535" cy="652272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1F2A44"/>
                </a:solidFill>
                <a:latin typeface="Arial"/>
                <a:ea typeface="Microsoft YaHei"/>
              </a:rPr>
              <a:t>Greet, check the appointment, sign in, give the badge, offer a drink, call the host. About 90 seconds.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4221480"/>
            <a:ext cx="2377440" cy="408432"/>
          </a:xfrm>
          <a:prstGeom prst="roundRect">
            <a:avLst>
              <a:gd name="adj" fmla="val 15000"/>
            </a:avLst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Arial"/>
                <a:ea typeface="Microsoft YaHei"/>
              </a:rPr>
              <a:t>My notes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017520" y="4221480"/>
            <a:ext cx="8625535" cy="408432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1F2A44"/>
                </a:solidFill>
                <a:latin typeface="Arial"/>
                <a:ea typeface="Microsoft YaHei"/>
              </a:rPr>
              <a:t>____________________________________________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4794504"/>
            <a:ext cx="11094415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500" b="1">
                <a:solidFill>
                  <a:srgbClr val="FF6B5B"/>
                </a:solidFill>
                <a:latin typeface="Arial"/>
                <a:ea typeface="Microsoft YaHei"/>
              </a:rPr>
              <a:t>🔥 Level-up challenges 进阶挑战 (click)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8640" y="5178552"/>
            <a:ext cx="3576218" cy="1039368"/>
          </a:xfrm>
          <a:prstGeom prst="roundRect">
            <a:avLst>
              <a:gd name="adj" fmla="val 12000"/>
            </a:avLst>
          </a:prstGeom>
          <a:solidFill>
            <a:srgbClr val="4A90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FFFFFF"/>
                </a:solidFill>
                <a:latin typeface="Arial"/>
                <a:ea typeface="Microsoft YaHei"/>
              </a:rPr>
              <a:t>The visitor’s name is hard to spell. Ask: “Sorry, could you spell your surname for me?”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307738" y="5178552"/>
            <a:ext cx="3576218" cy="1039368"/>
          </a:xfrm>
          <a:prstGeom prst="roundRect">
            <a:avLst>
              <a:gd name="adj" fmla="val 12000"/>
            </a:avLst>
          </a:prstGeom>
          <a:solidFill>
            <a:srgbClr val="3CC4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FFFFFF"/>
                </a:solidFill>
                <a:latin typeface="Arial"/>
                <a:ea typeface="Microsoft YaHei"/>
              </a:rPr>
              <a:t>The host does not answer the phone. Say: “I’m afraid I can’t reach her at the moment. Would you mind waiting a few minutes?”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066836" y="5178552"/>
            <a:ext cx="3576218" cy="1039368"/>
          </a:xfrm>
          <a:prstGeom prst="roundRect">
            <a:avLst>
              <a:gd name="adj" fmla="val 12000"/>
            </a:avLst>
          </a:prstGeom>
          <a:solidFill>
            <a:srgbClr val="FFC8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FFFFFF"/>
                </a:solidFill>
                <a:latin typeface="Arial"/>
                <a:ea typeface="Microsoft YaHei"/>
              </a:rPr>
              <a:t>Add one more ★ phrase: “Who are you here to see?” or “I’ll show you the way.”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" fill="hold">
                      <p:stCondLst>
                        <p:cond delay="indefinite"/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9B6B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8442656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2500" b="1">
                <a:solidFill>
                  <a:srgbClr val="1F2A44"/>
                </a:solidFill>
                <a:latin typeface="Arial"/>
                <a:ea typeface="Microsoft YaHei"/>
              </a:rPr>
              <a:t>🎭 Role Play · Wrong day and an unavailable host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74175" y="438912"/>
            <a:ext cx="2560320" cy="475488"/>
          </a:xfrm>
          <a:prstGeom prst="roundRect">
            <a:avLst>
              <a:gd name="adj" fmla="val 50000"/>
            </a:avLst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3152" rIns="73152"/>
          <a:lstStyle/>
          <a:p>
            <a:pPr algn="ctr">
              <a:spcAft>
                <a:spcPts val="200"/>
              </a:spcAft>
            </a:pPr>
            <a:r>
              <a:rPr sz="1300" b="1">
                <a:solidFill>
                  <a:srgbClr val="FFFFFF"/>
                </a:solidFill>
                <a:latin typeface="Arial"/>
                <a:ea typeface="Microsoft YaHei"/>
              </a:rPr>
              <a:t>03 Role play 角色扮演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19088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100" b="0">
                <a:solidFill>
                  <a:srgbClr val="5F677A"/>
                </a:solidFill>
                <a:latin typeface="Arial"/>
                <a:ea typeface="Microsoft YaHei"/>
              </a:rPr>
              <a:t>Business English · Level 4 · Unit 3 · Lesson 06 At reception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28655" y="6419088"/>
            <a:ext cx="914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  <a:spcAft>
                <a:spcPts val="800"/>
              </a:spcAft>
            </a:pPr>
            <a:r>
              <a:rPr sz="1100" b="0">
                <a:solidFill>
                  <a:srgbClr val="5F677A"/>
                </a:solidFill>
                <a:latin typeface="Arial"/>
                <a:ea typeface="Microsoft YaHei"/>
              </a:rPr>
              <a:t>18</a:t>
            </a:r>
          </a:p>
        </p:txBody>
      </p:sp>
      <p:sp>
        <p:nvSpPr>
          <p:cNvPr id="7" name="Rounded Rectangle 6">
            <a:hlinkClick action="ppaction://hlinksldjump" r:id="rId2"/>
          </p:cNvPr>
          <p:cNvSpPr/>
          <p:nvPr/>
        </p:nvSpPr>
        <p:spPr>
          <a:xfrm>
            <a:off x="9677095" y="6382512"/>
            <a:ext cx="960120" cy="329184"/>
          </a:xfrm>
          <a:prstGeom prst="roundRect">
            <a:avLst>
              <a:gd name="adj" fmla="val 50000"/>
            </a:avLst>
          </a:prstGeom>
          <a:solidFill>
            <a:srgbClr val="FFE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Aft>
                <a:spcPts val="200"/>
              </a:spcAft>
            </a:pPr>
            <a:r>
              <a:rPr sz="1100" b="1">
                <a:solidFill>
                  <a:srgbClr val="1F2A44"/>
                </a:solidFill>
                <a:latin typeface="Arial"/>
                <a:ea typeface="Microsoft YaHei"/>
              </a:rPr>
              <a:t>🗺 Map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960120"/>
            <a:ext cx="11094415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500" b="0">
                <a:solidFill>
                  <a:srgbClr val="5F677A"/>
                </a:solidFill>
                <a:latin typeface="Arial"/>
                <a:ea typeface="Microsoft YaHei"/>
              </a:rPr>
              <a:t>日期搞错、负责人不在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463040"/>
            <a:ext cx="11094415" cy="14630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31750">
            <a:solidFill>
              <a:srgbClr val="9B6B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5F677A"/>
                </a:solidFill>
                <a:latin typeface="Arial"/>
                <a:ea typeface="Microsoft YaHei"/>
              </a:rPr>
              <a:t>📍 Situation 情景</a:t>
            </a:r>
          </a:p>
          <a:p>
            <a:pPr algn="l">
              <a:spcAft>
                <a:spcPts val="200"/>
              </a:spcAft>
            </a:pPr>
            <a:r>
              <a:rPr sz="2400" b="1">
                <a:solidFill>
                  <a:srgbClr val="1F2A44"/>
                </a:solidFill>
                <a:latin typeface="Arial"/>
                <a:ea typeface="Microsoft YaHei"/>
              </a:rPr>
              <a:t>Ms Hana Sato arrives on Tuesday, but her meeting with Mr Tan is booked for Wednesday. Mr Tan is also in another meeting.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3200400"/>
            <a:ext cx="5410047" cy="21945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777240" y="3429000"/>
            <a:ext cx="1097280" cy="1097280"/>
          </a:xfrm>
          <a:prstGeom prst="ellipse">
            <a:avLst/>
          </a:prstGeom>
          <a:solidFill>
            <a:srgbClr val="FF6B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3152" rIns="73152"/>
          <a:lstStyle/>
          <a:p>
            <a:pPr algn="ctr">
              <a:spcAft>
                <a:spcPts val="200"/>
              </a:spcAft>
            </a:pPr>
            <a:r>
              <a:rPr sz="3600" b="1">
                <a:solidFill>
                  <a:srgbClr val="FFFFFF"/>
                </a:solidFill>
                <a:latin typeface="Arial"/>
                <a:ea typeface="Microsoft YaHei"/>
              </a:rPr>
              <a:t>👔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11680" y="3291840"/>
            <a:ext cx="3809847" cy="2011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400" b="1">
                <a:solidFill>
                  <a:srgbClr val="FF6B5B"/>
                </a:solidFill>
                <a:latin typeface="Arial"/>
                <a:ea typeface="Microsoft YaHei"/>
              </a:rPr>
              <a:t>Role A</a:t>
            </a:r>
          </a:p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2000" b="1">
                <a:solidFill>
                  <a:srgbClr val="1F2A44"/>
                </a:solidFill>
                <a:latin typeface="Arial"/>
                <a:ea typeface="Microsoft YaHei"/>
              </a:rPr>
              <a:t>Amy Wu, receptionist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33007" y="3200400"/>
            <a:ext cx="5410047" cy="21945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61607" y="3429000"/>
            <a:ext cx="1097280" cy="1097280"/>
          </a:xfrm>
          <a:prstGeom prst="ellipse">
            <a:avLst/>
          </a:prstGeom>
          <a:solidFill>
            <a:srgbClr val="4A90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3152" rIns="73152"/>
          <a:lstStyle/>
          <a:p>
            <a:pPr algn="ctr">
              <a:spcAft>
                <a:spcPts val="200"/>
              </a:spcAft>
            </a:pPr>
            <a:r>
              <a:rPr sz="3600" b="1">
                <a:solidFill>
                  <a:srgbClr val="FFFFFF"/>
                </a:solidFill>
                <a:latin typeface="Arial"/>
                <a:ea typeface="Microsoft YaHei"/>
              </a:rPr>
              <a:t>💼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96047" y="3291840"/>
            <a:ext cx="3809847" cy="2011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400" b="1">
                <a:solidFill>
                  <a:srgbClr val="4A90E2"/>
                </a:solidFill>
                <a:latin typeface="Arial"/>
                <a:ea typeface="Microsoft YaHei"/>
              </a:rPr>
              <a:t>Role B</a:t>
            </a:r>
          </a:p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2000" b="1">
                <a:solidFill>
                  <a:srgbClr val="1F2A44"/>
                </a:solidFill>
                <a:latin typeface="Arial"/>
                <a:ea typeface="Microsoft YaHei"/>
              </a:rPr>
              <a:t>Hana Sato, visitor from Orbit Software</a:t>
            </a:r>
          </a:p>
        </p:txBody>
      </p:sp>
    </p:spTree>
  </p:cSld>
  <p:clrMapOvr>
    <a:masterClrMapping/>
  </p:clrMapOvr>
  <p:transition spd="med">
    <p:fade/>
  </p:transition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9B6B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8442656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2200" b="1">
                <a:solidFill>
                  <a:srgbClr val="1F2A44"/>
                </a:solidFill>
                <a:latin typeface="Arial"/>
                <a:ea typeface="Microsoft YaHei"/>
              </a:rPr>
              <a:t>🎭 Model Dialogue · Wrong day and an unavailable host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74175" y="438912"/>
            <a:ext cx="2560320" cy="475488"/>
          </a:xfrm>
          <a:prstGeom prst="roundRect">
            <a:avLst>
              <a:gd name="adj" fmla="val 50000"/>
            </a:avLst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3152" rIns="73152"/>
          <a:lstStyle/>
          <a:p>
            <a:pPr algn="ctr">
              <a:spcAft>
                <a:spcPts val="200"/>
              </a:spcAft>
            </a:pPr>
            <a:r>
              <a:rPr sz="1300" b="1">
                <a:solidFill>
                  <a:srgbClr val="FFFFFF"/>
                </a:solidFill>
                <a:latin typeface="Arial"/>
                <a:ea typeface="Microsoft YaHei"/>
              </a:rPr>
              <a:t>Part 1/2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19088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100" b="0">
                <a:solidFill>
                  <a:srgbClr val="5F677A"/>
                </a:solidFill>
                <a:latin typeface="Arial"/>
                <a:ea typeface="Microsoft YaHei"/>
              </a:rPr>
              <a:t>Business English · Level 4 · Unit 3 · Lesson 06 At reception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28655" y="6419088"/>
            <a:ext cx="914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  <a:spcAft>
                <a:spcPts val="800"/>
              </a:spcAft>
            </a:pPr>
            <a:r>
              <a:rPr sz="1100" b="0">
                <a:solidFill>
                  <a:srgbClr val="5F677A"/>
                </a:solidFill>
                <a:latin typeface="Arial"/>
                <a:ea typeface="Microsoft YaHei"/>
              </a:rPr>
              <a:t>19</a:t>
            </a:r>
          </a:p>
        </p:txBody>
      </p:sp>
      <p:sp>
        <p:nvSpPr>
          <p:cNvPr id="7" name="Rounded Rectangle 6">
            <a:hlinkClick action="ppaction://hlinksldjump" r:id="rId2"/>
          </p:cNvPr>
          <p:cNvSpPr/>
          <p:nvPr/>
        </p:nvSpPr>
        <p:spPr>
          <a:xfrm>
            <a:off x="9677095" y="6382512"/>
            <a:ext cx="960120" cy="329184"/>
          </a:xfrm>
          <a:prstGeom prst="roundRect">
            <a:avLst>
              <a:gd name="adj" fmla="val 50000"/>
            </a:avLst>
          </a:prstGeom>
          <a:solidFill>
            <a:srgbClr val="FFE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Aft>
                <a:spcPts val="200"/>
              </a:spcAft>
            </a:pPr>
            <a:r>
              <a:rPr sz="1100" b="1">
                <a:solidFill>
                  <a:srgbClr val="1F2A44"/>
                </a:solidFill>
                <a:latin typeface="Arial"/>
                <a:ea typeface="Microsoft YaHei"/>
              </a:rPr>
              <a:t>🗺 Map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325880"/>
            <a:ext cx="731520" cy="457200"/>
          </a:xfrm>
          <a:prstGeom prst="roundRect">
            <a:avLst>
              <a:gd name="adj" fmla="val 50000"/>
            </a:avLst>
          </a:prstGeom>
          <a:solidFill>
            <a:srgbClr val="FF6B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Arial"/>
                <a:ea typeface="Microsoft YaHei"/>
              </a:rPr>
              <a:t>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1764792"/>
            <a:ext cx="1280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800"/>
              </a:spcAft>
            </a:pPr>
            <a:r>
              <a:rPr sz="1000" b="0">
                <a:solidFill>
                  <a:srgbClr val="5F677A"/>
                </a:solidFill>
                <a:latin typeface="Arial"/>
                <a:ea typeface="Microsoft YaHei"/>
              </a:rPr>
              <a:t>Amy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463040" y="1325880"/>
            <a:ext cx="8595360" cy="490728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31750">
            <a:solidFill>
              <a:srgbClr val="FF6B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l">
              <a:spcAft>
                <a:spcPts val="200"/>
              </a:spcAft>
            </a:pPr>
            <a:r>
              <a:rPr sz="1900" b="1">
                <a:solidFill>
                  <a:srgbClr val="1F2A44"/>
                </a:solidFill>
                <a:latin typeface="Arial"/>
                <a:ea typeface="Microsoft YaHei"/>
              </a:rPr>
              <a:t>Good afternoon. How can I help you?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911535" y="1908048"/>
            <a:ext cx="731520" cy="457200"/>
          </a:xfrm>
          <a:prstGeom prst="roundRect">
            <a:avLst>
              <a:gd name="adj" fmla="val 50000"/>
            </a:avLst>
          </a:prstGeom>
          <a:solidFill>
            <a:srgbClr val="4A90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Arial"/>
                <a:ea typeface="Microsoft YaHei"/>
              </a:rPr>
              <a:t>B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37215" y="2346960"/>
            <a:ext cx="1280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800"/>
              </a:spcAft>
            </a:pPr>
            <a:r>
              <a:rPr sz="1000" b="0">
                <a:solidFill>
                  <a:srgbClr val="5F677A"/>
                </a:solidFill>
                <a:latin typeface="Arial"/>
                <a:ea typeface="Microsoft YaHei"/>
              </a:rPr>
              <a:t>Hana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133295" y="1908048"/>
            <a:ext cx="8595360" cy="490728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31750">
            <a:solidFill>
              <a:srgbClr val="4A90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l">
              <a:spcAft>
                <a:spcPts val="200"/>
              </a:spcAft>
            </a:pPr>
            <a:r>
              <a:rPr sz="1900" b="1">
                <a:solidFill>
                  <a:srgbClr val="1F2A44"/>
                </a:solidFill>
                <a:latin typeface="Arial"/>
                <a:ea typeface="Microsoft YaHei"/>
              </a:rPr>
              <a:t>Hello. I’m Hana Sato from Orbit Software. I’m here to see Mr Tan.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2490216"/>
            <a:ext cx="731520" cy="457200"/>
          </a:xfrm>
          <a:prstGeom prst="roundRect">
            <a:avLst>
              <a:gd name="adj" fmla="val 50000"/>
            </a:avLst>
          </a:prstGeom>
          <a:solidFill>
            <a:srgbClr val="FF6B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Arial"/>
                <a:ea typeface="Microsoft YaHei"/>
              </a:rPr>
              <a:t>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4320" y="2929128"/>
            <a:ext cx="1280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800"/>
              </a:spcAft>
            </a:pPr>
            <a:r>
              <a:rPr sz="1000" b="0">
                <a:solidFill>
                  <a:srgbClr val="5F677A"/>
                </a:solidFill>
                <a:latin typeface="Arial"/>
                <a:ea typeface="Microsoft YaHei"/>
              </a:rPr>
              <a:t> 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463040" y="2490216"/>
            <a:ext cx="8595360" cy="490728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31750">
            <a:solidFill>
              <a:srgbClr val="FF6B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l">
              <a:spcAft>
                <a:spcPts val="200"/>
              </a:spcAft>
            </a:pPr>
            <a:r>
              <a:rPr sz="1900" b="1">
                <a:solidFill>
                  <a:srgbClr val="1F2A44"/>
                </a:solidFill>
                <a:latin typeface="Arial"/>
                <a:ea typeface="Microsoft YaHei"/>
              </a:rPr>
              <a:t>Do you have an appointment?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911535" y="3072384"/>
            <a:ext cx="731520" cy="457200"/>
          </a:xfrm>
          <a:prstGeom prst="roundRect">
            <a:avLst>
              <a:gd name="adj" fmla="val 50000"/>
            </a:avLst>
          </a:prstGeom>
          <a:solidFill>
            <a:srgbClr val="4A90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Arial"/>
                <a:ea typeface="Microsoft YaHei"/>
              </a:rPr>
              <a:t>B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637215" y="3511296"/>
            <a:ext cx="1280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800"/>
              </a:spcAft>
            </a:pPr>
            <a:r>
              <a:rPr sz="1000" b="0">
                <a:solidFill>
                  <a:srgbClr val="5F677A"/>
                </a:solidFill>
                <a:latin typeface="Arial"/>
                <a:ea typeface="Microsoft YaHei"/>
              </a:rPr>
              <a:t> 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133295" y="3072384"/>
            <a:ext cx="8595360" cy="490728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31750">
            <a:solidFill>
              <a:srgbClr val="4A90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l">
              <a:spcAft>
                <a:spcPts val="200"/>
              </a:spcAft>
            </a:pPr>
            <a:r>
              <a:rPr sz="1900" b="1">
                <a:solidFill>
                  <a:srgbClr val="1F2A44"/>
                </a:solidFill>
                <a:latin typeface="Arial"/>
                <a:ea typeface="Microsoft YaHei"/>
              </a:rPr>
              <a:t>Yes, at two o’clock today, I thought.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3654552"/>
            <a:ext cx="731520" cy="457200"/>
          </a:xfrm>
          <a:prstGeom prst="roundRect">
            <a:avLst>
              <a:gd name="adj" fmla="val 50000"/>
            </a:avLst>
          </a:prstGeom>
          <a:solidFill>
            <a:srgbClr val="FF6B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Arial"/>
                <a:ea typeface="Microsoft YaHei"/>
              </a:rPr>
              <a:t>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74320" y="4093464"/>
            <a:ext cx="1280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800"/>
              </a:spcAft>
            </a:pPr>
            <a:r>
              <a:rPr sz="1000" b="0">
                <a:solidFill>
                  <a:srgbClr val="5F677A"/>
                </a:solidFill>
                <a:latin typeface="Arial"/>
                <a:ea typeface="Microsoft YaHei"/>
              </a:rPr>
              <a:t> 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463040" y="3654552"/>
            <a:ext cx="8595360" cy="780288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31750">
            <a:solidFill>
              <a:srgbClr val="FF6B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l">
              <a:spcAft>
                <a:spcPts val="200"/>
              </a:spcAft>
            </a:pPr>
            <a:r>
              <a:rPr sz="1900" b="1">
                <a:solidFill>
                  <a:srgbClr val="1F2A44"/>
                </a:solidFill>
                <a:latin typeface="Arial"/>
                <a:ea typeface="Microsoft YaHei"/>
              </a:rPr>
              <a:t>Let me check the diary. Hmm, I’m afraid I have you down for tomorrow, Wednesday, at two.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0911535" y="4526280"/>
            <a:ext cx="731520" cy="457200"/>
          </a:xfrm>
          <a:prstGeom prst="roundRect">
            <a:avLst>
              <a:gd name="adj" fmla="val 50000"/>
            </a:avLst>
          </a:prstGeom>
          <a:solidFill>
            <a:srgbClr val="4A90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Arial"/>
                <a:ea typeface="Microsoft YaHei"/>
              </a:rPr>
              <a:t>B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637215" y="4965192"/>
            <a:ext cx="1280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800"/>
              </a:spcAft>
            </a:pPr>
            <a:r>
              <a:rPr sz="1000" b="0">
                <a:solidFill>
                  <a:srgbClr val="5F677A"/>
                </a:solidFill>
                <a:latin typeface="Arial"/>
                <a:ea typeface="Microsoft YaHei"/>
              </a:rPr>
              <a:t> 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2133295" y="4526280"/>
            <a:ext cx="8595360" cy="780288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31750">
            <a:solidFill>
              <a:srgbClr val="4A90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l">
              <a:spcAft>
                <a:spcPts val="200"/>
              </a:spcAft>
            </a:pPr>
            <a:r>
              <a:rPr sz="1900" b="1">
                <a:solidFill>
                  <a:srgbClr val="1F2A44"/>
                </a:solidFill>
                <a:latin typeface="Arial"/>
                <a:ea typeface="Microsoft YaHei"/>
              </a:rPr>
              <a:t>Oh no. Let me check my email. … You’re right. I’m so sorry. I must have misread the invitation.</a:t>
            </a:r>
          </a:p>
        </p:txBody>
      </p:sp>
    </p:spTree>
  </p:cSld>
  <p:clrMapOvr>
    <a:masterClrMapping/>
  </p:clrMapOvr>
  <p:transition spd="med">
    <p:fade/>
  </p:transition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9B6B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8442656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2200" b="1">
                <a:solidFill>
                  <a:srgbClr val="1F2A44"/>
                </a:solidFill>
                <a:latin typeface="Arial"/>
                <a:ea typeface="Microsoft YaHei"/>
              </a:rPr>
              <a:t>🎭 Model Dialogue · Wrong day and an unavailable host (cont.)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74175" y="438912"/>
            <a:ext cx="2560320" cy="475488"/>
          </a:xfrm>
          <a:prstGeom prst="roundRect">
            <a:avLst>
              <a:gd name="adj" fmla="val 50000"/>
            </a:avLst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3152" rIns="73152"/>
          <a:lstStyle/>
          <a:p>
            <a:pPr algn="ctr">
              <a:spcAft>
                <a:spcPts val="200"/>
              </a:spcAft>
            </a:pPr>
            <a:r>
              <a:rPr sz="1300" b="1">
                <a:solidFill>
                  <a:srgbClr val="FFFFFF"/>
                </a:solidFill>
                <a:latin typeface="Arial"/>
                <a:ea typeface="Microsoft YaHei"/>
              </a:rPr>
              <a:t>Part 2/2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19088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100" b="0">
                <a:solidFill>
                  <a:srgbClr val="5F677A"/>
                </a:solidFill>
                <a:latin typeface="Arial"/>
                <a:ea typeface="Microsoft YaHei"/>
              </a:rPr>
              <a:t>Business English · Level 4 · Unit 3 · Lesson 06 At reception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28655" y="6419088"/>
            <a:ext cx="914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  <a:spcAft>
                <a:spcPts val="800"/>
              </a:spcAft>
            </a:pPr>
            <a:r>
              <a:rPr sz="1100" b="0">
                <a:solidFill>
                  <a:srgbClr val="5F677A"/>
                </a:solidFill>
                <a:latin typeface="Arial"/>
                <a:ea typeface="Microsoft YaHei"/>
              </a:rPr>
              <a:t>20</a:t>
            </a:r>
          </a:p>
        </p:txBody>
      </p:sp>
      <p:sp>
        <p:nvSpPr>
          <p:cNvPr id="7" name="Rounded Rectangle 6">
            <a:hlinkClick action="ppaction://hlinksldjump" r:id="rId2"/>
          </p:cNvPr>
          <p:cNvSpPr/>
          <p:nvPr/>
        </p:nvSpPr>
        <p:spPr>
          <a:xfrm>
            <a:off x="9677095" y="6382512"/>
            <a:ext cx="960120" cy="329184"/>
          </a:xfrm>
          <a:prstGeom prst="roundRect">
            <a:avLst>
              <a:gd name="adj" fmla="val 50000"/>
            </a:avLst>
          </a:prstGeom>
          <a:solidFill>
            <a:srgbClr val="FFE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Aft>
                <a:spcPts val="200"/>
              </a:spcAft>
            </a:pPr>
            <a:r>
              <a:rPr sz="1100" b="1">
                <a:solidFill>
                  <a:srgbClr val="1F2A44"/>
                </a:solidFill>
                <a:latin typeface="Arial"/>
                <a:ea typeface="Microsoft YaHei"/>
              </a:rPr>
              <a:t>🗺 Map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325880"/>
            <a:ext cx="731520" cy="457200"/>
          </a:xfrm>
          <a:prstGeom prst="roundRect">
            <a:avLst>
              <a:gd name="adj" fmla="val 50000"/>
            </a:avLst>
          </a:prstGeom>
          <a:solidFill>
            <a:srgbClr val="FF6B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Arial"/>
                <a:ea typeface="Microsoft YaHei"/>
              </a:rPr>
              <a:t>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1764792"/>
            <a:ext cx="1280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800"/>
              </a:spcAft>
            </a:pPr>
            <a:r>
              <a:rPr sz="1000" b="0">
                <a:solidFill>
                  <a:srgbClr val="5F677A"/>
                </a:solidFill>
                <a:latin typeface="Arial"/>
                <a:ea typeface="Microsoft YaHei"/>
              </a:rPr>
              <a:t> 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463040" y="1325880"/>
            <a:ext cx="8595360" cy="1069847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31750">
            <a:solidFill>
              <a:srgbClr val="FF6B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l">
              <a:spcAft>
                <a:spcPts val="200"/>
              </a:spcAft>
            </a:pPr>
            <a:r>
              <a:rPr sz="1900" b="1">
                <a:solidFill>
                  <a:srgbClr val="1F2A44"/>
                </a:solidFill>
                <a:latin typeface="Arial"/>
                <a:ea typeface="Microsoft YaHei"/>
              </a:rPr>
              <a:t>Not at all. These things happen. Mr Tan is tied up in a meeting until three, I’m afraid, but he may have a few minutes afterwards. Shall I ask?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911535" y="2487167"/>
            <a:ext cx="731520" cy="457200"/>
          </a:xfrm>
          <a:prstGeom prst="roundRect">
            <a:avLst>
              <a:gd name="adj" fmla="val 50000"/>
            </a:avLst>
          </a:prstGeom>
          <a:solidFill>
            <a:srgbClr val="4A90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Arial"/>
                <a:ea typeface="Microsoft YaHei"/>
              </a:rPr>
              <a:t>B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37215" y="2926079"/>
            <a:ext cx="1280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800"/>
              </a:spcAft>
            </a:pPr>
            <a:r>
              <a:rPr sz="1000" b="0">
                <a:solidFill>
                  <a:srgbClr val="5F677A"/>
                </a:solidFill>
                <a:latin typeface="Arial"/>
                <a:ea typeface="Microsoft YaHei"/>
              </a:rPr>
              <a:t> 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133295" y="2487167"/>
            <a:ext cx="8595360" cy="490728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31750">
            <a:solidFill>
              <a:srgbClr val="4A90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l">
              <a:spcAft>
                <a:spcPts val="200"/>
              </a:spcAft>
            </a:pPr>
            <a:r>
              <a:rPr sz="1900" b="1">
                <a:solidFill>
                  <a:srgbClr val="1F2A44"/>
                </a:solidFill>
                <a:latin typeface="Arial"/>
                <a:ea typeface="Microsoft YaHei"/>
              </a:rPr>
              <a:t>That would be very kind of you. I don’t want to cause any trouble.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3069335"/>
            <a:ext cx="731520" cy="457200"/>
          </a:xfrm>
          <a:prstGeom prst="roundRect">
            <a:avLst>
              <a:gd name="adj" fmla="val 50000"/>
            </a:avLst>
          </a:prstGeom>
          <a:solidFill>
            <a:srgbClr val="FF6B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Arial"/>
                <a:ea typeface="Microsoft YaHei"/>
              </a:rPr>
              <a:t>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4320" y="3508247"/>
            <a:ext cx="1280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800"/>
              </a:spcAft>
            </a:pPr>
            <a:r>
              <a:rPr sz="1000" b="0">
                <a:solidFill>
                  <a:srgbClr val="5F677A"/>
                </a:solidFill>
                <a:latin typeface="Arial"/>
                <a:ea typeface="Microsoft YaHei"/>
              </a:rPr>
              <a:t> 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463040" y="3069335"/>
            <a:ext cx="8595360" cy="780288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31750">
            <a:solidFill>
              <a:srgbClr val="FF6B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l">
              <a:spcAft>
                <a:spcPts val="200"/>
              </a:spcAft>
            </a:pPr>
            <a:r>
              <a:rPr sz="1900" b="1">
                <a:solidFill>
                  <a:srgbClr val="1F2A44"/>
                </a:solidFill>
                <a:latin typeface="Arial"/>
                <a:ea typeface="Microsoft YaHei"/>
              </a:rPr>
              <a:t>It’s no trouble. Could I take your mobile number in case he can fit you in?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911535" y="3941063"/>
            <a:ext cx="731520" cy="457200"/>
          </a:xfrm>
          <a:prstGeom prst="roundRect">
            <a:avLst>
              <a:gd name="adj" fmla="val 50000"/>
            </a:avLst>
          </a:prstGeom>
          <a:solidFill>
            <a:srgbClr val="4A90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Arial"/>
                <a:ea typeface="Microsoft YaHei"/>
              </a:rPr>
              <a:t>B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637215" y="4379975"/>
            <a:ext cx="1280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800"/>
              </a:spcAft>
            </a:pPr>
            <a:r>
              <a:rPr sz="1000" b="0">
                <a:solidFill>
                  <a:srgbClr val="5F677A"/>
                </a:solidFill>
                <a:latin typeface="Arial"/>
                <a:ea typeface="Microsoft YaHei"/>
              </a:rPr>
              <a:t> 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133295" y="3941063"/>
            <a:ext cx="8595360" cy="490728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31750">
            <a:solidFill>
              <a:srgbClr val="4A90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l">
              <a:spcAft>
                <a:spcPts val="200"/>
              </a:spcAft>
            </a:pPr>
            <a:r>
              <a:rPr sz="1900" b="1">
                <a:solidFill>
                  <a:srgbClr val="1F2A44"/>
                </a:solidFill>
                <a:latin typeface="Arial"/>
                <a:ea typeface="Microsoft YaHei"/>
              </a:rPr>
              <a:t>Of course. It’s 139 0000 1234.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4523231"/>
            <a:ext cx="731520" cy="457200"/>
          </a:xfrm>
          <a:prstGeom prst="roundRect">
            <a:avLst>
              <a:gd name="adj" fmla="val 50000"/>
            </a:avLst>
          </a:prstGeom>
          <a:solidFill>
            <a:srgbClr val="FF6B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Arial"/>
                <a:ea typeface="Microsoft YaHei"/>
              </a:rPr>
              <a:t>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74320" y="4962143"/>
            <a:ext cx="1280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800"/>
              </a:spcAft>
            </a:pPr>
            <a:r>
              <a:rPr sz="1000" b="0">
                <a:solidFill>
                  <a:srgbClr val="5F677A"/>
                </a:solidFill>
                <a:latin typeface="Arial"/>
                <a:ea typeface="Microsoft YaHei"/>
              </a:rPr>
              <a:t> 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463040" y="4523231"/>
            <a:ext cx="8595360" cy="780288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31750">
            <a:solidFill>
              <a:srgbClr val="FF6B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l">
              <a:spcAft>
                <a:spcPts val="200"/>
              </a:spcAft>
            </a:pPr>
            <a:r>
              <a:rPr sz="1900" b="1">
                <a:solidFill>
                  <a:srgbClr val="1F2A44"/>
                </a:solidFill>
                <a:latin typeface="Arial"/>
                <a:ea typeface="Microsoft YaHei"/>
              </a:rPr>
              <a:t>Thank you. Please take a seat. I’ll call you if he’s free. Otherwise, I’ll book you in for tomorrow at two.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0911535" y="5394959"/>
            <a:ext cx="731520" cy="457200"/>
          </a:xfrm>
          <a:prstGeom prst="roundRect">
            <a:avLst>
              <a:gd name="adj" fmla="val 50000"/>
            </a:avLst>
          </a:prstGeom>
          <a:solidFill>
            <a:srgbClr val="4A90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Arial"/>
                <a:ea typeface="Microsoft YaHei"/>
              </a:rPr>
              <a:t>B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637215" y="5833871"/>
            <a:ext cx="1280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800"/>
              </a:spcAft>
            </a:pPr>
            <a:r>
              <a:rPr sz="1000" b="0">
                <a:solidFill>
                  <a:srgbClr val="5F677A"/>
                </a:solidFill>
                <a:latin typeface="Arial"/>
                <a:ea typeface="Microsoft YaHei"/>
              </a:rPr>
              <a:t> 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2133295" y="5394959"/>
            <a:ext cx="8595360" cy="490728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31750">
            <a:solidFill>
              <a:srgbClr val="4A90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l">
              <a:spcAft>
                <a:spcPts val="200"/>
              </a:spcAft>
            </a:pPr>
            <a:r>
              <a:rPr sz="1900" b="1">
                <a:solidFill>
                  <a:srgbClr val="1F2A44"/>
                </a:solidFill>
                <a:latin typeface="Arial"/>
                <a:ea typeface="Microsoft YaHei"/>
              </a:rPr>
              <a:t>Thank you, and sorry about the mix-up.</a:t>
            </a:r>
          </a:p>
        </p:txBody>
      </p:sp>
    </p:spTree>
  </p:cSld>
  <p:clrMapOvr>
    <a:masterClrMapping/>
  </p:clrMapOvr>
  <p:transition spd="med">
    <p:fade/>
  </p:transition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FC8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8442656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2500" b="1">
                <a:solidFill>
                  <a:srgbClr val="1F2A44"/>
                </a:solidFill>
                <a:latin typeface="Arial"/>
                <a:ea typeface="Microsoft YaHei"/>
              </a:rPr>
              <a:t>🎯 Your Turn · Wrong day and an unavailable host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74175" y="438912"/>
            <a:ext cx="2560320" cy="475488"/>
          </a:xfrm>
          <a:prstGeom prst="roundRect">
            <a:avLst>
              <a:gd name="adj" fmla="val 50000"/>
            </a:avLst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3152" rIns="73152"/>
          <a:lstStyle/>
          <a:p>
            <a:pPr algn="ctr">
              <a:spcAft>
                <a:spcPts val="200"/>
              </a:spcAft>
            </a:pPr>
            <a:r>
              <a:rPr sz="1300" b="1">
                <a:solidFill>
                  <a:srgbClr val="FFFFFF"/>
                </a:solidFill>
                <a:latin typeface="Arial"/>
                <a:ea typeface="Microsoft YaHei"/>
              </a:rPr>
              <a:t>03 Role play 角色扮演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19088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100" b="0">
                <a:solidFill>
                  <a:srgbClr val="5F677A"/>
                </a:solidFill>
                <a:latin typeface="Arial"/>
                <a:ea typeface="Microsoft YaHei"/>
              </a:rPr>
              <a:t>Business English · Level 4 · Unit 3 · Lesson 06 At reception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28655" y="6419088"/>
            <a:ext cx="914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  <a:spcAft>
                <a:spcPts val="800"/>
              </a:spcAft>
            </a:pPr>
            <a:r>
              <a:rPr sz="1100" b="0">
                <a:solidFill>
                  <a:srgbClr val="5F677A"/>
                </a:solidFill>
                <a:latin typeface="Arial"/>
                <a:ea typeface="Microsoft YaHei"/>
              </a:rPr>
              <a:t>21</a:t>
            </a:r>
          </a:p>
        </p:txBody>
      </p:sp>
      <p:sp>
        <p:nvSpPr>
          <p:cNvPr id="7" name="Rounded Rectangle 6">
            <a:hlinkClick action="ppaction://hlinksldjump" r:id="rId2"/>
          </p:cNvPr>
          <p:cNvSpPr/>
          <p:nvPr/>
        </p:nvSpPr>
        <p:spPr>
          <a:xfrm>
            <a:off x="9677095" y="6382512"/>
            <a:ext cx="960120" cy="329184"/>
          </a:xfrm>
          <a:prstGeom prst="roundRect">
            <a:avLst>
              <a:gd name="adj" fmla="val 50000"/>
            </a:avLst>
          </a:prstGeom>
          <a:solidFill>
            <a:srgbClr val="FFE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Aft>
                <a:spcPts val="200"/>
              </a:spcAft>
            </a:pPr>
            <a:r>
              <a:rPr sz="1100" b="1">
                <a:solidFill>
                  <a:srgbClr val="1F2A44"/>
                </a:solidFill>
                <a:latin typeface="Arial"/>
                <a:ea typeface="Microsoft YaHei"/>
              </a:rPr>
              <a:t>🗺 Map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325880"/>
            <a:ext cx="2377440" cy="408432"/>
          </a:xfrm>
          <a:prstGeom prst="roundRect">
            <a:avLst>
              <a:gd name="adj" fmla="val 15000"/>
            </a:avLst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Arial"/>
                <a:ea typeface="Microsoft YaHei"/>
              </a:rPr>
              <a:t>Situation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017520" y="1325880"/>
            <a:ext cx="8625535" cy="408432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1F2A44"/>
                </a:solidFill>
                <a:latin typeface="Arial"/>
                <a:ea typeface="Microsoft YaHei"/>
              </a:rPr>
              <a:t>A visitor comes on the wrong day. The host is busy.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1807464"/>
            <a:ext cx="2377440" cy="408432"/>
          </a:xfrm>
          <a:prstGeom prst="roundRect">
            <a:avLst>
              <a:gd name="adj" fmla="val 15000"/>
            </a:avLst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Arial"/>
                <a:ea typeface="Microsoft YaHei"/>
              </a:rPr>
              <a:t>Your role (A)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017520" y="1807464"/>
            <a:ext cx="8625535" cy="408432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1F2A44"/>
                </a:solidFill>
                <a:latin typeface="Arial"/>
                <a:ea typeface="Microsoft YaHei"/>
              </a:rPr>
              <a:t>Receptionist. Check the diary, stay calm and polite.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2289048"/>
            <a:ext cx="2377440" cy="408432"/>
          </a:xfrm>
          <a:prstGeom prst="roundRect">
            <a:avLst>
              <a:gd name="adj" fmla="val 15000"/>
            </a:avLst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Arial"/>
                <a:ea typeface="Microsoft YaHei"/>
              </a:rPr>
              <a:t>Partner’s role (B)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017520" y="2289048"/>
            <a:ext cx="8625535" cy="408432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1F2A44"/>
                </a:solidFill>
                <a:latin typeface="Arial"/>
                <a:ea typeface="Microsoft YaHei"/>
              </a:rPr>
              <a:t>Visitor. Embarrassed about the mistake. Name and company: ______________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2770632"/>
            <a:ext cx="2377440" cy="408432"/>
          </a:xfrm>
          <a:prstGeom prst="roundRect">
            <a:avLst>
              <a:gd name="adj" fmla="val 15000"/>
            </a:avLst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Arial"/>
                <a:ea typeface="Microsoft YaHei"/>
              </a:rPr>
              <a:t>Must use (4 or more)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017520" y="2770632"/>
            <a:ext cx="8625535" cy="408432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1F2A44"/>
                </a:solidFill>
                <a:latin typeface="Arial"/>
                <a:ea typeface="Microsoft YaHei"/>
              </a:rPr>
              <a:t>I’m afraid… · tied up · mix-up · Shall I ask…? · Could I take your…?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3252216"/>
            <a:ext cx="2377440" cy="408432"/>
          </a:xfrm>
          <a:prstGeom prst="roundRect">
            <a:avLst>
              <a:gd name="adj" fmla="val 15000"/>
            </a:avLst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Arial"/>
                <a:ea typeface="Microsoft YaHei"/>
              </a:rPr>
              <a:t>Goal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017520" y="3252216"/>
            <a:ext cx="8625535" cy="408432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1F2A44"/>
                </a:solidFill>
                <a:latin typeface="Arial"/>
                <a:ea typeface="Microsoft YaHei"/>
              </a:rPr>
              <a:t>Solve the problem in a friendly way. Offer two options (wait / come back).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3733800"/>
            <a:ext cx="2377440" cy="408432"/>
          </a:xfrm>
          <a:prstGeom prst="roundRect">
            <a:avLst>
              <a:gd name="adj" fmla="val 15000"/>
            </a:avLst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Arial"/>
                <a:ea typeface="Microsoft YaHei"/>
              </a:rPr>
              <a:t>My notes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017520" y="3733800"/>
            <a:ext cx="8625535" cy="408432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1F2A44"/>
                </a:solidFill>
                <a:latin typeface="Arial"/>
                <a:ea typeface="Microsoft YaHei"/>
              </a:rPr>
              <a:t>____________________________________________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4306824"/>
            <a:ext cx="11094415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500" b="1">
                <a:solidFill>
                  <a:srgbClr val="FF6B5B"/>
                </a:solidFill>
                <a:latin typeface="Arial"/>
                <a:ea typeface="Microsoft YaHei"/>
              </a:rPr>
              <a:t>🔥 Level-up challenges 进阶挑战 (click)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8640" y="4690872"/>
            <a:ext cx="3576218" cy="1527048"/>
          </a:xfrm>
          <a:prstGeom prst="roundRect">
            <a:avLst>
              <a:gd name="adj" fmla="val 12000"/>
            </a:avLst>
          </a:prstGeom>
          <a:solidFill>
            <a:srgbClr val="4A90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Arial"/>
                <a:ea typeface="Microsoft YaHei"/>
              </a:rPr>
              <a:t>The visitor is annoyed: “I flew in from Seoul for this!” Stay calm and offer a solution. Say: “I completely understand. Let me see what I can do.”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307738" y="4690872"/>
            <a:ext cx="3576218" cy="1527048"/>
          </a:xfrm>
          <a:prstGeom prst="roundRect">
            <a:avLst>
              <a:gd name="adj" fmla="val 12000"/>
            </a:avLst>
          </a:prstGeom>
          <a:solidFill>
            <a:srgbClr val="3CC4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Arial"/>
                <a:ea typeface="Microsoft YaHei"/>
              </a:rPr>
              <a:t>The visitor has no appointment at all. Ask politely: “May I ask what it’s regarding?”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066836" y="4690872"/>
            <a:ext cx="3576218" cy="1527048"/>
          </a:xfrm>
          <a:prstGeom prst="roundRect">
            <a:avLst>
              <a:gd name="adj" fmla="val 12000"/>
            </a:avLst>
          </a:prstGeom>
          <a:solidFill>
            <a:srgbClr val="FFC8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Arial"/>
                <a:ea typeface="Microsoft YaHei"/>
              </a:rPr>
              <a:t>Ask the visitor to leave a message: “Can I take a message for Mr Tan?”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" fill="hold">
                      <p:stCondLst>
                        <p:cond delay="indefinite"/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4A90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8442656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3200" b="1">
                <a:solidFill>
                  <a:srgbClr val="1F2A44"/>
                </a:solidFill>
                <a:latin typeface="Arial"/>
                <a:ea typeface="Microsoft YaHei"/>
              </a:rPr>
              <a:t>💬 Discussion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74175" y="438912"/>
            <a:ext cx="2560320" cy="475488"/>
          </a:xfrm>
          <a:prstGeom prst="roundRect">
            <a:avLst>
              <a:gd name="adj" fmla="val 50000"/>
            </a:avLst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3152" rIns="73152"/>
          <a:lstStyle/>
          <a:p>
            <a:pPr algn="ctr">
              <a:spcAft>
                <a:spcPts val="200"/>
              </a:spcAft>
            </a:pPr>
            <a:r>
              <a:rPr sz="1300" b="1">
                <a:solidFill>
                  <a:srgbClr val="FFFFFF"/>
                </a:solidFill>
                <a:latin typeface="Arial"/>
                <a:ea typeface="Microsoft YaHei"/>
              </a:rPr>
              <a:t>04 Discussion 讨论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19088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100" b="0">
                <a:solidFill>
                  <a:srgbClr val="5F677A"/>
                </a:solidFill>
                <a:latin typeface="Arial"/>
                <a:ea typeface="Microsoft YaHei"/>
              </a:rPr>
              <a:t>Business English · Level 4 · Unit 3 · Lesson 06 At reception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28655" y="6419088"/>
            <a:ext cx="914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  <a:spcAft>
                <a:spcPts val="800"/>
              </a:spcAft>
            </a:pPr>
            <a:r>
              <a:rPr sz="1100" b="0">
                <a:solidFill>
                  <a:srgbClr val="5F677A"/>
                </a:solidFill>
                <a:latin typeface="Arial"/>
                <a:ea typeface="Microsoft YaHei"/>
              </a:rPr>
              <a:t>22</a:t>
            </a:r>
          </a:p>
        </p:txBody>
      </p:sp>
      <p:sp>
        <p:nvSpPr>
          <p:cNvPr id="7" name="Rounded Rectangle 6">
            <a:hlinkClick action="ppaction://hlinksldjump" r:id="rId2"/>
          </p:cNvPr>
          <p:cNvSpPr/>
          <p:nvPr/>
        </p:nvSpPr>
        <p:spPr>
          <a:xfrm>
            <a:off x="9677095" y="6382512"/>
            <a:ext cx="960120" cy="329184"/>
          </a:xfrm>
          <a:prstGeom prst="roundRect">
            <a:avLst>
              <a:gd name="adj" fmla="val 50000"/>
            </a:avLst>
          </a:prstGeom>
          <a:solidFill>
            <a:srgbClr val="FFE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Aft>
                <a:spcPts val="200"/>
              </a:spcAft>
            </a:pPr>
            <a:r>
              <a:rPr sz="1100" b="1">
                <a:solidFill>
                  <a:srgbClr val="1F2A44"/>
                </a:solidFill>
                <a:latin typeface="Arial"/>
                <a:ea typeface="Microsoft YaHei"/>
              </a:rPr>
              <a:t>🗺 Map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024128"/>
            <a:ext cx="11094415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500" b="0">
                <a:solidFill>
                  <a:srgbClr val="5F677A"/>
                </a:solidFill>
                <a:latin typeface="Arial"/>
                <a:ea typeface="Microsoft YaHei"/>
              </a:rPr>
              <a:t>Prepare 2–3 sentences. Use the starters!  每题准备 2–3 句话，用上句型</a:t>
            </a:r>
          </a:p>
        </p:txBody>
      </p:sp>
      <p:sp>
        <p:nvSpPr>
          <p:cNvPr id="9" name="Oval 8"/>
          <p:cNvSpPr/>
          <p:nvPr/>
        </p:nvSpPr>
        <p:spPr>
          <a:xfrm>
            <a:off x="548640" y="1554480"/>
            <a:ext cx="548640" cy="548640"/>
          </a:xfrm>
          <a:prstGeom prst="ellipse">
            <a:avLst/>
          </a:prstGeom>
          <a:solidFill>
            <a:srgbClr val="FF6B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FFFFFF"/>
                </a:solidFill>
                <a:latin typeface="Arial"/>
                <a:ea typeface="Microsoft YaHei"/>
              </a:rPr>
              <a:t>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234440" y="1508760"/>
            <a:ext cx="10408615" cy="6858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325880" y="1554480"/>
            <a:ext cx="10271455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900" b="1">
                <a:solidFill>
                  <a:srgbClr val="1F2A44"/>
                </a:solidFill>
                <a:latin typeface="Arial"/>
                <a:ea typeface="Microsoft YaHei"/>
              </a:rPr>
              <a:t>What makes a good first impression at reception?</a:t>
            </a:r>
          </a:p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400" b="0">
                <a:solidFill>
                  <a:srgbClr val="5F677A"/>
                </a:solidFill>
                <a:latin typeface="Arial"/>
                <a:ea typeface="Microsoft YaHei"/>
              </a:rPr>
              <a:t>💬 “A good first impression is…” / “The first thing visitors notice is…”</a:t>
            </a:r>
          </a:p>
        </p:txBody>
      </p:sp>
      <p:sp>
        <p:nvSpPr>
          <p:cNvPr id="12" name="Oval 11"/>
          <p:cNvSpPr/>
          <p:nvPr/>
        </p:nvSpPr>
        <p:spPr>
          <a:xfrm>
            <a:off x="548640" y="2331720"/>
            <a:ext cx="548640" cy="548640"/>
          </a:xfrm>
          <a:prstGeom prst="ellipse">
            <a:avLst/>
          </a:prstGeom>
          <a:solidFill>
            <a:srgbClr val="4A90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FFFFFF"/>
                </a:solidFill>
                <a:latin typeface="Arial"/>
                <a:ea typeface="Microsoft YaHei"/>
              </a:rPr>
              <a:t>2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234440" y="2286000"/>
            <a:ext cx="10408615" cy="6858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25880" y="2331720"/>
            <a:ext cx="10271455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900" b="1">
                <a:solidFill>
                  <a:srgbClr val="1F2A44"/>
                </a:solidFill>
                <a:latin typeface="Arial"/>
                <a:ea typeface="Microsoft YaHei"/>
              </a:rPr>
              <a:t>What should a receptionist do when a visitor has no appointment?</a:t>
            </a:r>
          </a:p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400" b="0">
                <a:solidFill>
                  <a:srgbClr val="5F677A"/>
                </a:solidFill>
                <a:latin typeface="Arial"/>
                <a:ea typeface="Microsoft YaHei"/>
              </a:rPr>
              <a:t>💬 “I would ask… first.” / “If the host is free, I would…”</a:t>
            </a:r>
          </a:p>
        </p:txBody>
      </p:sp>
      <p:sp>
        <p:nvSpPr>
          <p:cNvPr id="15" name="Oval 14"/>
          <p:cNvSpPr/>
          <p:nvPr/>
        </p:nvSpPr>
        <p:spPr>
          <a:xfrm>
            <a:off x="548640" y="3108960"/>
            <a:ext cx="548640" cy="548640"/>
          </a:xfrm>
          <a:prstGeom prst="ellipse">
            <a:avLst/>
          </a:prstGeom>
          <a:solidFill>
            <a:srgbClr val="3CC4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FFFFFF"/>
                </a:solidFill>
                <a:latin typeface="Arial"/>
                <a:ea typeface="Microsoft YaHei"/>
              </a:rPr>
              <a:t>3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234440" y="3063240"/>
            <a:ext cx="10408615" cy="6858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325880" y="3108960"/>
            <a:ext cx="10271455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900" b="1">
                <a:solidFill>
                  <a:srgbClr val="1F2A44"/>
                </a:solidFill>
                <a:latin typeface="Arial"/>
                <a:ea typeface="Microsoft YaHei"/>
              </a:rPr>
              <a:t>Are badges and sign-in rules important in your company? Why?</a:t>
            </a:r>
          </a:p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400" b="0">
                <a:solidFill>
                  <a:srgbClr val="5F677A"/>
                </a:solidFill>
                <a:latin typeface="Arial"/>
                <a:ea typeface="Microsoft YaHei"/>
              </a:rPr>
              <a:t>💬 “In my company, visitors must… because…” / “It is important for security because…”</a:t>
            </a:r>
          </a:p>
        </p:txBody>
      </p:sp>
      <p:sp>
        <p:nvSpPr>
          <p:cNvPr id="18" name="Oval 17"/>
          <p:cNvSpPr/>
          <p:nvPr/>
        </p:nvSpPr>
        <p:spPr>
          <a:xfrm>
            <a:off x="548640" y="3886200"/>
            <a:ext cx="548640" cy="548640"/>
          </a:xfrm>
          <a:prstGeom prst="ellipse">
            <a:avLst/>
          </a:prstGeom>
          <a:solidFill>
            <a:srgbClr val="FFC8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FFFFFF"/>
                </a:solidFill>
                <a:latin typeface="Arial"/>
                <a:ea typeface="Microsoft YaHei"/>
              </a:rPr>
              <a:t>4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234440" y="3840480"/>
            <a:ext cx="10408615" cy="6858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325880" y="3886200"/>
            <a:ext cx="10271455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900" b="1">
                <a:solidFill>
                  <a:srgbClr val="1F2A44"/>
                </a:solidFill>
                <a:latin typeface="Arial"/>
                <a:ea typeface="Microsoft YaHei"/>
              </a:rPr>
              <a:t>Have you ever been left waiting at a reception desk? How did you feel?</a:t>
            </a:r>
          </a:p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400" b="0">
                <a:solidFill>
                  <a:srgbClr val="5F677A"/>
                </a:solidFill>
                <a:latin typeface="Arial"/>
                <a:ea typeface="Microsoft YaHei"/>
              </a:rPr>
              <a:t>💬 “Last time, I waited for… I felt…” / “It would have been better if they had…”</a:t>
            </a:r>
          </a:p>
        </p:txBody>
      </p:sp>
      <p:sp>
        <p:nvSpPr>
          <p:cNvPr id="21" name="Oval 20"/>
          <p:cNvSpPr/>
          <p:nvPr/>
        </p:nvSpPr>
        <p:spPr>
          <a:xfrm>
            <a:off x="548640" y="4663440"/>
            <a:ext cx="548640" cy="548640"/>
          </a:xfrm>
          <a:prstGeom prst="ellipse">
            <a:avLst/>
          </a:prstGeom>
          <a:solidFill>
            <a:srgbClr val="9B6B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FFFFFF"/>
                </a:solidFill>
                <a:latin typeface="Arial"/>
                <a:ea typeface="Microsoft YaHei"/>
              </a:rPr>
              <a:t>5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234440" y="4617720"/>
            <a:ext cx="10408615" cy="6858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325880" y="4663440"/>
            <a:ext cx="10271455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900" b="1">
                <a:solidFill>
                  <a:srgbClr val="1F2A44"/>
                </a:solidFill>
                <a:latin typeface="Arial"/>
                <a:ea typeface="Microsoft YaHei"/>
              </a:rPr>
              <a:t>How can a receptionist make a long wait more pleasant?</a:t>
            </a:r>
          </a:p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400" b="0">
                <a:solidFill>
                  <a:srgbClr val="5F677A"/>
                </a:solidFill>
                <a:latin typeface="Arial"/>
                <a:ea typeface="Microsoft YaHei"/>
              </a:rPr>
              <a:t>💬 “They could offer…” / “They can keep visitors informed by…”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4A90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8442656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3200" b="1">
                <a:solidFill>
                  <a:srgbClr val="1F2A44"/>
                </a:solidFill>
                <a:latin typeface="Arial"/>
                <a:ea typeface="Microsoft YaHei"/>
              </a:rPr>
              <a:t>🌟 Model Answer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74175" y="438912"/>
            <a:ext cx="2560320" cy="475488"/>
          </a:xfrm>
          <a:prstGeom prst="roundRect">
            <a:avLst>
              <a:gd name="adj" fmla="val 50000"/>
            </a:avLst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3152" rIns="73152"/>
          <a:lstStyle/>
          <a:p>
            <a:pPr algn="ctr">
              <a:spcAft>
                <a:spcPts val="200"/>
              </a:spcAft>
            </a:pPr>
            <a:r>
              <a:rPr sz="1300" b="1">
                <a:solidFill>
                  <a:srgbClr val="FFFFFF"/>
                </a:solidFill>
                <a:latin typeface="Arial"/>
                <a:ea typeface="Microsoft YaHei"/>
              </a:rPr>
              <a:t>04 Discussion 讨论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19088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100" b="0">
                <a:solidFill>
                  <a:srgbClr val="5F677A"/>
                </a:solidFill>
                <a:latin typeface="Arial"/>
                <a:ea typeface="Microsoft YaHei"/>
              </a:rPr>
              <a:t>Business English · Level 4 · Unit 3 · Lesson 06 At reception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28655" y="6419088"/>
            <a:ext cx="914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  <a:spcAft>
                <a:spcPts val="800"/>
              </a:spcAft>
            </a:pPr>
            <a:r>
              <a:rPr sz="1100" b="0">
                <a:solidFill>
                  <a:srgbClr val="5F677A"/>
                </a:solidFill>
                <a:latin typeface="Arial"/>
                <a:ea typeface="Microsoft YaHei"/>
              </a:rPr>
              <a:t>23</a:t>
            </a:r>
          </a:p>
        </p:txBody>
      </p:sp>
      <p:sp>
        <p:nvSpPr>
          <p:cNvPr id="7" name="Rounded Rectangle 6">
            <a:hlinkClick action="ppaction://hlinksldjump" r:id="rId2"/>
          </p:cNvPr>
          <p:cNvSpPr/>
          <p:nvPr/>
        </p:nvSpPr>
        <p:spPr>
          <a:xfrm>
            <a:off x="9677095" y="6382512"/>
            <a:ext cx="960120" cy="329184"/>
          </a:xfrm>
          <a:prstGeom prst="roundRect">
            <a:avLst>
              <a:gd name="adj" fmla="val 50000"/>
            </a:avLst>
          </a:prstGeom>
          <a:solidFill>
            <a:srgbClr val="FFE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Aft>
                <a:spcPts val="200"/>
              </a:spcAft>
            </a:pPr>
            <a:r>
              <a:rPr sz="1100" b="1">
                <a:solidFill>
                  <a:srgbClr val="1F2A44"/>
                </a:solidFill>
                <a:latin typeface="Arial"/>
                <a:ea typeface="Microsoft YaHei"/>
              </a:rPr>
              <a:t>🗺 Map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005840"/>
            <a:ext cx="11094415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500" b="0">
                <a:solidFill>
                  <a:srgbClr val="5F677A"/>
                </a:solidFill>
                <a:latin typeface="Arial"/>
                <a:ea typeface="Microsoft YaHei"/>
              </a:rPr>
              <a:t>Model answer (Question 2)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463040"/>
            <a:ext cx="11094415" cy="40690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1371600"/>
            <a:ext cx="9144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5400" b="0">
                <a:solidFill>
                  <a:srgbClr val="4A90E2"/>
                </a:solidFill>
                <a:latin typeface="Arial"/>
                <a:ea typeface="Microsoft YaHei"/>
              </a:rPr>
              <a:t>❝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0" y="1600200"/>
            <a:ext cx="9814255" cy="3794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2600" b="0">
                <a:solidFill>
                  <a:srgbClr val="1F2A44"/>
                </a:solidFill>
                <a:latin typeface="Arial"/>
                <a:ea typeface="Microsoft YaHei"/>
              </a:rPr>
              <a:t>I would stay polite and ask a few simple questions first, for example,”May I ask who you’d like to see?” If the host is free, I would call them and ask whether they can spare a few minutes. If not, I would offer to take a message or book a proper appointment. The key is not to say “No” too quickly. I would rather say, “I’m afraid he’s tied up at the moment, but let me see what I can do.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5760720"/>
            <a:ext cx="11094415" cy="502920"/>
          </a:xfrm>
          <a:prstGeom prst="roundRect">
            <a:avLst>
              <a:gd name="adj" fmla="val 30000"/>
            </a:avLst>
          </a:prstGeom>
          <a:solidFill>
            <a:srgbClr val="FFE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F2A44"/>
                </a:solidFill>
                <a:latin typeface="Arial"/>
                <a:ea typeface="Microsoft YaHei"/>
              </a:rPr>
              <a:t>💡 “I’d rather say…” 和 “I would rather… than…” 是常用的委婉表达。注意 “spare a few minutes”(抽出几分钟)是地道搭配。</a:t>
            </a:r>
          </a:p>
        </p:txBody>
      </p:sp>
    </p:spTree>
  </p:cSld>
  <p:clrMapOvr>
    <a:masterClrMapping/>
  </p:clrMapOvr>
  <p:transition spd="med">
    <p:fade/>
  </p:transition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3CC4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8442656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2700" b="1">
                <a:solidFill>
                  <a:srgbClr val="1F2A44"/>
                </a:solidFill>
                <a:latin typeface="Arial"/>
                <a:ea typeface="Microsoft YaHei"/>
              </a:rPr>
              <a:t>💡 Direct vs polite: be indirect at the desk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74175" y="438912"/>
            <a:ext cx="2560320" cy="475488"/>
          </a:xfrm>
          <a:prstGeom prst="roundRect">
            <a:avLst>
              <a:gd name="adj" fmla="val 50000"/>
            </a:avLst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3152" rIns="73152"/>
          <a:lstStyle/>
          <a:p>
            <a:pPr algn="ctr">
              <a:spcAft>
                <a:spcPts val="200"/>
              </a:spcAft>
            </a:pPr>
            <a:r>
              <a:rPr sz="1300" b="1">
                <a:solidFill>
                  <a:srgbClr val="FFFFFF"/>
                </a:solidFill>
                <a:latin typeface="Arial"/>
                <a:ea typeface="Microsoft YaHei"/>
              </a:rPr>
              <a:t>05 Language Tips 贴士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19088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100" b="0">
                <a:solidFill>
                  <a:srgbClr val="5F677A"/>
                </a:solidFill>
                <a:latin typeface="Arial"/>
                <a:ea typeface="Microsoft YaHei"/>
              </a:rPr>
              <a:t>Business English · Level 4 · Unit 3 · Lesson 06 At reception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28655" y="6419088"/>
            <a:ext cx="914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  <a:spcAft>
                <a:spcPts val="800"/>
              </a:spcAft>
            </a:pPr>
            <a:r>
              <a:rPr sz="1100" b="0">
                <a:solidFill>
                  <a:srgbClr val="5F677A"/>
                </a:solidFill>
                <a:latin typeface="Arial"/>
                <a:ea typeface="Microsoft YaHei"/>
              </a:rPr>
              <a:t>24</a:t>
            </a:r>
          </a:p>
        </p:txBody>
      </p:sp>
      <p:sp>
        <p:nvSpPr>
          <p:cNvPr id="7" name="Rounded Rectangle 6">
            <a:hlinkClick action="ppaction://hlinksldjump" r:id="rId2"/>
          </p:cNvPr>
          <p:cNvSpPr/>
          <p:nvPr/>
        </p:nvSpPr>
        <p:spPr>
          <a:xfrm>
            <a:off x="9677095" y="6382512"/>
            <a:ext cx="960120" cy="329184"/>
          </a:xfrm>
          <a:prstGeom prst="roundRect">
            <a:avLst>
              <a:gd name="adj" fmla="val 50000"/>
            </a:avLst>
          </a:prstGeom>
          <a:solidFill>
            <a:srgbClr val="FFE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Aft>
                <a:spcPts val="200"/>
              </a:spcAft>
            </a:pPr>
            <a:r>
              <a:rPr sz="1100" b="1">
                <a:solidFill>
                  <a:srgbClr val="1F2A44"/>
                </a:solidFill>
                <a:latin typeface="Arial"/>
                <a:ea typeface="Microsoft YaHei"/>
              </a:rPr>
              <a:t>🗺 Map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960120"/>
            <a:ext cx="11094415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500" b="0">
                <a:solidFill>
                  <a:srgbClr val="5F677A"/>
                </a:solidFill>
                <a:latin typeface="Arial"/>
                <a:ea typeface="Microsoft YaHei"/>
              </a:rPr>
              <a:t>前台用语要委婉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48640" y="1417320"/>
          <a:ext cx="11094415" cy="36697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98138"/>
                <a:gridCol w="3698138"/>
                <a:gridCol w="3698139"/>
              </a:tblGrid>
              <a:tr h="408432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Arial"/>
                          <a:ea typeface="Microsoft YaHei"/>
                        </a:rPr>
                        <a:t>Too direct ✗</a:t>
                      </a:r>
                    </a:p>
                  </a:txBody>
                  <a:tcPr anchor="ctr">
                    <a:solidFill>
                      <a:srgbClr val="3CC49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Arial"/>
                          <a:ea typeface="Microsoft YaHei"/>
                        </a:rPr>
                        <a:t>Polite and natural ✓</a:t>
                      </a:r>
                    </a:p>
                  </a:txBody>
                  <a:tcPr anchor="ctr">
                    <a:solidFill>
                      <a:srgbClr val="3CC49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Arial"/>
                          <a:ea typeface="Microsoft YaHei"/>
                        </a:rPr>
                        <a:t>Why 原因</a:t>
                      </a:r>
                    </a:p>
                  </a:txBody>
                  <a:tcPr anchor="ctr">
                    <a:solidFill>
                      <a:srgbClr val="3CC49A"/>
                    </a:solidFill>
                  </a:tcPr>
                </a:tc>
              </a:tr>
              <a:tr h="652272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1F2A44"/>
                          </a:solidFill>
                          <a:latin typeface="Arial"/>
                          <a:ea typeface="Microsoft YaHei"/>
                        </a:rPr>
                        <a:t>Who are you?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F2A44"/>
                          </a:solidFill>
                          <a:latin typeface="Arial"/>
                          <a:ea typeface="Microsoft YaHei"/>
                        </a:rPr>
                        <a:t>May I ask who you’re here to see?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FF6B5B"/>
                          </a:solidFill>
                          <a:latin typeface="Arial"/>
                          <a:ea typeface="Microsoft YaHei"/>
                        </a:rPr>
                        <a:t>直接问 Who are you? 很不礼貌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652272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1F2A44"/>
                          </a:solidFill>
                          <a:latin typeface="Arial"/>
                          <a:ea typeface="Microsoft YaHei"/>
                        </a:rPr>
                        <a:t>He is busy.</a:t>
                      </a:r>
                    </a:p>
                  </a:txBody>
                  <a:tcPr anchor="ctr">
                    <a:solidFill>
                      <a:srgbClr val="FFEFD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F2A44"/>
                          </a:solidFill>
                          <a:latin typeface="Arial"/>
                          <a:ea typeface="Microsoft YaHei"/>
                        </a:rPr>
                        <a:t>I’m afraid he’s tied up at the moment.</a:t>
                      </a:r>
                    </a:p>
                  </a:txBody>
                  <a:tcPr anchor="ctr">
                    <a:solidFill>
                      <a:srgbClr val="FFEFD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FF6B5B"/>
                          </a:solidFill>
                          <a:latin typeface="Arial"/>
                          <a:ea typeface="Microsoft YaHei"/>
                        </a:rPr>
                        <a:t>I’m afraid 用来柔化坏消息</a:t>
                      </a:r>
                    </a:p>
                  </a:txBody>
                  <a:tcPr anchor="ctr">
                    <a:solidFill>
                      <a:srgbClr val="FFEFD9"/>
                    </a:solidFill>
                  </a:tcPr>
                </a:tc>
              </a:tr>
              <a:tr h="652272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1F2A44"/>
                          </a:solidFill>
                          <a:latin typeface="Arial"/>
                          <a:ea typeface="Microsoft YaHei"/>
                        </a:rPr>
                        <a:t>Wait here.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F2A44"/>
                          </a:solidFill>
                          <a:latin typeface="Arial"/>
                          <a:ea typeface="Microsoft YaHei"/>
                        </a:rPr>
                        <a:t>Would you mind waiting here for a moment?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FF6B5B"/>
                          </a:solidFill>
                          <a:latin typeface="Arial"/>
                          <a:ea typeface="Microsoft YaHei"/>
                        </a:rPr>
                        <a:t>用 Would you mind… 代替命令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652272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1F2A44"/>
                          </a:solidFill>
                          <a:latin typeface="Arial"/>
                          <a:ea typeface="Microsoft YaHei"/>
                        </a:rPr>
                        <a:t>You come on the wrong day.</a:t>
                      </a:r>
                    </a:p>
                  </a:txBody>
                  <a:tcPr anchor="ctr">
                    <a:solidFill>
                      <a:srgbClr val="FFEFD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F2A44"/>
                          </a:solidFill>
                          <a:latin typeface="Arial"/>
                          <a:ea typeface="Microsoft YaHei"/>
                        </a:rPr>
                        <a:t>I have you down for tomorrow, I’m afraid.</a:t>
                      </a:r>
                    </a:p>
                  </a:txBody>
                  <a:tcPr anchor="ctr">
                    <a:solidFill>
                      <a:srgbClr val="FFEFD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FF6B5B"/>
                          </a:solidFill>
                          <a:latin typeface="Arial"/>
                          <a:ea typeface="Microsoft YaHei"/>
                        </a:rPr>
                        <a:t>不要指责对方,说明事实</a:t>
                      </a:r>
                    </a:p>
                  </a:txBody>
                  <a:tcPr anchor="ctr">
                    <a:solidFill>
                      <a:srgbClr val="FFEFD9"/>
                    </a:solidFill>
                  </a:tcPr>
                </a:tc>
              </a:tr>
              <a:tr h="652272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1F2A44"/>
                          </a:solidFill>
                          <a:latin typeface="Arial"/>
                          <a:ea typeface="Microsoft YaHei"/>
                        </a:rPr>
                        <a:t>No, you can’t see him.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F2A44"/>
                          </a:solidFill>
                          <a:latin typeface="Arial"/>
                          <a:ea typeface="Microsoft YaHei"/>
                        </a:rPr>
                        <a:t>He’s not available right now. Can I take a message?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FF6B5B"/>
                          </a:solidFill>
                          <a:latin typeface="Arial"/>
                          <a:ea typeface="Microsoft YaHei"/>
                        </a:rPr>
                        <a:t>先说原因,再给出办法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 spd="med">
    <p:fade/>
  </p:transition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3CC4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8442656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3200" b="1">
                <a:solidFill>
                  <a:srgbClr val="1F2A44"/>
                </a:solidFill>
                <a:latin typeface="Arial"/>
                <a:ea typeface="Microsoft YaHei"/>
              </a:rPr>
              <a:t>💡 Useful points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74175" y="438912"/>
            <a:ext cx="2560320" cy="475488"/>
          </a:xfrm>
          <a:prstGeom prst="roundRect">
            <a:avLst>
              <a:gd name="adj" fmla="val 50000"/>
            </a:avLst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3152" rIns="73152"/>
          <a:lstStyle/>
          <a:p>
            <a:pPr algn="ctr">
              <a:spcAft>
                <a:spcPts val="200"/>
              </a:spcAft>
            </a:pPr>
            <a:r>
              <a:rPr sz="1300" b="1">
                <a:solidFill>
                  <a:srgbClr val="FFFFFF"/>
                </a:solidFill>
                <a:latin typeface="Arial"/>
                <a:ea typeface="Microsoft YaHei"/>
              </a:rPr>
              <a:t>05 Language Tips 贴士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19088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100" b="0">
                <a:solidFill>
                  <a:srgbClr val="5F677A"/>
                </a:solidFill>
                <a:latin typeface="Arial"/>
                <a:ea typeface="Microsoft YaHei"/>
              </a:rPr>
              <a:t>Business English · Level 4 · Unit 3 · Lesson 06 At reception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28655" y="6419088"/>
            <a:ext cx="914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  <a:spcAft>
                <a:spcPts val="800"/>
              </a:spcAft>
            </a:pPr>
            <a:r>
              <a:rPr sz="1100" b="0">
                <a:solidFill>
                  <a:srgbClr val="5F677A"/>
                </a:solidFill>
                <a:latin typeface="Arial"/>
                <a:ea typeface="Microsoft YaHei"/>
              </a:rPr>
              <a:t>25</a:t>
            </a:r>
          </a:p>
        </p:txBody>
      </p:sp>
      <p:sp>
        <p:nvSpPr>
          <p:cNvPr id="7" name="Rounded Rectangle 6">
            <a:hlinkClick action="ppaction://hlinksldjump" r:id="rId2"/>
          </p:cNvPr>
          <p:cNvSpPr/>
          <p:nvPr/>
        </p:nvSpPr>
        <p:spPr>
          <a:xfrm>
            <a:off x="9677095" y="6382512"/>
            <a:ext cx="960120" cy="329184"/>
          </a:xfrm>
          <a:prstGeom prst="roundRect">
            <a:avLst>
              <a:gd name="adj" fmla="val 50000"/>
            </a:avLst>
          </a:prstGeom>
          <a:solidFill>
            <a:srgbClr val="FFE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Aft>
                <a:spcPts val="200"/>
              </a:spcAft>
            </a:pPr>
            <a:r>
              <a:rPr sz="1100" b="1">
                <a:solidFill>
                  <a:srgbClr val="1F2A44"/>
                </a:solidFill>
                <a:latin typeface="Arial"/>
                <a:ea typeface="Microsoft YaHei"/>
              </a:rPr>
              <a:t>🗺 Map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417320"/>
            <a:ext cx="11094415" cy="701039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1417320"/>
            <a:ext cx="91440" cy="701039"/>
          </a:xfrm>
          <a:prstGeom prst="rect">
            <a:avLst/>
          </a:prstGeom>
          <a:solidFill>
            <a:srgbClr val="FF6B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1417320"/>
            <a:ext cx="10728655" cy="70103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700" b="1">
                <a:solidFill>
                  <a:srgbClr val="FF6B5B"/>
                </a:solidFill>
                <a:latin typeface="Arial"/>
                <a:ea typeface="Microsoft YaHei"/>
              </a:rPr>
              <a:t>Sign in vs register: </a:t>
            </a:r>
            <a:r>
              <a:rPr sz="1700" b="0">
                <a:solidFill>
                  <a:srgbClr val="1F2A44"/>
                </a:solidFill>
                <a:latin typeface="Arial"/>
                <a:ea typeface="Microsoft YaHei"/>
              </a:rPr>
              <a:t>use sign in for visitors at a front desk. Register is for conferences, hospitals and schools.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2209799"/>
            <a:ext cx="11094415" cy="701039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48640" y="2209799"/>
            <a:ext cx="91440" cy="701039"/>
          </a:xfrm>
          <a:prstGeom prst="rect">
            <a:avLst/>
          </a:prstGeom>
          <a:solidFill>
            <a:srgbClr val="4A90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2209799"/>
            <a:ext cx="10728655" cy="70103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700" b="1">
                <a:solidFill>
                  <a:srgbClr val="4A90E2"/>
                </a:solidFill>
                <a:latin typeface="Arial"/>
                <a:ea typeface="Microsoft YaHei"/>
              </a:rPr>
              <a:t>Make vs have an appointment: </a:t>
            </a:r>
            <a:r>
              <a:rPr sz="1700" b="0">
                <a:solidFill>
                  <a:srgbClr val="1F2A44"/>
                </a:solidFill>
                <a:latin typeface="Arial"/>
                <a:ea typeface="Microsoft YaHei"/>
              </a:rPr>
              <a:t>you make (or book) an appointment, but on the day you have one: “I have an appointment with Mr Wu.”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3002278"/>
            <a:ext cx="11094415" cy="701039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48640" y="3002278"/>
            <a:ext cx="91440" cy="701039"/>
          </a:xfrm>
          <a:prstGeom prst="rect">
            <a:avLst/>
          </a:prstGeom>
          <a:solidFill>
            <a:srgbClr val="3CC4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" y="3002278"/>
            <a:ext cx="10728655" cy="70103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700" b="1">
                <a:solidFill>
                  <a:srgbClr val="3CC49A"/>
                </a:solidFill>
                <a:latin typeface="Arial"/>
                <a:ea typeface="Microsoft YaHei"/>
              </a:rPr>
              <a:t>Ask who + preposition: </a:t>
            </a:r>
            <a:r>
              <a:rPr sz="1700" b="0">
                <a:solidFill>
                  <a:srgbClr val="1F2A44"/>
                </a:solidFill>
                <a:latin typeface="Arial"/>
                <a:ea typeface="Microsoft YaHei"/>
              </a:rPr>
              <a:t>“Who are you here to see?” “Who did you say you were meeting?” The preposition stays at the end in natural speech.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3794757"/>
            <a:ext cx="11094415" cy="701039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48640" y="3794757"/>
            <a:ext cx="91440" cy="701039"/>
          </a:xfrm>
          <a:prstGeom prst="rect">
            <a:avLst/>
          </a:prstGeom>
          <a:solidFill>
            <a:srgbClr val="FFC8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7240" y="3794757"/>
            <a:ext cx="10728655" cy="70103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700" b="1">
                <a:solidFill>
                  <a:srgbClr val="FFC857"/>
                </a:solidFill>
                <a:latin typeface="Arial"/>
                <a:ea typeface="Microsoft YaHei"/>
              </a:rPr>
              <a:t>Lift vs elevator: </a:t>
            </a:r>
            <a:r>
              <a:rPr sz="1700" b="0">
                <a:solidFill>
                  <a:srgbClr val="1F2A44"/>
                </a:solidFill>
                <a:latin typeface="Arial"/>
                <a:ea typeface="Microsoft YaHei"/>
              </a:rPr>
              <a:t>UK English says lift and ground floor. US English says elevator and first floor (= UK ground floor). Check which one your visitor uses.</a:t>
            </a:r>
          </a:p>
        </p:txBody>
      </p:sp>
    </p:spTree>
  </p:cSld>
  <p:clrMapOvr>
    <a:masterClrMapping/>
  </p:clrMapOvr>
  <p:transition spd="med">
    <p:fade/>
  </p:transition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3CC4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8442656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3200" b="1">
                <a:solidFill>
                  <a:srgbClr val="1F2A44"/>
                </a:solidFill>
                <a:latin typeface="Arial"/>
                <a:ea typeface="Microsoft YaHei"/>
              </a:rPr>
              <a:t>💡 Reception script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74175" y="438912"/>
            <a:ext cx="2560320" cy="475488"/>
          </a:xfrm>
          <a:prstGeom prst="roundRect">
            <a:avLst>
              <a:gd name="adj" fmla="val 50000"/>
            </a:avLst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3152" rIns="73152"/>
          <a:lstStyle/>
          <a:p>
            <a:pPr algn="ctr">
              <a:spcAft>
                <a:spcPts val="200"/>
              </a:spcAft>
            </a:pPr>
            <a:r>
              <a:rPr sz="1300" b="1">
                <a:solidFill>
                  <a:srgbClr val="FFFFFF"/>
                </a:solidFill>
                <a:latin typeface="Arial"/>
                <a:ea typeface="Microsoft YaHei"/>
              </a:rPr>
              <a:t>05 Language Tips 贴士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19088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100" b="0">
                <a:solidFill>
                  <a:srgbClr val="5F677A"/>
                </a:solidFill>
                <a:latin typeface="Arial"/>
                <a:ea typeface="Microsoft YaHei"/>
              </a:rPr>
              <a:t>Business English · Level 4 · Unit 3 · Lesson 06 At reception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28655" y="6419088"/>
            <a:ext cx="914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  <a:spcAft>
                <a:spcPts val="800"/>
              </a:spcAft>
            </a:pPr>
            <a:r>
              <a:rPr sz="1100" b="0">
                <a:solidFill>
                  <a:srgbClr val="5F677A"/>
                </a:solidFill>
                <a:latin typeface="Arial"/>
                <a:ea typeface="Microsoft YaHei"/>
              </a:rPr>
              <a:t>26</a:t>
            </a:r>
          </a:p>
        </p:txBody>
      </p:sp>
      <p:sp>
        <p:nvSpPr>
          <p:cNvPr id="7" name="Rounded Rectangle 6">
            <a:hlinkClick action="ppaction://hlinksldjump" r:id="rId2"/>
          </p:cNvPr>
          <p:cNvSpPr/>
          <p:nvPr/>
        </p:nvSpPr>
        <p:spPr>
          <a:xfrm>
            <a:off x="9677095" y="6382512"/>
            <a:ext cx="960120" cy="329184"/>
          </a:xfrm>
          <a:prstGeom prst="roundRect">
            <a:avLst>
              <a:gd name="adj" fmla="val 50000"/>
            </a:avLst>
          </a:prstGeom>
          <a:solidFill>
            <a:srgbClr val="FFE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Aft>
                <a:spcPts val="200"/>
              </a:spcAft>
            </a:pPr>
            <a:r>
              <a:rPr sz="1100" b="1">
                <a:solidFill>
                  <a:srgbClr val="1F2A44"/>
                </a:solidFill>
                <a:latin typeface="Arial"/>
                <a:ea typeface="Microsoft YaHei"/>
              </a:rPr>
              <a:t>🗺 Map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960120"/>
            <a:ext cx="11094415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500" b="0">
                <a:solidFill>
                  <a:srgbClr val="5F677A"/>
                </a:solidFill>
                <a:latin typeface="Arial"/>
                <a:ea typeface="Microsoft YaHei"/>
              </a:rPr>
              <a:t>接待话术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48640" y="1417320"/>
          <a:ext cx="11094415" cy="33467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47207"/>
                <a:gridCol w="5547208"/>
              </a:tblGrid>
              <a:tr h="408432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Arial"/>
                          <a:ea typeface="Microsoft YaHei"/>
                        </a:rPr>
                        <a:t>Step</a:t>
                      </a:r>
                    </a:p>
                  </a:txBody>
                  <a:tcPr anchor="ctr">
                    <a:solidFill>
                      <a:srgbClr val="3CC49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Arial"/>
                          <a:ea typeface="Microsoft YaHei"/>
                        </a:rPr>
                        <a:t>Say this</a:t>
                      </a:r>
                    </a:p>
                  </a:txBody>
                  <a:tcPr anchor="ctr">
                    <a:solidFill>
                      <a:srgbClr val="3CC49A"/>
                    </a:solidFill>
                  </a:tcPr>
                </a:tc>
              </a:tr>
              <a:tr h="408432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1F2A44"/>
                          </a:solidFill>
                          <a:latin typeface="Arial"/>
                          <a:ea typeface="Microsoft YaHei"/>
                        </a:rPr>
                        <a:t>Greet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F2A44"/>
                          </a:solidFill>
                          <a:latin typeface="Arial"/>
                          <a:ea typeface="Microsoft YaHei"/>
                        </a:rPr>
                        <a:t>Good morning. Welcome to Delta. How can I help you?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652272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1F2A44"/>
                          </a:solidFill>
                          <a:latin typeface="Arial"/>
                          <a:ea typeface="Microsoft YaHei"/>
                        </a:rPr>
                        <a:t>Check</a:t>
                      </a:r>
                    </a:p>
                  </a:txBody>
                  <a:tcPr anchor="ctr">
                    <a:solidFill>
                      <a:srgbClr val="FFEFD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F2A44"/>
                          </a:solidFill>
                          <a:latin typeface="Arial"/>
                          <a:ea typeface="Microsoft YaHei"/>
                        </a:rPr>
                        <a:t>Do you have an appointment? / Who are you here to see?</a:t>
                      </a:r>
                    </a:p>
                  </a:txBody>
                  <a:tcPr anchor="ctr">
                    <a:solidFill>
                      <a:srgbClr val="FFEFD9"/>
                    </a:solidFill>
                  </a:tcPr>
                </a:tc>
              </a:tr>
              <a:tr h="408432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1F2A44"/>
                          </a:solidFill>
                          <a:latin typeface="Arial"/>
                          <a:ea typeface="Microsoft YaHei"/>
                        </a:rPr>
                        <a:t>Sign in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F2A44"/>
                          </a:solidFill>
                          <a:latin typeface="Arial"/>
                          <a:ea typeface="Microsoft YaHei"/>
                        </a:rPr>
                        <a:t>Could you sign in here, please? Here’s your badge.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08432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1F2A44"/>
                          </a:solidFill>
                          <a:latin typeface="Arial"/>
                          <a:ea typeface="Microsoft YaHei"/>
                        </a:rPr>
                        <a:t>Wait</a:t>
                      </a:r>
                    </a:p>
                  </a:txBody>
                  <a:tcPr anchor="ctr">
                    <a:solidFill>
                      <a:srgbClr val="FFEFD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F2A44"/>
                          </a:solidFill>
                          <a:latin typeface="Arial"/>
                          <a:ea typeface="Microsoft YaHei"/>
                        </a:rPr>
                        <a:t>Please take a seat. I’ll let her know you’re here.</a:t>
                      </a:r>
                    </a:p>
                  </a:txBody>
                  <a:tcPr anchor="ctr">
                    <a:solidFill>
                      <a:srgbClr val="FFEFD9"/>
                    </a:solidFill>
                  </a:tcPr>
                </a:tc>
              </a:tr>
              <a:tr h="652272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1F2A44"/>
                          </a:solidFill>
                          <a:latin typeface="Arial"/>
                          <a:ea typeface="Microsoft YaHei"/>
                        </a:rPr>
                        <a:t>Problem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F2A44"/>
                          </a:solidFill>
                          <a:latin typeface="Arial"/>
                          <a:ea typeface="Microsoft YaHei"/>
                        </a:rPr>
                        <a:t>I’m afraid he’s tied up. Would you like to wait, or shall I take a message?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08432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1F2A44"/>
                          </a:solidFill>
                          <a:latin typeface="Arial"/>
                          <a:ea typeface="Microsoft YaHei"/>
                        </a:rPr>
                        <a:t>Close</a:t>
                      </a:r>
                    </a:p>
                  </a:txBody>
                  <a:tcPr anchor="ctr">
                    <a:solidFill>
                      <a:srgbClr val="FFEFD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F2A44"/>
                          </a:solidFill>
                          <a:latin typeface="Arial"/>
                          <a:ea typeface="Microsoft YaHei"/>
                        </a:rPr>
                        <a:t>Is there anything else I can help you with?</a:t>
                      </a:r>
                    </a:p>
                  </a:txBody>
                  <a:tcPr anchor="ctr">
                    <a:solidFill>
                      <a:srgbClr val="FFEFD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 spd="med">
    <p:fade/>
  </p:transition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F6B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8442656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3200" b="1">
                <a:solidFill>
                  <a:srgbClr val="1F2A44"/>
                </a:solidFill>
                <a:latin typeface="Arial"/>
                <a:ea typeface="Microsoft YaHei"/>
              </a:rPr>
              <a:t>🕵️ Spot the Mistake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74175" y="438912"/>
            <a:ext cx="2560320" cy="475488"/>
          </a:xfrm>
          <a:prstGeom prst="roundRect">
            <a:avLst>
              <a:gd name="adj" fmla="val 50000"/>
            </a:avLst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3152" rIns="73152"/>
          <a:lstStyle/>
          <a:p>
            <a:pPr algn="ctr">
              <a:spcAft>
                <a:spcPts val="200"/>
              </a:spcAft>
            </a:pPr>
            <a:r>
              <a:rPr sz="1300" b="1">
                <a:solidFill>
                  <a:srgbClr val="FFFFFF"/>
                </a:solidFill>
                <a:latin typeface="Arial"/>
                <a:ea typeface="Microsoft YaHei"/>
              </a:rPr>
              <a:t>05 Language Tips 贴士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19088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100" b="0">
                <a:solidFill>
                  <a:srgbClr val="5F677A"/>
                </a:solidFill>
                <a:latin typeface="Arial"/>
                <a:ea typeface="Microsoft YaHei"/>
              </a:rPr>
              <a:t>Business English · Level 4 · Unit 3 · Lesson 06 At reception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28655" y="6419088"/>
            <a:ext cx="914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  <a:spcAft>
                <a:spcPts val="800"/>
              </a:spcAft>
            </a:pPr>
            <a:r>
              <a:rPr sz="1100" b="0">
                <a:solidFill>
                  <a:srgbClr val="5F677A"/>
                </a:solidFill>
                <a:latin typeface="Arial"/>
                <a:ea typeface="Microsoft YaHei"/>
              </a:rPr>
              <a:t>27</a:t>
            </a:r>
          </a:p>
        </p:txBody>
      </p:sp>
      <p:sp>
        <p:nvSpPr>
          <p:cNvPr id="7" name="Rounded Rectangle 6">
            <a:hlinkClick action="ppaction://hlinksldjump" r:id="rId2"/>
          </p:cNvPr>
          <p:cNvSpPr/>
          <p:nvPr/>
        </p:nvSpPr>
        <p:spPr>
          <a:xfrm>
            <a:off x="9677095" y="6382512"/>
            <a:ext cx="960120" cy="329184"/>
          </a:xfrm>
          <a:prstGeom prst="roundRect">
            <a:avLst>
              <a:gd name="adj" fmla="val 50000"/>
            </a:avLst>
          </a:prstGeom>
          <a:solidFill>
            <a:srgbClr val="FFE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Aft>
                <a:spcPts val="200"/>
              </a:spcAft>
            </a:pPr>
            <a:r>
              <a:rPr sz="1100" b="1">
                <a:solidFill>
                  <a:srgbClr val="1F2A44"/>
                </a:solidFill>
                <a:latin typeface="Arial"/>
                <a:ea typeface="Microsoft YaHei"/>
              </a:rPr>
              <a:t>🗺 Map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024128"/>
            <a:ext cx="11094415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500" b="0">
                <a:solidFill>
                  <a:srgbClr val="5F677A"/>
                </a:solidFill>
                <a:latin typeface="Arial"/>
                <a:ea typeface="Microsoft YaHei"/>
              </a:rPr>
              <a:t>What's wrong? Fix it before you click!  哪里错了？先改正，再点击核对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463040"/>
            <a:ext cx="5455767" cy="609599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31750">
            <a:solidFill>
              <a:srgbClr val="FF6B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FF6B5B"/>
                </a:solidFill>
                <a:latin typeface="Arial"/>
                <a:ea typeface="Microsoft YaHei"/>
              </a:rPr>
              <a:t>✗  I have a appointment with Mr Wu.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87287" y="1463040"/>
            <a:ext cx="5455767" cy="609599"/>
          </a:xfrm>
          <a:prstGeom prst="roundRect">
            <a:avLst>
              <a:gd name="adj" fmla="val 15000"/>
            </a:avLst>
          </a:prstGeom>
          <a:solidFill>
            <a:srgbClr val="3CC4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Arial"/>
                <a:ea typeface="Microsoft YaHei"/>
              </a:rPr>
              <a:t>✓  I have an appointment with Mr Wu.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FFFFFF"/>
                </a:solidFill>
                <a:latin typeface="Arial"/>
                <a:ea typeface="Microsoft YaHei"/>
              </a:rPr>
              <a:t>an + 元音音素开头的词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2164079"/>
            <a:ext cx="5455767" cy="609599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31750">
            <a:solidFill>
              <a:srgbClr val="FF6B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FF6B5B"/>
                </a:solidFill>
                <a:latin typeface="Arial"/>
                <a:ea typeface="Microsoft YaHei"/>
              </a:rPr>
              <a:t>✗  I find Mr Wang.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87287" y="2164079"/>
            <a:ext cx="5455767" cy="609599"/>
          </a:xfrm>
          <a:prstGeom prst="roundRect">
            <a:avLst>
              <a:gd name="adj" fmla="val 15000"/>
            </a:avLst>
          </a:prstGeom>
          <a:solidFill>
            <a:srgbClr val="3CC4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Arial"/>
                <a:ea typeface="Microsoft YaHei"/>
              </a:rPr>
              <a:t>✓  I’m here to see Mr Wang.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FFFFFF"/>
                </a:solidFill>
                <a:latin typeface="Arial"/>
                <a:ea typeface="Microsoft YaHei"/>
              </a:rPr>
              <a:t>“找某人” 不是 find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2865118"/>
            <a:ext cx="5455767" cy="609599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31750">
            <a:solidFill>
              <a:srgbClr val="FF6B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FF6B5B"/>
                </a:solidFill>
                <a:latin typeface="Arial"/>
                <a:ea typeface="Microsoft YaHei"/>
              </a:rPr>
              <a:t>✗  I make an appointment with Ms Lin at ten.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87287" y="2865118"/>
            <a:ext cx="5455767" cy="609599"/>
          </a:xfrm>
          <a:prstGeom prst="roundRect">
            <a:avLst>
              <a:gd name="adj" fmla="val 15000"/>
            </a:avLst>
          </a:prstGeom>
          <a:solidFill>
            <a:srgbClr val="3CC4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Arial"/>
                <a:ea typeface="Microsoft YaHei"/>
              </a:rPr>
              <a:t>✓  I have an appointment with Ms Lin at ten.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FFFFFF"/>
                </a:solidFill>
                <a:latin typeface="Arial"/>
                <a:ea typeface="Microsoft YaHei"/>
              </a:rPr>
              <a:t>当天已经约好:用 have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3566157"/>
            <a:ext cx="5455767" cy="609599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31750">
            <a:solidFill>
              <a:srgbClr val="FF6B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FF6B5B"/>
                </a:solidFill>
                <a:latin typeface="Arial"/>
                <a:ea typeface="Microsoft YaHei"/>
              </a:rPr>
              <a:t>✗  Please register here.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87287" y="3566157"/>
            <a:ext cx="5455767" cy="609599"/>
          </a:xfrm>
          <a:prstGeom prst="roundRect">
            <a:avLst>
              <a:gd name="adj" fmla="val 15000"/>
            </a:avLst>
          </a:prstGeom>
          <a:solidFill>
            <a:srgbClr val="3CC4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Arial"/>
                <a:ea typeface="Microsoft YaHei"/>
              </a:rPr>
              <a:t>✓  Please sign in here.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FFFFFF"/>
                </a:solidFill>
                <a:latin typeface="Arial"/>
                <a:ea typeface="Microsoft YaHei"/>
              </a:rPr>
              <a:t>访客登记用 sign in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4267196"/>
            <a:ext cx="5455767" cy="609599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31750">
            <a:solidFill>
              <a:srgbClr val="FF6B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FF6B5B"/>
                </a:solidFill>
                <a:latin typeface="Arial"/>
                <a:ea typeface="Microsoft YaHei"/>
              </a:rPr>
              <a:t>✗  The meeting room is at the third floor.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87287" y="4267196"/>
            <a:ext cx="5455767" cy="609599"/>
          </a:xfrm>
          <a:prstGeom prst="roundRect">
            <a:avLst>
              <a:gd name="adj" fmla="val 15000"/>
            </a:avLst>
          </a:prstGeom>
          <a:solidFill>
            <a:srgbClr val="3CC4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Arial"/>
                <a:ea typeface="Microsoft YaHei"/>
              </a:rPr>
              <a:t>✓  The meeting room is on the third floor.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FFFFFF"/>
                </a:solidFill>
                <a:latin typeface="Arial"/>
                <a:ea typeface="Microsoft YaHei"/>
              </a:rPr>
              <a:t>楼层用 on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" fill="hold">
                      <p:stCondLst>
                        <p:cond delay="indefinite"/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F6B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8442656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3200" b="1">
                <a:solidFill>
                  <a:srgbClr val="1F2A44"/>
                </a:solidFill>
                <a:latin typeface="Arial"/>
                <a:ea typeface="Microsoft YaHei"/>
              </a:rPr>
              <a:t>🕵️ Spot the Mistake (cont.)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74175" y="438912"/>
            <a:ext cx="2560320" cy="475488"/>
          </a:xfrm>
          <a:prstGeom prst="roundRect">
            <a:avLst>
              <a:gd name="adj" fmla="val 50000"/>
            </a:avLst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3152" rIns="73152"/>
          <a:lstStyle/>
          <a:p>
            <a:pPr algn="ctr">
              <a:spcAft>
                <a:spcPts val="200"/>
              </a:spcAft>
            </a:pPr>
            <a:r>
              <a:rPr sz="1300" b="1">
                <a:solidFill>
                  <a:srgbClr val="FFFFFF"/>
                </a:solidFill>
                <a:latin typeface="Arial"/>
                <a:ea typeface="Microsoft YaHei"/>
              </a:rPr>
              <a:t>05 Language Tips 贴士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19088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100" b="0">
                <a:solidFill>
                  <a:srgbClr val="5F677A"/>
                </a:solidFill>
                <a:latin typeface="Arial"/>
                <a:ea typeface="Microsoft YaHei"/>
              </a:rPr>
              <a:t>Business English · Level 4 · Unit 3 · Lesson 06 At reception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28655" y="6419088"/>
            <a:ext cx="914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  <a:spcAft>
                <a:spcPts val="800"/>
              </a:spcAft>
            </a:pPr>
            <a:r>
              <a:rPr sz="1100" b="0">
                <a:solidFill>
                  <a:srgbClr val="5F677A"/>
                </a:solidFill>
                <a:latin typeface="Arial"/>
                <a:ea typeface="Microsoft YaHei"/>
              </a:rPr>
              <a:t>28</a:t>
            </a:r>
          </a:p>
        </p:txBody>
      </p:sp>
      <p:sp>
        <p:nvSpPr>
          <p:cNvPr id="7" name="Rounded Rectangle 6">
            <a:hlinkClick action="ppaction://hlinksldjump" r:id="rId2"/>
          </p:cNvPr>
          <p:cNvSpPr/>
          <p:nvPr/>
        </p:nvSpPr>
        <p:spPr>
          <a:xfrm>
            <a:off x="9677095" y="6382512"/>
            <a:ext cx="960120" cy="329184"/>
          </a:xfrm>
          <a:prstGeom prst="roundRect">
            <a:avLst>
              <a:gd name="adj" fmla="val 50000"/>
            </a:avLst>
          </a:prstGeom>
          <a:solidFill>
            <a:srgbClr val="FFE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Aft>
                <a:spcPts val="200"/>
              </a:spcAft>
            </a:pPr>
            <a:r>
              <a:rPr sz="1100" b="1">
                <a:solidFill>
                  <a:srgbClr val="1F2A44"/>
                </a:solidFill>
                <a:latin typeface="Arial"/>
                <a:ea typeface="Microsoft YaHei"/>
              </a:rPr>
              <a:t>🗺 Map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024128"/>
            <a:ext cx="11094415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500" b="0">
                <a:solidFill>
                  <a:srgbClr val="5F677A"/>
                </a:solidFill>
                <a:latin typeface="Arial"/>
                <a:ea typeface="Microsoft YaHei"/>
              </a:rPr>
              <a:t>What's wrong? Fix it before you click!  哪里错了？先改正，再点击核对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463040"/>
            <a:ext cx="5455767" cy="609599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31750">
            <a:solidFill>
              <a:srgbClr val="FF6B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FF6B5B"/>
                </a:solidFill>
                <a:latin typeface="Arial"/>
                <a:ea typeface="Microsoft YaHei"/>
              </a:rPr>
              <a:t>✗  Welcome to visit our company.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87287" y="1463040"/>
            <a:ext cx="5455767" cy="609599"/>
          </a:xfrm>
          <a:prstGeom prst="roundRect">
            <a:avLst>
              <a:gd name="adj" fmla="val 15000"/>
            </a:avLst>
          </a:prstGeom>
          <a:solidFill>
            <a:srgbClr val="3CC4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Arial"/>
                <a:ea typeface="Microsoft YaHei"/>
              </a:rPr>
              <a:t>✓  Welcome to Delta. / Thank you for coming.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FFFFFF"/>
                </a:solidFill>
                <a:latin typeface="Arial"/>
                <a:ea typeface="Microsoft YaHei"/>
              </a:rPr>
              <a:t>“欢迎参观” 不能直译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2164079"/>
            <a:ext cx="5455767" cy="609599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31750">
            <a:solidFill>
              <a:srgbClr val="FF6B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FF6B5B"/>
                </a:solidFill>
                <a:latin typeface="Arial"/>
                <a:ea typeface="Microsoft YaHei"/>
              </a:rPr>
              <a:t>✗  Mr Tan is busy now.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87287" y="2164079"/>
            <a:ext cx="5455767" cy="609599"/>
          </a:xfrm>
          <a:prstGeom prst="roundRect">
            <a:avLst>
              <a:gd name="adj" fmla="val 15000"/>
            </a:avLst>
          </a:prstGeom>
          <a:solidFill>
            <a:srgbClr val="3CC4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Arial"/>
                <a:ea typeface="Microsoft YaHei"/>
              </a:rPr>
              <a:t>✓  I’m afraid Mr Tan is tied up at the moment.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FFFFFF"/>
                </a:solidFill>
                <a:latin typeface="Arial"/>
                <a:ea typeface="Microsoft YaHei"/>
              </a:rPr>
              <a:t>太直接,语气不礼貌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2865118"/>
            <a:ext cx="5455767" cy="609599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31750">
            <a:solidFill>
              <a:srgbClr val="FF6B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FF6B5B"/>
                </a:solidFill>
                <a:latin typeface="Arial"/>
                <a:ea typeface="Microsoft YaHei"/>
              </a:rPr>
              <a:t>✗  You wait a moment.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87287" y="2865118"/>
            <a:ext cx="5455767" cy="609599"/>
          </a:xfrm>
          <a:prstGeom prst="roundRect">
            <a:avLst>
              <a:gd name="adj" fmla="val 15000"/>
            </a:avLst>
          </a:prstGeom>
          <a:solidFill>
            <a:srgbClr val="3CC4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Arial"/>
                <a:ea typeface="Microsoft YaHei"/>
              </a:rPr>
              <a:t>✓  Could you wait a moment, please?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FFFFFF"/>
                </a:solidFill>
                <a:latin typeface="Arial"/>
                <a:ea typeface="Microsoft YaHei"/>
              </a:rPr>
              <a:t>加 Could you…, please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3566157"/>
            <a:ext cx="5455767" cy="609599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31750">
            <a:solidFill>
              <a:srgbClr val="FF6B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FF6B5B"/>
                </a:solidFill>
                <a:latin typeface="Arial"/>
                <a:ea typeface="Microsoft YaHei"/>
              </a:rPr>
              <a:t>✗  She don’t come yet.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87287" y="3566157"/>
            <a:ext cx="5455767" cy="609599"/>
          </a:xfrm>
          <a:prstGeom prst="roundRect">
            <a:avLst>
              <a:gd name="adj" fmla="val 15000"/>
            </a:avLst>
          </a:prstGeom>
          <a:solidFill>
            <a:srgbClr val="3CC4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Arial"/>
                <a:ea typeface="Microsoft YaHei"/>
              </a:rPr>
              <a:t>✓  She hasn’t come yet. / She isn’t here yet.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FFFFFF"/>
                </a:solidFill>
                <a:latin typeface="Arial"/>
                <a:ea typeface="Microsoft YaHei"/>
              </a:rPr>
              <a:t>第三人称否定:doesn’t / hasn’t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4267196"/>
            <a:ext cx="5455767" cy="609599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31750">
            <a:solidFill>
              <a:srgbClr val="FF6B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FF6B5B"/>
                </a:solidFill>
                <a:latin typeface="Arial"/>
                <a:ea typeface="Microsoft YaHei"/>
              </a:rPr>
              <a:t>✗  apointment / recepcionist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87287" y="4267196"/>
            <a:ext cx="5455767" cy="609599"/>
          </a:xfrm>
          <a:prstGeom prst="roundRect">
            <a:avLst>
              <a:gd name="adj" fmla="val 15000"/>
            </a:avLst>
          </a:prstGeom>
          <a:solidFill>
            <a:srgbClr val="3CC4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Arial"/>
                <a:ea typeface="Microsoft YaHei"/>
              </a:rPr>
              <a:t>✓  appointment / receptionist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FFFFFF"/>
                </a:solidFill>
                <a:latin typeface="Arial"/>
                <a:ea typeface="Microsoft YaHei"/>
              </a:rPr>
              <a:t>拼写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48640" y="5760720"/>
            <a:ext cx="11094415" cy="502920"/>
          </a:xfrm>
          <a:prstGeom prst="roundRect">
            <a:avLst>
              <a:gd name="adj" fmla="val 30000"/>
            </a:avLst>
          </a:prstGeom>
          <a:solidFill>
            <a:srgbClr val="FFE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F2A44"/>
                </a:solidFill>
                <a:latin typeface="Arial"/>
                <a:ea typeface="Microsoft YaHei"/>
              </a:rPr>
              <a:t>⚠️ Say “an appointment” and “on the third floor” out loud five times. Then check: does every he / she verb end in -s?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" fill="hold">
                      <p:stCondLst>
                        <p:cond delay="indefinite"/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3CC4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8442656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3200" b="1">
                <a:solidFill>
                  <a:srgbClr val="1F2A44"/>
                </a:solidFill>
                <a:latin typeface="Arial"/>
                <a:ea typeface="Microsoft YaHei"/>
              </a:rPr>
              <a:t>🌏 Cultural tips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74175" y="438912"/>
            <a:ext cx="2560320" cy="475488"/>
          </a:xfrm>
          <a:prstGeom prst="roundRect">
            <a:avLst>
              <a:gd name="adj" fmla="val 50000"/>
            </a:avLst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3152" rIns="73152"/>
          <a:lstStyle/>
          <a:p>
            <a:pPr algn="ctr">
              <a:spcAft>
                <a:spcPts val="200"/>
              </a:spcAft>
            </a:pPr>
            <a:r>
              <a:rPr sz="1300" b="1">
                <a:solidFill>
                  <a:srgbClr val="FFFFFF"/>
                </a:solidFill>
                <a:latin typeface="Arial"/>
                <a:ea typeface="Microsoft YaHei"/>
              </a:rPr>
              <a:t>05 Language Tips 贴士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19088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100" b="0">
                <a:solidFill>
                  <a:srgbClr val="5F677A"/>
                </a:solidFill>
                <a:latin typeface="Arial"/>
                <a:ea typeface="Microsoft YaHei"/>
              </a:rPr>
              <a:t>Business English · Level 4 · Unit 3 · Lesson 06 At reception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28655" y="6419088"/>
            <a:ext cx="914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  <a:spcAft>
                <a:spcPts val="800"/>
              </a:spcAft>
            </a:pPr>
            <a:r>
              <a:rPr sz="1100" b="0">
                <a:solidFill>
                  <a:srgbClr val="5F677A"/>
                </a:solidFill>
                <a:latin typeface="Arial"/>
                <a:ea typeface="Microsoft YaHei"/>
              </a:rPr>
              <a:t>29</a:t>
            </a:r>
          </a:p>
        </p:txBody>
      </p:sp>
      <p:sp>
        <p:nvSpPr>
          <p:cNvPr id="7" name="Rounded Rectangle 6">
            <a:hlinkClick action="ppaction://hlinksldjump" r:id="rId2"/>
          </p:cNvPr>
          <p:cNvSpPr/>
          <p:nvPr/>
        </p:nvSpPr>
        <p:spPr>
          <a:xfrm>
            <a:off x="9677095" y="6382512"/>
            <a:ext cx="960120" cy="329184"/>
          </a:xfrm>
          <a:prstGeom prst="roundRect">
            <a:avLst>
              <a:gd name="adj" fmla="val 50000"/>
            </a:avLst>
          </a:prstGeom>
          <a:solidFill>
            <a:srgbClr val="FFE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Aft>
                <a:spcPts val="200"/>
              </a:spcAft>
            </a:pPr>
            <a:r>
              <a:rPr sz="1100" b="1">
                <a:solidFill>
                  <a:srgbClr val="1F2A44"/>
                </a:solidFill>
                <a:latin typeface="Arial"/>
                <a:ea typeface="Microsoft YaHei"/>
              </a:rPr>
              <a:t>🗺 Map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960120"/>
            <a:ext cx="11094415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500" b="0">
                <a:solidFill>
                  <a:srgbClr val="5F677A"/>
                </a:solidFill>
                <a:latin typeface="Arial"/>
                <a:ea typeface="Microsoft YaHei"/>
              </a:rPr>
              <a:t>文化小贴士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417320"/>
            <a:ext cx="11094415" cy="701039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1417320"/>
            <a:ext cx="91440" cy="701039"/>
          </a:xfrm>
          <a:prstGeom prst="rect">
            <a:avLst/>
          </a:prstGeom>
          <a:solidFill>
            <a:srgbClr val="FF6B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1417320"/>
            <a:ext cx="10728655" cy="70103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700" b="0">
                <a:solidFill>
                  <a:srgbClr val="1F2A44"/>
                </a:solidFill>
                <a:latin typeface="Arial"/>
                <a:ea typeface="Microsoft YaHei"/>
              </a:rPr>
              <a:t>Smile and make eye contact when the visitor arrives. Don’t keep looking at the screen. A short “Good morning” is better than silence.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2209799"/>
            <a:ext cx="11094415" cy="9601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48640" y="2209799"/>
            <a:ext cx="91440" cy="960120"/>
          </a:xfrm>
          <a:prstGeom prst="rect">
            <a:avLst/>
          </a:prstGeom>
          <a:solidFill>
            <a:srgbClr val="4A90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2209799"/>
            <a:ext cx="1072865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700" b="0">
                <a:solidFill>
                  <a:srgbClr val="1F2A44"/>
                </a:solidFill>
                <a:latin typeface="Arial"/>
                <a:ea typeface="Microsoft YaHei"/>
              </a:rPr>
              <a:t>Don’t ask for ID unless it is your company’s security rule. In many Western offices a name, company and signature are enough. If you need ID, explain why: “For security reasons, I need to see some ID.”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3261359"/>
            <a:ext cx="11094415" cy="701039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48640" y="3261359"/>
            <a:ext cx="91440" cy="701039"/>
          </a:xfrm>
          <a:prstGeom prst="rect">
            <a:avLst/>
          </a:prstGeom>
          <a:solidFill>
            <a:srgbClr val="3CC4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" y="3261359"/>
            <a:ext cx="10728655" cy="70103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700" b="0">
                <a:solidFill>
                  <a:srgbClr val="1F2A44"/>
                </a:solidFill>
                <a:latin typeface="Arial"/>
                <a:ea typeface="Microsoft YaHei"/>
              </a:rPr>
              <a:t>Never leave a visitor waiting without news. After about five minutes, update them: “I’m sorry, she’s running a few minutes late.”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4053838"/>
            <a:ext cx="11094415" cy="701039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48640" y="4053838"/>
            <a:ext cx="91440" cy="701039"/>
          </a:xfrm>
          <a:prstGeom prst="rect">
            <a:avLst/>
          </a:prstGeom>
          <a:solidFill>
            <a:srgbClr val="FFC8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" y="4053838"/>
            <a:ext cx="10728655" cy="70103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700" b="0">
                <a:solidFill>
                  <a:srgbClr val="1F2A44"/>
                </a:solidFill>
                <a:latin typeface="Arial"/>
                <a:ea typeface="Microsoft YaHei"/>
              </a:rPr>
              <a:t>Offer a drink. Water, tea or coffee is a normal sign of hospitality. Ask “How do you take your coffee?”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8640" y="4846317"/>
            <a:ext cx="11094415" cy="441959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48640" y="4846317"/>
            <a:ext cx="91440" cy="441959"/>
          </a:xfrm>
          <a:prstGeom prst="rect">
            <a:avLst/>
          </a:prstGeom>
          <a:solidFill>
            <a:srgbClr val="9B6B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77240" y="4846317"/>
            <a:ext cx="10728655" cy="44195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700" b="0">
                <a:solidFill>
                  <a:srgbClr val="1F2A44"/>
                </a:solidFill>
                <a:latin typeface="Arial"/>
                <a:ea typeface="Microsoft YaHei"/>
              </a:rPr>
              <a:t>Return the badge. Remind visitors to sign out and give back the badge when they leave.</a:t>
            </a:r>
          </a:p>
        </p:txBody>
      </p:sp>
    </p:spTree>
  </p:cSld>
  <p:clrMapOvr>
    <a:masterClrMapping/>
  </p:clrMapOvr>
  <p:transition spd="med">
    <p:fade/>
  </p:transition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3CC4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8442656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3200" b="1">
                <a:solidFill>
                  <a:srgbClr val="1F2A44"/>
                </a:solidFill>
                <a:latin typeface="Arial"/>
                <a:ea typeface="Microsoft YaHei"/>
              </a:rPr>
              <a:t>✅ Can-do Check 掌握度自检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74175" y="438912"/>
            <a:ext cx="2560320" cy="475488"/>
          </a:xfrm>
          <a:prstGeom prst="roundRect">
            <a:avLst>
              <a:gd name="adj" fmla="val 50000"/>
            </a:avLst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3152" rIns="73152"/>
          <a:lstStyle/>
          <a:p>
            <a:pPr algn="ctr">
              <a:spcAft>
                <a:spcPts val="200"/>
              </a:spcAft>
            </a:pPr>
            <a:r>
              <a:rPr sz="1300" b="1">
                <a:solidFill>
                  <a:srgbClr val="FFFFFF"/>
                </a:solidFill>
                <a:latin typeface="Arial"/>
                <a:ea typeface="Microsoft YaHei"/>
              </a:rPr>
              <a:t>Lesson 06 wrap-up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19088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100" b="0">
                <a:solidFill>
                  <a:srgbClr val="5F677A"/>
                </a:solidFill>
                <a:latin typeface="Arial"/>
                <a:ea typeface="Microsoft YaHei"/>
              </a:rPr>
              <a:t>Business English · Level 4 · Unit 3 · Lesson 06 At reception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28655" y="6419088"/>
            <a:ext cx="914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  <a:spcAft>
                <a:spcPts val="800"/>
              </a:spcAft>
            </a:pPr>
            <a:r>
              <a:rPr sz="1100" b="0">
                <a:solidFill>
                  <a:srgbClr val="5F677A"/>
                </a:solidFill>
                <a:latin typeface="Arial"/>
                <a:ea typeface="Microsoft YaHei"/>
              </a:rPr>
              <a:t>30</a:t>
            </a:r>
          </a:p>
        </p:txBody>
      </p:sp>
      <p:sp>
        <p:nvSpPr>
          <p:cNvPr id="7" name="Rounded Rectangle 6">
            <a:hlinkClick action="ppaction://hlinksldjump" r:id="rId2"/>
          </p:cNvPr>
          <p:cNvSpPr/>
          <p:nvPr/>
        </p:nvSpPr>
        <p:spPr>
          <a:xfrm>
            <a:off x="9677095" y="6382512"/>
            <a:ext cx="960120" cy="329184"/>
          </a:xfrm>
          <a:prstGeom prst="roundRect">
            <a:avLst>
              <a:gd name="adj" fmla="val 50000"/>
            </a:avLst>
          </a:prstGeom>
          <a:solidFill>
            <a:srgbClr val="FFE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Aft>
                <a:spcPts val="200"/>
              </a:spcAft>
            </a:pPr>
            <a:r>
              <a:rPr sz="1100" b="1">
                <a:solidFill>
                  <a:srgbClr val="1F2A44"/>
                </a:solidFill>
                <a:latin typeface="Arial"/>
                <a:ea typeface="Microsoft YaHei"/>
              </a:rPr>
              <a:t>🗺 Map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024128"/>
            <a:ext cx="11094415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500" b="0">
                <a:solidFill>
                  <a:srgbClr val="5F677A"/>
                </a:solidFill>
                <a:latin typeface="Arial"/>
                <a:ea typeface="Microsoft YaHei"/>
              </a:rPr>
              <a:t>Rate yourself: ⭐ not yet · ⭐⭐ almost · ⭐⭐⭐ I can do it!  给自己打星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508760"/>
            <a:ext cx="11094415" cy="810768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1508760"/>
            <a:ext cx="548640" cy="8107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2400" b="0">
                <a:solidFill>
                  <a:srgbClr val="3CC49A"/>
                </a:solidFill>
                <a:latin typeface="Arial"/>
                <a:ea typeface="Microsoft YaHei"/>
              </a:rPr>
              <a:t>☐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4440" y="1508760"/>
            <a:ext cx="8168335" cy="8107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2000" b="0">
                <a:solidFill>
                  <a:srgbClr val="1F2A44"/>
                </a:solidFill>
                <a:latin typeface="Arial"/>
                <a:ea typeface="Microsoft YaHei"/>
              </a:rPr>
              <a:t>I can greet a visitor and ask about their appointment politely (Do you have an appointment?).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539935" y="1508760"/>
            <a:ext cx="2011680" cy="8107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800"/>
              </a:spcAft>
            </a:pPr>
            <a:r>
              <a:rPr sz="2200" b="0">
                <a:solidFill>
                  <a:srgbClr val="FFC857"/>
                </a:solidFill>
                <a:latin typeface="Arial"/>
                <a:ea typeface="Microsoft YaHei"/>
              </a:rPr>
              <a:t>☆ ☆ ☆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2410968"/>
            <a:ext cx="11094415" cy="810768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5800" y="2410968"/>
            <a:ext cx="548640" cy="8107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2400" b="0">
                <a:solidFill>
                  <a:srgbClr val="3CC49A"/>
                </a:solidFill>
                <a:latin typeface="Arial"/>
                <a:ea typeface="Microsoft YaHei"/>
              </a:rPr>
              <a:t>☐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34440" y="2410968"/>
            <a:ext cx="8168335" cy="8107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2000" b="0">
                <a:solidFill>
                  <a:srgbClr val="1F2A44"/>
                </a:solidFill>
                <a:latin typeface="Arial"/>
                <a:ea typeface="Microsoft YaHei"/>
              </a:rPr>
              <a:t>I can sign a visitor in, give a badge and tell them where to wait or go.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539935" y="2410968"/>
            <a:ext cx="2011680" cy="8107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800"/>
              </a:spcAft>
            </a:pPr>
            <a:r>
              <a:rPr sz="2200" b="0">
                <a:solidFill>
                  <a:srgbClr val="FFC857"/>
                </a:solidFill>
                <a:latin typeface="Arial"/>
                <a:ea typeface="Microsoft YaHei"/>
              </a:rPr>
              <a:t>☆ ☆ ☆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3313176"/>
            <a:ext cx="11094415" cy="810768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5800" y="3313176"/>
            <a:ext cx="548640" cy="8107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2400" b="0">
                <a:solidFill>
                  <a:srgbClr val="3CC49A"/>
                </a:solidFill>
                <a:latin typeface="Arial"/>
                <a:ea typeface="Microsoft YaHei"/>
              </a:rPr>
              <a:t>☐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34440" y="3313176"/>
            <a:ext cx="8168335" cy="8107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2000" b="0">
                <a:solidFill>
                  <a:srgbClr val="1F2A44"/>
                </a:solidFill>
                <a:latin typeface="Arial"/>
                <a:ea typeface="Microsoft YaHei"/>
              </a:rPr>
              <a:t>I can give simple directions with on the third floor and take the lift.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539935" y="3313176"/>
            <a:ext cx="2011680" cy="8107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800"/>
              </a:spcAft>
            </a:pPr>
            <a:r>
              <a:rPr sz="2200" b="0">
                <a:solidFill>
                  <a:srgbClr val="FFC857"/>
                </a:solidFill>
                <a:latin typeface="Arial"/>
                <a:ea typeface="Microsoft YaHei"/>
              </a:rPr>
              <a:t>☆ ☆ ☆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8640" y="4215384"/>
            <a:ext cx="11094415" cy="505968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85800" y="4215384"/>
            <a:ext cx="548640" cy="5059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2400" b="0">
                <a:solidFill>
                  <a:srgbClr val="3CC49A"/>
                </a:solidFill>
                <a:latin typeface="Arial"/>
                <a:ea typeface="Microsoft YaHei"/>
              </a:rPr>
              <a:t>☐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34440" y="4215384"/>
            <a:ext cx="8168335" cy="5059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2000" b="0">
                <a:solidFill>
                  <a:srgbClr val="1F2A44"/>
                </a:solidFill>
                <a:latin typeface="Arial"/>
                <a:ea typeface="Microsoft YaHei"/>
              </a:rPr>
              <a:t>I can say “no” politely with I’m afraid… and tied up.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539935" y="4215384"/>
            <a:ext cx="2011680" cy="5059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800"/>
              </a:spcAft>
            </a:pPr>
            <a:r>
              <a:rPr sz="2200" b="0">
                <a:solidFill>
                  <a:srgbClr val="FFC857"/>
                </a:solidFill>
                <a:latin typeface="Arial"/>
                <a:ea typeface="Microsoft YaHei"/>
              </a:rPr>
              <a:t>☆ ☆ ☆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48640" y="4812792"/>
            <a:ext cx="11094415" cy="810768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85800" y="4812792"/>
            <a:ext cx="548640" cy="8107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2400" b="0">
                <a:solidFill>
                  <a:srgbClr val="3CC49A"/>
                </a:solidFill>
                <a:latin typeface="Arial"/>
                <a:ea typeface="Microsoft YaHei"/>
              </a:rPr>
              <a:t>☐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234440" y="4812792"/>
            <a:ext cx="8168335" cy="8107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2000" b="0">
                <a:solidFill>
                  <a:srgbClr val="1F2A44"/>
                </a:solidFill>
                <a:latin typeface="Arial"/>
                <a:ea typeface="Microsoft YaHei"/>
              </a:rPr>
              <a:t>I can use an appointment, sign in and the right prepositions without mistakes.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539935" y="4812792"/>
            <a:ext cx="2011680" cy="8107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800"/>
              </a:spcAft>
            </a:pPr>
            <a:r>
              <a:rPr sz="2200" b="0">
                <a:solidFill>
                  <a:srgbClr val="FFC857"/>
                </a:solidFill>
                <a:latin typeface="Arial"/>
                <a:ea typeface="Microsoft YaHei"/>
              </a:rPr>
              <a:t>☆ ☆ ☆</a:t>
            </a:r>
          </a:p>
        </p:txBody>
      </p:sp>
    </p:spTree>
  </p:cSld>
  <p:clrMapOvr>
    <a:masterClrMapping/>
  </p:clrMapOvr>
  <p:transition spd="med">
    <p:fade/>
  </p:transition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4A90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8442656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3200" b="1">
                <a:solidFill>
                  <a:srgbClr val="1F2A44"/>
                </a:solidFill>
                <a:latin typeface="Arial"/>
                <a:ea typeface="Microsoft YaHei"/>
              </a:rPr>
              <a:t>🏠 After Class: 10-Minute Daily Plan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74175" y="438912"/>
            <a:ext cx="2560320" cy="475488"/>
          </a:xfrm>
          <a:prstGeom prst="roundRect">
            <a:avLst>
              <a:gd name="adj" fmla="val 50000"/>
            </a:avLst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3152" rIns="73152"/>
          <a:lstStyle/>
          <a:p>
            <a:pPr algn="ctr">
              <a:spcAft>
                <a:spcPts val="200"/>
              </a:spcAft>
            </a:pPr>
            <a:r>
              <a:rPr sz="1300" b="1">
                <a:solidFill>
                  <a:srgbClr val="FFFFFF"/>
                </a:solidFill>
                <a:latin typeface="Arial"/>
                <a:ea typeface="Microsoft YaHei"/>
              </a:rPr>
              <a:t>课后练习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19088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100" b="0">
                <a:solidFill>
                  <a:srgbClr val="5F677A"/>
                </a:solidFill>
                <a:latin typeface="Arial"/>
                <a:ea typeface="Microsoft YaHei"/>
              </a:rPr>
              <a:t>Business English · Level 4 · Unit 3 · Lesson 06 At reception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28655" y="6419088"/>
            <a:ext cx="914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  <a:spcAft>
                <a:spcPts val="800"/>
              </a:spcAft>
            </a:pPr>
            <a:r>
              <a:rPr sz="1100" b="0">
                <a:solidFill>
                  <a:srgbClr val="5F677A"/>
                </a:solidFill>
                <a:latin typeface="Arial"/>
                <a:ea typeface="Microsoft YaHei"/>
              </a:rPr>
              <a:t>31</a:t>
            </a:r>
          </a:p>
        </p:txBody>
      </p:sp>
      <p:sp>
        <p:nvSpPr>
          <p:cNvPr id="7" name="Rounded Rectangle 6">
            <a:hlinkClick action="ppaction://hlinksldjump" r:id="rId2"/>
          </p:cNvPr>
          <p:cNvSpPr/>
          <p:nvPr/>
        </p:nvSpPr>
        <p:spPr>
          <a:xfrm>
            <a:off x="9677095" y="6382512"/>
            <a:ext cx="960120" cy="329184"/>
          </a:xfrm>
          <a:prstGeom prst="roundRect">
            <a:avLst>
              <a:gd name="adj" fmla="val 50000"/>
            </a:avLst>
          </a:prstGeom>
          <a:solidFill>
            <a:srgbClr val="FFE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Aft>
                <a:spcPts val="200"/>
              </a:spcAft>
            </a:pPr>
            <a:r>
              <a:rPr sz="1100" b="1">
                <a:solidFill>
                  <a:srgbClr val="1F2A44"/>
                </a:solidFill>
                <a:latin typeface="Arial"/>
                <a:ea typeface="Microsoft YaHei"/>
              </a:rPr>
              <a:t>🗺 Map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325880"/>
            <a:ext cx="1554480" cy="713232"/>
          </a:xfrm>
          <a:prstGeom prst="roundRect">
            <a:avLst>
              <a:gd name="adj" fmla="val 20000"/>
            </a:avLst>
          </a:prstGeom>
          <a:solidFill>
            <a:srgbClr val="FF6B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Aft>
                <a:spcPts val="200"/>
              </a:spcAft>
            </a:pPr>
            <a:r>
              <a:rPr sz="1500" b="1">
                <a:solidFill>
                  <a:srgbClr val="FFFFFF"/>
                </a:solidFill>
                <a:latin typeface="Arial"/>
                <a:ea typeface="Microsoft YaHei"/>
              </a:rPr>
              <a:t>⏱ 0–2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240280" y="1325880"/>
            <a:ext cx="9402775" cy="713232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l">
              <a:spcAft>
                <a:spcPts val="200"/>
              </a:spcAft>
            </a:pPr>
            <a:r>
              <a:rPr sz="1800" b="1">
                <a:solidFill>
                  <a:srgbClr val="1F2A44"/>
                </a:solidFill>
                <a:latin typeface="Arial"/>
                <a:ea typeface="Microsoft YaHei"/>
              </a:rPr>
              <a:t>Read the 15 expressions aloud. Cover the English and say it from the Chinese. Make 2 true sentences with ★ items.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112264"/>
            <a:ext cx="1554480" cy="438912"/>
          </a:xfrm>
          <a:prstGeom prst="roundRect">
            <a:avLst>
              <a:gd name="adj" fmla="val 20000"/>
            </a:avLst>
          </a:prstGeom>
          <a:solidFill>
            <a:srgbClr val="4A90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Aft>
                <a:spcPts val="200"/>
              </a:spcAft>
            </a:pPr>
            <a:r>
              <a:rPr sz="1500" b="1">
                <a:solidFill>
                  <a:srgbClr val="FFFFFF"/>
                </a:solidFill>
                <a:latin typeface="Arial"/>
                <a:ea typeface="Microsoft YaHei"/>
              </a:rPr>
              <a:t>⏱ 2–5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240280" y="2112264"/>
            <a:ext cx="9402775" cy="438912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l">
              <a:spcAft>
                <a:spcPts val="200"/>
              </a:spcAft>
            </a:pPr>
            <a:r>
              <a:rPr sz="1800" b="1">
                <a:solidFill>
                  <a:srgbClr val="1F2A44"/>
                </a:solidFill>
                <a:latin typeface="Arial"/>
                <a:ea typeface="Microsoft YaHei"/>
              </a:rPr>
              <a:t>Shadow the model dialogue or model email (copy the rhythm and intonation).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2624328"/>
            <a:ext cx="1554480" cy="438912"/>
          </a:xfrm>
          <a:prstGeom prst="roundRect">
            <a:avLst>
              <a:gd name="adj" fmla="val 20000"/>
            </a:avLst>
          </a:prstGeom>
          <a:solidFill>
            <a:srgbClr val="3CC4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Aft>
                <a:spcPts val="200"/>
              </a:spcAft>
            </a:pPr>
            <a:r>
              <a:rPr sz="1500" b="1">
                <a:solidFill>
                  <a:srgbClr val="FFFFFF"/>
                </a:solidFill>
                <a:latin typeface="Arial"/>
                <a:ea typeface="Microsoft YaHei"/>
              </a:rPr>
              <a:t>⏱ 5–8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240280" y="2624328"/>
            <a:ext cx="9402775" cy="438912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l">
              <a:spcAft>
                <a:spcPts val="200"/>
              </a:spcAft>
            </a:pPr>
            <a:r>
              <a:rPr sz="1800" b="1">
                <a:solidFill>
                  <a:srgbClr val="1F2A44"/>
                </a:solidFill>
                <a:latin typeface="Arial"/>
                <a:ea typeface="Microsoft YaHei"/>
              </a:rPr>
              <a:t>Do the role play with the blank role card. Record yourself.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3136392"/>
            <a:ext cx="1554480" cy="713232"/>
          </a:xfrm>
          <a:prstGeom prst="roundRect">
            <a:avLst>
              <a:gd name="adj" fmla="val 20000"/>
            </a:avLst>
          </a:prstGeom>
          <a:solidFill>
            <a:srgbClr val="FFC8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Aft>
                <a:spcPts val="200"/>
              </a:spcAft>
            </a:pPr>
            <a:r>
              <a:rPr sz="1500" b="1">
                <a:solidFill>
                  <a:srgbClr val="FFFFFF"/>
                </a:solidFill>
                <a:latin typeface="Arial"/>
                <a:ea typeface="Microsoft YaHei"/>
              </a:rPr>
              <a:t>⏱ 8–10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240280" y="3136392"/>
            <a:ext cx="9402775" cy="713232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l">
              <a:spcAft>
                <a:spcPts val="200"/>
              </a:spcAft>
            </a:pPr>
            <a:r>
              <a:rPr sz="1800" b="1">
                <a:solidFill>
                  <a:srgbClr val="1F2A44"/>
                </a:solidFill>
                <a:latin typeface="Arial"/>
                <a:ea typeface="Microsoft YaHei"/>
              </a:rPr>
              <a:t>Listen to the recording. Check: an appointment, on the third floor, -s on he/she verbs, and polite wording (I’m afraid…). Write 3 corrections.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5760720"/>
            <a:ext cx="11094415" cy="502920"/>
          </a:xfrm>
          <a:prstGeom prst="roundRect">
            <a:avLst>
              <a:gd name="adj" fmla="val 30000"/>
            </a:avLst>
          </a:prstGeom>
          <a:solidFill>
            <a:srgbClr val="FFE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1F2A44"/>
                </a:solidFill>
                <a:latin typeface="Arial"/>
                <a:ea typeface="Microsoft YaHei"/>
              </a:rPr>
              <a:t>📅 Weekly rhythm: Mon–Tue Scenario 1 · Wed–Thu Scenario 2 · Fri Level-up variation · Weekend: record the 1-minute speaking prompt again and compare with Monday.</a:t>
            </a:r>
          </a:p>
        </p:txBody>
      </p:sp>
    </p:spTree>
  </p:cSld>
  <p:clrMapOvr>
    <a:masterClrMapping/>
  </p:clrMapOvr>
  <p:transition spd="med">
    <p:fade/>
  </p:transition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6419088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100" b="0">
                <a:solidFill>
                  <a:srgbClr val="FFC857"/>
                </a:solidFill>
                <a:latin typeface="Arial"/>
                <a:ea typeface="Microsoft YaHei"/>
              </a:rPr>
              <a:t>Business English · Level 4 · Unit 3 · Lesson 07 Company visitors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728655" y="6419088"/>
            <a:ext cx="914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  <a:spcAft>
                <a:spcPts val="800"/>
              </a:spcAft>
            </a:pPr>
            <a:r>
              <a:rPr sz="1100" b="0">
                <a:solidFill>
                  <a:srgbClr val="FFC857"/>
                </a:solidFill>
                <a:latin typeface="Arial"/>
                <a:ea typeface="Microsoft YaHei"/>
              </a:rPr>
              <a:t>32</a:t>
            </a:r>
          </a:p>
        </p:txBody>
      </p:sp>
      <p:sp>
        <p:nvSpPr>
          <p:cNvPr id="4" name="Rounded Rectangle 3">
            <a:hlinkClick action="ppaction://hlinksldjump" r:id="rId2"/>
          </p:cNvPr>
          <p:cNvSpPr/>
          <p:nvPr/>
        </p:nvSpPr>
        <p:spPr>
          <a:xfrm>
            <a:off x="9677095" y="6382512"/>
            <a:ext cx="960120" cy="329184"/>
          </a:xfrm>
          <a:prstGeom prst="roundRect">
            <a:avLst>
              <a:gd name="adj" fmla="val 50000"/>
            </a:avLst>
          </a:prstGeom>
          <a:solidFill>
            <a:srgbClr val="3642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Aft>
                <a:spcPts val="200"/>
              </a:spcAft>
            </a:pPr>
            <a:r>
              <a:rPr sz="1100" b="1">
                <a:solidFill>
                  <a:srgbClr val="FFFFFF"/>
                </a:solidFill>
                <a:latin typeface="Arial"/>
                <a:ea typeface="Microsoft YaHei"/>
              </a:rPr>
              <a:t>🗺 Map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685800"/>
            <a:ext cx="1097280" cy="91440"/>
          </a:xfrm>
          <a:prstGeom prst="rect">
            <a:avLst/>
          </a:prstGeom>
          <a:solidFill>
            <a:srgbClr val="4A90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822960"/>
            <a:ext cx="5486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2200" b="1">
                <a:solidFill>
                  <a:srgbClr val="FFC857"/>
                </a:solidFill>
                <a:latin typeface="Arial"/>
                <a:ea typeface="Microsoft YaHei"/>
              </a:rPr>
              <a:t>LESSON 07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280160"/>
            <a:ext cx="10515600" cy="12801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5400" b="1">
                <a:solidFill>
                  <a:srgbClr val="FFFFFF"/>
                </a:solidFill>
                <a:latin typeface="Arial"/>
                <a:ea typeface="Microsoft YaHei"/>
              </a:rPr>
              <a:t>Company visitors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560320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2400" b="0">
                <a:solidFill>
                  <a:srgbClr val="FFFFFF"/>
                </a:solidFill>
                <a:latin typeface="Arial"/>
                <a:ea typeface="Microsoft YaHei"/>
              </a:rPr>
              <a:t>公司访客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246120"/>
            <a:ext cx="105156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2000" b="0">
                <a:solidFill>
                  <a:srgbClr val="FFC857"/>
                </a:solidFill>
                <a:latin typeface="Arial"/>
                <a:ea typeface="Microsoft YaHei"/>
              </a:rPr>
              <a:t>🎯 welcome visitors who come to your company, show them around, make them comfortable (drinks, Wi-Fi, restrooms) and explain the schedule for their visit.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4389120"/>
            <a:ext cx="1956816" cy="1143000"/>
          </a:xfrm>
          <a:prstGeom prst="roundRect">
            <a:avLst>
              <a:gd name="adj" fmla="val 20000"/>
            </a:avLst>
          </a:prstGeom>
          <a:solidFill>
            <a:srgbClr val="4A90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Arial"/>
                <a:ea typeface="Microsoft YaHei"/>
              </a:rPr>
              <a:t>🔥 01</a:t>
            </a:r>
          </a:p>
          <a:p>
            <a:pPr algn="ctr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Arial"/>
                <a:ea typeface="Microsoft YaHei"/>
              </a:rPr>
              <a:t>Warm up</a:t>
            </a:r>
          </a:p>
          <a:p>
            <a:pPr algn="ctr">
              <a:spcAft>
                <a:spcPts val="200"/>
              </a:spcAft>
            </a:pPr>
            <a:r>
              <a:rPr sz="1300" b="0">
                <a:solidFill>
                  <a:srgbClr val="FFFFFF"/>
                </a:solidFill>
                <a:latin typeface="Arial"/>
                <a:ea typeface="Microsoft YaHei"/>
              </a:rPr>
              <a:t>热身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962656" y="4389120"/>
            <a:ext cx="1956816" cy="1143000"/>
          </a:xfrm>
          <a:prstGeom prst="roundRect">
            <a:avLst>
              <a:gd name="adj" fmla="val 20000"/>
            </a:avLst>
          </a:prstGeom>
          <a:solidFill>
            <a:srgbClr val="3CC4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Arial"/>
                <a:ea typeface="Microsoft YaHei"/>
              </a:rPr>
              <a:t>📚 02</a:t>
            </a:r>
          </a:p>
          <a:p>
            <a:pPr algn="ctr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Arial"/>
                <a:ea typeface="Microsoft YaHei"/>
              </a:rPr>
              <a:t>Vocabulary</a:t>
            </a:r>
          </a:p>
          <a:p>
            <a:pPr algn="ctr">
              <a:spcAft>
                <a:spcPts val="200"/>
              </a:spcAft>
            </a:pPr>
            <a:r>
              <a:rPr sz="1300" b="0">
                <a:solidFill>
                  <a:srgbClr val="FFFFFF"/>
                </a:solidFill>
                <a:latin typeface="Arial"/>
                <a:ea typeface="Microsoft YaHei"/>
              </a:rPr>
              <a:t>词汇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102352" y="4389120"/>
            <a:ext cx="1956816" cy="1143000"/>
          </a:xfrm>
          <a:prstGeom prst="roundRect">
            <a:avLst>
              <a:gd name="adj" fmla="val 20000"/>
            </a:avLst>
          </a:prstGeom>
          <a:solidFill>
            <a:srgbClr val="FFC8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Arial"/>
                <a:ea typeface="Microsoft YaHei"/>
              </a:rPr>
              <a:t>🎭 03</a:t>
            </a:r>
          </a:p>
          <a:p>
            <a:pPr algn="ctr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Arial"/>
                <a:ea typeface="Microsoft YaHei"/>
              </a:rPr>
              <a:t>Role play</a:t>
            </a:r>
          </a:p>
          <a:p>
            <a:pPr algn="ctr">
              <a:spcAft>
                <a:spcPts val="200"/>
              </a:spcAft>
            </a:pPr>
            <a:r>
              <a:rPr sz="1300" b="0">
                <a:solidFill>
                  <a:srgbClr val="FFFFFF"/>
                </a:solidFill>
                <a:latin typeface="Arial"/>
                <a:ea typeface="Microsoft YaHei"/>
              </a:rPr>
              <a:t>角色扮演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242048" y="4389120"/>
            <a:ext cx="1956816" cy="1143000"/>
          </a:xfrm>
          <a:prstGeom prst="roundRect">
            <a:avLst>
              <a:gd name="adj" fmla="val 20000"/>
            </a:avLst>
          </a:prstGeom>
          <a:solidFill>
            <a:srgbClr val="9B6B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Arial"/>
                <a:ea typeface="Microsoft YaHei"/>
              </a:rPr>
              <a:t>💬 04</a:t>
            </a:r>
          </a:p>
          <a:p>
            <a:pPr algn="ctr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Arial"/>
                <a:ea typeface="Microsoft YaHei"/>
              </a:rPr>
              <a:t>Discussion</a:t>
            </a:r>
          </a:p>
          <a:p>
            <a:pPr algn="ctr">
              <a:spcAft>
                <a:spcPts val="200"/>
              </a:spcAft>
            </a:pPr>
            <a:r>
              <a:rPr sz="1300" b="0">
                <a:solidFill>
                  <a:srgbClr val="FFFFFF"/>
                </a:solidFill>
                <a:latin typeface="Arial"/>
                <a:ea typeface="Microsoft YaHei"/>
              </a:rPr>
              <a:t>讨论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381744" y="4389120"/>
            <a:ext cx="1956816" cy="1143000"/>
          </a:xfrm>
          <a:prstGeom prst="roundRect">
            <a:avLst>
              <a:gd name="adj" fmla="val 20000"/>
            </a:avLst>
          </a:prstGeom>
          <a:solidFill>
            <a:srgbClr val="FF6B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Arial"/>
                <a:ea typeface="Microsoft YaHei"/>
              </a:rPr>
              <a:t>💡 05</a:t>
            </a:r>
          </a:p>
          <a:p>
            <a:pPr algn="ctr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Arial"/>
                <a:ea typeface="Microsoft YaHei"/>
              </a:rPr>
              <a:t>Language Tips</a:t>
            </a:r>
          </a:p>
          <a:p>
            <a:pPr algn="ctr">
              <a:spcAft>
                <a:spcPts val="200"/>
              </a:spcAft>
            </a:pPr>
            <a:r>
              <a:rPr sz="1300" b="0">
                <a:solidFill>
                  <a:srgbClr val="FFFFFF"/>
                </a:solidFill>
                <a:latin typeface="Arial"/>
                <a:ea typeface="Microsoft YaHei"/>
              </a:rPr>
              <a:t>语言贴士</a:t>
            </a:r>
          </a:p>
        </p:txBody>
      </p:sp>
    </p:spTree>
  </p:cSld>
  <p:clrMapOvr>
    <a:masterClrMapping/>
  </p:clrMapOvr>
  <p:transition spd="med">
    <p:fade/>
  </p:transition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F6B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8442656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3200" b="1">
                <a:solidFill>
                  <a:srgbClr val="1F2A44"/>
                </a:solidFill>
                <a:latin typeface="Arial"/>
                <a:ea typeface="Microsoft YaHei"/>
              </a:rPr>
              <a:t>🔥 Warm up · Ice-breaker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74175" y="438912"/>
            <a:ext cx="2560320" cy="475488"/>
          </a:xfrm>
          <a:prstGeom prst="roundRect">
            <a:avLst>
              <a:gd name="adj" fmla="val 50000"/>
            </a:avLst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3152" rIns="73152"/>
          <a:lstStyle/>
          <a:p>
            <a:pPr algn="ctr">
              <a:spcAft>
                <a:spcPts val="200"/>
              </a:spcAft>
            </a:pPr>
            <a:r>
              <a:rPr sz="1300" b="1">
                <a:solidFill>
                  <a:srgbClr val="FFFFFF"/>
                </a:solidFill>
                <a:latin typeface="Arial"/>
                <a:ea typeface="Microsoft YaHei"/>
              </a:rPr>
              <a:t>01 Warm up 热身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19088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100" b="0">
                <a:solidFill>
                  <a:srgbClr val="5F677A"/>
                </a:solidFill>
                <a:latin typeface="Arial"/>
                <a:ea typeface="Microsoft YaHei"/>
              </a:rPr>
              <a:t>Business English · Level 4 · Unit 3 · Lesson 07 Company visitors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28655" y="6419088"/>
            <a:ext cx="914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  <a:spcAft>
                <a:spcPts val="800"/>
              </a:spcAft>
            </a:pPr>
            <a:r>
              <a:rPr sz="1100" b="0">
                <a:solidFill>
                  <a:srgbClr val="5F677A"/>
                </a:solidFill>
                <a:latin typeface="Arial"/>
                <a:ea typeface="Microsoft YaHei"/>
              </a:rPr>
              <a:t>33</a:t>
            </a:r>
          </a:p>
        </p:txBody>
      </p:sp>
      <p:sp>
        <p:nvSpPr>
          <p:cNvPr id="7" name="Rounded Rectangle 6">
            <a:hlinkClick action="ppaction://hlinksldjump" r:id="rId2"/>
          </p:cNvPr>
          <p:cNvSpPr/>
          <p:nvPr/>
        </p:nvSpPr>
        <p:spPr>
          <a:xfrm>
            <a:off x="9677095" y="6382512"/>
            <a:ext cx="960120" cy="329184"/>
          </a:xfrm>
          <a:prstGeom prst="roundRect">
            <a:avLst>
              <a:gd name="adj" fmla="val 50000"/>
            </a:avLst>
          </a:prstGeom>
          <a:solidFill>
            <a:srgbClr val="FFE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Aft>
                <a:spcPts val="200"/>
              </a:spcAft>
            </a:pPr>
            <a:r>
              <a:rPr sz="1100" b="1">
                <a:solidFill>
                  <a:srgbClr val="1F2A44"/>
                </a:solidFill>
                <a:latin typeface="Arial"/>
                <a:ea typeface="Microsoft YaHei"/>
              </a:rPr>
              <a:t>🗺 Map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024128"/>
            <a:ext cx="11094415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500" b="0">
                <a:solidFill>
                  <a:srgbClr val="5F677A"/>
                </a:solidFill>
                <a:latin typeface="Arial"/>
                <a:ea typeface="Microsoft YaHei"/>
              </a:rPr>
              <a:t>Answer in 2–3 sentences. Say it out loud!  用 2–3 句话回答，大声说出来</a:t>
            </a:r>
          </a:p>
        </p:txBody>
      </p:sp>
      <p:sp>
        <p:nvSpPr>
          <p:cNvPr id="9" name="Oval 8"/>
          <p:cNvSpPr/>
          <p:nvPr/>
        </p:nvSpPr>
        <p:spPr>
          <a:xfrm>
            <a:off x="548640" y="1737360"/>
            <a:ext cx="502920" cy="502920"/>
          </a:xfrm>
          <a:prstGeom prst="ellipse">
            <a:avLst/>
          </a:prstGeom>
          <a:solidFill>
            <a:srgbClr val="FF6B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FFFFFF"/>
                </a:solidFill>
                <a:latin typeface="Arial"/>
                <a:ea typeface="Microsoft YaHei"/>
              </a:rPr>
              <a:t>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234440" y="1554480"/>
            <a:ext cx="10408615" cy="86868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325880" y="1554480"/>
            <a:ext cx="10180015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2100" b="0">
                <a:solidFill>
                  <a:srgbClr val="1F2A44"/>
                </a:solidFill>
                <a:latin typeface="Arial"/>
                <a:ea typeface="Microsoft YaHei"/>
              </a:rPr>
              <a:t>When visitors come to your company, who usually looks after them? What do they do?</a:t>
            </a:r>
          </a:p>
        </p:txBody>
      </p:sp>
      <p:sp>
        <p:nvSpPr>
          <p:cNvPr id="12" name="Oval 11"/>
          <p:cNvSpPr/>
          <p:nvPr/>
        </p:nvSpPr>
        <p:spPr>
          <a:xfrm>
            <a:off x="548640" y="2715768"/>
            <a:ext cx="502920" cy="502920"/>
          </a:xfrm>
          <a:prstGeom prst="ellipse">
            <a:avLst/>
          </a:prstGeom>
          <a:solidFill>
            <a:srgbClr val="4A90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FFFFFF"/>
                </a:solidFill>
                <a:latin typeface="Arial"/>
                <a:ea typeface="Microsoft YaHei"/>
              </a:rPr>
              <a:t>2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234440" y="2532888"/>
            <a:ext cx="10408615" cy="86868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25880" y="2532888"/>
            <a:ext cx="10180015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2100" b="0">
                <a:solidFill>
                  <a:srgbClr val="1F2A44"/>
                </a:solidFill>
                <a:latin typeface="Arial"/>
                <a:ea typeface="Microsoft YaHei"/>
              </a:rPr>
              <a:t>What do you offer a visitor who has just arrived? Is it different for a client and for a manager from head office?</a:t>
            </a:r>
          </a:p>
        </p:txBody>
      </p:sp>
      <p:sp>
        <p:nvSpPr>
          <p:cNvPr id="15" name="Oval 14"/>
          <p:cNvSpPr/>
          <p:nvPr/>
        </p:nvSpPr>
        <p:spPr>
          <a:xfrm>
            <a:off x="548640" y="3534156"/>
            <a:ext cx="502920" cy="502920"/>
          </a:xfrm>
          <a:prstGeom prst="ellipse">
            <a:avLst/>
          </a:prstGeom>
          <a:solidFill>
            <a:srgbClr val="3CC4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FFFFFF"/>
                </a:solidFill>
                <a:latin typeface="Arial"/>
                <a:ea typeface="Microsoft YaHei"/>
              </a:rPr>
              <a:t>3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234440" y="3511296"/>
            <a:ext cx="10408615" cy="54864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325880" y="3511296"/>
            <a:ext cx="10180015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2100" b="0">
                <a:solidFill>
                  <a:srgbClr val="1F2A44"/>
                </a:solidFill>
                <a:latin typeface="Arial"/>
                <a:ea typeface="Microsoft YaHei"/>
              </a:rPr>
              <a:t>How do you feel when you visit a company and nobody is there to meet you?</a:t>
            </a:r>
          </a:p>
        </p:txBody>
      </p:sp>
      <p:sp>
        <p:nvSpPr>
          <p:cNvPr id="18" name="Oval 17"/>
          <p:cNvSpPr/>
          <p:nvPr/>
        </p:nvSpPr>
        <p:spPr>
          <a:xfrm>
            <a:off x="548640" y="4192524"/>
            <a:ext cx="502920" cy="502920"/>
          </a:xfrm>
          <a:prstGeom prst="ellipse">
            <a:avLst/>
          </a:prstGeom>
          <a:solidFill>
            <a:srgbClr val="FFC8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FFFFFF"/>
                </a:solidFill>
                <a:latin typeface="Arial"/>
                <a:ea typeface="Microsoft YaHei"/>
              </a:rPr>
              <a:t>4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234440" y="4169664"/>
            <a:ext cx="10408615" cy="54864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325880" y="4169664"/>
            <a:ext cx="10180015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2100" b="0">
                <a:solidFill>
                  <a:srgbClr val="1F2A44"/>
                </a:solidFill>
                <a:latin typeface="Arial"/>
                <a:ea typeface="Microsoft YaHei"/>
              </a:rPr>
              <a:t>What do you usually show a visitor on an office tour?</a:t>
            </a:r>
          </a:p>
        </p:txBody>
      </p:sp>
      <p:sp>
        <p:nvSpPr>
          <p:cNvPr id="21" name="Oval 20"/>
          <p:cNvSpPr/>
          <p:nvPr/>
        </p:nvSpPr>
        <p:spPr>
          <a:xfrm>
            <a:off x="548640" y="4850892"/>
            <a:ext cx="502920" cy="502920"/>
          </a:xfrm>
          <a:prstGeom prst="ellipse">
            <a:avLst/>
          </a:prstGeom>
          <a:solidFill>
            <a:srgbClr val="9B6B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FFFFFF"/>
                </a:solidFill>
                <a:latin typeface="Arial"/>
                <a:ea typeface="Microsoft YaHei"/>
              </a:rPr>
              <a:t>5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234440" y="4828032"/>
            <a:ext cx="10408615" cy="54864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325880" y="4828032"/>
            <a:ext cx="10180015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2100" b="0">
                <a:solidFill>
                  <a:srgbClr val="1F2A44"/>
                </a:solidFill>
                <a:latin typeface="Arial"/>
                <a:ea typeface="Microsoft YaHei"/>
              </a:rPr>
              <a:t>Tell me about the last time you looked after a visitor. What went well?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548640" y="5760720"/>
            <a:ext cx="11094415" cy="502920"/>
          </a:xfrm>
          <a:prstGeom prst="roundRect">
            <a:avLst>
              <a:gd name="adj" fmla="val 30000"/>
            </a:avLst>
          </a:prstGeom>
          <a:solidFill>
            <a:srgbClr val="FFE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l">
              <a:spcAft>
                <a:spcPts val="200"/>
              </a:spcAft>
            </a:pPr>
            <a:r>
              <a:rPr sz="1500" b="1">
                <a:solidFill>
                  <a:srgbClr val="1F2A44"/>
                </a:solidFill>
                <a:latin typeface="Arial"/>
                <a:ea typeface="Microsoft YaHei"/>
              </a:rPr>
              <a:t>💡 第 5 题讲过去的事,请用过去式(showed, took, offered)。第 2 题可以用 “I usually offer…”。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FC8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8442656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3200" b="1">
                <a:solidFill>
                  <a:srgbClr val="1F2A44"/>
                </a:solidFill>
                <a:latin typeface="Arial"/>
                <a:ea typeface="Microsoft YaHei"/>
              </a:rPr>
              <a:t>⏱ 1-Minute Challenge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74175" y="438912"/>
            <a:ext cx="2560320" cy="475488"/>
          </a:xfrm>
          <a:prstGeom prst="roundRect">
            <a:avLst>
              <a:gd name="adj" fmla="val 50000"/>
            </a:avLst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3152" rIns="73152"/>
          <a:lstStyle/>
          <a:p>
            <a:pPr algn="ctr">
              <a:spcAft>
                <a:spcPts val="200"/>
              </a:spcAft>
            </a:pPr>
            <a:r>
              <a:rPr sz="1300" b="1">
                <a:solidFill>
                  <a:srgbClr val="FFFFFF"/>
                </a:solidFill>
                <a:latin typeface="Arial"/>
                <a:ea typeface="Microsoft YaHei"/>
              </a:rPr>
              <a:t>01 Warm up 热身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19088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100" b="0">
                <a:solidFill>
                  <a:srgbClr val="5F677A"/>
                </a:solidFill>
                <a:latin typeface="Arial"/>
                <a:ea typeface="Microsoft YaHei"/>
              </a:rPr>
              <a:t>Business English · Level 4 · Unit 3 · Lesson 07 Company visitors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28655" y="6419088"/>
            <a:ext cx="914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  <a:spcAft>
                <a:spcPts val="800"/>
              </a:spcAft>
            </a:pPr>
            <a:r>
              <a:rPr sz="1100" b="0">
                <a:solidFill>
                  <a:srgbClr val="5F677A"/>
                </a:solidFill>
                <a:latin typeface="Arial"/>
                <a:ea typeface="Microsoft YaHei"/>
              </a:rPr>
              <a:t>34</a:t>
            </a:r>
          </a:p>
        </p:txBody>
      </p:sp>
      <p:sp>
        <p:nvSpPr>
          <p:cNvPr id="7" name="Rounded Rectangle 6">
            <a:hlinkClick action="ppaction://hlinksldjump" r:id="rId2"/>
          </p:cNvPr>
          <p:cNvSpPr/>
          <p:nvPr/>
        </p:nvSpPr>
        <p:spPr>
          <a:xfrm>
            <a:off x="9677095" y="6382512"/>
            <a:ext cx="960120" cy="329184"/>
          </a:xfrm>
          <a:prstGeom prst="roundRect">
            <a:avLst>
              <a:gd name="adj" fmla="val 50000"/>
            </a:avLst>
          </a:prstGeom>
          <a:solidFill>
            <a:srgbClr val="FFE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Aft>
                <a:spcPts val="200"/>
              </a:spcAft>
            </a:pPr>
            <a:r>
              <a:rPr sz="1100" b="1">
                <a:solidFill>
                  <a:srgbClr val="1F2A44"/>
                </a:solidFill>
                <a:latin typeface="Arial"/>
                <a:ea typeface="Microsoft YaHei"/>
              </a:rPr>
              <a:t>🗺 Map</a:t>
            </a:r>
          </a:p>
        </p:txBody>
      </p:sp>
      <p:sp>
        <p:nvSpPr>
          <p:cNvPr id="8" name="Oval 7"/>
          <p:cNvSpPr/>
          <p:nvPr/>
        </p:nvSpPr>
        <p:spPr>
          <a:xfrm>
            <a:off x="9814255" y="1463040"/>
            <a:ext cx="1737360" cy="1737360"/>
          </a:xfrm>
          <a:prstGeom prst="ellipse">
            <a:avLst/>
          </a:prstGeom>
          <a:solidFill>
            <a:srgbClr val="FF6B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Aft>
                <a:spcPts val="200"/>
              </a:spcAft>
            </a:pPr>
            <a:r>
              <a:rPr sz="4000" b="1">
                <a:solidFill>
                  <a:srgbClr val="FFFFFF"/>
                </a:solidFill>
                <a:latin typeface="Arial"/>
                <a:ea typeface="Microsoft YaHei"/>
              </a:rPr>
              <a:t>⏱</a:t>
            </a:r>
          </a:p>
          <a:p>
            <a:pPr algn="ctr">
              <a:spcAft>
                <a:spcPts val="200"/>
              </a:spcAft>
            </a:pPr>
            <a:r>
              <a:rPr sz="2600" b="1">
                <a:solidFill>
                  <a:srgbClr val="FFFFFF"/>
                </a:solidFill>
                <a:latin typeface="Arial"/>
                <a:ea typeface="Microsoft YaHei"/>
              </a:rPr>
              <a:t>60s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417320"/>
            <a:ext cx="877824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400" b="0">
                <a:solidFill>
                  <a:srgbClr val="5F677A"/>
                </a:solidFill>
                <a:latin typeface="Arial"/>
                <a:ea typeface="Microsoft YaHei"/>
              </a:rPr>
              <a:t>TOPIC</a:t>
            </a:r>
          </a:p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3000" b="1">
                <a:solidFill>
                  <a:srgbClr val="1F2A44"/>
                </a:solidFill>
                <a:latin typeface="Arial"/>
                <a:ea typeface="Microsoft YaHei"/>
              </a:rPr>
              <a:t>You are the host. Welcome a visitor and explain the plan for the day.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3017520"/>
            <a:ext cx="1901952" cy="868680"/>
          </a:xfrm>
          <a:prstGeom prst="roundRect">
            <a:avLst>
              <a:gd name="adj" fmla="val 20000"/>
            </a:avLst>
          </a:prstGeom>
          <a:solidFill>
            <a:srgbClr val="FF6B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Arial"/>
                <a:ea typeface="Microsoft YaHei"/>
              </a:rPr>
              <a:t>1. welcome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587752" y="3017520"/>
            <a:ext cx="1901952" cy="868680"/>
          </a:xfrm>
          <a:prstGeom prst="roundRect">
            <a:avLst>
              <a:gd name="adj" fmla="val 20000"/>
            </a:avLst>
          </a:prstGeom>
          <a:solidFill>
            <a:srgbClr val="4A90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Arial"/>
                <a:ea typeface="Microsoft YaHei"/>
              </a:rPr>
              <a:t>2. a drink and basic facilities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626864" y="3017520"/>
            <a:ext cx="1901952" cy="868680"/>
          </a:xfrm>
          <a:prstGeom prst="roundRect">
            <a:avLst>
              <a:gd name="adj" fmla="val 20000"/>
            </a:avLst>
          </a:prstGeom>
          <a:solidFill>
            <a:srgbClr val="3CC4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Arial"/>
                <a:ea typeface="Microsoft YaHei"/>
              </a:rPr>
              <a:t>3. a short tour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665976" y="3017520"/>
            <a:ext cx="1901952" cy="868680"/>
          </a:xfrm>
          <a:prstGeom prst="roundRect">
            <a:avLst>
              <a:gd name="adj" fmla="val 20000"/>
            </a:avLst>
          </a:prstGeom>
          <a:solidFill>
            <a:srgbClr val="FFC8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Arial"/>
                <a:ea typeface="Microsoft YaHei"/>
              </a:rPr>
              <a:t>4. today’s schedule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705088" y="3017520"/>
            <a:ext cx="1901952" cy="868680"/>
          </a:xfrm>
          <a:prstGeom prst="roundRect">
            <a:avLst>
              <a:gd name="adj" fmla="val 20000"/>
            </a:avLst>
          </a:prstGeom>
          <a:solidFill>
            <a:srgbClr val="9B6B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Arial"/>
                <a:ea typeface="Microsoft YaHei"/>
              </a:rPr>
              <a:t>5. “Please let me know if you need anything.”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4069080"/>
            <a:ext cx="11094415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400" b="0">
                <a:solidFill>
                  <a:srgbClr val="5F677A"/>
                </a:solidFill>
                <a:latin typeface="Arial"/>
                <a:ea typeface="Microsoft YaHei"/>
              </a:rPr>
              <a:t>Useful starters 开头句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4389120"/>
            <a:ext cx="11094415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2000" b="1">
                <a:solidFill>
                  <a:srgbClr val="1F2A44"/>
                </a:solidFill>
                <a:latin typeface="Arial"/>
                <a:ea typeface="Microsoft YaHei"/>
              </a:rPr>
              <a:t>💬 Welcome to…   💬 Let me show you around.   💬 We’ll start with…, then…   💬 Please don’t hesitate to ask.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5760720"/>
            <a:ext cx="11094415" cy="502920"/>
          </a:xfrm>
          <a:prstGeom prst="roundRect">
            <a:avLst>
              <a:gd name="adj" fmla="val 30000"/>
            </a:avLst>
          </a:prstGeom>
          <a:solidFill>
            <a:srgbClr val="FFE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1F2A44"/>
                </a:solidFill>
                <a:latin typeface="Arial"/>
                <a:ea typeface="Microsoft YaHei"/>
              </a:rPr>
              <a:t>💡 计划用 will / be going to:“We’ll start with a tour. Then we’ll have lunch.”。按时间顺序讲:first, then, after that, finally。</a:t>
            </a:r>
          </a:p>
        </p:txBody>
      </p:sp>
    </p:spTree>
  </p:cSld>
  <p:clrMapOvr>
    <a:masterClrMapping/>
  </p:clrMapOvr>
  <p:transition spd="med">
    <p:fade/>
  </p:transition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4A90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8442656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3000" b="1">
                <a:solidFill>
                  <a:srgbClr val="1F2A44"/>
                </a:solidFill>
                <a:latin typeface="Arial"/>
                <a:ea typeface="Microsoft YaHei"/>
              </a:rPr>
              <a:t>📚 Chunk 1: Welcoming and showing around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74175" y="438912"/>
            <a:ext cx="2560320" cy="475488"/>
          </a:xfrm>
          <a:prstGeom prst="roundRect">
            <a:avLst>
              <a:gd name="adj" fmla="val 50000"/>
            </a:avLst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3152" rIns="73152"/>
          <a:lstStyle/>
          <a:p>
            <a:pPr algn="ctr">
              <a:spcAft>
                <a:spcPts val="200"/>
              </a:spcAft>
            </a:pPr>
            <a:r>
              <a:rPr sz="1300" b="1">
                <a:solidFill>
                  <a:srgbClr val="FFFFFF"/>
                </a:solidFill>
                <a:latin typeface="Arial"/>
                <a:ea typeface="Microsoft YaHei"/>
              </a:rPr>
              <a:t>02 Vocabulary 词汇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19088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100" b="0">
                <a:solidFill>
                  <a:srgbClr val="5F677A"/>
                </a:solidFill>
                <a:latin typeface="Arial"/>
                <a:ea typeface="Microsoft YaHei"/>
              </a:rPr>
              <a:t>Business English · Level 4 · Unit 3 · Lesson 07 Company visitors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28655" y="6419088"/>
            <a:ext cx="914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  <a:spcAft>
                <a:spcPts val="800"/>
              </a:spcAft>
            </a:pPr>
            <a:r>
              <a:rPr sz="1100" b="0">
                <a:solidFill>
                  <a:srgbClr val="5F677A"/>
                </a:solidFill>
                <a:latin typeface="Arial"/>
                <a:ea typeface="Microsoft YaHei"/>
              </a:rPr>
              <a:t>35</a:t>
            </a:r>
          </a:p>
        </p:txBody>
      </p:sp>
      <p:sp>
        <p:nvSpPr>
          <p:cNvPr id="7" name="Rounded Rectangle 6">
            <a:hlinkClick action="ppaction://hlinksldjump" r:id="rId2"/>
          </p:cNvPr>
          <p:cNvSpPr/>
          <p:nvPr/>
        </p:nvSpPr>
        <p:spPr>
          <a:xfrm>
            <a:off x="9677095" y="6382512"/>
            <a:ext cx="960120" cy="329184"/>
          </a:xfrm>
          <a:prstGeom prst="roundRect">
            <a:avLst>
              <a:gd name="adj" fmla="val 50000"/>
            </a:avLst>
          </a:prstGeom>
          <a:solidFill>
            <a:srgbClr val="FFE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Aft>
                <a:spcPts val="200"/>
              </a:spcAft>
            </a:pPr>
            <a:r>
              <a:rPr sz="1100" b="1">
                <a:solidFill>
                  <a:srgbClr val="1F2A44"/>
                </a:solidFill>
                <a:latin typeface="Arial"/>
                <a:ea typeface="Microsoft YaHei"/>
              </a:rPr>
              <a:t>🗺 Map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960120"/>
            <a:ext cx="11094415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500" b="0">
                <a:solidFill>
                  <a:srgbClr val="5F677A"/>
                </a:solidFill>
                <a:latin typeface="Arial"/>
                <a:ea typeface="Microsoft YaHei"/>
              </a:rPr>
              <a:t>欢迎与带路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417320"/>
            <a:ext cx="11094415" cy="93522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1417320"/>
            <a:ext cx="91440" cy="935228"/>
          </a:xfrm>
          <a:prstGeom prst="rect">
            <a:avLst/>
          </a:prstGeom>
          <a:solidFill>
            <a:srgbClr val="FF6B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1463040"/>
            <a:ext cx="3429000" cy="8712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2000" b="1">
                <a:solidFill>
                  <a:srgbClr val="1F2A44"/>
                </a:solidFill>
                <a:latin typeface="Arial"/>
                <a:ea typeface="Microsoft YaHei"/>
              </a:rPr>
              <a:t>Welcome to our Shanghai office.</a:t>
            </a:r>
          </a:p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300" b="0">
                <a:solidFill>
                  <a:srgbClr val="5F677A"/>
                </a:solidFill>
                <a:latin typeface="Arial"/>
                <a:ea typeface="Microsoft YaHei"/>
              </a:rPr>
              <a:t>phrase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06240" y="1463040"/>
            <a:ext cx="2377440" cy="8712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700" b="1">
                <a:solidFill>
                  <a:srgbClr val="FF6B5B"/>
                </a:solidFill>
                <a:latin typeface="Arial"/>
                <a:ea typeface="Microsoft YaHei"/>
              </a:rPr>
              <a:t>欢迎来到我们的上海办公室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75120" y="1463040"/>
            <a:ext cx="4846320" cy="8712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700" b="0" i="1">
                <a:solidFill>
                  <a:srgbClr val="1F2A44"/>
                </a:solidFill>
                <a:latin typeface="Arial"/>
                <a:ea typeface="Microsoft YaHei"/>
              </a:rPr>
              <a:t>“Welcome to our Shanghai office. I’m Ben Zhou.”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2425700"/>
            <a:ext cx="11094415" cy="93522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48640" y="2425700"/>
            <a:ext cx="91440" cy="935228"/>
          </a:xfrm>
          <a:prstGeom prst="rect">
            <a:avLst/>
          </a:prstGeom>
          <a:solidFill>
            <a:srgbClr val="9B6B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2471420"/>
            <a:ext cx="3429000" cy="8712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2000" b="1">
                <a:solidFill>
                  <a:srgbClr val="9B6BE0"/>
                </a:solidFill>
                <a:latin typeface="Arial"/>
                <a:ea typeface="Microsoft YaHei"/>
              </a:rPr>
              <a:t>★ Thank you for making the trip.</a:t>
            </a:r>
          </a:p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300" b="0">
                <a:solidFill>
                  <a:srgbClr val="5F677A"/>
                </a:solidFill>
                <a:latin typeface="Arial"/>
                <a:ea typeface="Microsoft YaHei"/>
              </a:rPr>
              <a:t>phrase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06240" y="2471420"/>
            <a:ext cx="2377440" cy="8712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700" b="1">
                <a:solidFill>
                  <a:srgbClr val="FF6B5B"/>
                </a:solidFill>
                <a:latin typeface="Arial"/>
                <a:ea typeface="Microsoft YaHei"/>
              </a:rPr>
              <a:t>感谢您远道而来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75120" y="2471420"/>
            <a:ext cx="4846320" cy="8712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700" b="0" i="1">
                <a:solidFill>
                  <a:srgbClr val="1F2A44"/>
                </a:solidFill>
                <a:latin typeface="Arial"/>
                <a:ea typeface="Microsoft YaHei"/>
              </a:rPr>
              <a:t>“Thank you for making the trip. I know it’s a long way.”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3434080"/>
            <a:ext cx="11094415" cy="63042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48640" y="3434080"/>
            <a:ext cx="91440" cy="630428"/>
          </a:xfrm>
          <a:prstGeom prst="rect">
            <a:avLst/>
          </a:prstGeom>
          <a:solidFill>
            <a:srgbClr val="3CC4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1520" y="3479800"/>
            <a:ext cx="3429000" cy="5664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2000" b="1">
                <a:solidFill>
                  <a:srgbClr val="1F2A44"/>
                </a:solidFill>
                <a:latin typeface="Arial"/>
                <a:ea typeface="Microsoft YaHei"/>
              </a:rPr>
              <a:t>Let me show you around.</a:t>
            </a:r>
          </a:p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300" b="0">
                <a:solidFill>
                  <a:srgbClr val="5F677A"/>
                </a:solidFill>
                <a:latin typeface="Arial"/>
                <a:ea typeface="Microsoft YaHei"/>
              </a:rPr>
              <a:t>phrase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206240" y="3479800"/>
            <a:ext cx="2377440" cy="5664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700" b="1">
                <a:solidFill>
                  <a:srgbClr val="FF6B5B"/>
                </a:solidFill>
                <a:latin typeface="Arial"/>
                <a:ea typeface="Microsoft YaHei"/>
              </a:rPr>
              <a:t>让我带您参观一下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75120" y="3479800"/>
            <a:ext cx="4846320" cy="5664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700" b="0" i="1">
                <a:solidFill>
                  <a:srgbClr val="1F2A44"/>
                </a:solidFill>
                <a:latin typeface="Arial"/>
                <a:ea typeface="Microsoft YaHei"/>
              </a:rPr>
              <a:t>“Let me show you around before the meeting.”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48640" y="4137660"/>
            <a:ext cx="11094415" cy="63042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48640" y="4137660"/>
            <a:ext cx="91440" cy="630428"/>
          </a:xfrm>
          <a:prstGeom prst="rect">
            <a:avLst/>
          </a:prstGeom>
          <a:solidFill>
            <a:srgbClr val="FFC8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31520" y="4183380"/>
            <a:ext cx="3429000" cy="5664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2000" b="1">
                <a:solidFill>
                  <a:srgbClr val="1F2A44"/>
                </a:solidFill>
                <a:latin typeface="Arial"/>
                <a:ea typeface="Microsoft YaHei"/>
              </a:rPr>
              <a:t>This way, please.</a:t>
            </a:r>
          </a:p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300" b="0">
                <a:solidFill>
                  <a:srgbClr val="5F677A"/>
                </a:solidFill>
                <a:latin typeface="Arial"/>
                <a:ea typeface="Microsoft YaHei"/>
              </a:rPr>
              <a:t>phrase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206240" y="4183380"/>
            <a:ext cx="2377440" cy="5664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700" b="1">
                <a:solidFill>
                  <a:srgbClr val="FF6B5B"/>
                </a:solidFill>
                <a:latin typeface="Arial"/>
                <a:ea typeface="Microsoft YaHei"/>
              </a:rPr>
              <a:t>请这边走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675120" y="4183380"/>
            <a:ext cx="4846320" cy="5664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700" b="0" i="1">
                <a:solidFill>
                  <a:srgbClr val="1F2A44"/>
                </a:solidFill>
                <a:latin typeface="Arial"/>
                <a:ea typeface="Microsoft YaHei"/>
              </a:rPr>
              <a:t>“This way, please. The meeting room is down the corridor.”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48640" y="4841240"/>
            <a:ext cx="11094415" cy="63042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548640" y="4841240"/>
            <a:ext cx="91440" cy="630428"/>
          </a:xfrm>
          <a:prstGeom prst="rect">
            <a:avLst/>
          </a:prstGeom>
          <a:solidFill>
            <a:srgbClr val="9B6B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31520" y="4886960"/>
            <a:ext cx="3429000" cy="5664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2000" b="1">
                <a:solidFill>
                  <a:srgbClr val="9B6BE0"/>
                </a:solidFill>
                <a:latin typeface="Arial"/>
                <a:ea typeface="Microsoft YaHei"/>
              </a:rPr>
              <a:t>★ After you.</a:t>
            </a:r>
          </a:p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300" b="0">
                <a:solidFill>
                  <a:srgbClr val="5F677A"/>
                </a:solidFill>
                <a:latin typeface="Arial"/>
                <a:ea typeface="Microsoft YaHei"/>
              </a:rPr>
              <a:t>phrase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206240" y="4886960"/>
            <a:ext cx="2377440" cy="5664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700" b="1">
                <a:solidFill>
                  <a:srgbClr val="FF6B5B"/>
                </a:solidFill>
                <a:latin typeface="Arial"/>
                <a:ea typeface="Microsoft YaHei"/>
              </a:rPr>
              <a:t>您先请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675120" y="4886960"/>
            <a:ext cx="4846320" cy="5664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700" b="0" i="1">
                <a:solidFill>
                  <a:srgbClr val="1F2A44"/>
                </a:solidFill>
                <a:latin typeface="Arial"/>
                <a:ea typeface="Microsoft YaHei"/>
              </a:rPr>
              <a:t>“After you.” — “Thank you.”</a:t>
            </a:r>
          </a:p>
        </p:txBody>
      </p:sp>
    </p:spTree>
  </p:cSld>
  <p:clrMapOvr>
    <a:masterClrMapping/>
  </p:clrMapOvr>
  <p:transition spd="med">
    <p:fade/>
  </p:transition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4A90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8442656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3200" b="1">
                <a:solidFill>
                  <a:srgbClr val="1F2A44"/>
                </a:solidFill>
                <a:latin typeface="Arial"/>
                <a:ea typeface="Microsoft YaHei"/>
              </a:rPr>
              <a:t>📚 Chunk 2: Comfort and facilities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74175" y="438912"/>
            <a:ext cx="2560320" cy="475488"/>
          </a:xfrm>
          <a:prstGeom prst="roundRect">
            <a:avLst>
              <a:gd name="adj" fmla="val 50000"/>
            </a:avLst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3152" rIns="73152"/>
          <a:lstStyle/>
          <a:p>
            <a:pPr algn="ctr">
              <a:spcAft>
                <a:spcPts val="200"/>
              </a:spcAft>
            </a:pPr>
            <a:r>
              <a:rPr sz="1300" b="1">
                <a:solidFill>
                  <a:srgbClr val="FFFFFF"/>
                </a:solidFill>
                <a:latin typeface="Arial"/>
                <a:ea typeface="Microsoft YaHei"/>
              </a:rPr>
              <a:t>02 Vocabulary 词汇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19088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100" b="0">
                <a:solidFill>
                  <a:srgbClr val="5F677A"/>
                </a:solidFill>
                <a:latin typeface="Arial"/>
                <a:ea typeface="Microsoft YaHei"/>
              </a:rPr>
              <a:t>Business English · Level 4 · Unit 3 · Lesson 07 Company visitors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28655" y="6419088"/>
            <a:ext cx="914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  <a:spcAft>
                <a:spcPts val="800"/>
              </a:spcAft>
            </a:pPr>
            <a:r>
              <a:rPr sz="1100" b="0">
                <a:solidFill>
                  <a:srgbClr val="5F677A"/>
                </a:solidFill>
                <a:latin typeface="Arial"/>
                <a:ea typeface="Microsoft YaHei"/>
              </a:rPr>
              <a:t>36</a:t>
            </a:r>
          </a:p>
        </p:txBody>
      </p:sp>
      <p:sp>
        <p:nvSpPr>
          <p:cNvPr id="7" name="Rounded Rectangle 6">
            <a:hlinkClick action="ppaction://hlinksldjump" r:id="rId2"/>
          </p:cNvPr>
          <p:cNvSpPr/>
          <p:nvPr/>
        </p:nvSpPr>
        <p:spPr>
          <a:xfrm>
            <a:off x="9677095" y="6382512"/>
            <a:ext cx="960120" cy="329184"/>
          </a:xfrm>
          <a:prstGeom prst="roundRect">
            <a:avLst>
              <a:gd name="adj" fmla="val 50000"/>
            </a:avLst>
          </a:prstGeom>
          <a:solidFill>
            <a:srgbClr val="FFE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Aft>
                <a:spcPts val="200"/>
              </a:spcAft>
            </a:pPr>
            <a:r>
              <a:rPr sz="1100" b="1">
                <a:solidFill>
                  <a:srgbClr val="1F2A44"/>
                </a:solidFill>
                <a:latin typeface="Arial"/>
                <a:ea typeface="Microsoft YaHei"/>
              </a:rPr>
              <a:t>🗺 Map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960120"/>
            <a:ext cx="11094415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500" b="0">
                <a:solidFill>
                  <a:srgbClr val="5F677A"/>
                </a:solidFill>
                <a:latin typeface="Arial"/>
                <a:ea typeface="Microsoft YaHei"/>
              </a:rPr>
              <a:t>舒适与设施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417320"/>
            <a:ext cx="11094415" cy="93522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1417320"/>
            <a:ext cx="91440" cy="935228"/>
          </a:xfrm>
          <a:prstGeom prst="rect">
            <a:avLst/>
          </a:prstGeom>
          <a:solidFill>
            <a:srgbClr val="FF6B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1463040"/>
            <a:ext cx="3429000" cy="8712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2000" b="1">
                <a:solidFill>
                  <a:srgbClr val="1F2A44"/>
                </a:solidFill>
                <a:latin typeface="Arial"/>
                <a:ea typeface="Microsoft YaHei"/>
              </a:rPr>
              <a:t>Would you like something to drink?</a:t>
            </a:r>
          </a:p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300" b="0">
                <a:solidFill>
                  <a:srgbClr val="5F677A"/>
                </a:solidFill>
                <a:latin typeface="Arial"/>
                <a:ea typeface="Microsoft YaHei"/>
              </a:rPr>
              <a:t>phrase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06240" y="1463040"/>
            <a:ext cx="2377440" cy="8712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700" b="1">
                <a:solidFill>
                  <a:srgbClr val="FF6B5B"/>
                </a:solidFill>
                <a:latin typeface="Arial"/>
                <a:ea typeface="Microsoft YaHei"/>
              </a:rPr>
              <a:t>您想喝点什么吗?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75120" y="1463040"/>
            <a:ext cx="4846320" cy="8712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700" b="0" i="1">
                <a:solidFill>
                  <a:srgbClr val="1F2A44"/>
                </a:solidFill>
                <a:latin typeface="Arial"/>
                <a:ea typeface="Microsoft YaHei"/>
              </a:rPr>
              <a:t>“Would you like something to drink? We have tea, coffee and water.”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2425700"/>
            <a:ext cx="11094415" cy="93522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48640" y="2425700"/>
            <a:ext cx="91440" cy="935228"/>
          </a:xfrm>
          <a:prstGeom prst="rect">
            <a:avLst/>
          </a:prstGeom>
          <a:solidFill>
            <a:srgbClr val="9B6B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2471420"/>
            <a:ext cx="3429000" cy="8712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2000" b="1">
                <a:solidFill>
                  <a:srgbClr val="9B6BE0"/>
                </a:solidFill>
                <a:latin typeface="Arial"/>
                <a:ea typeface="Microsoft YaHei"/>
              </a:rPr>
              <a:t>★ Make yourself at home.</a:t>
            </a:r>
          </a:p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300" b="0">
                <a:solidFill>
                  <a:srgbClr val="5F677A"/>
                </a:solidFill>
                <a:latin typeface="Arial"/>
                <a:ea typeface="Microsoft YaHei"/>
              </a:rPr>
              <a:t>idiom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06240" y="2471420"/>
            <a:ext cx="2377440" cy="8712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700" b="1">
                <a:solidFill>
                  <a:srgbClr val="FF6B5B"/>
                </a:solidFill>
                <a:latin typeface="Arial"/>
                <a:ea typeface="Microsoft YaHei"/>
              </a:rPr>
              <a:t>请不要拘束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75120" y="2471420"/>
            <a:ext cx="4846320" cy="8712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700" b="0" i="1">
                <a:solidFill>
                  <a:srgbClr val="1F2A44"/>
                </a:solidFill>
                <a:latin typeface="Arial"/>
                <a:ea typeface="Microsoft YaHei"/>
              </a:rPr>
              <a:t>“Please make yourself at home. I’ll be back in a minute.”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3434080"/>
            <a:ext cx="11094415" cy="93522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48640" y="3434080"/>
            <a:ext cx="91440" cy="935228"/>
          </a:xfrm>
          <a:prstGeom prst="rect">
            <a:avLst/>
          </a:prstGeom>
          <a:solidFill>
            <a:srgbClr val="9B6B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1520" y="3479800"/>
            <a:ext cx="3429000" cy="8712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2000" b="1">
                <a:solidFill>
                  <a:srgbClr val="9B6BE0"/>
                </a:solidFill>
                <a:latin typeface="Arial"/>
                <a:ea typeface="Microsoft YaHei"/>
              </a:rPr>
              <a:t>★ Help yourself to coffee.</a:t>
            </a:r>
          </a:p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300" b="0">
                <a:solidFill>
                  <a:srgbClr val="5F677A"/>
                </a:solidFill>
                <a:latin typeface="Arial"/>
                <a:ea typeface="Microsoft YaHei"/>
              </a:rPr>
              <a:t>phrase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206240" y="3479800"/>
            <a:ext cx="2377440" cy="8712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700" b="1">
                <a:solidFill>
                  <a:srgbClr val="FF6B5B"/>
                </a:solidFill>
                <a:latin typeface="Arial"/>
                <a:ea typeface="Microsoft YaHei"/>
              </a:rPr>
              <a:t>咖啡请自取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75120" y="3479800"/>
            <a:ext cx="4846320" cy="8712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700" b="0" i="1">
                <a:solidFill>
                  <a:srgbClr val="1F2A44"/>
                </a:solidFill>
                <a:latin typeface="Arial"/>
                <a:ea typeface="Microsoft YaHei"/>
              </a:rPr>
              <a:t>“Help yourself to coffee and snacks over there.”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48640" y="4442460"/>
            <a:ext cx="11094415" cy="63042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48640" y="4442460"/>
            <a:ext cx="91440" cy="630428"/>
          </a:xfrm>
          <a:prstGeom prst="rect">
            <a:avLst/>
          </a:prstGeom>
          <a:solidFill>
            <a:srgbClr val="FFC8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31520" y="4488180"/>
            <a:ext cx="3429000" cy="5664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2000" b="1">
                <a:solidFill>
                  <a:srgbClr val="1F2A44"/>
                </a:solidFill>
                <a:latin typeface="Arial"/>
                <a:ea typeface="Microsoft YaHei"/>
              </a:rPr>
              <a:t>guest Wi-Fi</a:t>
            </a:r>
          </a:p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300" b="0">
                <a:solidFill>
                  <a:srgbClr val="5F677A"/>
                </a:solidFill>
                <a:latin typeface="Arial"/>
                <a:ea typeface="Microsoft YaHei"/>
              </a:rPr>
              <a:t>noun phrase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206240" y="4488180"/>
            <a:ext cx="2377440" cy="5664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700" b="1">
                <a:solidFill>
                  <a:srgbClr val="FF6B5B"/>
                </a:solidFill>
                <a:latin typeface="Arial"/>
                <a:ea typeface="Microsoft YaHei"/>
              </a:rPr>
              <a:t>访客无线网络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675120" y="4488180"/>
            <a:ext cx="4846320" cy="5664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700" b="0" i="1">
                <a:solidFill>
                  <a:srgbClr val="1F2A44"/>
                </a:solidFill>
                <a:latin typeface="Arial"/>
                <a:ea typeface="Microsoft YaHei"/>
              </a:rPr>
              <a:t>“The guest Wi-Fi password is on this card.”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48640" y="5146040"/>
            <a:ext cx="11094415" cy="63042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548640" y="5146040"/>
            <a:ext cx="91440" cy="630428"/>
          </a:xfrm>
          <a:prstGeom prst="rect">
            <a:avLst/>
          </a:prstGeom>
          <a:solidFill>
            <a:srgbClr val="9B6B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31520" y="5191760"/>
            <a:ext cx="3429000" cy="5664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2000" b="1">
                <a:solidFill>
                  <a:srgbClr val="1F2A44"/>
                </a:solidFill>
                <a:latin typeface="Arial"/>
                <a:ea typeface="Microsoft YaHei"/>
              </a:rPr>
              <a:t>restroom</a:t>
            </a:r>
          </a:p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300" b="0">
                <a:solidFill>
                  <a:srgbClr val="5F677A"/>
                </a:solidFill>
                <a:latin typeface="Arial"/>
                <a:ea typeface="Microsoft YaHei"/>
              </a:rPr>
              <a:t>noun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206240" y="5191760"/>
            <a:ext cx="2377440" cy="5664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700" b="1">
                <a:solidFill>
                  <a:srgbClr val="FF6B5B"/>
                </a:solidFill>
                <a:latin typeface="Arial"/>
                <a:ea typeface="Microsoft YaHei"/>
              </a:rPr>
              <a:t>洗手间(美式)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675120" y="5191760"/>
            <a:ext cx="4846320" cy="5664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700" b="0" i="1">
                <a:solidFill>
                  <a:srgbClr val="1F2A44"/>
                </a:solidFill>
                <a:latin typeface="Arial"/>
                <a:ea typeface="Microsoft YaHei"/>
              </a:rPr>
              <a:t>“The restrooms are at the end of the corridor, on your left.”</a:t>
            </a:r>
          </a:p>
        </p:txBody>
      </p:sp>
    </p:spTree>
  </p:cSld>
  <p:clrMapOvr>
    <a:masterClrMapping/>
  </p:clrMapOvr>
  <p:transition spd="med">
    <p:fade/>
  </p:transition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4A90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8442656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3200" b="1">
                <a:solidFill>
                  <a:srgbClr val="1F2A44"/>
                </a:solidFill>
                <a:latin typeface="Arial"/>
                <a:ea typeface="Microsoft YaHei"/>
              </a:rPr>
              <a:t>📚 Chunk 3: Schedule and support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74175" y="438912"/>
            <a:ext cx="2560320" cy="475488"/>
          </a:xfrm>
          <a:prstGeom prst="roundRect">
            <a:avLst>
              <a:gd name="adj" fmla="val 50000"/>
            </a:avLst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3152" rIns="73152"/>
          <a:lstStyle/>
          <a:p>
            <a:pPr algn="ctr">
              <a:spcAft>
                <a:spcPts val="200"/>
              </a:spcAft>
            </a:pPr>
            <a:r>
              <a:rPr sz="1300" b="1">
                <a:solidFill>
                  <a:srgbClr val="FFFFFF"/>
                </a:solidFill>
                <a:latin typeface="Arial"/>
                <a:ea typeface="Microsoft YaHei"/>
              </a:rPr>
              <a:t>02 Vocabulary 词汇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19088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100" b="0">
                <a:solidFill>
                  <a:srgbClr val="5F677A"/>
                </a:solidFill>
                <a:latin typeface="Arial"/>
                <a:ea typeface="Microsoft YaHei"/>
              </a:rPr>
              <a:t>Business English · Level 4 · Unit 3 · Lesson 07 Company visitors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28655" y="6419088"/>
            <a:ext cx="914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  <a:spcAft>
                <a:spcPts val="800"/>
              </a:spcAft>
            </a:pPr>
            <a:r>
              <a:rPr sz="1100" b="0">
                <a:solidFill>
                  <a:srgbClr val="5F677A"/>
                </a:solidFill>
                <a:latin typeface="Arial"/>
                <a:ea typeface="Microsoft YaHei"/>
              </a:rPr>
              <a:t>37</a:t>
            </a:r>
          </a:p>
        </p:txBody>
      </p:sp>
      <p:sp>
        <p:nvSpPr>
          <p:cNvPr id="7" name="Rounded Rectangle 6">
            <a:hlinkClick action="ppaction://hlinksldjump" r:id="rId2"/>
          </p:cNvPr>
          <p:cNvSpPr/>
          <p:nvPr/>
        </p:nvSpPr>
        <p:spPr>
          <a:xfrm>
            <a:off x="9677095" y="6382512"/>
            <a:ext cx="960120" cy="329184"/>
          </a:xfrm>
          <a:prstGeom prst="roundRect">
            <a:avLst>
              <a:gd name="adj" fmla="val 50000"/>
            </a:avLst>
          </a:prstGeom>
          <a:solidFill>
            <a:srgbClr val="FFE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Aft>
                <a:spcPts val="200"/>
              </a:spcAft>
            </a:pPr>
            <a:r>
              <a:rPr sz="1100" b="1">
                <a:solidFill>
                  <a:srgbClr val="1F2A44"/>
                </a:solidFill>
                <a:latin typeface="Arial"/>
                <a:ea typeface="Microsoft YaHei"/>
              </a:rPr>
              <a:t>🗺 Map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960120"/>
            <a:ext cx="11094415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500" b="0">
                <a:solidFill>
                  <a:srgbClr val="5F677A"/>
                </a:solidFill>
                <a:latin typeface="Arial"/>
                <a:ea typeface="Microsoft YaHei"/>
              </a:rPr>
              <a:t>日程与协助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417320"/>
            <a:ext cx="11094415" cy="63042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1417320"/>
            <a:ext cx="91440" cy="630428"/>
          </a:xfrm>
          <a:prstGeom prst="rect">
            <a:avLst/>
          </a:prstGeom>
          <a:solidFill>
            <a:srgbClr val="FF6B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1463040"/>
            <a:ext cx="3429000" cy="5664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2000" b="1">
                <a:solidFill>
                  <a:srgbClr val="1F2A44"/>
                </a:solidFill>
                <a:latin typeface="Arial"/>
                <a:ea typeface="Microsoft YaHei"/>
              </a:rPr>
              <a:t>itinerary</a:t>
            </a:r>
          </a:p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300" b="0">
                <a:solidFill>
                  <a:srgbClr val="5F677A"/>
                </a:solidFill>
                <a:latin typeface="Arial"/>
                <a:ea typeface="Microsoft YaHei"/>
              </a:rPr>
              <a:t>noun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06240" y="1463040"/>
            <a:ext cx="2377440" cy="5664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700" b="1">
                <a:solidFill>
                  <a:srgbClr val="FF6B5B"/>
                </a:solidFill>
                <a:latin typeface="Arial"/>
                <a:ea typeface="Microsoft YaHei"/>
              </a:rPr>
              <a:t>行程安排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75120" y="1463040"/>
            <a:ext cx="4846320" cy="5664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700" b="0" i="1">
                <a:solidFill>
                  <a:srgbClr val="1F2A44"/>
                </a:solidFill>
                <a:latin typeface="Arial"/>
                <a:ea typeface="Microsoft YaHei"/>
              </a:rPr>
              <a:t>“I’ve sent you the itinerary for your two-day visit.”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2120900"/>
            <a:ext cx="11094415" cy="63042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48640" y="2120900"/>
            <a:ext cx="91440" cy="630428"/>
          </a:xfrm>
          <a:prstGeom prst="rect">
            <a:avLst/>
          </a:prstGeom>
          <a:solidFill>
            <a:srgbClr val="4A90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2166620"/>
            <a:ext cx="3429000" cy="5664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2000" b="1">
                <a:solidFill>
                  <a:srgbClr val="1F2A44"/>
                </a:solidFill>
                <a:latin typeface="Arial"/>
                <a:ea typeface="Microsoft YaHei"/>
              </a:rPr>
              <a:t>agenda</a:t>
            </a:r>
          </a:p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300" b="0">
                <a:solidFill>
                  <a:srgbClr val="5F677A"/>
                </a:solidFill>
                <a:latin typeface="Arial"/>
                <a:ea typeface="Microsoft YaHei"/>
              </a:rPr>
              <a:t>noun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06240" y="2166620"/>
            <a:ext cx="2377440" cy="5664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700" b="1">
                <a:solidFill>
                  <a:srgbClr val="FF6B5B"/>
                </a:solidFill>
                <a:latin typeface="Arial"/>
                <a:ea typeface="Microsoft YaHei"/>
              </a:rPr>
              <a:t>议程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75120" y="2166620"/>
            <a:ext cx="4846320" cy="5664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700" b="0" i="1">
                <a:solidFill>
                  <a:srgbClr val="1F2A44"/>
                </a:solidFill>
                <a:latin typeface="Arial"/>
                <a:ea typeface="Microsoft YaHei"/>
              </a:rPr>
              <a:t>“Here’s the agenda for this morning’s meeting.”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2824480"/>
            <a:ext cx="11094415" cy="93522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48640" y="2824480"/>
            <a:ext cx="91440" cy="935228"/>
          </a:xfrm>
          <a:prstGeom prst="rect">
            <a:avLst/>
          </a:prstGeom>
          <a:solidFill>
            <a:srgbClr val="9B6B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1520" y="2870200"/>
            <a:ext cx="3429000" cy="8712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2000" b="1">
                <a:solidFill>
                  <a:srgbClr val="9B6BE0"/>
                </a:solidFill>
                <a:latin typeface="Arial"/>
                <a:ea typeface="Microsoft YaHei"/>
              </a:rPr>
              <a:t>★ We’ve got a packed schedule today.</a:t>
            </a:r>
          </a:p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300" b="0">
                <a:solidFill>
                  <a:srgbClr val="5F677A"/>
                </a:solidFill>
                <a:latin typeface="Arial"/>
                <a:ea typeface="Microsoft YaHei"/>
              </a:rPr>
              <a:t>phrase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206240" y="2870200"/>
            <a:ext cx="2377440" cy="8712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700" b="1">
                <a:solidFill>
                  <a:srgbClr val="FF6B5B"/>
                </a:solidFill>
                <a:latin typeface="Arial"/>
                <a:ea typeface="Microsoft YaHei"/>
              </a:rPr>
              <a:t>今天日程排得很满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75120" y="2870200"/>
            <a:ext cx="4846320" cy="8712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700" b="0" i="1">
                <a:solidFill>
                  <a:srgbClr val="1F2A44"/>
                </a:solidFill>
                <a:latin typeface="Arial"/>
                <a:ea typeface="Microsoft YaHei"/>
              </a:rPr>
              <a:t>“We’ve got a packed schedule today, so we’ll start right away.”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48640" y="3832860"/>
            <a:ext cx="11094415" cy="93522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48640" y="3832860"/>
            <a:ext cx="91440" cy="935228"/>
          </a:xfrm>
          <a:prstGeom prst="rect">
            <a:avLst/>
          </a:prstGeom>
          <a:solidFill>
            <a:srgbClr val="9B6B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31520" y="3878580"/>
            <a:ext cx="3429000" cy="8712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2000" b="1">
                <a:solidFill>
                  <a:srgbClr val="9B6BE0"/>
                </a:solidFill>
                <a:latin typeface="Arial"/>
                <a:ea typeface="Microsoft YaHei"/>
              </a:rPr>
              <a:t>★ We’re running a little behind schedule.</a:t>
            </a:r>
          </a:p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300" b="0">
                <a:solidFill>
                  <a:srgbClr val="5F677A"/>
                </a:solidFill>
                <a:latin typeface="Arial"/>
                <a:ea typeface="Microsoft YaHei"/>
              </a:rPr>
              <a:t>phrase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206240" y="3878580"/>
            <a:ext cx="2377440" cy="8712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700" b="1">
                <a:solidFill>
                  <a:srgbClr val="FF6B5B"/>
                </a:solidFill>
                <a:latin typeface="Arial"/>
                <a:ea typeface="Microsoft YaHei"/>
              </a:rPr>
              <a:t>我们的进度稍微落后了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675120" y="3878580"/>
            <a:ext cx="4846320" cy="8712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700" b="0" i="1">
                <a:solidFill>
                  <a:srgbClr val="1F2A44"/>
                </a:solidFill>
                <a:latin typeface="Arial"/>
                <a:ea typeface="Microsoft YaHei"/>
              </a:rPr>
              <a:t>“We’re running a little behind schedule. Shall we skip the break?”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48640" y="4841240"/>
            <a:ext cx="11094415" cy="93522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548640" y="4841240"/>
            <a:ext cx="91440" cy="935228"/>
          </a:xfrm>
          <a:prstGeom prst="rect">
            <a:avLst/>
          </a:prstGeom>
          <a:solidFill>
            <a:srgbClr val="9B6B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31520" y="4886960"/>
            <a:ext cx="3429000" cy="8712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2000" b="1">
                <a:solidFill>
                  <a:srgbClr val="1F2A44"/>
                </a:solidFill>
                <a:latin typeface="Arial"/>
                <a:ea typeface="Microsoft YaHei"/>
              </a:rPr>
              <a:t>Please don’t hesitate to ask.</a:t>
            </a:r>
          </a:p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300" b="0">
                <a:solidFill>
                  <a:srgbClr val="5F677A"/>
                </a:solidFill>
                <a:latin typeface="Arial"/>
                <a:ea typeface="Microsoft YaHei"/>
              </a:rPr>
              <a:t>phrase (formal)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206240" y="4886960"/>
            <a:ext cx="2377440" cy="8712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700" b="1">
                <a:solidFill>
                  <a:srgbClr val="FF6B5B"/>
                </a:solidFill>
                <a:latin typeface="Arial"/>
                <a:ea typeface="Microsoft YaHei"/>
              </a:rPr>
              <a:t>有需要请尽管说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675120" y="4886960"/>
            <a:ext cx="4846320" cy="8712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700" b="0" i="1">
                <a:solidFill>
                  <a:srgbClr val="1F2A44"/>
                </a:solidFill>
                <a:latin typeface="Arial"/>
                <a:ea typeface="Microsoft YaHei"/>
              </a:rPr>
              <a:t>“If you need anything, please don’t hesitate to ask.”</a:t>
            </a:r>
          </a:p>
        </p:txBody>
      </p:sp>
    </p:spTree>
  </p:cSld>
  <p:clrMapOvr>
    <a:masterClrMapping/>
  </p:clrMapOvr>
  <p:transition spd="med">
    <p:fade/>
  </p:transition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F6B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8442656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3200" b="1">
                <a:solidFill>
                  <a:srgbClr val="1F2A44"/>
                </a:solidFill>
                <a:latin typeface="Arial"/>
                <a:ea typeface="Microsoft YaHei"/>
              </a:rPr>
              <a:t>⚡ Speed Round: Say it in English!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74175" y="438912"/>
            <a:ext cx="2560320" cy="475488"/>
          </a:xfrm>
          <a:prstGeom prst="roundRect">
            <a:avLst>
              <a:gd name="adj" fmla="val 50000"/>
            </a:avLst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3152" rIns="73152"/>
          <a:lstStyle/>
          <a:p>
            <a:pPr algn="ctr">
              <a:spcAft>
                <a:spcPts val="200"/>
              </a:spcAft>
            </a:pPr>
            <a:r>
              <a:rPr sz="1300" b="1">
                <a:solidFill>
                  <a:srgbClr val="FFFFFF"/>
                </a:solidFill>
                <a:latin typeface="Arial"/>
                <a:ea typeface="Microsoft YaHei"/>
              </a:rPr>
              <a:t>🎮 Game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19088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100" b="0">
                <a:solidFill>
                  <a:srgbClr val="5F677A"/>
                </a:solidFill>
                <a:latin typeface="Arial"/>
                <a:ea typeface="Microsoft YaHei"/>
              </a:rPr>
              <a:t>Business English · Level 4 · Unit 3 · Lesson 07 Company visitors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28655" y="6419088"/>
            <a:ext cx="914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  <a:spcAft>
                <a:spcPts val="800"/>
              </a:spcAft>
            </a:pPr>
            <a:r>
              <a:rPr sz="1100" b="0">
                <a:solidFill>
                  <a:srgbClr val="5F677A"/>
                </a:solidFill>
                <a:latin typeface="Arial"/>
                <a:ea typeface="Microsoft YaHei"/>
              </a:rPr>
              <a:t>38</a:t>
            </a:r>
          </a:p>
        </p:txBody>
      </p:sp>
      <p:sp>
        <p:nvSpPr>
          <p:cNvPr id="7" name="Rounded Rectangle 6">
            <a:hlinkClick action="ppaction://hlinksldjump" r:id="rId2"/>
          </p:cNvPr>
          <p:cNvSpPr/>
          <p:nvPr/>
        </p:nvSpPr>
        <p:spPr>
          <a:xfrm>
            <a:off x="9677095" y="6382512"/>
            <a:ext cx="960120" cy="329184"/>
          </a:xfrm>
          <a:prstGeom prst="roundRect">
            <a:avLst>
              <a:gd name="adj" fmla="val 50000"/>
            </a:avLst>
          </a:prstGeom>
          <a:solidFill>
            <a:srgbClr val="FFE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Aft>
                <a:spcPts val="200"/>
              </a:spcAft>
            </a:pPr>
            <a:r>
              <a:rPr sz="1100" b="1">
                <a:solidFill>
                  <a:srgbClr val="1F2A44"/>
                </a:solidFill>
                <a:latin typeface="Arial"/>
                <a:ea typeface="Microsoft YaHei"/>
              </a:rPr>
              <a:t>🗺 Map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024128"/>
            <a:ext cx="11094415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500" b="0">
                <a:solidFill>
                  <a:srgbClr val="5F677A"/>
                </a:solidFill>
                <a:latin typeface="Arial"/>
                <a:ea typeface="Microsoft YaHei"/>
              </a:rPr>
              <a:t>Read the Chinese, shout the English expression! Click to reveal.  看中文，抢答英文表达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554480"/>
            <a:ext cx="2636443" cy="21488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31750">
            <a:solidFill>
              <a:srgbClr val="FF6B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1691640"/>
            <a:ext cx="2453563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800"/>
              </a:spcAft>
            </a:pPr>
            <a:r>
              <a:rPr sz="2400" b="1">
                <a:solidFill>
                  <a:srgbClr val="1F2A44"/>
                </a:solidFill>
                <a:latin typeface="Arial"/>
                <a:ea typeface="Microsoft YaHei"/>
              </a:rPr>
              <a:t>我们的进度稍微落后了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2651760"/>
            <a:ext cx="2362123" cy="914400"/>
          </a:xfrm>
          <a:prstGeom prst="roundRect">
            <a:avLst>
              <a:gd name="adj" fmla="val 20000"/>
            </a:avLst>
          </a:prstGeom>
          <a:solidFill>
            <a:srgbClr val="FF6B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Arial"/>
                <a:ea typeface="Microsoft YaHei"/>
              </a:rPr>
              <a:t>We’re running a little behind schedule.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367963" y="1554480"/>
            <a:ext cx="2636443" cy="21488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31750">
            <a:solidFill>
              <a:srgbClr val="4A90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59403" y="1691640"/>
            <a:ext cx="2453563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800"/>
              </a:spcAft>
            </a:pPr>
            <a:r>
              <a:rPr sz="2400" b="1">
                <a:solidFill>
                  <a:srgbClr val="1F2A44"/>
                </a:solidFill>
                <a:latin typeface="Arial"/>
                <a:ea typeface="Microsoft YaHei"/>
              </a:rPr>
              <a:t>议程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505123" y="2651760"/>
            <a:ext cx="2362123" cy="914400"/>
          </a:xfrm>
          <a:prstGeom prst="roundRect">
            <a:avLst>
              <a:gd name="adj" fmla="val 20000"/>
            </a:avLst>
          </a:prstGeom>
          <a:solidFill>
            <a:srgbClr val="4A90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FFFFFF"/>
                </a:solidFill>
                <a:latin typeface="Arial"/>
                <a:ea typeface="Microsoft YaHei"/>
              </a:rPr>
              <a:t>agenda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87286" y="1554480"/>
            <a:ext cx="2636443" cy="21488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31750">
            <a:solidFill>
              <a:srgbClr val="3CC4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78726" y="1691640"/>
            <a:ext cx="2453563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800"/>
              </a:spcAft>
            </a:pPr>
            <a:r>
              <a:rPr sz="2400" b="1">
                <a:solidFill>
                  <a:srgbClr val="1F2A44"/>
                </a:solidFill>
                <a:latin typeface="Arial"/>
                <a:ea typeface="Microsoft YaHei"/>
              </a:rPr>
              <a:t>洗手间(美式)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24446" y="2651760"/>
            <a:ext cx="2362123" cy="914400"/>
          </a:xfrm>
          <a:prstGeom prst="roundRect">
            <a:avLst>
              <a:gd name="adj" fmla="val 20000"/>
            </a:avLst>
          </a:prstGeom>
          <a:solidFill>
            <a:srgbClr val="3CC4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FFFFFF"/>
                </a:solidFill>
                <a:latin typeface="Arial"/>
                <a:ea typeface="Microsoft YaHei"/>
              </a:rPr>
              <a:t>restroom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006609" y="1554480"/>
            <a:ext cx="2636443" cy="21488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31750">
            <a:solidFill>
              <a:srgbClr val="FFC8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098049" y="1691640"/>
            <a:ext cx="2453563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800"/>
              </a:spcAft>
            </a:pPr>
            <a:r>
              <a:rPr sz="2400" b="1">
                <a:solidFill>
                  <a:srgbClr val="1F2A44"/>
                </a:solidFill>
                <a:latin typeface="Arial"/>
                <a:ea typeface="Microsoft YaHei"/>
              </a:rPr>
              <a:t>感谢您远道而来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143769" y="2651760"/>
            <a:ext cx="2362123" cy="914400"/>
          </a:xfrm>
          <a:prstGeom prst="roundRect">
            <a:avLst>
              <a:gd name="adj" fmla="val 20000"/>
            </a:avLst>
          </a:prstGeom>
          <a:solidFill>
            <a:srgbClr val="FFC8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FFFFFF"/>
                </a:solidFill>
                <a:latin typeface="Arial"/>
                <a:ea typeface="Microsoft YaHei"/>
              </a:rPr>
              <a:t>Thank you for making the trip.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8640" y="3886200"/>
            <a:ext cx="2636443" cy="21488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31750">
            <a:solidFill>
              <a:srgbClr val="9B6B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4023360"/>
            <a:ext cx="2453563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800"/>
              </a:spcAft>
            </a:pPr>
            <a:r>
              <a:rPr sz="2400" b="1">
                <a:solidFill>
                  <a:srgbClr val="1F2A44"/>
                </a:solidFill>
                <a:latin typeface="Arial"/>
                <a:ea typeface="Microsoft YaHei"/>
              </a:rPr>
              <a:t>您先请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85800" y="4983480"/>
            <a:ext cx="2362123" cy="914400"/>
          </a:xfrm>
          <a:prstGeom prst="roundRect">
            <a:avLst>
              <a:gd name="adj" fmla="val 20000"/>
            </a:avLst>
          </a:prstGeom>
          <a:solidFill>
            <a:srgbClr val="9B6B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FFFFFF"/>
                </a:solidFill>
                <a:latin typeface="Arial"/>
                <a:ea typeface="Microsoft YaHei"/>
              </a:rPr>
              <a:t>After you.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367963" y="3886200"/>
            <a:ext cx="2636443" cy="21488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31750">
            <a:solidFill>
              <a:srgbClr val="FF6B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459403" y="4023360"/>
            <a:ext cx="2453563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800"/>
              </a:spcAft>
            </a:pPr>
            <a:r>
              <a:rPr sz="2400" b="1">
                <a:solidFill>
                  <a:srgbClr val="1F2A44"/>
                </a:solidFill>
                <a:latin typeface="Arial"/>
                <a:ea typeface="Microsoft YaHei"/>
              </a:rPr>
              <a:t>您想喝点什么吗?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505123" y="4983480"/>
            <a:ext cx="2362123" cy="914400"/>
          </a:xfrm>
          <a:prstGeom prst="roundRect">
            <a:avLst>
              <a:gd name="adj" fmla="val 20000"/>
            </a:avLst>
          </a:prstGeom>
          <a:solidFill>
            <a:srgbClr val="FF6B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Arial"/>
                <a:ea typeface="Microsoft YaHei"/>
              </a:rPr>
              <a:t>Would you like something to drink?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187286" y="3886200"/>
            <a:ext cx="2636443" cy="21488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31750">
            <a:solidFill>
              <a:srgbClr val="4A90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278726" y="4023360"/>
            <a:ext cx="2453563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800"/>
              </a:spcAft>
            </a:pPr>
            <a:r>
              <a:rPr sz="2400" b="1">
                <a:solidFill>
                  <a:srgbClr val="1F2A44"/>
                </a:solidFill>
                <a:latin typeface="Arial"/>
                <a:ea typeface="Microsoft YaHei"/>
              </a:rPr>
              <a:t>欢迎来到我们的上海办公室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324446" y="4983480"/>
            <a:ext cx="2362123" cy="914400"/>
          </a:xfrm>
          <a:prstGeom prst="roundRect">
            <a:avLst>
              <a:gd name="adj" fmla="val 20000"/>
            </a:avLst>
          </a:prstGeom>
          <a:solidFill>
            <a:srgbClr val="4A90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FFFFFF"/>
                </a:solidFill>
                <a:latin typeface="Arial"/>
                <a:ea typeface="Microsoft YaHei"/>
              </a:rPr>
              <a:t>Welcome to our Shanghai office.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006609" y="3886200"/>
            <a:ext cx="2636443" cy="21488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31750">
            <a:solidFill>
              <a:srgbClr val="3CC4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098049" y="4023360"/>
            <a:ext cx="2453563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800"/>
              </a:spcAft>
            </a:pPr>
            <a:r>
              <a:rPr sz="2400" b="1">
                <a:solidFill>
                  <a:srgbClr val="1F2A44"/>
                </a:solidFill>
                <a:latin typeface="Arial"/>
                <a:ea typeface="Microsoft YaHei"/>
              </a:rPr>
              <a:t>行程安排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9143769" y="4983480"/>
            <a:ext cx="2362123" cy="914400"/>
          </a:xfrm>
          <a:prstGeom prst="roundRect">
            <a:avLst>
              <a:gd name="adj" fmla="val 20000"/>
            </a:avLst>
          </a:prstGeom>
          <a:solidFill>
            <a:srgbClr val="3CC4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FFFFFF"/>
                </a:solidFill>
                <a:latin typeface="Arial"/>
                <a:ea typeface="Microsoft YaHei"/>
              </a:rPr>
              <a:t>itinerary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" fill="hold">
                      <p:stCondLst>
                        <p:cond delay="indefinite"/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4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3CC4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8442656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3200" b="1">
                <a:solidFill>
                  <a:srgbClr val="1F2A44"/>
                </a:solidFill>
                <a:latin typeface="Arial"/>
                <a:ea typeface="Microsoft YaHei"/>
              </a:rPr>
              <a:t>✏️ Mini Quiz: Fill in the Blanks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74175" y="438912"/>
            <a:ext cx="2560320" cy="475488"/>
          </a:xfrm>
          <a:prstGeom prst="roundRect">
            <a:avLst>
              <a:gd name="adj" fmla="val 50000"/>
            </a:avLst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3152" rIns="73152"/>
          <a:lstStyle/>
          <a:p>
            <a:pPr algn="ctr">
              <a:spcAft>
                <a:spcPts val="200"/>
              </a:spcAft>
            </a:pPr>
            <a:r>
              <a:rPr sz="1300" b="1">
                <a:solidFill>
                  <a:srgbClr val="FFFFFF"/>
                </a:solidFill>
                <a:latin typeface="Arial"/>
                <a:ea typeface="Microsoft YaHei"/>
              </a:rPr>
              <a:t>02 Vocabulary 词汇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19088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100" b="0">
                <a:solidFill>
                  <a:srgbClr val="5F677A"/>
                </a:solidFill>
                <a:latin typeface="Arial"/>
                <a:ea typeface="Microsoft YaHei"/>
              </a:rPr>
              <a:t>Business English · Level 4 · Unit 3 · Lesson 07 Company visitors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28655" y="6419088"/>
            <a:ext cx="914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  <a:spcAft>
                <a:spcPts val="800"/>
              </a:spcAft>
            </a:pPr>
            <a:r>
              <a:rPr sz="1100" b="0">
                <a:solidFill>
                  <a:srgbClr val="5F677A"/>
                </a:solidFill>
                <a:latin typeface="Arial"/>
                <a:ea typeface="Microsoft YaHei"/>
              </a:rPr>
              <a:t>39</a:t>
            </a:r>
          </a:p>
        </p:txBody>
      </p:sp>
      <p:sp>
        <p:nvSpPr>
          <p:cNvPr id="7" name="Rounded Rectangle 6">
            <a:hlinkClick action="ppaction://hlinksldjump" r:id="rId2"/>
          </p:cNvPr>
          <p:cNvSpPr/>
          <p:nvPr/>
        </p:nvSpPr>
        <p:spPr>
          <a:xfrm>
            <a:off x="9677095" y="6382512"/>
            <a:ext cx="960120" cy="329184"/>
          </a:xfrm>
          <a:prstGeom prst="roundRect">
            <a:avLst>
              <a:gd name="adj" fmla="val 50000"/>
            </a:avLst>
          </a:prstGeom>
          <a:solidFill>
            <a:srgbClr val="FFE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Aft>
                <a:spcPts val="200"/>
              </a:spcAft>
            </a:pPr>
            <a:r>
              <a:rPr sz="1100" b="1">
                <a:solidFill>
                  <a:srgbClr val="1F2A44"/>
                </a:solidFill>
                <a:latin typeface="Arial"/>
                <a:ea typeface="Microsoft YaHei"/>
              </a:rPr>
              <a:t>🗺 Map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960120"/>
            <a:ext cx="146304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400" b="0">
                <a:solidFill>
                  <a:srgbClr val="5F677A"/>
                </a:solidFill>
                <a:latin typeface="Arial"/>
                <a:ea typeface="Microsoft YaHei"/>
              </a:rPr>
              <a:t>Word bank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011680" y="987552"/>
            <a:ext cx="1353312" cy="411480"/>
          </a:xfrm>
          <a:prstGeom prst="roundRect">
            <a:avLst>
              <a:gd name="adj" fmla="val 50000"/>
            </a:avLst>
          </a:prstGeom>
          <a:solidFill>
            <a:srgbClr val="FF6B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Arial"/>
                <a:ea typeface="Microsoft YaHei"/>
              </a:rPr>
              <a:t>itinerary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56432" y="987552"/>
            <a:ext cx="1133856" cy="411480"/>
          </a:xfrm>
          <a:prstGeom prst="roundRect">
            <a:avLst>
              <a:gd name="adj" fmla="val 50000"/>
            </a:avLst>
          </a:prstGeom>
          <a:solidFill>
            <a:srgbClr val="4A90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Arial"/>
                <a:ea typeface="Microsoft YaHei"/>
              </a:rPr>
              <a:t>Welcome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681728" y="987552"/>
            <a:ext cx="1243584" cy="411480"/>
          </a:xfrm>
          <a:prstGeom prst="roundRect">
            <a:avLst>
              <a:gd name="adj" fmla="val 50000"/>
            </a:avLst>
          </a:prstGeom>
          <a:solidFill>
            <a:srgbClr val="3CC4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Arial"/>
                <a:ea typeface="Microsoft YaHei"/>
              </a:rPr>
              <a:t>schedule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016752" y="987552"/>
            <a:ext cx="914400" cy="411480"/>
          </a:xfrm>
          <a:prstGeom prst="roundRect">
            <a:avLst>
              <a:gd name="adj" fmla="val 50000"/>
            </a:avLst>
          </a:prstGeom>
          <a:solidFill>
            <a:srgbClr val="FFC8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Arial"/>
                <a:ea typeface="Microsoft YaHei"/>
              </a:rPr>
              <a:t>Wi-Fi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022592" y="987552"/>
            <a:ext cx="914400" cy="411480"/>
          </a:xfrm>
          <a:prstGeom prst="roundRect">
            <a:avLst>
              <a:gd name="adj" fmla="val 50000"/>
            </a:avLst>
          </a:prstGeom>
          <a:solidFill>
            <a:srgbClr val="9B6B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Arial"/>
                <a:ea typeface="Microsoft YaHei"/>
              </a:rPr>
              <a:t>drink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28432" y="987552"/>
            <a:ext cx="804672" cy="411480"/>
          </a:xfrm>
          <a:prstGeom prst="roundRect">
            <a:avLst>
              <a:gd name="adj" fmla="val 50000"/>
            </a:avLst>
          </a:prstGeom>
          <a:solidFill>
            <a:srgbClr val="FF6B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Arial"/>
                <a:ea typeface="Microsoft YaHei"/>
              </a:rPr>
              <a:t>home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1600200"/>
            <a:ext cx="11094415" cy="605028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5800" y="1600200"/>
            <a:ext cx="8076895" cy="6050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2000" b="0">
                <a:solidFill>
                  <a:srgbClr val="1F2A44"/>
                </a:solidFill>
                <a:latin typeface="Arial"/>
                <a:ea typeface="Microsoft YaHei"/>
              </a:rPr>
              <a:t>1.  “Good morning, Mr Davis. _______ to our office.”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082735" y="1655064"/>
            <a:ext cx="2468880" cy="495300"/>
          </a:xfrm>
          <a:prstGeom prst="roundRect">
            <a:avLst>
              <a:gd name="adj" fmla="val 50000"/>
            </a:avLst>
          </a:prstGeom>
          <a:solidFill>
            <a:srgbClr val="3CC4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FFFFFF"/>
                </a:solidFill>
                <a:latin typeface="Arial"/>
                <a:ea typeface="Microsoft YaHei"/>
              </a:rPr>
              <a:t>Welcome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2278380"/>
            <a:ext cx="11094415" cy="605028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2278380"/>
            <a:ext cx="8076895" cy="6050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2000" b="0">
                <a:solidFill>
                  <a:srgbClr val="1F2A44"/>
                </a:solidFill>
                <a:latin typeface="Arial"/>
                <a:ea typeface="Microsoft YaHei"/>
              </a:rPr>
              <a:t>2.  Would you like something to _______?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082735" y="2333244"/>
            <a:ext cx="2468880" cy="495300"/>
          </a:xfrm>
          <a:prstGeom prst="roundRect">
            <a:avLst>
              <a:gd name="adj" fmla="val 50000"/>
            </a:avLst>
          </a:prstGeom>
          <a:solidFill>
            <a:srgbClr val="3CC4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FFFFFF"/>
                </a:solidFill>
                <a:latin typeface="Arial"/>
                <a:ea typeface="Microsoft YaHei"/>
              </a:rPr>
              <a:t>drink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8640" y="2956560"/>
            <a:ext cx="11094415" cy="605028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85800" y="2956560"/>
            <a:ext cx="8076895" cy="6050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2000" b="0">
                <a:solidFill>
                  <a:srgbClr val="1F2A44"/>
                </a:solidFill>
                <a:latin typeface="Arial"/>
                <a:ea typeface="Microsoft YaHei"/>
              </a:rPr>
              <a:t>3.  Please make yourself at _______. I’ll be back in a minute.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082735" y="3011424"/>
            <a:ext cx="2468880" cy="495300"/>
          </a:xfrm>
          <a:prstGeom prst="roundRect">
            <a:avLst>
              <a:gd name="adj" fmla="val 50000"/>
            </a:avLst>
          </a:prstGeom>
          <a:solidFill>
            <a:srgbClr val="3CC4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FFFFFF"/>
                </a:solidFill>
                <a:latin typeface="Arial"/>
                <a:ea typeface="Microsoft YaHei"/>
              </a:rPr>
              <a:t>home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48640" y="3634740"/>
            <a:ext cx="11094415" cy="605028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85800" y="3634740"/>
            <a:ext cx="8076895" cy="6050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2000" b="0">
                <a:solidFill>
                  <a:srgbClr val="1F2A44"/>
                </a:solidFill>
                <a:latin typeface="Arial"/>
                <a:ea typeface="Microsoft YaHei"/>
              </a:rPr>
              <a:t>4.  The guest _______ password is on this card.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082735" y="3689604"/>
            <a:ext cx="2468880" cy="495300"/>
          </a:xfrm>
          <a:prstGeom prst="roundRect">
            <a:avLst>
              <a:gd name="adj" fmla="val 50000"/>
            </a:avLst>
          </a:prstGeom>
          <a:solidFill>
            <a:srgbClr val="3CC4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FFFFFF"/>
                </a:solidFill>
                <a:latin typeface="Arial"/>
                <a:ea typeface="Microsoft YaHei"/>
              </a:rPr>
              <a:t>Wi-Fi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48640" y="4312920"/>
            <a:ext cx="11094415" cy="605028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85800" y="4312920"/>
            <a:ext cx="8076895" cy="6050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2000" b="0">
                <a:solidFill>
                  <a:srgbClr val="1F2A44"/>
                </a:solidFill>
                <a:latin typeface="Arial"/>
                <a:ea typeface="Microsoft YaHei"/>
              </a:rPr>
              <a:t>5.  I’ve sent you the _______ for your visit.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082735" y="4367784"/>
            <a:ext cx="2468880" cy="495300"/>
          </a:xfrm>
          <a:prstGeom prst="roundRect">
            <a:avLst>
              <a:gd name="adj" fmla="val 50000"/>
            </a:avLst>
          </a:prstGeom>
          <a:solidFill>
            <a:srgbClr val="3CC4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FFFFFF"/>
                </a:solidFill>
                <a:latin typeface="Arial"/>
                <a:ea typeface="Microsoft YaHei"/>
              </a:rPr>
              <a:t>itinerary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48640" y="4991100"/>
            <a:ext cx="11094415" cy="605028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85800" y="4991100"/>
            <a:ext cx="8076895" cy="6050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2000" b="0">
                <a:solidFill>
                  <a:srgbClr val="1F2A44"/>
                </a:solidFill>
                <a:latin typeface="Arial"/>
                <a:ea typeface="Microsoft YaHei"/>
              </a:rPr>
              <a:t>6.  We’re running a little behind _______.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9082735" y="5045964"/>
            <a:ext cx="2468880" cy="495300"/>
          </a:xfrm>
          <a:prstGeom prst="roundRect">
            <a:avLst>
              <a:gd name="adj" fmla="val 50000"/>
            </a:avLst>
          </a:prstGeom>
          <a:solidFill>
            <a:srgbClr val="3CC4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FFFFFF"/>
                </a:solidFill>
                <a:latin typeface="Arial"/>
                <a:ea typeface="Microsoft YaHei"/>
              </a:rPr>
              <a:t>schedule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48640" y="5760720"/>
            <a:ext cx="11094415" cy="502920"/>
          </a:xfrm>
          <a:prstGeom prst="roundRect">
            <a:avLst>
              <a:gd name="adj" fmla="val 30000"/>
            </a:avLst>
          </a:prstGeom>
          <a:solidFill>
            <a:srgbClr val="FFE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1F2A44"/>
                </a:solidFill>
                <a:latin typeface="Arial"/>
                <a:ea typeface="Microsoft YaHei"/>
              </a:rPr>
              <a:t>⚠️ 拼写): itinerary (not “itinary”), schedule (UK: /ˈʃedjuːl/, US: /ˈskedʒuːl/), restroom (one word), Wi-Fi (not “wifi” in formal writing).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" fill="hold">
                      <p:stCondLst>
                        <p:cond delay="indefinite"/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9B6B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8442656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2200" b="1">
                <a:solidFill>
                  <a:srgbClr val="1F2A44"/>
                </a:solidFill>
                <a:latin typeface="Arial"/>
                <a:ea typeface="Microsoft YaHei"/>
              </a:rPr>
              <a:t>🎭 Role Play · Welcoming a visitor and showing the office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74175" y="438912"/>
            <a:ext cx="2560320" cy="475488"/>
          </a:xfrm>
          <a:prstGeom prst="roundRect">
            <a:avLst>
              <a:gd name="adj" fmla="val 50000"/>
            </a:avLst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3152" rIns="73152"/>
          <a:lstStyle/>
          <a:p>
            <a:pPr algn="ctr">
              <a:spcAft>
                <a:spcPts val="200"/>
              </a:spcAft>
            </a:pPr>
            <a:r>
              <a:rPr sz="1300" b="1">
                <a:solidFill>
                  <a:srgbClr val="FFFFFF"/>
                </a:solidFill>
                <a:latin typeface="Arial"/>
                <a:ea typeface="Microsoft YaHei"/>
              </a:rPr>
              <a:t>03 Role play 角色扮演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19088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100" b="0">
                <a:solidFill>
                  <a:srgbClr val="5F677A"/>
                </a:solidFill>
                <a:latin typeface="Arial"/>
                <a:ea typeface="Microsoft YaHei"/>
              </a:rPr>
              <a:t>Business English · Level 4 · Unit 3 · Lesson 07 Company visitors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28655" y="6419088"/>
            <a:ext cx="914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  <a:spcAft>
                <a:spcPts val="800"/>
              </a:spcAft>
            </a:pPr>
            <a:r>
              <a:rPr sz="1100" b="0">
                <a:solidFill>
                  <a:srgbClr val="5F677A"/>
                </a:solidFill>
                <a:latin typeface="Arial"/>
                <a:ea typeface="Microsoft YaHei"/>
              </a:rPr>
              <a:t>40</a:t>
            </a:r>
          </a:p>
        </p:txBody>
      </p:sp>
      <p:sp>
        <p:nvSpPr>
          <p:cNvPr id="7" name="Rounded Rectangle 6">
            <a:hlinkClick action="ppaction://hlinksldjump" r:id="rId2"/>
          </p:cNvPr>
          <p:cNvSpPr/>
          <p:nvPr/>
        </p:nvSpPr>
        <p:spPr>
          <a:xfrm>
            <a:off x="9677095" y="6382512"/>
            <a:ext cx="960120" cy="329184"/>
          </a:xfrm>
          <a:prstGeom prst="roundRect">
            <a:avLst>
              <a:gd name="adj" fmla="val 50000"/>
            </a:avLst>
          </a:prstGeom>
          <a:solidFill>
            <a:srgbClr val="FFE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Aft>
                <a:spcPts val="200"/>
              </a:spcAft>
            </a:pPr>
            <a:r>
              <a:rPr sz="1100" b="1">
                <a:solidFill>
                  <a:srgbClr val="1F2A44"/>
                </a:solidFill>
                <a:latin typeface="Arial"/>
                <a:ea typeface="Microsoft YaHei"/>
              </a:rPr>
              <a:t>🗺 Map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960120"/>
            <a:ext cx="11094415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500" b="0">
                <a:solidFill>
                  <a:srgbClr val="5F677A"/>
                </a:solidFill>
                <a:latin typeface="Arial"/>
                <a:ea typeface="Microsoft YaHei"/>
              </a:rPr>
              <a:t>迎接访客并带参观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463040"/>
            <a:ext cx="11094415" cy="14630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31750">
            <a:solidFill>
              <a:srgbClr val="9B6B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5F677A"/>
                </a:solidFill>
                <a:latin typeface="Arial"/>
                <a:ea typeface="Microsoft YaHei"/>
              </a:rPr>
              <a:t>📍 Situation 情景</a:t>
            </a:r>
          </a:p>
          <a:p>
            <a:pPr algn="l">
              <a:spcAft>
                <a:spcPts val="200"/>
              </a:spcAft>
            </a:pPr>
            <a:r>
              <a:rPr sz="2400" b="1">
                <a:solidFill>
                  <a:srgbClr val="1F2A44"/>
                </a:solidFill>
                <a:latin typeface="Arial"/>
                <a:ea typeface="Microsoft YaHei"/>
              </a:rPr>
              <a:t>Ms Laura Kim from your Korean partner company arrives. You are her host and you show her around before the meeting.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3200400"/>
            <a:ext cx="5410047" cy="21945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777240" y="3429000"/>
            <a:ext cx="1097280" cy="1097280"/>
          </a:xfrm>
          <a:prstGeom prst="ellipse">
            <a:avLst/>
          </a:prstGeom>
          <a:solidFill>
            <a:srgbClr val="FF6B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3152" rIns="73152"/>
          <a:lstStyle/>
          <a:p>
            <a:pPr algn="ctr">
              <a:spcAft>
                <a:spcPts val="200"/>
              </a:spcAft>
            </a:pPr>
            <a:r>
              <a:rPr sz="3600" b="1">
                <a:solidFill>
                  <a:srgbClr val="FFFFFF"/>
                </a:solidFill>
                <a:latin typeface="Arial"/>
                <a:ea typeface="Microsoft YaHei"/>
              </a:rPr>
              <a:t>👔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11680" y="3291840"/>
            <a:ext cx="3809847" cy="2011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400" b="1">
                <a:solidFill>
                  <a:srgbClr val="FF6B5B"/>
                </a:solidFill>
                <a:latin typeface="Arial"/>
                <a:ea typeface="Microsoft YaHei"/>
              </a:rPr>
              <a:t>Role A</a:t>
            </a:r>
          </a:p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2000" b="1">
                <a:solidFill>
                  <a:srgbClr val="1F2A44"/>
                </a:solidFill>
                <a:latin typeface="Arial"/>
                <a:ea typeface="Microsoft YaHei"/>
              </a:rPr>
              <a:t>Ben Zhou, host (Sales Manager)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33007" y="3200400"/>
            <a:ext cx="5410047" cy="21945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61607" y="3429000"/>
            <a:ext cx="1097280" cy="1097280"/>
          </a:xfrm>
          <a:prstGeom prst="ellipse">
            <a:avLst/>
          </a:prstGeom>
          <a:solidFill>
            <a:srgbClr val="4A90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3152" rIns="73152"/>
          <a:lstStyle/>
          <a:p>
            <a:pPr algn="ctr">
              <a:spcAft>
                <a:spcPts val="200"/>
              </a:spcAft>
            </a:pPr>
            <a:r>
              <a:rPr sz="3600" b="1">
                <a:solidFill>
                  <a:srgbClr val="FFFFFF"/>
                </a:solidFill>
                <a:latin typeface="Arial"/>
                <a:ea typeface="Microsoft YaHei"/>
              </a:rPr>
              <a:t>💼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96047" y="3291840"/>
            <a:ext cx="3809847" cy="2011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400" b="1">
                <a:solidFill>
                  <a:srgbClr val="4A90E2"/>
                </a:solidFill>
                <a:latin typeface="Arial"/>
                <a:ea typeface="Microsoft YaHei"/>
              </a:rPr>
              <a:t>Role B</a:t>
            </a:r>
          </a:p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2000" b="1">
                <a:solidFill>
                  <a:srgbClr val="1F2A44"/>
                </a:solidFill>
                <a:latin typeface="Arial"/>
                <a:ea typeface="Microsoft YaHei"/>
              </a:rPr>
              <a:t>Laura Kim, visitor</a:t>
            </a:r>
          </a:p>
        </p:txBody>
      </p:sp>
    </p:spTree>
  </p:cSld>
  <p:clrMapOvr>
    <a:masterClrMapping/>
  </p:clrMapOvr>
  <p:transition spd="med">
    <p:fade/>
  </p:transition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9B6B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8442656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2200" b="1">
                <a:solidFill>
                  <a:srgbClr val="1F2A44"/>
                </a:solidFill>
                <a:latin typeface="Arial"/>
                <a:ea typeface="Microsoft YaHei"/>
              </a:rPr>
              <a:t>🎭 Model Dialogue · Welcoming a visitor and showing the office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74175" y="438912"/>
            <a:ext cx="2560320" cy="475488"/>
          </a:xfrm>
          <a:prstGeom prst="roundRect">
            <a:avLst>
              <a:gd name="adj" fmla="val 50000"/>
            </a:avLst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3152" rIns="73152"/>
          <a:lstStyle/>
          <a:p>
            <a:pPr algn="ctr">
              <a:spcAft>
                <a:spcPts val="200"/>
              </a:spcAft>
            </a:pPr>
            <a:r>
              <a:rPr sz="1300" b="1">
                <a:solidFill>
                  <a:srgbClr val="FFFFFF"/>
                </a:solidFill>
                <a:latin typeface="Arial"/>
                <a:ea typeface="Microsoft YaHei"/>
              </a:rPr>
              <a:t>Part 1/2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19088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100" b="0">
                <a:solidFill>
                  <a:srgbClr val="5F677A"/>
                </a:solidFill>
                <a:latin typeface="Arial"/>
                <a:ea typeface="Microsoft YaHei"/>
              </a:rPr>
              <a:t>Business English · Level 4 · Unit 3 · Lesson 07 Company visitors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28655" y="6419088"/>
            <a:ext cx="914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  <a:spcAft>
                <a:spcPts val="800"/>
              </a:spcAft>
            </a:pPr>
            <a:r>
              <a:rPr sz="1100" b="0">
                <a:solidFill>
                  <a:srgbClr val="5F677A"/>
                </a:solidFill>
                <a:latin typeface="Arial"/>
                <a:ea typeface="Microsoft YaHei"/>
              </a:rPr>
              <a:t>41</a:t>
            </a:r>
          </a:p>
        </p:txBody>
      </p:sp>
      <p:sp>
        <p:nvSpPr>
          <p:cNvPr id="7" name="Rounded Rectangle 6">
            <a:hlinkClick action="ppaction://hlinksldjump" r:id="rId2"/>
          </p:cNvPr>
          <p:cNvSpPr/>
          <p:nvPr/>
        </p:nvSpPr>
        <p:spPr>
          <a:xfrm>
            <a:off x="9677095" y="6382512"/>
            <a:ext cx="960120" cy="329184"/>
          </a:xfrm>
          <a:prstGeom prst="roundRect">
            <a:avLst>
              <a:gd name="adj" fmla="val 50000"/>
            </a:avLst>
          </a:prstGeom>
          <a:solidFill>
            <a:srgbClr val="FFE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Aft>
                <a:spcPts val="200"/>
              </a:spcAft>
            </a:pPr>
            <a:r>
              <a:rPr sz="1100" b="1">
                <a:solidFill>
                  <a:srgbClr val="1F2A44"/>
                </a:solidFill>
                <a:latin typeface="Arial"/>
                <a:ea typeface="Microsoft YaHei"/>
              </a:rPr>
              <a:t>🗺 Map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325880"/>
            <a:ext cx="731520" cy="457200"/>
          </a:xfrm>
          <a:prstGeom prst="roundRect">
            <a:avLst>
              <a:gd name="adj" fmla="val 50000"/>
            </a:avLst>
          </a:prstGeom>
          <a:solidFill>
            <a:srgbClr val="FF6B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Arial"/>
                <a:ea typeface="Microsoft YaHei"/>
              </a:rPr>
              <a:t>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1764792"/>
            <a:ext cx="1280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800"/>
              </a:spcAft>
            </a:pPr>
            <a:r>
              <a:rPr sz="1000" b="0">
                <a:solidFill>
                  <a:srgbClr val="5F677A"/>
                </a:solidFill>
                <a:latin typeface="Arial"/>
                <a:ea typeface="Microsoft YaHei"/>
              </a:rPr>
              <a:t>Ben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463040" y="1325880"/>
            <a:ext cx="8595360" cy="780288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31750">
            <a:solidFill>
              <a:srgbClr val="FF6B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l">
              <a:spcAft>
                <a:spcPts val="200"/>
              </a:spcAft>
            </a:pPr>
            <a:r>
              <a:rPr sz="1900" b="1">
                <a:solidFill>
                  <a:srgbClr val="1F2A44"/>
                </a:solidFill>
                <a:latin typeface="Arial"/>
                <a:ea typeface="Microsoft YaHei"/>
              </a:rPr>
              <a:t>Laura, welcome to our Shanghai office! Thank you for making the trip.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911535" y="2197608"/>
            <a:ext cx="731520" cy="457200"/>
          </a:xfrm>
          <a:prstGeom prst="roundRect">
            <a:avLst>
              <a:gd name="adj" fmla="val 50000"/>
            </a:avLst>
          </a:prstGeom>
          <a:solidFill>
            <a:srgbClr val="4A90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Arial"/>
                <a:ea typeface="Microsoft YaHei"/>
              </a:rPr>
              <a:t>B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37215" y="2636520"/>
            <a:ext cx="1280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800"/>
              </a:spcAft>
            </a:pPr>
            <a:r>
              <a:rPr sz="1000" b="0">
                <a:solidFill>
                  <a:srgbClr val="5F677A"/>
                </a:solidFill>
                <a:latin typeface="Arial"/>
                <a:ea typeface="Microsoft YaHei"/>
              </a:rPr>
              <a:t>Laura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133295" y="2197608"/>
            <a:ext cx="8595360" cy="490728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31750">
            <a:solidFill>
              <a:srgbClr val="4A90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l">
              <a:spcAft>
                <a:spcPts val="200"/>
              </a:spcAft>
            </a:pPr>
            <a:r>
              <a:rPr sz="1900" b="1">
                <a:solidFill>
                  <a:srgbClr val="1F2A44"/>
                </a:solidFill>
                <a:latin typeface="Arial"/>
                <a:ea typeface="Microsoft YaHei"/>
              </a:rPr>
              <a:t>Thanks, Ben. It’s good to be here. Your office is lovely.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2779776"/>
            <a:ext cx="731520" cy="457200"/>
          </a:xfrm>
          <a:prstGeom prst="roundRect">
            <a:avLst>
              <a:gd name="adj" fmla="val 50000"/>
            </a:avLst>
          </a:prstGeom>
          <a:solidFill>
            <a:srgbClr val="FF6B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Arial"/>
                <a:ea typeface="Microsoft YaHei"/>
              </a:rPr>
              <a:t>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4320" y="3218688"/>
            <a:ext cx="1280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800"/>
              </a:spcAft>
            </a:pPr>
            <a:r>
              <a:rPr sz="1000" b="0">
                <a:solidFill>
                  <a:srgbClr val="5F677A"/>
                </a:solidFill>
                <a:latin typeface="Arial"/>
                <a:ea typeface="Microsoft YaHei"/>
              </a:rPr>
              <a:t> 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463040" y="2779776"/>
            <a:ext cx="8595360" cy="780288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31750">
            <a:solidFill>
              <a:srgbClr val="FF6B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l">
              <a:spcAft>
                <a:spcPts val="200"/>
              </a:spcAft>
            </a:pPr>
            <a:r>
              <a:rPr sz="1900" b="1">
                <a:solidFill>
                  <a:srgbClr val="1F2A44"/>
                </a:solidFill>
                <a:latin typeface="Arial"/>
                <a:ea typeface="Microsoft YaHei"/>
              </a:rPr>
              <a:t>Thank you. Would you like something to drink before we start? We have tea, coffee and water.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911535" y="3651504"/>
            <a:ext cx="731520" cy="457200"/>
          </a:xfrm>
          <a:prstGeom prst="roundRect">
            <a:avLst>
              <a:gd name="adj" fmla="val 50000"/>
            </a:avLst>
          </a:prstGeom>
          <a:solidFill>
            <a:srgbClr val="4A90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Arial"/>
                <a:ea typeface="Microsoft YaHei"/>
              </a:rPr>
              <a:t>B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637215" y="4090416"/>
            <a:ext cx="1280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800"/>
              </a:spcAft>
            </a:pPr>
            <a:r>
              <a:rPr sz="1000" b="0">
                <a:solidFill>
                  <a:srgbClr val="5F677A"/>
                </a:solidFill>
                <a:latin typeface="Arial"/>
                <a:ea typeface="Microsoft YaHei"/>
              </a:rPr>
              <a:t> 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133295" y="3651504"/>
            <a:ext cx="8595360" cy="490728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31750">
            <a:solidFill>
              <a:srgbClr val="4A90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l">
              <a:spcAft>
                <a:spcPts val="200"/>
              </a:spcAft>
            </a:pPr>
            <a:r>
              <a:rPr sz="1900" b="1">
                <a:solidFill>
                  <a:srgbClr val="1F2A44"/>
                </a:solidFill>
                <a:latin typeface="Arial"/>
                <a:ea typeface="Microsoft YaHei"/>
              </a:rPr>
              <a:t>A green tea would be great.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4233672"/>
            <a:ext cx="731520" cy="457200"/>
          </a:xfrm>
          <a:prstGeom prst="roundRect">
            <a:avLst>
              <a:gd name="adj" fmla="val 50000"/>
            </a:avLst>
          </a:prstGeom>
          <a:solidFill>
            <a:srgbClr val="FF6B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Arial"/>
                <a:ea typeface="Microsoft YaHei"/>
              </a:rPr>
              <a:t>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74320" y="4672584"/>
            <a:ext cx="1280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800"/>
              </a:spcAft>
            </a:pPr>
            <a:r>
              <a:rPr sz="1000" b="0">
                <a:solidFill>
                  <a:srgbClr val="5F677A"/>
                </a:solidFill>
                <a:latin typeface="Arial"/>
                <a:ea typeface="Microsoft YaHei"/>
              </a:rPr>
              <a:t> 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463040" y="4233672"/>
            <a:ext cx="8595360" cy="780288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31750">
            <a:solidFill>
              <a:srgbClr val="FF6B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l">
              <a:spcAft>
                <a:spcPts val="200"/>
              </a:spcAft>
            </a:pPr>
            <a:r>
              <a:rPr sz="1900" b="1">
                <a:solidFill>
                  <a:srgbClr val="1F2A44"/>
                </a:solidFill>
                <a:latin typeface="Arial"/>
                <a:ea typeface="Microsoft YaHei"/>
              </a:rPr>
              <a:t>Of course. Please make yourself at home. Let me show you around while the tea is brewing. This way, please.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0911535" y="5105400"/>
            <a:ext cx="731520" cy="457200"/>
          </a:xfrm>
          <a:prstGeom prst="roundRect">
            <a:avLst>
              <a:gd name="adj" fmla="val 50000"/>
            </a:avLst>
          </a:prstGeom>
          <a:solidFill>
            <a:srgbClr val="4A90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Arial"/>
                <a:ea typeface="Microsoft YaHei"/>
              </a:rPr>
              <a:t>B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637215" y="5544312"/>
            <a:ext cx="1280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800"/>
              </a:spcAft>
            </a:pPr>
            <a:r>
              <a:rPr sz="1000" b="0">
                <a:solidFill>
                  <a:srgbClr val="5F677A"/>
                </a:solidFill>
                <a:latin typeface="Arial"/>
                <a:ea typeface="Microsoft YaHei"/>
              </a:rPr>
              <a:t> 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2133295" y="5105400"/>
            <a:ext cx="8595360" cy="490728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31750">
            <a:solidFill>
              <a:srgbClr val="4A90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l">
              <a:spcAft>
                <a:spcPts val="200"/>
              </a:spcAft>
            </a:pPr>
            <a:r>
              <a:rPr sz="1900" b="1">
                <a:solidFill>
                  <a:srgbClr val="1F2A44"/>
                </a:solidFill>
                <a:latin typeface="Arial"/>
                <a:ea typeface="Microsoft YaHei"/>
              </a:rPr>
              <a:t>After you.</a:t>
            </a:r>
          </a:p>
        </p:txBody>
      </p:sp>
    </p:spTree>
  </p:cSld>
  <p:clrMapOvr>
    <a:masterClrMapping/>
  </p:clrMapOvr>
  <p:transition spd="med">
    <p:fade/>
  </p:transition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9B6B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8442656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2200" b="1">
                <a:solidFill>
                  <a:srgbClr val="1F2A44"/>
                </a:solidFill>
                <a:latin typeface="Arial"/>
                <a:ea typeface="Microsoft YaHei"/>
              </a:rPr>
              <a:t>🎭 Model Dialogue · Welcoming a visitor and showing the office (cont.)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74175" y="438912"/>
            <a:ext cx="2560320" cy="475488"/>
          </a:xfrm>
          <a:prstGeom prst="roundRect">
            <a:avLst>
              <a:gd name="adj" fmla="val 50000"/>
            </a:avLst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3152" rIns="73152"/>
          <a:lstStyle/>
          <a:p>
            <a:pPr algn="ctr">
              <a:spcAft>
                <a:spcPts val="200"/>
              </a:spcAft>
            </a:pPr>
            <a:r>
              <a:rPr sz="1300" b="1">
                <a:solidFill>
                  <a:srgbClr val="FFFFFF"/>
                </a:solidFill>
                <a:latin typeface="Arial"/>
                <a:ea typeface="Microsoft YaHei"/>
              </a:rPr>
              <a:t>Part 2/2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19088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100" b="0">
                <a:solidFill>
                  <a:srgbClr val="5F677A"/>
                </a:solidFill>
                <a:latin typeface="Arial"/>
                <a:ea typeface="Microsoft YaHei"/>
              </a:rPr>
              <a:t>Business English · Level 4 · Unit 3 · Lesson 07 Company visitors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28655" y="6419088"/>
            <a:ext cx="914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  <a:spcAft>
                <a:spcPts val="800"/>
              </a:spcAft>
            </a:pPr>
            <a:r>
              <a:rPr sz="1100" b="0">
                <a:solidFill>
                  <a:srgbClr val="5F677A"/>
                </a:solidFill>
                <a:latin typeface="Arial"/>
                <a:ea typeface="Microsoft YaHei"/>
              </a:rPr>
              <a:t>42</a:t>
            </a:r>
          </a:p>
        </p:txBody>
      </p:sp>
      <p:sp>
        <p:nvSpPr>
          <p:cNvPr id="7" name="Rounded Rectangle 6">
            <a:hlinkClick action="ppaction://hlinksldjump" r:id="rId2"/>
          </p:cNvPr>
          <p:cNvSpPr/>
          <p:nvPr/>
        </p:nvSpPr>
        <p:spPr>
          <a:xfrm>
            <a:off x="9677095" y="6382512"/>
            <a:ext cx="960120" cy="329184"/>
          </a:xfrm>
          <a:prstGeom prst="roundRect">
            <a:avLst>
              <a:gd name="adj" fmla="val 50000"/>
            </a:avLst>
          </a:prstGeom>
          <a:solidFill>
            <a:srgbClr val="FFE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Aft>
                <a:spcPts val="200"/>
              </a:spcAft>
            </a:pPr>
            <a:r>
              <a:rPr sz="1100" b="1">
                <a:solidFill>
                  <a:srgbClr val="1F2A44"/>
                </a:solidFill>
                <a:latin typeface="Arial"/>
                <a:ea typeface="Microsoft YaHei"/>
              </a:rPr>
              <a:t>🗺 Map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325880"/>
            <a:ext cx="731520" cy="457200"/>
          </a:xfrm>
          <a:prstGeom prst="roundRect">
            <a:avLst>
              <a:gd name="adj" fmla="val 50000"/>
            </a:avLst>
          </a:prstGeom>
          <a:solidFill>
            <a:srgbClr val="FF6B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Arial"/>
                <a:ea typeface="Microsoft YaHei"/>
              </a:rPr>
              <a:t>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1764792"/>
            <a:ext cx="1280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800"/>
              </a:spcAft>
            </a:pPr>
            <a:r>
              <a:rPr sz="1000" b="0">
                <a:solidFill>
                  <a:srgbClr val="5F677A"/>
                </a:solidFill>
                <a:latin typeface="Arial"/>
                <a:ea typeface="Microsoft YaHei"/>
              </a:rPr>
              <a:t> 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463040" y="1325880"/>
            <a:ext cx="8595360" cy="780288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31750">
            <a:solidFill>
              <a:srgbClr val="FF6B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l">
              <a:spcAft>
                <a:spcPts val="200"/>
              </a:spcAft>
            </a:pPr>
            <a:r>
              <a:rPr sz="1900" b="1">
                <a:solidFill>
                  <a:srgbClr val="1F2A44"/>
                </a:solidFill>
                <a:latin typeface="Arial"/>
                <a:ea typeface="Microsoft YaHei"/>
              </a:rPr>
              <a:t>This is our open-plan area, where the sales team sits. Over there is the kitchen. Please help yourself to snacks at any time.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911535" y="2197608"/>
            <a:ext cx="731520" cy="457200"/>
          </a:xfrm>
          <a:prstGeom prst="roundRect">
            <a:avLst>
              <a:gd name="adj" fmla="val 50000"/>
            </a:avLst>
          </a:prstGeom>
          <a:solidFill>
            <a:srgbClr val="4A90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Arial"/>
                <a:ea typeface="Microsoft YaHei"/>
              </a:rPr>
              <a:t>B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37215" y="2636520"/>
            <a:ext cx="1280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800"/>
              </a:spcAft>
            </a:pPr>
            <a:r>
              <a:rPr sz="1000" b="0">
                <a:solidFill>
                  <a:srgbClr val="5F677A"/>
                </a:solidFill>
                <a:latin typeface="Arial"/>
                <a:ea typeface="Microsoft YaHei"/>
              </a:rPr>
              <a:t> 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133295" y="2197608"/>
            <a:ext cx="8595360" cy="780288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31750">
            <a:solidFill>
              <a:srgbClr val="4A90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l">
              <a:spcAft>
                <a:spcPts val="200"/>
              </a:spcAft>
            </a:pPr>
            <a:r>
              <a:rPr sz="1900" b="1">
                <a:solidFill>
                  <a:srgbClr val="1F2A44"/>
                </a:solidFill>
                <a:latin typeface="Arial"/>
                <a:ea typeface="Microsoft YaHei"/>
              </a:rPr>
              <a:t>That’s very kind. Could I get on your Wi-Fi? I need to check my email.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3069336"/>
            <a:ext cx="731520" cy="457200"/>
          </a:xfrm>
          <a:prstGeom prst="roundRect">
            <a:avLst>
              <a:gd name="adj" fmla="val 50000"/>
            </a:avLst>
          </a:prstGeom>
          <a:solidFill>
            <a:srgbClr val="FF6B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Arial"/>
                <a:ea typeface="Microsoft YaHei"/>
              </a:rPr>
              <a:t>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4320" y="3508248"/>
            <a:ext cx="1280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800"/>
              </a:spcAft>
            </a:pPr>
            <a:r>
              <a:rPr sz="1000" b="0">
                <a:solidFill>
                  <a:srgbClr val="5F677A"/>
                </a:solidFill>
                <a:latin typeface="Arial"/>
                <a:ea typeface="Microsoft YaHei"/>
              </a:rPr>
              <a:t> 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463040" y="3069336"/>
            <a:ext cx="8595360" cy="780288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31750">
            <a:solidFill>
              <a:srgbClr val="FF6B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l">
              <a:spcAft>
                <a:spcPts val="200"/>
              </a:spcAft>
            </a:pPr>
            <a:r>
              <a:rPr sz="1900" b="1">
                <a:solidFill>
                  <a:srgbClr val="1F2A44"/>
                </a:solidFill>
                <a:latin typeface="Arial"/>
                <a:ea typeface="Microsoft YaHei"/>
              </a:rPr>
              <a:t>Sure. The guest Wi-Fi password is on this card. And the restrooms are at the end of the corridor, on your left.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911535" y="3941064"/>
            <a:ext cx="731520" cy="457200"/>
          </a:xfrm>
          <a:prstGeom prst="roundRect">
            <a:avLst>
              <a:gd name="adj" fmla="val 50000"/>
            </a:avLst>
          </a:prstGeom>
          <a:solidFill>
            <a:srgbClr val="4A90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Arial"/>
                <a:ea typeface="Microsoft YaHei"/>
              </a:rPr>
              <a:t>B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637215" y="4379976"/>
            <a:ext cx="1280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800"/>
              </a:spcAft>
            </a:pPr>
            <a:r>
              <a:rPr sz="1000" b="0">
                <a:solidFill>
                  <a:srgbClr val="5F677A"/>
                </a:solidFill>
                <a:latin typeface="Arial"/>
                <a:ea typeface="Microsoft YaHei"/>
              </a:rPr>
              <a:t> 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133295" y="3941064"/>
            <a:ext cx="8595360" cy="490728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31750">
            <a:solidFill>
              <a:srgbClr val="4A90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l">
              <a:spcAft>
                <a:spcPts val="200"/>
              </a:spcAft>
            </a:pPr>
            <a:r>
              <a:rPr sz="1900" b="1">
                <a:solidFill>
                  <a:srgbClr val="1F2A44"/>
                </a:solidFill>
                <a:latin typeface="Arial"/>
                <a:ea typeface="Microsoft YaHei"/>
              </a:rPr>
              <a:t>Perfect, thanks.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4523232"/>
            <a:ext cx="731520" cy="457200"/>
          </a:xfrm>
          <a:prstGeom prst="roundRect">
            <a:avLst>
              <a:gd name="adj" fmla="val 50000"/>
            </a:avLst>
          </a:prstGeom>
          <a:solidFill>
            <a:srgbClr val="FF6B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Arial"/>
                <a:ea typeface="Microsoft YaHei"/>
              </a:rPr>
              <a:t>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74320" y="4962144"/>
            <a:ext cx="1280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800"/>
              </a:spcAft>
            </a:pPr>
            <a:r>
              <a:rPr sz="1000" b="0">
                <a:solidFill>
                  <a:srgbClr val="5F677A"/>
                </a:solidFill>
                <a:latin typeface="Arial"/>
                <a:ea typeface="Microsoft YaHei"/>
              </a:rPr>
              <a:t> 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463040" y="4523232"/>
            <a:ext cx="8595360" cy="780288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31750">
            <a:solidFill>
              <a:srgbClr val="FF6B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l">
              <a:spcAft>
                <a:spcPts val="200"/>
              </a:spcAft>
            </a:pPr>
            <a:r>
              <a:rPr sz="1900" b="1">
                <a:solidFill>
                  <a:srgbClr val="1F2A44"/>
                </a:solidFill>
                <a:latin typeface="Arial"/>
                <a:ea typeface="Microsoft YaHei"/>
              </a:rPr>
              <a:t>Now, here’s the itinerary. We’ll start with the meeting at ten, then have lunch, and finish with a tour of the warehouse.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0911535" y="5394960"/>
            <a:ext cx="731520" cy="457200"/>
          </a:xfrm>
          <a:prstGeom prst="roundRect">
            <a:avLst>
              <a:gd name="adj" fmla="val 50000"/>
            </a:avLst>
          </a:prstGeom>
          <a:solidFill>
            <a:srgbClr val="4A90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Arial"/>
                <a:ea typeface="Microsoft YaHei"/>
              </a:rPr>
              <a:t>B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637215" y="5833872"/>
            <a:ext cx="1280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800"/>
              </a:spcAft>
            </a:pPr>
            <a:r>
              <a:rPr sz="1000" b="0">
                <a:solidFill>
                  <a:srgbClr val="5F677A"/>
                </a:solidFill>
                <a:latin typeface="Arial"/>
                <a:ea typeface="Microsoft YaHei"/>
              </a:rPr>
              <a:t> 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2133295" y="5394960"/>
            <a:ext cx="8595360" cy="490728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31750">
            <a:solidFill>
              <a:srgbClr val="4A90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l">
              <a:spcAft>
                <a:spcPts val="200"/>
              </a:spcAft>
            </a:pPr>
            <a:r>
              <a:rPr sz="1900" b="1">
                <a:solidFill>
                  <a:srgbClr val="1F2A44"/>
                </a:solidFill>
                <a:latin typeface="Arial"/>
                <a:ea typeface="Microsoft YaHei"/>
              </a:rPr>
              <a:t>That sounds great.</a:t>
            </a:r>
          </a:p>
        </p:txBody>
      </p:sp>
    </p:spTree>
  </p:cSld>
  <p:clrMapOvr>
    <a:masterClrMapping/>
  </p:clrMapOvr>
  <p:transition spd="med">
    <p:fade/>
  </p:transition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FC8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8442656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2200" b="1">
                <a:solidFill>
                  <a:srgbClr val="1F2A44"/>
                </a:solidFill>
                <a:latin typeface="Arial"/>
                <a:ea typeface="Microsoft YaHei"/>
              </a:rPr>
              <a:t>🎯 Your Turn · Welcoming a visitor and showing the office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74175" y="438912"/>
            <a:ext cx="2560320" cy="475488"/>
          </a:xfrm>
          <a:prstGeom prst="roundRect">
            <a:avLst>
              <a:gd name="adj" fmla="val 50000"/>
            </a:avLst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3152" rIns="73152"/>
          <a:lstStyle/>
          <a:p>
            <a:pPr algn="ctr">
              <a:spcAft>
                <a:spcPts val="200"/>
              </a:spcAft>
            </a:pPr>
            <a:r>
              <a:rPr sz="1300" b="1">
                <a:solidFill>
                  <a:srgbClr val="FFFFFF"/>
                </a:solidFill>
                <a:latin typeface="Arial"/>
                <a:ea typeface="Microsoft YaHei"/>
              </a:rPr>
              <a:t>03 Role play 角色扮演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19088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100" b="0">
                <a:solidFill>
                  <a:srgbClr val="5F677A"/>
                </a:solidFill>
                <a:latin typeface="Arial"/>
                <a:ea typeface="Microsoft YaHei"/>
              </a:rPr>
              <a:t>Business English · Level 4 · Unit 3 · Lesson 07 Company visitors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28655" y="6419088"/>
            <a:ext cx="914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  <a:spcAft>
                <a:spcPts val="800"/>
              </a:spcAft>
            </a:pPr>
            <a:r>
              <a:rPr sz="1100" b="0">
                <a:solidFill>
                  <a:srgbClr val="5F677A"/>
                </a:solidFill>
                <a:latin typeface="Arial"/>
                <a:ea typeface="Microsoft YaHei"/>
              </a:rPr>
              <a:t>43</a:t>
            </a:r>
          </a:p>
        </p:txBody>
      </p:sp>
      <p:sp>
        <p:nvSpPr>
          <p:cNvPr id="7" name="Rounded Rectangle 6">
            <a:hlinkClick action="ppaction://hlinksldjump" r:id="rId2"/>
          </p:cNvPr>
          <p:cNvSpPr/>
          <p:nvPr/>
        </p:nvSpPr>
        <p:spPr>
          <a:xfrm>
            <a:off x="9677095" y="6382512"/>
            <a:ext cx="960120" cy="329184"/>
          </a:xfrm>
          <a:prstGeom prst="roundRect">
            <a:avLst>
              <a:gd name="adj" fmla="val 50000"/>
            </a:avLst>
          </a:prstGeom>
          <a:solidFill>
            <a:srgbClr val="FFE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Aft>
                <a:spcPts val="200"/>
              </a:spcAft>
            </a:pPr>
            <a:r>
              <a:rPr sz="1100" b="1">
                <a:solidFill>
                  <a:srgbClr val="1F2A44"/>
                </a:solidFill>
                <a:latin typeface="Arial"/>
                <a:ea typeface="Microsoft YaHei"/>
              </a:rPr>
              <a:t>🗺 Map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325880"/>
            <a:ext cx="2377440" cy="408432"/>
          </a:xfrm>
          <a:prstGeom prst="roundRect">
            <a:avLst>
              <a:gd name="adj" fmla="val 15000"/>
            </a:avLst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Arial"/>
                <a:ea typeface="Microsoft YaHei"/>
              </a:rPr>
              <a:t>Situation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017520" y="1325880"/>
            <a:ext cx="8625535" cy="408432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1F2A44"/>
                </a:solidFill>
                <a:latin typeface="Arial"/>
                <a:ea typeface="Microsoft YaHei"/>
              </a:rPr>
              <a:t>A visitor arrives at your company for a full day.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1807464"/>
            <a:ext cx="2377440" cy="408432"/>
          </a:xfrm>
          <a:prstGeom prst="roundRect">
            <a:avLst>
              <a:gd name="adj" fmla="val 15000"/>
            </a:avLst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Arial"/>
                <a:ea typeface="Microsoft YaHei"/>
              </a:rPr>
              <a:t>Your role (A)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017520" y="1807464"/>
            <a:ext cx="8625535" cy="408432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1F2A44"/>
                </a:solidFill>
                <a:latin typeface="Arial"/>
                <a:ea typeface="Microsoft YaHei"/>
              </a:rPr>
              <a:t>Host. Your name and job: ______________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2289048"/>
            <a:ext cx="2377440" cy="408432"/>
          </a:xfrm>
          <a:prstGeom prst="roundRect">
            <a:avLst>
              <a:gd name="adj" fmla="val 15000"/>
            </a:avLst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Arial"/>
                <a:ea typeface="Microsoft YaHei"/>
              </a:rPr>
              <a:t>Partner’s role (B)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017520" y="2289048"/>
            <a:ext cx="8625535" cy="408432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1F2A44"/>
                </a:solidFill>
                <a:latin typeface="Arial"/>
                <a:ea typeface="Microsoft YaHei"/>
              </a:rPr>
              <a:t>Visitor. Name, company and country: ______________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2770632"/>
            <a:ext cx="2377440" cy="652272"/>
          </a:xfrm>
          <a:prstGeom prst="roundRect">
            <a:avLst>
              <a:gd name="adj" fmla="val 15000"/>
            </a:avLst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Arial"/>
                <a:ea typeface="Microsoft YaHei"/>
              </a:rPr>
              <a:t>Must use (4 or more)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017520" y="2770632"/>
            <a:ext cx="8625535" cy="652272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1F2A44"/>
                </a:solidFill>
                <a:latin typeface="Arial"/>
                <a:ea typeface="Microsoft YaHei"/>
              </a:rPr>
              <a:t>Welcome to… · Let me show you around. · Make yourself at home. · Help yourself to… · itinerary · This way, please.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3496056"/>
            <a:ext cx="2377440" cy="652272"/>
          </a:xfrm>
          <a:prstGeom prst="roundRect">
            <a:avLst>
              <a:gd name="adj" fmla="val 15000"/>
            </a:avLst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Arial"/>
                <a:ea typeface="Microsoft YaHei"/>
              </a:rPr>
              <a:t>Goal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017520" y="3496056"/>
            <a:ext cx="8625535" cy="652272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1F2A44"/>
                </a:solidFill>
                <a:latin typeface="Arial"/>
                <a:ea typeface="Microsoft YaHei"/>
              </a:rPr>
              <a:t>Welcome, offer a drink, show 3 places, explain the day’s schedule. About 2 minutes.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4221480"/>
            <a:ext cx="2377440" cy="408432"/>
          </a:xfrm>
          <a:prstGeom prst="roundRect">
            <a:avLst>
              <a:gd name="adj" fmla="val 15000"/>
            </a:avLst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Arial"/>
                <a:ea typeface="Microsoft YaHei"/>
              </a:rPr>
              <a:t>My notes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017520" y="4221480"/>
            <a:ext cx="8625535" cy="408432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1F2A44"/>
                </a:solidFill>
                <a:latin typeface="Arial"/>
                <a:ea typeface="Microsoft YaHei"/>
              </a:rPr>
              <a:t>____________________________________________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4794504"/>
            <a:ext cx="11094415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500" b="1">
                <a:solidFill>
                  <a:srgbClr val="FF6B5B"/>
                </a:solidFill>
                <a:latin typeface="Arial"/>
                <a:ea typeface="Microsoft YaHei"/>
              </a:rPr>
              <a:t>🔥 Level-up challenges 进阶挑战 (click)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8640" y="5178552"/>
            <a:ext cx="3576218" cy="1039368"/>
          </a:xfrm>
          <a:prstGeom prst="roundRect">
            <a:avLst>
              <a:gd name="adj" fmla="val 12000"/>
            </a:avLst>
          </a:prstGeom>
          <a:solidFill>
            <a:srgbClr val="4A90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FFFFFF"/>
                </a:solidFill>
                <a:latin typeface="Arial"/>
                <a:ea typeface="Microsoft YaHei"/>
              </a:rPr>
              <a:t>Add one question about the visitor’s comfort: “Is the hotel all right?”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307738" y="5178552"/>
            <a:ext cx="3576218" cy="1039368"/>
          </a:xfrm>
          <a:prstGeom prst="roundRect">
            <a:avLst>
              <a:gd name="adj" fmla="val 12000"/>
            </a:avLst>
          </a:prstGeom>
          <a:solidFill>
            <a:srgbClr val="3CC4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FFFFFF"/>
                </a:solidFill>
                <a:latin typeface="Arial"/>
                <a:ea typeface="Microsoft YaHei"/>
              </a:rPr>
              <a:t>Your boss is running late. Explain: “I’m afraid Mr Lee is running a little behind schedule. He’ll join us in ten minutes.”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066836" y="5178552"/>
            <a:ext cx="3576218" cy="1039368"/>
          </a:xfrm>
          <a:prstGeom prst="roundRect">
            <a:avLst>
              <a:gd name="adj" fmla="val 12000"/>
            </a:avLst>
          </a:prstGeom>
          <a:solidFill>
            <a:srgbClr val="FFC8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FFFFFF"/>
                </a:solidFill>
                <a:latin typeface="Arial"/>
                <a:ea typeface="Microsoft YaHei"/>
              </a:rPr>
              <a:t>Give directions without pointing: “Go down the corridor, then turn right at the printer.”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" fill="hold">
                      <p:stCondLst>
                        <p:cond delay="indefinite"/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9B6B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8442656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3100" b="1">
                <a:solidFill>
                  <a:srgbClr val="1F2A44"/>
                </a:solidFill>
                <a:latin typeface="Arial"/>
                <a:ea typeface="Microsoft YaHei"/>
              </a:rPr>
              <a:t>🎭 Role Play · A visitor asks for help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74175" y="438912"/>
            <a:ext cx="2560320" cy="475488"/>
          </a:xfrm>
          <a:prstGeom prst="roundRect">
            <a:avLst>
              <a:gd name="adj" fmla="val 50000"/>
            </a:avLst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3152" rIns="73152"/>
          <a:lstStyle/>
          <a:p>
            <a:pPr algn="ctr">
              <a:spcAft>
                <a:spcPts val="200"/>
              </a:spcAft>
            </a:pPr>
            <a:r>
              <a:rPr sz="1300" b="1">
                <a:solidFill>
                  <a:srgbClr val="FFFFFF"/>
                </a:solidFill>
                <a:latin typeface="Arial"/>
                <a:ea typeface="Microsoft YaHei"/>
              </a:rPr>
              <a:t>03 Role play 角色扮演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19088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100" b="0">
                <a:solidFill>
                  <a:srgbClr val="5F677A"/>
                </a:solidFill>
                <a:latin typeface="Arial"/>
                <a:ea typeface="Microsoft YaHei"/>
              </a:rPr>
              <a:t>Business English · Level 4 · Unit 3 · Lesson 07 Company visitors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28655" y="6419088"/>
            <a:ext cx="914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  <a:spcAft>
                <a:spcPts val="800"/>
              </a:spcAft>
            </a:pPr>
            <a:r>
              <a:rPr sz="1100" b="0">
                <a:solidFill>
                  <a:srgbClr val="5F677A"/>
                </a:solidFill>
                <a:latin typeface="Arial"/>
                <a:ea typeface="Microsoft YaHei"/>
              </a:rPr>
              <a:t>44</a:t>
            </a:r>
          </a:p>
        </p:txBody>
      </p:sp>
      <p:sp>
        <p:nvSpPr>
          <p:cNvPr id="7" name="Rounded Rectangle 6">
            <a:hlinkClick action="ppaction://hlinksldjump" r:id="rId2"/>
          </p:cNvPr>
          <p:cNvSpPr/>
          <p:nvPr/>
        </p:nvSpPr>
        <p:spPr>
          <a:xfrm>
            <a:off x="9677095" y="6382512"/>
            <a:ext cx="960120" cy="329184"/>
          </a:xfrm>
          <a:prstGeom prst="roundRect">
            <a:avLst>
              <a:gd name="adj" fmla="val 50000"/>
            </a:avLst>
          </a:prstGeom>
          <a:solidFill>
            <a:srgbClr val="FFE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Aft>
                <a:spcPts val="200"/>
              </a:spcAft>
            </a:pPr>
            <a:r>
              <a:rPr sz="1100" b="1">
                <a:solidFill>
                  <a:srgbClr val="1F2A44"/>
                </a:solidFill>
                <a:latin typeface="Arial"/>
                <a:ea typeface="Microsoft YaHei"/>
              </a:rPr>
              <a:t>🗺 Map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960120"/>
            <a:ext cx="11094415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500" b="0">
                <a:solidFill>
                  <a:srgbClr val="5F677A"/>
                </a:solidFill>
                <a:latin typeface="Arial"/>
                <a:ea typeface="Microsoft YaHei"/>
              </a:rPr>
              <a:t>访客需要帮助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463040"/>
            <a:ext cx="11094415" cy="14630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31750">
            <a:solidFill>
              <a:srgbClr val="9B6B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5F677A"/>
                </a:solidFill>
                <a:latin typeface="Arial"/>
                <a:ea typeface="Microsoft YaHei"/>
              </a:rPr>
              <a:t>📍 Situation 情景</a:t>
            </a:r>
          </a:p>
          <a:p>
            <a:pPr algn="l">
              <a:spcAft>
                <a:spcPts val="200"/>
              </a:spcAft>
            </a:pPr>
            <a:r>
              <a:rPr sz="2400" b="1">
                <a:solidFill>
                  <a:srgbClr val="1F2A44"/>
                </a:solidFill>
                <a:latin typeface="Arial"/>
                <a:ea typeface="Microsoft YaHei"/>
              </a:rPr>
              <a:t>Your visitor needs to print documents and make a quiet phone call before the meeting.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3200400"/>
            <a:ext cx="5410047" cy="21945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777240" y="3429000"/>
            <a:ext cx="1097280" cy="1097280"/>
          </a:xfrm>
          <a:prstGeom prst="ellipse">
            <a:avLst/>
          </a:prstGeom>
          <a:solidFill>
            <a:srgbClr val="FF6B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3152" rIns="73152"/>
          <a:lstStyle/>
          <a:p>
            <a:pPr algn="ctr">
              <a:spcAft>
                <a:spcPts val="200"/>
              </a:spcAft>
            </a:pPr>
            <a:r>
              <a:rPr sz="3600" b="1">
                <a:solidFill>
                  <a:srgbClr val="FFFFFF"/>
                </a:solidFill>
                <a:latin typeface="Arial"/>
                <a:ea typeface="Microsoft YaHei"/>
              </a:rPr>
              <a:t>👔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11680" y="3291840"/>
            <a:ext cx="3809847" cy="2011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400" b="1">
                <a:solidFill>
                  <a:srgbClr val="FF6B5B"/>
                </a:solidFill>
                <a:latin typeface="Arial"/>
                <a:ea typeface="Microsoft YaHei"/>
              </a:rPr>
              <a:t>Role A</a:t>
            </a:r>
          </a:p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2000" b="1">
                <a:solidFill>
                  <a:srgbClr val="1F2A44"/>
                </a:solidFill>
                <a:latin typeface="Arial"/>
                <a:ea typeface="Microsoft YaHei"/>
              </a:rPr>
              <a:t>Ben Zhou, host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33007" y="3200400"/>
            <a:ext cx="5410047" cy="21945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61607" y="3429000"/>
            <a:ext cx="1097280" cy="1097280"/>
          </a:xfrm>
          <a:prstGeom prst="ellipse">
            <a:avLst/>
          </a:prstGeom>
          <a:solidFill>
            <a:srgbClr val="4A90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3152" rIns="73152"/>
          <a:lstStyle/>
          <a:p>
            <a:pPr algn="ctr">
              <a:spcAft>
                <a:spcPts val="200"/>
              </a:spcAft>
            </a:pPr>
            <a:r>
              <a:rPr sz="3600" b="1">
                <a:solidFill>
                  <a:srgbClr val="FFFFFF"/>
                </a:solidFill>
                <a:latin typeface="Arial"/>
                <a:ea typeface="Microsoft YaHei"/>
              </a:rPr>
              <a:t>💼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96047" y="3291840"/>
            <a:ext cx="3809847" cy="2011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400" b="1">
                <a:solidFill>
                  <a:srgbClr val="4A90E2"/>
                </a:solidFill>
                <a:latin typeface="Arial"/>
                <a:ea typeface="Microsoft YaHei"/>
              </a:rPr>
              <a:t>Role B</a:t>
            </a:r>
          </a:p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2000" b="1">
                <a:solidFill>
                  <a:srgbClr val="1F2A44"/>
                </a:solidFill>
                <a:latin typeface="Arial"/>
                <a:ea typeface="Microsoft YaHei"/>
              </a:rPr>
              <a:t>Laura Kim, visitor</a:t>
            </a:r>
          </a:p>
        </p:txBody>
      </p:sp>
    </p:spTree>
  </p:cSld>
  <p:clrMapOvr>
    <a:masterClrMapping/>
  </p:clrMapOvr>
  <p:transition spd="med">
    <p:fade/>
  </p:transition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9B6B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8442656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2800" b="1">
                <a:solidFill>
                  <a:srgbClr val="1F2A44"/>
                </a:solidFill>
                <a:latin typeface="Arial"/>
                <a:ea typeface="Microsoft YaHei"/>
              </a:rPr>
              <a:t>🎭 Model Dialogue · A visitor asks for help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74175" y="438912"/>
            <a:ext cx="2560320" cy="475488"/>
          </a:xfrm>
          <a:prstGeom prst="roundRect">
            <a:avLst>
              <a:gd name="adj" fmla="val 50000"/>
            </a:avLst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3152" rIns="73152"/>
          <a:lstStyle/>
          <a:p>
            <a:pPr algn="ctr">
              <a:spcAft>
                <a:spcPts val="200"/>
              </a:spcAft>
            </a:pPr>
            <a:r>
              <a:rPr sz="1300" b="1">
                <a:solidFill>
                  <a:srgbClr val="FFFFFF"/>
                </a:solidFill>
                <a:latin typeface="Arial"/>
                <a:ea typeface="Microsoft YaHei"/>
              </a:rPr>
              <a:t>Part 1/2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19088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100" b="0">
                <a:solidFill>
                  <a:srgbClr val="5F677A"/>
                </a:solidFill>
                <a:latin typeface="Arial"/>
                <a:ea typeface="Microsoft YaHei"/>
              </a:rPr>
              <a:t>Business English · Level 4 · Unit 3 · Lesson 07 Company visitors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28655" y="6419088"/>
            <a:ext cx="914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  <a:spcAft>
                <a:spcPts val="800"/>
              </a:spcAft>
            </a:pPr>
            <a:r>
              <a:rPr sz="1100" b="0">
                <a:solidFill>
                  <a:srgbClr val="5F677A"/>
                </a:solidFill>
                <a:latin typeface="Arial"/>
                <a:ea typeface="Microsoft YaHei"/>
              </a:rPr>
              <a:t>45</a:t>
            </a:r>
          </a:p>
        </p:txBody>
      </p:sp>
      <p:sp>
        <p:nvSpPr>
          <p:cNvPr id="7" name="Rounded Rectangle 6">
            <a:hlinkClick action="ppaction://hlinksldjump" r:id="rId2"/>
          </p:cNvPr>
          <p:cNvSpPr/>
          <p:nvPr/>
        </p:nvSpPr>
        <p:spPr>
          <a:xfrm>
            <a:off x="9677095" y="6382512"/>
            <a:ext cx="960120" cy="329184"/>
          </a:xfrm>
          <a:prstGeom prst="roundRect">
            <a:avLst>
              <a:gd name="adj" fmla="val 50000"/>
            </a:avLst>
          </a:prstGeom>
          <a:solidFill>
            <a:srgbClr val="FFE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Aft>
                <a:spcPts val="200"/>
              </a:spcAft>
            </a:pPr>
            <a:r>
              <a:rPr sz="1100" b="1">
                <a:solidFill>
                  <a:srgbClr val="1F2A44"/>
                </a:solidFill>
                <a:latin typeface="Arial"/>
                <a:ea typeface="Microsoft YaHei"/>
              </a:rPr>
              <a:t>🗺 Map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325880"/>
            <a:ext cx="731520" cy="457200"/>
          </a:xfrm>
          <a:prstGeom prst="roundRect">
            <a:avLst>
              <a:gd name="adj" fmla="val 50000"/>
            </a:avLst>
          </a:prstGeom>
          <a:solidFill>
            <a:srgbClr val="FF6B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Arial"/>
                <a:ea typeface="Microsoft YaHei"/>
              </a:rPr>
              <a:t>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1764792"/>
            <a:ext cx="1280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800"/>
              </a:spcAft>
            </a:pPr>
            <a:r>
              <a:rPr sz="1000" b="0">
                <a:solidFill>
                  <a:srgbClr val="5F677A"/>
                </a:solidFill>
                <a:latin typeface="Arial"/>
                <a:ea typeface="Microsoft YaHei"/>
              </a:rPr>
              <a:t>Ben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463040" y="1325880"/>
            <a:ext cx="8595360" cy="780288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31750">
            <a:solidFill>
              <a:srgbClr val="FF6B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l">
              <a:spcAft>
                <a:spcPts val="200"/>
              </a:spcAft>
            </a:pPr>
            <a:r>
              <a:rPr sz="1900" b="1">
                <a:solidFill>
                  <a:srgbClr val="1F2A44"/>
                </a:solidFill>
                <a:latin typeface="Arial"/>
                <a:ea typeface="Microsoft YaHei"/>
              </a:rPr>
              <a:t>How are you getting on, Laura? Is there anything you need before we start?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911535" y="2197608"/>
            <a:ext cx="731520" cy="457200"/>
          </a:xfrm>
          <a:prstGeom prst="roundRect">
            <a:avLst>
              <a:gd name="adj" fmla="val 50000"/>
            </a:avLst>
          </a:prstGeom>
          <a:solidFill>
            <a:srgbClr val="4A90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Arial"/>
                <a:ea typeface="Microsoft YaHei"/>
              </a:rPr>
              <a:t>B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37215" y="2636520"/>
            <a:ext cx="1280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800"/>
              </a:spcAft>
            </a:pPr>
            <a:r>
              <a:rPr sz="1000" b="0">
                <a:solidFill>
                  <a:srgbClr val="5F677A"/>
                </a:solidFill>
                <a:latin typeface="Arial"/>
                <a:ea typeface="Microsoft YaHei"/>
              </a:rPr>
              <a:t>Laura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133295" y="2197608"/>
            <a:ext cx="8595360" cy="780288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31750">
            <a:solidFill>
              <a:srgbClr val="4A90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l">
              <a:spcAft>
                <a:spcPts val="200"/>
              </a:spcAft>
            </a:pPr>
            <a:r>
              <a:rPr sz="1900" b="1">
                <a:solidFill>
                  <a:srgbClr val="1F2A44"/>
                </a:solidFill>
                <a:latin typeface="Arial"/>
                <a:ea typeface="Microsoft YaHei"/>
              </a:rPr>
              <a:t>Actually, I need to print a few pages. Is there a printer I can use?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3069336"/>
            <a:ext cx="731520" cy="457200"/>
          </a:xfrm>
          <a:prstGeom prst="roundRect">
            <a:avLst>
              <a:gd name="adj" fmla="val 50000"/>
            </a:avLst>
          </a:prstGeom>
          <a:solidFill>
            <a:srgbClr val="FF6B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Arial"/>
                <a:ea typeface="Microsoft YaHei"/>
              </a:rPr>
              <a:t>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4320" y="3508248"/>
            <a:ext cx="1280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800"/>
              </a:spcAft>
            </a:pPr>
            <a:r>
              <a:rPr sz="1000" b="0">
                <a:solidFill>
                  <a:srgbClr val="5F677A"/>
                </a:solidFill>
                <a:latin typeface="Arial"/>
                <a:ea typeface="Microsoft YaHei"/>
              </a:rPr>
              <a:t> 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463040" y="3069336"/>
            <a:ext cx="8595360" cy="780288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31750">
            <a:solidFill>
              <a:srgbClr val="FF6B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l">
              <a:spcAft>
                <a:spcPts val="200"/>
              </a:spcAft>
            </a:pPr>
            <a:r>
              <a:rPr sz="1900" b="1">
                <a:solidFill>
                  <a:srgbClr val="1F2A44"/>
                </a:solidFill>
                <a:latin typeface="Arial"/>
                <a:ea typeface="Microsoft YaHei"/>
              </a:rPr>
              <a:t>Of course. I’ll take you to the print room. You can send the file to the printer from your laptop, or I can do it for you.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911535" y="3941064"/>
            <a:ext cx="731520" cy="457200"/>
          </a:xfrm>
          <a:prstGeom prst="roundRect">
            <a:avLst>
              <a:gd name="adj" fmla="val 50000"/>
            </a:avLst>
          </a:prstGeom>
          <a:solidFill>
            <a:srgbClr val="4A90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Arial"/>
                <a:ea typeface="Microsoft YaHei"/>
              </a:rPr>
              <a:t>B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637215" y="4379976"/>
            <a:ext cx="1280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800"/>
              </a:spcAft>
            </a:pPr>
            <a:r>
              <a:rPr sz="1000" b="0">
                <a:solidFill>
                  <a:srgbClr val="5F677A"/>
                </a:solidFill>
                <a:latin typeface="Arial"/>
                <a:ea typeface="Microsoft YaHei"/>
              </a:rPr>
              <a:t> 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133295" y="3941064"/>
            <a:ext cx="8595360" cy="490728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31750">
            <a:solidFill>
              <a:srgbClr val="4A90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l">
              <a:spcAft>
                <a:spcPts val="200"/>
              </a:spcAft>
            </a:pPr>
            <a:r>
              <a:rPr sz="1900" b="1">
                <a:solidFill>
                  <a:srgbClr val="1F2A44"/>
                </a:solidFill>
                <a:latin typeface="Arial"/>
                <a:ea typeface="Microsoft YaHei"/>
              </a:rPr>
              <a:t>Thanks. I’ll just email the file to you, if that’s OK.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4523232"/>
            <a:ext cx="731520" cy="457200"/>
          </a:xfrm>
          <a:prstGeom prst="roundRect">
            <a:avLst>
              <a:gd name="adj" fmla="val 50000"/>
            </a:avLst>
          </a:prstGeom>
          <a:solidFill>
            <a:srgbClr val="FF6B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Arial"/>
                <a:ea typeface="Microsoft YaHei"/>
              </a:rPr>
              <a:t>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74320" y="4962144"/>
            <a:ext cx="1280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800"/>
              </a:spcAft>
            </a:pPr>
            <a:r>
              <a:rPr sz="1000" b="0">
                <a:solidFill>
                  <a:srgbClr val="5F677A"/>
                </a:solidFill>
                <a:latin typeface="Arial"/>
                <a:ea typeface="Microsoft YaHei"/>
              </a:rPr>
              <a:t> 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463040" y="4523232"/>
            <a:ext cx="8595360" cy="490728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31750">
            <a:solidFill>
              <a:srgbClr val="FF6B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l">
              <a:spcAft>
                <a:spcPts val="200"/>
              </a:spcAft>
            </a:pPr>
            <a:r>
              <a:rPr sz="1900" b="1">
                <a:solidFill>
                  <a:srgbClr val="1F2A44"/>
                </a:solidFill>
                <a:latin typeface="Arial"/>
                <a:ea typeface="Microsoft YaHei"/>
              </a:rPr>
              <a:t>No problem. Shall I print one copy or two?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0911535" y="5105400"/>
            <a:ext cx="731520" cy="457200"/>
          </a:xfrm>
          <a:prstGeom prst="roundRect">
            <a:avLst>
              <a:gd name="adj" fmla="val 50000"/>
            </a:avLst>
          </a:prstGeom>
          <a:solidFill>
            <a:srgbClr val="4A90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Arial"/>
                <a:ea typeface="Microsoft YaHei"/>
              </a:rPr>
              <a:t>B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637215" y="5544312"/>
            <a:ext cx="1280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800"/>
              </a:spcAft>
            </a:pPr>
            <a:r>
              <a:rPr sz="1000" b="0">
                <a:solidFill>
                  <a:srgbClr val="5F677A"/>
                </a:solidFill>
                <a:latin typeface="Arial"/>
                <a:ea typeface="Microsoft YaHei"/>
              </a:rPr>
              <a:t> 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2133295" y="5105400"/>
            <a:ext cx="8595360" cy="780288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31750">
            <a:solidFill>
              <a:srgbClr val="4A90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l">
              <a:spcAft>
                <a:spcPts val="200"/>
              </a:spcAft>
            </a:pPr>
            <a:r>
              <a:rPr sz="1900" b="1">
                <a:solidFill>
                  <a:srgbClr val="1F2A44"/>
                </a:solidFill>
                <a:latin typeface="Arial"/>
                <a:ea typeface="Microsoft YaHei"/>
              </a:rPr>
              <a:t>Two, please. Also, I have an important call at nine. Is there somewhere quiet I can take it?</a:t>
            </a:r>
          </a:p>
        </p:txBody>
      </p:sp>
    </p:spTree>
  </p:cSld>
  <p:clrMapOvr>
    <a:masterClrMapping/>
  </p:clrMapOvr>
  <p:transition spd="med">
    <p:fade/>
  </p:transition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9B6B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8442656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2300" b="1">
                <a:solidFill>
                  <a:srgbClr val="1F2A44"/>
                </a:solidFill>
                <a:latin typeface="Arial"/>
                <a:ea typeface="Microsoft YaHei"/>
              </a:rPr>
              <a:t>🎭 Model Dialogue · A visitor asks for help (cont.)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74175" y="438912"/>
            <a:ext cx="2560320" cy="475488"/>
          </a:xfrm>
          <a:prstGeom prst="roundRect">
            <a:avLst>
              <a:gd name="adj" fmla="val 50000"/>
            </a:avLst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3152" rIns="73152"/>
          <a:lstStyle/>
          <a:p>
            <a:pPr algn="ctr">
              <a:spcAft>
                <a:spcPts val="200"/>
              </a:spcAft>
            </a:pPr>
            <a:r>
              <a:rPr sz="1300" b="1">
                <a:solidFill>
                  <a:srgbClr val="FFFFFF"/>
                </a:solidFill>
                <a:latin typeface="Arial"/>
                <a:ea typeface="Microsoft YaHei"/>
              </a:rPr>
              <a:t>Part 2/2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19088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100" b="0">
                <a:solidFill>
                  <a:srgbClr val="5F677A"/>
                </a:solidFill>
                <a:latin typeface="Arial"/>
                <a:ea typeface="Microsoft YaHei"/>
              </a:rPr>
              <a:t>Business English · Level 4 · Unit 3 · Lesson 07 Company visitors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28655" y="6419088"/>
            <a:ext cx="914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  <a:spcAft>
                <a:spcPts val="800"/>
              </a:spcAft>
            </a:pPr>
            <a:r>
              <a:rPr sz="1100" b="0">
                <a:solidFill>
                  <a:srgbClr val="5F677A"/>
                </a:solidFill>
                <a:latin typeface="Arial"/>
                <a:ea typeface="Microsoft YaHei"/>
              </a:rPr>
              <a:t>46</a:t>
            </a:r>
          </a:p>
        </p:txBody>
      </p:sp>
      <p:sp>
        <p:nvSpPr>
          <p:cNvPr id="7" name="Rounded Rectangle 6">
            <a:hlinkClick action="ppaction://hlinksldjump" r:id="rId2"/>
          </p:cNvPr>
          <p:cNvSpPr/>
          <p:nvPr/>
        </p:nvSpPr>
        <p:spPr>
          <a:xfrm>
            <a:off x="9677095" y="6382512"/>
            <a:ext cx="960120" cy="329184"/>
          </a:xfrm>
          <a:prstGeom prst="roundRect">
            <a:avLst>
              <a:gd name="adj" fmla="val 50000"/>
            </a:avLst>
          </a:prstGeom>
          <a:solidFill>
            <a:srgbClr val="FFE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Aft>
                <a:spcPts val="200"/>
              </a:spcAft>
            </a:pPr>
            <a:r>
              <a:rPr sz="1100" b="1">
                <a:solidFill>
                  <a:srgbClr val="1F2A44"/>
                </a:solidFill>
                <a:latin typeface="Arial"/>
                <a:ea typeface="Microsoft YaHei"/>
              </a:rPr>
              <a:t>🗺 Map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325880"/>
            <a:ext cx="731520" cy="457200"/>
          </a:xfrm>
          <a:prstGeom prst="roundRect">
            <a:avLst>
              <a:gd name="adj" fmla="val 50000"/>
            </a:avLst>
          </a:prstGeom>
          <a:solidFill>
            <a:srgbClr val="FF6B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Arial"/>
                <a:ea typeface="Microsoft YaHei"/>
              </a:rPr>
              <a:t>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1764792"/>
            <a:ext cx="1280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800"/>
              </a:spcAft>
            </a:pPr>
            <a:r>
              <a:rPr sz="1000" b="0">
                <a:solidFill>
                  <a:srgbClr val="5F677A"/>
                </a:solidFill>
                <a:latin typeface="Arial"/>
                <a:ea typeface="Microsoft YaHei"/>
              </a:rPr>
              <a:t> 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463040" y="1325880"/>
            <a:ext cx="8595360" cy="780288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31750">
            <a:solidFill>
              <a:srgbClr val="FF6B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l">
              <a:spcAft>
                <a:spcPts val="200"/>
              </a:spcAft>
            </a:pPr>
            <a:r>
              <a:rPr sz="1900" b="1">
                <a:solidFill>
                  <a:srgbClr val="1F2A44"/>
                </a:solidFill>
                <a:latin typeface="Arial"/>
                <a:ea typeface="Microsoft YaHei"/>
              </a:rPr>
              <a:t>Yes, you can use Meeting Room 2. It’s free until ten. I’ll show you the way.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911535" y="2197608"/>
            <a:ext cx="731520" cy="457200"/>
          </a:xfrm>
          <a:prstGeom prst="roundRect">
            <a:avLst>
              <a:gd name="adj" fmla="val 50000"/>
            </a:avLst>
          </a:prstGeom>
          <a:solidFill>
            <a:srgbClr val="4A90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Arial"/>
                <a:ea typeface="Microsoft YaHei"/>
              </a:rPr>
              <a:t>B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37215" y="2636520"/>
            <a:ext cx="1280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800"/>
              </a:spcAft>
            </a:pPr>
            <a:r>
              <a:rPr sz="1000" b="0">
                <a:solidFill>
                  <a:srgbClr val="5F677A"/>
                </a:solidFill>
                <a:latin typeface="Arial"/>
                <a:ea typeface="Microsoft YaHei"/>
              </a:rPr>
              <a:t> 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133295" y="2197608"/>
            <a:ext cx="8595360" cy="490728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31750">
            <a:solidFill>
              <a:srgbClr val="4A90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l">
              <a:spcAft>
                <a:spcPts val="200"/>
              </a:spcAft>
            </a:pPr>
            <a:r>
              <a:rPr sz="1900" b="1">
                <a:solidFill>
                  <a:srgbClr val="1F2A44"/>
                </a:solidFill>
                <a:latin typeface="Arial"/>
                <a:ea typeface="Microsoft YaHei"/>
              </a:rPr>
              <a:t>That’s very helpful. I really appreciate it.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2779776"/>
            <a:ext cx="731520" cy="457200"/>
          </a:xfrm>
          <a:prstGeom prst="roundRect">
            <a:avLst>
              <a:gd name="adj" fmla="val 50000"/>
            </a:avLst>
          </a:prstGeom>
          <a:solidFill>
            <a:srgbClr val="FF6B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Arial"/>
                <a:ea typeface="Microsoft YaHei"/>
              </a:rPr>
              <a:t>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4320" y="3218688"/>
            <a:ext cx="1280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800"/>
              </a:spcAft>
            </a:pPr>
            <a:r>
              <a:rPr sz="1000" b="0">
                <a:solidFill>
                  <a:srgbClr val="5F677A"/>
                </a:solidFill>
                <a:latin typeface="Arial"/>
                <a:ea typeface="Microsoft YaHei"/>
              </a:rPr>
              <a:t> 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463040" y="2779776"/>
            <a:ext cx="8595360" cy="490728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31750">
            <a:solidFill>
              <a:srgbClr val="FF6B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l">
              <a:spcAft>
                <a:spcPts val="200"/>
              </a:spcAft>
            </a:pPr>
            <a:r>
              <a:rPr sz="1900" b="1">
                <a:solidFill>
                  <a:srgbClr val="1F2A44"/>
                </a:solidFill>
                <a:latin typeface="Arial"/>
                <a:ea typeface="Microsoft YaHei"/>
              </a:rPr>
              <a:t>Not at all. Please don’t hesitate to ask if you need anything else.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911535" y="3361944"/>
            <a:ext cx="731520" cy="457200"/>
          </a:xfrm>
          <a:prstGeom prst="roundRect">
            <a:avLst>
              <a:gd name="adj" fmla="val 50000"/>
            </a:avLst>
          </a:prstGeom>
          <a:solidFill>
            <a:srgbClr val="4A90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Arial"/>
                <a:ea typeface="Microsoft YaHei"/>
              </a:rPr>
              <a:t>B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637215" y="3800856"/>
            <a:ext cx="1280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800"/>
              </a:spcAft>
            </a:pPr>
            <a:r>
              <a:rPr sz="1000" b="0">
                <a:solidFill>
                  <a:srgbClr val="5F677A"/>
                </a:solidFill>
                <a:latin typeface="Arial"/>
                <a:ea typeface="Microsoft YaHei"/>
              </a:rPr>
              <a:t> 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133295" y="3361944"/>
            <a:ext cx="8595360" cy="490728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31750">
            <a:solidFill>
              <a:srgbClr val="4A90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l">
              <a:spcAft>
                <a:spcPts val="200"/>
              </a:spcAft>
            </a:pPr>
            <a:r>
              <a:rPr sz="1900" b="1">
                <a:solidFill>
                  <a:srgbClr val="1F2A44"/>
                </a:solidFill>
                <a:latin typeface="Arial"/>
                <a:ea typeface="Microsoft YaHei"/>
              </a:rPr>
              <a:t>I will, thank you. I’ll come and find you when I’m done.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3944112"/>
            <a:ext cx="731520" cy="457200"/>
          </a:xfrm>
          <a:prstGeom prst="roundRect">
            <a:avLst>
              <a:gd name="adj" fmla="val 50000"/>
            </a:avLst>
          </a:prstGeom>
          <a:solidFill>
            <a:srgbClr val="FF6B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Arial"/>
                <a:ea typeface="Microsoft YaHei"/>
              </a:rPr>
              <a:t>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74320" y="4383024"/>
            <a:ext cx="1280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800"/>
              </a:spcAft>
            </a:pPr>
            <a:r>
              <a:rPr sz="1000" b="0">
                <a:solidFill>
                  <a:srgbClr val="5F677A"/>
                </a:solidFill>
                <a:latin typeface="Arial"/>
                <a:ea typeface="Microsoft YaHei"/>
              </a:rPr>
              <a:t> 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463040" y="3944112"/>
            <a:ext cx="8595360" cy="490728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31750">
            <a:solidFill>
              <a:srgbClr val="FF6B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l">
              <a:spcAft>
                <a:spcPts val="200"/>
              </a:spcAft>
            </a:pPr>
            <a:r>
              <a:rPr sz="1900" b="1">
                <a:solidFill>
                  <a:srgbClr val="1F2A44"/>
                </a:solidFill>
                <a:latin typeface="Arial"/>
                <a:ea typeface="Microsoft YaHei"/>
              </a:rPr>
              <a:t>Perfect. We’ll be ready to start at ten.</a:t>
            </a:r>
          </a:p>
        </p:txBody>
      </p:sp>
    </p:spTree>
  </p:cSld>
  <p:clrMapOvr>
    <a:masterClrMapping/>
  </p:clrMapOvr>
  <p:transition spd="med">
    <p:fade/>
  </p:transition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FC8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8442656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3100" b="1">
                <a:solidFill>
                  <a:srgbClr val="1F2A44"/>
                </a:solidFill>
                <a:latin typeface="Arial"/>
                <a:ea typeface="Microsoft YaHei"/>
              </a:rPr>
              <a:t>🎯 Your Turn · A visitor asks for help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74175" y="438912"/>
            <a:ext cx="2560320" cy="475488"/>
          </a:xfrm>
          <a:prstGeom prst="roundRect">
            <a:avLst>
              <a:gd name="adj" fmla="val 50000"/>
            </a:avLst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3152" rIns="73152"/>
          <a:lstStyle/>
          <a:p>
            <a:pPr algn="ctr">
              <a:spcAft>
                <a:spcPts val="200"/>
              </a:spcAft>
            </a:pPr>
            <a:r>
              <a:rPr sz="1300" b="1">
                <a:solidFill>
                  <a:srgbClr val="FFFFFF"/>
                </a:solidFill>
                <a:latin typeface="Arial"/>
                <a:ea typeface="Microsoft YaHei"/>
              </a:rPr>
              <a:t>03 Role play 角色扮演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19088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100" b="0">
                <a:solidFill>
                  <a:srgbClr val="5F677A"/>
                </a:solidFill>
                <a:latin typeface="Arial"/>
                <a:ea typeface="Microsoft YaHei"/>
              </a:rPr>
              <a:t>Business English · Level 4 · Unit 3 · Lesson 07 Company visitors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28655" y="6419088"/>
            <a:ext cx="914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  <a:spcAft>
                <a:spcPts val="800"/>
              </a:spcAft>
            </a:pPr>
            <a:r>
              <a:rPr sz="1100" b="0">
                <a:solidFill>
                  <a:srgbClr val="5F677A"/>
                </a:solidFill>
                <a:latin typeface="Arial"/>
                <a:ea typeface="Microsoft YaHei"/>
              </a:rPr>
              <a:t>47</a:t>
            </a:r>
          </a:p>
        </p:txBody>
      </p:sp>
      <p:sp>
        <p:nvSpPr>
          <p:cNvPr id="7" name="Rounded Rectangle 6">
            <a:hlinkClick action="ppaction://hlinksldjump" r:id="rId2"/>
          </p:cNvPr>
          <p:cNvSpPr/>
          <p:nvPr/>
        </p:nvSpPr>
        <p:spPr>
          <a:xfrm>
            <a:off x="9677095" y="6382512"/>
            <a:ext cx="960120" cy="329184"/>
          </a:xfrm>
          <a:prstGeom prst="roundRect">
            <a:avLst>
              <a:gd name="adj" fmla="val 50000"/>
            </a:avLst>
          </a:prstGeom>
          <a:solidFill>
            <a:srgbClr val="FFE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Aft>
                <a:spcPts val="200"/>
              </a:spcAft>
            </a:pPr>
            <a:r>
              <a:rPr sz="1100" b="1">
                <a:solidFill>
                  <a:srgbClr val="1F2A44"/>
                </a:solidFill>
                <a:latin typeface="Arial"/>
                <a:ea typeface="Microsoft YaHei"/>
              </a:rPr>
              <a:t>🗺 Map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325880"/>
            <a:ext cx="2377440" cy="408432"/>
          </a:xfrm>
          <a:prstGeom prst="roundRect">
            <a:avLst>
              <a:gd name="adj" fmla="val 15000"/>
            </a:avLst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Arial"/>
                <a:ea typeface="Microsoft YaHei"/>
              </a:rPr>
              <a:t>Situation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017520" y="1325880"/>
            <a:ext cx="8625535" cy="408432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1F2A44"/>
                </a:solidFill>
                <a:latin typeface="Arial"/>
                <a:ea typeface="Microsoft YaHei"/>
              </a:rPr>
              <a:t>A visitor asks for small favours before an important meeting.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1807464"/>
            <a:ext cx="2377440" cy="408432"/>
          </a:xfrm>
          <a:prstGeom prst="roundRect">
            <a:avLst>
              <a:gd name="adj" fmla="val 15000"/>
            </a:avLst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Arial"/>
                <a:ea typeface="Microsoft YaHei"/>
              </a:rPr>
              <a:t>Your role (A)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017520" y="1807464"/>
            <a:ext cx="8625535" cy="408432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1F2A44"/>
                </a:solidFill>
                <a:latin typeface="Arial"/>
                <a:ea typeface="Microsoft YaHei"/>
              </a:rPr>
              <a:t>Host. Offer help in a friendly way.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2289048"/>
            <a:ext cx="2377440" cy="408432"/>
          </a:xfrm>
          <a:prstGeom prst="roundRect">
            <a:avLst>
              <a:gd name="adj" fmla="val 15000"/>
            </a:avLst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Arial"/>
                <a:ea typeface="Microsoft YaHei"/>
              </a:rPr>
              <a:t>Partner’s role (B)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017520" y="2289048"/>
            <a:ext cx="8625535" cy="408432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1F2A44"/>
                </a:solidFill>
                <a:latin typeface="Arial"/>
                <a:ea typeface="Microsoft YaHei"/>
              </a:rPr>
              <a:t>Visitor. Ask for a printer, a quiet room and a charger.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2770632"/>
            <a:ext cx="2377440" cy="652272"/>
          </a:xfrm>
          <a:prstGeom prst="roundRect">
            <a:avLst>
              <a:gd name="adj" fmla="val 15000"/>
            </a:avLst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Arial"/>
                <a:ea typeface="Microsoft YaHei"/>
              </a:rPr>
              <a:t>Must use (3 or more)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017520" y="2770632"/>
            <a:ext cx="8625535" cy="652272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1F2A44"/>
                </a:solidFill>
                <a:latin typeface="Arial"/>
                <a:ea typeface="Microsoft YaHei"/>
              </a:rPr>
              <a:t>Is there anything you need? · Shall I…? · I’ll show you the way. · Please don’t hesitate to ask.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3496056"/>
            <a:ext cx="2377440" cy="408432"/>
          </a:xfrm>
          <a:prstGeom prst="roundRect">
            <a:avLst>
              <a:gd name="adj" fmla="val 15000"/>
            </a:avLst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Arial"/>
                <a:ea typeface="Microsoft YaHei"/>
              </a:rPr>
              <a:t>Goal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017520" y="3496056"/>
            <a:ext cx="8625535" cy="408432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1F2A44"/>
                </a:solidFill>
                <a:latin typeface="Arial"/>
                <a:ea typeface="Microsoft YaHei"/>
              </a:rPr>
              <a:t>Solve three requests quickly and politely.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3977640"/>
            <a:ext cx="2377440" cy="408432"/>
          </a:xfrm>
          <a:prstGeom prst="roundRect">
            <a:avLst>
              <a:gd name="adj" fmla="val 15000"/>
            </a:avLst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Arial"/>
                <a:ea typeface="Microsoft YaHei"/>
              </a:rPr>
              <a:t>My notes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017520" y="3977640"/>
            <a:ext cx="8625535" cy="408432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1F2A44"/>
                </a:solidFill>
                <a:latin typeface="Arial"/>
                <a:ea typeface="Microsoft YaHei"/>
              </a:rPr>
              <a:t>____________________________________________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4550664"/>
            <a:ext cx="11094415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500" b="1">
                <a:solidFill>
                  <a:srgbClr val="FF6B5B"/>
                </a:solidFill>
                <a:latin typeface="Arial"/>
                <a:ea typeface="Microsoft YaHei"/>
              </a:rPr>
              <a:t>🔥 Level-up challenges 进阶挑战 (click)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8640" y="4934712"/>
            <a:ext cx="3576218" cy="1283208"/>
          </a:xfrm>
          <a:prstGeom prst="roundRect">
            <a:avLst>
              <a:gd name="adj" fmla="val 12000"/>
            </a:avLst>
          </a:prstGeom>
          <a:solidFill>
            <a:srgbClr val="4A90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Arial"/>
                <a:ea typeface="Microsoft YaHei"/>
              </a:rPr>
              <a:t>The room is not free. Offer an alternative: “I’m afraid it’s taken, but the small room next door is free.”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307738" y="4934712"/>
            <a:ext cx="3576218" cy="1283208"/>
          </a:xfrm>
          <a:prstGeom prst="roundRect">
            <a:avLst>
              <a:gd name="adj" fmla="val 12000"/>
            </a:avLst>
          </a:prstGeom>
          <a:solidFill>
            <a:srgbClr val="3CC4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Arial"/>
                <a:ea typeface="Microsoft YaHei"/>
              </a:rPr>
              <a:t>Suggest a better plan: “Would you like me to book a room for the rest of the day?”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066836" y="4934712"/>
            <a:ext cx="3576218" cy="1283208"/>
          </a:xfrm>
          <a:prstGeom prst="roundRect">
            <a:avLst>
              <a:gd name="adj" fmla="val 12000"/>
            </a:avLst>
          </a:prstGeom>
          <a:solidFill>
            <a:srgbClr val="FFC8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Arial"/>
                <a:ea typeface="Microsoft YaHei"/>
              </a:rPr>
              <a:t>Use ★ language: “We’ve got a packed schedule today.”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" fill="hold">
                      <p:stCondLst>
                        <p:cond delay="indefinite"/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4A90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8442656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3200" b="1">
                <a:solidFill>
                  <a:srgbClr val="1F2A44"/>
                </a:solidFill>
                <a:latin typeface="Arial"/>
                <a:ea typeface="Microsoft YaHei"/>
              </a:rPr>
              <a:t>💬 Discussion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74175" y="438912"/>
            <a:ext cx="2560320" cy="475488"/>
          </a:xfrm>
          <a:prstGeom prst="roundRect">
            <a:avLst>
              <a:gd name="adj" fmla="val 50000"/>
            </a:avLst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3152" rIns="73152"/>
          <a:lstStyle/>
          <a:p>
            <a:pPr algn="ctr">
              <a:spcAft>
                <a:spcPts val="200"/>
              </a:spcAft>
            </a:pPr>
            <a:r>
              <a:rPr sz="1300" b="1">
                <a:solidFill>
                  <a:srgbClr val="FFFFFF"/>
                </a:solidFill>
                <a:latin typeface="Arial"/>
                <a:ea typeface="Microsoft YaHei"/>
              </a:rPr>
              <a:t>04 Discussion 讨论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19088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100" b="0">
                <a:solidFill>
                  <a:srgbClr val="5F677A"/>
                </a:solidFill>
                <a:latin typeface="Arial"/>
                <a:ea typeface="Microsoft YaHei"/>
              </a:rPr>
              <a:t>Business English · Level 4 · Unit 3 · Lesson 07 Company visitors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28655" y="6419088"/>
            <a:ext cx="914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  <a:spcAft>
                <a:spcPts val="800"/>
              </a:spcAft>
            </a:pPr>
            <a:r>
              <a:rPr sz="1100" b="0">
                <a:solidFill>
                  <a:srgbClr val="5F677A"/>
                </a:solidFill>
                <a:latin typeface="Arial"/>
                <a:ea typeface="Microsoft YaHei"/>
              </a:rPr>
              <a:t>48</a:t>
            </a:r>
          </a:p>
        </p:txBody>
      </p:sp>
      <p:sp>
        <p:nvSpPr>
          <p:cNvPr id="7" name="Rounded Rectangle 6">
            <a:hlinkClick action="ppaction://hlinksldjump" r:id="rId2"/>
          </p:cNvPr>
          <p:cNvSpPr/>
          <p:nvPr/>
        </p:nvSpPr>
        <p:spPr>
          <a:xfrm>
            <a:off x="9677095" y="6382512"/>
            <a:ext cx="960120" cy="329184"/>
          </a:xfrm>
          <a:prstGeom prst="roundRect">
            <a:avLst>
              <a:gd name="adj" fmla="val 50000"/>
            </a:avLst>
          </a:prstGeom>
          <a:solidFill>
            <a:srgbClr val="FFE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Aft>
                <a:spcPts val="200"/>
              </a:spcAft>
            </a:pPr>
            <a:r>
              <a:rPr sz="1100" b="1">
                <a:solidFill>
                  <a:srgbClr val="1F2A44"/>
                </a:solidFill>
                <a:latin typeface="Arial"/>
                <a:ea typeface="Microsoft YaHei"/>
              </a:rPr>
              <a:t>🗺 Map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024128"/>
            <a:ext cx="11094415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500" b="0">
                <a:solidFill>
                  <a:srgbClr val="5F677A"/>
                </a:solidFill>
                <a:latin typeface="Arial"/>
                <a:ea typeface="Microsoft YaHei"/>
              </a:rPr>
              <a:t>Prepare 2–3 sentences. Use the starters!  每题准备 2–3 句话，用上句型</a:t>
            </a:r>
          </a:p>
        </p:txBody>
      </p:sp>
      <p:sp>
        <p:nvSpPr>
          <p:cNvPr id="9" name="Oval 8"/>
          <p:cNvSpPr/>
          <p:nvPr/>
        </p:nvSpPr>
        <p:spPr>
          <a:xfrm>
            <a:off x="548640" y="1554480"/>
            <a:ext cx="548640" cy="548640"/>
          </a:xfrm>
          <a:prstGeom prst="ellipse">
            <a:avLst/>
          </a:prstGeom>
          <a:solidFill>
            <a:srgbClr val="FF6B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FFFFFF"/>
                </a:solidFill>
                <a:latin typeface="Arial"/>
                <a:ea typeface="Microsoft YaHei"/>
              </a:rPr>
              <a:t>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234440" y="1508760"/>
            <a:ext cx="10408615" cy="6858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325880" y="1554480"/>
            <a:ext cx="10271455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900" b="1">
                <a:solidFill>
                  <a:srgbClr val="1F2A44"/>
                </a:solidFill>
                <a:latin typeface="Arial"/>
                <a:ea typeface="Microsoft YaHei"/>
              </a:rPr>
              <a:t>Who should host visitors: a receptionist, an assistant or the manager? Why?</a:t>
            </a:r>
          </a:p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400" b="0">
                <a:solidFill>
                  <a:srgbClr val="5F677A"/>
                </a:solidFill>
                <a:latin typeface="Arial"/>
                <a:ea typeface="Microsoft YaHei"/>
              </a:rPr>
              <a:t>💬 “I think the host should be… because…” / “It depends on how important the visitor is.”</a:t>
            </a:r>
          </a:p>
        </p:txBody>
      </p:sp>
      <p:sp>
        <p:nvSpPr>
          <p:cNvPr id="12" name="Oval 11"/>
          <p:cNvSpPr/>
          <p:nvPr/>
        </p:nvSpPr>
        <p:spPr>
          <a:xfrm>
            <a:off x="548640" y="2331720"/>
            <a:ext cx="548640" cy="548640"/>
          </a:xfrm>
          <a:prstGeom prst="ellipse">
            <a:avLst/>
          </a:prstGeom>
          <a:solidFill>
            <a:srgbClr val="4A90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FFFFFF"/>
                </a:solidFill>
                <a:latin typeface="Arial"/>
                <a:ea typeface="Microsoft YaHei"/>
              </a:rPr>
              <a:t>2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234440" y="2286000"/>
            <a:ext cx="10408615" cy="6858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25880" y="2331720"/>
            <a:ext cx="10271455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900" b="1">
                <a:solidFill>
                  <a:srgbClr val="1F2A44"/>
                </a:solidFill>
                <a:latin typeface="Arial"/>
                <a:ea typeface="Microsoft YaHei"/>
              </a:rPr>
              <a:t>What should you show on an office tour? What should you not show?</a:t>
            </a:r>
          </a:p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400" b="0">
                <a:solidFill>
                  <a:srgbClr val="5F677A"/>
                </a:solidFill>
                <a:latin typeface="Arial"/>
                <a:ea typeface="Microsoft YaHei"/>
              </a:rPr>
              <a:t>💬 “I would show… but not…” / “Some areas are private because…”</a:t>
            </a:r>
          </a:p>
        </p:txBody>
      </p:sp>
      <p:sp>
        <p:nvSpPr>
          <p:cNvPr id="15" name="Oval 14"/>
          <p:cNvSpPr/>
          <p:nvPr/>
        </p:nvSpPr>
        <p:spPr>
          <a:xfrm>
            <a:off x="548640" y="3108960"/>
            <a:ext cx="548640" cy="548640"/>
          </a:xfrm>
          <a:prstGeom prst="ellipse">
            <a:avLst/>
          </a:prstGeom>
          <a:solidFill>
            <a:srgbClr val="3CC4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FFFFFF"/>
                </a:solidFill>
                <a:latin typeface="Arial"/>
                <a:ea typeface="Microsoft YaHei"/>
              </a:rPr>
              <a:t>3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234440" y="3063240"/>
            <a:ext cx="10408615" cy="6858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325880" y="3108960"/>
            <a:ext cx="10271455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900" b="1">
                <a:solidFill>
                  <a:srgbClr val="1F2A44"/>
                </a:solidFill>
                <a:latin typeface="Arial"/>
                <a:ea typeface="Microsoft YaHei"/>
              </a:rPr>
              <a:t>What small things make a visitor feel comfortable?</a:t>
            </a:r>
          </a:p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400" b="0">
                <a:solidFill>
                  <a:srgbClr val="5F677A"/>
                </a:solidFill>
                <a:latin typeface="Arial"/>
                <a:ea typeface="Microsoft YaHei"/>
              </a:rPr>
              <a:t>💬 “Small things like… make a big difference.” / “I always offer…”</a:t>
            </a:r>
          </a:p>
        </p:txBody>
      </p:sp>
      <p:sp>
        <p:nvSpPr>
          <p:cNvPr id="18" name="Oval 17"/>
          <p:cNvSpPr/>
          <p:nvPr/>
        </p:nvSpPr>
        <p:spPr>
          <a:xfrm>
            <a:off x="548640" y="3886200"/>
            <a:ext cx="548640" cy="548640"/>
          </a:xfrm>
          <a:prstGeom prst="ellipse">
            <a:avLst/>
          </a:prstGeom>
          <a:solidFill>
            <a:srgbClr val="FFC8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FFFFFF"/>
                </a:solidFill>
                <a:latin typeface="Arial"/>
                <a:ea typeface="Microsoft YaHei"/>
              </a:rPr>
              <a:t>4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234440" y="3840480"/>
            <a:ext cx="10408615" cy="6858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325880" y="3886200"/>
            <a:ext cx="10271455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900" b="1">
                <a:solidFill>
                  <a:srgbClr val="1F2A44"/>
                </a:solidFill>
                <a:latin typeface="Arial"/>
                <a:ea typeface="Microsoft YaHei"/>
              </a:rPr>
              <a:t>How do you plan a day for a visitor from overseas?</a:t>
            </a:r>
          </a:p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400" b="0">
                <a:solidFill>
                  <a:srgbClr val="5F677A"/>
                </a:solidFill>
                <a:latin typeface="Arial"/>
                <a:ea typeface="Microsoft YaHei"/>
              </a:rPr>
              <a:t>💬 “First, I check… Then I…” / “I try not to plan too much because…”</a:t>
            </a:r>
          </a:p>
        </p:txBody>
      </p:sp>
      <p:sp>
        <p:nvSpPr>
          <p:cNvPr id="21" name="Oval 20"/>
          <p:cNvSpPr/>
          <p:nvPr/>
        </p:nvSpPr>
        <p:spPr>
          <a:xfrm>
            <a:off x="548640" y="4663440"/>
            <a:ext cx="548640" cy="548640"/>
          </a:xfrm>
          <a:prstGeom prst="ellipse">
            <a:avLst/>
          </a:prstGeom>
          <a:solidFill>
            <a:srgbClr val="9B6B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FFFFFF"/>
                </a:solidFill>
                <a:latin typeface="Arial"/>
                <a:ea typeface="Microsoft YaHei"/>
              </a:rPr>
              <a:t>5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234440" y="4617720"/>
            <a:ext cx="10408615" cy="6858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325880" y="4663440"/>
            <a:ext cx="10271455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900" b="1">
                <a:solidFill>
                  <a:srgbClr val="1F2A44"/>
                </a:solidFill>
                <a:latin typeface="Arial"/>
                <a:ea typeface="Microsoft YaHei"/>
              </a:rPr>
              <a:t>What do you do when your schedule changes on the day?</a:t>
            </a:r>
          </a:p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400" b="0">
                <a:solidFill>
                  <a:srgbClr val="5F677A"/>
                </a:solidFill>
                <a:latin typeface="Arial"/>
                <a:ea typeface="Microsoft YaHei"/>
              </a:rPr>
              <a:t>💬 “I let the visitor know as soon as possible.” / “I offer two options…”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4A90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8442656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3200" b="1">
                <a:solidFill>
                  <a:srgbClr val="1F2A44"/>
                </a:solidFill>
                <a:latin typeface="Arial"/>
                <a:ea typeface="Microsoft YaHei"/>
              </a:rPr>
              <a:t>🌟 Model Answer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74175" y="438912"/>
            <a:ext cx="2560320" cy="475488"/>
          </a:xfrm>
          <a:prstGeom prst="roundRect">
            <a:avLst>
              <a:gd name="adj" fmla="val 50000"/>
            </a:avLst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3152" rIns="73152"/>
          <a:lstStyle/>
          <a:p>
            <a:pPr algn="ctr">
              <a:spcAft>
                <a:spcPts val="200"/>
              </a:spcAft>
            </a:pPr>
            <a:r>
              <a:rPr sz="1300" b="1">
                <a:solidFill>
                  <a:srgbClr val="FFFFFF"/>
                </a:solidFill>
                <a:latin typeface="Arial"/>
                <a:ea typeface="Microsoft YaHei"/>
              </a:rPr>
              <a:t>04 Discussion 讨论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19088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100" b="0">
                <a:solidFill>
                  <a:srgbClr val="5F677A"/>
                </a:solidFill>
                <a:latin typeface="Arial"/>
                <a:ea typeface="Microsoft YaHei"/>
              </a:rPr>
              <a:t>Business English · Level 4 · Unit 3 · Lesson 07 Company visitors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28655" y="6419088"/>
            <a:ext cx="914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  <a:spcAft>
                <a:spcPts val="800"/>
              </a:spcAft>
            </a:pPr>
            <a:r>
              <a:rPr sz="1100" b="0">
                <a:solidFill>
                  <a:srgbClr val="5F677A"/>
                </a:solidFill>
                <a:latin typeface="Arial"/>
                <a:ea typeface="Microsoft YaHei"/>
              </a:rPr>
              <a:t>49</a:t>
            </a:r>
          </a:p>
        </p:txBody>
      </p:sp>
      <p:sp>
        <p:nvSpPr>
          <p:cNvPr id="7" name="Rounded Rectangle 6">
            <a:hlinkClick action="ppaction://hlinksldjump" r:id="rId2"/>
          </p:cNvPr>
          <p:cNvSpPr/>
          <p:nvPr/>
        </p:nvSpPr>
        <p:spPr>
          <a:xfrm>
            <a:off x="9677095" y="6382512"/>
            <a:ext cx="960120" cy="329184"/>
          </a:xfrm>
          <a:prstGeom prst="roundRect">
            <a:avLst>
              <a:gd name="adj" fmla="val 50000"/>
            </a:avLst>
          </a:prstGeom>
          <a:solidFill>
            <a:srgbClr val="FFE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Aft>
                <a:spcPts val="200"/>
              </a:spcAft>
            </a:pPr>
            <a:r>
              <a:rPr sz="1100" b="1">
                <a:solidFill>
                  <a:srgbClr val="1F2A44"/>
                </a:solidFill>
                <a:latin typeface="Arial"/>
                <a:ea typeface="Microsoft YaHei"/>
              </a:rPr>
              <a:t>🗺 Map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005840"/>
            <a:ext cx="11094415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500" b="0">
                <a:solidFill>
                  <a:srgbClr val="5F677A"/>
                </a:solidFill>
                <a:latin typeface="Arial"/>
                <a:ea typeface="Microsoft YaHei"/>
              </a:rPr>
              <a:t>Model answer (Question 3)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463040"/>
            <a:ext cx="11094415" cy="40690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1371600"/>
            <a:ext cx="9144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5400" b="0">
                <a:solidFill>
                  <a:srgbClr val="4A90E2"/>
                </a:solidFill>
                <a:latin typeface="Arial"/>
                <a:ea typeface="Microsoft YaHei"/>
              </a:rPr>
              <a:t>❝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0" y="1600200"/>
            <a:ext cx="9814255" cy="3794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2600" b="0">
                <a:solidFill>
                  <a:srgbClr val="1F2A44"/>
                </a:solidFill>
                <a:latin typeface="Arial"/>
                <a:ea typeface="Microsoft YaHei"/>
              </a:rPr>
              <a:t>I think small things make a big difference. When a visitor arrives, I always offer a drink and show them where the restrooms are. I also give them the Wi-Fi password straight away because most people need to check their email. If they’ve travelled a long way, I leave ten minutes for them to relax before the meeting. It shows that I’ve thought about them, not just about the schedule.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5760720"/>
            <a:ext cx="11094415" cy="502920"/>
          </a:xfrm>
          <a:prstGeom prst="roundRect">
            <a:avLst>
              <a:gd name="adj" fmla="val 30000"/>
            </a:avLst>
          </a:prstGeom>
          <a:solidFill>
            <a:srgbClr val="FFE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1F2A44"/>
                </a:solidFill>
                <a:latin typeface="Arial"/>
                <a:ea typeface="Microsoft YaHei"/>
              </a:rPr>
              <a:t>💡 “make a big difference”(有很大影响)、“straight away”(马上)、“it shows that…” 都是 B2 常用表达。注意 “a long way”(很远)。</a:t>
            </a:r>
          </a:p>
        </p:txBody>
      </p:sp>
    </p:spTree>
  </p:cSld>
  <p:clrMapOvr>
    <a:masterClrMapping/>
  </p:clrMapOvr>
  <p:transition spd="med">
    <p:fade/>
  </p:transition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3CC4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8442656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3200" b="1">
                <a:solidFill>
                  <a:srgbClr val="1F2A44"/>
                </a:solidFill>
                <a:latin typeface="Arial"/>
                <a:ea typeface="Microsoft YaHei"/>
              </a:rPr>
              <a:t>💡 Offering and responding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74175" y="438912"/>
            <a:ext cx="2560320" cy="475488"/>
          </a:xfrm>
          <a:prstGeom prst="roundRect">
            <a:avLst>
              <a:gd name="adj" fmla="val 50000"/>
            </a:avLst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3152" rIns="73152"/>
          <a:lstStyle/>
          <a:p>
            <a:pPr algn="ctr">
              <a:spcAft>
                <a:spcPts val="200"/>
              </a:spcAft>
            </a:pPr>
            <a:r>
              <a:rPr sz="1300" b="1">
                <a:solidFill>
                  <a:srgbClr val="FFFFFF"/>
                </a:solidFill>
                <a:latin typeface="Arial"/>
                <a:ea typeface="Microsoft YaHei"/>
              </a:rPr>
              <a:t>05 Language Tips 贴士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19088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100" b="0">
                <a:solidFill>
                  <a:srgbClr val="5F677A"/>
                </a:solidFill>
                <a:latin typeface="Arial"/>
                <a:ea typeface="Microsoft YaHei"/>
              </a:rPr>
              <a:t>Business English · Level 4 · Unit 3 · Lesson 07 Company visitors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28655" y="6419088"/>
            <a:ext cx="914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  <a:spcAft>
                <a:spcPts val="800"/>
              </a:spcAft>
            </a:pPr>
            <a:r>
              <a:rPr sz="1100" b="0">
                <a:solidFill>
                  <a:srgbClr val="5F677A"/>
                </a:solidFill>
                <a:latin typeface="Arial"/>
                <a:ea typeface="Microsoft YaHei"/>
              </a:rPr>
              <a:t>50</a:t>
            </a:r>
          </a:p>
        </p:txBody>
      </p:sp>
      <p:sp>
        <p:nvSpPr>
          <p:cNvPr id="7" name="Rounded Rectangle 6">
            <a:hlinkClick action="ppaction://hlinksldjump" r:id="rId2"/>
          </p:cNvPr>
          <p:cNvSpPr/>
          <p:nvPr/>
        </p:nvSpPr>
        <p:spPr>
          <a:xfrm>
            <a:off x="9677095" y="6382512"/>
            <a:ext cx="960120" cy="329184"/>
          </a:xfrm>
          <a:prstGeom prst="roundRect">
            <a:avLst>
              <a:gd name="adj" fmla="val 50000"/>
            </a:avLst>
          </a:prstGeom>
          <a:solidFill>
            <a:srgbClr val="FFE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Aft>
                <a:spcPts val="200"/>
              </a:spcAft>
            </a:pPr>
            <a:r>
              <a:rPr sz="1100" b="1">
                <a:solidFill>
                  <a:srgbClr val="1F2A44"/>
                </a:solidFill>
                <a:latin typeface="Arial"/>
                <a:ea typeface="Microsoft YaHei"/>
              </a:rPr>
              <a:t>🗺 Map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960120"/>
            <a:ext cx="11094415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500" b="0">
                <a:solidFill>
                  <a:srgbClr val="5F677A"/>
                </a:solidFill>
                <a:latin typeface="Arial"/>
                <a:ea typeface="Microsoft YaHei"/>
              </a:rPr>
              <a:t>提供与回应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48640" y="1417320"/>
          <a:ext cx="11094415" cy="18775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98138"/>
                <a:gridCol w="3698138"/>
                <a:gridCol w="3698139"/>
              </a:tblGrid>
              <a:tr h="408432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Arial"/>
                          <a:ea typeface="Microsoft YaHei"/>
                        </a:rPr>
                        <a:t>Offer</a:t>
                      </a:r>
                    </a:p>
                  </a:txBody>
                  <a:tcPr anchor="ctr">
                    <a:solidFill>
                      <a:srgbClr val="3CC49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Arial"/>
                          <a:ea typeface="Microsoft YaHei"/>
                        </a:rPr>
                        <a:t>Accept ✓</a:t>
                      </a:r>
                    </a:p>
                  </a:txBody>
                  <a:tcPr anchor="ctr">
                    <a:solidFill>
                      <a:srgbClr val="3CC49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Arial"/>
                          <a:ea typeface="Microsoft YaHei"/>
                        </a:rPr>
                        <a:t>Decline politely ✓</a:t>
                      </a:r>
                    </a:p>
                  </a:txBody>
                  <a:tcPr anchor="ctr">
                    <a:solidFill>
                      <a:srgbClr val="3CC49A"/>
                    </a:solidFill>
                  </a:tcPr>
                </a:tc>
              </a:tr>
              <a:tr h="652272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1F2A44"/>
                          </a:solidFill>
                          <a:latin typeface="Arial"/>
                          <a:ea typeface="Microsoft YaHei"/>
                        </a:rPr>
                        <a:t>Would you like a coffee?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F2A44"/>
                          </a:solidFill>
                          <a:latin typeface="Arial"/>
                          <a:ea typeface="Microsoft YaHei"/>
                        </a:rPr>
                        <a:t>Yes, please. / That would be lovely.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F2A44"/>
                          </a:solidFill>
                          <a:latin typeface="Arial"/>
                          <a:ea typeface="Microsoft YaHei"/>
                        </a:rPr>
                        <a:t>No, thank you. I’m fine. / I’m OK for now, thanks.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08432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1F2A44"/>
                          </a:solidFill>
                          <a:latin typeface="Arial"/>
                          <a:ea typeface="Microsoft YaHei"/>
                        </a:rPr>
                        <a:t>Shall I take your coat?</a:t>
                      </a:r>
                    </a:p>
                  </a:txBody>
                  <a:tcPr anchor="ctr">
                    <a:solidFill>
                      <a:srgbClr val="FFEFD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F2A44"/>
                          </a:solidFill>
                          <a:latin typeface="Arial"/>
                          <a:ea typeface="Microsoft YaHei"/>
                        </a:rPr>
                        <a:t>Thank you, that’s kind.</a:t>
                      </a:r>
                    </a:p>
                  </a:txBody>
                  <a:tcPr anchor="ctr">
                    <a:solidFill>
                      <a:srgbClr val="FFEFD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F2A44"/>
                          </a:solidFill>
                          <a:latin typeface="Arial"/>
                          <a:ea typeface="Microsoft YaHei"/>
                        </a:rPr>
                        <a:t>It’s OK, I’ll keep it with me.</a:t>
                      </a:r>
                    </a:p>
                  </a:txBody>
                  <a:tcPr anchor="ctr">
                    <a:solidFill>
                      <a:srgbClr val="FFEFD9"/>
                    </a:solidFill>
                  </a:tcPr>
                </a:tc>
              </a:tr>
              <a:tr h="408432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1F2A44"/>
                          </a:solidFill>
                          <a:latin typeface="Arial"/>
                          <a:ea typeface="Microsoft YaHei"/>
                        </a:rPr>
                        <a:t>Can I get you anything?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F2A44"/>
                          </a:solidFill>
                          <a:latin typeface="Arial"/>
                          <a:ea typeface="Microsoft YaHei"/>
                        </a:rPr>
                        <a:t>A glass of water would be great.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F2A44"/>
                          </a:solidFill>
                          <a:latin typeface="Arial"/>
                          <a:ea typeface="Microsoft YaHei"/>
                        </a:rPr>
                        <a:t>Nothing for now, thanks.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 spd="med">
    <p:fade/>
  </p:transition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3CC4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8442656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3200" b="1">
                <a:solidFill>
                  <a:srgbClr val="1F2A44"/>
                </a:solidFill>
                <a:latin typeface="Arial"/>
                <a:ea typeface="Microsoft YaHei"/>
              </a:rPr>
              <a:t>💡 Offering and responding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74175" y="438912"/>
            <a:ext cx="2560320" cy="475488"/>
          </a:xfrm>
          <a:prstGeom prst="roundRect">
            <a:avLst>
              <a:gd name="adj" fmla="val 50000"/>
            </a:avLst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3152" rIns="73152"/>
          <a:lstStyle/>
          <a:p>
            <a:pPr algn="ctr">
              <a:spcAft>
                <a:spcPts val="200"/>
              </a:spcAft>
            </a:pPr>
            <a:r>
              <a:rPr sz="1300" b="1">
                <a:solidFill>
                  <a:srgbClr val="FFFFFF"/>
                </a:solidFill>
                <a:latin typeface="Arial"/>
                <a:ea typeface="Microsoft YaHei"/>
              </a:rPr>
              <a:t>05 Language Tips 贴士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19088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100" b="0">
                <a:solidFill>
                  <a:srgbClr val="5F677A"/>
                </a:solidFill>
                <a:latin typeface="Arial"/>
                <a:ea typeface="Microsoft YaHei"/>
              </a:rPr>
              <a:t>Business English · Level 4 · Unit 3 · Lesson 07 Company visitors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28655" y="6419088"/>
            <a:ext cx="914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  <a:spcAft>
                <a:spcPts val="800"/>
              </a:spcAft>
            </a:pPr>
            <a:r>
              <a:rPr sz="1100" b="0">
                <a:solidFill>
                  <a:srgbClr val="5F677A"/>
                </a:solidFill>
                <a:latin typeface="Arial"/>
                <a:ea typeface="Microsoft YaHei"/>
              </a:rPr>
              <a:t>51</a:t>
            </a:r>
          </a:p>
        </p:txBody>
      </p:sp>
      <p:sp>
        <p:nvSpPr>
          <p:cNvPr id="7" name="Rounded Rectangle 6">
            <a:hlinkClick action="ppaction://hlinksldjump" r:id="rId2"/>
          </p:cNvPr>
          <p:cNvSpPr/>
          <p:nvPr/>
        </p:nvSpPr>
        <p:spPr>
          <a:xfrm>
            <a:off x="9677095" y="6382512"/>
            <a:ext cx="960120" cy="329184"/>
          </a:xfrm>
          <a:prstGeom prst="roundRect">
            <a:avLst>
              <a:gd name="adj" fmla="val 50000"/>
            </a:avLst>
          </a:prstGeom>
          <a:solidFill>
            <a:srgbClr val="FFE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Aft>
                <a:spcPts val="200"/>
              </a:spcAft>
            </a:pPr>
            <a:r>
              <a:rPr sz="1100" b="1">
                <a:solidFill>
                  <a:srgbClr val="1F2A44"/>
                </a:solidFill>
                <a:latin typeface="Arial"/>
                <a:ea typeface="Microsoft YaHei"/>
              </a:rPr>
              <a:t>🗺 Map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960120"/>
            <a:ext cx="11094415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500" b="0">
                <a:solidFill>
                  <a:srgbClr val="5F677A"/>
                </a:solidFill>
                <a:latin typeface="Arial"/>
                <a:ea typeface="Microsoft YaHei"/>
              </a:rPr>
              <a:t>提供与回应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417320"/>
            <a:ext cx="11094415" cy="441959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1417320"/>
            <a:ext cx="91440" cy="441959"/>
          </a:xfrm>
          <a:prstGeom prst="rect">
            <a:avLst/>
          </a:prstGeom>
          <a:solidFill>
            <a:srgbClr val="FF6B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1417320"/>
            <a:ext cx="10728655" cy="44195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700" b="0">
                <a:solidFill>
                  <a:srgbClr val="1F2A44"/>
                </a:solidFill>
                <a:latin typeface="Arial"/>
                <a:ea typeface="Microsoft YaHei"/>
              </a:rPr>
              <a:t>Would you like…? is for offers. Do you want…? sounds blunt to a visitor.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1950719"/>
            <a:ext cx="11094415" cy="701039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48640" y="1950719"/>
            <a:ext cx="91440" cy="701039"/>
          </a:xfrm>
          <a:prstGeom prst="rect">
            <a:avLst/>
          </a:prstGeom>
          <a:solidFill>
            <a:srgbClr val="4A90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1950719"/>
            <a:ext cx="10728655" cy="70103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700" b="0">
                <a:solidFill>
                  <a:srgbClr val="1F2A44"/>
                </a:solidFill>
                <a:latin typeface="Arial"/>
                <a:ea typeface="Microsoft YaHei"/>
              </a:rPr>
              <a:t>Answer Would you like…? with “Yes, please” or “No, thank you”. A bare “Yes” or “No” can sound cold.</a:t>
            </a:r>
          </a:p>
        </p:txBody>
      </p:sp>
    </p:spTree>
  </p:cSld>
  <p:clrMapOvr>
    <a:masterClrMapping/>
  </p:clrMapOvr>
  <p:transition spd="med">
    <p:fade/>
  </p:transition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3CC4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8442656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3000" b="1">
                <a:solidFill>
                  <a:srgbClr val="1F2A44"/>
                </a:solidFill>
                <a:latin typeface="Arial"/>
                <a:ea typeface="Microsoft YaHei"/>
              </a:rPr>
              <a:t>💡 Giving directions inside the building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74175" y="438912"/>
            <a:ext cx="2560320" cy="475488"/>
          </a:xfrm>
          <a:prstGeom prst="roundRect">
            <a:avLst>
              <a:gd name="adj" fmla="val 50000"/>
            </a:avLst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3152" rIns="73152"/>
          <a:lstStyle/>
          <a:p>
            <a:pPr algn="ctr">
              <a:spcAft>
                <a:spcPts val="200"/>
              </a:spcAft>
            </a:pPr>
            <a:r>
              <a:rPr sz="1300" b="1">
                <a:solidFill>
                  <a:srgbClr val="FFFFFF"/>
                </a:solidFill>
                <a:latin typeface="Arial"/>
                <a:ea typeface="Microsoft YaHei"/>
              </a:rPr>
              <a:t>05 Language Tips 贴士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19088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100" b="0">
                <a:solidFill>
                  <a:srgbClr val="5F677A"/>
                </a:solidFill>
                <a:latin typeface="Arial"/>
                <a:ea typeface="Microsoft YaHei"/>
              </a:rPr>
              <a:t>Business English · Level 4 · Unit 3 · Lesson 07 Company visitors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28655" y="6419088"/>
            <a:ext cx="914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  <a:spcAft>
                <a:spcPts val="800"/>
              </a:spcAft>
            </a:pPr>
            <a:r>
              <a:rPr sz="1100" b="0">
                <a:solidFill>
                  <a:srgbClr val="5F677A"/>
                </a:solidFill>
                <a:latin typeface="Arial"/>
                <a:ea typeface="Microsoft YaHei"/>
              </a:rPr>
              <a:t>52</a:t>
            </a:r>
          </a:p>
        </p:txBody>
      </p:sp>
      <p:sp>
        <p:nvSpPr>
          <p:cNvPr id="7" name="Rounded Rectangle 6">
            <a:hlinkClick action="ppaction://hlinksldjump" r:id="rId2"/>
          </p:cNvPr>
          <p:cNvSpPr/>
          <p:nvPr/>
        </p:nvSpPr>
        <p:spPr>
          <a:xfrm>
            <a:off x="9677095" y="6382512"/>
            <a:ext cx="960120" cy="329184"/>
          </a:xfrm>
          <a:prstGeom prst="roundRect">
            <a:avLst>
              <a:gd name="adj" fmla="val 50000"/>
            </a:avLst>
          </a:prstGeom>
          <a:solidFill>
            <a:srgbClr val="FFE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Aft>
                <a:spcPts val="200"/>
              </a:spcAft>
            </a:pPr>
            <a:r>
              <a:rPr sz="1100" b="1">
                <a:solidFill>
                  <a:srgbClr val="1F2A44"/>
                </a:solidFill>
                <a:latin typeface="Arial"/>
                <a:ea typeface="Microsoft YaHei"/>
              </a:rPr>
              <a:t>🗺 Map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960120"/>
            <a:ext cx="11094415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500" b="0">
                <a:solidFill>
                  <a:srgbClr val="5F677A"/>
                </a:solidFill>
                <a:latin typeface="Arial"/>
                <a:ea typeface="Microsoft YaHei"/>
              </a:rPr>
              <a:t>室内指路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48640" y="1417320"/>
          <a:ext cx="11094415" cy="26944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47207"/>
                <a:gridCol w="5547208"/>
              </a:tblGrid>
              <a:tr h="408432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Arial"/>
                          <a:ea typeface="Microsoft YaHei"/>
                        </a:rPr>
                        <a:t>Direction</a:t>
                      </a:r>
                    </a:p>
                  </a:txBody>
                  <a:tcPr anchor="ctr">
                    <a:solidFill>
                      <a:srgbClr val="3CC49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Arial"/>
                          <a:ea typeface="Microsoft YaHei"/>
                        </a:rPr>
                        <a:t>Useful phrase</a:t>
                      </a:r>
                    </a:p>
                  </a:txBody>
                  <a:tcPr anchor="ctr">
                    <a:solidFill>
                      <a:srgbClr val="3CC49A"/>
                    </a:solidFill>
                  </a:tcPr>
                </a:tc>
              </a:tr>
              <a:tr h="408432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1F2A44"/>
                          </a:solidFill>
                          <a:latin typeface="Arial"/>
                          <a:ea typeface="Microsoft YaHei"/>
                        </a:rPr>
                        <a:t>Straight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F2A44"/>
                          </a:solidFill>
                          <a:latin typeface="Arial"/>
                          <a:ea typeface="Microsoft YaHei"/>
                        </a:rPr>
                        <a:t>Go straight along the corridor.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08432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1F2A44"/>
                          </a:solidFill>
                          <a:latin typeface="Arial"/>
                          <a:ea typeface="Microsoft YaHei"/>
                        </a:rPr>
                        <a:t>Turn</a:t>
                      </a:r>
                    </a:p>
                  </a:txBody>
                  <a:tcPr anchor="ctr">
                    <a:solidFill>
                      <a:srgbClr val="FFEFD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F2A44"/>
                          </a:solidFill>
                          <a:latin typeface="Arial"/>
                          <a:ea typeface="Microsoft YaHei"/>
                        </a:rPr>
                        <a:t>Turn left at the end / at the printer.</a:t>
                      </a:r>
                    </a:p>
                  </a:txBody>
                  <a:tcPr anchor="ctr">
                    <a:solidFill>
                      <a:srgbClr val="FFEFD9"/>
                    </a:solidFill>
                  </a:tcPr>
                </a:tc>
              </a:tr>
              <a:tr h="652272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1F2A44"/>
                          </a:solidFill>
                          <a:latin typeface="Arial"/>
                          <a:ea typeface="Microsoft YaHei"/>
                        </a:rPr>
                        <a:t>Floor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F2A44"/>
                          </a:solidFill>
                          <a:latin typeface="Arial"/>
                          <a:ea typeface="Microsoft YaHei"/>
                        </a:rPr>
                        <a:t>It’s on the second floor. Take the stairs or the lift.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08432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1F2A44"/>
                          </a:solidFill>
                          <a:latin typeface="Arial"/>
                          <a:ea typeface="Microsoft YaHei"/>
                        </a:rPr>
                        <a:t>Position</a:t>
                      </a:r>
                    </a:p>
                  </a:txBody>
                  <a:tcPr anchor="ctr">
                    <a:solidFill>
                      <a:srgbClr val="FFEFD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F2A44"/>
                          </a:solidFill>
                          <a:latin typeface="Arial"/>
                          <a:ea typeface="Microsoft YaHei"/>
                        </a:rPr>
                        <a:t>It’s next to / opposite / behind the kitchen.</a:t>
                      </a:r>
                    </a:p>
                  </a:txBody>
                  <a:tcPr anchor="ctr">
                    <a:solidFill>
                      <a:srgbClr val="FFEFD9"/>
                    </a:solidFill>
                  </a:tcPr>
                </a:tc>
              </a:tr>
              <a:tr h="408432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1F2A44"/>
                          </a:solidFill>
                          <a:latin typeface="Arial"/>
                          <a:ea typeface="Microsoft YaHei"/>
                        </a:rPr>
                        <a:t>Time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F2A44"/>
                          </a:solidFill>
                          <a:latin typeface="Arial"/>
                          <a:ea typeface="Microsoft YaHei"/>
                        </a:rPr>
                        <a:t>It’s only a two-minute walk.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 spd="med">
    <p:fade/>
  </p:transition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F6B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8442656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3200" b="1">
                <a:solidFill>
                  <a:srgbClr val="1F2A44"/>
                </a:solidFill>
                <a:latin typeface="Arial"/>
                <a:ea typeface="Microsoft YaHei"/>
              </a:rPr>
              <a:t>🕵️ Spot the Mistake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74175" y="438912"/>
            <a:ext cx="2560320" cy="475488"/>
          </a:xfrm>
          <a:prstGeom prst="roundRect">
            <a:avLst>
              <a:gd name="adj" fmla="val 50000"/>
            </a:avLst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3152" rIns="73152"/>
          <a:lstStyle/>
          <a:p>
            <a:pPr algn="ctr">
              <a:spcAft>
                <a:spcPts val="200"/>
              </a:spcAft>
            </a:pPr>
            <a:r>
              <a:rPr sz="1300" b="1">
                <a:solidFill>
                  <a:srgbClr val="FFFFFF"/>
                </a:solidFill>
                <a:latin typeface="Arial"/>
                <a:ea typeface="Microsoft YaHei"/>
              </a:rPr>
              <a:t>05 Language Tips 贴士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19088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100" b="0">
                <a:solidFill>
                  <a:srgbClr val="5F677A"/>
                </a:solidFill>
                <a:latin typeface="Arial"/>
                <a:ea typeface="Microsoft YaHei"/>
              </a:rPr>
              <a:t>Business English · Level 4 · Unit 3 · Lesson 07 Company visitors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28655" y="6419088"/>
            <a:ext cx="914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  <a:spcAft>
                <a:spcPts val="800"/>
              </a:spcAft>
            </a:pPr>
            <a:r>
              <a:rPr sz="1100" b="0">
                <a:solidFill>
                  <a:srgbClr val="5F677A"/>
                </a:solidFill>
                <a:latin typeface="Arial"/>
                <a:ea typeface="Microsoft YaHei"/>
              </a:rPr>
              <a:t>53</a:t>
            </a:r>
          </a:p>
        </p:txBody>
      </p:sp>
      <p:sp>
        <p:nvSpPr>
          <p:cNvPr id="7" name="Rounded Rectangle 6">
            <a:hlinkClick action="ppaction://hlinksldjump" r:id="rId2"/>
          </p:cNvPr>
          <p:cNvSpPr/>
          <p:nvPr/>
        </p:nvSpPr>
        <p:spPr>
          <a:xfrm>
            <a:off x="9677095" y="6382512"/>
            <a:ext cx="960120" cy="329184"/>
          </a:xfrm>
          <a:prstGeom prst="roundRect">
            <a:avLst>
              <a:gd name="adj" fmla="val 50000"/>
            </a:avLst>
          </a:prstGeom>
          <a:solidFill>
            <a:srgbClr val="FFE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Aft>
                <a:spcPts val="200"/>
              </a:spcAft>
            </a:pPr>
            <a:r>
              <a:rPr sz="1100" b="1">
                <a:solidFill>
                  <a:srgbClr val="1F2A44"/>
                </a:solidFill>
                <a:latin typeface="Arial"/>
                <a:ea typeface="Microsoft YaHei"/>
              </a:rPr>
              <a:t>🗺 Map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024128"/>
            <a:ext cx="11094415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500" b="0">
                <a:solidFill>
                  <a:srgbClr val="5F677A"/>
                </a:solidFill>
                <a:latin typeface="Arial"/>
                <a:ea typeface="Microsoft YaHei"/>
              </a:rPr>
              <a:t>What's wrong? Fix it before you click!  哪里错了？先改正，再点击核对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463040"/>
            <a:ext cx="5455767" cy="609599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31750">
            <a:solidFill>
              <a:srgbClr val="FF6B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FF6B5B"/>
                </a:solidFill>
                <a:latin typeface="Arial"/>
                <a:ea typeface="Microsoft YaHei"/>
              </a:rPr>
              <a:t>✗  Welcome to visit our company.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87287" y="1463040"/>
            <a:ext cx="5455767" cy="609599"/>
          </a:xfrm>
          <a:prstGeom prst="roundRect">
            <a:avLst>
              <a:gd name="adj" fmla="val 15000"/>
            </a:avLst>
          </a:prstGeom>
          <a:solidFill>
            <a:srgbClr val="3CC4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Arial"/>
                <a:ea typeface="Microsoft YaHei"/>
              </a:rPr>
              <a:t>✓  Welcome to our company. / Thank you for coming.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FFFFFF"/>
                </a:solidFill>
                <a:latin typeface="Arial"/>
                <a:ea typeface="Microsoft YaHei"/>
              </a:rPr>
              <a:t>不要直译 “欢迎参观”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2164079"/>
            <a:ext cx="5455767" cy="609599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31750">
            <a:solidFill>
              <a:srgbClr val="FF6B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FF6B5B"/>
                </a:solidFill>
                <a:latin typeface="Arial"/>
                <a:ea typeface="Microsoft YaHei"/>
              </a:rPr>
              <a:t>✗  I will accompany you to the meeting room.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87287" y="2164079"/>
            <a:ext cx="5455767" cy="609599"/>
          </a:xfrm>
          <a:prstGeom prst="roundRect">
            <a:avLst>
              <a:gd name="adj" fmla="val 15000"/>
            </a:avLst>
          </a:prstGeom>
          <a:solidFill>
            <a:srgbClr val="3CC4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Arial"/>
                <a:ea typeface="Microsoft YaHei"/>
              </a:rPr>
              <a:t>✓  I’ll take you to the meeting room.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FFFFFF"/>
                </a:solidFill>
                <a:latin typeface="Arial"/>
                <a:ea typeface="Microsoft YaHei"/>
              </a:rPr>
              <a:t>accompany 太书面,口语用 take you to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2865118"/>
            <a:ext cx="5455767" cy="609599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31750">
            <a:solidFill>
              <a:srgbClr val="FF6B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FF6B5B"/>
                </a:solidFill>
                <a:latin typeface="Arial"/>
                <a:ea typeface="Microsoft YaHei"/>
              </a:rPr>
              <a:t>✗  Do you want a coffee?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87287" y="2865118"/>
            <a:ext cx="5455767" cy="609599"/>
          </a:xfrm>
          <a:prstGeom prst="roundRect">
            <a:avLst>
              <a:gd name="adj" fmla="val 15000"/>
            </a:avLst>
          </a:prstGeom>
          <a:solidFill>
            <a:srgbClr val="3CC4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Arial"/>
                <a:ea typeface="Microsoft YaHei"/>
              </a:rPr>
              <a:t>✓  Would you like a coffee?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FFFFFF"/>
                </a:solidFill>
                <a:latin typeface="Arial"/>
                <a:ea typeface="Microsoft YaHei"/>
              </a:rPr>
              <a:t>对访客用 would like,更礼貌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3566157"/>
            <a:ext cx="5455767" cy="609599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31750">
            <a:solidFill>
              <a:srgbClr val="FF6B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FF6B5B"/>
                </a:solidFill>
                <a:latin typeface="Arial"/>
                <a:ea typeface="Microsoft YaHei"/>
              </a:rPr>
              <a:t>✗  You can use freely the coffee.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87287" y="3566157"/>
            <a:ext cx="5455767" cy="609599"/>
          </a:xfrm>
          <a:prstGeom prst="roundRect">
            <a:avLst>
              <a:gd name="adj" fmla="val 15000"/>
            </a:avLst>
          </a:prstGeom>
          <a:solidFill>
            <a:srgbClr val="3CC4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Arial"/>
                <a:ea typeface="Microsoft YaHei"/>
              </a:rPr>
              <a:t>✓  Please help yourself to the coffee.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FFFFFF"/>
                </a:solidFill>
                <a:latin typeface="Arial"/>
                <a:ea typeface="Microsoft YaHei"/>
              </a:rPr>
              <a:t>help yourself to… 是固定搭配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4267196"/>
            <a:ext cx="5455767" cy="853439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31750">
            <a:solidFill>
              <a:srgbClr val="FF6B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FF6B5B"/>
                </a:solidFill>
                <a:latin typeface="Arial"/>
                <a:ea typeface="Microsoft YaHei"/>
              </a:rPr>
              <a:t>✗  I introduce you our office.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87287" y="4267196"/>
            <a:ext cx="5455767" cy="853439"/>
          </a:xfrm>
          <a:prstGeom prst="roundRect">
            <a:avLst>
              <a:gd name="adj" fmla="val 15000"/>
            </a:avLst>
          </a:prstGeom>
          <a:solidFill>
            <a:srgbClr val="3CC4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Arial"/>
                <a:ea typeface="Microsoft YaHei"/>
              </a:rPr>
              <a:t>✓  I’ll show you around the office. / Let me show you around.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FFFFFF"/>
                </a:solidFill>
                <a:latin typeface="Arial"/>
                <a:ea typeface="Microsoft YaHei"/>
              </a:rPr>
              <a:t>introduce 用于人,参观用 show around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" fill="hold">
                      <p:stCondLst>
                        <p:cond delay="indefinite"/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F6B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8442656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3200" b="1">
                <a:solidFill>
                  <a:srgbClr val="1F2A44"/>
                </a:solidFill>
                <a:latin typeface="Arial"/>
                <a:ea typeface="Microsoft YaHei"/>
              </a:rPr>
              <a:t>🕵️ Spot the Mistake (cont.)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74175" y="438912"/>
            <a:ext cx="2560320" cy="475488"/>
          </a:xfrm>
          <a:prstGeom prst="roundRect">
            <a:avLst>
              <a:gd name="adj" fmla="val 50000"/>
            </a:avLst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3152" rIns="73152"/>
          <a:lstStyle/>
          <a:p>
            <a:pPr algn="ctr">
              <a:spcAft>
                <a:spcPts val="200"/>
              </a:spcAft>
            </a:pPr>
            <a:r>
              <a:rPr sz="1300" b="1">
                <a:solidFill>
                  <a:srgbClr val="FFFFFF"/>
                </a:solidFill>
                <a:latin typeface="Arial"/>
                <a:ea typeface="Microsoft YaHei"/>
              </a:rPr>
              <a:t>05 Language Tips 贴士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19088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100" b="0">
                <a:solidFill>
                  <a:srgbClr val="5F677A"/>
                </a:solidFill>
                <a:latin typeface="Arial"/>
                <a:ea typeface="Microsoft YaHei"/>
              </a:rPr>
              <a:t>Business English · Level 4 · Unit 3 · Lesson 07 Company visitors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28655" y="6419088"/>
            <a:ext cx="914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  <a:spcAft>
                <a:spcPts val="800"/>
              </a:spcAft>
            </a:pPr>
            <a:r>
              <a:rPr sz="1100" b="0">
                <a:solidFill>
                  <a:srgbClr val="5F677A"/>
                </a:solidFill>
                <a:latin typeface="Arial"/>
                <a:ea typeface="Microsoft YaHei"/>
              </a:rPr>
              <a:t>54</a:t>
            </a:r>
          </a:p>
        </p:txBody>
      </p:sp>
      <p:sp>
        <p:nvSpPr>
          <p:cNvPr id="7" name="Rounded Rectangle 6">
            <a:hlinkClick action="ppaction://hlinksldjump" r:id="rId2"/>
          </p:cNvPr>
          <p:cNvSpPr/>
          <p:nvPr/>
        </p:nvSpPr>
        <p:spPr>
          <a:xfrm>
            <a:off x="9677095" y="6382512"/>
            <a:ext cx="960120" cy="329184"/>
          </a:xfrm>
          <a:prstGeom prst="roundRect">
            <a:avLst>
              <a:gd name="adj" fmla="val 50000"/>
            </a:avLst>
          </a:prstGeom>
          <a:solidFill>
            <a:srgbClr val="FFE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Aft>
                <a:spcPts val="200"/>
              </a:spcAft>
            </a:pPr>
            <a:r>
              <a:rPr sz="1100" b="1">
                <a:solidFill>
                  <a:srgbClr val="1F2A44"/>
                </a:solidFill>
                <a:latin typeface="Arial"/>
                <a:ea typeface="Microsoft YaHei"/>
              </a:rPr>
              <a:t>🗺 Map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024128"/>
            <a:ext cx="11094415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500" b="0">
                <a:solidFill>
                  <a:srgbClr val="5F677A"/>
                </a:solidFill>
                <a:latin typeface="Arial"/>
                <a:ea typeface="Microsoft YaHei"/>
              </a:rPr>
              <a:t>What's wrong? Fix it before you click!  哪里错了？先改正，再点击核对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463040"/>
            <a:ext cx="5455767" cy="609599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31750">
            <a:solidFill>
              <a:srgbClr val="FF6B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FF6B5B"/>
                </a:solidFill>
                <a:latin typeface="Arial"/>
                <a:ea typeface="Microsoft YaHei"/>
              </a:rPr>
              <a:t>✗  The toilet is in the end of the corridor.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87287" y="1463040"/>
            <a:ext cx="5455767" cy="609599"/>
          </a:xfrm>
          <a:prstGeom prst="roundRect">
            <a:avLst>
              <a:gd name="adj" fmla="val 15000"/>
            </a:avLst>
          </a:prstGeom>
          <a:solidFill>
            <a:srgbClr val="3CC4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Arial"/>
                <a:ea typeface="Microsoft YaHei"/>
              </a:rPr>
              <a:t>✓  The restroom is at the end of the corridor.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FFFFFF"/>
                </a:solidFill>
                <a:latin typeface="Arial"/>
                <a:ea typeface="Microsoft YaHei"/>
              </a:rPr>
              <a:t>at the end of…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2164079"/>
            <a:ext cx="5455767" cy="609599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31750">
            <a:solidFill>
              <a:srgbClr val="FF6B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FF6B5B"/>
                </a:solidFill>
                <a:latin typeface="Arial"/>
                <a:ea typeface="Microsoft YaHei"/>
              </a:rPr>
              <a:t>✗  The WIFI password is in this card.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87287" y="2164079"/>
            <a:ext cx="5455767" cy="609599"/>
          </a:xfrm>
          <a:prstGeom prst="roundRect">
            <a:avLst>
              <a:gd name="adj" fmla="val 15000"/>
            </a:avLst>
          </a:prstGeom>
          <a:solidFill>
            <a:srgbClr val="3CC4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Arial"/>
                <a:ea typeface="Microsoft YaHei"/>
              </a:rPr>
              <a:t>✓  The Wi-Fi password is on this card.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FFFFFF"/>
                </a:solidFill>
                <a:latin typeface="Arial"/>
                <a:ea typeface="Microsoft YaHei"/>
              </a:rPr>
              <a:t>on the card / on the wall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2865118"/>
            <a:ext cx="5455767" cy="609599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31750">
            <a:solidFill>
              <a:srgbClr val="FF6B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FF6B5B"/>
                </a:solidFill>
                <a:latin typeface="Arial"/>
                <a:ea typeface="Microsoft YaHei"/>
              </a:rPr>
              <a:t>✗  This is the schedule of we visit.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87287" y="2865118"/>
            <a:ext cx="5455767" cy="609599"/>
          </a:xfrm>
          <a:prstGeom prst="roundRect">
            <a:avLst>
              <a:gd name="adj" fmla="val 15000"/>
            </a:avLst>
          </a:prstGeom>
          <a:solidFill>
            <a:srgbClr val="3CC4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Arial"/>
                <a:ea typeface="Microsoft YaHei"/>
              </a:rPr>
              <a:t>✓  This is the schedule for your visit.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FFFFFF"/>
                </a:solidFill>
                <a:latin typeface="Arial"/>
                <a:ea typeface="Microsoft YaHei"/>
              </a:rPr>
              <a:t>所有格 your,介词 for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3566157"/>
            <a:ext cx="5455767" cy="609599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31750">
            <a:solidFill>
              <a:srgbClr val="FF6B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FF6B5B"/>
                </a:solidFill>
                <a:latin typeface="Arial"/>
                <a:ea typeface="Microsoft YaHei"/>
              </a:rPr>
              <a:t>✗  She don’t know the way.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87287" y="3566157"/>
            <a:ext cx="5455767" cy="609599"/>
          </a:xfrm>
          <a:prstGeom prst="roundRect">
            <a:avLst>
              <a:gd name="adj" fmla="val 15000"/>
            </a:avLst>
          </a:prstGeom>
          <a:solidFill>
            <a:srgbClr val="3CC4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Arial"/>
                <a:ea typeface="Microsoft YaHei"/>
              </a:rPr>
              <a:t>✓  She doesn’t know the way.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FFFFFF"/>
                </a:solidFill>
                <a:latin typeface="Arial"/>
                <a:ea typeface="Microsoft YaHei"/>
              </a:rPr>
              <a:t>第三人称否定 doesn’t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5760720"/>
            <a:ext cx="11094415" cy="502920"/>
          </a:xfrm>
          <a:prstGeom prst="roundRect">
            <a:avLst>
              <a:gd name="adj" fmla="val 30000"/>
            </a:avLst>
          </a:prstGeom>
          <a:solidFill>
            <a:srgbClr val="FFE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1F2A44"/>
                </a:solidFill>
                <a:latin typeface="Arial"/>
                <a:ea typeface="Microsoft YaHei"/>
              </a:rPr>
              <a:t>⚠️ Check your offers. Do you say Would you like…? (polite) or Do you want…? (blunt)? Check on this card, at the end of, on the third floor.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" fill="hold">
                      <p:stCondLst>
                        <p:cond delay="indefinite"/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3CC4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8442656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3200" b="1">
                <a:solidFill>
                  <a:srgbClr val="1F2A44"/>
                </a:solidFill>
                <a:latin typeface="Arial"/>
                <a:ea typeface="Microsoft YaHei"/>
              </a:rPr>
              <a:t>🌏 Cultural tips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74175" y="438912"/>
            <a:ext cx="2560320" cy="475488"/>
          </a:xfrm>
          <a:prstGeom prst="roundRect">
            <a:avLst>
              <a:gd name="adj" fmla="val 50000"/>
            </a:avLst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3152" rIns="73152"/>
          <a:lstStyle/>
          <a:p>
            <a:pPr algn="ctr">
              <a:spcAft>
                <a:spcPts val="200"/>
              </a:spcAft>
            </a:pPr>
            <a:r>
              <a:rPr sz="1300" b="1">
                <a:solidFill>
                  <a:srgbClr val="FFFFFF"/>
                </a:solidFill>
                <a:latin typeface="Arial"/>
                <a:ea typeface="Microsoft YaHei"/>
              </a:rPr>
              <a:t>05 Language Tips 贴士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19088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100" b="0">
                <a:solidFill>
                  <a:srgbClr val="5F677A"/>
                </a:solidFill>
                <a:latin typeface="Arial"/>
                <a:ea typeface="Microsoft YaHei"/>
              </a:rPr>
              <a:t>Business English · Level 4 · Unit 3 · Lesson 07 Company visitors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28655" y="6419088"/>
            <a:ext cx="914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  <a:spcAft>
                <a:spcPts val="800"/>
              </a:spcAft>
            </a:pPr>
            <a:r>
              <a:rPr sz="1100" b="0">
                <a:solidFill>
                  <a:srgbClr val="5F677A"/>
                </a:solidFill>
                <a:latin typeface="Arial"/>
                <a:ea typeface="Microsoft YaHei"/>
              </a:rPr>
              <a:t>55</a:t>
            </a:r>
          </a:p>
        </p:txBody>
      </p:sp>
      <p:sp>
        <p:nvSpPr>
          <p:cNvPr id="7" name="Rounded Rectangle 6">
            <a:hlinkClick action="ppaction://hlinksldjump" r:id="rId2"/>
          </p:cNvPr>
          <p:cNvSpPr/>
          <p:nvPr/>
        </p:nvSpPr>
        <p:spPr>
          <a:xfrm>
            <a:off x="9677095" y="6382512"/>
            <a:ext cx="960120" cy="329184"/>
          </a:xfrm>
          <a:prstGeom prst="roundRect">
            <a:avLst>
              <a:gd name="adj" fmla="val 50000"/>
            </a:avLst>
          </a:prstGeom>
          <a:solidFill>
            <a:srgbClr val="FFE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Aft>
                <a:spcPts val="200"/>
              </a:spcAft>
            </a:pPr>
            <a:r>
              <a:rPr sz="1100" b="1">
                <a:solidFill>
                  <a:srgbClr val="1F2A44"/>
                </a:solidFill>
                <a:latin typeface="Arial"/>
                <a:ea typeface="Microsoft YaHei"/>
              </a:rPr>
              <a:t>🗺 Map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960120"/>
            <a:ext cx="11094415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500" b="0">
                <a:solidFill>
                  <a:srgbClr val="5F677A"/>
                </a:solidFill>
                <a:latin typeface="Arial"/>
                <a:ea typeface="Microsoft YaHei"/>
              </a:rPr>
              <a:t>文化小贴士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417320"/>
            <a:ext cx="11094415" cy="9601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1417320"/>
            <a:ext cx="91440" cy="960120"/>
          </a:xfrm>
          <a:prstGeom prst="rect">
            <a:avLst/>
          </a:prstGeom>
          <a:solidFill>
            <a:srgbClr val="FF6B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1417320"/>
            <a:ext cx="1072865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700" b="0">
                <a:solidFill>
                  <a:srgbClr val="1F2A44"/>
                </a:solidFill>
                <a:latin typeface="Arial"/>
                <a:ea typeface="Microsoft YaHei"/>
              </a:rPr>
              <a:t>Ask, don’t assume. Chinese hosts often put food and tea in front of the guest. In Western settings it’s more usual to offer and let the guest choose: “Tea or coffee?” Some guests say no, and that’s fine.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2468880"/>
            <a:ext cx="11094415" cy="441959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48640" y="2468880"/>
            <a:ext cx="91440" cy="441959"/>
          </a:xfrm>
          <a:prstGeom prst="rect">
            <a:avLst/>
          </a:prstGeom>
          <a:solidFill>
            <a:srgbClr val="4A90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2468880"/>
            <a:ext cx="10728655" cy="44195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700" b="0">
                <a:solidFill>
                  <a:srgbClr val="1F2A44"/>
                </a:solidFill>
                <a:latin typeface="Arial"/>
                <a:ea typeface="Microsoft YaHei"/>
              </a:rPr>
              <a:t>Let the visitor go first through doors and into the lift. “After you” is a small sign of respect.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3002279"/>
            <a:ext cx="11094415" cy="701039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48640" y="3002279"/>
            <a:ext cx="91440" cy="701039"/>
          </a:xfrm>
          <a:prstGeom prst="rect">
            <a:avLst/>
          </a:prstGeom>
          <a:solidFill>
            <a:srgbClr val="3CC4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" y="3002279"/>
            <a:ext cx="10728655" cy="70103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700" b="0">
                <a:solidFill>
                  <a:srgbClr val="1F2A44"/>
                </a:solidFill>
                <a:latin typeface="Arial"/>
                <a:ea typeface="Microsoft YaHei"/>
              </a:rPr>
              <a:t>Tell the guest the plan. Westerners like to know the schedule and the time of the next break. A one-page itinerary is normal.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3794758"/>
            <a:ext cx="11094415" cy="701039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48640" y="3794758"/>
            <a:ext cx="91440" cy="701039"/>
          </a:xfrm>
          <a:prstGeom prst="rect">
            <a:avLst/>
          </a:prstGeom>
          <a:solidFill>
            <a:srgbClr val="FFC8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" y="3794758"/>
            <a:ext cx="10728655" cy="70103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700" b="0">
                <a:solidFill>
                  <a:srgbClr val="1F2A44"/>
                </a:solidFill>
                <a:latin typeface="Arial"/>
                <a:ea typeface="Microsoft YaHei"/>
              </a:rPr>
              <a:t>Don’t over-insist. If a guest says “No, thank you, I’m fine”, accept it once. Pushing three times can feel uncomfortable.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8640" y="4587237"/>
            <a:ext cx="11094415" cy="441959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48640" y="4587237"/>
            <a:ext cx="91440" cy="441959"/>
          </a:xfrm>
          <a:prstGeom prst="rect">
            <a:avLst/>
          </a:prstGeom>
          <a:solidFill>
            <a:srgbClr val="9B6B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77240" y="4587237"/>
            <a:ext cx="10728655" cy="44195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700" b="1">
                <a:solidFill>
                  <a:srgbClr val="9B6BE0"/>
                </a:solidFill>
                <a:latin typeface="Arial"/>
                <a:ea typeface="Microsoft YaHei"/>
              </a:rPr>
              <a:t>Privacy: </a:t>
            </a:r>
            <a:r>
              <a:rPr sz="1700" b="0">
                <a:solidFill>
                  <a:srgbClr val="1F2A44"/>
                </a:solidFill>
                <a:latin typeface="Arial"/>
                <a:ea typeface="Microsoft YaHei"/>
              </a:rPr>
              <a:t>Check before photographing or showing screens with sensitive information during a tour.</a:t>
            </a:r>
          </a:p>
        </p:txBody>
      </p:sp>
    </p:spTree>
  </p:cSld>
  <p:clrMapOvr>
    <a:masterClrMapping/>
  </p:clrMapOvr>
  <p:transition spd="med">
    <p:fade/>
  </p:transition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3CC4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8442656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3200" b="1">
                <a:solidFill>
                  <a:srgbClr val="1F2A44"/>
                </a:solidFill>
                <a:latin typeface="Arial"/>
                <a:ea typeface="Microsoft YaHei"/>
              </a:rPr>
              <a:t>✅ Can-do Check 掌握度自检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74175" y="438912"/>
            <a:ext cx="2560320" cy="475488"/>
          </a:xfrm>
          <a:prstGeom prst="roundRect">
            <a:avLst>
              <a:gd name="adj" fmla="val 50000"/>
            </a:avLst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3152" rIns="73152"/>
          <a:lstStyle/>
          <a:p>
            <a:pPr algn="ctr">
              <a:spcAft>
                <a:spcPts val="200"/>
              </a:spcAft>
            </a:pPr>
            <a:r>
              <a:rPr sz="1300" b="1">
                <a:solidFill>
                  <a:srgbClr val="FFFFFF"/>
                </a:solidFill>
                <a:latin typeface="Arial"/>
                <a:ea typeface="Microsoft YaHei"/>
              </a:rPr>
              <a:t>Lesson 07 wrap-up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19088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100" b="0">
                <a:solidFill>
                  <a:srgbClr val="5F677A"/>
                </a:solidFill>
                <a:latin typeface="Arial"/>
                <a:ea typeface="Microsoft YaHei"/>
              </a:rPr>
              <a:t>Business English · Level 4 · Unit 3 · Lesson 07 Company visitors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28655" y="6419088"/>
            <a:ext cx="914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  <a:spcAft>
                <a:spcPts val="800"/>
              </a:spcAft>
            </a:pPr>
            <a:r>
              <a:rPr sz="1100" b="0">
                <a:solidFill>
                  <a:srgbClr val="5F677A"/>
                </a:solidFill>
                <a:latin typeface="Arial"/>
                <a:ea typeface="Microsoft YaHei"/>
              </a:rPr>
              <a:t>56</a:t>
            </a:r>
          </a:p>
        </p:txBody>
      </p:sp>
      <p:sp>
        <p:nvSpPr>
          <p:cNvPr id="7" name="Rounded Rectangle 6">
            <a:hlinkClick action="ppaction://hlinksldjump" r:id="rId2"/>
          </p:cNvPr>
          <p:cNvSpPr/>
          <p:nvPr/>
        </p:nvSpPr>
        <p:spPr>
          <a:xfrm>
            <a:off x="9677095" y="6382512"/>
            <a:ext cx="960120" cy="329184"/>
          </a:xfrm>
          <a:prstGeom prst="roundRect">
            <a:avLst>
              <a:gd name="adj" fmla="val 50000"/>
            </a:avLst>
          </a:prstGeom>
          <a:solidFill>
            <a:srgbClr val="FFE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Aft>
                <a:spcPts val="200"/>
              </a:spcAft>
            </a:pPr>
            <a:r>
              <a:rPr sz="1100" b="1">
                <a:solidFill>
                  <a:srgbClr val="1F2A44"/>
                </a:solidFill>
                <a:latin typeface="Arial"/>
                <a:ea typeface="Microsoft YaHei"/>
              </a:rPr>
              <a:t>🗺 Map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024128"/>
            <a:ext cx="11094415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500" b="0">
                <a:solidFill>
                  <a:srgbClr val="5F677A"/>
                </a:solidFill>
                <a:latin typeface="Arial"/>
                <a:ea typeface="Microsoft YaHei"/>
              </a:rPr>
              <a:t>Rate yourself: ⭐ not yet · ⭐⭐ almost · ⭐⭐⭐ I can do it!  给自己打星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508760"/>
            <a:ext cx="11094415" cy="810768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1508760"/>
            <a:ext cx="548640" cy="8107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2400" b="0">
                <a:solidFill>
                  <a:srgbClr val="3CC49A"/>
                </a:solidFill>
                <a:latin typeface="Arial"/>
                <a:ea typeface="Microsoft YaHei"/>
              </a:rPr>
              <a:t>☐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4440" y="1508760"/>
            <a:ext cx="8168335" cy="8107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2000" b="0">
                <a:solidFill>
                  <a:srgbClr val="1F2A44"/>
                </a:solidFill>
                <a:latin typeface="Arial"/>
                <a:ea typeface="Microsoft YaHei"/>
              </a:rPr>
              <a:t>I can welcome a visitor and offer a drink with Would you like…?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539935" y="1508760"/>
            <a:ext cx="2011680" cy="8107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800"/>
              </a:spcAft>
            </a:pPr>
            <a:r>
              <a:rPr sz="2200" b="0">
                <a:solidFill>
                  <a:srgbClr val="FFC857"/>
                </a:solidFill>
                <a:latin typeface="Arial"/>
                <a:ea typeface="Microsoft YaHei"/>
              </a:rPr>
              <a:t>☆ ☆ ☆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2410968"/>
            <a:ext cx="11094415" cy="810768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5800" y="2410968"/>
            <a:ext cx="548640" cy="8107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2400" b="0">
                <a:solidFill>
                  <a:srgbClr val="3CC49A"/>
                </a:solidFill>
                <a:latin typeface="Arial"/>
                <a:ea typeface="Microsoft YaHei"/>
              </a:rPr>
              <a:t>☐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34440" y="2410968"/>
            <a:ext cx="8168335" cy="8107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2000" b="0">
                <a:solidFill>
                  <a:srgbClr val="1F2A44"/>
                </a:solidFill>
                <a:latin typeface="Arial"/>
                <a:ea typeface="Microsoft YaHei"/>
              </a:rPr>
              <a:t>I can show a visitor around with Let me show you around and This way, please.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539935" y="2410968"/>
            <a:ext cx="2011680" cy="8107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800"/>
              </a:spcAft>
            </a:pPr>
            <a:r>
              <a:rPr sz="2200" b="0">
                <a:solidFill>
                  <a:srgbClr val="FFC857"/>
                </a:solidFill>
                <a:latin typeface="Arial"/>
                <a:ea typeface="Microsoft YaHei"/>
              </a:rPr>
              <a:t>☆ ☆ ☆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3313176"/>
            <a:ext cx="11094415" cy="505968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5800" y="3313176"/>
            <a:ext cx="548640" cy="5059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2400" b="0">
                <a:solidFill>
                  <a:srgbClr val="3CC49A"/>
                </a:solidFill>
                <a:latin typeface="Arial"/>
                <a:ea typeface="Microsoft YaHei"/>
              </a:rPr>
              <a:t>☐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34440" y="3313176"/>
            <a:ext cx="8168335" cy="5059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2000" b="0">
                <a:solidFill>
                  <a:srgbClr val="1F2A44"/>
                </a:solidFill>
                <a:latin typeface="Arial"/>
                <a:ea typeface="Microsoft YaHei"/>
              </a:rPr>
              <a:t>I can explain Wi-Fi, restrooms and the schedule clearly.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539935" y="3313176"/>
            <a:ext cx="2011680" cy="5059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800"/>
              </a:spcAft>
            </a:pPr>
            <a:r>
              <a:rPr sz="2200" b="0">
                <a:solidFill>
                  <a:srgbClr val="FFC857"/>
                </a:solidFill>
                <a:latin typeface="Arial"/>
                <a:ea typeface="Microsoft YaHei"/>
              </a:rPr>
              <a:t>☆ ☆ ☆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8640" y="3910584"/>
            <a:ext cx="11094415" cy="810768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85800" y="3910584"/>
            <a:ext cx="548640" cy="8107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2400" b="0">
                <a:solidFill>
                  <a:srgbClr val="3CC49A"/>
                </a:solidFill>
                <a:latin typeface="Arial"/>
                <a:ea typeface="Microsoft YaHei"/>
              </a:rPr>
              <a:t>☐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34440" y="3910584"/>
            <a:ext cx="8168335" cy="8107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2000" b="0">
                <a:solidFill>
                  <a:srgbClr val="1F2A44"/>
                </a:solidFill>
                <a:latin typeface="Arial"/>
                <a:ea typeface="Microsoft YaHei"/>
              </a:rPr>
              <a:t>I can handle a request or a delay politely (Shall I…? I’m afraid we’re running behind…).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539935" y="3910584"/>
            <a:ext cx="2011680" cy="8107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800"/>
              </a:spcAft>
            </a:pPr>
            <a:r>
              <a:rPr sz="2200" b="0">
                <a:solidFill>
                  <a:srgbClr val="FFC857"/>
                </a:solidFill>
                <a:latin typeface="Arial"/>
                <a:ea typeface="Microsoft YaHei"/>
              </a:rPr>
              <a:t>☆ ☆ ☆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48640" y="4812792"/>
            <a:ext cx="11094415" cy="810768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85800" y="4812792"/>
            <a:ext cx="548640" cy="8107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2400" b="0">
                <a:solidFill>
                  <a:srgbClr val="3CC49A"/>
                </a:solidFill>
                <a:latin typeface="Arial"/>
                <a:ea typeface="Microsoft YaHei"/>
              </a:rPr>
              <a:t>☐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234440" y="4812792"/>
            <a:ext cx="8168335" cy="8107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2000" b="0">
                <a:solidFill>
                  <a:srgbClr val="1F2A44"/>
                </a:solidFill>
                <a:latin typeface="Arial"/>
                <a:ea typeface="Microsoft YaHei"/>
              </a:rPr>
              <a:t>I can use on / at / for correctly (on this card, at the end of, for your visit).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539935" y="4812792"/>
            <a:ext cx="2011680" cy="8107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800"/>
              </a:spcAft>
            </a:pPr>
            <a:r>
              <a:rPr sz="2200" b="0">
                <a:solidFill>
                  <a:srgbClr val="FFC857"/>
                </a:solidFill>
                <a:latin typeface="Arial"/>
                <a:ea typeface="Microsoft YaHei"/>
              </a:rPr>
              <a:t>☆ ☆ ☆</a:t>
            </a:r>
          </a:p>
        </p:txBody>
      </p:sp>
    </p:spTree>
  </p:cSld>
  <p:clrMapOvr>
    <a:masterClrMapping/>
  </p:clrMapOvr>
  <p:transition spd="med">
    <p:fade/>
  </p:transition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4A90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8442656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3200" b="1">
                <a:solidFill>
                  <a:srgbClr val="1F2A44"/>
                </a:solidFill>
                <a:latin typeface="Arial"/>
                <a:ea typeface="Microsoft YaHei"/>
              </a:rPr>
              <a:t>🏠 After Class: 10-Minute Daily Plan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74175" y="438912"/>
            <a:ext cx="2560320" cy="475488"/>
          </a:xfrm>
          <a:prstGeom prst="roundRect">
            <a:avLst>
              <a:gd name="adj" fmla="val 50000"/>
            </a:avLst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3152" rIns="73152"/>
          <a:lstStyle/>
          <a:p>
            <a:pPr algn="ctr">
              <a:spcAft>
                <a:spcPts val="200"/>
              </a:spcAft>
            </a:pPr>
            <a:r>
              <a:rPr sz="1300" b="1">
                <a:solidFill>
                  <a:srgbClr val="FFFFFF"/>
                </a:solidFill>
                <a:latin typeface="Arial"/>
                <a:ea typeface="Microsoft YaHei"/>
              </a:rPr>
              <a:t>课后练习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19088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100" b="0">
                <a:solidFill>
                  <a:srgbClr val="5F677A"/>
                </a:solidFill>
                <a:latin typeface="Arial"/>
                <a:ea typeface="Microsoft YaHei"/>
              </a:rPr>
              <a:t>Business English · Level 4 · Unit 3 · Lesson 07 Company visitors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28655" y="6419088"/>
            <a:ext cx="914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  <a:spcAft>
                <a:spcPts val="800"/>
              </a:spcAft>
            </a:pPr>
            <a:r>
              <a:rPr sz="1100" b="0">
                <a:solidFill>
                  <a:srgbClr val="5F677A"/>
                </a:solidFill>
                <a:latin typeface="Arial"/>
                <a:ea typeface="Microsoft YaHei"/>
              </a:rPr>
              <a:t>57</a:t>
            </a:r>
          </a:p>
        </p:txBody>
      </p:sp>
      <p:sp>
        <p:nvSpPr>
          <p:cNvPr id="7" name="Rounded Rectangle 6">
            <a:hlinkClick action="ppaction://hlinksldjump" r:id="rId2"/>
          </p:cNvPr>
          <p:cNvSpPr/>
          <p:nvPr/>
        </p:nvSpPr>
        <p:spPr>
          <a:xfrm>
            <a:off x="9677095" y="6382512"/>
            <a:ext cx="960120" cy="329184"/>
          </a:xfrm>
          <a:prstGeom prst="roundRect">
            <a:avLst>
              <a:gd name="adj" fmla="val 50000"/>
            </a:avLst>
          </a:prstGeom>
          <a:solidFill>
            <a:srgbClr val="FFE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Aft>
                <a:spcPts val="200"/>
              </a:spcAft>
            </a:pPr>
            <a:r>
              <a:rPr sz="1100" b="1">
                <a:solidFill>
                  <a:srgbClr val="1F2A44"/>
                </a:solidFill>
                <a:latin typeface="Arial"/>
                <a:ea typeface="Microsoft YaHei"/>
              </a:rPr>
              <a:t>🗺 Map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325880"/>
            <a:ext cx="1554480" cy="713232"/>
          </a:xfrm>
          <a:prstGeom prst="roundRect">
            <a:avLst>
              <a:gd name="adj" fmla="val 20000"/>
            </a:avLst>
          </a:prstGeom>
          <a:solidFill>
            <a:srgbClr val="FF6B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Aft>
                <a:spcPts val="200"/>
              </a:spcAft>
            </a:pPr>
            <a:r>
              <a:rPr sz="1500" b="1">
                <a:solidFill>
                  <a:srgbClr val="FFFFFF"/>
                </a:solidFill>
                <a:latin typeface="Arial"/>
                <a:ea typeface="Microsoft YaHei"/>
              </a:rPr>
              <a:t>⏱ 0–2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240280" y="1325880"/>
            <a:ext cx="9402775" cy="713232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l">
              <a:spcAft>
                <a:spcPts val="200"/>
              </a:spcAft>
            </a:pPr>
            <a:r>
              <a:rPr sz="1800" b="1">
                <a:solidFill>
                  <a:srgbClr val="1F2A44"/>
                </a:solidFill>
                <a:latin typeface="Arial"/>
                <a:ea typeface="Microsoft YaHei"/>
              </a:rPr>
              <a:t>Read the 15 expressions aloud. Cover the English and say it from the Chinese. Make 2 true sentences with ★ items.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112264"/>
            <a:ext cx="1554480" cy="438912"/>
          </a:xfrm>
          <a:prstGeom prst="roundRect">
            <a:avLst>
              <a:gd name="adj" fmla="val 20000"/>
            </a:avLst>
          </a:prstGeom>
          <a:solidFill>
            <a:srgbClr val="4A90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Aft>
                <a:spcPts val="200"/>
              </a:spcAft>
            </a:pPr>
            <a:r>
              <a:rPr sz="1500" b="1">
                <a:solidFill>
                  <a:srgbClr val="FFFFFF"/>
                </a:solidFill>
                <a:latin typeface="Arial"/>
                <a:ea typeface="Microsoft YaHei"/>
              </a:rPr>
              <a:t>⏱ 2–5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240280" y="2112264"/>
            <a:ext cx="9402775" cy="438912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l">
              <a:spcAft>
                <a:spcPts val="200"/>
              </a:spcAft>
            </a:pPr>
            <a:r>
              <a:rPr sz="1800" b="1">
                <a:solidFill>
                  <a:srgbClr val="1F2A44"/>
                </a:solidFill>
                <a:latin typeface="Arial"/>
                <a:ea typeface="Microsoft YaHei"/>
              </a:rPr>
              <a:t>Shadow the model dialogue or model email (copy the rhythm and intonation).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2624328"/>
            <a:ext cx="1554480" cy="438912"/>
          </a:xfrm>
          <a:prstGeom prst="roundRect">
            <a:avLst>
              <a:gd name="adj" fmla="val 20000"/>
            </a:avLst>
          </a:prstGeom>
          <a:solidFill>
            <a:srgbClr val="3CC4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Aft>
                <a:spcPts val="200"/>
              </a:spcAft>
            </a:pPr>
            <a:r>
              <a:rPr sz="1500" b="1">
                <a:solidFill>
                  <a:srgbClr val="FFFFFF"/>
                </a:solidFill>
                <a:latin typeface="Arial"/>
                <a:ea typeface="Microsoft YaHei"/>
              </a:rPr>
              <a:t>⏱ 5–8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240280" y="2624328"/>
            <a:ext cx="9402775" cy="438912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l">
              <a:spcAft>
                <a:spcPts val="200"/>
              </a:spcAft>
            </a:pPr>
            <a:r>
              <a:rPr sz="1800" b="1">
                <a:solidFill>
                  <a:srgbClr val="1F2A44"/>
                </a:solidFill>
                <a:latin typeface="Arial"/>
                <a:ea typeface="Microsoft YaHei"/>
              </a:rPr>
              <a:t>Do the role play with the blank role card. Record yourself.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3136392"/>
            <a:ext cx="1554480" cy="713232"/>
          </a:xfrm>
          <a:prstGeom prst="roundRect">
            <a:avLst>
              <a:gd name="adj" fmla="val 20000"/>
            </a:avLst>
          </a:prstGeom>
          <a:solidFill>
            <a:srgbClr val="FFC8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Aft>
                <a:spcPts val="200"/>
              </a:spcAft>
            </a:pPr>
            <a:r>
              <a:rPr sz="1500" b="1">
                <a:solidFill>
                  <a:srgbClr val="FFFFFF"/>
                </a:solidFill>
                <a:latin typeface="Arial"/>
                <a:ea typeface="Microsoft YaHei"/>
              </a:rPr>
              <a:t>⏱ 8–10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240280" y="3136392"/>
            <a:ext cx="9402775" cy="713232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l">
              <a:spcAft>
                <a:spcPts val="200"/>
              </a:spcAft>
            </a:pPr>
            <a:r>
              <a:rPr sz="1800" b="1">
                <a:solidFill>
                  <a:srgbClr val="1F2A44"/>
                </a:solidFill>
                <a:latin typeface="Arial"/>
                <a:ea typeface="Microsoft YaHei"/>
              </a:rPr>
              <a:t>Listen to the recording. Check: Would you like…? (not Do you want…?), prepositions (on, at, for), and -s on he/she verbs. Write 3 corrections.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5760720"/>
            <a:ext cx="11094415" cy="502920"/>
          </a:xfrm>
          <a:prstGeom prst="roundRect">
            <a:avLst>
              <a:gd name="adj" fmla="val 30000"/>
            </a:avLst>
          </a:prstGeom>
          <a:solidFill>
            <a:srgbClr val="FFE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1F2A44"/>
                </a:solidFill>
                <a:latin typeface="Arial"/>
                <a:ea typeface="Microsoft YaHei"/>
              </a:rPr>
              <a:t>📅 Weekly rhythm: Mon–Tue Scenario 1 · Wed–Thu Scenario 2 · Fri Level-up variation · Weekend: record the 1-minute speaking prompt again and compare with Monday.</a:t>
            </a:r>
          </a:p>
        </p:txBody>
      </p:sp>
    </p:spTree>
  </p:cSld>
  <p:clrMapOvr>
    <a:masterClrMapping/>
  </p:clrMapOvr>
  <p:transition spd="med">
    <p:fade/>
  </p:transition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6419088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100" b="0">
                <a:solidFill>
                  <a:srgbClr val="FFC857"/>
                </a:solidFill>
                <a:latin typeface="Arial"/>
                <a:ea typeface="Microsoft YaHei"/>
              </a:rPr>
              <a:t>Business English · Level 4 · Unit 3 · Lesson 08 Visitors to the company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728655" y="6419088"/>
            <a:ext cx="914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  <a:spcAft>
                <a:spcPts val="800"/>
              </a:spcAft>
            </a:pPr>
            <a:r>
              <a:rPr sz="1100" b="0">
                <a:solidFill>
                  <a:srgbClr val="FFC857"/>
                </a:solidFill>
                <a:latin typeface="Arial"/>
                <a:ea typeface="Microsoft YaHei"/>
              </a:rPr>
              <a:t>58</a:t>
            </a:r>
          </a:p>
        </p:txBody>
      </p:sp>
      <p:sp>
        <p:nvSpPr>
          <p:cNvPr id="4" name="Rounded Rectangle 3">
            <a:hlinkClick action="ppaction://hlinksldjump" r:id="rId2"/>
          </p:cNvPr>
          <p:cNvSpPr/>
          <p:nvPr/>
        </p:nvSpPr>
        <p:spPr>
          <a:xfrm>
            <a:off x="9677095" y="6382512"/>
            <a:ext cx="960120" cy="329184"/>
          </a:xfrm>
          <a:prstGeom prst="roundRect">
            <a:avLst>
              <a:gd name="adj" fmla="val 50000"/>
            </a:avLst>
          </a:prstGeom>
          <a:solidFill>
            <a:srgbClr val="3642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Aft>
                <a:spcPts val="200"/>
              </a:spcAft>
            </a:pPr>
            <a:r>
              <a:rPr sz="1100" b="1">
                <a:solidFill>
                  <a:srgbClr val="FFFFFF"/>
                </a:solidFill>
                <a:latin typeface="Arial"/>
                <a:ea typeface="Microsoft YaHei"/>
              </a:rPr>
              <a:t>🗺 Map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685800"/>
            <a:ext cx="1097280" cy="91440"/>
          </a:xfrm>
          <a:prstGeom prst="rect">
            <a:avLst/>
          </a:prstGeom>
          <a:solidFill>
            <a:srgbClr val="3CC4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822960"/>
            <a:ext cx="5486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2200" b="1">
                <a:solidFill>
                  <a:srgbClr val="FFC857"/>
                </a:solidFill>
                <a:latin typeface="Arial"/>
                <a:ea typeface="Microsoft YaHei"/>
              </a:rPr>
              <a:t>LESSON 08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280160"/>
            <a:ext cx="10515600" cy="12801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5400" b="1">
                <a:solidFill>
                  <a:srgbClr val="FFFFFF"/>
                </a:solidFill>
                <a:latin typeface="Arial"/>
                <a:ea typeface="Microsoft YaHei"/>
              </a:rPr>
              <a:t>Visitors to the company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560320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2400" b="0">
                <a:solidFill>
                  <a:srgbClr val="FFFFFF"/>
                </a:solidFill>
                <a:latin typeface="Arial"/>
                <a:ea typeface="Microsoft YaHei"/>
              </a:rPr>
              <a:t>访问公司的人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246120"/>
            <a:ext cx="105156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700" b="0">
                <a:solidFill>
                  <a:srgbClr val="FFC857"/>
                </a:solidFill>
                <a:latin typeface="Arial"/>
                <a:ea typeface="Microsoft YaHei"/>
              </a:rPr>
              <a:t>🎯 visit another company politely and professionally: introduce yourself, apologize for being early or late, make polite requests, thank your host, and communicate clearly with the employees you meet.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4389120"/>
            <a:ext cx="1956816" cy="1143000"/>
          </a:xfrm>
          <a:prstGeom prst="roundRect">
            <a:avLst>
              <a:gd name="adj" fmla="val 20000"/>
            </a:avLst>
          </a:prstGeom>
          <a:solidFill>
            <a:srgbClr val="3CC4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Arial"/>
                <a:ea typeface="Microsoft YaHei"/>
              </a:rPr>
              <a:t>🔥 01</a:t>
            </a:r>
          </a:p>
          <a:p>
            <a:pPr algn="ctr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Arial"/>
                <a:ea typeface="Microsoft YaHei"/>
              </a:rPr>
              <a:t>Warm up</a:t>
            </a:r>
          </a:p>
          <a:p>
            <a:pPr algn="ctr">
              <a:spcAft>
                <a:spcPts val="200"/>
              </a:spcAft>
            </a:pPr>
            <a:r>
              <a:rPr sz="1300" b="0">
                <a:solidFill>
                  <a:srgbClr val="FFFFFF"/>
                </a:solidFill>
                <a:latin typeface="Arial"/>
                <a:ea typeface="Microsoft YaHei"/>
              </a:rPr>
              <a:t>热身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962656" y="4389120"/>
            <a:ext cx="1956816" cy="1143000"/>
          </a:xfrm>
          <a:prstGeom prst="roundRect">
            <a:avLst>
              <a:gd name="adj" fmla="val 20000"/>
            </a:avLst>
          </a:prstGeom>
          <a:solidFill>
            <a:srgbClr val="FFC8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Arial"/>
                <a:ea typeface="Microsoft YaHei"/>
              </a:rPr>
              <a:t>📚 02</a:t>
            </a:r>
          </a:p>
          <a:p>
            <a:pPr algn="ctr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Arial"/>
                <a:ea typeface="Microsoft YaHei"/>
              </a:rPr>
              <a:t>Vocabulary</a:t>
            </a:r>
          </a:p>
          <a:p>
            <a:pPr algn="ctr">
              <a:spcAft>
                <a:spcPts val="200"/>
              </a:spcAft>
            </a:pPr>
            <a:r>
              <a:rPr sz="1300" b="0">
                <a:solidFill>
                  <a:srgbClr val="FFFFFF"/>
                </a:solidFill>
                <a:latin typeface="Arial"/>
                <a:ea typeface="Microsoft YaHei"/>
              </a:rPr>
              <a:t>词汇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102352" y="4389120"/>
            <a:ext cx="1956816" cy="1143000"/>
          </a:xfrm>
          <a:prstGeom prst="roundRect">
            <a:avLst>
              <a:gd name="adj" fmla="val 20000"/>
            </a:avLst>
          </a:prstGeom>
          <a:solidFill>
            <a:srgbClr val="9B6B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Arial"/>
                <a:ea typeface="Microsoft YaHei"/>
              </a:rPr>
              <a:t>🎭 03</a:t>
            </a:r>
          </a:p>
          <a:p>
            <a:pPr algn="ctr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Arial"/>
                <a:ea typeface="Microsoft YaHei"/>
              </a:rPr>
              <a:t>Role play</a:t>
            </a:r>
          </a:p>
          <a:p>
            <a:pPr algn="ctr">
              <a:spcAft>
                <a:spcPts val="200"/>
              </a:spcAft>
            </a:pPr>
            <a:r>
              <a:rPr sz="1300" b="0">
                <a:solidFill>
                  <a:srgbClr val="FFFFFF"/>
                </a:solidFill>
                <a:latin typeface="Arial"/>
                <a:ea typeface="Microsoft YaHei"/>
              </a:rPr>
              <a:t>角色扮演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242048" y="4389120"/>
            <a:ext cx="1956816" cy="1143000"/>
          </a:xfrm>
          <a:prstGeom prst="roundRect">
            <a:avLst>
              <a:gd name="adj" fmla="val 20000"/>
            </a:avLst>
          </a:prstGeom>
          <a:solidFill>
            <a:srgbClr val="FF6B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Arial"/>
                <a:ea typeface="Microsoft YaHei"/>
              </a:rPr>
              <a:t>💬 04</a:t>
            </a:r>
          </a:p>
          <a:p>
            <a:pPr algn="ctr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Arial"/>
                <a:ea typeface="Microsoft YaHei"/>
              </a:rPr>
              <a:t>Discussion</a:t>
            </a:r>
          </a:p>
          <a:p>
            <a:pPr algn="ctr">
              <a:spcAft>
                <a:spcPts val="200"/>
              </a:spcAft>
            </a:pPr>
            <a:r>
              <a:rPr sz="1300" b="0">
                <a:solidFill>
                  <a:srgbClr val="FFFFFF"/>
                </a:solidFill>
                <a:latin typeface="Arial"/>
                <a:ea typeface="Microsoft YaHei"/>
              </a:rPr>
              <a:t>讨论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381744" y="4389120"/>
            <a:ext cx="1956816" cy="1143000"/>
          </a:xfrm>
          <a:prstGeom prst="roundRect">
            <a:avLst>
              <a:gd name="adj" fmla="val 20000"/>
            </a:avLst>
          </a:prstGeom>
          <a:solidFill>
            <a:srgbClr val="4A90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Arial"/>
                <a:ea typeface="Microsoft YaHei"/>
              </a:rPr>
              <a:t>💡 05</a:t>
            </a:r>
          </a:p>
          <a:p>
            <a:pPr algn="ctr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Arial"/>
                <a:ea typeface="Microsoft YaHei"/>
              </a:rPr>
              <a:t>Language Tips</a:t>
            </a:r>
          </a:p>
          <a:p>
            <a:pPr algn="ctr">
              <a:spcAft>
                <a:spcPts val="200"/>
              </a:spcAft>
            </a:pPr>
            <a:r>
              <a:rPr sz="1300" b="0">
                <a:solidFill>
                  <a:srgbClr val="FFFFFF"/>
                </a:solidFill>
                <a:latin typeface="Arial"/>
                <a:ea typeface="Microsoft YaHei"/>
              </a:rPr>
              <a:t>语言贴士</a:t>
            </a:r>
          </a:p>
        </p:txBody>
      </p:sp>
    </p:spTree>
  </p:cSld>
  <p:clrMapOvr>
    <a:masterClrMapping/>
  </p:clrMapOvr>
  <p:transition spd="med">
    <p:fade/>
  </p:transition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F6B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8442656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3200" b="1">
                <a:solidFill>
                  <a:srgbClr val="1F2A44"/>
                </a:solidFill>
                <a:latin typeface="Arial"/>
                <a:ea typeface="Microsoft YaHei"/>
              </a:rPr>
              <a:t>🔥 Warm up · Ice-breaker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74175" y="438912"/>
            <a:ext cx="2560320" cy="475488"/>
          </a:xfrm>
          <a:prstGeom prst="roundRect">
            <a:avLst>
              <a:gd name="adj" fmla="val 50000"/>
            </a:avLst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3152" rIns="73152"/>
          <a:lstStyle/>
          <a:p>
            <a:pPr algn="ctr">
              <a:spcAft>
                <a:spcPts val="200"/>
              </a:spcAft>
            </a:pPr>
            <a:r>
              <a:rPr sz="1300" b="1">
                <a:solidFill>
                  <a:srgbClr val="FFFFFF"/>
                </a:solidFill>
                <a:latin typeface="Arial"/>
                <a:ea typeface="Microsoft YaHei"/>
              </a:rPr>
              <a:t>01 Warm up 热身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19088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100" b="0">
                <a:solidFill>
                  <a:srgbClr val="5F677A"/>
                </a:solidFill>
                <a:latin typeface="Arial"/>
                <a:ea typeface="Microsoft YaHei"/>
              </a:rPr>
              <a:t>Business English · Level 4 · Unit 3 · Lesson 08 Visitors to the company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28655" y="6419088"/>
            <a:ext cx="914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  <a:spcAft>
                <a:spcPts val="800"/>
              </a:spcAft>
            </a:pPr>
            <a:r>
              <a:rPr sz="1100" b="0">
                <a:solidFill>
                  <a:srgbClr val="5F677A"/>
                </a:solidFill>
                <a:latin typeface="Arial"/>
                <a:ea typeface="Microsoft YaHei"/>
              </a:rPr>
              <a:t>59</a:t>
            </a:r>
          </a:p>
        </p:txBody>
      </p:sp>
      <p:sp>
        <p:nvSpPr>
          <p:cNvPr id="7" name="Rounded Rectangle 6">
            <a:hlinkClick action="ppaction://hlinksldjump" r:id="rId2"/>
          </p:cNvPr>
          <p:cNvSpPr/>
          <p:nvPr/>
        </p:nvSpPr>
        <p:spPr>
          <a:xfrm>
            <a:off x="9677095" y="6382512"/>
            <a:ext cx="960120" cy="329184"/>
          </a:xfrm>
          <a:prstGeom prst="roundRect">
            <a:avLst>
              <a:gd name="adj" fmla="val 50000"/>
            </a:avLst>
          </a:prstGeom>
          <a:solidFill>
            <a:srgbClr val="FFE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Aft>
                <a:spcPts val="200"/>
              </a:spcAft>
            </a:pPr>
            <a:r>
              <a:rPr sz="1100" b="1">
                <a:solidFill>
                  <a:srgbClr val="1F2A44"/>
                </a:solidFill>
                <a:latin typeface="Arial"/>
                <a:ea typeface="Microsoft YaHei"/>
              </a:rPr>
              <a:t>🗺 Map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024128"/>
            <a:ext cx="11094415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500" b="0">
                <a:solidFill>
                  <a:srgbClr val="5F677A"/>
                </a:solidFill>
                <a:latin typeface="Arial"/>
                <a:ea typeface="Microsoft YaHei"/>
              </a:rPr>
              <a:t>Answer in 2–3 sentences. Say it out loud!  用 2–3 句话回答，大声说出来</a:t>
            </a:r>
          </a:p>
        </p:txBody>
      </p:sp>
      <p:sp>
        <p:nvSpPr>
          <p:cNvPr id="9" name="Oval 8"/>
          <p:cNvSpPr/>
          <p:nvPr/>
        </p:nvSpPr>
        <p:spPr>
          <a:xfrm>
            <a:off x="548640" y="1592580"/>
            <a:ext cx="502920" cy="502920"/>
          </a:xfrm>
          <a:prstGeom prst="ellipse">
            <a:avLst/>
          </a:prstGeom>
          <a:solidFill>
            <a:srgbClr val="FF6B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FFFFFF"/>
                </a:solidFill>
                <a:latin typeface="Arial"/>
                <a:ea typeface="Microsoft YaHei"/>
              </a:rPr>
              <a:t>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234440" y="1554480"/>
            <a:ext cx="10408615" cy="57912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325880" y="1554480"/>
            <a:ext cx="10180015" cy="579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2300" b="0">
                <a:solidFill>
                  <a:srgbClr val="1F2A44"/>
                </a:solidFill>
                <a:latin typeface="Arial"/>
                <a:ea typeface="Microsoft YaHei"/>
              </a:rPr>
              <a:t>When you visit another company, how early do you try to arrive? Why?</a:t>
            </a:r>
          </a:p>
        </p:txBody>
      </p:sp>
      <p:sp>
        <p:nvSpPr>
          <p:cNvPr id="12" name="Oval 11"/>
          <p:cNvSpPr/>
          <p:nvPr/>
        </p:nvSpPr>
        <p:spPr>
          <a:xfrm>
            <a:off x="548640" y="2281428"/>
            <a:ext cx="502920" cy="502920"/>
          </a:xfrm>
          <a:prstGeom prst="ellipse">
            <a:avLst/>
          </a:prstGeom>
          <a:solidFill>
            <a:srgbClr val="4A90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FFFFFF"/>
                </a:solidFill>
                <a:latin typeface="Arial"/>
                <a:ea typeface="Microsoft YaHei"/>
              </a:rPr>
              <a:t>2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234440" y="2243328"/>
            <a:ext cx="10408615" cy="57912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25880" y="2243328"/>
            <a:ext cx="10180015" cy="579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2300" b="0">
                <a:solidFill>
                  <a:srgbClr val="1F2A44"/>
                </a:solidFill>
                <a:latin typeface="Arial"/>
                <a:ea typeface="Microsoft YaHei"/>
              </a:rPr>
              <a:t>What do you say to the receptionist when you arrive?</a:t>
            </a:r>
          </a:p>
        </p:txBody>
      </p:sp>
      <p:sp>
        <p:nvSpPr>
          <p:cNvPr id="15" name="Oval 14"/>
          <p:cNvSpPr/>
          <p:nvPr/>
        </p:nvSpPr>
        <p:spPr>
          <a:xfrm>
            <a:off x="548640" y="3145536"/>
            <a:ext cx="502920" cy="502920"/>
          </a:xfrm>
          <a:prstGeom prst="ellipse">
            <a:avLst/>
          </a:prstGeom>
          <a:solidFill>
            <a:srgbClr val="3CC4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FFFFFF"/>
                </a:solidFill>
                <a:latin typeface="Arial"/>
                <a:ea typeface="Microsoft YaHei"/>
              </a:rPr>
              <a:t>3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234440" y="2932176"/>
            <a:ext cx="10408615" cy="92964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325880" y="2932176"/>
            <a:ext cx="10180015" cy="929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2300" b="0">
                <a:solidFill>
                  <a:srgbClr val="1F2A44"/>
                </a:solidFill>
                <a:latin typeface="Arial"/>
                <a:ea typeface="Microsoft YaHei"/>
              </a:rPr>
              <a:t>What is the polite way to ask for something (for example Wi-Fi or a quiet room) when you are a guest?</a:t>
            </a:r>
          </a:p>
        </p:txBody>
      </p:sp>
      <p:sp>
        <p:nvSpPr>
          <p:cNvPr id="18" name="Oval 17"/>
          <p:cNvSpPr/>
          <p:nvPr/>
        </p:nvSpPr>
        <p:spPr>
          <a:xfrm>
            <a:off x="548640" y="4009644"/>
            <a:ext cx="502920" cy="502920"/>
          </a:xfrm>
          <a:prstGeom prst="ellipse">
            <a:avLst/>
          </a:prstGeom>
          <a:solidFill>
            <a:srgbClr val="FFC8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FFFFFF"/>
                </a:solidFill>
                <a:latin typeface="Arial"/>
                <a:ea typeface="Microsoft YaHei"/>
              </a:rPr>
              <a:t>4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234440" y="3971544"/>
            <a:ext cx="10408615" cy="57912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325880" y="3971544"/>
            <a:ext cx="10180015" cy="579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2300" b="0">
                <a:solidFill>
                  <a:srgbClr val="1F2A44"/>
                </a:solidFill>
                <a:latin typeface="Arial"/>
                <a:ea typeface="Microsoft YaHei"/>
              </a:rPr>
              <a:t>Have you ever been late for a business visit? What did you say?</a:t>
            </a:r>
          </a:p>
        </p:txBody>
      </p:sp>
      <p:sp>
        <p:nvSpPr>
          <p:cNvPr id="21" name="Oval 20"/>
          <p:cNvSpPr/>
          <p:nvPr/>
        </p:nvSpPr>
        <p:spPr>
          <a:xfrm>
            <a:off x="548640" y="4698492"/>
            <a:ext cx="502920" cy="502920"/>
          </a:xfrm>
          <a:prstGeom prst="ellipse">
            <a:avLst/>
          </a:prstGeom>
          <a:solidFill>
            <a:srgbClr val="9B6B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FFFFFF"/>
                </a:solidFill>
                <a:latin typeface="Arial"/>
                <a:ea typeface="Microsoft YaHei"/>
              </a:rPr>
              <a:t>5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234440" y="4660392"/>
            <a:ext cx="10408615" cy="57912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325880" y="4660392"/>
            <a:ext cx="10180015" cy="579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2300" b="0">
                <a:solidFill>
                  <a:srgbClr val="1F2A44"/>
                </a:solidFill>
                <a:latin typeface="Arial"/>
                <a:ea typeface="Microsoft YaHei"/>
              </a:rPr>
              <a:t>What do you do before a visit to prepare yourself?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548640" y="5760720"/>
            <a:ext cx="11094415" cy="502920"/>
          </a:xfrm>
          <a:prstGeom prst="roundRect">
            <a:avLst>
              <a:gd name="adj" fmla="val 30000"/>
            </a:avLst>
          </a:prstGeom>
          <a:solidFill>
            <a:srgbClr val="FFE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l">
              <a:spcAft>
                <a:spcPts val="200"/>
              </a:spcAft>
            </a:pPr>
            <a:r>
              <a:rPr sz="1500" b="1">
                <a:solidFill>
                  <a:srgbClr val="1F2A44"/>
                </a:solidFill>
                <a:latin typeface="Arial"/>
                <a:ea typeface="Microsoft YaHei"/>
              </a:rPr>
              <a:t>💡 第 4 题讲过去的事,请用过去式(was, got, said)。第 2 题可以直接说 “I say…”。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FC8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8442656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3200" b="1">
                <a:solidFill>
                  <a:srgbClr val="1F2A44"/>
                </a:solidFill>
                <a:latin typeface="Arial"/>
                <a:ea typeface="Microsoft YaHei"/>
              </a:rPr>
              <a:t>⏱ 1-Minute Challenge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74175" y="438912"/>
            <a:ext cx="2560320" cy="475488"/>
          </a:xfrm>
          <a:prstGeom prst="roundRect">
            <a:avLst>
              <a:gd name="adj" fmla="val 50000"/>
            </a:avLst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3152" rIns="73152"/>
          <a:lstStyle/>
          <a:p>
            <a:pPr algn="ctr">
              <a:spcAft>
                <a:spcPts val="200"/>
              </a:spcAft>
            </a:pPr>
            <a:r>
              <a:rPr sz="1300" b="1">
                <a:solidFill>
                  <a:srgbClr val="FFFFFF"/>
                </a:solidFill>
                <a:latin typeface="Arial"/>
                <a:ea typeface="Microsoft YaHei"/>
              </a:rPr>
              <a:t>01 Warm up 热身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19088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100" b="0">
                <a:solidFill>
                  <a:srgbClr val="5F677A"/>
                </a:solidFill>
                <a:latin typeface="Arial"/>
                <a:ea typeface="Microsoft YaHei"/>
              </a:rPr>
              <a:t>Business English · Level 4 · Unit 3 · Lesson 08 Visitors to the company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28655" y="6419088"/>
            <a:ext cx="914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  <a:spcAft>
                <a:spcPts val="800"/>
              </a:spcAft>
            </a:pPr>
            <a:r>
              <a:rPr sz="1100" b="0">
                <a:solidFill>
                  <a:srgbClr val="5F677A"/>
                </a:solidFill>
                <a:latin typeface="Arial"/>
                <a:ea typeface="Microsoft YaHei"/>
              </a:rPr>
              <a:t>60</a:t>
            </a:r>
          </a:p>
        </p:txBody>
      </p:sp>
      <p:sp>
        <p:nvSpPr>
          <p:cNvPr id="7" name="Rounded Rectangle 6">
            <a:hlinkClick action="ppaction://hlinksldjump" r:id="rId2"/>
          </p:cNvPr>
          <p:cNvSpPr/>
          <p:nvPr/>
        </p:nvSpPr>
        <p:spPr>
          <a:xfrm>
            <a:off x="9677095" y="6382512"/>
            <a:ext cx="960120" cy="329184"/>
          </a:xfrm>
          <a:prstGeom prst="roundRect">
            <a:avLst>
              <a:gd name="adj" fmla="val 50000"/>
            </a:avLst>
          </a:prstGeom>
          <a:solidFill>
            <a:srgbClr val="FFE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Aft>
                <a:spcPts val="200"/>
              </a:spcAft>
            </a:pPr>
            <a:r>
              <a:rPr sz="1100" b="1">
                <a:solidFill>
                  <a:srgbClr val="1F2A44"/>
                </a:solidFill>
                <a:latin typeface="Arial"/>
                <a:ea typeface="Microsoft YaHei"/>
              </a:rPr>
              <a:t>🗺 Map</a:t>
            </a:r>
          </a:p>
        </p:txBody>
      </p:sp>
      <p:sp>
        <p:nvSpPr>
          <p:cNvPr id="8" name="Oval 7"/>
          <p:cNvSpPr/>
          <p:nvPr/>
        </p:nvSpPr>
        <p:spPr>
          <a:xfrm>
            <a:off x="9814255" y="1463040"/>
            <a:ext cx="1737360" cy="1737360"/>
          </a:xfrm>
          <a:prstGeom prst="ellipse">
            <a:avLst/>
          </a:prstGeom>
          <a:solidFill>
            <a:srgbClr val="FF6B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Aft>
                <a:spcPts val="200"/>
              </a:spcAft>
            </a:pPr>
            <a:r>
              <a:rPr sz="4000" b="1">
                <a:solidFill>
                  <a:srgbClr val="FFFFFF"/>
                </a:solidFill>
                <a:latin typeface="Arial"/>
                <a:ea typeface="Microsoft YaHei"/>
              </a:rPr>
              <a:t>⏱</a:t>
            </a:r>
          </a:p>
          <a:p>
            <a:pPr algn="ctr">
              <a:spcAft>
                <a:spcPts val="200"/>
              </a:spcAft>
            </a:pPr>
            <a:r>
              <a:rPr sz="2600" b="1">
                <a:solidFill>
                  <a:srgbClr val="FFFFFF"/>
                </a:solidFill>
                <a:latin typeface="Arial"/>
                <a:ea typeface="Microsoft YaHei"/>
              </a:rPr>
              <a:t>60s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417320"/>
            <a:ext cx="877824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400" b="0">
                <a:solidFill>
                  <a:srgbClr val="5F677A"/>
                </a:solidFill>
                <a:latin typeface="Arial"/>
                <a:ea typeface="Microsoft YaHei"/>
              </a:rPr>
              <a:t>TOPIC</a:t>
            </a:r>
          </a:p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3000" b="1">
                <a:solidFill>
                  <a:srgbClr val="1F2A44"/>
                </a:solidFill>
                <a:latin typeface="Arial"/>
                <a:ea typeface="Microsoft YaHei"/>
              </a:rPr>
              <a:t>Describe how you prepare for and behave during a visit to a client’s office.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3017520"/>
            <a:ext cx="1901952" cy="868680"/>
          </a:xfrm>
          <a:prstGeom prst="roundRect">
            <a:avLst>
              <a:gd name="adj" fmla="val 20000"/>
            </a:avLst>
          </a:prstGeom>
          <a:solidFill>
            <a:srgbClr val="FF6B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FFFFFF"/>
                </a:solidFill>
                <a:latin typeface="Arial"/>
                <a:ea typeface="Microsoft YaHei"/>
              </a:rPr>
              <a:t>1. before the visit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587752" y="3017520"/>
            <a:ext cx="1901952" cy="868680"/>
          </a:xfrm>
          <a:prstGeom prst="roundRect">
            <a:avLst>
              <a:gd name="adj" fmla="val 20000"/>
            </a:avLst>
          </a:prstGeom>
          <a:solidFill>
            <a:srgbClr val="4A90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FFFFFF"/>
                </a:solidFill>
                <a:latin typeface="Arial"/>
                <a:ea typeface="Microsoft YaHei"/>
              </a:rPr>
              <a:t>2. arriving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626864" y="3017520"/>
            <a:ext cx="1901952" cy="868680"/>
          </a:xfrm>
          <a:prstGeom prst="roundRect">
            <a:avLst>
              <a:gd name="adj" fmla="val 20000"/>
            </a:avLst>
          </a:prstGeom>
          <a:solidFill>
            <a:srgbClr val="3CC4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FFFFFF"/>
                </a:solidFill>
                <a:latin typeface="Arial"/>
                <a:ea typeface="Microsoft YaHei"/>
              </a:rPr>
              <a:t>3. introducing yourself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665976" y="3017520"/>
            <a:ext cx="1901952" cy="868680"/>
          </a:xfrm>
          <a:prstGeom prst="roundRect">
            <a:avLst>
              <a:gd name="adj" fmla="val 20000"/>
            </a:avLst>
          </a:prstGeom>
          <a:solidFill>
            <a:srgbClr val="FFC8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FFFFFF"/>
                </a:solidFill>
                <a:latin typeface="Arial"/>
                <a:ea typeface="Microsoft YaHei"/>
              </a:rPr>
              <a:t>4. being a polite guest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705088" y="3017520"/>
            <a:ext cx="1901952" cy="868680"/>
          </a:xfrm>
          <a:prstGeom prst="roundRect">
            <a:avLst>
              <a:gd name="adj" fmla="val 20000"/>
            </a:avLst>
          </a:prstGeom>
          <a:solidFill>
            <a:srgbClr val="9B6B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FFFFFF"/>
                </a:solidFill>
                <a:latin typeface="Arial"/>
                <a:ea typeface="Microsoft YaHei"/>
              </a:rPr>
              <a:t>5. thanking your host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4069080"/>
            <a:ext cx="11094415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400" b="0">
                <a:solidFill>
                  <a:srgbClr val="5F677A"/>
                </a:solidFill>
                <a:latin typeface="Arial"/>
                <a:ea typeface="Microsoft YaHei"/>
              </a:rPr>
              <a:t>Useful starters 开头句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4389120"/>
            <a:ext cx="11094415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2000" b="1">
                <a:solidFill>
                  <a:srgbClr val="1F2A44"/>
                </a:solidFill>
                <a:latin typeface="Arial"/>
                <a:ea typeface="Microsoft YaHei"/>
              </a:rPr>
              <a:t>💬 Before I go, I always…   💬 When I arrive, I tell the receptionist…   💬 At the end, I thank…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5760720"/>
            <a:ext cx="11094415" cy="502920"/>
          </a:xfrm>
          <a:prstGeom prst="roundRect">
            <a:avLst>
              <a:gd name="adj" fmla="val 30000"/>
            </a:avLst>
          </a:prstGeom>
          <a:solidFill>
            <a:srgbClr val="FFE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l">
              <a:spcAft>
                <a:spcPts val="200"/>
              </a:spcAft>
            </a:pPr>
            <a:r>
              <a:rPr sz="1500" b="1">
                <a:solidFill>
                  <a:srgbClr val="1F2A44"/>
                </a:solidFill>
                <a:latin typeface="Arial"/>
                <a:ea typeface="Microsoft YaHei"/>
              </a:rPr>
              <a:t>💡 向别人提要求时多用 Could / Would / Would you mind…?。thank 后面的人称要对:thank my host。</a:t>
            </a:r>
          </a:p>
        </p:txBody>
      </p:sp>
    </p:spTree>
  </p:cSld>
  <p:clrMapOvr>
    <a:masterClrMapping/>
  </p:clrMapOvr>
  <p:transition spd="med">
    <p:fade/>
  </p:transition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4A90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8442656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2600" b="1">
                <a:solidFill>
                  <a:srgbClr val="1F2A44"/>
                </a:solidFill>
                <a:latin typeface="Arial"/>
                <a:ea typeface="Microsoft YaHei"/>
              </a:rPr>
              <a:t>📚 Chunk 1: Arriving and introducing yourself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74175" y="438912"/>
            <a:ext cx="2560320" cy="475488"/>
          </a:xfrm>
          <a:prstGeom prst="roundRect">
            <a:avLst>
              <a:gd name="adj" fmla="val 50000"/>
            </a:avLst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3152" rIns="73152"/>
          <a:lstStyle/>
          <a:p>
            <a:pPr algn="ctr">
              <a:spcAft>
                <a:spcPts val="200"/>
              </a:spcAft>
            </a:pPr>
            <a:r>
              <a:rPr sz="1300" b="1">
                <a:solidFill>
                  <a:srgbClr val="FFFFFF"/>
                </a:solidFill>
                <a:latin typeface="Arial"/>
                <a:ea typeface="Microsoft YaHei"/>
              </a:rPr>
              <a:t>02 Vocabulary 词汇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19088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100" b="0">
                <a:solidFill>
                  <a:srgbClr val="5F677A"/>
                </a:solidFill>
                <a:latin typeface="Arial"/>
                <a:ea typeface="Microsoft YaHei"/>
              </a:rPr>
              <a:t>Business English · Level 4 · Unit 3 · Lesson 08 Visitors to the company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28655" y="6419088"/>
            <a:ext cx="914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  <a:spcAft>
                <a:spcPts val="800"/>
              </a:spcAft>
            </a:pPr>
            <a:r>
              <a:rPr sz="1100" b="0">
                <a:solidFill>
                  <a:srgbClr val="5F677A"/>
                </a:solidFill>
                <a:latin typeface="Arial"/>
                <a:ea typeface="Microsoft YaHei"/>
              </a:rPr>
              <a:t>61</a:t>
            </a:r>
          </a:p>
        </p:txBody>
      </p:sp>
      <p:sp>
        <p:nvSpPr>
          <p:cNvPr id="7" name="Rounded Rectangle 6">
            <a:hlinkClick action="ppaction://hlinksldjump" r:id="rId2"/>
          </p:cNvPr>
          <p:cNvSpPr/>
          <p:nvPr/>
        </p:nvSpPr>
        <p:spPr>
          <a:xfrm>
            <a:off x="9677095" y="6382512"/>
            <a:ext cx="960120" cy="329184"/>
          </a:xfrm>
          <a:prstGeom prst="roundRect">
            <a:avLst>
              <a:gd name="adj" fmla="val 50000"/>
            </a:avLst>
          </a:prstGeom>
          <a:solidFill>
            <a:srgbClr val="FFE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Aft>
                <a:spcPts val="200"/>
              </a:spcAft>
            </a:pPr>
            <a:r>
              <a:rPr sz="1100" b="1">
                <a:solidFill>
                  <a:srgbClr val="1F2A44"/>
                </a:solidFill>
                <a:latin typeface="Arial"/>
                <a:ea typeface="Microsoft YaHei"/>
              </a:rPr>
              <a:t>🗺 Map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960120"/>
            <a:ext cx="11094415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500" b="0">
                <a:solidFill>
                  <a:srgbClr val="5F677A"/>
                </a:solidFill>
                <a:latin typeface="Arial"/>
                <a:ea typeface="Microsoft YaHei"/>
              </a:rPr>
              <a:t>到达与自我介绍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417320"/>
            <a:ext cx="11094415" cy="93522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1417320"/>
            <a:ext cx="91440" cy="935228"/>
          </a:xfrm>
          <a:prstGeom prst="rect">
            <a:avLst/>
          </a:prstGeom>
          <a:solidFill>
            <a:srgbClr val="FF6B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1463040"/>
            <a:ext cx="3429000" cy="8712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2000" b="1">
                <a:solidFill>
                  <a:srgbClr val="1F2A44"/>
                </a:solidFill>
                <a:latin typeface="Arial"/>
                <a:ea typeface="Microsoft YaHei"/>
              </a:rPr>
              <a:t>I have a meeting with… at…</a:t>
            </a:r>
          </a:p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300" b="0">
                <a:solidFill>
                  <a:srgbClr val="5F677A"/>
                </a:solidFill>
                <a:latin typeface="Arial"/>
                <a:ea typeface="Microsoft YaHei"/>
              </a:rPr>
              <a:t>phrase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06240" y="1463040"/>
            <a:ext cx="2377440" cy="8712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700" b="1">
                <a:solidFill>
                  <a:srgbClr val="FF6B5B"/>
                </a:solidFill>
                <a:latin typeface="Arial"/>
                <a:ea typeface="Microsoft YaHei"/>
              </a:rPr>
              <a:t>我和……约了……点开会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75120" y="1463040"/>
            <a:ext cx="4846320" cy="8712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700" b="0" i="1">
                <a:solidFill>
                  <a:srgbClr val="1F2A44"/>
                </a:solidFill>
                <a:latin typeface="Arial"/>
                <a:ea typeface="Microsoft YaHei"/>
              </a:rPr>
              <a:t>“I have a meeting with Ms Lin at ten o’clock.”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2425700"/>
            <a:ext cx="11094415" cy="93522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48640" y="2425700"/>
            <a:ext cx="91440" cy="935228"/>
          </a:xfrm>
          <a:prstGeom prst="rect">
            <a:avLst/>
          </a:prstGeom>
          <a:solidFill>
            <a:srgbClr val="4A90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2471420"/>
            <a:ext cx="3429000" cy="8712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2000" b="1">
                <a:solidFill>
                  <a:srgbClr val="1F2A44"/>
                </a:solidFill>
                <a:latin typeface="Arial"/>
                <a:ea typeface="Microsoft YaHei"/>
              </a:rPr>
              <a:t>I’m a few minutes early.</a:t>
            </a:r>
          </a:p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300" b="0">
                <a:solidFill>
                  <a:srgbClr val="5F677A"/>
                </a:solidFill>
                <a:latin typeface="Arial"/>
                <a:ea typeface="Microsoft YaHei"/>
              </a:rPr>
              <a:t>phrase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06240" y="2471420"/>
            <a:ext cx="2377440" cy="8712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700" b="1">
                <a:solidFill>
                  <a:srgbClr val="FF6B5B"/>
                </a:solidFill>
                <a:latin typeface="Arial"/>
                <a:ea typeface="Microsoft YaHei"/>
              </a:rPr>
              <a:t>我早到了几分钟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75120" y="2471420"/>
            <a:ext cx="4846320" cy="8712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700" b="0" i="1">
                <a:solidFill>
                  <a:srgbClr val="1F2A44"/>
                </a:solidFill>
                <a:latin typeface="Arial"/>
                <a:ea typeface="Microsoft YaHei"/>
              </a:rPr>
              <a:t>“I’m a few minutes early. I can wait here.”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3434080"/>
            <a:ext cx="11094415" cy="93522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48640" y="3434080"/>
            <a:ext cx="91440" cy="935228"/>
          </a:xfrm>
          <a:prstGeom prst="rect">
            <a:avLst/>
          </a:prstGeom>
          <a:solidFill>
            <a:srgbClr val="9B6B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1520" y="3479800"/>
            <a:ext cx="3429000" cy="8712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2000" b="1">
                <a:solidFill>
                  <a:srgbClr val="9B6BE0"/>
                </a:solidFill>
                <a:latin typeface="Arial"/>
                <a:ea typeface="Microsoft YaHei"/>
              </a:rPr>
              <a:t>★ I got held up in traffic.</a:t>
            </a:r>
          </a:p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300" b="0">
                <a:solidFill>
                  <a:srgbClr val="5F677A"/>
                </a:solidFill>
                <a:latin typeface="Arial"/>
                <a:ea typeface="Microsoft YaHei"/>
              </a:rPr>
              <a:t>phrase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206240" y="3479800"/>
            <a:ext cx="2377440" cy="8712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700" b="1">
                <a:solidFill>
                  <a:srgbClr val="FF6B5B"/>
                </a:solidFill>
                <a:latin typeface="Arial"/>
                <a:ea typeface="Microsoft YaHei"/>
              </a:rPr>
              <a:t>我在路上被堵住了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75120" y="3479800"/>
            <a:ext cx="4846320" cy="8712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700" b="0" i="1">
                <a:solidFill>
                  <a:srgbClr val="1F2A44"/>
                </a:solidFill>
                <a:latin typeface="Arial"/>
                <a:ea typeface="Microsoft YaHei"/>
              </a:rPr>
              <a:t>“I’m so sorry I’m late. I got held up in traffic.”</a:t>
            </a:r>
          </a:p>
        </p:txBody>
      </p:sp>
    </p:spTree>
  </p:cSld>
  <p:clrMapOvr>
    <a:masterClrMapping/>
  </p:clrMapOvr>
  <p:transition spd="med">
    <p:fade/>
  </p:transition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4A90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8442656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2200" b="1">
                <a:solidFill>
                  <a:srgbClr val="1F2A44"/>
                </a:solidFill>
                <a:latin typeface="Arial"/>
                <a:ea typeface="Microsoft YaHei"/>
              </a:rPr>
              <a:t>📚 Chunk 1: Arriving and introducing yourself (cont.)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74175" y="438912"/>
            <a:ext cx="2560320" cy="475488"/>
          </a:xfrm>
          <a:prstGeom prst="roundRect">
            <a:avLst>
              <a:gd name="adj" fmla="val 50000"/>
            </a:avLst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3152" rIns="73152"/>
          <a:lstStyle/>
          <a:p>
            <a:pPr algn="ctr">
              <a:spcAft>
                <a:spcPts val="200"/>
              </a:spcAft>
            </a:pPr>
            <a:r>
              <a:rPr sz="1300" b="1">
                <a:solidFill>
                  <a:srgbClr val="FFFFFF"/>
                </a:solidFill>
                <a:latin typeface="Arial"/>
                <a:ea typeface="Microsoft YaHei"/>
              </a:rPr>
              <a:t>02 Vocabulary 词汇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19088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100" b="0">
                <a:solidFill>
                  <a:srgbClr val="5F677A"/>
                </a:solidFill>
                <a:latin typeface="Arial"/>
                <a:ea typeface="Microsoft YaHei"/>
              </a:rPr>
              <a:t>Business English · Level 4 · Unit 3 · Lesson 08 Visitors to the company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28655" y="6419088"/>
            <a:ext cx="914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  <a:spcAft>
                <a:spcPts val="800"/>
              </a:spcAft>
            </a:pPr>
            <a:r>
              <a:rPr sz="1100" b="0">
                <a:solidFill>
                  <a:srgbClr val="5F677A"/>
                </a:solidFill>
                <a:latin typeface="Arial"/>
                <a:ea typeface="Microsoft YaHei"/>
              </a:rPr>
              <a:t>62</a:t>
            </a:r>
          </a:p>
        </p:txBody>
      </p:sp>
      <p:sp>
        <p:nvSpPr>
          <p:cNvPr id="7" name="Rounded Rectangle 6">
            <a:hlinkClick action="ppaction://hlinksldjump" r:id="rId2"/>
          </p:cNvPr>
          <p:cNvSpPr/>
          <p:nvPr/>
        </p:nvSpPr>
        <p:spPr>
          <a:xfrm>
            <a:off x="9677095" y="6382512"/>
            <a:ext cx="960120" cy="329184"/>
          </a:xfrm>
          <a:prstGeom prst="roundRect">
            <a:avLst>
              <a:gd name="adj" fmla="val 50000"/>
            </a:avLst>
          </a:prstGeom>
          <a:solidFill>
            <a:srgbClr val="FFE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Aft>
                <a:spcPts val="200"/>
              </a:spcAft>
            </a:pPr>
            <a:r>
              <a:rPr sz="1100" b="1">
                <a:solidFill>
                  <a:srgbClr val="1F2A44"/>
                </a:solidFill>
                <a:latin typeface="Arial"/>
                <a:ea typeface="Microsoft YaHei"/>
              </a:rPr>
              <a:t>🗺 Map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960120"/>
            <a:ext cx="11094415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500" b="0">
                <a:solidFill>
                  <a:srgbClr val="5F677A"/>
                </a:solidFill>
                <a:latin typeface="Arial"/>
                <a:ea typeface="Microsoft YaHei"/>
              </a:rPr>
              <a:t>到达与自我介绍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417320"/>
            <a:ext cx="11094415" cy="93522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1417320"/>
            <a:ext cx="91440" cy="935228"/>
          </a:xfrm>
          <a:prstGeom prst="rect">
            <a:avLst/>
          </a:prstGeom>
          <a:solidFill>
            <a:srgbClr val="9B6B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1463040"/>
            <a:ext cx="3429000" cy="8712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2000" b="1">
                <a:solidFill>
                  <a:srgbClr val="9B6BE0"/>
                </a:solidFill>
                <a:latin typeface="Arial"/>
                <a:ea typeface="Microsoft YaHei"/>
              </a:rPr>
              <a:t>★ Sorry to keep you waiting.</a:t>
            </a:r>
          </a:p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300" b="0">
                <a:solidFill>
                  <a:srgbClr val="5F677A"/>
                </a:solidFill>
                <a:latin typeface="Arial"/>
                <a:ea typeface="Microsoft YaHei"/>
              </a:rPr>
              <a:t>phrase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06240" y="1463040"/>
            <a:ext cx="2377440" cy="8712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700" b="1">
                <a:solidFill>
                  <a:srgbClr val="FF6B5B"/>
                </a:solidFill>
                <a:latin typeface="Arial"/>
                <a:ea typeface="Microsoft YaHei"/>
              </a:rPr>
              <a:t>抱歉让您久等了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75120" y="1463040"/>
            <a:ext cx="4846320" cy="8712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700" b="0" i="1">
                <a:solidFill>
                  <a:srgbClr val="1F2A44"/>
                </a:solidFill>
                <a:latin typeface="Arial"/>
                <a:ea typeface="Microsoft YaHei"/>
              </a:rPr>
              <a:t>“Sorry to keep you waiting. Please come in.”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2425700"/>
            <a:ext cx="11094415" cy="93522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48640" y="2425700"/>
            <a:ext cx="91440" cy="935228"/>
          </a:xfrm>
          <a:prstGeom prst="rect">
            <a:avLst/>
          </a:prstGeom>
          <a:solidFill>
            <a:srgbClr val="4A90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2471420"/>
            <a:ext cx="3429000" cy="8712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2000" b="1">
                <a:solidFill>
                  <a:srgbClr val="1F2A44"/>
                </a:solidFill>
                <a:latin typeface="Arial"/>
                <a:ea typeface="Microsoft YaHei"/>
              </a:rPr>
              <a:t>Let me introduce myself.</a:t>
            </a:r>
          </a:p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300" b="0">
                <a:solidFill>
                  <a:srgbClr val="5F677A"/>
                </a:solidFill>
                <a:latin typeface="Arial"/>
                <a:ea typeface="Microsoft YaHei"/>
              </a:rPr>
              <a:t>phrase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06240" y="2471420"/>
            <a:ext cx="2377440" cy="8712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700" b="1">
                <a:solidFill>
                  <a:srgbClr val="FF6B5B"/>
                </a:solidFill>
                <a:latin typeface="Arial"/>
                <a:ea typeface="Microsoft YaHei"/>
              </a:rPr>
              <a:t>请允许我自我介绍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75120" y="2471420"/>
            <a:ext cx="4846320" cy="8712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700" b="0" i="1">
                <a:solidFill>
                  <a:srgbClr val="1F2A44"/>
                </a:solidFill>
                <a:latin typeface="Arial"/>
                <a:ea typeface="Microsoft YaHei"/>
              </a:rPr>
              <a:t>“Let me introduce myself. I’m Kevin Wu from Orion Foods.”</a:t>
            </a:r>
          </a:p>
        </p:txBody>
      </p:sp>
    </p:spTree>
  </p:cSld>
  <p:clrMapOvr>
    <a:masterClrMapping/>
  </p:clrMapOvr>
  <p:transition spd="med">
    <p:fade/>
  </p:transition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4A90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8442656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3200" b="1">
                <a:solidFill>
                  <a:srgbClr val="1F2A44"/>
                </a:solidFill>
                <a:latin typeface="Arial"/>
                <a:ea typeface="Microsoft YaHei"/>
              </a:rPr>
              <a:t>📚 Chunk 2: Polite requests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74175" y="438912"/>
            <a:ext cx="2560320" cy="475488"/>
          </a:xfrm>
          <a:prstGeom prst="roundRect">
            <a:avLst>
              <a:gd name="adj" fmla="val 50000"/>
            </a:avLst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3152" rIns="73152"/>
          <a:lstStyle/>
          <a:p>
            <a:pPr algn="ctr">
              <a:spcAft>
                <a:spcPts val="200"/>
              </a:spcAft>
            </a:pPr>
            <a:r>
              <a:rPr sz="1300" b="1">
                <a:solidFill>
                  <a:srgbClr val="FFFFFF"/>
                </a:solidFill>
                <a:latin typeface="Arial"/>
                <a:ea typeface="Microsoft YaHei"/>
              </a:rPr>
              <a:t>02 Vocabulary 词汇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19088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100" b="0">
                <a:solidFill>
                  <a:srgbClr val="5F677A"/>
                </a:solidFill>
                <a:latin typeface="Arial"/>
                <a:ea typeface="Microsoft YaHei"/>
              </a:rPr>
              <a:t>Business English · Level 4 · Unit 3 · Lesson 08 Visitors to the company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28655" y="6419088"/>
            <a:ext cx="914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  <a:spcAft>
                <a:spcPts val="800"/>
              </a:spcAft>
            </a:pPr>
            <a:r>
              <a:rPr sz="1100" b="0">
                <a:solidFill>
                  <a:srgbClr val="5F677A"/>
                </a:solidFill>
                <a:latin typeface="Arial"/>
                <a:ea typeface="Microsoft YaHei"/>
              </a:rPr>
              <a:t>63</a:t>
            </a:r>
          </a:p>
        </p:txBody>
      </p:sp>
      <p:sp>
        <p:nvSpPr>
          <p:cNvPr id="7" name="Rounded Rectangle 6">
            <a:hlinkClick action="ppaction://hlinksldjump" r:id="rId2"/>
          </p:cNvPr>
          <p:cNvSpPr/>
          <p:nvPr/>
        </p:nvSpPr>
        <p:spPr>
          <a:xfrm>
            <a:off x="9677095" y="6382512"/>
            <a:ext cx="960120" cy="329184"/>
          </a:xfrm>
          <a:prstGeom prst="roundRect">
            <a:avLst>
              <a:gd name="adj" fmla="val 50000"/>
            </a:avLst>
          </a:prstGeom>
          <a:solidFill>
            <a:srgbClr val="FFE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Aft>
                <a:spcPts val="200"/>
              </a:spcAft>
            </a:pPr>
            <a:r>
              <a:rPr sz="1100" b="1">
                <a:solidFill>
                  <a:srgbClr val="1F2A44"/>
                </a:solidFill>
                <a:latin typeface="Arial"/>
                <a:ea typeface="Microsoft YaHei"/>
              </a:rPr>
              <a:t>🗺 Map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960120"/>
            <a:ext cx="11094415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500" b="0">
                <a:solidFill>
                  <a:srgbClr val="5F677A"/>
                </a:solidFill>
                <a:latin typeface="Arial"/>
                <a:ea typeface="Microsoft YaHei"/>
              </a:rPr>
              <a:t>礼貌地提要求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417320"/>
            <a:ext cx="11094415" cy="63042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1417320"/>
            <a:ext cx="91440" cy="630428"/>
          </a:xfrm>
          <a:prstGeom prst="rect">
            <a:avLst/>
          </a:prstGeom>
          <a:solidFill>
            <a:srgbClr val="FF6B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1463040"/>
            <a:ext cx="3429000" cy="5664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2000" b="1">
                <a:solidFill>
                  <a:srgbClr val="1F2A44"/>
                </a:solidFill>
                <a:latin typeface="Arial"/>
                <a:ea typeface="Microsoft YaHei"/>
              </a:rPr>
              <a:t>Could I possibly use…?</a:t>
            </a:r>
          </a:p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300" b="0">
                <a:solidFill>
                  <a:srgbClr val="5F677A"/>
                </a:solidFill>
                <a:latin typeface="Arial"/>
                <a:ea typeface="Microsoft YaHei"/>
              </a:rPr>
              <a:t>phrase (polite)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06240" y="1463040"/>
            <a:ext cx="2377440" cy="5664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700" b="1">
                <a:solidFill>
                  <a:srgbClr val="FF6B5B"/>
                </a:solidFill>
                <a:latin typeface="Arial"/>
                <a:ea typeface="Microsoft YaHei"/>
              </a:rPr>
              <a:t>我可以借用……吗?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75120" y="1463040"/>
            <a:ext cx="4846320" cy="5664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700" b="0" i="1">
                <a:solidFill>
                  <a:srgbClr val="1F2A44"/>
                </a:solidFill>
                <a:latin typeface="Arial"/>
                <a:ea typeface="Microsoft YaHei"/>
              </a:rPr>
              <a:t>“Could I possibly use your meeting room for a call?”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2120900"/>
            <a:ext cx="11094415" cy="93522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48640" y="2120900"/>
            <a:ext cx="91440" cy="935228"/>
          </a:xfrm>
          <a:prstGeom prst="rect">
            <a:avLst/>
          </a:prstGeom>
          <a:solidFill>
            <a:srgbClr val="4A90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2166620"/>
            <a:ext cx="3429000" cy="8712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2000" b="1">
                <a:solidFill>
                  <a:srgbClr val="1F2A44"/>
                </a:solidFill>
                <a:latin typeface="Arial"/>
                <a:ea typeface="Microsoft YaHei"/>
              </a:rPr>
              <a:t>Would it be all right if I…?</a:t>
            </a:r>
          </a:p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300" b="0">
                <a:solidFill>
                  <a:srgbClr val="5F677A"/>
                </a:solidFill>
                <a:latin typeface="Arial"/>
                <a:ea typeface="Microsoft YaHei"/>
              </a:rPr>
              <a:t>phrase (polite)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06240" y="2166620"/>
            <a:ext cx="2377440" cy="8712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700" b="1">
                <a:solidFill>
                  <a:srgbClr val="FF6B5B"/>
                </a:solidFill>
                <a:latin typeface="Arial"/>
                <a:ea typeface="Microsoft YaHei"/>
              </a:rPr>
              <a:t>如果我……可以吗?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75120" y="2166620"/>
            <a:ext cx="4846320" cy="8712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700" b="0" i="1">
                <a:solidFill>
                  <a:srgbClr val="1F2A44"/>
                </a:solidFill>
                <a:latin typeface="Arial"/>
                <a:ea typeface="Microsoft YaHei"/>
              </a:rPr>
              <a:t>“Would it be all right if I plugged in my laptop?”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3129280"/>
            <a:ext cx="11094415" cy="93522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48640" y="3129280"/>
            <a:ext cx="91440" cy="935228"/>
          </a:xfrm>
          <a:prstGeom prst="rect">
            <a:avLst/>
          </a:prstGeom>
          <a:solidFill>
            <a:srgbClr val="9B6B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1520" y="3175000"/>
            <a:ext cx="3429000" cy="8712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2000" b="1">
                <a:solidFill>
                  <a:srgbClr val="9B6BE0"/>
                </a:solidFill>
                <a:latin typeface="Arial"/>
                <a:ea typeface="Microsoft YaHei"/>
              </a:rPr>
              <a:t>★ Would you mind if I opened the window?</a:t>
            </a:r>
          </a:p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300" b="0">
                <a:solidFill>
                  <a:srgbClr val="5F677A"/>
                </a:solidFill>
                <a:latin typeface="Arial"/>
                <a:ea typeface="Microsoft YaHei"/>
              </a:rPr>
              <a:t>phrase (polite)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206240" y="3175000"/>
            <a:ext cx="2377440" cy="8712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700" b="1">
                <a:solidFill>
                  <a:srgbClr val="FF6B5B"/>
                </a:solidFill>
                <a:latin typeface="Arial"/>
                <a:ea typeface="Microsoft YaHei"/>
              </a:rPr>
              <a:t>您介意我开一下窗吗?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75120" y="3175000"/>
            <a:ext cx="4846320" cy="8712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700" b="0" i="1">
                <a:solidFill>
                  <a:srgbClr val="1F2A44"/>
                </a:solidFill>
                <a:latin typeface="Arial"/>
                <a:ea typeface="Microsoft YaHei"/>
              </a:rPr>
              <a:t>“Would you mind if I took a few notes?”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48640" y="4137660"/>
            <a:ext cx="11094415" cy="63042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48640" y="4137660"/>
            <a:ext cx="91440" cy="630428"/>
          </a:xfrm>
          <a:prstGeom prst="rect">
            <a:avLst/>
          </a:prstGeom>
          <a:solidFill>
            <a:srgbClr val="FFC8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31520" y="4183380"/>
            <a:ext cx="3429000" cy="5664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2000" b="1">
                <a:solidFill>
                  <a:srgbClr val="1F2A44"/>
                </a:solidFill>
                <a:latin typeface="Arial"/>
                <a:ea typeface="Microsoft YaHei"/>
              </a:rPr>
              <a:t>Where can I find…?</a:t>
            </a:r>
          </a:p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300" b="0">
                <a:solidFill>
                  <a:srgbClr val="5F677A"/>
                </a:solidFill>
                <a:latin typeface="Arial"/>
                <a:ea typeface="Microsoft YaHei"/>
              </a:rPr>
              <a:t>phrase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206240" y="4183380"/>
            <a:ext cx="2377440" cy="5664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700" b="1">
                <a:solidFill>
                  <a:srgbClr val="FF6B5B"/>
                </a:solidFill>
                <a:latin typeface="Arial"/>
                <a:ea typeface="Microsoft YaHei"/>
              </a:rPr>
              <a:t>我在哪里能找到……?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675120" y="4183380"/>
            <a:ext cx="4846320" cy="5664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700" b="0" i="1">
                <a:solidFill>
                  <a:srgbClr val="1F2A44"/>
                </a:solidFill>
                <a:latin typeface="Arial"/>
                <a:ea typeface="Microsoft YaHei"/>
              </a:rPr>
              <a:t>“Where can I find the restrooms?”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48640" y="4841240"/>
            <a:ext cx="11094415" cy="93522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548640" y="4841240"/>
            <a:ext cx="91440" cy="935228"/>
          </a:xfrm>
          <a:prstGeom prst="rect">
            <a:avLst/>
          </a:prstGeom>
          <a:solidFill>
            <a:srgbClr val="9B6B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31520" y="4886960"/>
            <a:ext cx="3429000" cy="8712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2000" b="1">
                <a:solidFill>
                  <a:srgbClr val="9B6BE0"/>
                </a:solidFill>
                <a:latin typeface="Arial"/>
                <a:ea typeface="Microsoft YaHei"/>
              </a:rPr>
              <a:t>★ Do you happen to know…?</a:t>
            </a:r>
          </a:p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300" b="0">
                <a:solidFill>
                  <a:srgbClr val="5F677A"/>
                </a:solidFill>
                <a:latin typeface="Arial"/>
                <a:ea typeface="Microsoft YaHei"/>
              </a:rPr>
              <a:t>phrase (indirect)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206240" y="4886960"/>
            <a:ext cx="2377440" cy="8712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700" b="1">
                <a:solidFill>
                  <a:srgbClr val="FF6B5B"/>
                </a:solidFill>
                <a:latin typeface="Arial"/>
                <a:ea typeface="Microsoft YaHei"/>
              </a:rPr>
              <a:t>您碰巧知道……吗?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675120" y="4886960"/>
            <a:ext cx="4846320" cy="8712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700" b="0" i="1">
                <a:solidFill>
                  <a:srgbClr val="1F2A44"/>
                </a:solidFill>
                <a:latin typeface="Arial"/>
                <a:ea typeface="Microsoft YaHei"/>
              </a:rPr>
              <a:t>“Do you happen to know where Mr Tan’s office is?”</a:t>
            </a:r>
          </a:p>
        </p:txBody>
      </p:sp>
    </p:spTree>
  </p:cSld>
  <p:clrMapOvr>
    <a:masterClrMapping/>
  </p:clrMapOvr>
  <p:transition spd="med">
    <p:fade/>
  </p:transition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4A90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8442656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3200" b="1">
                <a:solidFill>
                  <a:srgbClr val="1F2A44"/>
                </a:solidFill>
                <a:latin typeface="Arial"/>
                <a:ea typeface="Microsoft YaHei"/>
              </a:rPr>
              <a:t>📚 Chunk 3: Thanking and following up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74175" y="438912"/>
            <a:ext cx="2560320" cy="475488"/>
          </a:xfrm>
          <a:prstGeom prst="roundRect">
            <a:avLst>
              <a:gd name="adj" fmla="val 50000"/>
            </a:avLst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3152" rIns="73152"/>
          <a:lstStyle/>
          <a:p>
            <a:pPr algn="ctr">
              <a:spcAft>
                <a:spcPts val="200"/>
              </a:spcAft>
            </a:pPr>
            <a:r>
              <a:rPr sz="1300" b="1">
                <a:solidFill>
                  <a:srgbClr val="FFFFFF"/>
                </a:solidFill>
                <a:latin typeface="Arial"/>
                <a:ea typeface="Microsoft YaHei"/>
              </a:rPr>
              <a:t>02 Vocabulary 词汇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19088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100" b="0">
                <a:solidFill>
                  <a:srgbClr val="5F677A"/>
                </a:solidFill>
                <a:latin typeface="Arial"/>
                <a:ea typeface="Microsoft YaHei"/>
              </a:rPr>
              <a:t>Business English · Level 4 · Unit 3 · Lesson 08 Visitors to the company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28655" y="6419088"/>
            <a:ext cx="914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  <a:spcAft>
                <a:spcPts val="800"/>
              </a:spcAft>
            </a:pPr>
            <a:r>
              <a:rPr sz="1100" b="0">
                <a:solidFill>
                  <a:srgbClr val="5F677A"/>
                </a:solidFill>
                <a:latin typeface="Arial"/>
                <a:ea typeface="Microsoft YaHei"/>
              </a:rPr>
              <a:t>64</a:t>
            </a:r>
          </a:p>
        </p:txBody>
      </p:sp>
      <p:sp>
        <p:nvSpPr>
          <p:cNvPr id="7" name="Rounded Rectangle 6">
            <a:hlinkClick action="ppaction://hlinksldjump" r:id="rId2"/>
          </p:cNvPr>
          <p:cNvSpPr/>
          <p:nvPr/>
        </p:nvSpPr>
        <p:spPr>
          <a:xfrm>
            <a:off x="9677095" y="6382512"/>
            <a:ext cx="960120" cy="329184"/>
          </a:xfrm>
          <a:prstGeom prst="roundRect">
            <a:avLst>
              <a:gd name="adj" fmla="val 50000"/>
            </a:avLst>
          </a:prstGeom>
          <a:solidFill>
            <a:srgbClr val="FFE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Aft>
                <a:spcPts val="200"/>
              </a:spcAft>
            </a:pPr>
            <a:r>
              <a:rPr sz="1100" b="1">
                <a:solidFill>
                  <a:srgbClr val="1F2A44"/>
                </a:solidFill>
                <a:latin typeface="Arial"/>
                <a:ea typeface="Microsoft YaHei"/>
              </a:rPr>
              <a:t>🗺 Map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960120"/>
            <a:ext cx="11094415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500" b="0">
                <a:solidFill>
                  <a:srgbClr val="5F677A"/>
                </a:solidFill>
                <a:latin typeface="Arial"/>
                <a:ea typeface="Microsoft YaHei"/>
              </a:rPr>
              <a:t>致谢与跟进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417320"/>
            <a:ext cx="11094415" cy="93522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1417320"/>
            <a:ext cx="91440" cy="935228"/>
          </a:xfrm>
          <a:prstGeom prst="rect">
            <a:avLst/>
          </a:prstGeom>
          <a:solidFill>
            <a:srgbClr val="FF6B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1463040"/>
            <a:ext cx="3429000" cy="8712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2000" b="1">
                <a:solidFill>
                  <a:srgbClr val="1F2A44"/>
                </a:solidFill>
                <a:latin typeface="Arial"/>
                <a:ea typeface="Microsoft YaHei"/>
              </a:rPr>
              <a:t>Thank you for your time.</a:t>
            </a:r>
          </a:p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300" b="0">
                <a:solidFill>
                  <a:srgbClr val="5F677A"/>
                </a:solidFill>
                <a:latin typeface="Arial"/>
                <a:ea typeface="Microsoft YaHei"/>
              </a:rPr>
              <a:t>phrase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06240" y="1463040"/>
            <a:ext cx="2377440" cy="8712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700" b="1">
                <a:solidFill>
                  <a:srgbClr val="FF6B5B"/>
                </a:solidFill>
                <a:latin typeface="Arial"/>
                <a:ea typeface="Microsoft YaHei"/>
              </a:rPr>
              <a:t>感谢您抽出时间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75120" y="1463040"/>
            <a:ext cx="4846320" cy="8712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700" b="0" i="1">
                <a:solidFill>
                  <a:srgbClr val="1F2A44"/>
                </a:solidFill>
                <a:latin typeface="Arial"/>
                <a:ea typeface="Microsoft YaHei"/>
              </a:rPr>
              <a:t>“Thank you for your time. It was very useful.”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2425700"/>
            <a:ext cx="11094415" cy="63042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48640" y="2425700"/>
            <a:ext cx="91440" cy="630428"/>
          </a:xfrm>
          <a:prstGeom prst="rect">
            <a:avLst/>
          </a:prstGeom>
          <a:solidFill>
            <a:srgbClr val="4A90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2471420"/>
            <a:ext cx="3429000" cy="5664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2000" b="1">
                <a:solidFill>
                  <a:srgbClr val="1F2A44"/>
                </a:solidFill>
                <a:latin typeface="Arial"/>
                <a:ea typeface="Microsoft YaHei"/>
              </a:rPr>
              <a:t>I really appreciate it.</a:t>
            </a:r>
          </a:p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300" b="0">
                <a:solidFill>
                  <a:srgbClr val="5F677A"/>
                </a:solidFill>
                <a:latin typeface="Arial"/>
                <a:ea typeface="Microsoft YaHei"/>
              </a:rPr>
              <a:t>phrase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06240" y="2471420"/>
            <a:ext cx="2377440" cy="5664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700" b="1">
                <a:solidFill>
                  <a:srgbClr val="FF6B5B"/>
                </a:solidFill>
                <a:latin typeface="Arial"/>
                <a:ea typeface="Microsoft YaHei"/>
              </a:rPr>
              <a:t>我真的非常感谢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75120" y="2471420"/>
            <a:ext cx="4846320" cy="5664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700" b="0" i="1">
                <a:solidFill>
                  <a:srgbClr val="1F2A44"/>
                </a:solidFill>
                <a:latin typeface="Arial"/>
                <a:ea typeface="Microsoft YaHei"/>
              </a:rPr>
              <a:t>“I really appreciate your help today.”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3129280"/>
            <a:ext cx="11094415" cy="93522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48640" y="3129280"/>
            <a:ext cx="91440" cy="935228"/>
          </a:xfrm>
          <a:prstGeom prst="rect">
            <a:avLst/>
          </a:prstGeom>
          <a:solidFill>
            <a:srgbClr val="9B6B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1520" y="3175000"/>
            <a:ext cx="3429000" cy="8712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2000" b="1">
                <a:solidFill>
                  <a:srgbClr val="9B6BE0"/>
                </a:solidFill>
                <a:latin typeface="Arial"/>
                <a:ea typeface="Microsoft YaHei"/>
              </a:rPr>
              <a:t>★ I won’t take up much of your time.</a:t>
            </a:r>
          </a:p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300" b="0">
                <a:solidFill>
                  <a:srgbClr val="5F677A"/>
                </a:solidFill>
                <a:latin typeface="Arial"/>
                <a:ea typeface="Microsoft YaHei"/>
              </a:rPr>
              <a:t>phrase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206240" y="3175000"/>
            <a:ext cx="2377440" cy="8712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700" b="1">
                <a:solidFill>
                  <a:srgbClr val="FF6B5B"/>
                </a:solidFill>
                <a:latin typeface="Arial"/>
                <a:ea typeface="Microsoft YaHei"/>
              </a:rPr>
              <a:t>我不会占用您太多时间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75120" y="3175000"/>
            <a:ext cx="4846320" cy="8712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700" b="0" i="1">
                <a:solidFill>
                  <a:srgbClr val="1F2A44"/>
                </a:solidFill>
                <a:latin typeface="Arial"/>
                <a:ea typeface="Microsoft YaHei"/>
              </a:rPr>
              <a:t>“I won’t take up much of your time. Just a few questions.”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48640" y="4137660"/>
            <a:ext cx="11094415" cy="93522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48640" y="4137660"/>
            <a:ext cx="91440" cy="935228"/>
          </a:xfrm>
          <a:prstGeom prst="rect">
            <a:avLst/>
          </a:prstGeom>
          <a:solidFill>
            <a:srgbClr val="9B6B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31520" y="4183380"/>
            <a:ext cx="3429000" cy="8712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2000" b="1">
                <a:solidFill>
                  <a:srgbClr val="9B6BE0"/>
                </a:solidFill>
                <a:latin typeface="Arial"/>
                <a:ea typeface="Microsoft YaHei"/>
              </a:rPr>
              <a:t>★ I’d love to follow up by email.</a:t>
            </a:r>
          </a:p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300" b="0">
                <a:solidFill>
                  <a:srgbClr val="5F677A"/>
                </a:solidFill>
                <a:latin typeface="Arial"/>
                <a:ea typeface="Microsoft YaHei"/>
              </a:rPr>
              <a:t>phrase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206240" y="4183380"/>
            <a:ext cx="2377440" cy="8712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700" b="1">
                <a:solidFill>
                  <a:srgbClr val="FF6B5B"/>
                </a:solidFill>
                <a:latin typeface="Arial"/>
                <a:ea typeface="Microsoft YaHei"/>
              </a:rPr>
              <a:t>我想之后用邮件跟进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675120" y="4183380"/>
            <a:ext cx="4846320" cy="8712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700" b="0" i="1">
                <a:solidFill>
                  <a:srgbClr val="1F2A44"/>
                </a:solidFill>
                <a:latin typeface="Arial"/>
                <a:ea typeface="Microsoft YaHei"/>
              </a:rPr>
              <a:t>“I’d love to follow up by email with the details.”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48640" y="5146040"/>
            <a:ext cx="11094415" cy="93522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548640" y="5146040"/>
            <a:ext cx="91440" cy="935228"/>
          </a:xfrm>
          <a:prstGeom prst="rect">
            <a:avLst/>
          </a:prstGeom>
          <a:solidFill>
            <a:srgbClr val="9B6B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31520" y="5191760"/>
            <a:ext cx="3429000" cy="8712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2000" b="1">
                <a:solidFill>
                  <a:srgbClr val="1F2A44"/>
                </a:solidFill>
                <a:latin typeface="Arial"/>
                <a:ea typeface="Microsoft YaHei"/>
              </a:rPr>
              <a:t>It was great to meet the team.</a:t>
            </a:r>
          </a:p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300" b="0">
                <a:solidFill>
                  <a:srgbClr val="5F677A"/>
                </a:solidFill>
                <a:latin typeface="Arial"/>
                <a:ea typeface="Microsoft YaHei"/>
              </a:rPr>
              <a:t>phrase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206240" y="5191760"/>
            <a:ext cx="2377440" cy="8712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700" b="1">
                <a:solidFill>
                  <a:srgbClr val="FF6B5B"/>
                </a:solidFill>
                <a:latin typeface="Arial"/>
                <a:ea typeface="Microsoft YaHei"/>
              </a:rPr>
              <a:t>很高兴认识团队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675120" y="5191760"/>
            <a:ext cx="4846320" cy="8712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700" b="0" i="1">
                <a:solidFill>
                  <a:srgbClr val="1F2A44"/>
                </a:solidFill>
                <a:latin typeface="Arial"/>
                <a:ea typeface="Microsoft YaHei"/>
              </a:rPr>
              <a:t>“It was great to meet the team. Thank you for having me.”</a:t>
            </a:r>
          </a:p>
        </p:txBody>
      </p:sp>
    </p:spTree>
  </p:cSld>
  <p:clrMapOvr>
    <a:masterClrMapping/>
  </p:clrMapOvr>
  <p:transition spd="med">
    <p:fade/>
  </p:transition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F6B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8442656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3200" b="1">
                <a:solidFill>
                  <a:srgbClr val="1F2A44"/>
                </a:solidFill>
                <a:latin typeface="Arial"/>
                <a:ea typeface="Microsoft YaHei"/>
              </a:rPr>
              <a:t>⚡ Speed Round: Say it in English!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74175" y="438912"/>
            <a:ext cx="2560320" cy="475488"/>
          </a:xfrm>
          <a:prstGeom prst="roundRect">
            <a:avLst>
              <a:gd name="adj" fmla="val 50000"/>
            </a:avLst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3152" rIns="73152"/>
          <a:lstStyle/>
          <a:p>
            <a:pPr algn="ctr">
              <a:spcAft>
                <a:spcPts val="200"/>
              </a:spcAft>
            </a:pPr>
            <a:r>
              <a:rPr sz="1300" b="1">
                <a:solidFill>
                  <a:srgbClr val="FFFFFF"/>
                </a:solidFill>
                <a:latin typeface="Arial"/>
                <a:ea typeface="Microsoft YaHei"/>
              </a:rPr>
              <a:t>🎮 Game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19088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100" b="0">
                <a:solidFill>
                  <a:srgbClr val="5F677A"/>
                </a:solidFill>
                <a:latin typeface="Arial"/>
                <a:ea typeface="Microsoft YaHei"/>
              </a:rPr>
              <a:t>Business English · Level 4 · Unit 3 · Lesson 08 Visitors to the company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28655" y="6419088"/>
            <a:ext cx="914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  <a:spcAft>
                <a:spcPts val="800"/>
              </a:spcAft>
            </a:pPr>
            <a:r>
              <a:rPr sz="1100" b="0">
                <a:solidFill>
                  <a:srgbClr val="5F677A"/>
                </a:solidFill>
                <a:latin typeface="Arial"/>
                <a:ea typeface="Microsoft YaHei"/>
              </a:rPr>
              <a:t>65</a:t>
            </a:r>
          </a:p>
        </p:txBody>
      </p:sp>
      <p:sp>
        <p:nvSpPr>
          <p:cNvPr id="7" name="Rounded Rectangle 6">
            <a:hlinkClick action="ppaction://hlinksldjump" r:id="rId2"/>
          </p:cNvPr>
          <p:cNvSpPr/>
          <p:nvPr/>
        </p:nvSpPr>
        <p:spPr>
          <a:xfrm>
            <a:off x="9677095" y="6382512"/>
            <a:ext cx="960120" cy="329184"/>
          </a:xfrm>
          <a:prstGeom prst="roundRect">
            <a:avLst>
              <a:gd name="adj" fmla="val 50000"/>
            </a:avLst>
          </a:prstGeom>
          <a:solidFill>
            <a:srgbClr val="FFE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Aft>
                <a:spcPts val="200"/>
              </a:spcAft>
            </a:pPr>
            <a:r>
              <a:rPr sz="1100" b="1">
                <a:solidFill>
                  <a:srgbClr val="1F2A44"/>
                </a:solidFill>
                <a:latin typeface="Arial"/>
                <a:ea typeface="Microsoft YaHei"/>
              </a:rPr>
              <a:t>🗺 Map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024128"/>
            <a:ext cx="11094415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500" b="0">
                <a:solidFill>
                  <a:srgbClr val="5F677A"/>
                </a:solidFill>
                <a:latin typeface="Arial"/>
                <a:ea typeface="Microsoft YaHei"/>
              </a:rPr>
              <a:t>Read the Chinese, shout the English expression! Click to reveal.  看中文，抢答英文表达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554480"/>
            <a:ext cx="2636443" cy="21488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31750">
            <a:solidFill>
              <a:srgbClr val="FF6B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1691640"/>
            <a:ext cx="2453563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800"/>
              </a:spcAft>
            </a:pPr>
            <a:r>
              <a:rPr sz="2400" b="1">
                <a:solidFill>
                  <a:srgbClr val="1F2A44"/>
                </a:solidFill>
                <a:latin typeface="Arial"/>
                <a:ea typeface="Microsoft YaHei"/>
              </a:rPr>
              <a:t>您介意我开一下窗吗?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2651760"/>
            <a:ext cx="2362123" cy="914400"/>
          </a:xfrm>
          <a:prstGeom prst="roundRect">
            <a:avLst>
              <a:gd name="adj" fmla="val 20000"/>
            </a:avLst>
          </a:prstGeom>
          <a:solidFill>
            <a:srgbClr val="FF6B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Arial"/>
                <a:ea typeface="Microsoft YaHei"/>
              </a:rPr>
              <a:t>Would you mind if I opened the window?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367963" y="1554480"/>
            <a:ext cx="2636443" cy="21488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31750">
            <a:solidFill>
              <a:srgbClr val="4A90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59403" y="1691640"/>
            <a:ext cx="2453563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800"/>
              </a:spcAft>
            </a:pPr>
            <a:r>
              <a:rPr sz="2400" b="1">
                <a:solidFill>
                  <a:srgbClr val="1F2A44"/>
                </a:solidFill>
                <a:latin typeface="Arial"/>
                <a:ea typeface="Microsoft YaHei"/>
              </a:rPr>
              <a:t>我在路上被堵住了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505123" y="2651760"/>
            <a:ext cx="2362123" cy="914400"/>
          </a:xfrm>
          <a:prstGeom prst="roundRect">
            <a:avLst>
              <a:gd name="adj" fmla="val 20000"/>
            </a:avLst>
          </a:prstGeom>
          <a:solidFill>
            <a:srgbClr val="4A90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FFFFFF"/>
                </a:solidFill>
                <a:latin typeface="Arial"/>
                <a:ea typeface="Microsoft YaHei"/>
              </a:rPr>
              <a:t>I got held up in traffic.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87286" y="1554480"/>
            <a:ext cx="2636443" cy="21488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31750">
            <a:solidFill>
              <a:srgbClr val="3CC4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78726" y="1691640"/>
            <a:ext cx="2453563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800"/>
              </a:spcAft>
            </a:pPr>
            <a:r>
              <a:rPr sz="2400" b="1">
                <a:solidFill>
                  <a:srgbClr val="1F2A44"/>
                </a:solidFill>
                <a:latin typeface="Arial"/>
                <a:ea typeface="Microsoft YaHei"/>
              </a:rPr>
              <a:t>如果我……可以吗?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24446" y="2651760"/>
            <a:ext cx="2362123" cy="914400"/>
          </a:xfrm>
          <a:prstGeom prst="roundRect">
            <a:avLst>
              <a:gd name="adj" fmla="val 20000"/>
            </a:avLst>
          </a:prstGeom>
          <a:solidFill>
            <a:srgbClr val="3CC4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FFFFFF"/>
                </a:solidFill>
                <a:latin typeface="Arial"/>
                <a:ea typeface="Microsoft YaHei"/>
              </a:rPr>
              <a:t>Would it be all right if I…?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006609" y="1554480"/>
            <a:ext cx="2636443" cy="21488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31750">
            <a:solidFill>
              <a:srgbClr val="FFC8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098049" y="1691640"/>
            <a:ext cx="2453563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800"/>
              </a:spcAft>
            </a:pPr>
            <a:r>
              <a:rPr sz="2400" b="1">
                <a:solidFill>
                  <a:srgbClr val="1F2A44"/>
                </a:solidFill>
                <a:latin typeface="Arial"/>
                <a:ea typeface="Microsoft YaHei"/>
              </a:rPr>
              <a:t>我在哪里能找到……?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143769" y="2651760"/>
            <a:ext cx="2362123" cy="914400"/>
          </a:xfrm>
          <a:prstGeom prst="roundRect">
            <a:avLst>
              <a:gd name="adj" fmla="val 20000"/>
            </a:avLst>
          </a:prstGeom>
          <a:solidFill>
            <a:srgbClr val="FFC8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FFFFFF"/>
                </a:solidFill>
                <a:latin typeface="Arial"/>
                <a:ea typeface="Microsoft YaHei"/>
              </a:rPr>
              <a:t>Where can I find…?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8640" y="3886200"/>
            <a:ext cx="2636443" cy="21488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31750">
            <a:solidFill>
              <a:srgbClr val="9B6B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4023360"/>
            <a:ext cx="2453563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800"/>
              </a:spcAft>
            </a:pPr>
            <a:r>
              <a:rPr sz="2400" b="1">
                <a:solidFill>
                  <a:srgbClr val="1F2A44"/>
                </a:solidFill>
                <a:latin typeface="Arial"/>
                <a:ea typeface="Microsoft YaHei"/>
              </a:rPr>
              <a:t>您碰巧知道……吗?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85800" y="4983480"/>
            <a:ext cx="2362123" cy="914400"/>
          </a:xfrm>
          <a:prstGeom prst="roundRect">
            <a:avLst>
              <a:gd name="adj" fmla="val 20000"/>
            </a:avLst>
          </a:prstGeom>
          <a:solidFill>
            <a:srgbClr val="9B6B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FFFFFF"/>
                </a:solidFill>
                <a:latin typeface="Arial"/>
                <a:ea typeface="Microsoft YaHei"/>
              </a:rPr>
              <a:t>Do you happen to know…?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367963" y="3886200"/>
            <a:ext cx="2636443" cy="21488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31750">
            <a:solidFill>
              <a:srgbClr val="FF6B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459403" y="4023360"/>
            <a:ext cx="2453563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800"/>
              </a:spcAft>
            </a:pPr>
            <a:r>
              <a:rPr sz="2400" b="1">
                <a:solidFill>
                  <a:srgbClr val="1F2A44"/>
                </a:solidFill>
                <a:latin typeface="Arial"/>
                <a:ea typeface="Microsoft YaHei"/>
              </a:rPr>
              <a:t>我不会占用您太多时间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505123" y="4983480"/>
            <a:ext cx="2362123" cy="914400"/>
          </a:xfrm>
          <a:prstGeom prst="roundRect">
            <a:avLst>
              <a:gd name="adj" fmla="val 20000"/>
            </a:avLst>
          </a:prstGeom>
          <a:solidFill>
            <a:srgbClr val="FF6B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Arial"/>
                <a:ea typeface="Microsoft YaHei"/>
              </a:rPr>
              <a:t>I won’t take up much of your time.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187286" y="3886200"/>
            <a:ext cx="2636443" cy="21488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31750">
            <a:solidFill>
              <a:srgbClr val="4A90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278726" y="4023360"/>
            <a:ext cx="2453563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800"/>
              </a:spcAft>
            </a:pPr>
            <a:r>
              <a:rPr sz="2400" b="1">
                <a:solidFill>
                  <a:srgbClr val="1F2A44"/>
                </a:solidFill>
                <a:latin typeface="Arial"/>
                <a:ea typeface="Microsoft YaHei"/>
              </a:rPr>
              <a:t>我早到了几分钟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324446" y="4983480"/>
            <a:ext cx="2362123" cy="914400"/>
          </a:xfrm>
          <a:prstGeom prst="roundRect">
            <a:avLst>
              <a:gd name="adj" fmla="val 20000"/>
            </a:avLst>
          </a:prstGeom>
          <a:solidFill>
            <a:srgbClr val="4A90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FFFFFF"/>
                </a:solidFill>
                <a:latin typeface="Arial"/>
                <a:ea typeface="Microsoft YaHei"/>
              </a:rPr>
              <a:t>I’m a few minutes early.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006609" y="3886200"/>
            <a:ext cx="2636443" cy="21488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31750">
            <a:solidFill>
              <a:srgbClr val="3CC4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098049" y="4023360"/>
            <a:ext cx="2453563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800"/>
              </a:spcAft>
            </a:pPr>
            <a:r>
              <a:rPr sz="2400" b="1">
                <a:solidFill>
                  <a:srgbClr val="1F2A44"/>
                </a:solidFill>
                <a:latin typeface="Arial"/>
                <a:ea typeface="Microsoft YaHei"/>
              </a:rPr>
              <a:t>我可以借用……吗?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9143769" y="4983480"/>
            <a:ext cx="2362123" cy="914400"/>
          </a:xfrm>
          <a:prstGeom prst="roundRect">
            <a:avLst>
              <a:gd name="adj" fmla="val 20000"/>
            </a:avLst>
          </a:prstGeom>
          <a:solidFill>
            <a:srgbClr val="3CC4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FFFFFF"/>
                </a:solidFill>
                <a:latin typeface="Arial"/>
                <a:ea typeface="Microsoft YaHei"/>
              </a:rPr>
              <a:t>Could I possibly use…?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" fill="hold">
                      <p:stCondLst>
                        <p:cond delay="indefinite"/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4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3CC4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8442656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3200" b="1">
                <a:solidFill>
                  <a:srgbClr val="1F2A44"/>
                </a:solidFill>
                <a:latin typeface="Arial"/>
                <a:ea typeface="Microsoft YaHei"/>
              </a:rPr>
              <a:t>✏️ Mini Quiz: Fill in the Blanks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74175" y="438912"/>
            <a:ext cx="2560320" cy="475488"/>
          </a:xfrm>
          <a:prstGeom prst="roundRect">
            <a:avLst>
              <a:gd name="adj" fmla="val 50000"/>
            </a:avLst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3152" rIns="73152"/>
          <a:lstStyle/>
          <a:p>
            <a:pPr algn="ctr">
              <a:spcAft>
                <a:spcPts val="200"/>
              </a:spcAft>
            </a:pPr>
            <a:r>
              <a:rPr sz="1300" b="1">
                <a:solidFill>
                  <a:srgbClr val="FFFFFF"/>
                </a:solidFill>
                <a:latin typeface="Arial"/>
                <a:ea typeface="Microsoft YaHei"/>
              </a:rPr>
              <a:t>02 Vocabulary 词汇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19088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100" b="0">
                <a:solidFill>
                  <a:srgbClr val="5F677A"/>
                </a:solidFill>
                <a:latin typeface="Arial"/>
                <a:ea typeface="Microsoft YaHei"/>
              </a:rPr>
              <a:t>Business English · Level 4 · Unit 3 · Lesson 08 Visitors to the company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28655" y="6419088"/>
            <a:ext cx="914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  <a:spcAft>
                <a:spcPts val="800"/>
              </a:spcAft>
            </a:pPr>
            <a:r>
              <a:rPr sz="1100" b="0">
                <a:solidFill>
                  <a:srgbClr val="5F677A"/>
                </a:solidFill>
                <a:latin typeface="Arial"/>
                <a:ea typeface="Microsoft YaHei"/>
              </a:rPr>
              <a:t>66</a:t>
            </a:r>
          </a:p>
        </p:txBody>
      </p:sp>
      <p:sp>
        <p:nvSpPr>
          <p:cNvPr id="7" name="Rounded Rectangle 6">
            <a:hlinkClick action="ppaction://hlinksldjump" r:id="rId2"/>
          </p:cNvPr>
          <p:cNvSpPr/>
          <p:nvPr/>
        </p:nvSpPr>
        <p:spPr>
          <a:xfrm>
            <a:off x="9677095" y="6382512"/>
            <a:ext cx="960120" cy="329184"/>
          </a:xfrm>
          <a:prstGeom prst="roundRect">
            <a:avLst>
              <a:gd name="adj" fmla="val 50000"/>
            </a:avLst>
          </a:prstGeom>
          <a:solidFill>
            <a:srgbClr val="FFE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Aft>
                <a:spcPts val="200"/>
              </a:spcAft>
            </a:pPr>
            <a:r>
              <a:rPr sz="1100" b="1">
                <a:solidFill>
                  <a:srgbClr val="1F2A44"/>
                </a:solidFill>
                <a:latin typeface="Arial"/>
                <a:ea typeface="Microsoft YaHei"/>
              </a:rPr>
              <a:t>🗺 Map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960120"/>
            <a:ext cx="146304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400" b="0">
                <a:solidFill>
                  <a:srgbClr val="5F677A"/>
                </a:solidFill>
                <a:latin typeface="Arial"/>
                <a:ea typeface="Microsoft YaHei"/>
              </a:rPr>
              <a:t>Word bank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011680" y="987552"/>
            <a:ext cx="804672" cy="411480"/>
          </a:xfrm>
          <a:prstGeom prst="roundRect">
            <a:avLst>
              <a:gd name="adj" fmla="val 50000"/>
            </a:avLst>
          </a:prstGeom>
          <a:solidFill>
            <a:srgbClr val="FF6B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Arial"/>
                <a:ea typeface="Microsoft YaHei"/>
              </a:rPr>
              <a:t>time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907792" y="987552"/>
            <a:ext cx="804672" cy="411480"/>
          </a:xfrm>
          <a:prstGeom prst="roundRect">
            <a:avLst>
              <a:gd name="adj" fmla="val 50000"/>
            </a:avLst>
          </a:prstGeom>
          <a:solidFill>
            <a:srgbClr val="4A90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Arial"/>
                <a:ea typeface="Microsoft YaHei"/>
              </a:rPr>
              <a:t>mind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803904" y="987552"/>
            <a:ext cx="1133856" cy="411480"/>
          </a:xfrm>
          <a:prstGeom prst="roundRect">
            <a:avLst>
              <a:gd name="adj" fmla="val 50000"/>
            </a:avLst>
          </a:prstGeom>
          <a:solidFill>
            <a:srgbClr val="3CC4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Arial"/>
                <a:ea typeface="Microsoft YaHei"/>
              </a:rPr>
              <a:t>meeting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0" y="987552"/>
            <a:ext cx="914400" cy="411480"/>
          </a:xfrm>
          <a:prstGeom prst="roundRect">
            <a:avLst>
              <a:gd name="adj" fmla="val 50000"/>
            </a:avLst>
          </a:prstGeom>
          <a:solidFill>
            <a:srgbClr val="FFC8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Arial"/>
                <a:ea typeface="Microsoft YaHei"/>
              </a:rPr>
              <a:t>Could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035040" y="987552"/>
            <a:ext cx="1133856" cy="411480"/>
          </a:xfrm>
          <a:prstGeom prst="roundRect">
            <a:avLst>
              <a:gd name="adj" fmla="val 50000"/>
            </a:avLst>
          </a:prstGeom>
          <a:solidFill>
            <a:srgbClr val="9B6B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Arial"/>
                <a:ea typeface="Microsoft YaHei"/>
              </a:rPr>
              <a:t>waiting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260336" y="987552"/>
            <a:ext cx="804672" cy="411480"/>
          </a:xfrm>
          <a:prstGeom prst="roundRect">
            <a:avLst>
              <a:gd name="adj" fmla="val 50000"/>
            </a:avLst>
          </a:prstGeom>
          <a:solidFill>
            <a:srgbClr val="FF6B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Arial"/>
                <a:ea typeface="Microsoft YaHei"/>
              </a:rPr>
              <a:t>held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1600200"/>
            <a:ext cx="11094415" cy="605028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5800" y="1600200"/>
            <a:ext cx="8076895" cy="6050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2000" b="0">
                <a:solidFill>
                  <a:srgbClr val="1F2A44"/>
                </a:solidFill>
                <a:latin typeface="Arial"/>
                <a:ea typeface="Microsoft YaHei"/>
              </a:rPr>
              <a:t>1.  “I have a _______ with Ms Lin at ten.”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082735" y="1655064"/>
            <a:ext cx="2468880" cy="495300"/>
          </a:xfrm>
          <a:prstGeom prst="roundRect">
            <a:avLst>
              <a:gd name="adj" fmla="val 50000"/>
            </a:avLst>
          </a:prstGeom>
          <a:solidFill>
            <a:srgbClr val="3CC4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FFFFFF"/>
                </a:solidFill>
                <a:latin typeface="Arial"/>
                <a:ea typeface="Microsoft YaHei"/>
              </a:rPr>
              <a:t>meeting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2278380"/>
            <a:ext cx="11094415" cy="605028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2278380"/>
            <a:ext cx="8076895" cy="6050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2000" b="0">
                <a:solidFill>
                  <a:srgbClr val="1F2A44"/>
                </a:solidFill>
                <a:latin typeface="Arial"/>
                <a:ea typeface="Microsoft YaHei"/>
              </a:rPr>
              <a:t>2.  I’m so sorry I’m late. I got _______ up in traffic.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082735" y="2333244"/>
            <a:ext cx="2468880" cy="495300"/>
          </a:xfrm>
          <a:prstGeom prst="roundRect">
            <a:avLst>
              <a:gd name="adj" fmla="val 50000"/>
            </a:avLst>
          </a:prstGeom>
          <a:solidFill>
            <a:srgbClr val="3CC4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FFFFFF"/>
                </a:solidFill>
                <a:latin typeface="Arial"/>
                <a:ea typeface="Microsoft YaHei"/>
              </a:rPr>
              <a:t>held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8640" y="2956560"/>
            <a:ext cx="11094415" cy="605028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85800" y="2956560"/>
            <a:ext cx="8076895" cy="6050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2000" b="0">
                <a:solidFill>
                  <a:srgbClr val="1F2A44"/>
                </a:solidFill>
                <a:latin typeface="Arial"/>
                <a:ea typeface="Microsoft YaHei"/>
              </a:rPr>
              <a:t>3.  Sorry to keep you _______.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082735" y="3011424"/>
            <a:ext cx="2468880" cy="495300"/>
          </a:xfrm>
          <a:prstGeom prst="roundRect">
            <a:avLst>
              <a:gd name="adj" fmla="val 50000"/>
            </a:avLst>
          </a:prstGeom>
          <a:solidFill>
            <a:srgbClr val="3CC4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FFFFFF"/>
                </a:solidFill>
                <a:latin typeface="Arial"/>
                <a:ea typeface="Microsoft YaHei"/>
              </a:rPr>
              <a:t>waiting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48640" y="3634740"/>
            <a:ext cx="11094415" cy="605028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85800" y="3634740"/>
            <a:ext cx="8076895" cy="6050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2000" b="0">
                <a:solidFill>
                  <a:srgbClr val="1F2A44"/>
                </a:solidFill>
                <a:latin typeface="Arial"/>
                <a:ea typeface="Microsoft YaHei"/>
              </a:rPr>
              <a:t>4.  _______ I possibly use your meeting room for a call?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082735" y="3689604"/>
            <a:ext cx="2468880" cy="495300"/>
          </a:xfrm>
          <a:prstGeom prst="roundRect">
            <a:avLst>
              <a:gd name="adj" fmla="val 50000"/>
            </a:avLst>
          </a:prstGeom>
          <a:solidFill>
            <a:srgbClr val="3CC4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FFFFFF"/>
                </a:solidFill>
                <a:latin typeface="Arial"/>
                <a:ea typeface="Microsoft YaHei"/>
              </a:rPr>
              <a:t>Could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48640" y="4312920"/>
            <a:ext cx="11094415" cy="605028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85800" y="4312920"/>
            <a:ext cx="8076895" cy="6050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2000" b="0">
                <a:solidFill>
                  <a:srgbClr val="1F2A44"/>
                </a:solidFill>
                <a:latin typeface="Arial"/>
                <a:ea typeface="Microsoft YaHei"/>
              </a:rPr>
              <a:t>5.  Would you _______ if I took a few notes?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082735" y="4367784"/>
            <a:ext cx="2468880" cy="495300"/>
          </a:xfrm>
          <a:prstGeom prst="roundRect">
            <a:avLst>
              <a:gd name="adj" fmla="val 50000"/>
            </a:avLst>
          </a:prstGeom>
          <a:solidFill>
            <a:srgbClr val="3CC4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FFFFFF"/>
                </a:solidFill>
                <a:latin typeface="Arial"/>
                <a:ea typeface="Microsoft YaHei"/>
              </a:rPr>
              <a:t>mind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48640" y="4991100"/>
            <a:ext cx="11094415" cy="605028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85800" y="4991100"/>
            <a:ext cx="8076895" cy="6050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2000" b="0">
                <a:solidFill>
                  <a:srgbClr val="1F2A44"/>
                </a:solidFill>
                <a:latin typeface="Arial"/>
                <a:ea typeface="Microsoft YaHei"/>
              </a:rPr>
              <a:t>6.  Thank you for your _______. It was very useful.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9082735" y="5045964"/>
            <a:ext cx="2468880" cy="495300"/>
          </a:xfrm>
          <a:prstGeom prst="roundRect">
            <a:avLst>
              <a:gd name="adj" fmla="val 50000"/>
            </a:avLst>
          </a:prstGeom>
          <a:solidFill>
            <a:srgbClr val="3CC4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FFFFFF"/>
                </a:solidFill>
                <a:latin typeface="Arial"/>
                <a:ea typeface="Microsoft YaHei"/>
              </a:rPr>
              <a:t>time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48640" y="5760720"/>
            <a:ext cx="11094415" cy="502920"/>
          </a:xfrm>
          <a:prstGeom prst="roundRect">
            <a:avLst>
              <a:gd name="adj" fmla="val 30000"/>
            </a:avLst>
          </a:prstGeom>
          <a:solidFill>
            <a:srgbClr val="FFE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1F2A44"/>
                </a:solidFill>
                <a:latin typeface="Arial"/>
                <a:ea typeface="Microsoft YaHei"/>
              </a:rPr>
              <a:t>⚠️ 拼写与动词形式): appreciate (not “apreciate”), possibly (not “possibley”), early (not “eraly”). After Would you mind if I… use the past simple: “Would you mind if I opened the window?”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" fill="hold">
                      <p:stCondLst>
                        <p:cond delay="indefinite"/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9B6B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8442656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3200" b="1">
                <a:solidFill>
                  <a:srgbClr val="1F2A44"/>
                </a:solidFill>
                <a:latin typeface="Arial"/>
                <a:ea typeface="Microsoft YaHei"/>
              </a:rPr>
              <a:t>🎭 Role Play · Arriving a little late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74175" y="438912"/>
            <a:ext cx="2560320" cy="475488"/>
          </a:xfrm>
          <a:prstGeom prst="roundRect">
            <a:avLst>
              <a:gd name="adj" fmla="val 50000"/>
            </a:avLst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3152" rIns="73152"/>
          <a:lstStyle/>
          <a:p>
            <a:pPr algn="ctr">
              <a:spcAft>
                <a:spcPts val="200"/>
              </a:spcAft>
            </a:pPr>
            <a:r>
              <a:rPr sz="1300" b="1">
                <a:solidFill>
                  <a:srgbClr val="FFFFFF"/>
                </a:solidFill>
                <a:latin typeface="Arial"/>
                <a:ea typeface="Microsoft YaHei"/>
              </a:rPr>
              <a:t>03 Role play 角色扮演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19088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100" b="0">
                <a:solidFill>
                  <a:srgbClr val="5F677A"/>
                </a:solidFill>
                <a:latin typeface="Arial"/>
                <a:ea typeface="Microsoft YaHei"/>
              </a:rPr>
              <a:t>Business English · Level 4 · Unit 3 · Lesson 08 Visitors to the company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28655" y="6419088"/>
            <a:ext cx="914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  <a:spcAft>
                <a:spcPts val="800"/>
              </a:spcAft>
            </a:pPr>
            <a:r>
              <a:rPr sz="1100" b="0">
                <a:solidFill>
                  <a:srgbClr val="5F677A"/>
                </a:solidFill>
                <a:latin typeface="Arial"/>
                <a:ea typeface="Microsoft YaHei"/>
              </a:rPr>
              <a:t>67</a:t>
            </a:r>
          </a:p>
        </p:txBody>
      </p:sp>
      <p:sp>
        <p:nvSpPr>
          <p:cNvPr id="7" name="Rounded Rectangle 6">
            <a:hlinkClick action="ppaction://hlinksldjump" r:id="rId2"/>
          </p:cNvPr>
          <p:cNvSpPr/>
          <p:nvPr/>
        </p:nvSpPr>
        <p:spPr>
          <a:xfrm>
            <a:off x="9677095" y="6382512"/>
            <a:ext cx="960120" cy="329184"/>
          </a:xfrm>
          <a:prstGeom prst="roundRect">
            <a:avLst>
              <a:gd name="adj" fmla="val 50000"/>
            </a:avLst>
          </a:prstGeom>
          <a:solidFill>
            <a:srgbClr val="FFE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Aft>
                <a:spcPts val="200"/>
              </a:spcAft>
            </a:pPr>
            <a:r>
              <a:rPr sz="1100" b="1">
                <a:solidFill>
                  <a:srgbClr val="1F2A44"/>
                </a:solidFill>
                <a:latin typeface="Arial"/>
                <a:ea typeface="Microsoft YaHei"/>
              </a:rPr>
              <a:t>🗺 Map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960120"/>
            <a:ext cx="11094415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500" b="0">
                <a:solidFill>
                  <a:srgbClr val="5F677A"/>
                </a:solidFill>
                <a:latin typeface="Arial"/>
                <a:ea typeface="Microsoft YaHei"/>
              </a:rPr>
              <a:t>到访时稍微迟到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463040"/>
            <a:ext cx="11094415" cy="14630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31750">
            <a:solidFill>
              <a:srgbClr val="9B6B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5F677A"/>
                </a:solidFill>
                <a:latin typeface="Arial"/>
                <a:ea typeface="Microsoft YaHei"/>
              </a:rPr>
              <a:t>📍 Situation 情景</a:t>
            </a:r>
          </a:p>
          <a:p>
            <a:pPr algn="l">
              <a:spcAft>
                <a:spcPts val="200"/>
              </a:spcAft>
            </a:pPr>
            <a:r>
              <a:rPr sz="2400" b="1">
                <a:solidFill>
                  <a:srgbClr val="1F2A44"/>
                </a:solidFill>
                <a:latin typeface="Arial"/>
                <a:ea typeface="Microsoft YaHei"/>
              </a:rPr>
              <a:t>You are Kevin Wu, a visitor. Your taxi was stuck in traffic and you arrive fifteen minutes late for a meeting with Ms Lin.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3200400"/>
            <a:ext cx="5410047" cy="21945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777240" y="3429000"/>
            <a:ext cx="1097280" cy="1097280"/>
          </a:xfrm>
          <a:prstGeom prst="ellipse">
            <a:avLst/>
          </a:prstGeom>
          <a:solidFill>
            <a:srgbClr val="FF6B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3152" rIns="73152"/>
          <a:lstStyle/>
          <a:p>
            <a:pPr algn="ctr">
              <a:spcAft>
                <a:spcPts val="200"/>
              </a:spcAft>
            </a:pPr>
            <a:r>
              <a:rPr sz="3600" b="1">
                <a:solidFill>
                  <a:srgbClr val="FFFFFF"/>
                </a:solidFill>
                <a:latin typeface="Arial"/>
                <a:ea typeface="Microsoft YaHei"/>
              </a:rPr>
              <a:t>👔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11680" y="3291840"/>
            <a:ext cx="3809847" cy="2011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400" b="1">
                <a:solidFill>
                  <a:srgbClr val="FF6B5B"/>
                </a:solidFill>
                <a:latin typeface="Arial"/>
                <a:ea typeface="Microsoft YaHei"/>
              </a:rPr>
              <a:t>Role A</a:t>
            </a:r>
          </a:p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2000" b="1">
                <a:solidFill>
                  <a:srgbClr val="1F2A44"/>
                </a:solidFill>
                <a:latin typeface="Arial"/>
                <a:ea typeface="Microsoft YaHei"/>
              </a:rPr>
              <a:t>Amy Wu, receptionist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33007" y="3200400"/>
            <a:ext cx="5410047" cy="21945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61607" y="3429000"/>
            <a:ext cx="1097280" cy="1097280"/>
          </a:xfrm>
          <a:prstGeom prst="ellipse">
            <a:avLst/>
          </a:prstGeom>
          <a:solidFill>
            <a:srgbClr val="4A90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3152" rIns="73152"/>
          <a:lstStyle/>
          <a:p>
            <a:pPr algn="ctr">
              <a:spcAft>
                <a:spcPts val="200"/>
              </a:spcAft>
            </a:pPr>
            <a:r>
              <a:rPr sz="3600" b="1">
                <a:solidFill>
                  <a:srgbClr val="FFFFFF"/>
                </a:solidFill>
                <a:latin typeface="Arial"/>
                <a:ea typeface="Microsoft YaHei"/>
              </a:rPr>
              <a:t>💼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96047" y="3291840"/>
            <a:ext cx="3809847" cy="2011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400" b="1">
                <a:solidFill>
                  <a:srgbClr val="4A90E2"/>
                </a:solidFill>
                <a:latin typeface="Arial"/>
                <a:ea typeface="Microsoft YaHei"/>
              </a:rPr>
              <a:t>Role B</a:t>
            </a:r>
          </a:p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2000" b="1">
                <a:solidFill>
                  <a:srgbClr val="1F2A44"/>
                </a:solidFill>
                <a:latin typeface="Arial"/>
                <a:ea typeface="Microsoft YaHei"/>
              </a:rPr>
              <a:t>Kevin Wu, visitor from Orion Foods (Ms Lin is the host; Amy plays both Amy and Ms Lin)</a:t>
            </a:r>
          </a:p>
        </p:txBody>
      </p:sp>
    </p:spTree>
  </p:cSld>
  <p:clrMapOvr>
    <a:masterClrMapping/>
  </p:clrMapOvr>
  <p:transition spd="med">
    <p:fade/>
  </p:transition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9B6B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8442656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2800" b="1">
                <a:solidFill>
                  <a:srgbClr val="1F2A44"/>
                </a:solidFill>
                <a:latin typeface="Arial"/>
                <a:ea typeface="Microsoft YaHei"/>
              </a:rPr>
              <a:t>🎭 Model Dialogue · Arriving a little late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74175" y="438912"/>
            <a:ext cx="2560320" cy="475488"/>
          </a:xfrm>
          <a:prstGeom prst="roundRect">
            <a:avLst>
              <a:gd name="adj" fmla="val 50000"/>
            </a:avLst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3152" rIns="73152"/>
          <a:lstStyle/>
          <a:p>
            <a:pPr algn="ctr">
              <a:spcAft>
                <a:spcPts val="200"/>
              </a:spcAft>
            </a:pPr>
            <a:r>
              <a:rPr sz="1300" b="1">
                <a:solidFill>
                  <a:srgbClr val="FFFFFF"/>
                </a:solidFill>
                <a:latin typeface="Arial"/>
                <a:ea typeface="Microsoft YaHei"/>
              </a:rPr>
              <a:t>Part 1/2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19088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100" b="0">
                <a:solidFill>
                  <a:srgbClr val="5F677A"/>
                </a:solidFill>
                <a:latin typeface="Arial"/>
                <a:ea typeface="Microsoft YaHei"/>
              </a:rPr>
              <a:t>Business English · Level 4 · Unit 3 · Lesson 08 Visitors to the company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28655" y="6419088"/>
            <a:ext cx="914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  <a:spcAft>
                <a:spcPts val="800"/>
              </a:spcAft>
            </a:pPr>
            <a:r>
              <a:rPr sz="1100" b="0">
                <a:solidFill>
                  <a:srgbClr val="5F677A"/>
                </a:solidFill>
                <a:latin typeface="Arial"/>
                <a:ea typeface="Microsoft YaHei"/>
              </a:rPr>
              <a:t>68</a:t>
            </a:r>
          </a:p>
        </p:txBody>
      </p:sp>
      <p:sp>
        <p:nvSpPr>
          <p:cNvPr id="7" name="Rounded Rectangle 6">
            <a:hlinkClick action="ppaction://hlinksldjump" r:id="rId2"/>
          </p:cNvPr>
          <p:cNvSpPr/>
          <p:nvPr/>
        </p:nvSpPr>
        <p:spPr>
          <a:xfrm>
            <a:off x="9677095" y="6382512"/>
            <a:ext cx="960120" cy="329184"/>
          </a:xfrm>
          <a:prstGeom prst="roundRect">
            <a:avLst>
              <a:gd name="adj" fmla="val 50000"/>
            </a:avLst>
          </a:prstGeom>
          <a:solidFill>
            <a:srgbClr val="FFE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Aft>
                <a:spcPts val="200"/>
              </a:spcAft>
            </a:pPr>
            <a:r>
              <a:rPr sz="1100" b="1">
                <a:solidFill>
                  <a:srgbClr val="1F2A44"/>
                </a:solidFill>
                <a:latin typeface="Arial"/>
                <a:ea typeface="Microsoft YaHei"/>
              </a:rPr>
              <a:t>🗺 Map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325880"/>
            <a:ext cx="731520" cy="457200"/>
          </a:xfrm>
          <a:prstGeom prst="roundRect">
            <a:avLst>
              <a:gd name="adj" fmla="val 50000"/>
            </a:avLst>
          </a:prstGeom>
          <a:solidFill>
            <a:srgbClr val="FF6B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Arial"/>
                <a:ea typeface="Microsoft YaHei"/>
              </a:rPr>
              <a:t>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1764792"/>
            <a:ext cx="1280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800"/>
              </a:spcAft>
            </a:pPr>
            <a:r>
              <a:rPr sz="1000" b="0">
                <a:solidFill>
                  <a:srgbClr val="5F677A"/>
                </a:solidFill>
                <a:latin typeface="Arial"/>
                <a:ea typeface="Microsoft YaHei"/>
              </a:rPr>
              <a:t>Kevin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463040" y="1325880"/>
            <a:ext cx="8595360" cy="780288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31750">
            <a:solidFill>
              <a:srgbClr val="FF6B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l">
              <a:spcAft>
                <a:spcPts val="200"/>
              </a:spcAft>
            </a:pPr>
            <a:r>
              <a:rPr sz="1900" b="1">
                <a:solidFill>
                  <a:srgbClr val="1F2A44"/>
                </a:solidFill>
                <a:latin typeface="Arial"/>
                <a:ea typeface="Microsoft YaHei"/>
              </a:rPr>
              <a:t>Good morning. I’m Kevin Wu from Orion Foods. I have a meeting with Ms Lin at ten. I’m so sorry I’m late. I got held up in traffic.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911535" y="2197608"/>
            <a:ext cx="731520" cy="457200"/>
          </a:xfrm>
          <a:prstGeom prst="roundRect">
            <a:avLst>
              <a:gd name="adj" fmla="val 50000"/>
            </a:avLst>
          </a:prstGeom>
          <a:solidFill>
            <a:srgbClr val="4A90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Arial"/>
                <a:ea typeface="Microsoft YaHei"/>
              </a:rPr>
              <a:t>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37215" y="2636520"/>
            <a:ext cx="1280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800"/>
              </a:spcAft>
            </a:pPr>
            <a:r>
              <a:rPr sz="1000" b="0">
                <a:solidFill>
                  <a:srgbClr val="5F677A"/>
                </a:solidFill>
                <a:latin typeface="Arial"/>
                <a:ea typeface="Microsoft YaHei"/>
              </a:rPr>
              <a:t>Amy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133295" y="2197608"/>
            <a:ext cx="8595360" cy="780288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31750">
            <a:solidFill>
              <a:srgbClr val="4A90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l">
              <a:spcAft>
                <a:spcPts val="200"/>
              </a:spcAft>
            </a:pPr>
            <a:r>
              <a:rPr sz="1900" b="1">
                <a:solidFill>
                  <a:srgbClr val="1F2A44"/>
                </a:solidFill>
                <a:latin typeface="Arial"/>
                <a:ea typeface="Microsoft YaHei"/>
              </a:rPr>
              <a:t>Don’t worry, Mr Wu. Let me call her. Could you sign in here, please?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3069336"/>
            <a:ext cx="731520" cy="457200"/>
          </a:xfrm>
          <a:prstGeom prst="roundRect">
            <a:avLst>
              <a:gd name="adj" fmla="val 50000"/>
            </a:avLst>
          </a:prstGeom>
          <a:solidFill>
            <a:srgbClr val="FF6B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Arial"/>
                <a:ea typeface="Microsoft YaHe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4320" y="3508248"/>
            <a:ext cx="1280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800"/>
              </a:spcAft>
            </a:pPr>
            <a:r>
              <a:rPr sz="1000" b="0">
                <a:solidFill>
                  <a:srgbClr val="5F677A"/>
                </a:solidFill>
                <a:latin typeface="Arial"/>
                <a:ea typeface="Microsoft YaHei"/>
              </a:rPr>
              <a:t> 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463040" y="3069336"/>
            <a:ext cx="8595360" cy="490728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31750">
            <a:solidFill>
              <a:srgbClr val="FF6B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l">
              <a:spcAft>
                <a:spcPts val="200"/>
              </a:spcAft>
            </a:pPr>
            <a:r>
              <a:rPr sz="1900" b="1">
                <a:solidFill>
                  <a:srgbClr val="1F2A44"/>
                </a:solidFill>
                <a:latin typeface="Arial"/>
                <a:ea typeface="Microsoft YaHei"/>
              </a:rPr>
              <a:t>Of course. Do you happen to know if the meeting has started?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911535" y="3651504"/>
            <a:ext cx="731520" cy="457200"/>
          </a:xfrm>
          <a:prstGeom prst="roundRect">
            <a:avLst>
              <a:gd name="adj" fmla="val 50000"/>
            </a:avLst>
          </a:prstGeom>
          <a:solidFill>
            <a:srgbClr val="4A90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Arial"/>
                <a:ea typeface="Microsoft YaHei"/>
              </a:rPr>
              <a:t>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637215" y="4090416"/>
            <a:ext cx="1280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800"/>
              </a:spcAft>
            </a:pPr>
            <a:r>
              <a:rPr sz="1000" b="0">
                <a:solidFill>
                  <a:srgbClr val="5F677A"/>
                </a:solidFill>
                <a:latin typeface="Arial"/>
                <a:ea typeface="Microsoft YaHei"/>
              </a:rPr>
              <a:t> 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133295" y="3651504"/>
            <a:ext cx="8595360" cy="780288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31750">
            <a:solidFill>
              <a:srgbClr val="4A90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l">
              <a:spcAft>
                <a:spcPts val="200"/>
              </a:spcAft>
            </a:pPr>
            <a:r>
              <a:rPr sz="1900" b="1">
                <a:solidFill>
                  <a:srgbClr val="1F2A44"/>
                </a:solidFill>
                <a:latin typeface="Arial"/>
                <a:ea typeface="Microsoft YaHei"/>
              </a:rPr>
              <a:t>I think they’re just getting coffee. I’ll tell her you’re here. Please take a seat.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0911535" y="4523232"/>
            <a:ext cx="731520" cy="457200"/>
          </a:xfrm>
          <a:prstGeom prst="roundRect">
            <a:avLst>
              <a:gd name="adj" fmla="val 50000"/>
            </a:avLst>
          </a:prstGeom>
          <a:solidFill>
            <a:srgbClr val="4A90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Arial"/>
                <a:ea typeface="Microsoft YaHei"/>
              </a:rPr>
              <a:t>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637215" y="4962144"/>
            <a:ext cx="1280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800"/>
              </a:spcAft>
            </a:pPr>
            <a:r>
              <a:rPr sz="1000" b="0">
                <a:solidFill>
                  <a:srgbClr val="5F677A"/>
                </a:solidFill>
                <a:latin typeface="Arial"/>
                <a:ea typeface="Microsoft YaHei"/>
              </a:rPr>
              <a:t>as Ms Lin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2133295" y="4523232"/>
            <a:ext cx="8595360" cy="490728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31750">
            <a:solidFill>
              <a:srgbClr val="4A90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l">
              <a:spcAft>
                <a:spcPts val="200"/>
              </a:spcAft>
            </a:pPr>
            <a:r>
              <a:rPr sz="1900" b="1">
                <a:solidFill>
                  <a:srgbClr val="1F2A44"/>
                </a:solidFill>
                <a:latin typeface="Arial"/>
                <a:ea typeface="Microsoft YaHei"/>
              </a:rPr>
              <a:t>Kevin! Good to see you. Sorry to keep you waiting.</a:t>
            </a:r>
          </a:p>
        </p:txBody>
      </p:sp>
    </p:spTree>
  </p:cSld>
  <p:clrMapOvr>
    <a:masterClrMapping/>
  </p:clrMapOvr>
  <p:transition spd="med">
    <p:fade/>
  </p:transition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9B6B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8442656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2400" b="1">
                <a:solidFill>
                  <a:srgbClr val="1F2A44"/>
                </a:solidFill>
                <a:latin typeface="Arial"/>
                <a:ea typeface="Microsoft YaHei"/>
              </a:rPr>
              <a:t>🎭 Model Dialogue · Arriving a little late (cont.)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74175" y="438912"/>
            <a:ext cx="2560320" cy="475488"/>
          </a:xfrm>
          <a:prstGeom prst="roundRect">
            <a:avLst>
              <a:gd name="adj" fmla="val 50000"/>
            </a:avLst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3152" rIns="73152"/>
          <a:lstStyle/>
          <a:p>
            <a:pPr algn="ctr">
              <a:spcAft>
                <a:spcPts val="200"/>
              </a:spcAft>
            </a:pPr>
            <a:r>
              <a:rPr sz="1300" b="1">
                <a:solidFill>
                  <a:srgbClr val="FFFFFF"/>
                </a:solidFill>
                <a:latin typeface="Arial"/>
                <a:ea typeface="Microsoft YaHei"/>
              </a:rPr>
              <a:t>Part 2/2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19088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100" b="0">
                <a:solidFill>
                  <a:srgbClr val="5F677A"/>
                </a:solidFill>
                <a:latin typeface="Arial"/>
                <a:ea typeface="Microsoft YaHei"/>
              </a:rPr>
              <a:t>Business English · Level 4 · Unit 3 · Lesson 08 Visitors to the company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28655" y="6419088"/>
            <a:ext cx="914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  <a:spcAft>
                <a:spcPts val="800"/>
              </a:spcAft>
            </a:pPr>
            <a:r>
              <a:rPr sz="1100" b="0">
                <a:solidFill>
                  <a:srgbClr val="5F677A"/>
                </a:solidFill>
                <a:latin typeface="Arial"/>
                <a:ea typeface="Microsoft YaHei"/>
              </a:rPr>
              <a:t>69</a:t>
            </a:r>
          </a:p>
        </p:txBody>
      </p:sp>
      <p:sp>
        <p:nvSpPr>
          <p:cNvPr id="7" name="Rounded Rectangle 6">
            <a:hlinkClick action="ppaction://hlinksldjump" r:id="rId2"/>
          </p:cNvPr>
          <p:cNvSpPr/>
          <p:nvPr/>
        </p:nvSpPr>
        <p:spPr>
          <a:xfrm>
            <a:off x="9677095" y="6382512"/>
            <a:ext cx="960120" cy="329184"/>
          </a:xfrm>
          <a:prstGeom prst="roundRect">
            <a:avLst>
              <a:gd name="adj" fmla="val 50000"/>
            </a:avLst>
          </a:prstGeom>
          <a:solidFill>
            <a:srgbClr val="FFE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Aft>
                <a:spcPts val="200"/>
              </a:spcAft>
            </a:pPr>
            <a:r>
              <a:rPr sz="1100" b="1">
                <a:solidFill>
                  <a:srgbClr val="1F2A44"/>
                </a:solidFill>
                <a:latin typeface="Arial"/>
                <a:ea typeface="Microsoft YaHei"/>
              </a:rPr>
              <a:t>🗺 Map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325880"/>
            <a:ext cx="731520" cy="457200"/>
          </a:xfrm>
          <a:prstGeom prst="roundRect">
            <a:avLst>
              <a:gd name="adj" fmla="val 50000"/>
            </a:avLst>
          </a:prstGeom>
          <a:solidFill>
            <a:srgbClr val="FF6B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Arial"/>
                <a:ea typeface="Microsoft YaHei"/>
              </a:rPr>
              <a:t>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1764792"/>
            <a:ext cx="1280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800"/>
              </a:spcAft>
            </a:pPr>
            <a:r>
              <a:rPr sz="1000" b="0">
                <a:solidFill>
                  <a:srgbClr val="5F677A"/>
                </a:solidFill>
                <a:latin typeface="Arial"/>
                <a:ea typeface="Microsoft YaHei"/>
              </a:rPr>
              <a:t> 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463040" y="1325880"/>
            <a:ext cx="8595360" cy="490728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31750">
            <a:solidFill>
              <a:srgbClr val="FF6B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l">
              <a:spcAft>
                <a:spcPts val="200"/>
              </a:spcAft>
            </a:pPr>
            <a:r>
              <a:rPr sz="1900" b="1">
                <a:solidFill>
                  <a:srgbClr val="1F2A44"/>
                </a:solidFill>
                <a:latin typeface="Arial"/>
                <a:ea typeface="Microsoft YaHei"/>
              </a:rPr>
              <a:t>Not at all. I’m the one who’s late. Thank you for waiting for me.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911535" y="1908048"/>
            <a:ext cx="731520" cy="457200"/>
          </a:xfrm>
          <a:prstGeom prst="roundRect">
            <a:avLst>
              <a:gd name="adj" fmla="val 50000"/>
            </a:avLst>
          </a:prstGeom>
          <a:solidFill>
            <a:srgbClr val="4A90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Arial"/>
                <a:ea typeface="Microsoft YaHei"/>
              </a:rPr>
              <a:t>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37215" y="2346960"/>
            <a:ext cx="1280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800"/>
              </a:spcAft>
            </a:pPr>
            <a:r>
              <a:rPr sz="1000" b="0">
                <a:solidFill>
                  <a:srgbClr val="5F677A"/>
                </a:solidFill>
                <a:latin typeface="Arial"/>
                <a:ea typeface="Microsoft YaHei"/>
              </a:rPr>
              <a:t>as Ms Lin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133295" y="1908048"/>
            <a:ext cx="8595360" cy="490728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31750">
            <a:solidFill>
              <a:srgbClr val="4A90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l">
              <a:spcAft>
                <a:spcPts val="200"/>
              </a:spcAft>
            </a:pPr>
            <a:r>
              <a:rPr sz="1900" b="1">
                <a:solidFill>
                  <a:srgbClr val="1F2A44"/>
                </a:solidFill>
                <a:latin typeface="Arial"/>
                <a:ea typeface="Microsoft YaHei"/>
              </a:rPr>
              <a:t>It’s fine. We’ve only just started. Would you like some water?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2490216"/>
            <a:ext cx="731520" cy="457200"/>
          </a:xfrm>
          <a:prstGeom prst="roundRect">
            <a:avLst>
              <a:gd name="adj" fmla="val 50000"/>
            </a:avLst>
          </a:prstGeom>
          <a:solidFill>
            <a:srgbClr val="FF6B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Arial"/>
                <a:ea typeface="Microsoft YaHe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4320" y="2929128"/>
            <a:ext cx="1280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800"/>
              </a:spcAft>
            </a:pPr>
            <a:r>
              <a:rPr sz="1000" b="0">
                <a:solidFill>
                  <a:srgbClr val="5F677A"/>
                </a:solidFill>
                <a:latin typeface="Arial"/>
                <a:ea typeface="Microsoft YaHei"/>
              </a:rPr>
              <a:t> 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463040" y="2490216"/>
            <a:ext cx="8595360" cy="780288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31750">
            <a:solidFill>
              <a:srgbClr val="FF6B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l">
              <a:spcAft>
                <a:spcPts val="200"/>
              </a:spcAft>
            </a:pPr>
            <a:r>
              <a:rPr sz="1900" b="1">
                <a:solidFill>
                  <a:srgbClr val="1F2A44"/>
                </a:solidFill>
                <a:latin typeface="Arial"/>
                <a:ea typeface="Microsoft YaHei"/>
              </a:rPr>
              <a:t>Yes, please. Would it be all right if I plugged in my laptop? The battery is low.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911535" y="3361944"/>
            <a:ext cx="731520" cy="457200"/>
          </a:xfrm>
          <a:prstGeom prst="roundRect">
            <a:avLst>
              <a:gd name="adj" fmla="val 50000"/>
            </a:avLst>
          </a:prstGeom>
          <a:solidFill>
            <a:srgbClr val="4A90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Arial"/>
                <a:ea typeface="Microsoft YaHei"/>
              </a:rPr>
              <a:t>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637215" y="3800856"/>
            <a:ext cx="1280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800"/>
              </a:spcAft>
            </a:pPr>
            <a:r>
              <a:rPr sz="1000" b="0">
                <a:solidFill>
                  <a:srgbClr val="5F677A"/>
                </a:solidFill>
                <a:latin typeface="Arial"/>
                <a:ea typeface="Microsoft YaHei"/>
              </a:rPr>
              <a:t>as Ms Lin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133295" y="3361944"/>
            <a:ext cx="8595360" cy="490728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31750">
            <a:solidFill>
              <a:srgbClr val="4A90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l">
              <a:spcAft>
                <a:spcPts val="200"/>
              </a:spcAft>
            </a:pPr>
            <a:r>
              <a:rPr sz="1900" b="1">
                <a:solidFill>
                  <a:srgbClr val="1F2A44"/>
                </a:solidFill>
                <a:latin typeface="Arial"/>
                <a:ea typeface="Microsoft YaHei"/>
              </a:rPr>
              <a:t>Of course. There’s a socket under the table. Shall we go in?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3944112"/>
            <a:ext cx="731520" cy="457200"/>
          </a:xfrm>
          <a:prstGeom prst="roundRect">
            <a:avLst>
              <a:gd name="adj" fmla="val 50000"/>
            </a:avLst>
          </a:prstGeom>
          <a:solidFill>
            <a:srgbClr val="FF6B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Arial"/>
                <a:ea typeface="Microsoft YaHei"/>
              </a:rPr>
              <a:t>B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74320" y="4383024"/>
            <a:ext cx="1280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800"/>
              </a:spcAft>
            </a:pPr>
            <a:r>
              <a:rPr sz="1000" b="0">
                <a:solidFill>
                  <a:srgbClr val="5F677A"/>
                </a:solidFill>
                <a:latin typeface="Arial"/>
                <a:ea typeface="Microsoft YaHei"/>
              </a:rPr>
              <a:t> 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463040" y="3944112"/>
            <a:ext cx="8595360" cy="780288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31750">
            <a:solidFill>
              <a:srgbClr val="FF6B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l">
              <a:spcAft>
                <a:spcPts val="200"/>
              </a:spcAft>
            </a:pPr>
            <a:r>
              <a:rPr sz="1900" b="1">
                <a:solidFill>
                  <a:srgbClr val="1F2A44"/>
                </a:solidFill>
                <a:latin typeface="Arial"/>
                <a:ea typeface="Microsoft YaHei"/>
              </a:rPr>
              <a:t>Yes, thanks. I won’t take up too much of your time. I know you’re busy.</a:t>
            </a:r>
          </a:p>
        </p:txBody>
      </p:sp>
    </p:spTree>
  </p:cSld>
  <p:clrMapOvr>
    <a:masterClrMapping/>
  </p:clrMapOvr>
  <p:transition spd="med">
    <p:fade/>
  </p:transition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FC8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8442656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3200" b="1">
                <a:solidFill>
                  <a:srgbClr val="1F2A44"/>
                </a:solidFill>
                <a:latin typeface="Arial"/>
                <a:ea typeface="Microsoft YaHei"/>
              </a:rPr>
              <a:t>🎯 Your Turn · Arriving a little late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74175" y="438912"/>
            <a:ext cx="2560320" cy="475488"/>
          </a:xfrm>
          <a:prstGeom prst="roundRect">
            <a:avLst>
              <a:gd name="adj" fmla="val 50000"/>
            </a:avLst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3152" rIns="73152"/>
          <a:lstStyle/>
          <a:p>
            <a:pPr algn="ctr">
              <a:spcAft>
                <a:spcPts val="200"/>
              </a:spcAft>
            </a:pPr>
            <a:r>
              <a:rPr sz="1300" b="1">
                <a:solidFill>
                  <a:srgbClr val="FFFFFF"/>
                </a:solidFill>
                <a:latin typeface="Arial"/>
                <a:ea typeface="Microsoft YaHei"/>
              </a:rPr>
              <a:t>03 Role play 角色扮演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19088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100" b="0">
                <a:solidFill>
                  <a:srgbClr val="5F677A"/>
                </a:solidFill>
                <a:latin typeface="Arial"/>
                <a:ea typeface="Microsoft YaHei"/>
              </a:rPr>
              <a:t>Business English · Level 4 · Unit 3 · Lesson 08 Visitors to the company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28655" y="6419088"/>
            <a:ext cx="914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  <a:spcAft>
                <a:spcPts val="800"/>
              </a:spcAft>
            </a:pPr>
            <a:r>
              <a:rPr sz="1100" b="0">
                <a:solidFill>
                  <a:srgbClr val="5F677A"/>
                </a:solidFill>
                <a:latin typeface="Arial"/>
                <a:ea typeface="Microsoft YaHei"/>
              </a:rPr>
              <a:t>70</a:t>
            </a:r>
          </a:p>
        </p:txBody>
      </p:sp>
      <p:sp>
        <p:nvSpPr>
          <p:cNvPr id="7" name="Rounded Rectangle 6">
            <a:hlinkClick action="ppaction://hlinksldjump" r:id="rId2"/>
          </p:cNvPr>
          <p:cNvSpPr/>
          <p:nvPr/>
        </p:nvSpPr>
        <p:spPr>
          <a:xfrm>
            <a:off x="9677095" y="6382512"/>
            <a:ext cx="960120" cy="329184"/>
          </a:xfrm>
          <a:prstGeom prst="roundRect">
            <a:avLst>
              <a:gd name="adj" fmla="val 50000"/>
            </a:avLst>
          </a:prstGeom>
          <a:solidFill>
            <a:srgbClr val="FFE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Aft>
                <a:spcPts val="200"/>
              </a:spcAft>
            </a:pPr>
            <a:r>
              <a:rPr sz="1100" b="1">
                <a:solidFill>
                  <a:srgbClr val="1F2A44"/>
                </a:solidFill>
                <a:latin typeface="Arial"/>
                <a:ea typeface="Microsoft YaHei"/>
              </a:rPr>
              <a:t>🗺 Map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325880"/>
            <a:ext cx="2377440" cy="408432"/>
          </a:xfrm>
          <a:prstGeom prst="roundRect">
            <a:avLst>
              <a:gd name="adj" fmla="val 15000"/>
            </a:avLst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Arial"/>
                <a:ea typeface="Microsoft YaHei"/>
              </a:rPr>
              <a:t>Situation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017520" y="1325880"/>
            <a:ext cx="8625535" cy="408432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1F2A44"/>
                </a:solidFill>
                <a:latin typeface="Arial"/>
                <a:ea typeface="Microsoft YaHei"/>
              </a:rPr>
              <a:t>You visit a client’s office and arrive a few minutes late.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1807464"/>
            <a:ext cx="2377440" cy="408432"/>
          </a:xfrm>
          <a:prstGeom prst="roundRect">
            <a:avLst>
              <a:gd name="adj" fmla="val 15000"/>
            </a:avLst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Arial"/>
                <a:ea typeface="Microsoft YaHei"/>
              </a:rPr>
              <a:t>Your role (B)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017520" y="1807464"/>
            <a:ext cx="8625535" cy="408432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1F2A44"/>
                </a:solidFill>
                <a:latin typeface="Arial"/>
                <a:ea typeface="Microsoft YaHei"/>
              </a:rPr>
              <a:t>Visitor. Your name and company: ______________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2289048"/>
            <a:ext cx="2377440" cy="408432"/>
          </a:xfrm>
          <a:prstGeom prst="roundRect">
            <a:avLst>
              <a:gd name="adj" fmla="val 15000"/>
            </a:avLst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Arial"/>
                <a:ea typeface="Microsoft YaHei"/>
              </a:rPr>
              <a:t>Partner’s role (A)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017520" y="2289048"/>
            <a:ext cx="8625535" cy="408432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1F2A44"/>
                </a:solidFill>
                <a:latin typeface="Arial"/>
                <a:ea typeface="Microsoft YaHei"/>
              </a:rPr>
              <a:t>Receptionist and host. Friendly, but busy.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2770632"/>
            <a:ext cx="2377440" cy="652272"/>
          </a:xfrm>
          <a:prstGeom prst="roundRect">
            <a:avLst>
              <a:gd name="adj" fmla="val 15000"/>
            </a:avLst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Arial"/>
                <a:ea typeface="Microsoft YaHei"/>
              </a:rPr>
              <a:t>Must use (4 or more)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017520" y="2770632"/>
            <a:ext cx="8625535" cy="652272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1F2A44"/>
                </a:solidFill>
                <a:latin typeface="Arial"/>
                <a:ea typeface="Microsoft YaHei"/>
              </a:rPr>
              <a:t>I have a meeting with… · I got held up in… · Sorry to keep you waiting. · Would it be all right if I…? · I won’t take up much of your time.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3496056"/>
            <a:ext cx="2377440" cy="652272"/>
          </a:xfrm>
          <a:prstGeom prst="roundRect">
            <a:avLst>
              <a:gd name="adj" fmla="val 15000"/>
            </a:avLst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Arial"/>
                <a:ea typeface="Microsoft YaHei"/>
              </a:rPr>
              <a:t>Goal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017520" y="3496056"/>
            <a:ext cx="8625535" cy="652272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1F2A44"/>
                </a:solidFill>
                <a:latin typeface="Arial"/>
                <a:ea typeface="Microsoft YaHei"/>
              </a:rPr>
              <a:t>Apologize briefly, sign in, make one polite request, start the meeting. About 90 seconds.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4221480"/>
            <a:ext cx="2377440" cy="408432"/>
          </a:xfrm>
          <a:prstGeom prst="roundRect">
            <a:avLst>
              <a:gd name="adj" fmla="val 15000"/>
            </a:avLst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Arial"/>
                <a:ea typeface="Microsoft YaHei"/>
              </a:rPr>
              <a:t>My notes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017520" y="4221480"/>
            <a:ext cx="8625535" cy="408432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1F2A44"/>
                </a:solidFill>
                <a:latin typeface="Arial"/>
                <a:ea typeface="Microsoft YaHei"/>
              </a:rPr>
              <a:t>____________________________________________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4794504"/>
            <a:ext cx="11094415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500" b="1">
                <a:solidFill>
                  <a:srgbClr val="FF6B5B"/>
                </a:solidFill>
                <a:latin typeface="Arial"/>
                <a:ea typeface="Microsoft YaHei"/>
              </a:rPr>
              <a:t>🔥 Level-up challenges 进阶挑战 (click)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8640" y="5178552"/>
            <a:ext cx="3576218" cy="1039368"/>
          </a:xfrm>
          <a:prstGeom prst="roundRect">
            <a:avLst>
              <a:gd name="adj" fmla="val 12000"/>
            </a:avLst>
          </a:prstGeom>
          <a:solidFill>
            <a:srgbClr val="4A90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l">
              <a:spcAft>
                <a:spcPts val="200"/>
              </a:spcAft>
            </a:pPr>
            <a:r>
              <a:rPr sz="1500" b="1">
                <a:solidFill>
                  <a:srgbClr val="FFFFFF"/>
                </a:solidFill>
                <a:latin typeface="Arial"/>
                <a:ea typeface="Microsoft YaHei"/>
              </a:rPr>
              <a:t>Give a short apology only: one sentence, then move on. Don’t explain for a long time.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307738" y="5178552"/>
            <a:ext cx="3576218" cy="1039368"/>
          </a:xfrm>
          <a:prstGeom prst="roundRect">
            <a:avLst>
              <a:gd name="adj" fmla="val 12000"/>
            </a:avLst>
          </a:prstGeom>
          <a:solidFill>
            <a:srgbClr val="3CC4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l">
              <a:spcAft>
                <a:spcPts val="200"/>
              </a:spcAft>
            </a:pPr>
            <a:r>
              <a:rPr sz="1500" b="1">
                <a:solidFill>
                  <a:srgbClr val="FFFFFF"/>
                </a:solidFill>
                <a:latin typeface="Arial"/>
                <a:ea typeface="Microsoft YaHei"/>
              </a:rPr>
              <a:t>The receptionist cannot find your name. Say: “Could you check again? It might be under Orion Foods.”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066836" y="5178552"/>
            <a:ext cx="3576218" cy="1039368"/>
          </a:xfrm>
          <a:prstGeom prst="roundRect">
            <a:avLst>
              <a:gd name="adj" fmla="val 12000"/>
            </a:avLst>
          </a:prstGeom>
          <a:solidFill>
            <a:srgbClr val="FFC8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l">
              <a:spcAft>
                <a:spcPts val="200"/>
              </a:spcAft>
            </a:pPr>
            <a:r>
              <a:rPr sz="1500" b="1">
                <a:solidFill>
                  <a:srgbClr val="FFFFFF"/>
                </a:solidFill>
                <a:latin typeface="Arial"/>
                <a:ea typeface="Microsoft YaHei"/>
              </a:rPr>
              <a:t>You are early instead. Say: “I’m about twenty minutes early. Is there somewhere I can wait?”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" fill="hold">
                      <p:stCondLst>
                        <p:cond delay="indefinite"/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9B6B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8442656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2200" b="1">
                <a:solidFill>
                  <a:srgbClr val="1F2A44"/>
                </a:solidFill>
                <a:latin typeface="Arial"/>
                <a:ea typeface="Microsoft YaHei"/>
              </a:rPr>
              <a:t>🎭 Role Play · A polite request, and thanking the host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74175" y="438912"/>
            <a:ext cx="2560320" cy="475488"/>
          </a:xfrm>
          <a:prstGeom prst="roundRect">
            <a:avLst>
              <a:gd name="adj" fmla="val 50000"/>
            </a:avLst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3152" rIns="73152"/>
          <a:lstStyle/>
          <a:p>
            <a:pPr algn="ctr">
              <a:spcAft>
                <a:spcPts val="200"/>
              </a:spcAft>
            </a:pPr>
            <a:r>
              <a:rPr sz="1300" b="1">
                <a:solidFill>
                  <a:srgbClr val="FFFFFF"/>
                </a:solidFill>
                <a:latin typeface="Arial"/>
                <a:ea typeface="Microsoft YaHei"/>
              </a:rPr>
              <a:t>03 Role play 角色扮演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19088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100" b="0">
                <a:solidFill>
                  <a:srgbClr val="5F677A"/>
                </a:solidFill>
                <a:latin typeface="Arial"/>
                <a:ea typeface="Microsoft YaHei"/>
              </a:rPr>
              <a:t>Business English · Level 4 · Unit 3 · Lesson 08 Visitors to the company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28655" y="6419088"/>
            <a:ext cx="914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  <a:spcAft>
                <a:spcPts val="800"/>
              </a:spcAft>
            </a:pPr>
            <a:r>
              <a:rPr sz="1100" b="0">
                <a:solidFill>
                  <a:srgbClr val="5F677A"/>
                </a:solidFill>
                <a:latin typeface="Arial"/>
                <a:ea typeface="Microsoft YaHei"/>
              </a:rPr>
              <a:t>71</a:t>
            </a:r>
          </a:p>
        </p:txBody>
      </p:sp>
      <p:sp>
        <p:nvSpPr>
          <p:cNvPr id="7" name="Rounded Rectangle 6">
            <a:hlinkClick action="ppaction://hlinksldjump" r:id="rId2"/>
          </p:cNvPr>
          <p:cNvSpPr/>
          <p:nvPr/>
        </p:nvSpPr>
        <p:spPr>
          <a:xfrm>
            <a:off x="9677095" y="6382512"/>
            <a:ext cx="960120" cy="329184"/>
          </a:xfrm>
          <a:prstGeom prst="roundRect">
            <a:avLst>
              <a:gd name="adj" fmla="val 50000"/>
            </a:avLst>
          </a:prstGeom>
          <a:solidFill>
            <a:srgbClr val="FFE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Aft>
                <a:spcPts val="200"/>
              </a:spcAft>
            </a:pPr>
            <a:r>
              <a:rPr sz="1100" b="1">
                <a:solidFill>
                  <a:srgbClr val="1F2A44"/>
                </a:solidFill>
                <a:latin typeface="Arial"/>
                <a:ea typeface="Microsoft YaHei"/>
              </a:rPr>
              <a:t>🗺 Map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960120"/>
            <a:ext cx="11094415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500" b="0">
                <a:solidFill>
                  <a:srgbClr val="5F677A"/>
                </a:solidFill>
                <a:latin typeface="Arial"/>
                <a:ea typeface="Microsoft YaHei"/>
              </a:rPr>
              <a:t>提出请求并致谢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463040"/>
            <a:ext cx="11094415" cy="14630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31750">
            <a:solidFill>
              <a:srgbClr val="9B6B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5F677A"/>
                </a:solidFill>
                <a:latin typeface="Arial"/>
                <a:ea typeface="Microsoft YaHei"/>
              </a:rPr>
              <a:t>📍 Situation 情景</a:t>
            </a:r>
          </a:p>
          <a:p>
            <a:pPr algn="l">
              <a:spcAft>
                <a:spcPts val="200"/>
              </a:spcAft>
            </a:pPr>
            <a:r>
              <a:rPr sz="2400" b="1">
                <a:solidFill>
                  <a:srgbClr val="1F2A44"/>
                </a:solidFill>
                <a:latin typeface="Arial"/>
                <a:ea typeface="Microsoft YaHei"/>
              </a:rPr>
              <a:t>At the end of your visit, you thank your host, ask for a small favour, and say you will follow up.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3200400"/>
            <a:ext cx="5410047" cy="21945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777240" y="3429000"/>
            <a:ext cx="1097280" cy="1097280"/>
          </a:xfrm>
          <a:prstGeom prst="ellipse">
            <a:avLst/>
          </a:prstGeom>
          <a:solidFill>
            <a:srgbClr val="FF6B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3152" rIns="73152"/>
          <a:lstStyle/>
          <a:p>
            <a:pPr algn="ctr">
              <a:spcAft>
                <a:spcPts val="200"/>
              </a:spcAft>
            </a:pPr>
            <a:r>
              <a:rPr sz="3600" b="1">
                <a:solidFill>
                  <a:srgbClr val="FFFFFF"/>
                </a:solidFill>
                <a:latin typeface="Arial"/>
                <a:ea typeface="Microsoft YaHei"/>
              </a:rPr>
              <a:t>👔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11680" y="3291840"/>
            <a:ext cx="3809847" cy="2011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400" b="1">
                <a:solidFill>
                  <a:srgbClr val="FF6B5B"/>
                </a:solidFill>
                <a:latin typeface="Arial"/>
                <a:ea typeface="Microsoft YaHei"/>
              </a:rPr>
              <a:t>Role A</a:t>
            </a:r>
          </a:p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2000" b="1">
                <a:solidFill>
                  <a:srgbClr val="1F2A44"/>
                </a:solidFill>
                <a:latin typeface="Arial"/>
                <a:ea typeface="Microsoft YaHei"/>
              </a:rPr>
              <a:t>Ms Lin, host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33007" y="3200400"/>
            <a:ext cx="5410047" cy="21945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61607" y="3429000"/>
            <a:ext cx="1097280" cy="1097280"/>
          </a:xfrm>
          <a:prstGeom prst="ellipse">
            <a:avLst/>
          </a:prstGeom>
          <a:solidFill>
            <a:srgbClr val="4A90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3152" rIns="73152"/>
          <a:lstStyle/>
          <a:p>
            <a:pPr algn="ctr">
              <a:spcAft>
                <a:spcPts val="200"/>
              </a:spcAft>
            </a:pPr>
            <a:r>
              <a:rPr sz="3600" b="1">
                <a:solidFill>
                  <a:srgbClr val="FFFFFF"/>
                </a:solidFill>
                <a:latin typeface="Arial"/>
                <a:ea typeface="Microsoft YaHei"/>
              </a:rPr>
              <a:t>💼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96047" y="3291840"/>
            <a:ext cx="3809847" cy="2011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400" b="1">
                <a:solidFill>
                  <a:srgbClr val="4A90E2"/>
                </a:solidFill>
                <a:latin typeface="Arial"/>
                <a:ea typeface="Microsoft YaHei"/>
              </a:rPr>
              <a:t>Role B</a:t>
            </a:r>
          </a:p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2000" b="1">
                <a:solidFill>
                  <a:srgbClr val="1F2A44"/>
                </a:solidFill>
                <a:latin typeface="Arial"/>
                <a:ea typeface="Microsoft YaHei"/>
              </a:rPr>
              <a:t>Kevin Wu, visitor</a:t>
            </a:r>
          </a:p>
        </p:txBody>
      </p:sp>
    </p:spTree>
  </p:cSld>
  <p:clrMapOvr>
    <a:masterClrMapping/>
  </p:clrMapOvr>
  <p:transition spd="med">
    <p:fade/>
  </p:transition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9B6B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8442656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2200" b="1">
                <a:solidFill>
                  <a:srgbClr val="1F2A44"/>
                </a:solidFill>
                <a:latin typeface="Arial"/>
                <a:ea typeface="Microsoft YaHei"/>
              </a:rPr>
              <a:t>🎭 Model Dialogue · A polite request, and thanking the host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74175" y="438912"/>
            <a:ext cx="2560320" cy="475488"/>
          </a:xfrm>
          <a:prstGeom prst="roundRect">
            <a:avLst>
              <a:gd name="adj" fmla="val 50000"/>
            </a:avLst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3152" rIns="73152"/>
          <a:lstStyle/>
          <a:p>
            <a:pPr algn="ctr">
              <a:spcAft>
                <a:spcPts val="200"/>
              </a:spcAft>
            </a:pPr>
            <a:r>
              <a:rPr sz="1300" b="1">
                <a:solidFill>
                  <a:srgbClr val="FFFFFF"/>
                </a:solidFill>
                <a:latin typeface="Arial"/>
                <a:ea typeface="Microsoft YaHei"/>
              </a:rPr>
              <a:t>Part 1/2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19088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100" b="0">
                <a:solidFill>
                  <a:srgbClr val="5F677A"/>
                </a:solidFill>
                <a:latin typeface="Arial"/>
                <a:ea typeface="Microsoft YaHei"/>
              </a:rPr>
              <a:t>Business English · Level 4 · Unit 3 · Lesson 08 Visitors to the company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28655" y="6419088"/>
            <a:ext cx="914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  <a:spcAft>
                <a:spcPts val="800"/>
              </a:spcAft>
            </a:pPr>
            <a:r>
              <a:rPr sz="1100" b="0">
                <a:solidFill>
                  <a:srgbClr val="5F677A"/>
                </a:solidFill>
                <a:latin typeface="Arial"/>
                <a:ea typeface="Microsoft YaHei"/>
              </a:rPr>
              <a:t>72</a:t>
            </a:r>
          </a:p>
        </p:txBody>
      </p:sp>
      <p:sp>
        <p:nvSpPr>
          <p:cNvPr id="7" name="Rounded Rectangle 6">
            <a:hlinkClick action="ppaction://hlinksldjump" r:id="rId2"/>
          </p:cNvPr>
          <p:cNvSpPr/>
          <p:nvPr/>
        </p:nvSpPr>
        <p:spPr>
          <a:xfrm>
            <a:off x="9677095" y="6382512"/>
            <a:ext cx="960120" cy="329184"/>
          </a:xfrm>
          <a:prstGeom prst="roundRect">
            <a:avLst>
              <a:gd name="adj" fmla="val 50000"/>
            </a:avLst>
          </a:prstGeom>
          <a:solidFill>
            <a:srgbClr val="FFE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Aft>
                <a:spcPts val="200"/>
              </a:spcAft>
            </a:pPr>
            <a:r>
              <a:rPr sz="1100" b="1">
                <a:solidFill>
                  <a:srgbClr val="1F2A44"/>
                </a:solidFill>
                <a:latin typeface="Arial"/>
                <a:ea typeface="Microsoft YaHei"/>
              </a:rPr>
              <a:t>🗺 Map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325880"/>
            <a:ext cx="731520" cy="457200"/>
          </a:xfrm>
          <a:prstGeom prst="roundRect">
            <a:avLst>
              <a:gd name="adj" fmla="val 50000"/>
            </a:avLst>
          </a:prstGeom>
          <a:solidFill>
            <a:srgbClr val="FF6B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Arial"/>
                <a:ea typeface="Microsoft YaHei"/>
              </a:rPr>
              <a:t>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1764792"/>
            <a:ext cx="1280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800"/>
              </a:spcAft>
            </a:pPr>
            <a:r>
              <a:rPr sz="1000" b="0">
                <a:solidFill>
                  <a:srgbClr val="5F677A"/>
                </a:solidFill>
                <a:latin typeface="Arial"/>
                <a:ea typeface="Microsoft YaHei"/>
              </a:rPr>
              <a:t>Ms Lin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463040" y="1325880"/>
            <a:ext cx="8595360" cy="780288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31750">
            <a:solidFill>
              <a:srgbClr val="FF6B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l">
              <a:spcAft>
                <a:spcPts val="200"/>
              </a:spcAft>
            </a:pPr>
            <a:r>
              <a:rPr sz="1900" b="1">
                <a:solidFill>
                  <a:srgbClr val="1F2A44"/>
                </a:solidFill>
                <a:latin typeface="Arial"/>
                <a:ea typeface="Microsoft YaHei"/>
              </a:rPr>
              <a:t>Well, Kevin, I think that covers everything for today. Is there anything else?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911535" y="2197608"/>
            <a:ext cx="731520" cy="457200"/>
          </a:xfrm>
          <a:prstGeom prst="roundRect">
            <a:avLst>
              <a:gd name="adj" fmla="val 50000"/>
            </a:avLst>
          </a:prstGeom>
          <a:solidFill>
            <a:srgbClr val="4A90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Arial"/>
                <a:ea typeface="Microsoft YaHei"/>
              </a:rPr>
              <a:t>B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37215" y="2636520"/>
            <a:ext cx="1280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800"/>
              </a:spcAft>
            </a:pPr>
            <a:r>
              <a:rPr sz="1000" b="0">
                <a:solidFill>
                  <a:srgbClr val="5F677A"/>
                </a:solidFill>
                <a:latin typeface="Arial"/>
                <a:ea typeface="Microsoft YaHei"/>
              </a:rPr>
              <a:t>Kevin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133295" y="2197608"/>
            <a:ext cx="8595360" cy="780288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31750">
            <a:solidFill>
              <a:srgbClr val="4A90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l">
              <a:spcAft>
                <a:spcPts val="200"/>
              </a:spcAft>
            </a:pPr>
            <a:r>
              <a:rPr sz="1900" b="1">
                <a:solidFill>
                  <a:srgbClr val="1F2A44"/>
                </a:solidFill>
                <a:latin typeface="Arial"/>
                <a:ea typeface="Microsoft YaHei"/>
              </a:rPr>
              <a:t>Just one thing. Could I possibly take a photo of the whiteboard? It has the schedule on it.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3069336"/>
            <a:ext cx="731520" cy="457200"/>
          </a:xfrm>
          <a:prstGeom prst="roundRect">
            <a:avLst>
              <a:gd name="adj" fmla="val 50000"/>
            </a:avLst>
          </a:prstGeom>
          <a:solidFill>
            <a:srgbClr val="FF6B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Arial"/>
                <a:ea typeface="Microsoft YaHei"/>
              </a:rPr>
              <a:t>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4320" y="3508248"/>
            <a:ext cx="1280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800"/>
              </a:spcAft>
            </a:pPr>
            <a:r>
              <a:rPr sz="1000" b="0">
                <a:solidFill>
                  <a:srgbClr val="5F677A"/>
                </a:solidFill>
                <a:latin typeface="Arial"/>
                <a:ea typeface="Microsoft YaHei"/>
              </a:rPr>
              <a:t> 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463040" y="3069336"/>
            <a:ext cx="8595360" cy="490728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31750">
            <a:solidFill>
              <a:srgbClr val="FF6B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l">
              <a:spcAft>
                <a:spcPts val="200"/>
              </a:spcAft>
            </a:pPr>
            <a:r>
              <a:rPr sz="1900" b="1">
                <a:solidFill>
                  <a:srgbClr val="1F2A44"/>
                </a:solidFill>
                <a:latin typeface="Arial"/>
                <a:ea typeface="Microsoft YaHei"/>
              </a:rPr>
              <a:t>Of course, go ahead.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911535" y="3651504"/>
            <a:ext cx="731520" cy="457200"/>
          </a:xfrm>
          <a:prstGeom prst="roundRect">
            <a:avLst>
              <a:gd name="adj" fmla="val 50000"/>
            </a:avLst>
          </a:prstGeom>
          <a:solidFill>
            <a:srgbClr val="4A90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Arial"/>
                <a:ea typeface="Microsoft YaHei"/>
              </a:rPr>
              <a:t>B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637215" y="4090416"/>
            <a:ext cx="1280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800"/>
              </a:spcAft>
            </a:pPr>
            <a:r>
              <a:rPr sz="1000" b="0">
                <a:solidFill>
                  <a:srgbClr val="5F677A"/>
                </a:solidFill>
                <a:latin typeface="Arial"/>
                <a:ea typeface="Microsoft YaHei"/>
              </a:rPr>
              <a:t> 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133295" y="3651504"/>
            <a:ext cx="8595360" cy="780288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31750">
            <a:solidFill>
              <a:srgbClr val="4A90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l">
              <a:spcAft>
                <a:spcPts val="200"/>
              </a:spcAft>
            </a:pPr>
            <a:r>
              <a:rPr sz="1900" b="1">
                <a:solidFill>
                  <a:srgbClr val="1F2A44"/>
                </a:solidFill>
                <a:latin typeface="Arial"/>
                <a:ea typeface="Microsoft YaHei"/>
              </a:rPr>
              <a:t>Thanks. And would you mind if I borrowed a copy of the product brochure?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4523232"/>
            <a:ext cx="731520" cy="457200"/>
          </a:xfrm>
          <a:prstGeom prst="roundRect">
            <a:avLst>
              <a:gd name="adj" fmla="val 50000"/>
            </a:avLst>
          </a:prstGeom>
          <a:solidFill>
            <a:srgbClr val="FF6B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Arial"/>
                <a:ea typeface="Microsoft YaHei"/>
              </a:rPr>
              <a:t>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74320" y="4962144"/>
            <a:ext cx="1280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800"/>
              </a:spcAft>
            </a:pPr>
            <a:r>
              <a:rPr sz="1000" b="0">
                <a:solidFill>
                  <a:srgbClr val="5F677A"/>
                </a:solidFill>
                <a:latin typeface="Arial"/>
                <a:ea typeface="Microsoft YaHei"/>
              </a:rPr>
              <a:t> 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463040" y="4523232"/>
            <a:ext cx="8595360" cy="490728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31750">
            <a:solidFill>
              <a:srgbClr val="FF6B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l">
              <a:spcAft>
                <a:spcPts val="200"/>
              </a:spcAft>
            </a:pPr>
            <a:r>
              <a:rPr sz="1900" b="1">
                <a:solidFill>
                  <a:srgbClr val="1F2A44"/>
                </a:solidFill>
                <a:latin typeface="Arial"/>
                <a:ea typeface="Microsoft YaHei"/>
              </a:rPr>
              <a:t>Not at all. Here you are.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0911535" y="5105400"/>
            <a:ext cx="731520" cy="457200"/>
          </a:xfrm>
          <a:prstGeom prst="roundRect">
            <a:avLst>
              <a:gd name="adj" fmla="val 50000"/>
            </a:avLst>
          </a:prstGeom>
          <a:solidFill>
            <a:srgbClr val="4A90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Arial"/>
                <a:ea typeface="Microsoft YaHei"/>
              </a:rPr>
              <a:t>B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637215" y="5544312"/>
            <a:ext cx="1280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800"/>
              </a:spcAft>
            </a:pPr>
            <a:r>
              <a:rPr sz="1000" b="0">
                <a:solidFill>
                  <a:srgbClr val="5F677A"/>
                </a:solidFill>
                <a:latin typeface="Arial"/>
                <a:ea typeface="Microsoft YaHei"/>
              </a:rPr>
              <a:t> 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2133295" y="5105400"/>
            <a:ext cx="8595360" cy="780288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31750">
            <a:solidFill>
              <a:srgbClr val="4A90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l">
              <a:spcAft>
                <a:spcPts val="200"/>
              </a:spcAft>
            </a:pPr>
            <a:r>
              <a:rPr sz="1900" b="1">
                <a:solidFill>
                  <a:srgbClr val="1F2A44"/>
                </a:solidFill>
                <a:latin typeface="Arial"/>
                <a:ea typeface="Microsoft YaHei"/>
              </a:rPr>
              <a:t>Thank you for your time, and thank you for the tour. I really appreciate it.</a:t>
            </a:r>
          </a:p>
        </p:txBody>
      </p:sp>
    </p:spTree>
  </p:cSld>
  <p:clrMapOvr>
    <a:masterClrMapping/>
  </p:clrMapOvr>
  <p:transition spd="med">
    <p:fade/>
  </p:transition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9B6B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8442656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2200" b="1">
                <a:solidFill>
                  <a:srgbClr val="1F2A44"/>
                </a:solidFill>
                <a:latin typeface="Arial"/>
                <a:ea typeface="Microsoft YaHei"/>
              </a:rPr>
              <a:t>🎭 Model Dialogue · A polite request, and thanking the host (cont.)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74175" y="438912"/>
            <a:ext cx="2560320" cy="475488"/>
          </a:xfrm>
          <a:prstGeom prst="roundRect">
            <a:avLst>
              <a:gd name="adj" fmla="val 50000"/>
            </a:avLst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3152" rIns="73152"/>
          <a:lstStyle/>
          <a:p>
            <a:pPr algn="ctr">
              <a:spcAft>
                <a:spcPts val="200"/>
              </a:spcAft>
            </a:pPr>
            <a:r>
              <a:rPr sz="1300" b="1">
                <a:solidFill>
                  <a:srgbClr val="FFFFFF"/>
                </a:solidFill>
                <a:latin typeface="Arial"/>
                <a:ea typeface="Microsoft YaHei"/>
              </a:rPr>
              <a:t>Part 2/2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19088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100" b="0">
                <a:solidFill>
                  <a:srgbClr val="5F677A"/>
                </a:solidFill>
                <a:latin typeface="Arial"/>
                <a:ea typeface="Microsoft YaHei"/>
              </a:rPr>
              <a:t>Business English · Level 4 · Unit 3 · Lesson 08 Visitors to the company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28655" y="6419088"/>
            <a:ext cx="914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  <a:spcAft>
                <a:spcPts val="800"/>
              </a:spcAft>
            </a:pPr>
            <a:r>
              <a:rPr sz="1100" b="0">
                <a:solidFill>
                  <a:srgbClr val="5F677A"/>
                </a:solidFill>
                <a:latin typeface="Arial"/>
                <a:ea typeface="Microsoft YaHei"/>
              </a:rPr>
              <a:t>73</a:t>
            </a:r>
          </a:p>
        </p:txBody>
      </p:sp>
      <p:sp>
        <p:nvSpPr>
          <p:cNvPr id="7" name="Rounded Rectangle 6">
            <a:hlinkClick action="ppaction://hlinksldjump" r:id="rId2"/>
          </p:cNvPr>
          <p:cNvSpPr/>
          <p:nvPr/>
        </p:nvSpPr>
        <p:spPr>
          <a:xfrm>
            <a:off x="9677095" y="6382512"/>
            <a:ext cx="960120" cy="329184"/>
          </a:xfrm>
          <a:prstGeom prst="roundRect">
            <a:avLst>
              <a:gd name="adj" fmla="val 50000"/>
            </a:avLst>
          </a:prstGeom>
          <a:solidFill>
            <a:srgbClr val="FFE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Aft>
                <a:spcPts val="200"/>
              </a:spcAft>
            </a:pPr>
            <a:r>
              <a:rPr sz="1100" b="1">
                <a:solidFill>
                  <a:srgbClr val="1F2A44"/>
                </a:solidFill>
                <a:latin typeface="Arial"/>
                <a:ea typeface="Microsoft YaHei"/>
              </a:rPr>
              <a:t>🗺 Map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325880"/>
            <a:ext cx="731520" cy="457200"/>
          </a:xfrm>
          <a:prstGeom prst="roundRect">
            <a:avLst>
              <a:gd name="adj" fmla="val 50000"/>
            </a:avLst>
          </a:prstGeom>
          <a:solidFill>
            <a:srgbClr val="FF6B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Arial"/>
                <a:ea typeface="Microsoft YaHei"/>
              </a:rPr>
              <a:t>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1764792"/>
            <a:ext cx="1280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800"/>
              </a:spcAft>
            </a:pPr>
            <a:r>
              <a:rPr sz="1000" b="0">
                <a:solidFill>
                  <a:srgbClr val="5F677A"/>
                </a:solidFill>
                <a:latin typeface="Arial"/>
                <a:ea typeface="Microsoft YaHei"/>
              </a:rPr>
              <a:t> 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463040" y="1325880"/>
            <a:ext cx="8595360" cy="490728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31750">
            <a:solidFill>
              <a:srgbClr val="FF6B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l">
              <a:spcAft>
                <a:spcPts val="200"/>
              </a:spcAft>
            </a:pPr>
            <a:r>
              <a:rPr sz="1900" b="1">
                <a:solidFill>
                  <a:srgbClr val="1F2A44"/>
                </a:solidFill>
                <a:latin typeface="Arial"/>
                <a:ea typeface="Microsoft YaHei"/>
              </a:rPr>
              <a:t>My pleasure. It was good to meet you in person.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911535" y="1908048"/>
            <a:ext cx="731520" cy="457200"/>
          </a:xfrm>
          <a:prstGeom prst="roundRect">
            <a:avLst>
              <a:gd name="adj" fmla="val 50000"/>
            </a:avLst>
          </a:prstGeom>
          <a:solidFill>
            <a:srgbClr val="4A90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Arial"/>
                <a:ea typeface="Microsoft YaHei"/>
              </a:rPr>
              <a:t>B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37215" y="2346960"/>
            <a:ext cx="1280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800"/>
              </a:spcAft>
            </a:pPr>
            <a:r>
              <a:rPr sz="1000" b="0">
                <a:solidFill>
                  <a:srgbClr val="5F677A"/>
                </a:solidFill>
                <a:latin typeface="Arial"/>
                <a:ea typeface="Microsoft YaHei"/>
              </a:rPr>
              <a:t> 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133295" y="1908048"/>
            <a:ext cx="8595360" cy="780288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31750">
            <a:solidFill>
              <a:srgbClr val="4A90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l">
              <a:spcAft>
                <a:spcPts val="200"/>
              </a:spcAft>
            </a:pPr>
            <a:r>
              <a:rPr sz="1900" b="1">
                <a:solidFill>
                  <a:srgbClr val="1F2A44"/>
                </a:solidFill>
                <a:latin typeface="Arial"/>
                <a:ea typeface="Microsoft YaHei"/>
              </a:rPr>
              <a:t>You too. It was great to meet the team. I’d love to follow up by email with the details tomorrow.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2779776"/>
            <a:ext cx="731520" cy="457200"/>
          </a:xfrm>
          <a:prstGeom prst="roundRect">
            <a:avLst>
              <a:gd name="adj" fmla="val 50000"/>
            </a:avLst>
          </a:prstGeom>
          <a:solidFill>
            <a:srgbClr val="FF6B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Arial"/>
                <a:ea typeface="Microsoft YaHei"/>
              </a:rPr>
              <a:t>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4320" y="3218688"/>
            <a:ext cx="1280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800"/>
              </a:spcAft>
            </a:pPr>
            <a:r>
              <a:rPr sz="1000" b="0">
                <a:solidFill>
                  <a:srgbClr val="5F677A"/>
                </a:solidFill>
                <a:latin typeface="Arial"/>
                <a:ea typeface="Microsoft YaHei"/>
              </a:rPr>
              <a:t> 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463040" y="2779776"/>
            <a:ext cx="8595360" cy="490728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31750">
            <a:solidFill>
              <a:srgbClr val="FF6B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l">
              <a:spcAft>
                <a:spcPts val="200"/>
              </a:spcAft>
            </a:pPr>
            <a:r>
              <a:rPr sz="1900" b="1">
                <a:solidFill>
                  <a:srgbClr val="1F2A44"/>
                </a:solidFill>
                <a:latin typeface="Arial"/>
                <a:ea typeface="Microsoft YaHei"/>
              </a:rPr>
              <a:t>That would be perfect. Let me walk you out.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911535" y="3361944"/>
            <a:ext cx="731520" cy="457200"/>
          </a:xfrm>
          <a:prstGeom prst="roundRect">
            <a:avLst>
              <a:gd name="adj" fmla="val 50000"/>
            </a:avLst>
          </a:prstGeom>
          <a:solidFill>
            <a:srgbClr val="4A90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Arial"/>
                <a:ea typeface="Microsoft YaHei"/>
              </a:rPr>
              <a:t>B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637215" y="3800856"/>
            <a:ext cx="1280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800"/>
              </a:spcAft>
            </a:pPr>
            <a:r>
              <a:rPr sz="1000" b="0">
                <a:solidFill>
                  <a:srgbClr val="5F677A"/>
                </a:solidFill>
                <a:latin typeface="Arial"/>
                <a:ea typeface="Microsoft YaHei"/>
              </a:rPr>
              <a:t> 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133295" y="3361944"/>
            <a:ext cx="8595360" cy="490728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31750">
            <a:solidFill>
              <a:srgbClr val="4A90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l">
              <a:spcAft>
                <a:spcPts val="200"/>
              </a:spcAft>
            </a:pPr>
            <a:r>
              <a:rPr sz="1900" b="1">
                <a:solidFill>
                  <a:srgbClr val="1F2A44"/>
                </a:solidFill>
                <a:latin typeface="Arial"/>
                <a:ea typeface="Microsoft YaHei"/>
              </a:rPr>
              <a:t>There’s no need, I can find my way, but thank you.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3944112"/>
            <a:ext cx="731520" cy="457200"/>
          </a:xfrm>
          <a:prstGeom prst="roundRect">
            <a:avLst>
              <a:gd name="adj" fmla="val 50000"/>
            </a:avLst>
          </a:prstGeom>
          <a:solidFill>
            <a:srgbClr val="FF6B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Arial"/>
                <a:ea typeface="Microsoft YaHei"/>
              </a:rPr>
              <a:t>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74320" y="4383024"/>
            <a:ext cx="1280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800"/>
              </a:spcAft>
            </a:pPr>
            <a:r>
              <a:rPr sz="1000" b="0">
                <a:solidFill>
                  <a:srgbClr val="5F677A"/>
                </a:solidFill>
                <a:latin typeface="Arial"/>
                <a:ea typeface="Microsoft YaHei"/>
              </a:rPr>
              <a:t> 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463040" y="3944112"/>
            <a:ext cx="8595360" cy="490728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31750">
            <a:solidFill>
              <a:srgbClr val="FF6B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l">
              <a:spcAft>
                <a:spcPts val="200"/>
              </a:spcAft>
            </a:pPr>
            <a:r>
              <a:rPr sz="1900" b="1">
                <a:solidFill>
                  <a:srgbClr val="1F2A44"/>
                </a:solidFill>
                <a:latin typeface="Arial"/>
                <a:ea typeface="Microsoft YaHei"/>
              </a:rPr>
              <a:t>No, I’ll come down. I’ll get you a taxi.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0911535" y="4526280"/>
            <a:ext cx="731520" cy="457200"/>
          </a:xfrm>
          <a:prstGeom prst="roundRect">
            <a:avLst>
              <a:gd name="adj" fmla="val 50000"/>
            </a:avLst>
          </a:prstGeom>
          <a:solidFill>
            <a:srgbClr val="4A90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Arial"/>
                <a:ea typeface="Microsoft YaHei"/>
              </a:rPr>
              <a:t>B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637215" y="4965192"/>
            <a:ext cx="1280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800"/>
              </a:spcAft>
            </a:pPr>
            <a:r>
              <a:rPr sz="1000" b="0">
                <a:solidFill>
                  <a:srgbClr val="5F677A"/>
                </a:solidFill>
                <a:latin typeface="Arial"/>
                <a:ea typeface="Microsoft YaHei"/>
              </a:rPr>
              <a:t> 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2133295" y="4526280"/>
            <a:ext cx="8595360" cy="490728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31750">
            <a:solidFill>
              <a:srgbClr val="4A90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l">
              <a:spcAft>
                <a:spcPts val="200"/>
              </a:spcAft>
            </a:pPr>
            <a:r>
              <a:rPr sz="1900" b="1">
                <a:solidFill>
                  <a:srgbClr val="1F2A44"/>
                </a:solidFill>
                <a:latin typeface="Arial"/>
                <a:ea typeface="Microsoft YaHei"/>
              </a:rPr>
              <a:t>That’s very kind. Thank you again.</a:t>
            </a:r>
          </a:p>
        </p:txBody>
      </p:sp>
    </p:spTree>
  </p:cSld>
  <p:clrMapOvr>
    <a:masterClrMapping/>
  </p:clrMapOvr>
  <p:transition spd="med">
    <p:fade/>
  </p:transition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FC8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8442656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2200" b="1">
                <a:solidFill>
                  <a:srgbClr val="1F2A44"/>
                </a:solidFill>
                <a:latin typeface="Arial"/>
                <a:ea typeface="Microsoft YaHei"/>
              </a:rPr>
              <a:t>🎯 Your Turn · A polite request, and thanking the host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74175" y="438912"/>
            <a:ext cx="2560320" cy="475488"/>
          </a:xfrm>
          <a:prstGeom prst="roundRect">
            <a:avLst>
              <a:gd name="adj" fmla="val 50000"/>
            </a:avLst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3152" rIns="73152"/>
          <a:lstStyle/>
          <a:p>
            <a:pPr algn="ctr">
              <a:spcAft>
                <a:spcPts val="200"/>
              </a:spcAft>
            </a:pPr>
            <a:r>
              <a:rPr sz="1300" b="1">
                <a:solidFill>
                  <a:srgbClr val="FFFFFF"/>
                </a:solidFill>
                <a:latin typeface="Arial"/>
                <a:ea typeface="Microsoft YaHei"/>
              </a:rPr>
              <a:t>03 Role play 角色扮演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19088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100" b="0">
                <a:solidFill>
                  <a:srgbClr val="5F677A"/>
                </a:solidFill>
                <a:latin typeface="Arial"/>
                <a:ea typeface="Microsoft YaHei"/>
              </a:rPr>
              <a:t>Business English · Level 4 · Unit 3 · Lesson 08 Visitors to the company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28655" y="6419088"/>
            <a:ext cx="914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  <a:spcAft>
                <a:spcPts val="800"/>
              </a:spcAft>
            </a:pPr>
            <a:r>
              <a:rPr sz="1100" b="0">
                <a:solidFill>
                  <a:srgbClr val="5F677A"/>
                </a:solidFill>
                <a:latin typeface="Arial"/>
                <a:ea typeface="Microsoft YaHei"/>
              </a:rPr>
              <a:t>74</a:t>
            </a:r>
          </a:p>
        </p:txBody>
      </p:sp>
      <p:sp>
        <p:nvSpPr>
          <p:cNvPr id="7" name="Rounded Rectangle 6">
            <a:hlinkClick action="ppaction://hlinksldjump" r:id="rId2"/>
          </p:cNvPr>
          <p:cNvSpPr/>
          <p:nvPr/>
        </p:nvSpPr>
        <p:spPr>
          <a:xfrm>
            <a:off x="9677095" y="6382512"/>
            <a:ext cx="960120" cy="329184"/>
          </a:xfrm>
          <a:prstGeom prst="roundRect">
            <a:avLst>
              <a:gd name="adj" fmla="val 50000"/>
            </a:avLst>
          </a:prstGeom>
          <a:solidFill>
            <a:srgbClr val="FFE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Aft>
                <a:spcPts val="200"/>
              </a:spcAft>
            </a:pPr>
            <a:r>
              <a:rPr sz="1100" b="1">
                <a:solidFill>
                  <a:srgbClr val="1F2A44"/>
                </a:solidFill>
                <a:latin typeface="Arial"/>
                <a:ea typeface="Microsoft YaHei"/>
              </a:rPr>
              <a:t>🗺 Map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325880"/>
            <a:ext cx="2377440" cy="408432"/>
          </a:xfrm>
          <a:prstGeom prst="roundRect">
            <a:avLst>
              <a:gd name="adj" fmla="val 15000"/>
            </a:avLst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Arial"/>
                <a:ea typeface="Microsoft YaHei"/>
              </a:rPr>
              <a:t>Situation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017520" y="1325880"/>
            <a:ext cx="8625535" cy="408432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1F2A44"/>
                </a:solidFill>
                <a:latin typeface="Arial"/>
                <a:ea typeface="Microsoft YaHei"/>
              </a:rPr>
              <a:t>You say goodbye after a meeting at the client’s office.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1807464"/>
            <a:ext cx="2377440" cy="408432"/>
          </a:xfrm>
          <a:prstGeom prst="roundRect">
            <a:avLst>
              <a:gd name="adj" fmla="val 15000"/>
            </a:avLst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Arial"/>
                <a:ea typeface="Microsoft YaHei"/>
              </a:rPr>
              <a:t>Your role (B)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017520" y="1807464"/>
            <a:ext cx="8625535" cy="408432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1F2A44"/>
                </a:solidFill>
                <a:latin typeface="Arial"/>
                <a:ea typeface="Microsoft YaHei"/>
              </a:rPr>
              <a:t>Visitor. Thank your host and ask for one small thing.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2289048"/>
            <a:ext cx="2377440" cy="408432"/>
          </a:xfrm>
          <a:prstGeom prst="roundRect">
            <a:avLst>
              <a:gd name="adj" fmla="val 15000"/>
            </a:avLst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Arial"/>
                <a:ea typeface="Microsoft YaHei"/>
              </a:rPr>
              <a:t>Partner’s role (A)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017520" y="2289048"/>
            <a:ext cx="8625535" cy="408432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1F2A44"/>
                </a:solidFill>
                <a:latin typeface="Arial"/>
                <a:ea typeface="Microsoft YaHei"/>
              </a:rPr>
              <a:t>Host. Agrees and walks you out.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2770632"/>
            <a:ext cx="2377440" cy="652272"/>
          </a:xfrm>
          <a:prstGeom prst="roundRect">
            <a:avLst>
              <a:gd name="adj" fmla="val 15000"/>
            </a:avLst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Arial"/>
                <a:ea typeface="Microsoft YaHei"/>
              </a:rPr>
              <a:t>Must use (3 or more)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017520" y="2770632"/>
            <a:ext cx="8625535" cy="652272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1F2A44"/>
                </a:solidFill>
                <a:latin typeface="Arial"/>
                <a:ea typeface="Microsoft YaHei"/>
              </a:rPr>
              <a:t>Could I possibly…? · Would you mind if I…? · Thank you for your time. · I’d love to follow up…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3496056"/>
            <a:ext cx="2377440" cy="408432"/>
          </a:xfrm>
          <a:prstGeom prst="roundRect">
            <a:avLst>
              <a:gd name="adj" fmla="val 15000"/>
            </a:avLst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Arial"/>
                <a:ea typeface="Microsoft YaHei"/>
              </a:rPr>
              <a:t>Goal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017520" y="3496056"/>
            <a:ext cx="8625535" cy="408432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1F2A44"/>
                </a:solidFill>
                <a:latin typeface="Arial"/>
                <a:ea typeface="Microsoft YaHei"/>
              </a:rPr>
              <a:t>Make a request, thank your host, say how you will follow up.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3977640"/>
            <a:ext cx="2377440" cy="408432"/>
          </a:xfrm>
          <a:prstGeom prst="roundRect">
            <a:avLst>
              <a:gd name="adj" fmla="val 15000"/>
            </a:avLst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Arial"/>
                <a:ea typeface="Microsoft YaHei"/>
              </a:rPr>
              <a:t>My notes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017520" y="3977640"/>
            <a:ext cx="8625535" cy="408432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1F2A44"/>
                </a:solidFill>
                <a:latin typeface="Arial"/>
                <a:ea typeface="Microsoft YaHei"/>
              </a:rPr>
              <a:t>____________________________________________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4550664"/>
            <a:ext cx="11094415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500" b="1">
                <a:solidFill>
                  <a:srgbClr val="FF6B5B"/>
                </a:solidFill>
                <a:latin typeface="Arial"/>
                <a:ea typeface="Microsoft YaHei"/>
              </a:rPr>
              <a:t>🔥 Level-up challenges 进阶挑战 (click)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8640" y="4934712"/>
            <a:ext cx="3576218" cy="1283208"/>
          </a:xfrm>
          <a:prstGeom prst="roundRect">
            <a:avLst>
              <a:gd name="adj" fmla="val 12000"/>
            </a:avLst>
          </a:prstGeom>
          <a:solidFill>
            <a:srgbClr val="4A90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Arial"/>
                <a:ea typeface="Microsoft YaHei"/>
              </a:rPr>
              <a:t>Refuse an offer politely: “That’s very kind, but I’m fine, thanks.”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307738" y="4934712"/>
            <a:ext cx="3576218" cy="1283208"/>
          </a:xfrm>
          <a:prstGeom prst="roundRect">
            <a:avLst>
              <a:gd name="adj" fmla="val 12000"/>
            </a:avLst>
          </a:prstGeom>
          <a:solidFill>
            <a:srgbClr val="3CC4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Arial"/>
                <a:ea typeface="Microsoft YaHei"/>
              </a:rPr>
              <a:t>Ask the host about the next step: “What’s the best way to follow up?”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066836" y="4934712"/>
            <a:ext cx="3576218" cy="1283208"/>
          </a:xfrm>
          <a:prstGeom prst="roundRect">
            <a:avLst>
              <a:gd name="adj" fmla="val 12000"/>
            </a:avLst>
          </a:prstGeom>
          <a:solidFill>
            <a:srgbClr val="FFC8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Arial"/>
                <a:ea typeface="Microsoft YaHei"/>
              </a:rPr>
              <a:t>Add a personal comment: “I enjoyed the tour of the factory, especially…”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" fill="hold">
                      <p:stCondLst>
                        <p:cond delay="indefinite"/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4A90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8442656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3200" b="1">
                <a:solidFill>
                  <a:srgbClr val="1F2A44"/>
                </a:solidFill>
                <a:latin typeface="Arial"/>
                <a:ea typeface="Microsoft YaHei"/>
              </a:rPr>
              <a:t>💬 Discussion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74175" y="438912"/>
            <a:ext cx="2560320" cy="475488"/>
          </a:xfrm>
          <a:prstGeom prst="roundRect">
            <a:avLst>
              <a:gd name="adj" fmla="val 50000"/>
            </a:avLst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3152" rIns="73152"/>
          <a:lstStyle/>
          <a:p>
            <a:pPr algn="ctr">
              <a:spcAft>
                <a:spcPts val="200"/>
              </a:spcAft>
            </a:pPr>
            <a:r>
              <a:rPr sz="1300" b="1">
                <a:solidFill>
                  <a:srgbClr val="FFFFFF"/>
                </a:solidFill>
                <a:latin typeface="Arial"/>
                <a:ea typeface="Microsoft YaHei"/>
              </a:rPr>
              <a:t>04 Discussion 讨论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19088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100" b="0">
                <a:solidFill>
                  <a:srgbClr val="5F677A"/>
                </a:solidFill>
                <a:latin typeface="Arial"/>
                <a:ea typeface="Microsoft YaHei"/>
              </a:rPr>
              <a:t>Business English · Level 4 · Unit 3 · Lesson 08 Visitors to the company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28655" y="6419088"/>
            <a:ext cx="914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  <a:spcAft>
                <a:spcPts val="800"/>
              </a:spcAft>
            </a:pPr>
            <a:r>
              <a:rPr sz="1100" b="0">
                <a:solidFill>
                  <a:srgbClr val="5F677A"/>
                </a:solidFill>
                <a:latin typeface="Arial"/>
                <a:ea typeface="Microsoft YaHei"/>
              </a:rPr>
              <a:t>75</a:t>
            </a:r>
          </a:p>
        </p:txBody>
      </p:sp>
      <p:sp>
        <p:nvSpPr>
          <p:cNvPr id="7" name="Rounded Rectangle 6">
            <a:hlinkClick action="ppaction://hlinksldjump" r:id="rId2"/>
          </p:cNvPr>
          <p:cNvSpPr/>
          <p:nvPr/>
        </p:nvSpPr>
        <p:spPr>
          <a:xfrm>
            <a:off x="9677095" y="6382512"/>
            <a:ext cx="960120" cy="329184"/>
          </a:xfrm>
          <a:prstGeom prst="roundRect">
            <a:avLst>
              <a:gd name="adj" fmla="val 50000"/>
            </a:avLst>
          </a:prstGeom>
          <a:solidFill>
            <a:srgbClr val="FFE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Aft>
                <a:spcPts val="200"/>
              </a:spcAft>
            </a:pPr>
            <a:r>
              <a:rPr sz="1100" b="1">
                <a:solidFill>
                  <a:srgbClr val="1F2A44"/>
                </a:solidFill>
                <a:latin typeface="Arial"/>
                <a:ea typeface="Microsoft YaHei"/>
              </a:rPr>
              <a:t>🗺 Map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024128"/>
            <a:ext cx="11094415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500" b="0">
                <a:solidFill>
                  <a:srgbClr val="5F677A"/>
                </a:solidFill>
                <a:latin typeface="Arial"/>
                <a:ea typeface="Microsoft YaHei"/>
              </a:rPr>
              <a:t>Prepare 2–3 sentences. Use the starters!  每题准备 2–3 句话，用上句型</a:t>
            </a:r>
          </a:p>
        </p:txBody>
      </p:sp>
      <p:sp>
        <p:nvSpPr>
          <p:cNvPr id="9" name="Oval 8"/>
          <p:cNvSpPr/>
          <p:nvPr/>
        </p:nvSpPr>
        <p:spPr>
          <a:xfrm>
            <a:off x="548640" y="1554480"/>
            <a:ext cx="548640" cy="548640"/>
          </a:xfrm>
          <a:prstGeom prst="ellipse">
            <a:avLst/>
          </a:prstGeom>
          <a:solidFill>
            <a:srgbClr val="FF6B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FFFFFF"/>
                </a:solidFill>
                <a:latin typeface="Arial"/>
                <a:ea typeface="Microsoft YaHei"/>
              </a:rPr>
              <a:t>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234440" y="1508760"/>
            <a:ext cx="10408615" cy="6858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325880" y="1554480"/>
            <a:ext cx="10271455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900" b="1">
                <a:solidFill>
                  <a:srgbClr val="1F2A44"/>
                </a:solidFill>
                <a:latin typeface="Arial"/>
                <a:ea typeface="Microsoft YaHei"/>
              </a:rPr>
              <a:t>How early should a visitor arrive for a meeting? What if you are late?</a:t>
            </a:r>
          </a:p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400" b="0">
                <a:solidFill>
                  <a:srgbClr val="5F677A"/>
                </a:solidFill>
                <a:latin typeface="Arial"/>
                <a:ea typeface="Microsoft YaHei"/>
              </a:rPr>
              <a:t>💬 “I try to arrive about… minutes early because…” / “If I’m going to be late, I…”</a:t>
            </a:r>
          </a:p>
        </p:txBody>
      </p:sp>
      <p:sp>
        <p:nvSpPr>
          <p:cNvPr id="12" name="Oval 11"/>
          <p:cNvSpPr/>
          <p:nvPr/>
        </p:nvSpPr>
        <p:spPr>
          <a:xfrm>
            <a:off x="548640" y="2331720"/>
            <a:ext cx="548640" cy="548640"/>
          </a:xfrm>
          <a:prstGeom prst="ellipse">
            <a:avLst/>
          </a:prstGeom>
          <a:solidFill>
            <a:srgbClr val="4A90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FFFFFF"/>
                </a:solidFill>
                <a:latin typeface="Arial"/>
                <a:ea typeface="Microsoft YaHei"/>
              </a:rPr>
              <a:t>2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234440" y="2286000"/>
            <a:ext cx="10408615" cy="6858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25880" y="2331720"/>
            <a:ext cx="10271455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900" b="1">
                <a:solidFill>
                  <a:srgbClr val="1F2A44"/>
                </a:solidFill>
                <a:latin typeface="Arial"/>
                <a:ea typeface="Microsoft YaHei"/>
              </a:rPr>
              <a:t>Is it acceptable to ask a host for help (charger, quiet room, printer)?</a:t>
            </a:r>
          </a:p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400" b="0">
                <a:solidFill>
                  <a:srgbClr val="5F677A"/>
                </a:solidFill>
                <a:latin typeface="Arial"/>
                <a:ea typeface="Microsoft YaHei"/>
              </a:rPr>
              <a:t>💬 “Yes, as long as I ask politely.” / “I try not to ask for too much because…”</a:t>
            </a:r>
          </a:p>
        </p:txBody>
      </p:sp>
      <p:sp>
        <p:nvSpPr>
          <p:cNvPr id="15" name="Oval 14"/>
          <p:cNvSpPr/>
          <p:nvPr/>
        </p:nvSpPr>
        <p:spPr>
          <a:xfrm>
            <a:off x="548640" y="3108960"/>
            <a:ext cx="548640" cy="548640"/>
          </a:xfrm>
          <a:prstGeom prst="ellipse">
            <a:avLst/>
          </a:prstGeom>
          <a:solidFill>
            <a:srgbClr val="3CC4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FFFFFF"/>
                </a:solidFill>
                <a:latin typeface="Arial"/>
                <a:ea typeface="Microsoft YaHei"/>
              </a:rPr>
              <a:t>3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234440" y="3063240"/>
            <a:ext cx="10408615" cy="6858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325880" y="3108960"/>
            <a:ext cx="10271455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900" b="1">
                <a:solidFill>
                  <a:srgbClr val="1F2A44"/>
                </a:solidFill>
                <a:latin typeface="Arial"/>
                <a:ea typeface="Microsoft YaHei"/>
              </a:rPr>
              <a:t>What small gifts or gestures are appropriate when visiting a client?</a:t>
            </a:r>
          </a:p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400" b="0">
                <a:solidFill>
                  <a:srgbClr val="5F677A"/>
                </a:solidFill>
                <a:latin typeface="Arial"/>
                <a:ea typeface="Microsoft YaHei"/>
              </a:rPr>
              <a:t>💬 “A small gift such as… is appropriate.” / “In my country, people often…”</a:t>
            </a:r>
          </a:p>
        </p:txBody>
      </p:sp>
      <p:sp>
        <p:nvSpPr>
          <p:cNvPr id="18" name="Oval 17"/>
          <p:cNvSpPr/>
          <p:nvPr/>
        </p:nvSpPr>
        <p:spPr>
          <a:xfrm>
            <a:off x="548640" y="3886200"/>
            <a:ext cx="548640" cy="548640"/>
          </a:xfrm>
          <a:prstGeom prst="ellipse">
            <a:avLst/>
          </a:prstGeom>
          <a:solidFill>
            <a:srgbClr val="FFC8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FFFFFF"/>
                </a:solidFill>
                <a:latin typeface="Arial"/>
                <a:ea typeface="Microsoft YaHei"/>
              </a:rPr>
              <a:t>4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234440" y="3840480"/>
            <a:ext cx="10408615" cy="6858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325880" y="3886200"/>
            <a:ext cx="10271455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900" b="1">
                <a:solidFill>
                  <a:srgbClr val="1F2A44"/>
                </a:solidFill>
                <a:latin typeface="Arial"/>
                <a:ea typeface="Microsoft YaHei"/>
              </a:rPr>
              <a:t>How do you prepare for a first visit to a client?</a:t>
            </a:r>
          </a:p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400" b="0">
                <a:solidFill>
                  <a:srgbClr val="5F677A"/>
                </a:solidFill>
                <a:latin typeface="Arial"/>
                <a:ea typeface="Microsoft YaHei"/>
              </a:rPr>
              <a:t>💬 “Before I go, I look up…” / “I prepare a few questions about…”</a:t>
            </a:r>
          </a:p>
        </p:txBody>
      </p:sp>
      <p:sp>
        <p:nvSpPr>
          <p:cNvPr id="21" name="Oval 20"/>
          <p:cNvSpPr/>
          <p:nvPr/>
        </p:nvSpPr>
        <p:spPr>
          <a:xfrm>
            <a:off x="548640" y="4663440"/>
            <a:ext cx="548640" cy="548640"/>
          </a:xfrm>
          <a:prstGeom prst="ellipse">
            <a:avLst/>
          </a:prstGeom>
          <a:solidFill>
            <a:srgbClr val="9B6B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FFFFFF"/>
                </a:solidFill>
                <a:latin typeface="Arial"/>
                <a:ea typeface="Microsoft YaHei"/>
              </a:rPr>
              <a:t>5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234440" y="4617720"/>
            <a:ext cx="10408615" cy="6858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325880" y="4663440"/>
            <a:ext cx="10271455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900" b="1">
                <a:solidFill>
                  <a:srgbClr val="1F2A44"/>
                </a:solidFill>
                <a:latin typeface="Arial"/>
                <a:ea typeface="Microsoft YaHei"/>
              </a:rPr>
              <a:t>What do you do after a visit to keep the relationship warm?</a:t>
            </a:r>
          </a:p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400" b="0">
                <a:solidFill>
                  <a:srgbClr val="5F677A"/>
                </a:solidFill>
                <a:latin typeface="Arial"/>
                <a:ea typeface="Microsoft YaHei"/>
              </a:rPr>
              <a:t>💬 “I usually send a short thank-you email…” / “I follow up on one point we discussed.”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4A90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8442656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3200" b="1">
                <a:solidFill>
                  <a:srgbClr val="1F2A44"/>
                </a:solidFill>
                <a:latin typeface="Arial"/>
                <a:ea typeface="Microsoft YaHei"/>
              </a:rPr>
              <a:t>🌟 Model Answer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74175" y="438912"/>
            <a:ext cx="2560320" cy="475488"/>
          </a:xfrm>
          <a:prstGeom prst="roundRect">
            <a:avLst>
              <a:gd name="adj" fmla="val 50000"/>
            </a:avLst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3152" rIns="73152"/>
          <a:lstStyle/>
          <a:p>
            <a:pPr algn="ctr">
              <a:spcAft>
                <a:spcPts val="200"/>
              </a:spcAft>
            </a:pPr>
            <a:r>
              <a:rPr sz="1300" b="1">
                <a:solidFill>
                  <a:srgbClr val="FFFFFF"/>
                </a:solidFill>
                <a:latin typeface="Arial"/>
                <a:ea typeface="Microsoft YaHei"/>
              </a:rPr>
              <a:t>04 Discussion 讨论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19088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100" b="0">
                <a:solidFill>
                  <a:srgbClr val="5F677A"/>
                </a:solidFill>
                <a:latin typeface="Arial"/>
                <a:ea typeface="Microsoft YaHei"/>
              </a:rPr>
              <a:t>Business English · Level 4 · Unit 3 · Lesson 08 Visitors to the company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28655" y="6419088"/>
            <a:ext cx="914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  <a:spcAft>
                <a:spcPts val="800"/>
              </a:spcAft>
            </a:pPr>
            <a:r>
              <a:rPr sz="1100" b="0">
                <a:solidFill>
                  <a:srgbClr val="5F677A"/>
                </a:solidFill>
                <a:latin typeface="Arial"/>
                <a:ea typeface="Microsoft YaHei"/>
              </a:rPr>
              <a:t>76</a:t>
            </a:r>
          </a:p>
        </p:txBody>
      </p:sp>
      <p:sp>
        <p:nvSpPr>
          <p:cNvPr id="7" name="Rounded Rectangle 6">
            <a:hlinkClick action="ppaction://hlinksldjump" r:id="rId2"/>
          </p:cNvPr>
          <p:cNvSpPr/>
          <p:nvPr/>
        </p:nvSpPr>
        <p:spPr>
          <a:xfrm>
            <a:off x="9677095" y="6382512"/>
            <a:ext cx="960120" cy="329184"/>
          </a:xfrm>
          <a:prstGeom prst="roundRect">
            <a:avLst>
              <a:gd name="adj" fmla="val 50000"/>
            </a:avLst>
          </a:prstGeom>
          <a:solidFill>
            <a:srgbClr val="FFE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Aft>
                <a:spcPts val="200"/>
              </a:spcAft>
            </a:pPr>
            <a:r>
              <a:rPr sz="1100" b="1">
                <a:solidFill>
                  <a:srgbClr val="1F2A44"/>
                </a:solidFill>
                <a:latin typeface="Arial"/>
                <a:ea typeface="Microsoft YaHei"/>
              </a:rPr>
              <a:t>🗺 Map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005840"/>
            <a:ext cx="11094415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500" b="0">
                <a:solidFill>
                  <a:srgbClr val="5F677A"/>
                </a:solidFill>
                <a:latin typeface="Arial"/>
                <a:ea typeface="Microsoft YaHei"/>
              </a:rPr>
              <a:t>Model answer (Question 1)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463040"/>
            <a:ext cx="11094415" cy="40690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1371600"/>
            <a:ext cx="9144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5400" b="0">
                <a:solidFill>
                  <a:srgbClr val="4A90E2"/>
                </a:solidFill>
                <a:latin typeface="Arial"/>
                <a:ea typeface="Microsoft YaHei"/>
              </a:rPr>
              <a:t>❝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0" y="1600200"/>
            <a:ext cx="9814255" cy="3794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2600" b="0">
                <a:solidFill>
                  <a:srgbClr val="1F2A44"/>
                </a:solidFill>
                <a:latin typeface="Arial"/>
                <a:ea typeface="Microsoft YaHei"/>
              </a:rPr>
              <a:t>I try to arrive about ten minutes early, but not more than fifteen. If I arrive too early, I wait outside or in a café, because the host may not be ready. If I’m going to be late, I call or send a message as soon as I know, for example,”I’m sorry, I’m held up in traffic. I’ll be there in about ten minutes.” Then, when I arrive, I apologize briefly and move on.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5760720"/>
            <a:ext cx="11094415" cy="502920"/>
          </a:xfrm>
          <a:prstGeom prst="roundRect">
            <a:avLst>
              <a:gd name="adj" fmla="val 30000"/>
            </a:avLst>
          </a:prstGeom>
          <a:solidFill>
            <a:srgbClr val="FFE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1F2A44"/>
                </a:solidFill>
                <a:latin typeface="Arial"/>
                <a:ea typeface="Microsoft YaHei"/>
              </a:rPr>
              <a:t>💡 “as soon as I know”(一知道就…)中的 as soon as 后面用一般现在时表示将来。“apologize briefly and move on”(简短道歉然后继续)是地道说法。</a:t>
            </a:r>
          </a:p>
        </p:txBody>
      </p:sp>
    </p:spTree>
  </p:cSld>
  <p:clrMapOvr>
    <a:masterClrMapping/>
  </p:clrMapOvr>
  <p:transition spd="med">
    <p:fade/>
  </p:transition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3CC4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8442656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3200" b="1">
                <a:solidFill>
                  <a:srgbClr val="1F2A44"/>
                </a:solidFill>
                <a:latin typeface="Arial"/>
                <a:ea typeface="Microsoft YaHei"/>
              </a:rPr>
              <a:t>💡 Polite requests: from B1 to B2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74175" y="438912"/>
            <a:ext cx="2560320" cy="475488"/>
          </a:xfrm>
          <a:prstGeom prst="roundRect">
            <a:avLst>
              <a:gd name="adj" fmla="val 50000"/>
            </a:avLst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3152" rIns="73152"/>
          <a:lstStyle/>
          <a:p>
            <a:pPr algn="ctr">
              <a:spcAft>
                <a:spcPts val="200"/>
              </a:spcAft>
            </a:pPr>
            <a:r>
              <a:rPr sz="1300" b="1">
                <a:solidFill>
                  <a:srgbClr val="FFFFFF"/>
                </a:solidFill>
                <a:latin typeface="Arial"/>
                <a:ea typeface="Microsoft YaHei"/>
              </a:rPr>
              <a:t>05 Language Tips 贴士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19088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100" b="0">
                <a:solidFill>
                  <a:srgbClr val="5F677A"/>
                </a:solidFill>
                <a:latin typeface="Arial"/>
                <a:ea typeface="Microsoft YaHei"/>
              </a:rPr>
              <a:t>Business English · Level 4 · Unit 3 · Lesson 08 Visitors to the company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28655" y="6419088"/>
            <a:ext cx="914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  <a:spcAft>
                <a:spcPts val="800"/>
              </a:spcAft>
            </a:pPr>
            <a:r>
              <a:rPr sz="1100" b="0">
                <a:solidFill>
                  <a:srgbClr val="5F677A"/>
                </a:solidFill>
                <a:latin typeface="Arial"/>
                <a:ea typeface="Microsoft YaHei"/>
              </a:rPr>
              <a:t>77</a:t>
            </a:r>
          </a:p>
        </p:txBody>
      </p:sp>
      <p:sp>
        <p:nvSpPr>
          <p:cNvPr id="7" name="Rounded Rectangle 6">
            <a:hlinkClick action="ppaction://hlinksldjump" r:id="rId2"/>
          </p:cNvPr>
          <p:cNvSpPr/>
          <p:nvPr/>
        </p:nvSpPr>
        <p:spPr>
          <a:xfrm>
            <a:off x="9677095" y="6382512"/>
            <a:ext cx="960120" cy="329184"/>
          </a:xfrm>
          <a:prstGeom prst="roundRect">
            <a:avLst>
              <a:gd name="adj" fmla="val 50000"/>
            </a:avLst>
          </a:prstGeom>
          <a:solidFill>
            <a:srgbClr val="FFE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Aft>
                <a:spcPts val="200"/>
              </a:spcAft>
            </a:pPr>
            <a:r>
              <a:rPr sz="1100" b="1">
                <a:solidFill>
                  <a:srgbClr val="1F2A44"/>
                </a:solidFill>
                <a:latin typeface="Arial"/>
                <a:ea typeface="Microsoft YaHei"/>
              </a:rPr>
              <a:t>🗺 Map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960120"/>
            <a:ext cx="11094415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500" b="0">
                <a:solidFill>
                  <a:srgbClr val="5F677A"/>
                </a:solidFill>
                <a:latin typeface="Arial"/>
                <a:ea typeface="Microsoft YaHei"/>
              </a:rPr>
              <a:t>礼貌请求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48640" y="1417320"/>
          <a:ext cx="11094415" cy="2529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98138"/>
                <a:gridCol w="3698138"/>
                <a:gridCol w="3698139"/>
              </a:tblGrid>
              <a:tr h="408432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Arial"/>
                          <a:ea typeface="Microsoft YaHei"/>
                        </a:rPr>
                        <a:t>Level</a:t>
                      </a:r>
                    </a:p>
                  </a:txBody>
                  <a:tcPr anchor="ctr">
                    <a:solidFill>
                      <a:srgbClr val="3CC49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Arial"/>
                          <a:ea typeface="Microsoft YaHei"/>
                        </a:rPr>
                        <a:t>Request</a:t>
                      </a:r>
                    </a:p>
                  </a:txBody>
                  <a:tcPr anchor="ctr">
                    <a:solidFill>
                      <a:srgbClr val="3CC49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Arial"/>
                          <a:ea typeface="Microsoft YaHei"/>
                        </a:rPr>
                        <a:t>Example</a:t>
                      </a:r>
                    </a:p>
                  </a:txBody>
                  <a:tcPr anchor="ctr">
                    <a:solidFill>
                      <a:srgbClr val="3CC49A"/>
                    </a:solidFill>
                  </a:tcPr>
                </a:tc>
              </a:tr>
              <a:tr h="408432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1F2A44"/>
                          </a:solidFill>
                          <a:latin typeface="Arial"/>
                          <a:ea typeface="Microsoft YaHei"/>
                        </a:rPr>
                        <a:t>Basic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F2A44"/>
                          </a:solidFill>
                          <a:latin typeface="Arial"/>
                          <a:ea typeface="Microsoft YaHei"/>
                        </a:rPr>
                        <a:t>Can I…?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F2A44"/>
                          </a:solidFill>
                          <a:latin typeface="Arial"/>
                          <a:ea typeface="Microsoft YaHei"/>
                        </a:rPr>
                        <a:t>Can I use your phone?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08432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1F2A44"/>
                          </a:solidFill>
                          <a:latin typeface="Arial"/>
                          <a:ea typeface="Microsoft YaHei"/>
                        </a:rPr>
                        <a:t>Polite</a:t>
                      </a:r>
                    </a:p>
                  </a:txBody>
                  <a:tcPr anchor="ctr">
                    <a:solidFill>
                      <a:srgbClr val="FFEFD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F2A44"/>
                          </a:solidFill>
                          <a:latin typeface="Arial"/>
                          <a:ea typeface="Microsoft YaHei"/>
                        </a:rPr>
                        <a:t>Could I…? / May I…?</a:t>
                      </a:r>
                    </a:p>
                  </a:txBody>
                  <a:tcPr anchor="ctr">
                    <a:solidFill>
                      <a:srgbClr val="FFEFD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F2A44"/>
                          </a:solidFill>
                          <a:latin typeface="Arial"/>
                          <a:ea typeface="Microsoft YaHei"/>
                        </a:rPr>
                        <a:t>Could I use your phone, please?</a:t>
                      </a:r>
                    </a:p>
                  </a:txBody>
                  <a:tcPr anchor="ctr">
                    <a:solidFill>
                      <a:srgbClr val="FFEFD9"/>
                    </a:solidFill>
                  </a:tcPr>
                </a:tc>
              </a:tr>
              <a:tr h="652272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1F2A44"/>
                          </a:solidFill>
                          <a:latin typeface="Arial"/>
                          <a:ea typeface="Microsoft YaHei"/>
                        </a:rPr>
                        <a:t>Very polite ★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F2A44"/>
                          </a:solidFill>
                          <a:latin typeface="Arial"/>
                          <a:ea typeface="Microsoft YaHei"/>
                        </a:rPr>
                        <a:t>Would it be all right if I…? / Would you mind if I…?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F2A44"/>
                          </a:solidFill>
                          <a:latin typeface="Arial"/>
                          <a:ea typeface="Microsoft YaHei"/>
                        </a:rPr>
                        <a:t>Would you mind if I used your phone?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652272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1F2A44"/>
                          </a:solidFill>
                          <a:latin typeface="Arial"/>
                          <a:ea typeface="Microsoft YaHei"/>
                        </a:rPr>
                        <a:t>Indirect ★</a:t>
                      </a:r>
                    </a:p>
                  </a:txBody>
                  <a:tcPr anchor="ctr">
                    <a:solidFill>
                      <a:srgbClr val="FFEFD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F2A44"/>
                          </a:solidFill>
                          <a:latin typeface="Arial"/>
                          <a:ea typeface="Microsoft YaHei"/>
                        </a:rPr>
                        <a:t>I was wondering if I could…</a:t>
                      </a:r>
                    </a:p>
                  </a:txBody>
                  <a:tcPr anchor="ctr">
                    <a:solidFill>
                      <a:srgbClr val="FFEFD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F2A44"/>
                          </a:solidFill>
                          <a:latin typeface="Arial"/>
                          <a:ea typeface="Microsoft YaHei"/>
                        </a:rPr>
                        <a:t>I was wondering if I could use your phone.</a:t>
                      </a:r>
                    </a:p>
                  </a:txBody>
                  <a:tcPr anchor="ctr">
                    <a:solidFill>
                      <a:srgbClr val="FFEFD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 spd="med">
    <p:fade/>
  </p:transition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3CC4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8442656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3200" b="1">
                <a:solidFill>
                  <a:srgbClr val="1F2A44"/>
                </a:solidFill>
                <a:latin typeface="Arial"/>
                <a:ea typeface="Microsoft YaHei"/>
              </a:rPr>
              <a:t>💡 Polite requests: from B1 to B2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74175" y="438912"/>
            <a:ext cx="2560320" cy="475488"/>
          </a:xfrm>
          <a:prstGeom prst="roundRect">
            <a:avLst>
              <a:gd name="adj" fmla="val 50000"/>
            </a:avLst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3152" rIns="73152"/>
          <a:lstStyle/>
          <a:p>
            <a:pPr algn="ctr">
              <a:spcAft>
                <a:spcPts val="200"/>
              </a:spcAft>
            </a:pPr>
            <a:r>
              <a:rPr sz="1300" b="1">
                <a:solidFill>
                  <a:srgbClr val="FFFFFF"/>
                </a:solidFill>
                <a:latin typeface="Arial"/>
                <a:ea typeface="Microsoft YaHei"/>
              </a:rPr>
              <a:t>05 Language Tips 贴士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19088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100" b="0">
                <a:solidFill>
                  <a:srgbClr val="5F677A"/>
                </a:solidFill>
                <a:latin typeface="Arial"/>
                <a:ea typeface="Microsoft YaHei"/>
              </a:rPr>
              <a:t>Business English · Level 4 · Unit 3 · Lesson 08 Visitors to the company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28655" y="6419088"/>
            <a:ext cx="914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  <a:spcAft>
                <a:spcPts val="800"/>
              </a:spcAft>
            </a:pPr>
            <a:r>
              <a:rPr sz="1100" b="0">
                <a:solidFill>
                  <a:srgbClr val="5F677A"/>
                </a:solidFill>
                <a:latin typeface="Arial"/>
                <a:ea typeface="Microsoft YaHei"/>
              </a:rPr>
              <a:t>78</a:t>
            </a:r>
          </a:p>
        </p:txBody>
      </p:sp>
      <p:sp>
        <p:nvSpPr>
          <p:cNvPr id="7" name="Rounded Rectangle 6">
            <a:hlinkClick action="ppaction://hlinksldjump" r:id="rId2"/>
          </p:cNvPr>
          <p:cNvSpPr/>
          <p:nvPr/>
        </p:nvSpPr>
        <p:spPr>
          <a:xfrm>
            <a:off x="9677095" y="6382512"/>
            <a:ext cx="960120" cy="329184"/>
          </a:xfrm>
          <a:prstGeom prst="roundRect">
            <a:avLst>
              <a:gd name="adj" fmla="val 50000"/>
            </a:avLst>
          </a:prstGeom>
          <a:solidFill>
            <a:srgbClr val="FFE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Aft>
                <a:spcPts val="200"/>
              </a:spcAft>
            </a:pPr>
            <a:r>
              <a:rPr sz="1100" b="1">
                <a:solidFill>
                  <a:srgbClr val="1F2A44"/>
                </a:solidFill>
                <a:latin typeface="Arial"/>
                <a:ea typeface="Microsoft YaHei"/>
              </a:rPr>
              <a:t>🗺 Map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960120"/>
            <a:ext cx="11094415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500" b="0">
                <a:solidFill>
                  <a:srgbClr val="5F677A"/>
                </a:solidFill>
                <a:latin typeface="Arial"/>
                <a:ea typeface="Microsoft YaHei"/>
              </a:rPr>
              <a:t>礼貌请求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417320"/>
            <a:ext cx="11094415" cy="441959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1417320"/>
            <a:ext cx="91440" cy="441959"/>
          </a:xfrm>
          <a:prstGeom prst="rect">
            <a:avLst/>
          </a:prstGeom>
          <a:solidFill>
            <a:srgbClr val="FF6B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1417320"/>
            <a:ext cx="10728655" cy="44195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700" b="0">
                <a:solidFill>
                  <a:srgbClr val="1F2A44"/>
                </a:solidFill>
                <a:latin typeface="Arial"/>
                <a:ea typeface="Microsoft YaHei"/>
              </a:rPr>
              <a:t>After Would you mind if I… and I was wondering if I… use a past form: took, opened, used.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1950719"/>
            <a:ext cx="11094415" cy="701039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48640" y="1950719"/>
            <a:ext cx="91440" cy="701039"/>
          </a:xfrm>
          <a:prstGeom prst="rect">
            <a:avLst/>
          </a:prstGeom>
          <a:solidFill>
            <a:srgbClr val="4A90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1950719"/>
            <a:ext cx="10728655" cy="70103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700" b="1">
                <a:solidFill>
                  <a:srgbClr val="4A90E2"/>
                </a:solidFill>
                <a:latin typeface="Arial"/>
                <a:ea typeface="Microsoft YaHei"/>
              </a:rPr>
              <a:t>To agree: </a:t>
            </a:r>
            <a:r>
              <a:rPr sz="1700" b="0">
                <a:solidFill>
                  <a:srgbClr val="1F2A44"/>
                </a:solidFill>
                <a:latin typeface="Arial"/>
                <a:ea typeface="Microsoft YaHei"/>
              </a:rPr>
              <a:t>“Not at all.” / “Go ahead.” / “Of course.” To refuse politely: “I’m afraid that’s not possible, but…”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2743198"/>
            <a:ext cx="11094415" cy="441959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48640" y="2743198"/>
            <a:ext cx="91440" cy="441959"/>
          </a:xfrm>
          <a:prstGeom prst="rect">
            <a:avLst/>
          </a:prstGeom>
          <a:solidFill>
            <a:srgbClr val="3CC4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" y="2743198"/>
            <a:ext cx="10728655" cy="44195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700" b="0">
                <a:solidFill>
                  <a:srgbClr val="1F2A44"/>
                </a:solidFill>
                <a:latin typeface="Arial"/>
                <a:ea typeface="Microsoft YaHei"/>
              </a:rPr>
              <a:t>Don’t answer “Would you mind…?” with “Yes”. “Yes” means “I do mind”. Say “Not at all.”</a:t>
            </a:r>
          </a:p>
        </p:txBody>
      </p:sp>
    </p:spTree>
  </p:cSld>
  <p:clrMapOvr>
    <a:masterClrMapping/>
  </p:clrMapOvr>
  <p:transition spd="med">
    <p:fade/>
  </p:transition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3CC4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8442656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3200" b="1">
                <a:solidFill>
                  <a:srgbClr val="1F2A44"/>
                </a:solidFill>
                <a:latin typeface="Arial"/>
                <a:ea typeface="Microsoft YaHei"/>
              </a:rPr>
              <a:t>💡 Apologizing for lateness briefly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74175" y="438912"/>
            <a:ext cx="2560320" cy="475488"/>
          </a:xfrm>
          <a:prstGeom prst="roundRect">
            <a:avLst>
              <a:gd name="adj" fmla="val 50000"/>
            </a:avLst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3152" rIns="73152"/>
          <a:lstStyle/>
          <a:p>
            <a:pPr algn="ctr">
              <a:spcAft>
                <a:spcPts val="200"/>
              </a:spcAft>
            </a:pPr>
            <a:r>
              <a:rPr sz="1300" b="1">
                <a:solidFill>
                  <a:srgbClr val="FFFFFF"/>
                </a:solidFill>
                <a:latin typeface="Arial"/>
                <a:ea typeface="Microsoft YaHei"/>
              </a:rPr>
              <a:t>05 Language Tips 贴士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19088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100" b="0">
                <a:solidFill>
                  <a:srgbClr val="5F677A"/>
                </a:solidFill>
                <a:latin typeface="Arial"/>
                <a:ea typeface="Microsoft YaHei"/>
              </a:rPr>
              <a:t>Business English · Level 4 · Unit 3 · Lesson 08 Visitors to the company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28655" y="6419088"/>
            <a:ext cx="914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  <a:spcAft>
                <a:spcPts val="800"/>
              </a:spcAft>
            </a:pPr>
            <a:r>
              <a:rPr sz="1100" b="0">
                <a:solidFill>
                  <a:srgbClr val="5F677A"/>
                </a:solidFill>
                <a:latin typeface="Arial"/>
                <a:ea typeface="Microsoft YaHei"/>
              </a:rPr>
              <a:t>79</a:t>
            </a:r>
          </a:p>
        </p:txBody>
      </p:sp>
      <p:sp>
        <p:nvSpPr>
          <p:cNvPr id="7" name="Rounded Rectangle 6">
            <a:hlinkClick action="ppaction://hlinksldjump" r:id="rId2"/>
          </p:cNvPr>
          <p:cNvSpPr/>
          <p:nvPr/>
        </p:nvSpPr>
        <p:spPr>
          <a:xfrm>
            <a:off x="9677095" y="6382512"/>
            <a:ext cx="960120" cy="329184"/>
          </a:xfrm>
          <a:prstGeom prst="roundRect">
            <a:avLst>
              <a:gd name="adj" fmla="val 50000"/>
            </a:avLst>
          </a:prstGeom>
          <a:solidFill>
            <a:srgbClr val="FFE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Aft>
                <a:spcPts val="200"/>
              </a:spcAft>
            </a:pPr>
            <a:r>
              <a:rPr sz="1100" b="1">
                <a:solidFill>
                  <a:srgbClr val="1F2A44"/>
                </a:solidFill>
                <a:latin typeface="Arial"/>
                <a:ea typeface="Microsoft YaHei"/>
              </a:rPr>
              <a:t>🗺 Map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960120"/>
            <a:ext cx="11094415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500" b="0">
                <a:solidFill>
                  <a:srgbClr val="5F677A"/>
                </a:solidFill>
                <a:latin typeface="Arial"/>
                <a:ea typeface="Microsoft YaHei"/>
              </a:rPr>
              <a:t>简短道歉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417320"/>
            <a:ext cx="11094415" cy="441959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1417320"/>
            <a:ext cx="91440" cy="441959"/>
          </a:xfrm>
          <a:prstGeom prst="rect">
            <a:avLst/>
          </a:prstGeom>
          <a:solidFill>
            <a:srgbClr val="FF6B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1417320"/>
            <a:ext cx="10728655" cy="44195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700" b="1">
                <a:solidFill>
                  <a:srgbClr val="FF6B5B"/>
                </a:solidFill>
                <a:latin typeface="Arial"/>
                <a:ea typeface="Microsoft YaHei"/>
              </a:rPr>
              <a:t>Apologize once: </a:t>
            </a:r>
            <a:r>
              <a:rPr sz="1700" b="0">
                <a:solidFill>
                  <a:srgbClr val="1F2A44"/>
                </a:solidFill>
                <a:latin typeface="Arial"/>
                <a:ea typeface="Microsoft YaHei"/>
              </a:rPr>
              <a:t>“I’m so sorry I’m late.”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1950719"/>
            <a:ext cx="11094415" cy="441959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48640" y="1950719"/>
            <a:ext cx="91440" cy="441959"/>
          </a:xfrm>
          <a:prstGeom prst="rect">
            <a:avLst/>
          </a:prstGeom>
          <a:solidFill>
            <a:srgbClr val="4A90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1950719"/>
            <a:ext cx="10728655" cy="44195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700" b="1">
                <a:solidFill>
                  <a:srgbClr val="4A90E2"/>
                </a:solidFill>
                <a:latin typeface="Arial"/>
                <a:ea typeface="Microsoft YaHei"/>
              </a:rPr>
              <a:t>Give a short reason: </a:t>
            </a:r>
            <a:r>
              <a:rPr sz="1700" b="0">
                <a:solidFill>
                  <a:srgbClr val="1F2A44"/>
                </a:solidFill>
                <a:latin typeface="Arial"/>
                <a:ea typeface="Microsoft YaHei"/>
              </a:rPr>
              <a:t>“I got held up in traffic.”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2484118"/>
            <a:ext cx="11094415" cy="441959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48640" y="2484118"/>
            <a:ext cx="91440" cy="441959"/>
          </a:xfrm>
          <a:prstGeom prst="rect">
            <a:avLst/>
          </a:prstGeom>
          <a:solidFill>
            <a:srgbClr val="3CC4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" y="2484118"/>
            <a:ext cx="10728655" cy="44195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700" b="1">
                <a:solidFill>
                  <a:srgbClr val="3CC49A"/>
                </a:solidFill>
                <a:latin typeface="Arial"/>
                <a:ea typeface="Microsoft YaHei"/>
              </a:rPr>
              <a:t>Thank them: </a:t>
            </a:r>
            <a:r>
              <a:rPr sz="1700" b="0">
                <a:solidFill>
                  <a:srgbClr val="1F2A44"/>
                </a:solidFill>
                <a:latin typeface="Arial"/>
                <a:ea typeface="Microsoft YaHei"/>
              </a:rPr>
              <a:t>“Thank you for waiting.”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3017517"/>
            <a:ext cx="11094415" cy="441959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48640" y="3017517"/>
            <a:ext cx="91440" cy="441959"/>
          </a:xfrm>
          <a:prstGeom prst="rect">
            <a:avLst/>
          </a:prstGeom>
          <a:solidFill>
            <a:srgbClr val="FFC8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" y="3017517"/>
            <a:ext cx="10728655" cy="44195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700" b="1">
                <a:solidFill>
                  <a:srgbClr val="FFC857"/>
                </a:solidFill>
                <a:latin typeface="Arial"/>
                <a:ea typeface="Microsoft YaHei"/>
              </a:rPr>
              <a:t>Move on: </a:t>
            </a:r>
            <a:r>
              <a:rPr sz="1700" b="0">
                <a:solidFill>
                  <a:srgbClr val="1F2A44"/>
                </a:solidFill>
                <a:latin typeface="Arial"/>
                <a:ea typeface="Microsoft YaHei"/>
              </a:rPr>
              <a:t>“Shall we get started?”</a:t>
            </a:r>
          </a:p>
        </p:txBody>
      </p:sp>
    </p:spTree>
  </p:cSld>
  <p:clrMapOvr>
    <a:masterClrMapping/>
  </p:clrMapOvr>
  <p:transition spd="med">
    <p:fade/>
  </p:transition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F6B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8442656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3200" b="1">
                <a:solidFill>
                  <a:srgbClr val="1F2A44"/>
                </a:solidFill>
                <a:latin typeface="Arial"/>
                <a:ea typeface="Microsoft YaHei"/>
              </a:rPr>
              <a:t>🕵️ Spot the Mistake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74175" y="438912"/>
            <a:ext cx="2560320" cy="475488"/>
          </a:xfrm>
          <a:prstGeom prst="roundRect">
            <a:avLst>
              <a:gd name="adj" fmla="val 50000"/>
            </a:avLst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3152" rIns="73152"/>
          <a:lstStyle/>
          <a:p>
            <a:pPr algn="ctr">
              <a:spcAft>
                <a:spcPts val="200"/>
              </a:spcAft>
            </a:pPr>
            <a:r>
              <a:rPr sz="1300" b="1">
                <a:solidFill>
                  <a:srgbClr val="FFFFFF"/>
                </a:solidFill>
                <a:latin typeface="Arial"/>
                <a:ea typeface="Microsoft YaHei"/>
              </a:rPr>
              <a:t>05 Language Tips 贴士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19088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100" b="0">
                <a:solidFill>
                  <a:srgbClr val="5F677A"/>
                </a:solidFill>
                <a:latin typeface="Arial"/>
                <a:ea typeface="Microsoft YaHei"/>
              </a:rPr>
              <a:t>Business English · Level 4 · Unit 3 · Lesson 08 Visitors to the company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28655" y="6419088"/>
            <a:ext cx="914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  <a:spcAft>
                <a:spcPts val="800"/>
              </a:spcAft>
            </a:pPr>
            <a:r>
              <a:rPr sz="1100" b="0">
                <a:solidFill>
                  <a:srgbClr val="5F677A"/>
                </a:solidFill>
                <a:latin typeface="Arial"/>
                <a:ea typeface="Microsoft YaHei"/>
              </a:rPr>
              <a:t>80</a:t>
            </a:r>
          </a:p>
        </p:txBody>
      </p:sp>
      <p:sp>
        <p:nvSpPr>
          <p:cNvPr id="7" name="Rounded Rectangle 6">
            <a:hlinkClick action="ppaction://hlinksldjump" r:id="rId2"/>
          </p:cNvPr>
          <p:cNvSpPr/>
          <p:nvPr/>
        </p:nvSpPr>
        <p:spPr>
          <a:xfrm>
            <a:off x="9677095" y="6382512"/>
            <a:ext cx="960120" cy="329184"/>
          </a:xfrm>
          <a:prstGeom prst="roundRect">
            <a:avLst>
              <a:gd name="adj" fmla="val 50000"/>
            </a:avLst>
          </a:prstGeom>
          <a:solidFill>
            <a:srgbClr val="FFE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Aft>
                <a:spcPts val="200"/>
              </a:spcAft>
            </a:pPr>
            <a:r>
              <a:rPr sz="1100" b="1">
                <a:solidFill>
                  <a:srgbClr val="1F2A44"/>
                </a:solidFill>
                <a:latin typeface="Arial"/>
                <a:ea typeface="Microsoft YaHei"/>
              </a:rPr>
              <a:t>🗺 Map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024128"/>
            <a:ext cx="11094415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500" b="0">
                <a:solidFill>
                  <a:srgbClr val="5F677A"/>
                </a:solidFill>
                <a:latin typeface="Arial"/>
                <a:ea typeface="Microsoft YaHei"/>
              </a:rPr>
              <a:t>What's wrong? Fix it before you click!  哪里错了？先改正，再点击核对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463040"/>
            <a:ext cx="5455767" cy="609599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31750">
            <a:solidFill>
              <a:srgbClr val="FF6B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FF6B5B"/>
                </a:solidFill>
                <a:latin typeface="Arial"/>
                <a:ea typeface="Microsoft YaHei"/>
              </a:rPr>
              <a:t>✗  Can you to help me?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87287" y="1463040"/>
            <a:ext cx="5455767" cy="609599"/>
          </a:xfrm>
          <a:prstGeom prst="roundRect">
            <a:avLst>
              <a:gd name="adj" fmla="val 15000"/>
            </a:avLst>
          </a:prstGeom>
          <a:solidFill>
            <a:srgbClr val="3CC4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Arial"/>
                <a:ea typeface="Microsoft YaHei"/>
              </a:rPr>
              <a:t>✓  Can you help me?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FFFFFF"/>
                </a:solidFill>
                <a:latin typeface="Arial"/>
                <a:ea typeface="Microsoft YaHei"/>
              </a:rPr>
              <a:t>can / could 后面不加 to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2164079"/>
            <a:ext cx="5455767" cy="609599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31750">
            <a:solidFill>
              <a:srgbClr val="FF6B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FF6B5B"/>
                </a:solidFill>
                <a:latin typeface="Arial"/>
                <a:ea typeface="Microsoft YaHei"/>
              </a:rPr>
              <a:t>✗  Would you mind if I open the window?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87287" y="2164079"/>
            <a:ext cx="5455767" cy="609599"/>
          </a:xfrm>
          <a:prstGeom prst="roundRect">
            <a:avLst>
              <a:gd name="adj" fmla="val 15000"/>
            </a:avLst>
          </a:prstGeom>
          <a:solidFill>
            <a:srgbClr val="3CC4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Arial"/>
                <a:ea typeface="Microsoft YaHei"/>
              </a:rPr>
              <a:t>✓  Would you mind if I opened the window?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FFFFFF"/>
                </a:solidFill>
                <a:latin typeface="Arial"/>
                <a:ea typeface="Microsoft YaHei"/>
              </a:rPr>
              <a:t>mind if I + 过去式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2865118"/>
            <a:ext cx="5455767" cy="609599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31750">
            <a:solidFill>
              <a:srgbClr val="FF6B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FF6B5B"/>
                </a:solidFill>
                <a:latin typeface="Arial"/>
                <a:ea typeface="Microsoft YaHei"/>
              </a:rPr>
              <a:t>✗  Would you mind to open the window?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87287" y="2865118"/>
            <a:ext cx="5455767" cy="609599"/>
          </a:xfrm>
          <a:prstGeom prst="roundRect">
            <a:avLst>
              <a:gd name="adj" fmla="val 15000"/>
            </a:avLst>
          </a:prstGeom>
          <a:solidFill>
            <a:srgbClr val="3CC4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Arial"/>
                <a:ea typeface="Microsoft YaHei"/>
              </a:rPr>
              <a:t>✓  Would you mind opening the window?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FFFFFF"/>
                </a:solidFill>
                <a:latin typeface="Arial"/>
                <a:ea typeface="Microsoft YaHei"/>
              </a:rPr>
              <a:t>mind + -ing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3566157"/>
            <a:ext cx="5455767" cy="609599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31750">
            <a:solidFill>
              <a:srgbClr val="FF6B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FF6B5B"/>
                </a:solidFill>
                <a:latin typeface="Arial"/>
                <a:ea typeface="Microsoft YaHei"/>
              </a:rPr>
              <a:t>✗  Yes, I mind. (agreeing to a request)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87287" y="3566157"/>
            <a:ext cx="5455767" cy="609599"/>
          </a:xfrm>
          <a:prstGeom prst="roundRect">
            <a:avLst>
              <a:gd name="adj" fmla="val 15000"/>
            </a:avLst>
          </a:prstGeom>
          <a:solidFill>
            <a:srgbClr val="3CC4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Arial"/>
                <a:ea typeface="Microsoft YaHei"/>
              </a:rPr>
              <a:t>✓  Not at all.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FFFFFF"/>
                </a:solidFill>
                <a:latin typeface="Arial"/>
                <a:ea typeface="Microsoft YaHei"/>
              </a:rPr>
              <a:t>同意时回答 Not at all,不是 Yes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4267196"/>
            <a:ext cx="5455767" cy="609599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31750">
            <a:solidFill>
              <a:srgbClr val="FF6B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FF6B5B"/>
                </a:solidFill>
                <a:latin typeface="Arial"/>
                <a:ea typeface="Microsoft YaHei"/>
              </a:rPr>
              <a:t>✗  I’m sorry for late.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87287" y="4267196"/>
            <a:ext cx="5455767" cy="609599"/>
          </a:xfrm>
          <a:prstGeom prst="roundRect">
            <a:avLst>
              <a:gd name="adj" fmla="val 15000"/>
            </a:avLst>
          </a:prstGeom>
          <a:solidFill>
            <a:srgbClr val="3CC4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Arial"/>
                <a:ea typeface="Microsoft YaHei"/>
              </a:rPr>
              <a:t>✓  I’m sorry I’m late. / I’m sorry for being late.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FFFFFF"/>
                </a:solidFill>
                <a:latin typeface="Arial"/>
                <a:ea typeface="Microsoft YaHei"/>
              </a:rPr>
              <a:t>for 后面用 -ing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" fill="hold">
                      <p:stCondLst>
                        <p:cond delay="indefinite"/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F6B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8442656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3200" b="1">
                <a:solidFill>
                  <a:srgbClr val="1F2A44"/>
                </a:solidFill>
                <a:latin typeface="Arial"/>
                <a:ea typeface="Microsoft YaHei"/>
              </a:rPr>
              <a:t>🕵️ Spot the Mistake (cont.)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74175" y="438912"/>
            <a:ext cx="2560320" cy="475488"/>
          </a:xfrm>
          <a:prstGeom prst="roundRect">
            <a:avLst>
              <a:gd name="adj" fmla="val 50000"/>
            </a:avLst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3152" rIns="73152"/>
          <a:lstStyle/>
          <a:p>
            <a:pPr algn="ctr">
              <a:spcAft>
                <a:spcPts val="200"/>
              </a:spcAft>
            </a:pPr>
            <a:r>
              <a:rPr sz="1300" b="1">
                <a:solidFill>
                  <a:srgbClr val="FFFFFF"/>
                </a:solidFill>
                <a:latin typeface="Arial"/>
                <a:ea typeface="Microsoft YaHei"/>
              </a:rPr>
              <a:t>05 Language Tips 贴士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19088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100" b="0">
                <a:solidFill>
                  <a:srgbClr val="5F677A"/>
                </a:solidFill>
                <a:latin typeface="Arial"/>
                <a:ea typeface="Microsoft YaHei"/>
              </a:rPr>
              <a:t>Business English · Level 4 · Unit 3 · Lesson 08 Visitors to the company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28655" y="6419088"/>
            <a:ext cx="914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  <a:spcAft>
                <a:spcPts val="800"/>
              </a:spcAft>
            </a:pPr>
            <a:r>
              <a:rPr sz="1100" b="0">
                <a:solidFill>
                  <a:srgbClr val="5F677A"/>
                </a:solidFill>
                <a:latin typeface="Arial"/>
                <a:ea typeface="Microsoft YaHei"/>
              </a:rPr>
              <a:t>81</a:t>
            </a:r>
          </a:p>
        </p:txBody>
      </p:sp>
      <p:sp>
        <p:nvSpPr>
          <p:cNvPr id="7" name="Rounded Rectangle 6">
            <a:hlinkClick action="ppaction://hlinksldjump" r:id="rId2"/>
          </p:cNvPr>
          <p:cNvSpPr/>
          <p:nvPr/>
        </p:nvSpPr>
        <p:spPr>
          <a:xfrm>
            <a:off x="9677095" y="6382512"/>
            <a:ext cx="960120" cy="329184"/>
          </a:xfrm>
          <a:prstGeom prst="roundRect">
            <a:avLst>
              <a:gd name="adj" fmla="val 50000"/>
            </a:avLst>
          </a:prstGeom>
          <a:solidFill>
            <a:srgbClr val="FFE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Aft>
                <a:spcPts val="200"/>
              </a:spcAft>
            </a:pPr>
            <a:r>
              <a:rPr sz="1100" b="1">
                <a:solidFill>
                  <a:srgbClr val="1F2A44"/>
                </a:solidFill>
                <a:latin typeface="Arial"/>
                <a:ea typeface="Microsoft YaHei"/>
              </a:rPr>
              <a:t>🗺 Map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024128"/>
            <a:ext cx="11094415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500" b="0">
                <a:solidFill>
                  <a:srgbClr val="5F677A"/>
                </a:solidFill>
                <a:latin typeface="Arial"/>
                <a:ea typeface="Microsoft YaHei"/>
              </a:rPr>
              <a:t>What's wrong? Fix it before you click!  哪里错了？先改正，再点击核对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463040"/>
            <a:ext cx="5455767" cy="609599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31750">
            <a:solidFill>
              <a:srgbClr val="FF6B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FF6B5B"/>
                </a:solidFill>
                <a:latin typeface="Arial"/>
                <a:ea typeface="Microsoft YaHei"/>
              </a:rPr>
              <a:t>✗  I arrive at the company in ten o’clock.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87287" y="1463040"/>
            <a:ext cx="5455767" cy="609599"/>
          </a:xfrm>
          <a:prstGeom prst="roundRect">
            <a:avLst>
              <a:gd name="adj" fmla="val 15000"/>
            </a:avLst>
          </a:prstGeom>
          <a:solidFill>
            <a:srgbClr val="3CC4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Arial"/>
                <a:ea typeface="Microsoft YaHei"/>
              </a:rPr>
              <a:t>✓  I arrived at the company at ten o’clock.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FFFFFF"/>
                </a:solidFill>
                <a:latin typeface="Arial"/>
                <a:ea typeface="Microsoft YaHei"/>
              </a:rPr>
              <a:t>at + 具体时间,过去式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2164079"/>
            <a:ext cx="5455767" cy="609599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31750">
            <a:solidFill>
              <a:srgbClr val="FF6B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FF6B5B"/>
                </a:solidFill>
                <a:latin typeface="Arial"/>
                <a:ea typeface="Microsoft YaHei"/>
              </a:rPr>
              <a:t>✗  I’m here for meeting Ms Lin.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87287" y="2164079"/>
            <a:ext cx="5455767" cy="609599"/>
          </a:xfrm>
          <a:prstGeom prst="roundRect">
            <a:avLst>
              <a:gd name="adj" fmla="val 15000"/>
            </a:avLst>
          </a:prstGeom>
          <a:solidFill>
            <a:srgbClr val="3CC4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Arial"/>
                <a:ea typeface="Microsoft YaHei"/>
              </a:rPr>
              <a:t>✓  I’m here to meet Ms Lin.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FFFFFF"/>
                </a:solidFill>
                <a:latin typeface="Arial"/>
                <a:ea typeface="Microsoft YaHei"/>
              </a:rPr>
              <a:t>目的用 to + 动词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2865118"/>
            <a:ext cx="5455767" cy="609599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31750">
            <a:solidFill>
              <a:srgbClr val="FF6B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FF6B5B"/>
                </a:solidFill>
                <a:latin typeface="Arial"/>
                <a:ea typeface="Microsoft YaHei"/>
              </a:rPr>
              <a:t>✗  Thanks for your help me.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87287" y="2865118"/>
            <a:ext cx="5455767" cy="609599"/>
          </a:xfrm>
          <a:prstGeom prst="roundRect">
            <a:avLst>
              <a:gd name="adj" fmla="val 15000"/>
            </a:avLst>
          </a:prstGeom>
          <a:solidFill>
            <a:srgbClr val="3CC4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Arial"/>
                <a:ea typeface="Microsoft YaHei"/>
              </a:rPr>
              <a:t>✓  Thanks for your help. / Thanks for helping me.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FFFFFF"/>
                </a:solidFill>
                <a:latin typeface="Arial"/>
                <a:ea typeface="Microsoft YaHei"/>
              </a:rPr>
              <a:t>for + 名词 / -ing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3566157"/>
            <a:ext cx="5455767" cy="609599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31750">
            <a:solidFill>
              <a:srgbClr val="FF6B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FF6B5B"/>
                </a:solidFill>
                <a:latin typeface="Arial"/>
                <a:ea typeface="Microsoft YaHei"/>
              </a:rPr>
              <a:t>✗  apreciate / posibly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87287" y="3566157"/>
            <a:ext cx="5455767" cy="609599"/>
          </a:xfrm>
          <a:prstGeom prst="roundRect">
            <a:avLst>
              <a:gd name="adj" fmla="val 15000"/>
            </a:avLst>
          </a:prstGeom>
          <a:solidFill>
            <a:srgbClr val="3CC4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Arial"/>
                <a:ea typeface="Microsoft YaHei"/>
              </a:rPr>
              <a:t>✓  appreciate / possibly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FFFFFF"/>
                </a:solidFill>
                <a:latin typeface="Arial"/>
                <a:ea typeface="Microsoft YaHei"/>
              </a:rPr>
              <a:t>拼写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5760720"/>
            <a:ext cx="11094415" cy="502920"/>
          </a:xfrm>
          <a:prstGeom prst="roundRect">
            <a:avLst>
              <a:gd name="adj" fmla="val 30000"/>
            </a:avLst>
          </a:prstGeom>
          <a:solidFill>
            <a:srgbClr val="FFE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F2A44"/>
                </a:solidFill>
                <a:latin typeface="Arial"/>
                <a:ea typeface="Microsoft YaHei"/>
              </a:rPr>
              <a:t>⚠️ After Would you mind… choose: + -ing (“Would you mind opening…?”) or if I + past (“Would you mind if I opened…?”).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" fill="hold">
                      <p:stCondLst>
                        <p:cond delay="indefinite"/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3CC4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8442656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3200" b="1">
                <a:solidFill>
                  <a:srgbClr val="1F2A44"/>
                </a:solidFill>
                <a:latin typeface="Arial"/>
                <a:ea typeface="Microsoft YaHei"/>
              </a:rPr>
              <a:t>🌏 Cultural tips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74175" y="438912"/>
            <a:ext cx="2560320" cy="475488"/>
          </a:xfrm>
          <a:prstGeom prst="roundRect">
            <a:avLst>
              <a:gd name="adj" fmla="val 50000"/>
            </a:avLst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3152" rIns="73152"/>
          <a:lstStyle/>
          <a:p>
            <a:pPr algn="ctr">
              <a:spcAft>
                <a:spcPts val="200"/>
              </a:spcAft>
            </a:pPr>
            <a:r>
              <a:rPr sz="1300" b="1">
                <a:solidFill>
                  <a:srgbClr val="FFFFFF"/>
                </a:solidFill>
                <a:latin typeface="Arial"/>
                <a:ea typeface="Microsoft YaHei"/>
              </a:rPr>
              <a:t>05 Language Tips 贴士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19088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100" b="0">
                <a:solidFill>
                  <a:srgbClr val="5F677A"/>
                </a:solidFill>
                <a:latin typeface="Arial"/>
                <a:ea typeface="Microsoft YaHei"/>
              </a:rPr>
              <a:t>Business English · Level 4 · Unit 3 · Lesson 08 Visitors to the company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28655" y="6419088"/>
            <a:ext cx="914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  <a:spcAft>
                <a:spcPts val="800"/>
              </a:spcAft>
            </a:pPr>
            <a:r>
              <a:rPr sz="1100" b="0">
                <a:solidFill>
                  <a:srgbClr val="5F677A"/>
                </a:solidFill>
                <a:latin typeface="Arial"/>
                <a:ea typeface="Microsoft YaHei"/>
              </a:rPr>
              <a:t>82</a:t>
            </a:r>
          </a:p>
        </p:txBody>
      </p:sp>
      <p:sp>
        <p:nvSpPr>
          <p:cNvPr id="7" name="Rounded Rectangle 6">
            <a:hlinkClick action="ppaction://hlinksldjump" r:id="rId2"/>
          </p:cNvPr>
          <p:cNvSpPr/>
          <p:nvPr/>
        </p:nvSpPr>
        <p:spPr>
          <a:xfrm>
            <a:off x="9677095" y="6382512"/>
            <a:ext cx="960120" cy="329184"/>
          </a:xfrm>
          <a:prstGeom prst="roundRect">
            <a:avLst>
              <a:gd name="adj" fmla="val 50000"/>
            </a:avLst>
          </a:prstGeom>
          <a:solidFill>
            <a:srgbClr val="FFE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Aft>
                <a:spcPts val="200"/>
              </a:spcAft>
            </a:pPr>
            <a:r>
              <a:rPr sz="1100" b="1">
                <a:solidFill>
                  <a:srgbClr val="1F2A44"/>
                </a:solidFill>
                <a:latin typeface="Arial"/>
                <a:ea typeface="Microsoft YaHei"/>
              </a:rPr>
              <a:t>🗺 Map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960120"/>
            <a:ext cx="11094415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500" b="0">
                <a:solidFill>
                  <a:srgbClr val="5F677A"/>
                </a:solidFill>
                <a:latin typeface="Arial"/>
                <a:ea typeface="Microsoft YaHei"/>
              </a:rPr>
              <a:t>文化小贴士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417320"/>
            <a:ext cx="11094415" cy="701039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1417320"/>
            <a:ext cx="91440" cy="701039"/>
          </a:xfrm>
          <a:prstGeom prst="rect">
            <a:avLst/>
          </a:prstGeom>
          <a:solidFill>
            <a:srgbClr val="FF6B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1417320"/>
            <a:ext cx="10728655" cy="70103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700" b="0">
                <a:solidFill>
                  <a:srgbClr val="1F2A44"/>
                </a:solidFill>
                <a:latin typeface="Arial"/>
                <a:ea typeface="Microsoft YaHei"/>
              </a:rPr>
              <a:t>Arrive 5–10 minutes early, not 30. Arriving very early can put pressure on the host. In Germany and the UK, being exactly on time or slightly early is the norm.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2209799"/>
            <a:ext cx="11094415" cy="701039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48640" y="2209799"/>
            <a:ext cx="91440" cy="701039"/>
          </a:xfrm>
          <a:prstGeom prst="rect">
            <a:avLst/>
          </a:prstGeom>
          <a:solidFill>
            <a:srgbClr val="4A90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2209799"/>
            <a:ext cx="10728655" cy="70103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700" b="0">
                <a:solidFill>
                  <a:srgbClr val="1F2A44"/>
                </a:solidFill>
                <a:latin typeface="Arial"/>
                <a:ea typeface="Microsoft YaHei"/>
              </a:rPr>
              <a:t>If you are going to be late, call or message before the meeting. Waiting until you arrive is too late. Everyone understands traffic, but they want to be told.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3002278"/>
            <a:ext cx="11094415" cy="701039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48640" y="3002278"/>
            <a:ext cx="91440" cy="701039"/>
          </a:xfrm>
          <a:prstGeom prst="rect">
            <a:avLst/>
          </a:prstGeom>
          <a:solidFill>
            <a:srgbClr val="3CC4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" y="3002278"/>
            <a:ext cx="10728655" cy="70103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700" b="1">
                <a:solidFill>
                  <a:srgbClr val="3CC49A"/>
                </a:solidFill>
                <a:latin typeface="Arial"/>
                <a:ea typeface="Microsoft YaHei"/>
              </a:rPr>
              <a:t>Gifts: </a:t>
            </a:r>
            <a:r>
              <a:rPr sz="1700" b="0">
                <a:solidFill>
                  <a:srgbClr val="1F2A44"/>
                </a:solidFill>
                <a:latin typeface="Arial"/>
                <a:ea typeface="Microsoft YaHei"/>
              </a:rPr>
              <a:t>Small gifts are welcome but not expected in the US and UK. Avoid expensive gifts, because they may break company rules on bribery.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3794757"/>
            <a:ext cx="11094415" cy="701039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48640" y="3794757"/>
            <a:ext cx="91440" cy="701039"/>
          </a:xfrm>
          <a:prstGeom prst="rect">
            <a:avLst/>
          </a:prstGeom>
          <a:solidFill>
            <a:srgbClr val="FFC8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" y="3794757"/>
            <a:ext cx="10728655" cy="70103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700" b="1">
                <a:solidFill>
                  <a:srgbClr val="FFC857"/>
                </a:solidFill>
                <a:latin typeface="Arial"/>
                <a:ea typeface="Microsoft YaHei"/>
              </a:rPr>
              <a:t>Thank-you emails: </a:t>
            </a:r>
            <a:r>
              <a:rPr sz="1700" b="0">
                <a:solidFill>
                  <a:srgbClr val="1F2A44"/>
                </a:solidFill>
                <a:latin typeface="Arial"/>
                <a:ea typeface="Microsoft YaHei"/>
              </a:rPr>
              <a:t>A short thank-you email the same day is common and appreciated in most Western countries.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8640" y="4587236"/>
            <a:ext cx="11094415" cy="441959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48640" y="4587236"/>
            <a:ext cx="91440" cy="441959"/>
          </a:xfrm>
          <a:prstGeom prst="rect">
            <a:avLst/>
          </a:prstGeom>
          <a:solidFill>
            <a:srgbClr val="9B6B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77240" y="4587236"/>
            <a:ext cx="10728655" cy="44195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700" b="0">
                <a:solidFill>
                  <a:srgbClr val="1F2A44"/>
                </a:solidFill>
                <a:latin typeface="Arial"/>
                <a:ea typeface="Microsoft YaHei"/>
              </a:rPr>
              <a:t>Don’t wander. Wait for your host. Do not walk into offices or take photos without asking.</a:t>
            </a:r>
          </a:p>
        </p:txBody>
      </p:sp>
    </p:spTree>
  </p:cSld>
  <p:clrMapOvr>
    <a:masterClrMapping/>
  </p:clrMapOvr>
  <p:transition spd="med">
    <p:fade/>
  </p:transition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3CC4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8442656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3200" b="1">
                <a:solidFill>
                  <a:srgbClr val="1F2A44"/>
                </a:solidFill>
                <a:latin typeface="Arial"/>
                <a:ea typeface="Microsoft YaHei"/>
              </a:rPr>
              <a:t>✅ Can-do Check 掌握度自检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74175" y="438912"/>
            <a:ext cx="2560320" cy="475488"/>
          </a:xfrm>
          <a:prstGeom prst="roundRect">
            <a:avLst>
              <a:gd name="adj" fmla="val 50000"/>
            </a:avLst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3152" rIns="73152"/>
          <a:lstStyle/>
          <a:p>
            <a:pPr algn="ctr">
              <a:spcAft>
                <a:spcPts val="200"/>
              </a:spcAft>
            </a:pPr>
            <a:r>
              <a:rPr sz="1300" b="1">
                <a:solidFill>
                  <a:srgbClr val="FFFFFF"/>
                </a:solidFill>
                <a:latin typeface="Arial"/>
                <a:ea typeface="Microsoft YaHei"/>
              </a:rPr>
              <a:t>Lesson 08 wrap-up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19088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100" b="0">
                <a:solidFill>
                  <a:srgbClr val="5F677A"/>
                </a:solidFill>
                <a:latin typeface="Arial"/>
                <a:ea typeface="Microsoft YaHei"/>
              </a:rPr>
              <a:t>Business English · Level 4 · Unit 3 · Lesson 08 Visitors to the company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28655" y="6419088"/>
            <a:ext cx="914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  <a:spcAft>
                <a:spcPts val="800"/>
              </a:spcAft>
            </a:pPr>
            <a:r>
              <a:rPr sz="1100" b="0">
                <a:solidFill>
                  <a:srgbClr val="5F677A"/>
                </a:solidFill>
                <a:latin typeface="Arial"/>
                <a:ea typeface="Microsoft YaHei"/>
              </a:rPr>
              <a:t>83</a:t>
            </a:r>
          </a:p>
        </p:txBody>
      </p:sp>
      <p:sp>
        <p:nvSpPr>
          <p:cNvPr id="7" name="Rounded Rectangle 6">
            <a:hlinkClick action="ppaction://hlinksldjump" r:id="rId2"/>
          </p:cNvPr>
          <p:cNvSpPr/>
          <p:nvPr/>
        </p:nvSpPr>
        <p:spPr>
          <a:xfrm>
            <a:off x="9677095" y="6382512"/>
            <a:ext cx="960120" cy="329184"/>
          </a:xfrm>
          <a:prstGeom prst="roundRect">
            <a:avLst>
              <a:gd name="adj" fmla="val 50000"/>
            </a:avLst>
          </a:prstGeom>
          <a:solidFill>
            <a:srgbClr val="FFE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Aft>
                <a:spcPts val="200"/>
              </a:spcAft>
            </a:pPr>
            <a:r>
              <a:rPr sz="1100" b="1">
                <a:solidFill>
                  <a:srgbClr val="1F2A44"/>
                </a:solidFill>
                <a:latin typeface="Arial"/>
                <a:ea typeface="Microsoft YaHei"/>
              </a:rPr>
              <a:t>🗺 Map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024128"/>
            <a:ext cx="11094415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500" b="0">
                <a:solidFill>
                  <a:srgbClr val="5F677A"/>
                </a:solidFill>
                <a:latin typeface="Arial"/>
                <a:ea typeface="Microsoft YaHei"/>
              </a:rPr>
              <a:t>Rate yourself: ⭐ not yet · ⭐⭐ almost · ⭐⭐⭐ I can do it!  给自己打星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508760"/>
            <a:ext cx="11094415" cy="505968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1508760"/>
            <a:ext cx="548640" cy="5059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2400" b="0">
                <a:solidFill>
                  <a:srgbClr val="3CC49A"/>
                </a:solidFill>
                <a:latin typeface="Arial"/>
                <a:ea typeface="Microsoft YaHei"/>
              </a:rPr>
              <a:t>☐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4440" y="1508760"/>
            <a:ext cx="8168335" cy="5059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2000" b="0">
                <a:solidFill>
                  <a:srgbClr val="1F2A44"/>
                </a:solidFill>
                <a:latin typeface="Arial"/>
                <a:ea typeface="Microsoft YaHei"/>
              </a:rPr>
              <a:t>I can say who I am and who I am here to see.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539935" y="1508760"/>
            <a:ext cx="2011680" cy="5059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800"/>
              </a:spcAft>
            </a:pPr>
            <a:r>
              <a:rPr sz="2200" b="0">
                <a:solidFill>
                  <a:srgbClr val="FFC857"/>
                </a:solidFill>
                <a:latin typeface="Arial"/>
                <a:ea typeface="Microsoft YaHei"/>
              </a:rPr>
              <a:t>☆ ☆ ☆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2106168"/>
            <a:ext cx="11094415" cy="505968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5800" y="2106168"/>
            <a:ext cx="548640" cy="5059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2400" b="0">
                <a:solidFill>
                  <a:srgbClr val="3CC49A"/>
                </a:solidFill>
                <a:latin typeface="Arial"/>
                <a:ea typeface="Microsoft YaHei"/>
              </a:rPr>
              <a:t>☐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34440" y="2106168"/>
            <a:ext cx="8168335" cy="5059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2000" b="0">
                <a:solidFill>
                  <a:srgbClr val="1F2A44"/>
                </a:solidFill>
                <a:latin typeface="Arial"/>
                <a:ea typeface="Microsoft YaHei"/>
              </a:rPr>
              <a:t>I can apologize briefly for being late and then move on.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539935" y="2106168"/>
            <a:ext cx="2011680" cy="5059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800"/>
              </a:spcAft>
            </a:pPr>
            <a:r>
              <a:rPr sz="2200" b="0">
                <a:solidFill>
                  <a:srgbClr val="FFC857"/>
                </a:solidFill>
                <a:latin typeface="Arial"/>
                <a:ea typeface="Microsoft YaHei"/>
              </a:rPr>
              <a:t>☆ ☆ ☆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2703576"/>
            <a:ext cx="11094415" cy="810768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5800" y="2703576"/>
            <a:ext cx="548640" cy="8107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2400" b="0">
                <a:solidFill>
                  <a:srgbClr val="3CC49A"/>
                </a:solidFill>
                <a:latin typeface="Arial"/>
                <a:ea typeface="Microsoft YaHei"/>
              </a:rPr>
              <a:t>☐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34440" y="2703576"/>
            <a:ext cx="8168335" cy="8107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2000" b="0">
                <a:solidFill>
                  <a:srgbClr val="1F2A44"/>
                </a:solidFill>
                <a:latin typeface="Arial"/>
                <a:ea typeface="Microsoft YaHei"/>
              </a:rPr>
              <a:t>I can ask for things politely (Could I possibly…? Would it be all right if I…?).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539935" y="2703576"/>
            <a:ext cx="2011680" cy="8107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800"/>
              </a:spcAft>
            </a:pPr>
            <a:r>
              <a:rPr sz="2200" b="0">
                <a:solidFill>
                  <a:srgbClr val="FFC857"/>
                </a:solidFill>
                <a:latin typeface="Arial"/>
                <a:ea typeface="Microsoft YaHei"/>
              </a:rPr>
              <a:t>☆ ☆ ☆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8640" y="3605784"/>
            <a:ext cx="11094415" cy="505968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85800" y="3605784"/>
            <a:ext cx="548640" cy="5059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2400" b="0">
                <a:solidFill>
                  <a:srgbClr val="3CC49A"/>
                </a:solidFill>
                <a:latin typeface="Arial"/>
                <a:ea typeface="Microsoft YaHei"/>
              </a:rPr>
              <a:t>☐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34440" y="3605784"/>
            <a:ext cx="8168335" cy="5059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2000" b="0">
                <a:solidFill>
                  <a:srgbClr val="1F2A44"/>
                </a:solidFill>
                <a:latin typeface="Arial"/>
                <a:ea typeface="Microsoft YaHei"/>
              </a:rPr>
              <a:t>I can thank my host and say how I will follow up.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539935" y="3605784"/>
            <a:ext cx="2011680" cy="5059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800"/>
              </a:spcAft>
            </a:pPr>
            <a:r>
              <a:rPr sz="2200" b="0">
                <a:solidFill>
                  <a:srgbClr val="FFC857"/>
                </a:solidFill>
                <a:latin typeface="Arial"/>
                <a:ea typeface="Microsoft YaHei"/>
              </a:rPr>
              <a:t>☆ ☆ ☆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48640" y="4203192"/>
            <a:ext cx="11094415" cy="505968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85800" y="4203192"/>
            <a:ext cx="548640" cy="5059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2400" b="0">
                <a:solidFill>
                  <a:srgbClr val="3CC49A"/>
                </a:solidFill>
                <a:latin typeface="Arial"/>
                <a:ea typeface="Microsoft YaHei"/>
              </a:rPr>
              <a:t>☐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234440" y="4203192"/>
            <a:ext cx="8168335" cy="5059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2000" b="0">
                <a:solidFill>
                  <a:srgbClr val="1F2A44"/>
                </a:solidFill>
                <a:latin typeface="Arial"/>
                <a:ea typeface="Microsoft YaHei"/>
              </a:rPr>
              <a:t>I can use mind + -ing and mind if I + past simple correctly.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539935" y="4203192"/>
            <a:ext cx="2011680" cy="5059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800"/>
              </a:spcAft>
            </a:pPr>
            <a:r>
              <a:rPr sz="2200" b="0">
                <a:solidFill>
                  <a:srgbClr val="FFC857"/>
                </a:solidFill>
                <a:latin typeface="Arial"/>
                <a:ea typeface="Microsoft YaHei"/>
              </a:rPr>
              <a:t>☆ ☆ ☆</a:t>
            </a:r>
          </a:p>
        </p:txBody>
      </p:sp>
    </p:spTree>
  </p:cSld>
  <p:clrMapOvr>
    <a:masterClrMapping/>
  </p:clrMapOvr>
  <p:transition spd="med">
    <p:fade/>
  </p:transition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4A90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8442656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3200" b="1">
                <a:solidFill>
                  <a:srgbClr val="1F2A44"/>
                </a:solidFill>
                <a:latin typeface="Arial"/>
                <a:ea typeface="Microsoft YaHei"/>
              </a:rPr>
              <a:t>🏠 After Class: 10-Minute Daily Plan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74175" y="438912"/>
            <a:ext cx="2560320" cy="475488"/>
          </a:xfrm>
          <a:prstGeom prst="roundRect">
            <a:avLst>
              <a:gd name="adj" fmla="val 50000"/>
            </a:avLst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3152" rIns="73152"/>
          <a:lstStyle/>
          <a:p>
            <a:pPr algn="ctr">
              <a:spcAft>
                <a:spcPts val="200"/>
              </a:spcAft>
            </a:pPr>
            <a:r>
              <a:rPr sz="1300" b="1">
                <a:solidFill>
                  <a:srgbClr val="FFFFFF"/>
                </a:solidFill>
                <a:latin typeface="Arial"/>
                <a:ea typeface="Microsoft YaHei"/>
              </a:rPr>
              <a:t>课后练习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19088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100" b="0">
                <a:solidFill>
                  <a:srgbClr val="5F677A"/>
                </a:solidFill>
                <a:latin typeface="Arial"/>
                <a:ea typeface="Microsoft YaHei"/>
              </a:rPr>
              <a:t>Business English · Level 4 · Unit 3 · Lesson 08 Visitors to the company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28655" y="6419088"/>
            <a:ext cx="914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  <a:spcAft>
                <a:spcPts val="800"/>
              </a:spcAft>
            </a:pPr>
            <a:r>
              <a:rPr sz="1100" b="0">
                <a:solidFill>
                  <a:srgbClr val="5F677A"/>
                </a:solidFill>
                <a:latin typeface="Arial"/>
                <a:ea typeface="Microsoft YaHei"/>
              </a:rPr>
              <a:t>84</a:t>
            </a:r>
          </a:p>
        </p:txBody>
      </p:sp>
      <p:sp>
        <p:nvSpPr>
          <p:cNvPr id="7" name="Rounded Rectangle 6">
            <a:hlinkClick action="ppaction://hlinksldjump" r:id="rId2"/>
          </p:cNvPr>
          <p:cNvSpPr/>
          <p:nvPr/>
        </p:nvSpPr>
        <p:spPr>
          <a:xfrm>
            <a:off x="9677095" y="6382512"/>
            <a:ext cx="960120" cy="329184"/>
          </a:xfrm>
          <a:prstGeom prst="roundRect">
            <a:avLst>
              <a:gd name="adj" fmla="val 50000"/>
            </a:avLst>
          </a:prstGeom>
          <a:solidFill>
            <a:srgbClr val="FFE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Aft>
                <a:spcPts val="200"/>
              </a:spcAft>
            </a:pPr>
            <a:r>
              <a:rPr sz="1100" b="1">
                <a:solidFill>
                  <a:srgbClr val="1F2A44"/>
                </a:solidFill>
                <a:latin typeface="Arial"/>
                <a:ea typeface="Microsoft YaHei"/>
              </a:rPr>
              <a:t>🗺 Map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325880"/>
            <a:ext cx="1554480" cy="713232"/>
          </a:xfrm>
          <a:prstGeom prst="roundRect">
            <a:avLst>
              <a:gd name="adj" fmla="val 20000"/>
            </a:avLst>
          </a:prstGeom>
          <a:solidFill>
            <a:srgbClr val="FF6B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Aft>
                <a:spcPts val="200"/>
              </a:spcAft>
            </a:pPr>
            <a:r>
              <a:rPr sz="1500" b="1">
                <a:solidFill>
                  <a:srgbClr val="FFFFFF"/>
                </a:solidFill>
                <a:latin typeface="Arial"/>
                <a:ea typeface="Microsoft YaHei"/>
              </a:rPr>
              <a:t>⏱ 0–2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240280" y="1325880"/>
            <a:ext cx="9402775" cy="713232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l">
              <a:spcAft>
                <a:spcPts val="200"/>
              </a:spcAft>
            </a:pPr>
            <a:r>
              <a:rPr sz="1800" b="1">
                <a:solidFill>
                  <a:srgbClr val="1F2A44"/>
                </a:solidFill>
                <a:latin typeface="Arial"/>
                <a:ea typeface="Microsoft YaHei"/>
              </a:rPr>
              <a:t>Read the 15 expressions aloud. Cover the English and say it from the Chinese. Make 2 true sentences with ★ items.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112264"/>
            <a:ext cx="1554480" cy="438912"/>
          </a:xfrm>
          <a:prstGeom prst="roundRect">
            <a:avLst>
              <a:gd name="adj" fmla="val 20000"/>
            </a:avLst>
          </a:prstGeom>
          <a:solidFill>
            <a:srgbClr val="4A90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Aft>
                <a:spcPts val="200"/>
              </a:spcAft>
            </a:pPr>
            <a:r>
              <a:rPr sz="1500" b="1">
                <a:solidFill>
                  <a:srgbClr val="FFFFFF"/>
                </a:solidFill>
                <a:latin typeface="Arial"/>
                <a:ea typeface="Microsoft YaHei"/>
              </a:rPr>
              <a:t>⏱ 2–5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240280" y="2112264"/>
            <a:ext cx="9402775" cy="438912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l">
              <a:spcAft>
                <a:spcPts val="200"/>
              </a:spcAft>
            </a:pPr>
            <a:r>
              <a:rPr sz="1800" b="1">
                <a:solidFill>
                  <a:srgbClr val="1F2A44"/>
                </a:solidFill>
                <a:latin typeface="Arial"/>
                <a:ea typeface="Microsoft YaHei"/>
              </a:rPr>
              <a:t>Shadow the model dialogue or model email (copy the rhythm and intonation).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2624328"/>
            <a:ext cx="1554480" cy="438912"/>
          </a:xfrm>
          <a:prstGeom prst="roundRect">
            <a:avLst>
              <a:gd name="adj" fmla="val 20000"/>
            </a:avLst>
          </a:prstGeom>
          <a:solidFill>
            <a:srgbClr val="3CC4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Aft>
                <a:spcPts val="200"/>
              </a:spcAft>
            </a:pPr>
            <a:r>
              <a:rPr sz="1500" b="1">
                <a:solidFill>
                  <a:srgbClr val="FFFFFF"/>
                </a:solidFill>
                <a:latin typeface="Arial"/>
                <a:ea typeface="Microsoft YaHei"/>
              </a:rPr>
              <a:t>⏱ 5–8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240280" y="2624328"/>
            <a:ext cx="9402775" cy="438912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l">
              <a:spcAft>
                <a:spcPts val="200"/>
              </a:spcAft>
            </a:pPr>
            <a:r>
              <a:rPr sz="1800" b="1">
                <a:solidFill>
                  <a:srgbClr val="1F2A44"/>
                </a:solidFill>
                <a:latin typeface="Arial"/>
                <a:ea typeface="Microsoft YaHei"/>
              </a:rPr>
              <a:t>Do the role play with the blank role card. Record yourself.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3136392"/>
            <a:ext cx="1554480" cy="713232"/>
          </a:xfrm>
          <a:prstGeom prst="roundRect">
            <a:avLst>
              <a:gd name="adj" fmla="val 20000"/>
            </a:avLst>
          </a:prstGeom>
          <a:solidFill>
            <a:srgbClr val="FFC8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Aft>
                <a:spcPts val="200"/>
              </a:spcAft>
            </a:pPr>
            <a:r>
              <a:rPr sz="1500" b="1">
                <a:solidFill>
                  <a:srgbClr val="FFFFFF"/>
                </a:solidFill>
                <a:latin typeface="Arial"/>
                <a:ea typeface="Microsoft YaHei"/>
              </a:rPr>
              <a:t>⏱ 8–10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240280" y="3136392"/>
            <a:ext cx="9402775" cy="713232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l">
              <a:spcAft>
                <a:spcPts val="200"/>
              </a:spcAft>
            </a:pPr>
            <a:r>
              <a:rPr sz="1800" b="1">
                <a:solidFill>
                  <a:srgbClr val="1F2A44"/>
                </a:solidFill>
                <a:latin typeface="Arial"/>
                <a:ea typeface="Microsoft YaHei"/>
              </a:rPr>
              <a:t>Listen to the recording. Check: would you mind + -ing / if I + past, at + time, past tense, and spelling (appreciate, possibly). Write 3 corrections.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5760720"/>
            <a:ext cx="11094415" cy="502920"/>
          </a:xfrm>
          <a:prstGeom prst="roundRect">
            <a:avLst>
              <a:gd name="adj" fmla="val 30000"/>
            </a:avLst>
          </a:prstGeom>
          <a:solidFill>
            <a:srgbClr val="FFE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1F2A44"/>
                </a:solidFill>
                <a:latin typeface="Arial"/>
                <a:ea typeface="Microsoft YaHei"/>
              </a:rPr>
              <a:t>📅 Weekly rhythm: Mon–Tue Scenario 1 · Wed–Thu Scenario 2 · Fri Level-up variation · Weekend: record the 1-minute speaking prompt again and compare with Monday.</a:t>
            </a:r>
          </a:p>
        </p:txBody>
      </p:sp>
    </p:spTree>
  </p:cSld>
  <p:clrMapOvr>
    <a:masterClrMapping/>
  </p:clrMapOvr>
  <p:transition spd="med">
    <p:fade/>
  </p:transition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6419088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100" b="0">
                <a:solidFill>
                  <a:srgbClr val="FFC857"/>
                </a:solidFill>
                <a:latin typeface="Arial"/>
                <a:ea typeface="Microsoft YaHei"/>
              </a:rPr>
              <a:t>Business English · Level 4 · Unit 3 · Lesson 09 Making visitors feel welcome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728655" y="6419088"/>
            <a:ext cx="914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  <a:spcAft>
                <a:spcPts val="800"/>
              </a:spcAft>
            </a:pPr>
            <a:r>
              <a:rPr sz="1100" b="0">
                <a:solidFill>
                  <a:srgbClr val="FFC857"/>
                </a:solidFill>
                <a:latin typeface="Arial"/>
                <a:ea typeface="Microsoft YaHei"/>
              </a:rPr>
              <a:t>85</a:t>
            </a:r>
          </a:p>
        </p:txBody>
      </p:sp>
      <p:sp>
        <p:nvSpPr>
          <p:cNvPr id="4" name="Rounded Rectangle 3">
            <a:hlinkClick action="ppaction://hlinksldjump" r:id="rId2"/>
          </p:cNvPr>
          <p:cNvSpPr/>
          <p:nvPr/>
        </p:nvSpPr>
        <p:spPr>
          <a:xfrm>
            <a:off x="9677095" y="6382512"/>
            <a:ext cx="960120" cy="329184"/>
          </a:xfrm>
          <a:prstGeom prst="roundRect">
            <a:avLst>
              <a:gd name="adj" fmla="val 50000"/>
            </a:avLst>
          </a:prstGeom>
          <a:solidFill>
            <a:srgbClr val="3642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Aft>
                <a:spcPts val="200"/>
              </a:spcAft>
            </a:pPr>
            <a:r>
              <a:rPr sz="1100" b="1">
                <a:solidFill>
                  <a:srgbClr val="FFFFFF"/>
                </a:solidFill>
                <a:latin typeface="Arial"/>
                <a:ea typeface="Microsoft YaHei"/>
              </a:rPr>
              <a:t>🗺 Map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685800"/>
            <a:ext cx="1097280" cy="91440"/>
          </a:xfrm>
          <a:prstGeom prst="rect">
            <a:avLst/>
          </a:prstGeom>
          <a:solidFill>
            <a:srgbClr val="FFC8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822960"/>
            <a:ext cx="5486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2200" b="1">
                <a:solidFill>
                  <a:srgbClr val="FFC857"/>
                </a:solidFill>
                <a:latin typeface="Arial"/>
                <a:ea typeface="Microsoft YaHei"/>
              </a:rPr>
              <a:t>LESSON 09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280160"/>
            <a:ext cx="10515600" cy="12801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5300" b="1">
                <a:solidFill>
                  <a:srgbClr val="FFFFFF"/>
                </a:solidFill>
                <a:latin typeface="Arial"/>
                <a:ea typeface="Microsoft YaHei"/>
              </a:rPr>
              <a:t>Making visitors feel welcome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560320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2400" b="0">
                <a:solidFill>
                  <a:srgbClr val="FFFFFF"/>
                </a:solidFill>
                <a:latin typeface="Arial"/>
                <a:ea typeface="Microsoft YaHei"/>
              </a:rPr>
              <a:t>让访客感到受欢迎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246120"/>
            <a:ext cx="105156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700" b="0">
                <a:solidFill>
                  <a:srgbClr val="FFC857"/>
                </a:solidFill>
                <a:latin typeface="Arial"/>
                <a:ea typeface="Microsoft YaHei"/>
              </a:rPr>
              <a:t>🎯 go the extra mile for visitors: arrange transport and hotels, ask about preferences and dietary needs, check that guests are comfortable and respond warmly when they say thank you.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4389120"/>
            <a:ext cx="1956816" cy="1143000"/>
          </a:xfrm>
          <a:prstGeom prst="roundRect">
            <a:avLst>
              <a:gd name="adj" fmla="val 20000"/>
            </a:avLst>
          </a:prstGeom>
          <a:solidFill>
            <a:srgbClr val="FFC8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Arial"/>
                <a:ea typeface="Microsoft YaHei"/>
              </a:rPr>
              <a:t>🔥 01</a:t>
            </a:r>
          </a:p>
          <a:p>
            <a:pPr algn="ctr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Arial"/>
                <a:ea typeface="Microsoft YaHei"/>
              </a:rPr>
              <a:t>Warm up</a:t>
            </a:r>
          </a:p>
          <a:p>
            <a:pPr algn="ctr">
              <a:spcAft>
                <a:spcPts val="200"/>
              </a:spcAft>
            </a:pPr>
            <a:r>
              <a:rPr sz="1300" b="0">
                <a:solidFill>
                  <a:srgbClr val="FFFFFF"/>
                </a:solidFill>
                <a:latin typeface="Arial"/>
                <a:ea typeface="Microsoft YaHei"/>
              </a:rPr>
              <a:t>热身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962656" y="4389120"/>
            <a:ext cx="1956816" cy="1143000"/>
          </a:xfrm>
          <a:prstGeom prst="roundRect">
            <a:avLst>
              <a:gd name="adj" fmla="val 20000"/>
            </a:avLst>
          </a:prstGeom>
          <a:solidFill>
            <a:srgbClr val="9B6B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Arial"/>
                <a:ea typeface="Microsoft YaHei"/>
              </a:rPr>
              <a:t>📚 02</a:t>
            </a:r>
          </a:p>
          <a:p>
            <a:pPr algn="ctr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Arial"/>
                <a:ea typeface="Microsoft YaHei"/>
              </a:rPr>
              <a:t>Vocabulary</a:t>
            </a:r>
          </a:p>
          <a:p>
            <a:pPr algn="ctr">
              <a:spcAft>
                <a:spcPts val="200"/>
              </a:spcAft>
            </a:pPr>
            <a:r>
              <a:rPr sz="1300" b="0">
                <a:solidFill>
                  <a:srgbClr val="FFFFFF"/>
                </a:solidFill>
                <a:latin typeface="Arial"/>
                <a:ea typeface="Microsoft YaHei"/>
              </a:rPr>
              <a:t>词汇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102352" y="4389120"/>
            <a:ext cx="1956816" cy="1143000"/>
          </a:xfrm>
          <a:prstGeom prst="roundRect">
            <a:avLst>
              <a:gd name="adj" fmla="val 20000"/>
            </a:avLst>
          </a:prstGeom>
          <a:solidFill>
            <a:srgbClr val="FF6B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Arial"/>
                <a:ea typeface="Microsoft YaHei"/>
              </a:rPr>
              <a:t>🎭 03</a:t>
            </a:r>
          </a:p>
          <a:p>
            <a:pPr algn="ctr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Arial"/>
                <a:ea typeface="Microsoft YaHei"/>
              </a:rPr>
              <a:t>Role play</a:t>
            </a:r>
          </a:p>
          <a:p>
            <a:pPr algn="ctr">
              <a:spcAft>
                <a:spcPts val="200"/>
              </a:spcAft>
            </a:pPr>
            <a:r>
              <a:rPr sz="1300" b="0">
                <a:solidFill>
                  <a:srgbClr val="FFFFFF"/>
                </a:solidFill>
                <a:latin typeface="Arial"/>
                <a:ea typeface="Microsoft YaHei"/>
              </a:rPr>
              <a:t>角色扮演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242048" y="4389120"/>
            <a:ext cx="1956816" cy="1143000"/>
          </a:xfrm>
          <a:prstGeom prst="roundRect">
            <a:avLst>
              <a:gd name="adj" fmla="val 20000"/>
            </a:avLst>
          </a:prstGeom>
          <a:solidFill>
            <a:srgbClr val="4A90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Arial"/>
                <a:ea typeface="Microsoft YaHei"/>
              </a:rPr>
              <a:t>💬 04</a:t>
            </a:r>
          </a:p>
          <a:p>
            <a:pPr algn="ctr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Arial"/>
                <a:ea typeface="Microsoft YaHei"/>
              </a:rPr>
              <a:t>Discussion</a:t>
            </a:r>
          </a:p>
          <a:p>
            <a:pPr algn="ctr">
              <a:spcAft>
                <a:spcPts val="200"/>
              </a:spcAft>
            </a:pPr>
            <a:r>
              <a:rPr sz="1300" b="0">
                <a:solidFill>
                  <a:srgbClr val="FFFFFF"/>
                </a:solidFill>
                <a:latin typeface="Arial"/>
                <a:ea typeface="Microsoft YaHei"/>
              </a:rPr>
              <a:t>讨论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381744" y="4389120"/>
            <a:ext cx="1956816" cy="1143000"/>
          </a:xfrm>
          <a:prstGeom prst="roundRect">
            <a:avLst>
              <a:gd name="adj" fmla="val 20000"/>
            </a:avLst>
          </a:prstGeom>
          <a:solidFill>
            <a:srgbClr val="3CC4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Arial"/>
                <a:ea typeface="Microsoft YaHei"/>
              </a:rPr>
              <a:t>💡 05</a:t>
            </a:r>
          </a:p>
          <a:p>
            <a:pPr algn="ctr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Arial"/>
                <a:ea typeface="Microsoft YaHei"/>
              </a:rPr>
              <a:t>Language Tips</a:t>
            </a:r>
          </a:p>
          <a:p>
            <a:pPr algn="ctr">
              <a:spcAft>
                <a:spcPts val="200"/>
              </a:spcAft>
            </a:pPr>
            <a:r>
              <a:rPr sz="1300" b="0">
                <a:solidFill>
                  <a:srgbClr val="FFFFFF"/>
                </a:solidFill>
                <a:latin typeface="Arial"/>
                <a:ea typeface="Microsoft YaHei"/>
              </a:rPr>
              <a:t>语言贴士</a:t>
            </a:r>
          </a:p>
        </p:txBody>
      </p:sp>
    </p:spTree>
  </p:cSld>
  <p:clrMapOvr>
    <a:masterClrMapping/>
  </p:clrMapOvr>
  <p:transition spd="med">
    <p:fade/>
  </p:transition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F6B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8442656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3200" b="1">
                <a:solidFill>
                  <a:srgbClr val="1F2A44"/>
                </a:solidFill>
                <a:latin typeface="Arial"/>
                <a:ea typeface="Microsoft YaHei"/>
              </a:rPr>
              <a:t>🔥 Warm up · Ice-breaker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74175" y="438912"/>
            <a:ext cx="2560320" cy="475488"/>
          </a:xfrm>
          <a:prstGeom prst="roundRect">
            <a:avLst>
              <a:gd name="adj" fmla="val 50000"/>
            </a:avLst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3152" rIns="73152"/>
          <a:lstStyle/>
          <a:p>
            <a:pPr algn="ctr">
              <a:spcAft>
                <a:spcPts val="200"/>
              </a:spcAft>
            </a:pPr>
            <a:r>
              <a:rPr sz="1300" b="1">
                <a:solidFill>
                  <a:srgbClr val="FFFFFF"/>
                </a:solidFill>
                <a:latin typeface="Arial"/>
                <a:ea typeface="Microsoft YaHei"/>
              </a:rPr>
              <a:t>01 Warm up 热身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19088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100" b="0">
                <a:solidFill>
                  <a:srgbClr val="5F677A"/>
                </a:solidFill>
                <a:latin typeface="Arial"/>
                <a:ea typeface="Microsoft YaHei"/>
              </a:rPr>
              <a:t>Business English · Level 4 · Unit 3 · Lesson 09 Making visitors feel welcome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28655" y="6419088"/>
            <a:ext cx="914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  <a:spcAft>
                <a:spcPts val="800"/>
              </a:spcAft>
            </a:pPr>
            <a:r>
              <a:rPr sz="1100" b="0">
                <a:solidFill>
                  <a:srgbClr val="5F677A"/>
                </a:solidFill>
                <a:latin typeface="Arial"/>
                <a:ea typeface="Microsoft YaHei"/>
              </a:rPr>
              <a:t>86</a:t>
            </a:r>
          </a:p>
        </p:txBody>
      </p:sp>
      <p:sp>
        <p:nvSpPr>
          <p:cNvPr id="7" name="Rounded Rectangle 6">
            <a:hlinkClick action="ppaction://hlinksldjump" r:id="rId2"/>
          </p:cNvPr>
          <p:cNvSpPr/>
          <p:nvPr/>
        </p:nvSpPr>
        <p:spPr>
          <a:xfrm>
            <a:off x="9677095" y="6382512"/>
            <a:ext cx="960120" cy="329184"/>
          </a:xfrm>
          <a:prstGeom prst="roundRect">
            <a:avLst>
              <a:gd name="adj" fmla="val 50000"/>
            </a:avLst>
          </a:prstGeom>
          <a:solidFill>
            <a:srgbClr val="FFE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Aft>
                <a:spcPts val="200"/>
              </a:spcAft>
            </a:pPr>
            <a:r>
              <a:rPr sz="1100" b="1">
                <a:solidFill>
                  <a:srgbClr val="1F2A44"/>
                </a:solidFill>
                <a:latin typeface="Arial"/>
                <a:ea typeface="Microsoft YaHei"/>
              </a:rPr>
              <a:t>🗺 Map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024128"/>
            <a:ext cx="11094415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500" b="0">
                <a:solidFill>
                  <a:srgbClr val="5F677A"/>
                </a:solidFill>
                <a:latin typeface="Arial"/>
                <a:ea typeface="Microsoft YaHei"/>
              </a:rPr>
              <a:t>Answer in 2–3 sentences. Say it out loud!  用 2–3 句话回答，大声说出来</a:t>
            </a:r>
          </a:p>
        </p:txBody>
      </p:sp>
      <p:sp>
        <p:nvSpPr>
          <p:cNvPr id="9" name="Oval 8"/>
          <p:cNvSpPr/>
          <p:nvPr/>
        </p:nvSpPr>
        <p:spPr>
          <a:xfrm>
            <a:off x="548640" y="1752600"/>
            <a:ext cx="502920" cy="502920"/>
          </a:xfrm>
          <a:prstGeom prst="ellipse">
            <a:avLst/>
          </a:prstGeom>
          <a:solidFill>
            <a:srgbClr val="FF6B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FFFFFF"/>
                </a:solidFill>
                <a:latin typeface="Arial"/>
                <a:ea typeface="Microsoft YaHei"/>
              </a:rPr>
              <a:t>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234440" y="1554480"/>
            <a:ext cx="10408615" cy="89916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325880" y="1554480"/>
            <a:ext cx="10180015" cy="8991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2200" b="0">
                <a:solidFill>
                  <a:srgbClr val="1F2A44"/>
                </a:solidFill>
                <a:latin typeface="Arial"/>
                <a:ea typeface="Microsoft YaHei"/>
              </a:rPr>
              <a:t>Think of a time when a host made you feel really welcome. What did they do?</a:t>
            </a:r>
          </a:p>
        </p:txBody>
      </p:sp>
      <p:sp>
        <p:nvSpPr>
          <p:cNvPr id="12" name="Oval 11"/>
          <p:cNvSpPr/>
          <p:nvPr/>
        </p:nvSpPr>
        <p:spPr>
          <a:xfrm>
            <a:off x="548640" y="2593848"/>
            <a:ext cx="502920" cy="502920"/>
          </a:xfrm>
          <a:prstGeom prst="ellipse">
            <a:avLst/>
          </a:prstGeom>
          <a:solidFill>
            <a:srgbClr val="4A90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FFFFFF"/>
                </a:solidFill>
                <a:latin typeface="Arial"/>
                <a:ea typeface="Microsoft YaHei"/>
              </a:rPr>
              <a:t>2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234440" y="2563368"/>
            <a:ext cx="10408615" cy="56388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25880" y="2563368"/>
            <a:ext cx="10180015" cy="563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2200" b="0">
                <a:solidFill>
                  <a:srgbClr val="1F2A44"/>
                </a:solidFill>
                <a:latin typeface="Arial"/>
                <a:ea typeface="Microsoft YaHei"/>
              </a:rPr>
              <a:t>What can you do before a visitor arrives to make them feel welcome?</a:t>
            </a:r>
          </a:p>
        </p:txBody>
      </p:sp>
      <p:sp>
        <p:nvSpPr>
          <p:cNvPr id="15" name="Oval 14"/>
          <p:cNvSpPr/>
          <p:nvPr/>
        </p:nvSpPr>
        <p:spPr>
          <a:xfrm>
            <a:off x="548640" y="3435096"/>
            <a:ext cx="502920" cy="502920"/>
          </a:xfrm>
          <a:prstGeom prst="ellipse">
            <a:avLst/>
          </a:prstGeom>
          <a:solidFill>
            <a:srgbClr val="3CC4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FFFFFF"/>
                </a:solidFill>
                <a:latin typeface="Arial"/>
                <a:ea typeface="Microsoft YaHei"/>
              </a:rPr>
              <a:t>3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234440" y="3236976"/>
            <a:ext cx="10408615" cy="89916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325880" y="3236976"/>
            <a:ext cx="10180015" cy="8991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2200" b="0">
                <a:solidFill>
                  <a:srgbClr val="1F2A44"/>
                </a:solidFill>
                <a:latin typeface="Arial"/>
                <a:ea typeface="Microsoft YaHei"/>
              </a:rPr>
              <a:t>Do you know your visitor’s food preferences or religious needs? How can you find out politely?</a:t>
            </a:r>
          </a:p>
        </p:txBody>
      </p:sp>
      <p:sp>
        <p:nvSpPr>
          <p:cNvPr id="18" name="Oval 17"/>
          <p:cNvSpPr/>
          <p:nvPr/>
        </p:nvSpPr>
        <p:spPr>
          <a:xfrm>
            <a:off x="548640" y="4276344"/>
            <a:ext cx="502920" cy="502920"/>
          </a:xfrm>
          <a:prstGeom prst="ellipse">
            <a:avLst/>
          </a:prstGeom>
          <a:solidFill>
            <a:srgbClr val="FFC8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FFFFFF"/>
                </a:solidFill>
                <a:latin typeface="Arial"/>
                <a:ea typeface="Microsoft YaHei"/>
              </a:rPr>
              <a:t>4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234440" y="4245864"/>
            <a:ext cx="10408615" cy="56388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325880" y="4245864"/>
            <a:ext cx="10180015" cy="563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2200" b="0">
                <a:solidFill>
                  <a:srgbClr val="1F2A44"/>
                </a:solidFill>
                <a:latin typeface="Arial"/>
                <a:ea typeface="Microsoft YaHei"/>
              </a:rPr>
              <a:t>How do you help a visitor who is tired after a long flight?</a:t>
            </a:r>
          </a:p>
        </p:txBody>
      </p:sp>
      <p:sp>
        <p:nvSpPr>
          <p:cNvPr id="21" name="Oval 20"/>
          <p:cNvSpPr/>
          <p:nvPr/>
        </p:nvSpPr>
        <p:spPr>
          <a:xfrm>
            <a:off x="548640" y="4949952"/>
            <a:ext cx="502920" cy="502920"/>
          </a:xfrm>
          <a:prstGeom prst="ellipse">
            <a:avLst/>
          </a:prstGeom>
          <a:solidFill>
            <a:srgbClr val="9B6B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FFFFFF"/>
                </a:solidFill>
                <a:latin typeface="Arial"/>
                <a:ea typeface="Microsoft YaHei"/>
              </a:rPr>
              <a:t>5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234440" y="4919472"/>
            <a:ext cx="10408615" cy="56388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325880" y="4919472"/>
            <a:ext cx="10180015" cy="563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2200" b="0">
                <a:solidFill>
                  <a:srgbClr val="1F2A44"/>
                </a:solidFill>
                <a:latin typeface="Arial"/>
                <a:ea typeface="Microsoft YaHei"/>
              </a:rPr>
              <a:t>Which is better for a visitor: a full schedule, or some free time? Why?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548640" y="5760720"/>
            <a:ext cx="11094415" cy="502920"/>
          </a:xfrm>
          <a:prstGeom prst="roundRect">
            <a:avLst>
              <a:gd name="adj" fmla="val 30000"/>
            </a:avLst>
          </a:prstGeom>
          <a:solidFill>
            <a:srgbClr val="FFE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l">
              <a:spcAft>
                <a:spcPts val="200"/>
              </a:spcAft>
            </a:pPr>
            <a:r>
              <a:rPr sz="1500" b="1">
                <a:solidFill>
                  <a:srgbClr val="1F2A44"/>
                </a:solidFill>
                <a:latin typeface="Arial"/>
                <a:ea typeface="Microsoft YaHei"/>
              </a:rPr>
              <a:t>💡 第 1 题讲过去的事,请用过去式(made, gave, picked up)。第 3 题可以用 “I would ask…”。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FC8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8442656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3200" b="1">
                <a:solidFill>
                  <a:srgbClr val="1F2A44"/>
                </a:solidFill>
                <a:latin typeface="Arial"/>
                <a:ea typeface="Microsoft YaHei"/>
              </a:rPr>
              <a:t>⏱ 1-Minute Challenge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74175" y="438912"/>
            <a:ext cx="2560320" cy="475488"/>
          </a:xfrm>
          <a:prstGeom prst="roundRect">
            <a:avLst>
              <a:gd name="adj" fmla="val 50000"/>
            </a:avLst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3152" rIns="73152"/>
          <a:lstStyle/>
          <a:p>
            <a:pPr algn="ctr">
              <a:spcAft>
                <a:spcPts val="200"/>
              </a:spcAft>
            </a:pPr>
            <a:r>
              <a:rPr sz="1300" b="1">
                <a:solidFill>
                  <a:srgbClr val="FFFFFF"/>
                </a:solidFill>
                <a:latin typeface="Arial"/>
                <a:ea typeface="Microsoft YaHei"/>
              </a:rPr>
              <a:t>01 Warm up 热身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19088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100" b="0">
                <a:solidFill>
                  <a:srgbClr val="5F677A"/>
                </a:solidFill>
                <a:latin typeface="Arial"/>
                <a:ea typeface="Microsoft YaHei"/>
              </a:rPr>
              <a:t>Business English · Level 4 · Unit 3 · Lesson 09 Making visitors feel welcome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28655" y="6419088"/>
            <a:ext cx="914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  <a:spcAft>
                <a:spcPts val="800"/>
              </a:spcAft>
            </a:pPr>
            <a:r>
              <a:rPr sz="1100" b="0">
                <a:solidFill>
                  <a:srgbClr val="5F677A"/>
                </a:solidFill>
                <a:latin typeface="Arial"/>
                <a:ea typeface="Microsoft YaHei"/>
              </a:rPr>
              <a:t>87</a:t>
            </a:r>
          </a:p>
        </p:txBody>
      </p:sp>
      <p:sp>
        <p:nvSpPr>
          <p:cNvPr id="7" name="Rounded Rectangle 6">
            <a:hlinkClick action="ppaction://hlinksldjump" r:id="rId2"/>
          </p:cNvPr>
          <p:cNvSpPr/>
          <p:nvPr/>
        </p:nvSpPr>
        <p:spPr>
          <a:xfrm>
            <a:off x="9677095" y="6382512"/>
            <a:ext cx="960120" cy="329184"/>
          </a:xfrm>
          <a:prstGeom prst="roundRect">
            <a:avLst>
              <a:gd name="adj" fmla="val 50000"/>
            </a:avLst>
          </a:prstGeom>
          <a:solidFill>
            <a:srgbClr val="FFE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Aft>
                <a:spcPts val="200"/>
              </a:spcAft>
            </a:pPr>
            <a:r>
              <a:rPr sz="1100" b="1">
                <a:solidFill>
                  <a:srgbClr val="1F2A44"/>
                </a:solidFill>
                <a:latin typeface="Arial"/>
                <a:ea typeface="Microsoft YaHei"/>
              </a:rPr>
              <a:t>🗺 Map</a:t>
            </a:r>
          </a:p>
        </p:txBody>
      </p:sp>
      <p:sp>
        <p:nvSpPr>
          <p:cNvPr id="8" name="Oval 7"/>
          <p:cNvSpPr/>
          <p:nvPr/>
        </p:nvSpPr>
        <p:spPr>
          <a:xfrm>
            <a:off x="9814255" y="1463040"/>
            <a:ext cx="1737360" cy="1737360"/>
          </a:xfrm>
          <a:prstGeom prst="ellipse">
            <a:avLst/>
          </a:prstGeom>
          <a:solidFill>
            <a:srgbClr val="FF6B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Aft>
                <a:spcPts val="200"/>
              </a:spcAft>
            </a:pPr>
            <a:r>
              <a:rPr sz="4000" b="1">
                <a:solidFill>
                  <a:srgbClr val="FFFFFF"/>
                </a:solidFill>
                <a:latin typeface="Arial"/>
                <a:ea typeface="Microsoft YaHei"/>
              </a:rPr>
              <a:t>⏱</a:t>
            </a:r>
          </a:p>
          <a:p>
            <a:pPr algn="ctr">
              <a:spcAft>
                <a:spcPts val="200"/>
              </a:spcAft>
            </a:pPr>
            <a:r>
              <a:rPr sz="2600" b="1">
                <a:solidFill>
                  <a:srgbClr val="FFFFFF"/>
                </a:solidFill>
                <a:latin typeface="Arial"/>
                <a:ea typeface="Microsoft YaHei"/>
              </a:rPr>
              <a:t>60s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417320"/>
            <a:ext cx="877824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400" b="0">
                <a:solidFill>
                  <a:srgbClr val="5F677A"/>
                </a:solidFill>
                <a:latin typeface="Arial"/>
                <a:ea typeface="Microsoft YaHei"/>
              </a:rPr>
              <a:t>TOPIC</a:t>
            </a:r>
          </a:p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3000" b="1">
                <a:solidFill>
                  <a:srgbClr val="1F2A44"/>
                </a:solidFill>
                <a:latin typeface="Arial"/>
                <a:ea typeface="Microsoft YaHei"/>
              </a:rPr>
              <a:t>Describe how you would welcome an important client from overseas.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3017520"/>
            <a:ext cx="2411730" cy="868680"/>
          </a:xfrm>
          <a:prstGeom prst="roundRect">
            <a:avLst>
              <a:gd name="adj" fmla="val 20000"/>
            </a:avLst>
          </a:prstGeom>
          <a:solidFill>
            <a:srgbClr val="FF6B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Arial"/>
                <a:ea typeface="Microsoft YaHei"/>
              </a:rPr>
              <a:t>1. before arrival (hotel, transport)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097530" y="3017520"/>
            <a:ext cx="2411730" cy="868680"/>
          </a:xfrm>
          <a:prstGeom prst="roundRect">
            <a:avLst>
              <a:gd name="adj" fmla="val 20000"/>
            </a:avLst>
          </a:prstGeom>
          <a:solidFill>
            <a:srgbClr val="4A90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Arial"/>
                <a:ea typeface="Microsoft YaHei"/>
              </a:rPr>
              <a:t>2. at the airport or reception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46420" y="3017520"/>
            <a:ext cx="2411730" cy="868680"/>
          </a:xfrm>
          <a:prstGeom prst="roundRect">
            <a:avLst>
              <a:gd name="adj" fmla="val 20000"/>
            </a:avLst>
          </a:prstGeom>
          <a:solidFill>
            <a:srgbClr val="3CC4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Arial"/>
                <a:ea typeface="Microsoft YaHei"/>
              </a:rPr>
              <a:t>3. during the visit (food, comfort)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95310" y="3017520"/>
            <a:ext cx="2411730" cy="868680"/>
          </a:xfrm>
          <a:prstGeom prst="roundRect">
            <a:avLst>
              <a:gd name="adj" fmla="val 20000"/>
            </a:avLst>
          </a:prstGeom>
          <a:solidFill>
            <a:srgbClr val="FFC8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Arial"/>
                <a:ea typeface="Microsoft YaHei"/>
              </a:rPr>
              <a:t>4. at the end (a small gift or a farewell)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4069080"/>
            <a:ext cx="11094415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400" b="0">
                <a:solidFill>
                  <a:srgbClr val="5F677A"/>
                </a:solidFill>
                <a:latin typeface="Arial"/>
                <a:ea typeface="Microsoft YaHei"/>
              </a:rPr>
              <a:t>Useful starters 开头句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4389120"/>
            <a:ext cx="11094415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2000" b="1">
                <a:solidFill>
                  <a:srgbClr val="1F2A44"/>
                </a:solidFill>
                <a:latin typeface="Arial"/>
                <a:ea typeface="Microsoft YaHei"/>
              </a:rPr>
              <a:t>💬 Before the visit, I would arrange…   💬 When they arrive, I would…   💬 I would also check whether…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5760720"/>
            <a:ext cx="11094415" cy="502920"/>
          </a:xfrm>
          <a:prstGeom prst="roundRect">
            <a:avLst>
              <a:gd name="adj" fmla="val 30000"/>
            </a:avLst>
          </a:prstGeom>
          <a:solidFill>
            <a:srgbClr val="FFE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l">
              <a:spcAft>
                <a:spcPts val="200"/>
              </a:spcAft>
            </a:pPr>
            <a:r>
              <a:rPr sz="1500" b="1">
                <a:solidFill>
                  <a:srgbClr val="1F2A44"/>
                </a:solidFill>
                <a:latin typeface="Arial"/>
                <a:ea typeface="Microsoft YaHei"/>
              </a:rPr>
              <a:t>💡 would + 动词原形:I would book / I would ask。表达“为他们准备好”:I’d arrange for a car to pick them up。</a:t>
            </a:r>
          </a:p>
        </p:txBody>
      </p:sp>
    </p:spTree>
  </p:cSld>
  <p:clrMapOvr>
    <a:masterClrMapping/>
  </p:clrMapOvr>
  <p:transition spd="med">
    <p:fade/>
  </p:transition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4A90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8442656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3200" b="1">
                <a:solidFill>
                  <a:srgbClr val="1F2A44"/>
                </a:solidFill>
                <a:latin typeface="Arial"/>
                <a:ea typeface="Microsoft YaHei"/>
              </a:rPr>
              <a:t>📚 Chunk 1: Planning ahead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74175" y="438912"/>
            <a:ext cx="2560320" cy="475488"/>
          </a:xfrm>
          <a:prstGeom prst="roundRect">
            <a:avLst>
              <a:gd name="adj" fmla="val 50000"/>
            </a:avLst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3152" rIns="73152"/>
          <a:lstStyle/>
          <a:p>
            <a:pPr algn="ctr">
              <a:spcAft>
                <a:spcPts val="200"/>
              </a:spcAft>
            </a:pPr>
            <a:r>
              <a:rPr sz="1300" b="1">
                <a:solidFill>
                  <a:srgbClr val="FFFFFF"/>
                </a:solidFill>
                <a:latin typeface="Arial"/>
                <a:ea typeface="Microsoft YaHei"/>
              </a:rPr>
              <a:t>02 Vocabulary 词汇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19088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100" b="0">
                <a:solidFill>
                  <a:srgbClr val="5F677A"/>
                </a:solidFill>
                <a:latin typeface="Arial"/>
                <a:ea typeface="Microsoft YaHei"/>
              </a:rPr>
              <a:t>Business English · Level 4 · Unit 3 · Lesson 09 Making visitors feel welcome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28655" y="6419088"/>
            <a:ext cx="914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  <a:spcAft>
                <a:spcPts val="800"/>
              </a:spcAft>
            </a:pPr>
            <a:r>
              <a:rPr sz="1100" b="0">
                <a:solidFill>
                  <a:srgbClr val="5F677A"/>
                </a:solidFill>
                <a:latin typeface="Arial"/>
                <a:ea typeface="Microsoft YaHei"/>
              </a:rPr>
              <a:t>88</a:t>
            </a:r>
          </a:p>
        </p:txBody>
      </p:sp>
      <p:sp>
        <p:nvSpPr>
          <p:cNvPr id="7" name="Rounded Rectangle 6">
            <a:hlinkClick action="ppaction://hlinksldjump" r:id="rId2"/>
          </p:cNvPr>
          <p:cNvSpPr/>
          <p:nvPr/>
        </p:nvSpPr>
        <p:spPr>
          <a:xfrm>
            <a:off x="9677095" y="6382512"/>
            <a:ext cx="960120" cy="329184"/>
          </a:xfrm>
          <a:prstGeom prst="roundRect">
            <a:avLst>
              <a:gd name="adj" fmla="val 50000"/>
            </a:avLst>
          </a:prstGeom>
          <a:solidFill>
            <a:srgbClr val="FFE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Aft>
                <a:spcPts val="200"/>
              </a:spcAft>
            </a:pPr>
            <a:r>
              <a:rPr sz="1100" b="1">
                <a:solidFill>
                  <a:srgbClr val="1F2A44"/>
                </a:solidFill>
                <a:latin typeface="Arial"/>
                <a:ea typeface="Microsoft YaHei"/>
              </a:rPr>
              <a:t>🗺 Map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960120"/>
            <a:ext cx="11094415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500" b="0">
                <a:solidFill>
                  <a:srgbClr val="5F677A"/>
                </a:solidFill>
                <a:latin typeface="Arial"/>
                <a:ea typeface="Microsoft YaHei"/>
              </a:rPr>
              <a:t>提前安排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417320"/>
            <a:ext cx="11094415" cy="93522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1417320"/>
            <a:ext cx="91440" cy="935228"/>
          </a:xfrm>
          <a:prstGeom prst="rect">
            <a:avLst/>
          </a:prstGeom>
          <a:solidFill>
            <a:srgbClr val="FF6B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1463040"/>
            <a:ext cx="3429000" cy="8712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2000" b="1">
                <a:solidFill>
                  <a:srgbClr val="1F2A44"/>
                </a:solidFill>
                <a:latin typeface="Arial"/>
                <a:ea typeface="Microsoft YaHei"/>
              </a:rPr>
              <a:t>I’ve arranged for a car to pick you up.</a:t>
            </a:r>
          </a:p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300" b="0">
                <a:solidFill>
                  <a:srgbClr val="5F677A"/>
                </a:solidFill>
                <a:latin typeface="Arial"/>
                <a:ea typeface="Microsoft YaHei"/>
              </a:rPr>
              <a:t>phrase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06240" y="1463040"/>
            <a:ext cx="2377440" cy="8712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700" b="1">
                <a:solidFill>
                  <a:srgbClr val="FF6B5B"/>
                </a:solidFill>
                <a:latin typeface="Arial"/>
                <a:ea typeface="Microsoft YaHei"/>
              </a:rPr>
              <a:t>我已经安排了车去接您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75120" y="1463040"/>
            <a:ext cx="4846320" cy="8712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700" b="0" i="1">
                <a:solidFill>
                  <a:srgbClr val="1F2A44"/>
                </a:solidFill>
                <a:latin typeface="Arial"/>
                <a:ea typeface="Microsoft YaHei"/>
              </a:rPr>
              <a:t>“I’ve arranged for a car to pick you up at the airport.”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2425700"/>
            <a:ext cx="11094415" cy="93522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48640" y="2425700"/>
            <a:ext cx="91440" cy="935228"/>
          </a:xfrm>
          <a:prstGeom prst="rect">
            <a:avLst/>
          </a:prstGeom>
          <a:solidFill>
            <a:srgbClr val="4A90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2471420"/>
            <a:ext cx="3429000" cy="8712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2000" b="1">
                <a:solidFill>
                  <a:srgbClr val="1F2A44"/>
                </a:solidFill>
                <a:latin typeface="Arial"/>
                <a:ea typeface="Microsoft YaHei"/>
              </a:rPr>
              <a:t>I’ve booked a hotel for you.</a:t>
            </a:r>
          </a:p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300" b="0">
                <a:solidFill>
                  <a:srgbClr val="5F677A"/>
                </a:solidFill>
                <a:latin typeface="Arial"/>
                <a:ea typeface="Microsoft YaHei"/>
              </a:rPr>
              <a:t>phrase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06240" y="2471420"/>
            <a:ext cx="2377440" cy="8712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700" b="1">
                <a:solidFill>
                  <a:srgbClr val="FF6B5B"/>
                </a:solidFill>
                <a:latin typeface="Arial"/>
                <a:ea typeface="Microsoft YaHei"/>
              </a:rPr>
              <a:t>我已经为您订了酒店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75120" y="2471420"/>
            <a:ext cx="4846320" cy="8712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700" b="0" i="1">
                <a:solidFill>
                  <a:srgbClr val="1F2A44"/>
                </a:solidFill>
                <a:latin typeface="Arial"/>
                <a:ea typeface="Microsoft YaHei"/>
              </a:rPr>
              <a:t>“I’ve booked a hotel near the office for you.”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3434080"/>
            <a:ext cx="11094415" cy="93522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48640" y="3434080"/>
            <a:ext cx="91440" cy="935228"/>
          </a:xfrm>
          <a:prstGeom prst="rect">
            <a:avLst/>
          </a:prstGeom>
          <a:solidFill>
            <a:srgbClr val="3CC4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1520" y="3479800"/>
            <a:ext cx="3429000" cy="8712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2000" b="1">
                <a:solidFill>
                  <a:srgbClr val="1F2A44"/>
                </a:solidFill>
                <a:latin typeface="Arial"/>
                <a:ea typeface="Microsoft YaHei"/>
              </a:rPr>
              <a:t>Do you have any dietary requirements?</a:t>
            </a:r>
          </a:p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300" b="0">
                <a:solidFill>
                  <a:srgbClr val="5F677A"/>
                </a:solidFill>
                <a:latin typeface="Arial"/>
                <a:ea typeface="Microsoft YaHei"/>
              </a:rPr>
              <a:t>phrase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206240" y="3479800"/>
            <a:ext cx="2377440" cy="8712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700" b="1">
                <a:solidFill>
                  <a:srgbClr val="FF6B5B"/>
                </a:solidFill>
                <a:latin typeface="Arial"/>
                <a:ea typeface="Microsoft YaHei"/>
              </a:rPr>
              <a:t>您有什么饮食方面的要求吗?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75120" y="3479800"/>
            <a:ext cx="4846320" cy="8712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700" b="0" i="1">
                <a:solidFill>
                  <a:srgbClr val="1F2A44"/>
                </a:solidFill>
                <a:latin typeface="Arial"/>
                <a:ea typeface="Microsoft YaHei"/>
              </a:rPr>
              <a:t>“Do you have any dietary requirements? Are you vegetarian?”</a:t>
            </a:r>
          </a:p>
        </p:txBody>
      </p:sp>
    </p:spTree>
  </p:cSld>
  <p:clrMapOvr>
    <a:masterClrMapping/>
  </p:clrMapOvr>
  <p:transition spd="med">
    <p:fade/>
  </p:transition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4A90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8442656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3200" b="1">
                <a:solidFill>
                  <a:srgbClr val="1F2A44"/>
                </a:solidFill>
                <a:latin typeface="Arial"/>
                <a:ea typeface="Microsoft YaHei"/>
              </a:rPr>
              <a:t>📚 Chunk 1: Planning ahead (cont.)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74175" y="438912"/>
            <a:ext cx="2560320" cy="475488"/>
          </a:xfrm>
          <a:prstGeom prst="roundRect">
            <a:avLst>
              <a:gd name="adj" fmla="val 50000"/>
            </a:avLst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3152" rIns="73152"/>
          <a:lstStyle/>
          <a:p>
            <a:pPr algn="ctr">
              <a:spcAft>
                <a:spcPts val="200"/>
              </a:spcAft>
            </a:pPr>
            <a:r>
              <a:rPr sz="1300" b="1">
                <a:solidFill>
                  <a:srgbClr val="FFFFFF"/>
                </a:solidFill>
                <a:latin typeface="Arial"/>
                <a:ea typeface="Microsoft YaHei"/>
              </a:rPr>
              <a:t>02 Vocabulary 词汇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19088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100" b="0">
                <a:solidFill>
                  <a:srgbClr val="5F677A"/>
                </a:solidFill>
                <a:latin typeface="Arial"/>
                <a:ea typeface="Microsoft YaHei"/>
              </a:rPr>
              <a:t>Business English · Level 4 · Unit 3 · Lesson 09 Making visitors feel welcome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28655" y="6419088"/>
            <a:ext cx="914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  <a:spcAft>
                <a:spcPts val="800"/>
              </a:spcAft>
            </a:pPr>
            <a:r>
              <a:rPr sz="1100" b="0">
                <a:solidFill>
                  <a:srgbClr val="5F677A"/>
                </a:solidFill>
                <a:latin typeface="Arial"/>
                <a:ea typeface="Microsoft YaHei"/>
              </a:rPr>
              <a:t>89</a:t>
            </a:r>
          </a:p>
        </p:txBody>
      </p:sp>
      <p:sp>
        <p:nvSpPr>
          <p:cNvPr id="7" name="Rounded Rectangle 6">
            <a:hlinkClick action="ppaction://hlinksldjump" r:id="rId2"/>
          </p:cNvPr>
          <p:cNvSpPr/>
          <p:nvPr/>
        </p:nvSpPr>
        <p:spPr>
          <a:xfrm>
            <a:off x="9677095" y="6382512"/>
            <a:ext cx="960120" cy="329184"/>
          </a:xfrm>
          <a:prstGeom prst="roundRect">
            <a:avLst>
              <a:gd name="adj" fmla="val 50000"/>
            </a:avLst>
          </a:prstGeom>
          <a:solidFill>
            <a:srgbClr val="FFE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Aft>
                <a:spcPts val="200"/>
              </a:spcAft>
            </a:pPr>
            <a:r>
              <a:rPr sz="1100" b="1">
                <a:solidFill>
                  <a:srgbClr val="1F2A44"/>
                </a:solidFill>
                <a:latin typeface="Arial"/>
                <a:ea typeface="Microsoft YaHei"/>
              </a:rPr>
              <a:t>🗺 Map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960120"/>
            <a:ext cx="11094415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500" b="0">
                <a:solidFill>
                  <a:srgbClr val="5F677A"/>
                </a:solidFill>
                <a:latin typeface="Arial"/>
                <a:ea typeface="Microsoft YaHei"/>
              </a:rPr>
              <a:t>提前安排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417320"/>
            <a:ext cx="11094415" cy="93522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1417320"/>
            <a:ext cx="91440" cy="935228"/>
          </a:xfrm>
          <a:prstGeom prst="rect">
            <a:avLst/>
          </a:prstGeom>
          <a:solidFill>
            <a:srgbClr val="9B6B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1463040"/>
            <a:ext cx="3429000" cy="8712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2000" b="1">
                <a:solidFill>
                  <a:srgbClr val="9B6BE0"/>
                </a:solidFill>
                <a:latin typeface="Arial"/>
                <a:ea typeface="Microsoft YaHei"/>
              </a:rPr>
              <a:t>★ We want to go the extra mile.</a:t>
            </a:r>
          </a:p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300" b="0">
                <a:solidFill>
                  <a:srgbClr val="5F677A"/>
                </a:solidFill>
                <a:latin typeface="Arial"/>
                <a:ea typeface="Microsoft YaHei"/>
              </a:rPr>
              <a:t>idiom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06240" y="1463040"/>
            <a:ext cx="2377440" cy="8712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700" b="1">
                <a:solidFill>
                  <a:srgbClr val="FF6B5B"/>
                </a:solidFill>
                <a:latin typeface="Arial"/>
                <a:ea typeface="Microsoft YaHei"/>
              </a:rPr>
              <a:t>我们想格外用心/多做一点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75120" y="1463040"/>
            <a:ext cx="4846320" cy="8712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700" b="0" i="1">
                <a:solidFill>
                  <a:srgbClr val="1F2A44"/>
                </a:solidFill>
                <a:latin typeface="Arial"/>
                <a:ea typeface="Microsoft YaHei"/>
              </a:rPr>
              <a:t>“For our top clients, we always go the extra mile.”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2425700"/>
            <a:ext cx="11094415" cy="93522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48640" y="2425700"/>
            <a:ext cx="91440" cy="935228"/>
          </a:xfrm>
          <a:prstGeom prst="rect">
            <a:avLst/>
          </a:prstGeom>
          <a:solidFill>
            <a:srgbClr val="9B6B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2471420"/>
            <a:ext cx="3429000" cy="8712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2000" b="1">
                <a:solidFill>
                  <a:srgbClr val="9B6BE0"/>
                </a:solidFill>
                <a:latin typeface="Arial"/>
                <a:ea typeface="Microsoft YaHei"/>
              </a:rPr>
              <a:t>★ We’ll roll out the red carpet.</a:t>
            </a:r>
          </a:p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300" b="0">
                <a:solidFill>
                  <a:srgbClr val="5F677A"/>
                </a:solidFill>
                <a:latin typeface="Arial"/>
                <a:ea typeface="Microsoft YaHei"/>
              </a:rPr>
              <a:t>idiom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06240" y="2471420"/>
            <a:ext cx="2377440" cy="8712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700" b="1">
                <a:solidFill>
                  <a:srgbClr val="FF6B5B"/>
                </a:solidFill>
                <a:latin typeface="Arial"/>
                <a:ea typeface="Microsoft YaHei"/>
              </a:rPr>
              <a:t>我们会隆重接待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75120" y="2471420"/>
            <a:ext cx="4846320" cy="8712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700" b="0" i="1">
                <a:solidFill>
                  <a:srgbClr val="1F2A44"/>
                </a:solidFill>
                <a:latin typeface="Arial"/>
                <a:ea typeface="Microsoft YaHei"/>
              </a:rPr>
              <a:t>“We’ll roll out the red carpet for the delegation.”</a:t>
            </a:r>
          </a:p>
        </p:txBody>
      </p:sp>
    </p:spTree>
  </p:cSld>
  <p:clrMapOvr>
    <a:masterClrMapping/>
  </p:clrMapOvr>
  <p:transition spd="med">
    <p:fade/>
  </p:transition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4A90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8442656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3200" b="1">
                <a:solidFill>
                  <a:srgbClr val="1F2A44"/>
                </a:solidFill>
                <a:latin typeface="Arial"/>
                <a:ea typeface="Microsoft YaHei"/>
              </a:rPr>
              <a:t>📚 Chunk 2: Checking comfort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74175" y="438912"/>
            <a:ext cx="2560320" cy="475488"/>
          </a:xfrm>
          <a:prstGeom prst="roundRect">
            <a:avLst>
              <a:gd name="adj" fmla="val 50000"/>
            </a:avLst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3152" rIns="73152"/>
          <a:lstStyle/>
          <a:p>
            <a:pPr algn="ctr">
              <a:spcAft>
                <a:spcPts val="200"/>
              </a:spcAft>
            </a:pPr>
            <a:r>
              <a:rPr sz="1300" b="1">
                <a:solidFill>
                  <a:srgbClr val="FFFFFF"/>
                </a:solidFill>
                <a:latin typeface="Arial"/>
                <a:ea typeface="Microsoft YaHei"/>
              </a:rPr>
              <a:t>02 Vocabulary 词汇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19088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100" b="0">
                <a:solidFill>
                  <a:srgbClr val="5F677A"/>
                </a:solidFill>
                <a:latin typeface="Arial"/>
                <a:ea typeface="Microsoft YaHei"/>
              </a:rPr>
              <a:t>Business English · Level 4 · Unit 3 · Lesson 09 Making visitors feel welcome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28655" y="6419088"/>
            <a:ext cx="914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  <a:spcAft>
                <a:spcPts val="800"/>
              </a:spcAft>
            </a:pPr>
            <a:r>
              <a:rPr sz="1100" b="0">
                <a:solidFill>
                  <a:srgbClr val="5F677A"/>
                </a:solidFill>
                <a:latin typeface="Arial"/>
                <a:ea typeface="Microsoft YaHei"/>
              </a:rPr>
              <a:t>90</a:t>
            </a:r>
          </a:p>
        </p:txBody>
      </p:sp>
      <p:sp>
        <p:nvSpPr>
          <p:cNvPr id="7" name="Rounded Rectangle 6">
            <a:hlinkClick action="ppaction://hlinksldjump" r:id="rId2"/>
          </p:cNvPr>
          <p:cNvSpPr/>
          <p:nvPr/>
        </p:nvSpPr>
        <p:spPr>
          <a:xfrm>
            <a:off x="9677095" y="6382512"/>
            <a:ext cx="960120" cy="329184"/>
          </a:xfrm>
          <a:prstGeom prst="roundRect">
            <a:avLst>
              <a:gd name="adj" fmla="val 50000"/>
            </a:avLst>
          </a:prstGeom>
          <a:solidFill>
            <a:srgbClr val="FFE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Aft>
                <a:spcPts val="200"/>
              </a:spcAft>
            </a:pPr>
            <a:r>
              <a:rPr sz="1100" b="1">
                <a:solidFill>
                  <a:srgbClr val="1F2A44"/>
                </a:solidFill>
                <a:latin typeface="Arial"/>
                <a:ea typeface="Microsoft YaHei"/>
              </a:rPr>
              <a:t>🗺 Map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960120"/>
            <a:ext cx="11094415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500" b="0">
                <a:solidFill>
                  <a:srgbClr val="5F677A"/>
                </a:solidFill>
                <a:latin typeface="Arial"/>
                <a:ea typeface="Microsoft YaHei"/>
              </a:rPr>
              <a:t>关心访客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417320"/>
            <a:ext cx="11094415" cy="93522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1417320"/>
            <a:ext cx="91440" cy="935228"/>
          </a:xfrm>
          <a:prstGeom prst="rect">
            <a:avLst/>
          </a:prstGeom>
          <a:solidFill>
            <a:srgbClr val="FF6B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1463040"/>
            <a:ext cx="3429000" cy="8712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2000" b="1">
                <a:solidFill>
                  <a:srgbClr val="1F2A44"/>
                </a:solidFill>
                <a:latin typeface="Arial"/>
                <a:ea typeface="Microsoft YaHei"/>
              </a:rPr>
              <a:t>I hope you had a pleasant journey.</a:t>
            </a:r>
          </a:p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300" b="0">
                <a:solidFill>
                  <a:srgbClr val="5F677A"/>
                </a:solidFill>
                <a:latin typeface="Arial"/>
                <a:ea typeface="Microsoft YaHei"/>
              </a:rPr>
              <a:t>phrase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06240" y="1463040"/>
            <a:ext cx="2377440" cy="8712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700" b="1">
                <a:solidFill>
                  <a:srgbClr val="FF6B5B"/>
                </a:solidFill>
                <a:latin typeface="Arial"/>
                <a:ea typeface="Microsoft YaHei"/>
              </a:rPr>
              <a:t>希望您旅途愉快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75120" y="1463040"/>
            <a:ext cx="4846320" cy="8712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700" b="0" i="1">
                <a:solidFill>
                  <a:srgbClr val="1F2A44"/>
                </a:solidFill>
                <a:latin typeface="Arial"/>
                <a:ea typeface="Microsoft YaHei"/>
              </a:rPr>
              <a:t>“I hope you had a pleasant journey.”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2425700"/>
            <a:ext cx="11094415" cy="93522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48640" y="2425700"/>
            <a:ext cx="91440" cy="935228"/>
          </a:xfrm>
          <a:prstGeom prst="rect">
            <a:avLst/>
          </a:prstGeom>
          <a:solidFill>
            <a:srgbClr val="4A90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2471420"/>
            <a:ext cx="3429000" cy="8712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2000" b="1">
                <a:solidFill>
                  <a:srgbClr val="1F2A44"/>
                </a:solidFill>
                <a:latin typeface="Arial"/>
                <a:ea typeface="Microsoft YaHei"/>
              </a:rPr>
              <a:t>Is everything all right with your hotel?</a:t>
            </a:r>
          </a:p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300" b="0">
                <a:solidFill>
                  <a:srgbClr val="5F677A"/>
                </a:solidFill>
                <a:latin typeface="Arial"/>
                <a:ea typeface="Microsoft YaHei"/>
              </a:rPr>
              <a:t>phrase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06240" y="2471420"/>
            <a:ext cx="2377440" cy="8712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700" b="1">
                <a:solidFill>
                  <a:srgbClr val="FF6B5B"/>
                </a:solidFill>
                <a:latin typeface="Arial"/>
                <a:ea typeface="Microsoft YaHei"/>
              </a:rPr>
              <a:t>您的酒店一切还好吗?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75120" y="2471420"/>
            <a:ext cx="4846320" cy="8712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700" b="0" i="1">
                <a:solidFill>
                  <a:srgbClr val="1F2A44"/>
                </a:solidFill>
                <a:latin typeface="Arial"/>
                <a:ea typeface="Microsoft YaHei"/>
              </a:rPr>
              <a:t>“Is everything all right with your hotel room?”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3434080"/>
            <a:ext cx="11094415" cy="93522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48640" y="3434080"/>
            <a:ext cx="91440" cy="935228"/>
          </a:xfrm>
          <a:prstGeom prst="rect">
            <a:avLst/>
          </a:prstGeom>
          <a:solidFill>
            <a:srgbClr val="9B6B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1520" y="3479800"/>
            <a:ext cx="3429000" cy="8712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2000" b="1">
                <a:solidFill>
                  <a:srgbClr val="9B6BE0"/>
                </a:solidFill>
                <a:latin typeface="Arial"/>
                <a:ea typeface="Microsoft YaHei"/>
              </a:rPr>
              <a:t>★ You must be exhausted.</a:t>
            </a:r>
          </a:p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300" b="0">
                <a:solidFill>
                  <a:srgbClr val="5F677A"/>
                </a:solidFill>
                <a:latin typeface="Arial"/>
                <a:ea typeface="Microsoft YaHei"/>
              </a:rPr>
              <a:t>phrase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206240" y="3479800"/>
            <a:ext cx="2377440" cy="8712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700" b="1">
                <a:solidFill>
                  <a:srgbClr val="FF6B5B"/>
                </a:solidFill>
                <a:latin typeface="Arial"/>
                <a:ea typeface="Microsoft YaHei"/>
              </a:rPr>
              <a:t>您一定累坏了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75120" y="3479800"/>
            <a:ext cx="4846320" cy="8712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700" b="0" i="1">
                <a:solidFill>
                  <a:srgbClr val="1F2A44"/>
                </a:solidFill>
                <a:latin typeface="Arial"/>
                <a:ea typeface="Microsoft YaHei"/>
              </a:rPr>
              <a:t>“You must be exhausted after such a long flight.”</a:t>
            </a:r>
          </a:p>
        </p:txBody>
      </p:sp>
    </p:spTree>
  </p:cSld>
  <p:clrMapOvr>
    <a:masterClrMapping/>
  </p:clrMapOvr>
  <p:transition spd="med">
    <p:fade/>
  </p:transition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4A90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8442656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3200" b="1">
                <a:solidFill>
                  <a:srgbClr val="1F2A44"/>
                </a:solidFill>
                <a:latin typeface="Arial"/>
                <a:ea typeface="Microsoft YaHei"/>
              </a:rPr>
              <a:t>📚 Chunk 2: Checking comfort (cont.)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74175" y="438912"/>
            <a:ext cx="2560320" cy="475488"/>
          </a:xfrm>
          <a:prstGeom prst="roundRect">
            <a:avLst>
              <a:gd name="adj" fmla="val 50000"/>
            </a:avLst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3152" rIns="73152"/>
          <a:lstStyle/>
          <a:p>
            <a:pPr algn="ctr">
              <a:spcAft>
                <a:spcPts val="200"/>
              </a:spcAft>
            </a:pPr>
            <a:r>
              <a:rPr sz="1300" b="1">
                <a:solidFill>
                  <a:srgbClr val="FFFFFF"/>
                </a:solidFill>
                <a:latin typeface="Arial"/>
                <a:ea typeface="Microsoft YaHei"/>
              </a:rPr>
              <a:t>02 Vocabulary 词汇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19088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100" b="0">
                <a:solidFill>
                  <a:srgbClr val="5F677A"/>
                </a:solidFill>
                <a:latin typeface="Arial"/>
                <a:ea typeface="Microsoft YaHei"/>
              </a:rPr>
              <a:t>Business English · Level 4 · Unit 3 · Lesson 09 Making visitors feel welcome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28655" y="6419088"/>
            <a:ext cx="914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  <a:spcAft>
                <a:spcPts val="800"/>
              </a:spcAft>
            </a:pPr>
            <a:r>
              <a:rPr sz="1100" b="0">
                <a:solidFill>
                  <a:srgbClr val="5F677A"/>
                </a:solidFill>
                <a:latin typeface="Arial"/>
                <a:ea typeface="Microsoft YaHei"/>
              </a:rPr>
              <a:t>91</a:t>
            </a:r>
          </a:p>
        </p:txBody>
      </p:sp>
      <p:sp>
        <p:nvSpPr>
          <p:cNvPr id="7" name="Rounded Rectangle 6">
            <a:hlinkClick action="ppaction://hlinksldjump" r:id="rId2"/>
          </p:cNvPr>
          <p:cNvSpPr/>
          <p:nvPr/>
        </p:nvSpPr>
        <p:spPr>
          <a:xfrm>
            <a:off x="9677095" y="6382512"/>
            <a:ext cx="960120" cy="329184"/>
          </a:xfrm>
          <a:prstGeom prst="roundRect">
            <a:avLst>
              <a:gd name="adj" fmla="val 50000"/>
            </a:avLst>
          </a:prstGeom>
          <a:solidFill>
            <a:srgbClr val="FFE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Aft>
                <a:spcPts val="200"/>
              </a:spcAft>
            </a:pPr>
            <a:r>
              <a:rPr sz="1100" b="1">
                <a:solidFill>
                  <a:srgbClr val="1F2A44"/>
                </a:solidFill>
                <a:latin typeface="Arial"/>
                <a:ea typeface="Microsoft YaHei"/>
              </a:rPr>
              <a:t>🗺 Map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960120"/>
            <a:ext cx="11094415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500" b="0">
                <a:solidFill>
                  <a:srgbClr val="5F677A"/>
                </a:solidFill>
                <a:latin typeface="Arial"/>
                <a:ea typeface="Microsoft YaHei"/>
              </a:rPr>
              <a:t>关心访客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417320"/>
            <a:ext cx="11094415" cy="93522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1417320"/>
            <a:ext cx="91440" cy="935228"/>
          </a:xfrm>
          <a:prstGeom prst="rect">
            <a:avLst/>
          </a:prstGeom>
          <a:solidFill>
            <a:srgbClr val="9B6B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1463040"/>
            <a:ext cx="3429000" cy="8712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2000" b="1">
                <a:solidFill>
                  <a:srgbClr val="9B6BE0"/>
                </a:solidFill>
                <a:latin typeface="Arial"/>
                <a:ea typeface="Microsoft YaHei"/>
              </a:rPr>
              <a:t>★ Would you like to freshen up first?</a:t>
            </a:r>
          </a:p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300" b="0">
                <a:solidFill>
                  <a:srgbClr val="5F677A"/>
                </a:solidFill>
                <a:latin typeface="Arial"/>
                <a:ea typeface="Microsoft YaHei"/>
              </a:rPr>
              <a:t>phrase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06240" y="1463040"/>
            <a:ext cx="2377440" cy="8712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700" b="1">
                <a:solidFill>
                  <a:srgbClr val="FF6B5B"/>
                </a:solidFill>
                <a:latin typeface="Arial"/>
                <a:ea typeface="Microsoft YaHei"/>
              </a:rPr>
              <a:t>您想先稍微整理/洗漱一下吗?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75120" y="1463040"/>
            <a:ext cx="4846320" cy="8712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700" b="0" i="1">
                <a:solidFill>
                  <a:srgbClr val="1F2A44"/>
                </a:solidFill>
                <a:latin typeface="Arial"/>
                <a:ea typeface="Microsoft YaHei"/>
              </a:rPr>
              <a:t>“Would you like to freshen up first, or go straight to the meeting?”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2425700"/>
            <a:ext cx="11094415" cy="124002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48640" y="2425700"/>
            <a:ext cx="91440" cy="1240028"/>
          </a:xfrm>
          <a:prstGeom prst="rect">
            <a:avLst/>
          </a:prstGeom>
          <a:solidFill>
            <a:srgbClr val="4A90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2471420"/>
            <a:ext cx="3429000" cy="11760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2000" b="1">
                <a:solidFill>
                  <a:srgbClr val="1F2A44"/>
                </a:solidFill>
                <a:latin typeface="Arial"/>
                <a:ea typeface="Microsoft YaHei"/>
              </a:rPr>
              <a:t>Is there anything we can do to make your stay more comfortable?</a:t>
            </a:r>
          </a:p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300" b="0">
                <a:solidFill>
                  <a:srgbClr val="5F677A"/>
                </a:solidFill>
                <a:latin typeface="Arial"/>
                <a:ea typeface="Microsoft YaHei"/>
              </a:rPr>
              <a:t>phrase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06240" y="2471420"/>
            <a:ext cx="2377440" cy="11760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700" b="1">
                <a:solidFill>
                  <a:srgbClr val="FF6B5B"/>
                </a:solidFill>
                <a:latin typeface="Arial"/>
                <a:ea typeface="Microsoft YaHei"/>
              </a:rPr>
              <a:t>我们有什么可以让您住得更舒服的吗?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75120" y="2471420"/>
            <a:ext cx="4846320" cy="11760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700" b="0" i="1">
                <a:solidFill>
                  <a:srgbClr val="1F2A44"/>
                </a:solidFill>
                <a:latin typeface="Arial"/>
                <a:ea typeface="Microsoft YaHei"/>
              </a:rPr>
              <a:t>“Is there anything we can do to make your stay more comfortable?”</a:t>
            </a:r>
          </a:p>
        </p:txBody>
      </p:sp>
    </p:spTree>
  </p:cSld>
  <p:clrMapOvr>
    <a:masterClrMapping/>
  </p:clrMapOvr>
  <p:transition spd="med">
    <p:fade/>
  </p:transition>
</p:sld>
</file>

<file path=ppt/slides/slide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4A90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8442656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3200" b="1">
                <a:solidFill>
                  <a:srgbClr val="1F2A44"/>
                </a:solidFill>
                <a:latin typeface="Arial"/>
                <a:ea typeface="Microsoft YaHei"/>
              </a:rPr>
              <a:t>📚 Chunk 3: Responding warmly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74175" y="438912"/>
            <a:ext cx="2560320" cy="475488"/>
          </a:xfrm>
          <a:prstGeom prst="roundRect">
            <a:avLst>
              <a:gd name="adj" fmla="val 50000"/>
            </a:avLst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3152" rIns="73152"/>
          <a:lstStyle/>
          <a:p>
            <a:pPr algn="ctr">
              <a:spcAft>
                <a:spcPts val="200"/>
              </a:spcAft>
            </a:pPr>
            <a:r>
              <a:rPr sz="1300" b="1">
                <a:solidFill>
                  <a:srgbClr val="FFFFFF"/>
                </a:solidFill>
                <a:latin typeface="Arial"/>
                <a:ea typeface="Microsoft YaHei"/>
              </a:rPr>
              <a:t>02 Vocabulary 词汇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19088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100" b="0">
                <a:solidFill>
                  <a:srgbClr val="5F677A"/>
                </a:solidFill>
                <a:latin typeface="Arial"/>
                <a:ea typeface="Microsoft YaHei"/>
              </a:rPr>
              <a:t>Business English · Level 4 · Unit 3 · Lesson 09 Making visitors feel welcome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28655" y="6419088"/>
            <a:ext cx="914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  <a:spcAft>
                <a:spcPts val="800"/>
              </a:spcAft>
            </a:pPr>
            <a:r>
              <a:rPr sz="1100" b="0">
                <a:solidFill>
                  <a:srgbClr val="5F677A"/>
                </a:solidFill>
                <a:latin typeface="Arial"/>
                <a:ea typeface="Microsoft YaHei"/>
              </a:rPr>
              <a:t>92</a:t>
            </a:r>
          </a:p>
        </p:txBody>
      </p:sp>
      <p:sp>
        <p:nvSpPr>
          <p:cNvPr id="7" name="Rounded Rectangle 6">
            <a:hlinkClick action="ppaction://hlinksldjump" r:id="rId2"/>
          </p:cNvPr>
          <p:cNvSpPr/>
          <p:nvPr/>
        </p:nvSpPr>
        <p:spPr>
          <a:xfrm>
            <a:off x="9677095" y="6382512"/>
            <a:ext cx="960120" cy="329184"/>
          </a:xfrm>
          <a:prstGeom prst="roundRect">
            <a:avLst>
              <a:gd name="adj" fmla="val 50000"/>
            </a:avLst>
          </a:prstGeom>
          <a:solidFill>
            <a:srgbClr val="FFE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Aft>
                <a:spcPts val="200"/>
              </a:spcAft>
            </a:pPr>
            <a:r>
              <a:rPr sz="1100" b="1">
                <a:solidFill>
                  <a:srgbClr val="1F2A44"/>
                </a:solidFill>
                <a:latin typeface="Arial"/>
                <a:ea typeface="Microsoft YaHei"/>
              </a:rPr>
              <a:t>🗺 Map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960120"/>
            <a:ext cx="11094415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500" b="0">
                <a:solidFill>
                  <a:srgbClr val="5F677A"/>
                </a:solidFill>
                <a:latin typeface="Arial"/>
                <a:ea typeface="Microsoft YaHei"/>
              </a:rPr>
              <a:t>热情回应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417320"/>
            <a:ext cx="11094415" cy="63042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1417320"/>
            <a:ext cx="91440" cy="630428"/>
          </a:xfrm>
          <a:prstGeom prst="rect">
            <a:avLst/>
          </a:prstGeom>
          <a:solidFill>
            <a:srgbClr val="FF6B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1463040"/>
            <a:ext cx="3429000" cy="5664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2000" b="1">
                <a:solidFill>
                  <a:srgbClr val="1F2A44"/>
                </a:solidFill>
                <a:latin typeface="Arial"/>
                <a:ea typeface="Microsoft YaHei"/>
              </a:rPr>
              <a:t>It’s no trouble at all.</a:t>
            </a:r>
          </a:p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300" b="0">
                <a:solidFill>
                  <a:srgbClr val="5F677A"/>
                </a:solidFill>
                <a:latin typeface="Arial"/>
                <a:ea typeface="Microsoft YaHei"/>
              </a:rPr>
              <a:t>phrase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06240" y="1463040"/>
            <a:ext cx="2377440" cy="5664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700" b="1">
                <a:solidFill>
                  <a:srgbClr val="FF6B5B"/>
                </a:solidFill>
                <a:latin typeface="Arial"/>
                <a:ea typeface="Microsoft YaHei"/>
              </a:rPr>
              <a:t>一点也不麻烦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75120" y="1463040"/>
            <a:ext cx="4846320" cy="5664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700" b="0" i="1">
                <a:solidFill>
                  <a:srgbClr val="1F2A44"/>
                </a:solidFill>
                <a:latin typeface="Arial"/>
                <a:ea typeface="Microsoft YaHei"/>
              </a:rPr>
              <a:t>“Thank you so much for picking me up.” — “It’s no trouble at all.”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2120900"/>
            <a:ext cx="11094415" cy="63042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48640" y="2120900"/>
            <a:ext cx="91440" cy="630428"/>
          </a:xfrm>
          <a:prstGeom prst="rect">
            <a:avLst/>
          </a:prstGeom>
          <a:solidFill>
            <a:srgbClr val="4A90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2166620"/>
            <a:ext cx="3429000" cy="5664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2000" b="1">
                <a:solidFill>
                  <a:srgbClr val="1F2A44"/>
                </a:solidFill>
                <a:latin typeface="Arial"/>
                <a:ea typeface="Microsoft YaHei"/>
              </a:rPr>
              <a:t>My pleasure.</a:t>
            </a:r>
          </a:p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300" b="0">
                <a:solidFill>
                  <a:srgbClr val="5F677A"/>
                </a:solidFill>
                <a:latin typeface="Arial"/>
                <a:ea typeface="Microsoft YaHei"/>
              </a:rPr>
              <a:t>phrase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06240" y="2166620"/>
            <a:ext cx="2377440" cy="5664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700" b="1">
                <a:solidFill>
                  <a:srgbClr val="FF6B5B"/>
                </a:solidFill>
                <a:latin typeface="Arial"/>
                <a:ea typeface="Microsoft YaHei"/>
              </a:rPr>
              <a:t>不客气,我的荣幸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75120" y="2166620"/>
            <a:ext cx="4846320" cy="5664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700" b="0" i="1">
                <a:solidFill>
                  <a:srgbClr val="1F2A44"/>
                </a:solidFill>
                <a:latin typeface="Arial"/>
                <a:ea typeface="Microsoft YaHei"/>
              </a:rPr>
              <a:t>“Thanks for dinner.” — “My pleasure.”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2824480"/>
            <a:ext cx="11094415" cy="63042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48640" y="2824480"/>
            <a:ext cx="91440" cy="630428"/>
          </a:xfrm>
          <a:prstGeom prst="rect">
            <a:avLst/>
          </a:prstGeom>
          <a:solidFill>
            <a:srgbClr val="9B6B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1520" y="2870200"/>
            <a:ext cx="3429000" cy="5664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2000" b="1">
                <a:solidFill>
                  <a:srgbClr val="9B6BE0"/>
                </a:solidFill>
                <a:latin typeface="Arial"/>
                <a:ea typeface="Microsoft YaHei"/>
              </a:rPr>
              <a:t>★ I’m at your disposal.</a:t>
            </a:r>
          </a:p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300" b="0">
                <a:solidFill>
                  <a:srgbClr val="5F677A"/>
                </a:solidFill>
                <a:latin typeface="Arial"/>
                <a:ea typeface="Microsoft YaHei"/>
              </a:rPr>
              <a:t>phrase (formal)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206240" y="2870200"/>
            <a:ext cx="2377440" cy="5664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700" b="1">
                <a:solidFill>
                  <a:srgbClr val="FF6B5B"/>
                </a:solidFill>
                <a:latin typeface="Arial"/>
                <a:ea typeface="Microsoft YaHei"/>
              </a:rPr>
              <a:t>听候您的安排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75120" y="2870200"/>
            <a:ext cx="4846320" cy="5664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700" b="0" i="1">
                <a:solidFill>
                  <a:srgbClr val="1F2A44"/>
                </a:solidFill>
                <a:latin typeface="Arial"/>
                <a:ea typeface="Microsoft YaHei"/>
              </a:rPr>
              <a:t>“I’m at your disposal for the whole week.”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48640" y="3528060"/>
            <a:ext cx="11094415" cy="63042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48640" y="3528060"/>
            <a:ext cx="91440" cy="630428"/>
          </a:xfrm>
          <a:prstGeom prst="rect">
            <a:avLst/>
          </a:prstGeom>
          <a:solidFill>
            <a:srgbClr val="9B6B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31520" y="3573780"/>
            <a:ext cx="3429000" cy="5664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2000" b="1">
                <a:solidFill>
                  <a:srgbClr val="9B6BE0"/>
                </a:solidFill>
                <a:latin typeface="Arial"/>
                <a:ea typeface="Microsoft YaHei"/>
              </a:rPr>
              <a:t>★ Don’t mention it.</a:t>
            </a:r>
          </a:p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300" b="0">
                <a:solidFill>
                  <a:srgbClr val="5F677A"/>
                </a:solidFill>
                <a:latin typeface="Arial"/>
                <a:ea typeface="Microsoft YaHei"/>
              </a:rPr>
              <a:t>phrase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206240" y="3573780"/>
            <a:ext cx="2377440" cy="5664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700" b="1">
                <a:solidFill>
                  <a:srgbClr val="FF6B5B"/>
                </a:solidFill>
                <a:latin typeface="Arial"/>
                <a:ea typeface="Microsoft YaHei"/>
              </a:rPr>
              <a:t>别客气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675120" y="3573780"/>
            <a:ext cx="4846320" cy="5664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700" b="0" i="1">
                <a:solidFill>
                  <a:srgbClr val="1F2A44"/>
                </a:solidFill>
                <a:latin typeface="Arial"/>
                <a:ea typeface="Microsoft YaHei"/>
              </a:rPr>
              <a:t>“Thanks for the help.” — “Don’t mention it.”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48640" y="4231640"/>
            <a:ext cx="11094415" cy="93522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548640" y="4231640"/>
            <a:ext cx="91440" cy="935228"/>
          </a:xfrm>
          <a:prstGeom prst="rect">
            <a:avLst/>
          </a:prstGeom>
          <a:solidFill>
            <a:srgbClr val="9B6B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31520" y="4277360"/>
            <a:ext cx="3429000" cy="8712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2000" b="1">
                <a:solidFill>
                  <a:srgbClr val="1F2A44"/>
                </a:solidFill>
                <a:latin typeface="Arial"/>
                <a:ea typeface="Microsoft YaHei"/>
              </a:rPr>
              <a:t>It’s the least we could do.</a:t>
            </a:r>
          </a:p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300" b="0">
                <a:solidFill>
                  <a:srgbClr val="5F677A"/>
                </a:solidFill>
                <a:latin typeface="Arial"/>
                <a:ea typeface="Microsoft YaHei"/>
              </a:rPr>
              <a:t>phrase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206240" y="4277360"/>
            <a:ext cx="2377440" cy="8712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700" b="1">
                <a:solidFill>
                  <a:srgbClr val="FF6B5B"/>
                </a:solidFill>
                <a:latin typeface="Arial"/>
                <a:ea typeface="Microsoft YaHei"/>
              </a:rPr>
              <a:t>这是我们应该做的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675120" y="4277360"/>
            <a:ext cx="4846320" cy="8712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700" b="0" i="1">
                <a:solidFill>
                  <a:srgbClr val="1F2A44"/>
                </a:solidFill>
                <a:latin typeface="Arial"/>
                <a:ea typeface="Microsoft YaHei"/>
              </a:rPr>
              <a:t>“It’s the least we could do after your long trip.”</a:t>
            </a:r>
          </a:p>
        </p:txBody>
      </p:sp>
    </p:spTree>
  </p:cSld>
  <p:clrMapOvr>
    <a:masterClrMapping/>
  </p:clrMapOvr>
  <p:transition spd="med">
    <p:fade/>
  </p:transition>
</p:sld>
</file>

<file path=ppt/slides/slide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F6B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8442656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3200" b="1">
                <a:solidFill>
                  <a:srgbClr val="1F2A44"/>
                </a:solidFill>
                <a:latin typeface="Arial"/>
                <a:ea typeface="Microsoft YaHei"/>
              </a:rPr>
              <a:t>⚡ Speed Round: Say it in English!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74175" y="438912"/>
            <a:ext cx="2560320" cy="475488"/>
          </a:xfrm>
          <a:prstGeom prst="roundRect">
            <a:avLst>
              <a:gd name="adj" fmla="val 50000"/>
            </a:avLst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3152" rIns="73152"/>
          <a:lstStyle/>
          <a:p>
            <a:pPr algn="ctr">
              <a:spcAft>
                <a:spcPts val="200"/>
              </a:spcAft>
            </a:pPr>
            <a:r>
              <a:rPr sz="1300" b="1">
                <a:solidFill>
                  <a:srgbClr val="FFFFFF"/>
                </a:solidFill>
                <a:latin typeface="Arial"/>
                <a:ea typeface="Microsoft YaHei"/>
              </a:rPr>
              <a:t>🎮 Game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19088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100" b="0">
                <a:solidFill>
                  <a:srgbClr val="5F677A"/>
                </a:solidFill>
                <a:latin typeface="Arial"/>
                <a:ea typeface="Microsoft YaHei"/>
              </a:rPr>
              <a:t>Business English · Level 4 · Unit 3 · Lesson 09 Making visitors feel welcome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28655" y="6419088"/>
            <a:ext cx="914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  <a:spcAft>
                <a:spcPts val="800"/>
              </a:spcAft>
            </a:pPr>
            <a:r>
              <a:rPr sz="1100" b="0">
                <a:solidFill>
                  <a:srgbClr val="5F677A"/>
                </a:solidFill>
                <a:latin typeface="Arial"/>
                <a:ea typeface="Microsoft YaHei"/>
              </a:rPr>
              <a:t>93</a:t>
            </a:r>
          </a:p>
        </p:txBody>
      </p:sp>
      <p:sp>
        <p:nvSpPr>
          <p:cNvPr id="7" name="Rounded Rectangle 6">
            <a:hlinkClick action="ppaction://hlinksldjump" r:id="rId2"/>
          </p:cNvPr>
          <p:cNvSpPr/>
          <p:nvPr/>
        </p:nvSpPr>
        <p:spPr>
          <a:xfrm>
            <a:off x="9677095" y="6382512"/>
            <a:ext cx="960120" cy="329184"/>
          </a:xfrm>
          <a:prstGeom prst="roundRect">
            <a:avLst>
              <a:gd name="adj" fmla="val 50000"/>
            </a:avLst>
          </a:prstGeom>
          <a:solidFill>
            <a:srgbClr val="FFE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Aft>
                <a:spcPts val="200"/>
              </a:spcAft>
            </a:pPr>
            <a:r>
              <a:rPr sz="1100" b="1">
                <a:solidFill>
                  <a:srgbClr val="1F2A44"/>
                </a:solidFill>
                <a:latin typeface="Arial"/>
                <a:ea typeface="Microsoft YaHei"/>
              </a:rPr>
              <a:t>🗺 Map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024128"/>
            <a:ext cx="11094415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500" b="0">
                <a:solidFill>
                  <a:srgbClr val="5F677A"/>
                </a:solidFill>
                <a:latin typeface="Arial"/>
                <a:ea typeface="Microsoft YaHei"/>
              </a:rPr>
              <a:t>Read the Chinese, shout the English expression! Click to reveal.  看中文，抢答英文表达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554480"/>
            <a:ext cx="2636443" cy="21488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31750">
            <a:solidFill>
              <a:srgbClr val="FF6B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1691640"/>
            <a:ext cx="2453563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800"/>
              </a:spcAft>
            </a:pPr>
            <a:r>
              <a:rPr sz="2400" b="1">
                <a:solidFill>
                  <a:srgbClr val="1F2A44"/>
                </a:solidFill>
                <a:latin typeface="Arial"/>
                <a:ea typeface="Microsoft YaHei"/>
              </a:rPr>
              <a:t>不客气,我的荣幸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2651760"/>
            <a:ext cx="2362123" cy="914400"/>
          </a:xfrm>
          <a:prstGeom prst="roundRect">
            <a:avLst>
              <a:gd name="adj" fmla="val 20000"/>
            </a:avLst>
          </a:prstGeom>
          <a:solidFill>
            <a:srgbClr val="FF6B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FFFFFF"/>
                </a:solidFill>
                <a:latin typeface="Arial"/>
                <a:ea typeface="Microsoft YaHei"/>
              </a:rPr>
              <a:t>My pleasure.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367963" y="1554480"/>
            <a:ext cx="2636443" cy="21488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31750">
            <a:solidFill>
              <a:srgbClr val="4A90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59403" y="1691640"/>
            <a:ext cx="2453563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800"/>
              </a:spcAft>
            </a:pPr>
            <a:r>
              <a:rPr sz="2400" b="1">
                <a:solidFill>
                  <a:srgbClr val="1F2A44"/>
                </a:solidFill>
                <a:latin typeface="Arial"/>
                <a:ea typeface="Microsoft YaHei"/>
              </a:rPr>
              <a:t>您想先稍微整理/洗漱一下吗?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505123" y="2651760"/>
            <a:ext cx="2362123" cy="914400"/>
          </a:xfrm>
          <a:prstGeom prst="roundRect">
            <a:avLst>
              <a:gd name="adj" fmla="val 20000"/>
            </a:avLst>
          </a:prstGeom>
          <a:solidFill>
            <a:srgbClr val="4A90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Arial"/>
                <a:ea typeface="Microsoft YaHei"/>
              </a:rPr>
              <a:t>Would you like to freshen up first?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87286" y="1554480"/>
            <a:ext cx="2636443" cy="21488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31750">
            <a:solidFill>
              <a:srgbClr val="3CC4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78726" y="1691640"/>
            <a:ext cx="2453563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800"/>
              </a:spcAft>
            </a:pPr>
            <a:r>
              <a:rPr sz="2400" b="1">
                <a:solidFill>
                  <a:srgbClr val="1F2A44"/>
                </a:solidFill>
                <a:latin typeface="Arial"/>
                <a:ea typeface="Microsoft YaHei"/>
              </a:rPr>
              <a:t>这是我们应该做的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24446" y="2651760"/>
            <a:ext cx="2362123" cy="914400"/>
          </a:xfrm>
          <a:prstGeom prst="roundRect">
            <a:avLst>
              <a:gd name="adj" fmla="val 20000"/>
            </a:avLst>
          </a:prstGeom>
          <a:solidFill>
            <a:srgbClr val="3CC4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FFFFFF"/>
                </a:solidFill>
                <a:latin typeface="Arial"/>
                <a:ea typeface="Microsoft YaHei"/>
              </a:rPr>
              <a:t>It’s the least we could do.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006609" y="1554480"/>
            <a:ext cx="2636443" cy="21488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31750">
            <a:solidFill>
              <a:srgbClr val="FFC8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098049" y="1691640"/>
            <a:ext cx="2453563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800"/>
              </a:spcAft>
            </a:pPr>
            <a:r>
              <a:rPr sz="2400" b="1">
                <a:solidFill>
                  <a:srgbClr val="1F2A44"/>
                </a:solidFill>
                <a:latin typeface="Arial"/>
                <a:ea typeface="Microsoft YaHei"/>
              </a:rPr>
              <a:t>您一定累坏了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143769" y="2651760"/>
            <a:ext cx="2362123" cy="914400"/>
          </a:xfrm>
          <a:prstGeom prst="roundRect">
            <a:avLst>
              <a:gd name="adj" fmla="val 20000"/>
            </a:avLst>
          </a:prstGeom>
          <a:solidFill>
            <a:srgbClr val="FFC8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FFFFFF"/>
                </a:solidFill>
                <a:latin typeface="Arial"/>
                <a:ea typeface="Microsoft YaHei"/>
              </a:rPr>
              <a:t>You must be exhausted.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8640" y="3886200"/>
            <a:ext cx="2636443" cy="21488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31750">
            <a:solidFill>
              <a:srgbClr val="9B6B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4023360"/>
            <a:ext cx="2453563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800"/>
              </a:spcAft>
            </a:pPr>
            <a:r>
              <a:rPr sz="2400" b="1">
                <a:solidFill>
                  <a:srgbClr val="1F2A44"/>
                </a:solidFill>
                <a:latin typeface="Arial"/>
                <a:ea typeface="Microsoft YaHei"/>
              </a:rPr>
              <a:t>您有什么饮食方面的要求吗?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85800" y="4983480"/>
            <a:ext cx="2362123" cy="914400"/>
          </a:xfrm>
          <a:prstGeom prst="roundRect">
            <a:avLst>
              <a:gd name="adj" fmla="val 20000"/>
            </a:avLst>
          </a:prstGeom>
          <a:solidFill>
            <a:srgbClr val="9B6B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Arial"/>
                <a:ea typeface="Microsoft YaHei"/>
              </a:rPr>
              <a:t>Do you have any dietary requirements?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367963" y="3886200"/>
            <a:ext cx="2636443" cy="21488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31750">
            <a:solidFill>
              <a:srgbClr val="FF6B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459403" y="4023360"/>
            <a:ext cx="2453563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800"/>
              </a:spcAft>
            </a:pPr>
            <a:r>
              <a:rPr sz="2000" b="1">
                <a:solidFill>
                  <a:srgbClr val="1F2A44"/>
                </a:solidFill>
                <a:latin typeface="Arial"/>
                <a:ea typeface="Microsoft YaHei"/>
              </a:rPr>
              <a:t>我们有什么可以让您住得更舒服的吗?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505123" y="4983480"/>
            <a:ext cx="2362123" cy="914400"/>
          </a:xfrm>
          <a:prstGeom prst="roundRect">
            <a:avLst>
              <a:gd name="adj" fmla="val 20000"/>
            </a:avLst>
          </a:prstGeom>
          <a:solidFill>
            <a:srgbClr val="FF6B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Arial"/>
                <a:ea typeface="Microsoft YaHei"/>
              </a:rPr>
              <a:t>Is there anything we can do to make your stay more comfortable?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187286" y="3886200"/>
            <a:ext cx="2636443" cy="21488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31750">
            <a:solidFill>
              <a:srgbClr val="4A90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278726" y="4023360"/>
            <a:ext cx="2453563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800"/>
              </a:spcAft>
            </a:pPr>
            <a:r>
              <a:rPr sz="2400" b="1">
                <a:solidFill>
                  <a:srgbClr val="1F2A44"/>
                </a:solidFill>
                <a:latin typeface="Arial"/>
                <a:ea typeface="Microsoft YaHei"/>
              </a:rPr>
              <a:t>听候您的安排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324446" y="4983480"/>
            <a:ext cx="2362123" cy="914400"/>
          </a:xfrm>
          <a:prstGeom prst="roundRect">
            <a:avLst>
              <a:gd name="adj" fmla="val 20000"/>
            </a:avLst>
          </a:prstGeom>
          <a:solidFill>
            <a:srgbClr val="4A90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FFFFFF"/>
                </a:solidFill>
                <a:latin typeface="Arial"/>
                <a:ea typeface="Microsoft YaHei"/>
              </a:rPr>
              <a:t>I’m at your disposal.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006609" y="3886200"/>
            <a:ext cx="2636443" cy="21488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31750">
            <a:solidFill>
              <a:srgbClr val="3CC4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098049" y="4023360"/>
            <a:ext cx="2453563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800"/>
              </a:spcAft>
            </a:pPr>
            <a:r>
              <a:rPr sz="2400" b="1">
                <a:solidFill>
                  <a:srgbClr val="1F2A44"/>
                </a:solidFill>
                <a:latin typeface="Arial"/>
                <a:ea typeface="Microsoft YaHei"/>
              </a:rPr>
              <a:t>我们会隆重接待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9143769" y="4983480"/>
            <a:ext cx="2362123" cy="914400"/>
          </a:xfrm>
          <a:prstGeom prst="roundRect">
            <a:avLst>
              <a:gd name="adj" fmla="val 20000"/>
            </a:avLst>
          </a:prstGeom>
          <a:solidFill>
            <a:srgbClr val="3CC4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FFFFFF"/>
                </a:solidFill>
                <a:latin typeface="Arial"/>
                <a:ea typeface="Microsoft YaHei"/>
              </a:rPr>
              <a:t>We’ll roll out the red carpet.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" fill="hold">
                      <p:stCondLst>
                        <p:cond delay="indefinite"/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4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3CC4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8442656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3200" b="1">
                <a:solidFill>
                  <a:srgbClr val="1F2A44"/>
                </a:solidFill>
                <a:latin typeface="Arial"/>
                <a:ea typeface="Microsoft YaHei"/>
              </a:rPr>
              <a:t>✏️ Mini Quiz: Fill in the Blanks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74175" y="438912"/>
            <a:ext cx="2560320" cy="475488"/>
          </a:xfrm>
          <a:prstGeom prst="roundRect">
            <a:avLst>
              <a:gd name="adj" fmla="val 50000"/>
            </a:avLst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3152" rIns="73152"/>
          <a:lstStyle/>
          <a:p>
            <a:pPr algn="ctr">
              <a:spcAft>
                <a:spcPts val="200"/>
              </a:spcAft>
            </a:pPr>
            <a:r>
              <a:rPr sz="1300" b="1">
                <a:solidFill>
                  <a:srgbClr val="FFFFFF"/>
                </a:solidFill>
                <a:latin typeface="Arial"/>
                <a:ea typeface="Microsoft YaHei"/>
              </a:rPr>
              <a:t>02 Vocabulary 词汇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19088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100" b="0">
                <a:solidFill>
                  <a:srgbClr val="5F677A"/>
                </a:solidFill>
                <a:latin typeface="Arial"/>
                <a:ea typeface="Microsoft YaHei"/>
              </a:rPr>
              <a:t>Business English · Level 4 · Unit 3 · Lesson 09 Making visitors feel welcome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28655" y="6419088"/>
            <a:ext cx="914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  <a:spcAft>
                <a:spcPts val="800"/>
              </a:spcAft>
            </a:pPr>
            <a:r>
              <a:rPr sz="1100" b="0">
                <a:solidFill>
                  <a:srgbClr val="5F677A"/>
                </a:solidFill>
                <a:latin typeface="Arial"/>
                <a:ea typeface="Microsoft YaHei"/>
              </a:rPr>
              <a:t>94</a:t>
            </a:r>
          </a:p>
        </p:txBody>
      </p:sp>
      <p:sp>
        <p:nvSpPr>
          <p:cNvPr id="7" name="Rounded Rectangle 6">
            <a:hlinkClick action="ppaction://hlinksldjump" r:id="rId2"/>
          </p:cNvPr>
          <p:cNvSpPr/>
          <p:nvPr/>
        </p:nvSpPr>
        <p:spPr>
          <a:xfrm>
            <a:off x="9677095" y="6382512"/>
            <a:ext cx="960120" cy="329184"/>
          </a:xfrm>
          <a:prstGeom prst="roundRect">
            <a:avLst>
              <a:gd name="adj" fmla="val 50000"/>
            </a:avLst>
          </a:prstGeom>
          <a:solidFill>
            <a:srgbClr val="FFE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Aft>
                <a:spcPts val="200"/>
              </a:spcAft>
            </a:pPr>
            <a:r>
              <a:rPr sz="1100" b="1">
                <a:solidFill>
                  <a:srgbClr val="1F2A44"/>
                </a:solidFill>
                <a:latin typeface="Arial"/>
                <a:ea typeface="Microsoft YaHei"/>
              </a:rPr>
              <a:t>🗺 Map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960120"/>
            <a:ext cx="146304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400" b="0">
                <a:solidFill>
                  <a:srgbClr val="5F677A"/>
                </a:solidFill>
                <a:latin typeface="Arial"/>
                <a:ea typeface="Microsoft YaHei"/>
              </a:rPr>
              <a:t>Word bank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011680" y="987552"/>
            <a:ext cx="1133856" cy="411480"/>
          </a:xfrm>
          <a:prstGeom prst="roundRect">
            <a:avLst>
              <a:gd name="adj" fmla="val 50000"/>
            </a:avLst>
          </a:prstGeom>
          <a:solidFill>
            <a:srgbClr val="FF6B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Arial"/>
                <a:ea typeface="Microsoft YaHei"/>
              </a:rPr>
              <a:t>trouble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36976" y="987552"/>
            <a:ext cx="1243584" cy="411480"/>
          </a:xfrm>
          <a:prstGeom prst="roundRect">
            <a:avLst>
              <a:gd name="adj" fmla="val 50000"/>
            </a:avLst>
          </a:prstGeom>
          <a:solidFill>
            <a:srgbClr val="4A90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Arial"/>
                <a:ea typeface="Microsoft YaHei"/>
              </a:rPr>
              <a:t>arranged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0" y="987552"/>
            <a:ext cx="1133856" cy="411480"/>
          </a:xfrm>
          <a:prstGeom prst="roundRect">
            <a:avLst>
              <a:gd name="adj" fmla="val 50000"/>
            </a:avLst>
          </a:prstGeom>
          <a:solidFill>
            <a:srgbClr val="3CC4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Arial"/>
                <a:ea typeface="Microsoft YaHei"/>
              </a:rPr>
              <a:t>dietary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797296" y="987552"/>
            <a:ext cx="804672" cy="411480"/>
          </a:xfrm>
          <a:prstGeom prst="roundRect">
            <a:avLst>
              <a:gd name="adj" fmla="val 50000"/>
            </a:avLst>
          </a:prstGeom>
          <a:solidFill>
            <a:srgbClr val="FFC8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Arial"/>
                <a:ea typeface="Microsoft YaHei"/>
              </a:rPr>
              <a:t>mile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693408" y="987552"/>
            <a:ext cx="1133856" cy="411480"/>
          </a:xfrm>
          <a:prstGeom prst="roundRect">
            <a:avLst>
              <a:gd name="adj" fmla="val 50000"/>
            </a:avLst>
          </a:prstGeom>
          <a:solidFill>
            <a:srgbClr val="9B6B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Arial"/>
                <a:ea typeface="Microsoft YaHei"/>
              </a:rPr>
              <a:t>freshen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918704" y="987552"/>
            <a:ext cx="1353312" cy="411480"/>
          </a:xfrm>
          <a:prstGeom prst="roundRect">
            <a:avLst>
              <a:gd name="adj" fmla="val 50000"/>
            </a:avLst>
          </a:prstGeom>
          <a:solidFill>
            <a:srgbClr val="FF6B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Arial"/>
                <a:ea typeface="Microsoft YaHei"/>
              </a:rPr>
              <a:t>exhausted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1600200"/>
            <a:ext cx="11094415" cy="605028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5800" y="1600200"/>
            <a:ext cx="8076895" cy="6050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2000" b="0">
                <a:solidFill>
                  <a:srgbClr val="1F2A44"/>
                </a:solidFill>
                <a:latin typeface="Arial"/>
                <a:ea typeface="Microsoft YaHei"/>
              </a:rPr>
              <a:t>1.  I’ve _______ for a car to pick you up at the airport.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082735" y="1655064"/>
            <a:ext cx="2468880" cy="495300"/>
          </a:xfrm>
          <a:prstGeom prst="roundRect">
            <a:avLst>
              <a:gd name="adj" fmla="val 50000"/>
            </a:avLst>
          </a:prstGeom>
          <a:solidFill>
            <a:srgbClr val="3CC4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FFFFFF"/>
                </a:solidFill>
                <a:latin typeface="Arial"/>
                <a:ea typeface="Microsoft YaHei"/>
              </a:rPr>
              <a:t>arranged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2278380"/>
            <a:ext cx="11094415" cy="605028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2278380"/>
            <a:ext cx="8076895" cy="6050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2000" b="0">
                <a:solidFill>
                  <a:srgbClr val="1F2A44"/>
                </a:solidFill>
                <a:latin typeface="Arial"/>
                <a:ea typeface="Microsoft YaHei"/>
              </a:rPr>
              <a:t>2.  Do you have any _______ requirements?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082735" y="2333244"/>
            <a:ext cx="2468880" cy="495300"/>
          </a:xfrm>
          <a:prstGeom prst="roundRect">
            <a:avLst>
              <a:gd name="adj" fmla="val 50000"/>
            </a:avLst>
          </a:prstGeom>
          <a:solidFill>
            <a:srgbClr val="3CC4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FFFFFF"/>
                </a:solidFill>
                <a:latin typeface="Arial"/>
                <a:ea typeface="Microsoft YaHei"/>
              </a:rPr>
              <a:t>dietary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8640" y="2956560"/>
            <a:ext cx="11094415" cy="605028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85800" y="2956560"/>
            <a:ext cx="8076895" cy="6050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2000" b="0">
                <a:solidFill>
                  <a:srgbClr val="1F2A44"/>
                </a:solidFill>
                <a:latin typeface="Arial"/>
                <a:ea typeface="Microsoft YaHei"/>
              </a:rPr>
              <a:t>3.  For our top clients, we always go the extra _______.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082735" y="3011424"/>
            <a:ext cx="2468880" cy="495300"/>
          </a:xfrm>
          <a:prstGeom prst="roundRect">
            <a:avLst>
              <a:gd name="adj" fmla="val 50000"/>
            </a:avLst>
          </a:prstGeom>
          <a:solidFill>
            <a:srgbClr val="3CC4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FFFFFF"/>
                </a:solidFill>
                <a:latin typeface="Arial"/>
                <a:ea typeface="Microsoft YaHei"/>
              </a:rPr>
              <a:t>mile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48640" y="3634740"/>
            <a:ext cx="11094415" cy="605028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85800" y="3634740"/>
            <a:ext cx="8076895" cy="6050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2000" b="0">
                <a:solidFill>
                  <a:srgbClr val="1F2A44"/>
                </a:solidFill>
                <a:latin typeface="Arial"/>
                <a:ea typeface="Microsoft YaHei"/>
              </a:rPr>
              <a:t>4.  You must be _______ after such a long flight.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082735" y="3689604"/>
            <a:ext cx="2468880" cy="495300"/>
          </a:xfrm>
          <a:prstGeom prst="roundRect">
            <a:avLst>
              <a:gd name="adj" fmla="val 50000"/>
            </a:avLst>
          </a:prstGeom>
          <a:solidFill>
            <a:srgbClr val="3CC4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FFFFFF"/>
                </a:solidFill>
                <a:latin typeface="Arial"/>
                <a:ea typeface="Microsoft YaHei"/>
              </a:rPr>
              <a:t>exhausted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48640" y="4312920"/>
            <a:ext cx="11094415" cy="605028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85800" y="4312920"/>
            <a:ext cx="8076895" cy="6050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2000" b="0">
                <a:solidFill>
                  <a:srgbClr val="1F2A44"/>
                </a:solidFill>
                <a:latin typeface="Arial"/>
                <a:ea typeface="Microsoft YaHei"/>
              </a:rPr>
              <a:t>5.  Would you like to _______ up first?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082735" y="4367784"/>
            <a:ext cx="2468880" cy="495300"/>
          </a:xfrm>
          <a:prstGeom prst="roundRect">
            <a:avLst>
              <a:gd name="adj" fmla="val 50000"/>
            </a:avLst>
          </a:prstGeom>
          <a:solidFill>
            <a:srgbClr val="3CC4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FFFFFF"/>
                </a:solidFill>
                <a:latin typeface="Arial"/>
                <a:ea typeface="Microsoft YaHei"/>
              </a:rPr>
              <a:t>freshen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48640" y="4991100"/>
            <a:ext cx="11094415" cy="605028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85800" y="4991100"/>
            <a:ext cx="8076895" cy="6050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2000" b="0">
                <a:solidFill>
                  <a:srgbClr val="1F2A44"/>
                </a:solidFill>
                <a:latin typeface="Arial"/>
                <a:ea typeface="Microsoft YaHei"/>
              </a:rPr>
              <a:t>6.  Thank you for the lift. — It’s no _______ at all.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9082735" y="5045964"/>
            <a:ext cx="2468880" cy="495300"/>
          </a:xfrm>
          <a:prstGeom prst="roundRect">
            <a:avLst>
              <a:gd name="adj" fmla="val 50000"/>
            </a:avLst>
          </a:prstGeom>
          <a:solidFill>
            <a:srgbClr val="3CC4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FFFFFF"/>
                </a:solidFill>
                <a:latin typeface="Arial"/>
                <a:ea typeface="Microsoft YaHei"/>
              </a:rPr>
              <a:t>trouble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48640" y="5760720"/>
            <a:ext cx="11094415" cy="502920"/>
          </a:xfrm>
          <a:prstGeom prst="roundRect">
            <a:avLst>
              <a:gd name="adj" fmla="val 30000"/>
            </a:avLst>
          </a:prstGeom>
          <a:solidFill>
            <a:srgbClr val="FFE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1F2A44"/>
                </a:solidFill>
                <a:latin typeface="Arial"/>
                <a:ea typeface="Microsoft YaHei"/>
              </a:rPr>
              <a:t>⚠️ 拼写): arranged (rr), dietary (not “dietry”), exhausted (h after x), vegetarian (not “vegeterian”). Remember: “arrange for a car to pick you up”.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" fill="hold">
                      <p:stCondLst>
                        <p:cond delay="indefinite"/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9B6B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8442656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2500" b="1">
                <a:solidFill>
                  <a:srgbClr val="1F2A44"/>
                </a:solidFill>
                <a:latin typeface="Arial"/>
                <a:ea typeface="Microsoft YaHei"/>
              </a:rPr>
              <a:t>🎭 Role Play · Meeting a visitor at the airport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74175" y="438912"/>
            <a:ext cx="2560320" cy="475488"/>
          </a:xfrm>
          <a:prstGeom prst="roundRect">
            <a:avLst>
              <a:gd name="adj" fmla="val 50000"/>
            </a:avLst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3152" rIns="73152"/>
          <a:lstStyle/>
          <a:p>
            <a:pPr algn="ctr">
              <a:spcAft>
                <a:spcPts val="200"/>
              </a:spcAft>
            </a:pPr>
            <a:r>
              <a:rPr sz="1300" b="1">
                <a:solidFill>
                  <a:srgbClr val="FFFFFF"/>
                </a:solidFill>
                <a:latin typeface="Arial"/>
                <a:ea typeface="Microsoft YaHei"/>
              </a:rPr>
              <a:t>03 Role play 角色扮演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19088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100" b="0">
                <a:solidFill>
                  <a:srgbClr val="5F677A"/>
                </a:solidFill>
                <a:latin typeface="Arial"/>
                <a:ea typeface="Microsoft YaHei"/>
              </a:rPr>
              <a:t>Business English · Level 4 · Unit 3 · Lesson 09 Making visitors feel welcome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28655" y="6419088"/>
            <a:ext cx="914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  <a:spcAft>
                <a:spcPts val="800"/>
              </a:spcAft>
            </a:pPr>
            <a:r>
              <a:rPr sz="1100" b="0">
                <a:solidFill>
                  <a:srgbClr val="5F677A"/>
                </a:solidFill>
                <a:latin typeface="Arial"/>
                <a:ea typeface="Microsoft YaHei"/>
              </a:rPr>
              <a:t>95</a:t>
            </a:r>
          </a:p>
        </p:txBody>
      </p:sp>
      <p:sp>
        <p:nvSpPr>
          <p:cNvPr id="7" name="Rounded Rectangle 6">
            <a:hlinkClick action="ppaction://hlinksldjump" r:id="rId2"/>
          </p:cNvPr>
          <p:cNvSpPr/>
          <p:nvPr/>
        </p:nvSpPr>
        <p:spPr>
          <a:xfrm>
            <a:off x="9677095" y="6382512"/>
            <a:ext cx="960120" cy="329184"/>
          </a:xfrm>
          <a:prstGeom prst="roundRect">
            <a:avLst>
              <a:gd name="adj" fmla="val 50000"/>
            </a:avLst>
          </a:prstGeom>
          <a:solidFill>
            <a:srgbClr val="FFE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Aft>
                <a:spcPts val="200"/>
              </a:spcAft>
            </a:pPr>
            <a:r>
              <a:rPr sz="1100" b="1">
                <a:solidFill>
                  <a:srgbClr val="1F2A44"/>
                </a:solidFill>
                <a:latin typeface="Arial"/>
                <a:ea typeface="Microsoft YaHei"/>
              </a:rPr>
              <a:t>🗺 Map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960120"/>
            <a:ext cx="11094415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500" b="0">
                <a:solidFill>
                  <a:srgbClr val="5F677A"/>
                </a:solidFill>
                <a:latin typeface="Arial"/>
                <a:ea typeface="Microsoft YaHei"/>
              </a:rPr>
              <a:t>机场接机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463040"/>
            <a:ext cx="11094415" cy="14630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31750">
            <a:solidFill>
              <a:srgbClr val="9B6B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5F677A"/>
                </a:solidFill>
                <a:latin typeface="Arial"/>
                <a:ea typeface="Microsoft YaHei"/>
              </a:rPr>
              <a:t>📍 Situation 情景</a:t>
            </a:r>
          </a:p>
          <a:p>
            <a:pPr algn="l">
              <a:spcAft>
                <a:spcPts val="200"/>
              </a:spcAft>
            </a:pPr>
            <a:r>
              <a:rPr sz="2400" b="1">
                <a:solidFill>
                  <a:srgbClr val="1F2A44"/>
                </a:solidFill>
                <a:latin typeface="Arial"/>
                <a:ea typeface="Microsoft YaHei"/>
              </a:rPr>
              <a:t>Mr James Reed lands in Shanghai after a 12-hour flight. You meet him at the airport and drive him to the hotel.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3200400"/>
            <a:ext cx="5410047" cy="21945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777240" y="3429000"/>
            <a:ext cx="1097280" cy="1097280"/>
          </a:xfrm>
          <a:prstGeom prst="ellipse">
            <a:avLst/>
          </a:prstGeom>
          <a:solidFill>
            <a:srgbClr val="FF6B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3152" rIns="73152"/>
          <a:lstStyle/>
          <a:p>
            <a:pPr algn="ctr">
              <a:spcAft>
                <a:spcPts val="200"/>
              </a:spcAft>
            </a:pPr>
            <a:r>
              <a:rPr sz="3600" b="1">
                <a:solidFill>
                  <a:srgbClr val="FFFFFF"/>
                </a:solidFill>
                <a:latin typeface="Arial"/>
                <a:ea typeface="Microsoft YaHei"/>
              </a:rPr>
              <a:t>👔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11680" y="3291840"/>
            <a:ext cx="3809847" cy="2011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400" b="1">
                <a:solidFill>
                  <a:srgbClr val="FF6B5B"/>
                </a:solidFill>
                <a:latin typeface="Arial"/>
                <a:ea typeface="Microsoft YaHei"/>
              </a:rPr>
              <a:t>Role A</a:t>
            </a:r>
          </a:p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2000" b="1">
                <a:solidFill>
                  <a:srgbClr val="1F2A44"/>
                </a:solidFill>
                <a:latin typeface="Arial"/>
                <a:ea typeface="Microsoft YaHei"/>
              </a:rPr>
              <a:t>Wang Fang, host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33007" y="3200400"/>
            <a:ext cx="5410047" cy="21945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61607" y="3429000"/>
            <a:ext cx="1097280" cy="1097280"/>
          </a:xfrm>
          <a:prstGeom prst="ellipse">
            <a:avLst/>
          </a:prstGeom>
          <a:solidFill>
            <a:srgbClr val="4A90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3152" rIns="73152"/>
          <a:lstStyle/>
          <a:p>
            <a:pPr algn="ctr">
              <a:spcAft>
                <a:spcPts val="200"/>
              </a:spcAft>
            </a:pPr>
            <a:r>
              <a:rPr sz="3600" b="1">
                <a:solidFill>
                  <a:srgbClr val="FFFFFF"/>
                </a:solidFill>
                <a:latin typeface="Arial"/>
                <a:ea typeface="Microsoft YaHei"/>
              </a:rPr>
              <a:t>💼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96047" y="3291840"/>
            <a:ext cx="3809847" cy="2011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400" b="1">
                <a:solidFill>
                  <a:srgbClr val="4A90E2"/>
                </a:solidFill>
                <a:latin typeface="Arial"/>
                <a:ea typeface="Microsoft YaHei"/>
              </a:rPr>
              <a:t>Role B</a:t>
            </a:r>
          </a:p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2000" b="1">
                <a:solidFill>
                  <a:srgbClr val="1F2A44"/>
                </a:solidFill>
                <a:latin typeface="Arial"/>
                <a:ea typeface="Microsoft YaHei"/>
              </a:rPr>
              <a:t>James Reed, visitor from the UK</a:t>
            </a:r>
          </a:p>
        </p:txBody>
      </p:sp>
    </p:spTree>
  </p:cSld>
  <p:clrMapOvr>
    <a:masterClrMapping/>
  </p:clrMapOvr>
  <p:transition spd="med">
    <p:fade/>
  </p:transition>
</p:sld>
</file>

<file path=ppt/slides/slide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9B6B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8442656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2300" b="1">
                <a:solidFill>
                  <a:srgbClr val="1F2A44"/>
                </a:solidFill>
                <a:latin typeface="Arial"/>
                <a:ea typeface="Microsoft YaHei"/>
              </a:rPr>
              <a:t>🎭 Model Dialogue · Meeting a visitor at the airport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74175" y="438912"/>
            <a:ext cx="2560320" cy="475488"/>
          </a:xfrm>
          <a:prstGeom prst="roundRect">
            <a:avLst>
              <a:gd name="adj" fmla="val 50000"/>
            </a:avLst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3152" rIns="73152"/>
          <a:lstStyle/>
          <a:p>
            <a:pPr algn="ctr">
              <a:spcAft>
                <a:spcPts val="200"/>
              </a:spcAft>
            </a:pPr>
            <a:r>
              <a:rPr sz="1300" b="1">
                <a:solidFill>
                  <a:srgbClr val="FFFFFF"/>
                </a:solidFill>
                <a:latin typeface="Arial"/>
                <a:ea typeface="Microsoft YaHei"/>
              </a:rPr>
              <a:t>Part 1/2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19088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100" b="0">
                <a:solidFill>
                  <a:srgbClr val="5F677A"/>
                </a:solidFill>
                <a:latin typeface="Arial"/>
                <a:ea typeface="Microsoft YaHei"/>
              </a:rPr>
              <a:t>Business English · Level 4 · Unit 3 · Lesson 09 Making visitors feel welcome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28655" y="6419088"/>
            <a:ext cx="914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  <a:spcAft>
                <a:spcPts val="800"/>
              </a:spcAft>
            </a:pPr>
            <a:r>
              <a:rPr sz="1100" b="0">
                <a:solidFill>
                  <a:srgbClr val="5F677A"/>
                </a:solidFill>
                <a:latin typeface="Arial"/>
                <a:ea typeface="Microsoft YaHei"/>
              </a:rPr>
              <a:t>96</a:t>
            </a:r>
          </a:p>
        </p:txBody>
      </p:sp>
      <p:sp>
        <p:nvSpPr>
          <p:cNvPr id="7" name="Rounded Rectangle 6">
            <a:hlinkClick action="ppaction://hlinksldjump" r:id="rId2"/>
          </p:cNvPr>
          <p:cNvSpPr/>
          <p:nvPr/>
        </p:nvSpPr>
        <p:spPr>
          <a:xfrm>
            <a:off x="9677095" y="6382512"/>
            <a:ext cx="960120" cy="329184"/>
          </a:xfrm>
          <a:prstGeom prst="roundRect">
            <a:avLst>
              <a:gd name="adj" fmla="val 50000"/>
            </a:avLst>
          </a:prstGeom>
          <a:solidFill>
            <a:srgbClr val="FFE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Aft>
                <a:spcPts val="200"/>
              </a:spcAft>
            </a:pPr>
            <a:r>
              <a:rPr sz="1100" b="1">
                <a:solidFill>
                  <a:srgbClr val="1F2A44"/>
                </a:solidFill>
                <a:latin typeface="Arial"/>
                <a:ea typeface="Microsoft YaHei"/>
              </a:rPr>
              <a:t>🗺 Map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325880"/>
            <a:ext cx="731520" cy="457200"/>
          </a:xfrm>
          <a:prstGeom prst="roundRect">
            <a:avLst>
              <a:gd name="adj" fmla="val 50000"/>
            </a:avLst>
          </a:prstGeom>
          <a:solidFill>
            <a:srgbClr val="FF6B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Arial"/>
                <a:ea typeface="Microsoft YaHei"/>
              </a:rPr>
              <a:t>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1764792"/>
            <a:ext cx="1280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800"/>
              </a:spcAft>
            </a:pPr>
            <a:r>
              <a:rPr sz="1000" b="0">
                <a:solidFill>
                  <a:srgbClr val="5F677A"/>
                </a:solidFill>
                <a:latin typeface="Arial"/>
                <a:ea typeface="Microsoft YaHei"/>
              </a:rPr>
              <a:t>Fang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463040" y="1325880"/>
            <a:ext cx="8595360" cy="490728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31750">
            <a:solidFill>
              <a:srgbClr val="FF6B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l">
              <a:spcAft>
                <a:spcPts val="200"/>
              </a:spcAft>
            </a:pPr>
            <a:r>
              <a:rPr sz="1900" b="1">
                <a:solidFill>
                  <a:srgbClr val="1F2A44"/>
                </a:solidFill>
                <a:latin typeface="Arial"/>
                <a:ea typeface="Microsoft YaHei"/>
              </a:rPr>
              <a:t>Mr Reed? Hello, I’m Wang Fang from Orion. Welcome to Shanghai.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911535" y="1908048"/>
            <a:ext cx="731520" cy="457200"/>
          </a:xfrm>
          <a:prstGeom prst="roundRect">
            <a:avLst>
              <a:gd name="adj" fmla="val 50000"/>
            </a:avLst>
          </a:prstGeom>
          <a:solidFill>
            <a:srgbClr val="4A90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Arial"/>
                <a:ea typeface="Microsoft YaHei"/>
              </a:rPr>
              <a:t>B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37215" y="2346960"/>
            <a:ext cx="1280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800"/>
              </a:spcAft>
            </a:pPr>
            <a:r>
              <a:rPr sz="1000" b="0">
                <a:solidFill>
                  <a:srgbClr val="5F677A"/>
                </a:solidFill>
                <a:latin typeface="Arial"/>
                <a:ea typeface="Microsoft YaHei"/>
              </a:rPr>
              <a:t>James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133295" y="1908048"/>
            <a:ext cx="8595360" cy="780288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31750">
            <a:solidFill>
              <a:srgbClr val="4A90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l">
              <a:spcAft>
                <a:spcPts val="200"/>
              </a:spcAft>
            </a:pPr>
            <a:r>
              <a:rPr sz="1900" b="1">
                <a:solidFill>
                  <a:srgbClr val="1F2A44"/>
                </a:solidFill>
                <a:latin typeface="Arial"/>
                <a:ea typeface="Microsoft YaHei"/>
              </a:rPr>
              <a:t>Hello, Fang. Please call me James. It’s very kind of you to come to the airport.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2779776"/>
            <a:ext cx="731520" cy="457200"/>
          </a:xfrm>
          <a:prstGeom prst="roundRect">
            <a:avLst>
              <a:gd name="adj" fmla="val 50000"/>
            </a:avLst>
          </a:prstGeom>
          <a:solidFill>
            <a:srgbClr val="FF6B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Arial"/>
                <a:ea typeface="Microsoft YaHei"/>
              </a:rPr>
              <a:t>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4320" y="3218688"/>
            <a:ext cx="1280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800"/>
              </a:spcAft>
            </a:pPr>
            <a:r>
              <a:rPr sz="1000" b="0">
                <a:solidFill>
                  <a:srgbClr val="5F677A"/>
                </a:solidFill>
                <a:latin typeface="Arial"/>
                <a:ea typeface="Microsoft YaHei"/>
              </a:rPr>
              <a:t> 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463040" y="2779776"/>
            <a:ext cx="8595360" cy="780288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31750">
            <a:solidFill>
              <a:srgbClr val="FF6B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l">
              <a:spcAft>
                <a:spcPts val="200"/>
              </a:spcAft>
            </a:pPr>
            <a:r>
              <a:rPr sz="1900" b="1">
                <a:solidFill>
                  <a:srgbClr val="1F2A44"/>
                </a:solidFill>
                <a:latin typeface="Arial"/>
                <a:ea typeface="Microsoft YaHei"/>
              </a:rPr>
              <a:t>It’s no trouble at all. Let me take your suitcase. I hope you had a pleasant journey.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911535" y="3651504"/>
            <a:ext cx="731520" cy="457200"/>
          </a:xfrm>
          <a:prstGeom prst="roundRect">
            <a:avLst>
              <a:gd name="adj" fmla="val 50000"/>
            </a:avLst>
          </a:prstGeom>
          <a:solidFill>
            <a:srgbClr val="4A90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Arial"/>
                <a:ea typeface="Microsoft YaHei"/>
              </a:rPr>
              <a:t>B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637215" y="4090416"/>
            <a:ext cx="1280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800"/>
              </a:spcAft>
            </a:pPr>
            <a:r>
              <a:rPr sz="1000" b="0">
                <a:solidFill>
                  <a:srgbClr val="5F677A"/>
                </a:solidFill>
                <a:latin typeface="Arial"/>
                <a:ea typeface="Microsoft YaHei"/>
              </a:rPr>
              <a:t> 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133295" y="3651504"/>
            <a:ext cx="8595360" cy="490728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31750">
            <a:solidFill>
              <a:srgbClr val="4A90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l">
              <a:spcAft>
                <a:spcPts val="200"/>
              </a:spcAft>
            </a:pPr>
            <a:r>
              <a:rPr sz="1900" b="1">
                <a:solidFill>
                  <a:srgbClr val="1F2A44"/>
                </a:solidFill>
                <a:latin typeface="Arial"/>
                <a:ea typeface="Microsoft YaHei"/>
              </a:rPr>
              <a:t>It was long, but fine. I’m a bit tired, to be honest.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4233672"/>
            <a:ext cx="731520" cy="457200"/>
          </a:xfrm>
          <a:prstGeom prst="roundRect">
            <a:avLst>
              <a:gd name="adj" fmla="val 50000"/>
            </a:avLst>
          </a:prstGeom>
          <a:solidFill>
            <a:srgbClr val="FF6B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Arial"/>
                <a:ea typeface="Microsoft YaHei"/>
              </a:rPr>
              <a:t>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74320" y="4672584"/>
            <a:ext cx="1280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800"/>
              </a:spcAft>
            </a:pPr>
            <a:r>
              <a:rPr sz="1000" b="0">
                <a:solidFill>
                  <a:srgbClr val="5F677A"/>
                </a:solidFill>
                <a:latin typeface="Arial"/>
                <a:ea typeface="Microsoft YaHei"/>
              </a:rPr>
              <a:t> 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463040" y="4233672"/>
            <a:ext cx="8595360" cy="780288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31750">
            <a:solidFill>
              <a:srgbClr val="FF6B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l">
              <a:spcAft>
                <a:spcPts val="200"/>
              </a:spcAft>
            </a:pPr>
            <a:r>
              <a:rPr sz="1900" b="1">
                <a:solidFill>
                  <a:srgbClr val="1F2A44"/>
                </a:solidFill>
                <a:latin typeface="Arial"/>
                <a:ea typeface="Microsoft YaHei"/>
              </a:rPr>
              <a:t>You must be exhausted. The car is just outside. The hotel is about forty minutes from here.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0911535" y="5105400"/>
            <a:ext cx="731520" cy="457200"/>
          </a:xfrm>
          <a:prstGeom prst="roundRect">
            <a:avLst>
              <a:gd name="adj" fmla="val 50000"/>
            </a:avLst>
          </a:prstGeom>
          <a:solidFill>
            <a:srgbClr val="4A90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Arial"/>
                <a:ea typeface="Microsoft YaHei"/>
              </a:rPr>
              <a:t>B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637215" y="5544312"/>
            <a:ext cx="1280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800"/>
              </a:spcAft>
            </a:pPr>
            <a:r>
              <a:rPr sz="1000" b="0">
                <a:solidFill>
                  <a:srgbClr val="5F677A"/>
                </a:solidFill>
                <a:latin typeface="Arial"/>
                <a:ea typeface="Microsoft YaHei"/>
              </a:rPr>
              <a:t> 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2133295" y="5105400"/>
            <a:ext cx="8595360" cy="490728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31750">
            <a:solidFill>
              <a:srgbClr val="4A90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l">
              <a:spcAft>
                <a:spcPts val="200"/>
              </a:spcAft>
            </a:pPr>
            <a:r>
              <a:rPr sz="1900" b="1">
                <a:solidFill>
                  <a:srgbClr val="1F2A44"/>
                </a:solidFill>
                <a:latin typeface="Arial"/>
                <a:ea typeface="Microsoft YaHei"/>
              </a:rPr>
              <a:t>That’s fine. I’d love to see a bit of the city.</a:t>
            </a:r>
          </a:p>
        </p:txBody>
      </p:sp>
    </p:spTree>
  </p:cSld>
  <p:clrMapOvr>
    <a:masterClrMapping/>
  </p:clrMapOvr>
  <p:transition spd="med">
    <p:fade/>
  </p:transition>
</p:sld>
</file>

<file path=ppt/slides/slide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9B6B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8442656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2200" b="1">
                <a:solidFill>
                  <a:srgbClr val="1F2A44"/>
                </a:solidFill>
                <a:latin typeface="Arial"/>
                <a:ea typeface="Microsoft YaHei"/>
              </a:rPr>
              <a:t>🎭 Model Dialogue · Meeting a visitor at the airport (cont.)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74175" y="438912"/>
            <a:ext cx="2560320" cy="475488"/>
          </a:xfrm>
          <a:prstGeom prst="roundRect">
            <a:avLst>
              <a:gd name="adj" fmla="val 50000"/>
            </a:avLst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3152" rIns="73152"/>
          <a:lstStyle/>
          <a:p>
            <a:pPr algn="ctr">
              <a:spcAft>
                <a:spcPts val="200"/>
              </a:spcAft>
            </a:pPr>
            <a:r>
              <a:rPr sz="1300" b="1">
                <a:solidFill>
                  <a:srgbClr val="FFFFFF"/>
                </a:solidFill>
                <a:latin typeface="Arial"/>
                <a:ea typeface="Microsoft YaHei"/>
              </a:rPr>
              <a:t>Part 2/2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19088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100" b="0">
                <a:solidFill>
                  <a:srgbClr val="5F677A"/>
                </a:solidFill>
                <a:latin typeface="Arial"/>
                <a:ea typeface="Microsoft YaHei"/>
              </a:rPr>
              <a:t>Business English · Level 4 · Unit 3 · Lesson 09 Making visitors feel welcome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28655" y="6419088"/>
            <a:ext cx="914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  <a:spcAft>
                <a:spcPts val="800"/>
              </a:spcAft>
            </a:pPr>
            <a:r>
              <a:rPr sz="1100" b="0">
                <a:solidFill>
                  <a:srgbClr val="5F677A"/>
                </a:solidFill>
                <a:latin typeface="Arial"/>
                <a:ea typeface="Microsoft YaHei"/>
              </a:rPr>
              <a:t>97</a:t>
            </a:r>
          </a:p>
        </p:txBody>
      </p:sp>
      <p:sp>
        <p:nvSpPr>
          <p:cNvPr id="7" name="Rounded Rectangle 6">
            <a:hlinkClick action="ppaction://hlinksldjump" r:id="rId2"/>
          </p:cNvPr>
          <p:cNvSpPr/>
          <p:nvPr/>
        </p:nvSpPr>
        <p:spPr>
          <a:xfrm>
            <a:off x="9677095" y="6382512"/>
            <a:ext cx="960120" cy="329184"/>
          </a:xfrm>
          <a:prstGeom prst="roundRect">
            <a:avLst>
              <a:gd name="adj" fmla="val 50000"/>
            </a:avLst>
          </a:prstGeom>
          <a:solidFill>
            <a:srgbClr val="FFE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Aft>
                <a:spcPts val="200"/>
              </a:spcAft>
            </a:pPr>
            <a:r>
              <a:rPr sz="1100" b="1">
                <a:solidFill>
                  <a:srgbClr val="1F2A44"/>
                </a:solidFill>
                <a:latin typeface="Arial"/>
                <a:ea typeface="Microsoft YaHei"/>
              </a:rPr>
              <a:t>🗺 Map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325880"/>
            <a:ext cx="731520" cy="457200"/>
          </a:xfrm>
          <a:prstGeom prst="roundRect">
            <a:avLst>
              <a:gd name="adj" fmla="val 50000"/>
            </a:avLst>
          </a:prstGeom>
          <a:solidFill>
            <a:srgbClr val="FF6B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Arial"/>
                <a:ea typeface="Microsoft YaHei"/>
              </a:rPr>
              <a:t>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1764792"/>
            <a:ext cx="1280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800"/>
              </a:spcAft>
            </a:pPr>
            <a:r>
              <a:rPr sz="1000" b="0">
                <a:solidFill>
                  <a:srgbClr val="5F677A"/>
                </a:solidFill>
                <a:latin typeface="Arial"/>
                <a:ea typeface="Microsoft YaHei"/>
              </a:rPr>
              <a:t> 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463040" y="1325880"/>
            <a:ext cx="8595360" cy="1069847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31750">
            <a:solidFill>
              <a:srgbClr val="FF6B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l">
              <a:spcAft>
                <a:spcPts val="200"/>
              </a:spcAft>
            </a:pPr>
            <a:r>
              <a:rPr sz="1900" b="1">
                <a:solidFill>
                  <a:srgbClr val="1F2A44"/>
                </a:solidFill>
                <a:latin typeface="Arial"/>
                <a:ea typeface="Microsoft YaHei"/>
              </a:rPr>
              <a:t>I’ve booked you into the Riverside Hotel, close to our office. Would you like to freshen up first, or go straight to a meeting tomorrow?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911535" y="2487167"/>
            <a:ext cx="731520" cy="457200"/>
          </a:xfrm>
          <a:prstGeom prst="roundRect">
            <a:avLst>
              <a:gd name="adj" fmla="val 50000"/>
            </a:avLst>
          </a:prstGeom>
          <a:solidFill>
            <a:srgbClr val="4A90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Arial"/>
                <a:ea typeface="Microsoft YaHei"/>
              </a:rPr>
              <a:t>B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37215" y="2926079"/>
            <a:ext cx="1280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800"/>
              </a:spcAft>
            </a:pPr>
            <a:r>
              <a:rPr sz="1000" b="0">
                <a:solidFill>
                  <a:srgbClr val="5F677A"/>
                </a:solidFill>
                <a:latin typeface="Arial"/>
                <a:ea typeface="Microsoft YaHei"/>
              </a:rPr>
              <a:t> 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133295" y="2487167"/>
            <a:ext cx="8595360" cy="490728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31750">
            <a:solidFill>
              <a:srgbClr val="4A90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l">
              <a:spcAft>
                <a:spcPts val="200"/>
              </a:spcAft>
            </a:pPr>
            <a:r>
              <a:rPr sz="1900" b="1">
                <a:solidFill>
                  <a:srgbClr val="1F2A44"/>
                </a:solidFill>
                <a:latin typeface="Arial"/>
                <a:ea typeface="Microsoft YaHei"/>
              </a:rPr>
              <a:t>Tomorrow is fine. I’d like to rest tonight.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3069335"/>
            <a:ext cx="731520" cy="457200"/>
          </a:xfrm>
          <a:prstGeom prst="roundRect">
            <a:avLst>
              <a:gd name="adj" fmla="val 50000"/>
            </a:avLst>
          </a:prstGeom>
          <a:solidFill>
            <a:srgbClr val="FF6B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Arial"/>
                <a:ea typeface="Microsoft YaHei"/>
              </a:rPr>
              <a:t>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4320" y="3508247"/>
            <a:ext cx="1280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800"/>
              </a:spcAft>
            </a:pPr>
            <a:r>
              <a:rPr sz="1000" b="0">
                <a:solidFill>
                  <a:srgbClr val="5F677A"/>
                </a:solidFill>
                <a:latin typeface="Arial"/>
                <a:ea typeface="Microsoft YaHei"/>
              </a:rPr>
              <a:t> 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463040" y="3069335"/>
            <a:ext cx="8595360" cy="780288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31750">
            <a:solidFill>
              <a:srgbClr val="FF6B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l">
              <a:spcAft>
                <a:spcPts val="200"/>
              </a:spcAft>
            </a:pPr>
            <a:r>
              <a:rPr sz="1900" b="1">
                <a:solidFill>
                  <a:srgbClr val="1F2A44"/>
                </a:solidFill>
                <a:latin typeface="Arial"/>
                <a:ea typeface="Microsoft YaHei"/>
              </a:rPr>
              <a:t>Of course. I’ll leave the evening free. Do you have any dietary requirements for lunch tomorrow?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911535" y="3941063"/>
            <a:ext cx="731520" cy="457200"/>
          </a:xfrm>
          <a:prstGeom prst="roundRect">
            <a:avLst>
              <a:gd name="adj" fmla="val 50000"/>
            </a:avLst>
          </a:prstGeom>
          <a:solidFill>
            <a:srgbClr val="4A90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Arial"/>
                <a:ea typeface="Microsoft YaHei"/>
              </a:rPr>
              <a:t>B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637215" y="4379975"/>
            <a:ext cx="1280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800"/>
              </a:spcAft>
            </a:pPr>
            <a:r>
              <a:rPr sz="1000" b="0">
                <a:solidFill>
                  <a:srgbClr val="5F677A"/>
                </a:solidFill>
                <a:latin typeface="Arial"/>
                <a:ea typeface="Microsoft YaHei"/>
              </a:rPr>
              <a:t> 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133295" y="3941063"/>
            <a:ext cx="8595360" cy="490728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31750">
            <a:solidFill>
              <a:srgbClr val="4A90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l">
              <a:spcAft>
                <a:spcPts val="200"/>
              </a:spcAft>
            </a:pPr>
            <a:r>
              <a:rPr sz="1900" b="1">
                <a:solidFill>
                  <a:srgbClr val="1F2A44"/>
                </a:solidFill>
                <a:latin typeface="Arial"/>
                <a:ea typeface="Microsoft YaHei"/>
              </a:rPr>
              <a:t>I don’t eat much meat, but I’m not strict. Fish is fine.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4523231"/>
            <a:ext cx="731520" cy="457200"/>
          </a:xfrm>
          <a:prstGeom prst="roundRect">
            <a:avLst>
              <a:gd name="adj" fmla="val 50000"/>
            </a:avLst>
          </a:prstGeom>
          <a:solidFill>
            <a:srgbClr val="FF6B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Arial"/>
                <a:ea typeface="Microsoft YaHei"/>
              </a:rPr>
              <a:t>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74320" y="4962143"/>
            <a:ext cx="1280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800"/>
              </a:spcAft>
            </a:pPr>
            <a:r>
              <a:rPr sz="1000" b="0">
                <a:solidFill>
                  <a:srgbClr val="5F677A"/>
                </a:solidFill>
                <a:latin typeface="Arial"/>
                <a:ea typeface="Microsoft YaHei"/>
              </a:rPr>
              <a:t> 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463040" y="4523231"/>
            <a:ext cx="8595360" cy="780288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31750">
            <a:solidFill>
              <a:srgbClr val="FF6B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l">
              <a:spcAft>
                <a:spcPts val="200"/>
              </a:spcAft>
            </a:pPr>
            <a:r>
              <a:rPr sz="1900" b="1">
                <a:solidFill>
                  <a:srgbClr val="1F2A44"/>
                </a:solidFill>
                <a:latin typeface="Arial"/>
                <a:ea typeface="Microsoft YaHei"/>
              </a:rPr>
              <a:t>Noted. I’ll make sure we choose a good place. If you need anything, please call me. I’m at your disposal.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0911535" y="5394959"/>
            <a:ext cx="731520" cy="457200"/>
          </a:xfrm>
          <a:prstGeom prst="roundRect">
            <a:avLst>
              <a:gd name="adj" fmla="val 50000"/>
            </a:avLst>
          </a:prstGeom>
          <a:solidFill>
            <a:srgbClr val="4A90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Arial"/>
                <a:ea typeface="Microsoft YaHei"/>
              </a:rPr>
              <a:t>B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637215" y="5833871"/>
            <a:ext cx="1280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800"/>
              </a:spcAft>
            </a:pPr>
            <a:r>
              <a:rPr sz="1000" b="0">
                <a:solidFill>
                  <a:srgbClr val="5F677A"/>
                </a:solidFill>
                <a:latin typeface="Arial"/>
                <a:ea typeface="Microsoft YaHei"/>
              </a:rPr>
              <a:t> 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2133295" y="5394959"/>
            <a:ext cx="8595360" cy="490728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31750">
            <a:solidFill>
              <a:srgbClr val="4A90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l">
              <a:spcAft>
                <a:spcPts val="200"/>
              </a:spcAft>
            </a:pPr>
            <a:r>
              <a:rPr sz="1900" b="1">
                <a:solidFill>
                  <a:srgbClr val="1F2A44"/>
                </a:solidFill>
                <a:latin typeface="Arial"/>
                <a:ea typeface="Microsoft YaHei"/>
              </a:rPr>
              <a:t>Thank you. You’ve been so kind.</a:t>
            </a:r>
          </a:p>
        </p:txBody>
      </p:sp>
    </p:spTree>
  </p:cSld>
  <p:clrMapOvr>
    <a:masterClrMapping/>
  </p:clrMapOvr>
  <p:transition spd="med">
    <p:fade/>
  </p:transition>
</p:sld>
</file>

<file path=ppt/slides/slide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FC8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8442656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2500" b="1">
                <a:solidFill>
                  <a:srgbClr val="1F2A44"/>
                </a:solidFill>
                <a:latin typeface="Arial"/>
                <a:ea typeface="Microsoft YaHei"/>
              </a:rPr>
              <a:t>🎯 Your Turn · Meeting a visitor at the airport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74175" y="438912"/>
            <a:ext cx="2560320" cy="475488"/>
          </a:xfrm>
          <a:prstGeom prst="roundRect">
            <a:avLst>
              <a:gd name="adj" fmla="val 50000"/>
            </a:avLst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3152" rIns="73152"/>
          <a:lstStyle/>
          <a:p>
            <a:pPr algn="ctr">
              <a:spcAft>
                <a:spcPts val="200"/>
              </a:spcAft>
            </a:pPr>
            <a:r>
              <a:rPr sz="1300" b="1">
                <a:solidFill>
                  <a:srgbClr val="FFFFFF"/>
                </a:solidFill>
                <a:latin typeface="Arial"/>
                <a:ea typeface="Microsoft YaHei"/>
              </a:rPr>
              <a:t>03 Role play 角色扮演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19088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100" b="0">
                <a:solidFill>
                  <a:srgbClr val="5F677A"/>
                </a:solidFill>
                <a:latin typeface="Arial"/>
                <a:ea typeface="Microsoft YaHei"/>
              </a:rPr>
              <a:t>Business English · Level 4 · Unit 3 · Lesson 09 Making visitors feel welcome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28655" y="6419088"/>
            <a:ext cx="914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  <a:spcAft>
                <a:spcPts val="800"/>
              </a:spcAft>
            </a:pPr>
            <a:r>
              <a:rPr sz="1100" b="0">
                <a:solidFill>
                  <a:srgbClr val="5F677A"/>
                </a:solidFill>
                <a:latin typeface="Arial"/>
                <a:ea typeface="Microsoft YaHei"/>
              </a:rPr>
              <a:t>98</a:t>
            </a:r>
          </a:p>
        </p:txBody>
      </p:sp>
      <p:sp>
        <p:nvSpPr>
          <p:cNvPr id="7" name="Rounded Rectangle 6">
            <a:hlinkClick action="ppaction://hlinksldjump" r:id="rId2"/>
          </p:cNvPr>
          <p:cNvSpPr/>
          <p:nvPr/>
        </p:nvSpPr>
        <p:spPr>
          <a:xfrm>
            <a:off x="9677095" y="6382512"/>
            <a:ext cx="960120" cy="329184"/>
          </a:xfrm>
          <a:prstGeom prst="roundRect">
            <a:avLst>
              <a:gd name="adj" fmla="val 50000"/>
            </a:avLst>
          </a:prstGeom>
          <a:solidFill>
            <a:srgbClr val="FFE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Aft>
                <a:spcPts val="200"/>
              </a:spcAft>
            </a:pPr>
            <a:r>
              <a:rPr sz="1100" b="1">
                <a:solidFill>
                  <a:srgbClr val="1F2A44"/>
                </a:solidFill>
                <a:latin typeface="Arial"/>
                <a:ea typeface="Microsoft YaHei"/>
              </a:rPr>
              <a:t>🗺 Map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325880"/>
            <a:ext cx="2377440" cy="652272"/>
          </a:xfrm>
          <a:prstGeom prst="roundRect">
            <a:avLst>
              <a:gd name="adj" fmla="val 15000"/>
            </a:avLst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Arial"/>
                <a:ea typeface="Microsoft YaHei"/>
              </a:rPr>
              <a:t>Situation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017520" y="1325880"/>
            <a:ext cx="8625535" cy="652272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1F2A44"/>
                </a:solidFill>
                <a:latin typeface="Arial"/>
                <a:ea typeface="Microsoft YaHei"/>
              </a:rPr>
              <a:t>You meet an overseas visitor at the airport or station and take them to the hotel.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051304"/>
            <a:ext cx="2377440" cy="408432"/>
          </a:xfrm>
          <a:prstGeom prst="roundRect">
            <a:avLst>
              <a:gd name="adj" fmla="val 15000"/>
            </a:avLst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Arial"/>
                <a:ea typeface="Microsoft YaHei"/>
              </a:rPr>
              <a:t>Your role (A)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017520" y="2051304"/>
            <a:ext cx="8625535" cy="408432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1F2A44"/>
                </a:solidFill>
                <a:latin typeface="Arial"/>
                <a:ea typeface="Microsoft YaHei"/>
              </a:rPr>
              <a:t>Host. Your name and company: ______________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2532888"/>
            <a:ext cx="2377440" cy="408432"/>
          </a:xfrm>
          <a:prstGeom prst="roundRect">
            <a:avLst>
              <a:gd name="adj" fmla="val 15000"/>
            </a:avLst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Arial"/>
                <a:ea typeface="Microsoft YaHei"/>
              </a:rPr>
              <a:t>Partner’s role (B)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017520" y="2532888"/>
            <a:ext cx="8625535" cy="408432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1F2A44"/>
                </a:solidFill>
                <a:latin typeface="Arial"/>
                <a:ea typeface="Microsoft YaHei"/>
              </a:rPr>
              <a:t>Visitor. Tired after a long journey. Has a food preference.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3014472"/>
            <a:ext cx="2377440" cy="652272"/>
          </a:xfrm>
          <a:prstGeom prst="roundRect">
            <a:avLst>
              <a:gd name="adj" fmla="val 15000"/>
            </a:avLst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Arial"/>
                <a:ea typeface="Microsoft YaHei"/>
              </a:rPr>
              <a:t>Must use (4 or more)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017520" y="3014472"/>
            <a:ext cx="8625535" cy="652272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1F2A44"/>
                </a:solidFill>
                <a:latin typeface="Arial"/>
                <a:ea typeface="Microsoft YaHei"/>
              </a:rPr>
              <a:t>I hope you had a pleasant journey. · You must be exhausted. · dietary requirements · freshen up · It’s no trouble at all.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3739896"/>
            <a:ext cx="2377440" cy="408432"/>
          </a:xfrm>
          <a:prstGeom prst="roundRect">
            <a:avLst>
              <a:gd name="adj" fmla="val 15000"/>
            </a:avLst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Arial"/>
                <a:ea typeface="Microsoft YaHei"/>
              </a:rPr>
              <a:t>Goal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017520" y="3739896"/>
            <a:ext cx="8625535" cy="408432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1F2A44"/>
                </a:solidFill>
                <a:latin typeface="Arial"/>
                <a:ea typeface="Microsoft YaHei"/>
              </a:rPr>
              <a:t>Welcome the visitor, ask about comfort and food, explain the plan for tomorrow.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4221480"/>
            <a:ext cx="2377440" cy="408432"/>
          </a:xfrm>
          <a:prstGeom prst="roundRect">
            <a:avLst>
              <a:gd name="adj" fmla="val 15000"/>
            </a:avLst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Arial"/>
                <a:ea typeface="Microsoft YaHei"/>
              </a:rPr>
              <a:t>My notes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017520" y="4221480"/>
            <a:ext cx="8625535" cy="408432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1F2A44"/>
                </a:solidFill>
                <a:latin typeface="Arial"/>
                <a:ea typeface="Microsoft YaHei"/>
              </a:rPr>
              <a:t>____________________________________________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4794504"/>
            <a:ext cx="11094415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500" b="1">
                <a:solidFill>
                  <a:srgbClr val="FF6B5B"/>
                </a:solidFill>
                <a:latin typeface="Arial"/>
                <a:ea typeface="Microsoft YaHei"/>
              </a:rPr>
              <a:t>🔥 Level-up challenges 进阶挑战 (click)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8640" y="5178552"/>
            <a:ext cx="3576218" cy="1039368"/>
          </a:xfrm>
          <a:prstGeom prst="roundRect">
            <a:avLst>
              <a:gd name="adj" fmla="val 12000"/>
            </a:avLst>
          </a:prstGeom>
          <a:solidFill>
            <a:srgbClr val="4A90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FFFFFF"/>
                </a:solidFill>
                <a:latin typeface="Arial"/>
                <a:ea typeface="Microsoft YaHei"/>
              </a:rPr>
              <a:t>The flight was delayed and the car left. Say: “I’m so sorry about this. Let me arrange another car right away.”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307738" y="5178552"/>
            <a:ext cx="3576218" cy="1039368"/>
          </a:xfrm>
          <a:prstGeom prst="roundRect">
            <a:avLst>
              <a:gd name="adj" fmla="val 12000"/>
            </a:avLst>
          </a:prstGeom>
          <a:solidFill>
            <a:srgbClr val="3CC4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FFFFFF"/>
                </a:solidFill>
                <a:latin typeface="Arial"/>
                <a:ea typeface="Microsoft YaHei"/>
              </a:rPr>
              <a:t>Ask about the visitor’s preferences for the schedule: “Would you prefer a quiet evening or a short city tour?”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066836" y="5178552"/>
            <a:ext cx="3576218" cy="1039368"/>
          </a:xfrm>
          <a:prstGeom prst="roundRect">
            <a:avLst>
              <a:gd name="adj" fmla="val 12000"/>
            </a:avLst>
          </a:prstGeom>
          <a:solidFill>
            <a:srgbClr val="FFC8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FFFFFF"/>
                </a:solidFill>
                <a:latin typeface="Arial"/>
                <a:ea typeface="Microsoft YaHei"/>
              </a:rPr>
              <a:t>Include one idiom: “We’d like to go the extra mile.”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" fill="hold">
                      <p:stCondLst>
                        <p:cond delay="indefinite"/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9B6B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8442656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2400" b="1">
                <a:solidFill>
                  <a:srgbClr val="1F2A44"/>
                </a:solidFill>
                <a:latin typeface="Arial"/>
                <a:ea typeface="Microsoft YaHei"/>
              </a:rPr>
              <a:t>🎭 Role Play · Planning a welcome with a colleague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74175" y="438912"/>
            <a:ext cx="2560320" cy="475488"/>
          </a:xfrm>
          <a:prstGeom prst="roundRect">
            <a:avLst>
              <a:gd name="adj" fmla="val 50000"/>
            </a:avLst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3152" rIns="73152"/>
          <a:lstStyle/>
          <a:p>
            <a:pPr algn="ctr">
              <a:spcAft>
                <a:spcPts val="200"/>
              </a:spcAft>
            </a:pPr>
            <a:r>
              <a:rPr sz="1300" b="1">
                <a:solidFill>
                  <a:srgbClr val="FFFFFF"/>
                </a:solidFill>
                <a:latin typeface="Arial"/>
                <a:ea typeface="Microsoft YaHei"/>
              </a:rPr>
              <a:t>03 Role play 角色扮演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19088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100" b="0">
                <a:solidFill>
                  <a:srgbClr val="5F677A"/>
                </a:solidFill>
                <a:latin typeface="Arial"/>
                <a:ea typeface="Microsoft YaHei"/>
              </a:rPr>
              <a:t>Business English · Level 4 · Unit 3 · Lesson 09 Making visitors feel welcome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28655" y="6419088"/>
            <a:ext cx="914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  <a:spcAft>
                <a:spcPts val="800"/>
              </a:spcAft>
            </a:pPr>
            <a:r>
              <a:rPr sz="1100" b="0">
                <a:solidFill>
                  <a:srgbClr val="5F677A"/>
                </a:solidFill>
                <a:latin typeface="Arial"/>
                <a:ea typeface="Microsoft YaHei"/>
              </a:rPr>
              <a:t>99</a:t>
            </a:r>
          </a:p>
        </p:txBody>
      </p:sp>
      <p:sp>
        <p:nvSpPr>
          <p:cNvPr id="7" name="Rounded Rectangle 6">
            <a:hlinkClick action="ppaction://hlinksldjump" r:id="rId2"/>
          </p:cNvPr>
          <p:cNvSpPr/>
          <p:nvPr/>
        </p:nvSpPr>
        <p:spPr>
          <a:xfrm>
            <a:off x="9677095" y="6382512"/>
            <a:ext cx="960120" cy="329184"/>
          </a:xfrm>
          <a:prstGeom prst="roundRect">
            <a:avLst>
              <a:gd name="adj" fmla="val 50000"/>
            </a:avLst>
          </a:prstGeom>
          <a:solidFill>
            <a:srgbClr val="FFE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Aft>
                <a:spcPts val="200"/>
              </a:spcAft>
            </a:pPr>
            <a:r>
              <a:rPr sz="1100" b="1">
                <a:solidFill>
                  <a:srgbClr val="1F2A44"/>
                </a:solidFill>
                <a:latin typeface="Arial"/>
                <a:ea typeface="Microsoft YaHei"/>
              </a:rPr>
              <a:t>🗺 Map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960120"/>
            <a:ext cx="11094415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500" b="0">
                <a:solidFill>
                  <a:srgbClr val="5F677A"/>
                </a:solidFill>
                <a:latin typeface="Arial"/>
                <a:ea typeface="Microsoft YaHei"/>
              </a:rPr>
              <a:t>与同事商量接待安排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463040"/>
            <a:ext cx="11094415" cy="14630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31750">
            <a:solidFill>
              <a:srgbClr val="9B6B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5F677A"/>
                </a:solidFill>
                <a:latin typeface="Arial"/>
                <a:ea typeface="Microsoft YaHei"/>
              </a:rPr>
              <a:t>📍 Situation 情景</a:t>
            </a:r>
          </a:p>
          <a:p>
            <a:pPr algn="l">
              <a:spcAft>
                <a:spcPts val="200"/>
              </a:spcAft>
            </a:pPr>
            <a:r>
              <a:rPr sz="2400" b="1">
                <a:solidFill>
                  <a:srgbClr val="1F2A44"/>
                </a:solidFill>
                <a:latin typeface="Arial"/>
                <a:ea typeface="Microsoft YaHei"/>
              </a:rPr>
              <a:t>A delegation of five visitors will arrive next week. You discuss the welcome with your assistant.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3200400"/>
            <a:ext cx="5410047" cy="21945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777240" y="3429000"/>
            <a:ext cx="1097280" cy="1097280"/>
          </a:xfrm>
          <a:prstGeom prst="ellipse">
            <a:avLst/>
          </a:prstGeom>
          <a:solidFill>
            <a:srgbClr val="FF6B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3152" rIns="73152"/>
          <a:lstStyle/>
          <a:p>
            <a:pPr algn="ctr">
              <a:spcAft>
                <a:spcPts val="200"/>
              </a:spcAft>
            </a:pPr>
            <a:r>
              <a:rPr sz="3600" b="1">
                <a:solidFill>
                  <a:srgbClr val="FFFFFF"/>
                </a:solidFill>
                <a:latin typeface="Arial"/>
                <a:ea typeface="Microsoft YaHei"/>
              </a:rPr>
              <a:t>👔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11680" y="3291840"/>
            <a:ext cx="3809847" cy="2011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400" b="1">
                <a:solidFill>
                  <a:srgbClr val="FF6B5B"/>
                </a:solidFill>
                <a:latin typeface="Arial"/>
                <a:ea typeface="Microsoft YaHei"/>
              </a:rPr>
              <a:t>Role A</a:t>
            </a:r>
          </a:p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2000" b="1">
                <a:solidFill>
                  <a:srgbClr val="1F2A44"/>
                </a:solidFill>
                <a:latin typeface="Arial"/>
                <a:ea typeface="Microsoft YaHei"/>
              </a:rPr>
              <a:t>Wang Fang, manager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33007" y="3200400"/>
            <a:ext cx="5410047" cy="21945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61607" y="3429000"/>
            <a:ext cx="1097280" cy="1097280"/>
          </a:xfrm>
          <a:prstGeom prst="ellipse">
            <a:avLst/>
          </a:prstGeom>
          <a:solidFill>
            <a:srgbClr val="4A90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3152" rIns="73152"/>
          <a:lstStyle/>
          <a:p>
            <a:pPr algn="ctr">
              <a:spcAft>
                <a:spcPts val="200"/>
              </a:spcAft>
            </a:pPr>
            <a:r>
              <a:rPr sz="3600" b="1">
                <a:solidFill>
                  <a:srgbClr val="FFFFFF"/>
                </a:solidFill>
                <a:latin typeface="Arial"/>
                <a:ea typeface="Microsoft YaHei"/>
              </a:rPr>
              <a:t>💼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96047" y="3291840"/>
            <a:ext cx="3809847" cy="2011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400" b="1">
                <a:solidFill>
                  <a:srgbClr val="4A90E2"/>
                </a:solidFill>
                <a:latin typeface="Arial"/>
                <a:ea typeface="Microsoft YaHei"/>
              </a:rPr>
              <a:t>Role B</a:t>
            </a:r>
          </a:p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2000" b="1">
                <a:solidFill>
                  <a:srgbClr val="1F2A44"/>
                </a:solidFill>
                <a:latin typeface="Arial"/>
                <a:ea typeface="Microsoft YaHei"/>
              </a:rPr>
              <a:t>Ivy Chen, assistant</a:t>
            </a:r>
          </a:p>
        </p:txBody>
      </p:sp>
    </p:spTree>
  </p:cSld>
  <p:clrMapOvr>
    <a:masterClrMapping/>
  </p:clrMapOvr>
  <p:transition spd="med">
    <p:fade/>
  </p:transition>
</p:sld>
</file>

<file path=ppt/slides/slide1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9B6B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8442656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2200" b="1">
                <a:solidFill>
                  <a:srgbClr val="1F2A44"/>
                </a:solidFill>
                <a:latin typeface="Arial"/>
                <a:ea typeface="Microsoft YaHei"/>
              </a:rPr>
              <a:t>🎭 Model Dialogue · Planning a welcome with a colleague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74175" y="438912"/>
            <a:ext cx="2560320" cy="475488"/>
          </a:xfrm>
          <a:prstGeom prst="roundRect">
            <a:avLst>
              <a:gd name="adj" fmla="val 50000"/>
            </a:avLst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3152" rIns="73152"/>
          <a:lstStyle/>
          <a:p>
            <a:pPr algn="ctr">
              <a:spcAft>
                <a:spcPts val="200"/>
              </a:spcAft>
            </a:pPr>
            <a:r>
              <a:rPr sz="1300" b="1">
                <a:solidFill>
                  <a:srgbClr val="FFFFFF"/>
                </a:solidFill>
                <a:latin typeface="Arial"/>
                <a:ea typeface="Microsoft YaHei"/>
              </a:rPr>
              <a:t>Part 1/3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19088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100" b="0">
                <a:solidFill>
                  <a:srgbClr val="5F677A"/>
                </a:solidFill>
                <a:latin typeface="Arial"/>
                <a:ea typeface="Microsoft YaHei"/>
              </a:rPr>
              <a:t>Business English · Level 4 · Unit 3 · Lesson 09 Making visitors feel welcome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28655" y="6419088"/>
            <a:ext cx="914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  <a:spcAft>
                <a:spcPts val="800"/>
              </a:spcAft>
            </a:pPr>
            <a:r>
              <a:rPr sz="1100" b="0">
                <a:solidFill>
                  <a:srgbClr val="5F677A"/>
                </a:solidFill>
                <a:latin typeface="Arial"/>
                <a:ea typeface="Microsoft YaHei"/>
              </a:rPr>
              <a:t>100</a:t>
            </a:r>
          </a:p>
        </p:txBody>
      </p:sp>
      <p:sp>
        <p:nvSpPr>
          <p:cNvPr id="7" name="Rounded Rectangle 6">
            <a:hlinkClick action="ppaction://hlinksldjump" r:id="rId2"/>
          </p:cNvPr>
          <p:cNvSpPr/>
          <p:nvPr/>
        </p:nvSpPr>
        <p:spPr>
          <a:xfrm>
            <a:off x="9677095" y="6382512"/>
            <a:ext cx="960120" cy="329184"/>
          </a:xfrm>
          <a:prstGeom prst="roundRect">
            <a:avLst>
              <a:gd name="adj" fmla="val 50000"/>
            </a:avLst>
          </a:prstGeom>
          <a:solidFill>
            <a:srgbClr val="FFE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Aft>
                <a:spcPts val="200"/>
              </a:spcAft>
            </a:pPr>
            <a:r>
              <a:rPr sz="1100" b="1">
                <a:solidFill>
                  <a:srgbClr val="1F2A44"/>
                </a:solidFill>
                <a:latin typeface="Arial"/>
                <a:ea typeface="Microsoft YaHei"/>
              </a:rPr>
              <a:t>🗺 Map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325880"/>
            <a:ext cx="731520" cy="457200"/>
          </a:xfrm>
          <a:prstGeom prst="roundRect">
            <a:avLst>
              <a:gd name="adj" fmla="val 50000"/>
            </a:avLst>
          </a:prstGeom>
          <a:solidFill>
            <a:srgbClr val="FF6B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Arial"/>
                <a:ea typeface="Microsoft YaHei"/>
              </a:rPr>
              <a:t>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1764792"/>
            <a:ext cx="1280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800"/>
              </a:spcAft>
            </a:pPr>
            <a:r>
              <a:rPr sz="1000" b="0">
                <a:solidFill>
                  <a:srgbClr val="5F677A"/>
                </a:solidFill>
                <a:latin typeface="Arial"/>
                <a:ea typeface="Microsoft YaHei"/>
              </a:rPr>
              <a:t>Fang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463040" y="1325880"/>
            <a:ext cx="8595360" cy="780288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31750">
            <a:solidFill>
              <a:srgbClr val="FF6B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l">
              <a:spcAft>
                <a:spcPts val="200"/>
              </a:spcAft>
            </a:pPr>
            <a:r>
              <a:rPr sz="1900" b="1">
                <a:solidFill>
                  <a:srgbClr val="1F2A44"/>
                </a:solidFill>
                <a:latin typeface="Arial"/>
                <a:ea typeface="Microsoft YaHei"/>
              </a:rPr>
              <a:t>Ivy, the delegation from Manchester arrives next Tuesday. I’d like to make sure they feel welcome.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911535" y="2197608"/>
            <a:ext cx="731520" cy="457200"/>
          </a:xfrm>
          <a:prstGeom prst="roundRect">
            <a:avLst>
              <a:gd name="adj" fmla="val 50000"/>
            </a:avLst>
          </a:prstGeom>
          <a:solidFill>
            <a:srgbClr val="4A90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Arial"/>
                <a:ea typeface="Microsoft YaHei"/>
              </a:rPr>
              <a:t>B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37215" y="2636520"/>
            <a:ext cx="1280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800"/>
              </a:spcAft>
            </a:pPr>
            <a:r>
              <a:rPr sz="1000" b="0">
                <a:solidFill>
                  <a:srgbClr val="5F677A"/>
                </a:solidFill>
                <a:latin typeface="Arial"/>
                <a:ea typeface="Microsoft YaHei"/>
              </a:rPr>
              <a:t>Ivy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133295" y="2197608"/>
            <a:ext cx="8595360" cy="490728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31750">
            <a:solidFill>
              <a:srgbClr val="4A90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l">
              <a:spcAft>
                <a:spcPts val="200"/>
              </a:spcAft>
            </a:pPr>
            <a:r>
              <a:rPr sz="1900" b="1">
                <a:solidFill>
                  <a:srgbClr val="1F2A44"/>
                </a:solidFill>
                <a:latin typeface="Arial"/>
                <a:ea typeface="Microsoft YaHei"/>
              </a:rPr>
              <a:t>Of course. What have we got so far?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2779776"/>
            <a:ext cx="731520" cy="457200"/>
          </a:xfrm>
          <a:prstGeom prst="roundRect">
            <a:avLst>
              <a:gd name="adj" fmla="val 50000"/>
            </a:avLst>
          </a:prstGeom>
          <a:solidFill>
            <a:srgbClr val="FF6B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Arial"/>
                <a:ea typeface="Microsoft YaHei"/>
              </a:rPr>
              <a:t>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4320" y="3218688"/>
            <a:ext cx="1280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800"/>
              </a:spcAft>
            </a:pPr>
            <a:r>
              <a:rPr sz="1000" b="0">
                <a:solidFill>
                  <a:srgbClr val="5F677A"/>
                </a:solidFill>
                <a:latin typeface="Arial"/>
                <a:ea typeface="Microsoft YaHei"/>
              </a:rPr>
              <a:t> 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463040" y="2779776"/>
            <a:ext cx="8595360" cy="780288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31750">
            <a:solidFill>
              <a:srgbClr val="FF6B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l">
              <a:spcAft>
                <a:spcPts val="200"/>
              </a:spcAft>
            </a:pPr>
            <a:r>
              <a:rPr sz="1900" b="1">
                <a:solidFill>
                  <a:srgbClr val="1F2A44"/>
                </a:solidFill>
                <a:latin typeface="Arial"/>
                <a:ea typeface="Microsoft YaHei"/>
              </a:rPr>
              <a:t>We need a car at the airport, and the hotel is booked. Have we got a welcome sign?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911535" y="3651504"/>
            <a:ext cx="731520" cy="457200"/>
          </a:xfrm>
          <a:prstGeom prst="roundRect">
            <a:avLst>
              <a:gd name="adj" fmla="val 50000"/>
            </a:avLst>
          </a:prstGeom>
          <a:solidFill>
            <a:srgbClr val="4A90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Arial"/>
                <a:ea typeface="Microsoft YaHei"/>
              </a:rPr>
              <a:t>B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637215" y="4090416"/>
            <a:ext cx="1280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800"/>
              </a:spcAft>
            </a:pPr>
            <a:r>
              <a:rPr sz="1000" b="0">
                <a:solidFill>
                  <a:srgbClr val="5F677A"/>
                </a:solidFill>
                <a:latin typeface="Arial"/>
                <a:ea typeface="Microsoft YaHei"/>
              </a:rPr>
              <a:t> 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133295" y="3651504"/>
            <a:ext cx="8595360" cy="780288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31750">
            <a:solidFill>
              <a:srgbClr val="4A90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l">
              <a:spcAft>
                <a:spcPts val="200"/>
              </a:spcAft>
            </a:pPr>
            <a:r>
              <a:rPr sz="1900" b="1">
                <a:solidFill>
                  <a:srgbClr val="1F2A44"/>
                </a:solidFill>
                <a:latin typeface="Arial"/>
                <a:ea typeface="Microsoft YaHei"/>
              </a:rPr>
              <a:t>Not yet. I’ll make one with their names on it. Shall I also put a small welcome pack in each room?</a:t>
            </a:r>
          </a:p>
        </p:txBody>
      </p:sp>
    </p:spTree>
  </p:cSld>
  <p:clrMapOvr>
    <a:masterClrMapping/>
  </p:clrMapOvr>
  <p:transition spd="med">
    <p:fade/>
  </p:transition>
</p:sld>
</file>

<file path=ppt/slides/slide1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9B6B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8442656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2200" b="1">
                <a:solidFill>
                  <a:srgbClr val="1F2A44"/>
                </a:solidFill>
                <a:latin typeface="Arial"/>
                <a:ea typeface="Microsoft YaHei"/>
              </a:rPr>
              <a:t>🎭 Model Dialogue · Planning a welcome with a colleague (cont.)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74175" y="438912"/>
            <a:ext cx="2560320" cy="475488"/>
          </a:xfrm>
          <a:prstGeom prst="roundRect">
            <a:avLst>
              <a:gd name="adj" fmla="val 50000"/>
            </a:avLst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3152" rIns="73152"/>
          <a:lstStyle/>
          <a:p>
            <a:pPr algn="ctr">
              <a:spcAft>
                <a:spcPts val="200"/>
              </a:spcAft>
            </a:pPr>
            <a:r>
              <a:rPr sz="1300" b="1">
                <a:solidFill>
                  <a:srgbClr val="FFFFFF"/>
                </a:solidFill>
                <a:latin typeface="Arial"/>
                <a:ea typeface="Microsoft YaHei"/>
              </a:rPr>
              <a:t>Part 2/3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19088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100" b="0">
                <a:solidFill>
                  <a:srgbClr val="5F677A"/>
                </a:solidFill>
                <a:latin typeface="Arial"/>
                <a:ea typeface="Microsoft YaHei"/>
              </a:rPr>
              <a:t>Business English · Level 4 · Unit 3 · Lesson 09 Making visitors feel welcome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28655" y="6419088"/>
            <a:ext cx="914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  <a:spcAft>
                <a:spcPts val="800"/>
              </a:spcAft>
            </a:pPr>
            <a:r>
              <a:rPr sz="1100" b="0">
                <a:solidFill>
                  <a:srgbClr val="5F677A"/>
                </a:solidFill>
                <a:latin typeface="Arial"/>
                <a:ea typeface="Microsoft YaHei"/>
              </a:rPr>
              <a:t>101</a:t>
            </a:r>
          </a:p>
        </p:txBody>
      </p:sp>
      <p:sp>
        <p:nvSpPr>
          <p:cNvPr id="7" name="Rounded Rectangle 6">
            <a:hlinkClick action="ppaction://hlinksldjump" r:id="rId2"/>
          </p:cNvPr>
          <p:cNvSpPr/>
          <p:nvPr/>
        </p:nvSpPr>
        <p:spPr>
          <a:xfrm>
            <a:off x="9677095" y="6382512"/>
            <a:ext cx="960120" cy="329184"/>
          </a:xfrm>
          <a:prstGeom prst="roundRect">
            <a:avLst>
              <a:gd name="adj" fmla="val 50000"/>
            </a:avLst>
          </a:prstGeom>
          <a:solidFill>
            <a:srgbClr val="FFE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Aft>
                <a:spcPts val="200"/>
              </a:spcAft>
            </a:pPr>
            <a:r>
              <a:rPr sz="1100" b="1">
                <a:solidFill>
                  <a:srgbClr val="1F2A44"/>
                </a:solidFill>
                <a:latin typeface="Arial"/>
                <a:ea typeface="Microsoft YaHei"/>
              </a:rPr>
              <a:t>🗺 Map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325880"/>
            <a:ext cx="731520" cy="457200"/>
          </a:xfrm>
          <a:prstGeom prst="roundRect">
            <a:avLst>
              <a:gd name="adj" fmla="val 50000"/>
            </a:avLst>
          </a:prstGeom>
          <a:solidFill>
            <a:srgbClr val="FF6B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Arial"/>
                <a:ea typeface="Microsoft YaHei"/>
              </a:rPr>
              <a:t>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1764792"/>
            <a:ext cx="1280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800"/>
              </a:spcAft>
            </a:pPr>
            <a:r>
              <a:rPr sz="1000" b="0">
                <a:solidFill>
                  <a:srgbClr val="5F677A"/>
                </a:solidFill>
                <a:latin typeface="Arial"/>
                <a:ea typeface="Microsoft YaHei"/>
              </a:rPr>
              <a:t> 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463040" y="1325880"/>
            <a:ext cx="8595360" cy="780288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31750">
            <a:solidFill>
              <a:srgbClr val="FF6B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l">
              <a:spcAft>
                <a:spcPts val="200"/>
              </a:spcAft>
            </a:pPr>
            <a:r>
              <a:rPr sz="1900" b="1">
                <a:solidFill>
                  <a:srgbClr val="1F2A44"/>
                </a:solidFill>
                <a:latin typeface="Arial"/>
                <a:ea typeface="Microsoft YaHei"/>
              </a:rPr>
              <a:t>Good idea. Maybe a map, a SIM card and a box of tea. I don’t want to overdo it, but I’d like to go the extra mile.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911535" y="2197608"/>
            <a:ext cx="731520" cy="457200"/>
          </a:xfrm>
          <a:prstGeom prst="roundRect">
            <a:avLst>
              <a:gd name="adj" fmla="val 50000"/>
            </a:avLst>
          </a:prstGeom>
          <a:solidFill>
            <a:srgbClr val="4A90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Arial"/>
                <a:ea typeface="Microsoft YaHei"/>
              </a:rPr>
              <a:t>B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37215" y="2636520"/>
            <a:ext cx="1280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800"/>
              </a:spcAft>
            </a:pPr>
            <a:r>
              <a:rPr sz="1000" b="0">
                <a:solidFill>
                  <a:srgbClr val="5F677A"/>
                </a:solidFill>
                <a:latin typeface="Arial"/>
                <a:ea typeface="Microsoft YaHei"/>
              </a:rPr>
              <a:t> 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133295" y="2197608"/>
            <a:ext cx="8595360" cy="780288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31750">
            <a:solidFill>
              <a:srgbClr val="4A90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l">
              <a:spcAft>
                <a:spcPts val="200"/>
              </a:spcAft>
            </a:pPr>
            <a:r>
              <a:rPr sz="1900" b="1">
                <a:solidFill>
                  <a:srgbClr val="1F2A44"/>
                </a:solidFill>
                <a:latin typeface="Arial"/>
                <a:ea typeface="Microsoft YaHei"/>
              </a:rPr>
              <a:t>Understood. What about food? Do you know if anyone has dietary requirements?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3069336"/>
            <a:ext cx="731520" cy="457200"/>
          </a:xfrm>
          <a:prstGeom prst="roundRect">
            <a:avLst>
              <a:gd name="adj" fmla="val 50000"/>
            </a:avLst>
          </a:prstGeom>
          <a:solidFill>
            <a:srgbClr val="FF6B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Arial"/>
                <a:ea typeface="Microsoft YaHei"/>
              </a:rPr>
              <a:t>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4320" y="3508248"/>
            <a:ext cx="1280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800"/>
              </a:spcAft>
            </a:pPr>
            <a:r>
              <a:rPr sz="1000" b="0">
                <a:solidFill>
                  <a:srgbClr val="5F677A"/>
                </a:solidFill>
                <a:latin typeface="Arial"/>
                <a:ea typeface="Microsoft YaHei"/>
              </a:rPr>
              <a:t> 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463040" y="3069336"/>
            <a:ext cx="8595360" cy="780288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31750">
            <a:solidFill>
              <a:srgbClr val="FF6B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l">
              <a:spcAft>
                <a:spcPts val="200"/>
              </a:spcAft>
            </a:pPr>
            <a:r>
              <a:rPr sz="1900" b="1">
                <a:solidFill>
                  <a:srgbClr val="1F2A44"/>
                </a:solidFill>
                <a:latin typeface="Arial"/>
                <a:ea typeface="Microsoft YaHei"/>
              </a:rPr>
              <a:t>Good question. Could you email them and ask? Something like: “Please let us know if you have any dietary requirements.”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911535" y="3941064"/>
            <a:ext cx="731520" cy="457200"/>
          </a:xfrm>
          <a:prstGeom prst="roundRect">
            <a:avLst>
              <a:gd name="adj" fmla="val 50000"/>
            </a:avLst>
          </a:prstGeom>
          <a:solidFill>
            <a:srgbClr val="4A90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Arial"/>
                <a:ea typeface="Microsoft YaHei"/>
              </a:rPr>
              <a:t>B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637215" y="4379976"/>
            <a:ext cx="1280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800"/>
              </a:spcAft>
            </a:pPr>
            <a:r>
              <a:rPr sz="1000" b="0">
                <a:solidFill>
                  <a:srgbClr val="5F677A"/>
                </a:solidFill>
                <a:latin typeface="Arial"/>
                <a:ea typeface="Microsoft YaHei"/>
              </a:rPr>
              <a:t> 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133295" y="3941064"/>
            <a:ext cx="8595360" cy="490728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31750">
            <a:solidFill>
              <a:srgbClr val="4A90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l">
              <a:spcAft>
                <a:spcPts val="200"/>
              </a:spcAft>
            </a:pPr>
            <a:r>
              <a:rPr sz="1900" b="1">
                <a:solidFill>
                  <a:srgbClr val="1F2A44"/>
                </a:solidFill>
                <a:latin typeface="Arial"/>
                <a:ea typeface="Microsoft YaHei"/>
              </a:rPr>
              <a:t>I’ll do that today. And the schedule? They’ll be tired on Tuesday.</a:t>
            </a:r>
          </a:p>
        </p:txBody>
      </p:sp>
    </p:spTree>
  </p:cSld>
  <p:clrMapOvr>
    <a:masterClrMapping/>
  </p:clrMapOvr>
  <p:transition spd="med">
    <p:fade/>
  </p:transition>
</p:sld>
</file>

<file path=ppt/slides/slide1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9B6B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8442656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2200" b="1">
                <a:solidFill>
                  <a:srgbClr val="1F2A44"/>
                </a:solidFill>
                <a:latin typeface="Arial"/>
                <a:ea typeface="Microsoft YaHei"/>
              </a:rPr>
              <a:t>🎭 Model Dialogue · Planning a welcome with a colleague (cont.)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74175" y="438912"/>
            <a:ext cx="2560320" cy="475488"/>
          </a:xfrm>
          <a:prstGeom prst="roundRect">
            <a:avLst>
              <a:gd name="adj" fmla="val 50000"/>
            </a:avLst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3152" rIns="73152"/>
          <a:lstStyle/>
          <a:p>
            <a:pPr algn="ctr">
              <a:spcAft>
                <a:spcPts val="200"/>
              </a:spcAft>
            </a:pPr>
            <a:r>
              <a:rPr sz="1300" b="1">
                <a:solidFill>
                  <a:srgbClr val="FFFFFF"/>
                </a:solidFill>
                <a:latin typeface="Arial"/>
                <a:ea typeface="Microsoft YaHei"/>
              </a:rPr>
              <a:t>Part 3/3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19088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100" b="0">
                <a:solidFill>
                  <a:srgbClr val="5F677A"/>
                </a:solidFill>
                <a:latin typeface="Arial"/>
                <a:ea typeface="Microsoft YaHei"/>
              </a:rPr>
              <a:t>Business English · Level 4 · Unit 3 · Lesson 09 Making visitors feel welcome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28655" y="6419088"/>
            <a:ext cx="914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  <a:spcAft>
                <a:spcPts val="800"/>
              </a:spcAft>
            </a:pPr>
            <a:r>
              <a:rPr sz="1100" b="0">
                <a:solidFill>
                  <a:srgbClr val="5F677A"/>
                </a:solidFill>
                <a:latin typeface="Arial"/>
                <a:ea typeface="Microsoft YaHei"/>
              </a:rPr>
              <a:t>102</a:t>
            </a:r>
          </a:p>
        </p:txBody>
      </p:sp>
      <p:sp>
        <p:nvSpPr>
          <p:cNvPr id="7" name="Rounded Rectangle 6">
            <a:hlinkClick action="ppaction://hlinksldjump" r:id="rId2"/>
          </p:cNvPr>
          <p:cNvSpPr/>
          <p:nvPr/>
        </p:nvSpPr>
        <p:spPr>
          <a:xfrm>
            <a:off x="9677095" y="6382512"/>
            <a:ext cx="960120" cy="329184"/>
          </a:xfrm>
          <a:prstGeom prst="roundRect">
            <a:avLst>
              <a:gd name="adj" fmla="val 50000"/>
            </a:avLst>
          </a:prstGeom>
          <a:solidFill>
            <a:srgbClr val="FFE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Aft>
                <a:spcPts val="200"/>
              </a:spcAft>
            </a:pPr>
            <a:r>
              <a:rPr sz="1100" b="1">
                <a:solidFill>
                  <a:srgbClr val="1F2A44"/>
                </a:solidFill>
                <a:latin typeface="Arial"/>
                <a:ea typeface="Microsoft YaHei"/>
              </a:rPr>
              <a:t>🗺 Map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325880"/>
            <a:ext cx="731520" cy="457200"/>
          </a:xfrm>
          <a:prstGeom prst="roundRect">
            <a:avLst>
              <a:gd name="adj" fmla="val 50000"/>
            </a:avLst>
          </a:prstGeom>
          <a:solidFill>
            <a:srgbClr val="FF6B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Arial"/>
                <a:ea typeface="Microsoft YaHei"/>
              </a:rPr>
              <a:t>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1764792"/>
            <a:ext cx="1280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800"/>
              </a:spcAft>
            </a:pPr>
            <a:r>
              <a:rPr sz="1000" b="0">
                <a:solidFill>
                  <a:srgbClr val="5F677A"/>
                </a:solidFill>
                <a:latin typeface="Arial"/>
                <a:ea typeface="Microsoft YaHei"/>
              </a:rPr>
              <a:t> 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463040" y="1325880"/>
            <a:ext cx="8595360" cy="780288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31750">
            <a:solidFill>
              <a:srgbClr val="FF6B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l">
              <a:spcAft>
                <a:spcPts val="200"/>
              </a:spcAft>
            </a:pPr>
            <a:r>
              <a:rPr sz="1900" b="1">
                <a:solidFill>
                  <a:srgbClr val="1F2A44"/>
                </a:solidFill>
                <a:latin typeface="Arial"/>
                <a:ea typeface="Microsoft YaHei"/>
              </a:rPr>
              <a:t>Let’s keep the first evening free. A short dinner at the hotel, then rest.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911535" y="2197608"/>
            <a:ext cx="731520" cy="457200"/>
          </a:xfrm>
          <a:prstGeom prst="roundRect">
            <a:avLst>
              <a:gd name="adj" fmla="val 50000"/>
            </a:avLst>
          </a:prstGeom>
          <a:solidFill>
            <a:srgbClr val="4A90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Arial"/>
                <a:ea typeface="Microsoft YaHei"/>
              </a:rPr>
              <a:t>B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37215" y="2636520"/>
            <a:ext cx="1280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800"/>
              </a:spcAft>
            </a:pPr>
            <a:r>
              <a:rPr sz="1000" b="0">
                <a:solidFill>
                  <a:srgbClr val="5F677A"/>
                </a:solidFill>
                <a:latin typeface="Arial"/>
                <a:ea typeface="Microsoft YaHei"/>
              </a:rPr>
              <a:t> 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133295" y="2197608"/>
            <a:ext cx="8595360" cy="780288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31750">
            <a:solidFill>
              <a:srgbClr val="4A90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l">
              <a:spcAft>
                <a:spcPts val="200"/>
              </a:spcAft>
            </a:pPr>
            <a:r>
              <a:rPr sz="1900" b="1">
                <a:solidFill>
                  <a:srgbClr val="1F2A44"/>
                </a:solidFill>
                <a:latin typeface="Arial"/>
                <a:ea typeface="Microsoft YaHei"/>
              </a:rPr>
              <a:t>That makes sense. I’ll draft the itinerary and send it to you tonight.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3069336"/>
            <a:ext cx="731520" cy="457200"/>
          </a:xfrm>
          <a:prstGeom prst="roundRect">
            <a:avLst>
              <a:gd name="adj" fmla="val 50000"/>
            </a:avLst>
          </a:prstGeom>
          <a:solidFill>
            <a:srgbClr val="FF6B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Arial"/>
                <a:ea typeface="Microsoft YaHei"/>
              </a:rPr>
              <a:t>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4320" y="3508248"/>
            <a:ext cx="1280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800"/>
              </a:spcAft>
            </a:pPr>
            <a:r>
              <a:rPr sz="1000" b="0">
                <a:solidFill>
                  <a:srgbClr val="5F677A"/>
                </a:solidFill>
                <a:latin typeface="Arial"/>
                <a:ea typeface="Microsoft YaHei"/>
              </a:rPr>
              <a:t> 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463040" y="3069336"/>
            <a:ext cx="8595360" cy="490728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31750">
            <a:solidFill>
              <a:srgbClr val="FF6B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l">
              <a:spcAft>
                <a:spcPts val="200"/>
              </a:spcAft>
            </a:pPr>
            <a:r>
              <a:rPr sz="1900" b="1">
                <a:solidFill>
                  <a:srgbClr val="1F2A44"/>
                </a:solidFill>
                <a:latin typeface="Arial"/>
                <a:ea typeface="Microsoft YaHei"/>
              </a:rPr>
              <a:t>Thanks, Ivy. I really appreciate it.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911535" y="3651504"/>
            <a:ext cx="731520" cy="457200"/>
          </a:xfrm>
          <a:prstGeom prst="roundRect">
            <a:avLst>
              <a:gd name="adj" fmla="val 50000"/>
            </a:avLst>
          </a:prstGeom>
          <a:solidFill>
            <a:srgbClr val="4A90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Arial"/>
                <a:ea typeface="Microsoft YaHei"/>
              </a:rPr>
              <a:t>B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637215" y="4090416"/>
            <a:ext cx="1280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800"/>
              </a:spcAft>
            </a:pPr>
            <a:r>
              <a:rPr sz="1000" b="0">
                <a:solidFill>
                  <a:srgbClr val="5F677A"/>
                </a:solidFill>
                <a:latin typeface="Arial"/>
                <a:ea typeface="Microsoft YaHei"/>
              </a:rPr>
              <a:t> 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133295" y="3651504"/>
            <a:ext cx="8595360" cy="490728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31750">
            <a:solidFill>
              <a:srgbClr val="4A90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l">
              <a:spcAft>
                <a:spcPts val="200"/>
              </a:spcAft>
            </a:pPr>
            <a:r>
              <a:rPr sz="1900" b="1">
                <a:solidFill>
                  <a:srgbClr val="1F2A44"/>
                </a:solidFill>
                <a:latin typeface="Arial"/>
                <a:ea typeface="Microsoft YaHei"/>
              </a:rPr>
              <a:t>No problem at all.</a:t>
            </a:r>
          </a:p>
        </p:txBody>
      </p:sp>
    </p:spTree>
  </p:cSld>
  <p:clrMapOvr>
    <a:masterClrMapping/>
  </p:clrMapOvr>
  <p:transition spd="med">
    <p:fade/>
  </p:transition>
</p:sld>
</file>

<file path=ppt/slides/slide1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FC8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8442656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2400" b="1">
                <a:solidFill>
                  <a:srgbClr val="1F2A44"/>
                </a:solidFill>
                <a:latin typeface="Arial"/>
                <a:ea typeface="Microsoft YaHei"/>
              </a:rPr>
              <a:t>🎯 Your Turn · Planning a welcome with a colleague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74175" y="438912"/>
            <a:ext cx="2560320" cy="475488"/>
          </a:xfrm>
          <a:prstGeom prst="roundRect">
            <a:avLst>
              <a:gd name="adj" fmla="val 50000"/>
            </a:avLst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3152" rIns="73152"/>
          <a:lstStyle/>
          <a:p>
            <a:pPr algn="ctr">
              <a:spcAft>
                <a:spcPts val="200"/>
              </a:spcAft>
            </a:pPr>
            <a:r>
              <a:rPr sz="1300" b="1">
                <a:solidFill>
                  <a:srgbClr val="FFFFFF"/>
                </a:solidFill>
                <a:latin typeface="Arial"/>
                <a:ea typeface="Microsoft YaHei"/>
              </a:rPr>
              <a:t>03 Role play 角色扮演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19088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100" b="0">
                <a:solidFill>
                  <a:srgbClr val="5F677A"/>
                </a:solidFill>
                <a:latin typeface="Arial"/>
                <a:ea typeface="Microsoft YaHei"/>
              </a:rPr>
              <a:t>Business English · Level 4 · Unit 3 · Lesson 09 Making visitors feel welcome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28655" y="6419088"/>
            <a:ext cx="914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  <a:spcAft>
                <a:spcPts val="800"/>
              </a:spcAft>
            </a:pPr>
            <a:r>
              <a:rPr sz="1100" b="0">
                <a:solidFill>
                  <a:srgbClr val="5F677A"/>
                </a:solidFill>
                <a:latin typeface="Arial"/>
                <a:ea typeface="Microsoft YaHei"/>
              </a:rPr>
              <a:t>103</a:t>
            </a:r>
          </a:p>
        </p:txBody>
      </p:sp>
      <p:sp>
        <p:nvSpPr>
          <p:cNvPr id="7" name="Rounded Rectangle 6">
            <a:hlinkClick action="ppaction://hlinksldjump" r:id="rId2"/>
          </p:cNvPr>
          <p:cNvSpPr/>
          <p:nvPr/>
        </p:nvSpPr>
        <p:spPr>
          <a:xfrm>
            <a:off x="9677095" y="6382512"/>
            <a:ext cx="960120" cy="329184"/>
          </a:xfrm>
          <a:prstGeom prst="roundRect">
            <a:avLst>
              <a:gd name="adj" fmla="val 50000"/>
            </a:avLst>
          </a:prstGeom>
          <a:solidFill>
            <a:srgbClr val="FFE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Aft>
                <a:spcPts val="200"/>
              </a:spcAft>
            </a:pPr>
            <a:r>
              <a:rPr sz="1100" b="1">
                <a:solidFill>
                  <a:srgbClr val="1F2A44"/>
                </a:solidFill>
                <a:latin typeface="Arial"/>
                <a:ea typeface="Microsoft YaHei"/>
              </a:rPr>
              <a:t>🗺 Map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325880"/>
            <a:ext cx="2377440" cy="408432"/>
          </a:xfrm>
          <a:prstGeom prst="roundRect">
            <a:avLst>
              <a:gd name="adj" fmla="val 15000"/>
            </a:avLst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Arial"/>
                <a:ea typeface="Microsoft YaHei"/>
              </a:rPr>
              <a:t>Situation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017520" y="1325880"/>
            <a:ext cx="8625535" cy="408432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1F2A44"/>
                </a:solidFill>
                <a:latin typeface="Arial"/>
                <a:ea typeface="Microsoft YaHei"/>
              </a:rPr>
              <a:t>You plan how to welcome a group of visitors with a colleague.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1807464"/>
            <a:ext cx="2377440" cy="408432"/>
          </a:xfrm>
          <a:prstGeom prst="roundRect">
            <a:avLst>
              <a:gd name="adj" fmla="val 15000"/>
            </a:avLst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Arial"/>
                <a:ea typeface="Microsoft YaHei"/>
              </a:rPr>
              <a:t>Your role (A)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017520" y="1807464"/>
            <a:ext cx="8625535" cy="408432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1F2A44"/>
                </a:solidFill>
                <a:latin typeface="Arial"/>
                <a:ea typeface="Microsoft YaHei"/>
              </a:rPr>
              <a:t>Manager. Explain what you want.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2289048"/>
            <a:ext cx="2377440" cy="408432"/>
          </a:xfrm>
          <a:prstGeom prst="roundRect">
            <a:avLst>
              <a:gd name="adj" fmla="val 15000"/>
            </a:avLst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Arial"/>
                <a:ea typeface="Microsoft YaHei"/>
              </a:rPr>
              <a:t>Partner’s role (B)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017520" y="2289048"/>
            <a:ext cx="8625535" cy="408432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1F2A44"/>
                </a:solidFill>
                <a:latin typeface="Arial"/>
                <a:ea typeface="Microsoft YaHei"/>
              </a:rPr>
              <a:t>Assistant. Ask questions and suggest ideas.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2770632"/>
            <a:ext cx="2377440" cy="652272"/>
          </a:xfrm>
          <a:prstGeom prst="roundRect">
            <a:avLst>
              <a:gd name="adj" fmla="val 15000"/>
            </a:avLst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Arial"/>
                <a:ea typeface="Microsoft YaHei"/>
              </a:rPr>
              <a:t>Must use (3 or more)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017520" y="2770632"/>
            <a:ext cx="8625535" cy="652272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1F2A44"/>
                </a:solidFill>
                <a:latin typeface="Arial"/>
                <a:ea typeface="Microsoft YaHei"/>
              </a:rPr>
              <a:t>I’d like to make sure… · Shall I…? · I’ve arranged… · go the extra mile · dietary requirements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3496056"/>
            <a:ext cx="2377440" cy="408432"/>
          </a:xfrm>
          <a:prstGeom prst="roundRect">
            <a:avLst>
              <a:gd name="adj" fmla="val 15000"/>
            </a:avLst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Arial"/>
                <a:ea typeface="Microsoft YaHei"/>
              </a:rPr>
              <a:t>Goal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017520" y="3496056"/>
            <a:ext cx="8625535" cy="408432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1F2A44"/>
                </a:solidFill>
                <a:latin typeface="Arial"/>
                <a:ea typeface="Microsoft YaHei"/>
              </a:rPr>
              <a:t>Agree on a 5-point welcome plan (transport, hotel, food, gift, schedule).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3977640"/>
            <a:ext cx="2377440" cy="408432"/>
          </a:xfrm>
          <a:prstGeom prst="roundRect">
            <a:avLst>
              <a:gd name="adj" fmla="val 15000"/>
            </a:avLst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Arial"/>
                <a:ea typeface="Microsoft YaHei"/>
              </a:rPr>
              <a:t>My notes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017520" y="3977640"/>
            <a:ext cx="8625535" cy="408432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1F2A44"/>
                </a:solidFill>
                <a:latin typeface="Arial"/>
                <a:ea typeface="Microsoft YaHei"/>
              </a:rPr>
              <a:t>____________________________________________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4550664"/>
            <a:ext cx="11094415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500" b="1">
                <a:solidFill>
                  <a:srgbClr val="FF6B5B"/>
                </a:solidFill>
                <a:latin typeface="Arial"/>
                <a:ea typeface="Microsoft YaHei"/>
              </a:rPr>
              <a:t>🔥 Level-up challenges 进阶挑战 (click)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8640" y="4934712"/>
            <a:ext cx="3576218" cy="1283208"/>
          </a:xfrm>
          <a:prstGeom prst="roundRect">
            <a:avLst>
              <a:gd name="adj" fmla="val 12000"/>
            </a:avLst>
          </a:prstGeom>
          <a:solidFill>
            <a:srgbClr val="4A90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Arial"/>
                <a:ea typeface="Microsoft YaHei"/>
              </a:rPr>
              <a:t>There is a budget limit. Say: “We’re on a tight budget, so let’s focus on the things that matter most.”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307738" y="4934712"/>
            <a:ext cx="3576218" cy="1283208"/>
          </a:xfrm>
          <a:prstGeom prst="roundRect">
            <a:avLst>
              <a:gd name="adj" fmla="val 12000"/>
            </a:avLst>
          </a:prstGeom>
          <a:solidFill>
            <a:srgbClr val="3CC4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Arial"/>
                <a:ea typeface="Microsoft YaHei"/>
              </a:rPr>
              <a:t>One visitor has a wheelchair. Add: “Could you check that the hotel and the restaurant are accessible?”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066836" y="4934712"/>
            <a:ext cx="3576218" cy="1283208"/>
          </a:xfrm>
          <a:prstGeom prst="roundRect">
            <a:avLst>
              <a:gd name="adj" fmla="val 12000"/>
            </a:avLst>
          </a:prstGeom>
          <a:solidFill>
            <a:srgbClr val="FFC8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Arial"/>
                <a:ea typeface="Microsoft YaHei"/>
              </a:rPr>
              <a:t>Reduce the plan to three actions and explain why.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" fill="hold">
                      <p:stCondLst>
                        <p:cond delay="indefinite"/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4A90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8442656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3200" b="1">
                <a:solidFill>
                  <a:srgbClr val="1F2A44"/>
                </a:solidFill>
                <a:latin typeface="Arial"/>
                <a:ea typeface="Microsoft YaHei"/>
              </a:rPr>
              <a:t>💬 Discussion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74175" y="438912"/>
            <a:ext cx="2560320" cy="475488"/>
          </a:xfrm>
          <a:prstGeom prst="roundRect">
            <a:avLst>
              <a:gd name="adj" fmla="val 50000"/>
            </a:avLst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3152" rIns="73152"/>
          <a:lstStyle/>
          <a:p>
            <a:pPr algn="ctr">
              <a:spcAft>
                <a:spcPts val="200"/>
              </a:spcAft>
            </a:pPr>
            <a:r>
              <a:rPr sz="1300" b="1">
                <a:solidFill>
                  <a:srgbClr val="FFFFFF"/>
                </a:solidFill>
                <a:latin typeface="Arial"/>
                <a:ea typeface="Microsoft YaHei"/>
              </a:rPr>
              <a:t>04 Discussion 讨论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19088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100" b="0">
                <a:solidFill>
                  <a:srgbClr val="5F677A"/>
                </a:solidFill>
                <a:latin typeface="Arial"/>
                <a:ea typeface="Microsoft YaHei"/>
              </a:rPr>
              <a:t>Business English · Level 4 · Unit 3 · Lesson 09 Making visitors feel welcome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28655" y="6419088"/>
            <a:ext cx="914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  <a:spcAft>
                <a:spcPts val="800"/>
              </a:spcAft>
            </a:pPr>
            <a:r>
              <a:rPr sz="1100" b="0">
                <a:solidFill>
                  <a:srgbClr val="5F677A"/>
                </a:solidFill>
                <a:latin typeface="Arial"/>
                <a:ea typeface="Microsoft YaHei"/>
              </a:rPr>
              <a:t>104</a:t>
            </a:r>
          </a:p>
        </p:txBody>
      </p:sp>
      <p:sp>
        <p:nvSpPr>
          <p:cNvPr id="7" name="Rounded Rectangle 6">
            <a:hlinkClick action="ppaction://hlinksldjump" r:id="rId2"/>
          </p:cNvPr>
          <p:cNvSpPr/>
          <p:nvPr/>
        </p:nvSpPr>
        <p:spPr>
          <a:xfrm>
            <a:off x="9677095" y="6382512"/>
            <a:ext cx="960120" cy="329184"/>
          </a:xfrm>
          <a:prstGeom prst="roundRect">
            <a:avLst>
              <a:gd name="adj" fmla="val 50000"/>
            </a:avLst>
          </a:prstGeom>
          <a:solidFill>
            <a:srgbClr val="FFE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Aft>
                <a:spcPts val="200"/>
              </a:spcAft>
            </a:pPr>
            <a:r>
              <a:rPr sz="1100" b="1">
                <a:solidFill>
                  <a:srgbClr val="1F2A44"/>
                </a:solidFill>
                <a:latin typeface="Arial"/>
                <a:ea typeface="Microsoft YaHei"/>
              </a:rPr>
              <a:t>🗺 Map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024128"/>
            <a:ext cx="11094415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500" b="0">
                <a:solidFill>
                  <a:srgbClr val="5F677A"/>
                </a:solidFill>
                <a:latin typeface="Arial"/>
                <a:ea typeface="Microsoft YaHei"/>
              </a:rPr>
              <a:t>Prepare 2–3 sentences. Use the starters!  每题准备 2–3 句话，用上句型</a:t>
            </a:r>
          </a:p>
        </p:txBody>
      </p:sp>
      <p:sp>
        <p:nvSpPr>
          <p:cNvPr id="9" name="Oval 8"/>
          <p:cNvSpPr/>
          <p:nvPr/>
        </p:nvSpPr>
        <p:spPr>
          <a:xfrm>
            <a:off x="548640" y="1554480"/>
            <a:ext cx="548640" cy="548640"/>
          </a:xfrm>
          <a:prstGeom prst="ellipse">
            <a:avLst/>
          </a:prstGeom>
          <a:solidFill>
            <a:srgbClr val="FF6B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FFFFFF"/>
                </a:solidFill>
                <a:latin typeface="Arial"/>
                <a:ea typeface="Microsoft YaHei"/>
              </a:rPr>
              <a:t>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234440" y="1508760"/>
            <a:ext cx="10408615" cy="6858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325880" y="1554480"/>
            <a:ext cx="10271455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900" b="1">
                <a:solidFill>
                  <a:srgbClr val="1F2A44"/>
                </a:solidFill>
                <a:latin typeface="Arial"/>
                <a:ea typeface="Microsoft YaHei"/>
              </a:rPr>
              <a:t>What was the best welcome you ever received as a visitor?</a:t>
            </a:r>
          </a:p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400" b="0">
                <a:solidFill>
                  <a:srgbClr val="5F677A"/>
                </a:solidFill>
                <a:latin typeface="Arial"/>
                <a:ea typeface="Microsoft YaHei"/>
              </a:rPr>
              <a:t>💬 “The best welcome I received was…” / “What impressed me most was…”</a:t>
            </a:r>
          </a:p>
        </p:txBody>
      </p:sp>
      <p:sp>
        <p:nvSpPr>
          <p:cNvPr id="12" name="Oval 11"/>
          <p:cNvSpPr/>
          <p:nvPr/>
        </p:nvSpPr>
        <p:spPr>
          <a:xfrm>
            <a:off x="548640" y="2331720"/>
            <a:ext cx="548640" cy="548640"/>
          </a:xfrm>
          <a:prstGeom prst="ellipse">
            <a:avLst/>
          </a:prstGeom>
          <a:solidFill>
            <a:srgbClr val="4A90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FFFFFF"/>
                </a:solidFill>
                <a:latin typeface="Arial"/>
                <a:ea typeface="Microsoft YaHei"/>
              </a:rPr>
              <a:t>2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234440" y="2286000"/>
            <a:ext cx="10408615" cy="6858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25880" y="2331720"/>
            <a:ext cx="10271455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900" b="1">
                <a:solidFill>
                  <a:srgbClr val="1F2A44"/>
                </a:solidFill>
                <a:latin typeface="Arial"/>
                <a:ea typeface="Microsoft YaHei"/>
              </a:rPr>
              <a:t>How much should a company spend on welcoming visitors?</a:t>
            </a:r>
          </a:p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400" b="0">
                <a:solidFill>
                  <a:srgbClr val="5F677A"/>
                </a:solidFill>
                <a:latin typeface="Arial"/>
                <a:ea typeface="Microsoft YaHei"/>
              </a:rPr>
              <a:t>💬 “I think it depends on…” / “Spending a lot is not necessary if…”</a:t>
            </a:r>
          </a:p>
        </p:txBody>
      </p:sp>
      <p:sp>
        <p:nvSpPr>
          <p:cNvPr id="15" name="Oval 14"/>
          <p:cNvSpPr/>
          <p:nvPr/>
        </p:nvSpPr>
        <p:spPr>
          <a:xfrm>
            <a:off x="548640" y="3108960"/>
            <a:ext cx="548640" cy="548640"/>
          </a:xfrm>
          <a:prstGeom prst="ellipse">
            <a:avLst/>
          </a:prstGeom>
          <a:solidFill>
            <a:srgbClr val="3CC4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FFFFFF"/>
                </a:solidFill>
                <a:latin typeface="Arial"/>
                <a:ea typeface="Microsoft YaHei"/>
              </a:rPr>
              <a:t>3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234440" y="3063240"/>
            <a:ext cx="10408615" cy="6858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325880" y="3108960"/>
            <a:ext cx="10271455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900" b="1">
                <a:solidFill>
                  <a:srgbClr val="1F2A44"/>
                </a:solidFill>
                <a:latin typeface="Arial"/>
                <a:ea typeface="Microsoft YaHei"/>
              </a:rPr>
              <a:t>How do you ask about food or religious needs without being awkward?</a:t>
            </a:r>
          </a:p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400" b="0">
                <a:solidFill>
                  <a:srgbClr val="5F677A"/>
                </a:solidFill>
                <a:latin typeface="Arial"/>
                <a:ea typeface="Microsoft YaHei"/>
              </a:rPr>
              <a:t>💬 “I would simply ask…” / “A polite way to say it is…”</a:t>
            </a:r>
          </a:p>
        </p:txBody>
      </p:sp>
      <p:sp>
        <p:nvSpPr>
          <p:cNvPr id="18" name="Oval 17"/>
          <p:cNvSpPr/>
          <p:nvPr/>
        </p:nvSpPr>
        <p:spPr>
          <a:xfrm>
            <a:off x="548640" y="3886200"/>
            <a:ext cx="548640" cy="548640"/>
          </a:xfrm>
          <a:prstGeom prst="ellipse">
            <a:avLst/>
          </a:prstGeom>
          <a:solidFill>
            <a:srgbClr val="FFC8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FFFFFF"/>
                </a:solidFill>
                <a:latin typeface="Arial"/>
                <a:ea typeface="Microsoft YaHei"/>
              </a:rPr>
              <a:t>4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234440" y="3840480"/>
            <a:ext cx="10408615" cy="6858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325880" y="3886200"/>
            <a:ext cx="10271455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900" b="1">
                <a:solidFill>
                  <a:srgbClr val="1F2A44"/>
                </a:solidFill>
                <a:latin typeface="Arial"/>
                <a:ea typeface="Microsoft YaHei"/>
              </a:rPr>
              <a:t>Should the host take the visitor to dinner every night?</a:t>
            </a:r>
          </a:p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400" b="0">
                <a:solidFill>
                  <a:srgbClr val="5F677A"/>
                </a:solidFill>
                <a:latin typeface="Arial"/>
                <a:ea typeface="Microsoft YaHei"/>
              </a:rPr>
              <a:t>💬 “On the one hand… On the other hand…” / “Some visitors prefer to…”</a:t>
            </a:r>
          </a:p>
        </p:txBody>
      </p:sp>
      <p:sp>
        <p:nvSpPr>
          <p:cNvPr id="21" name="Oval 20"/>
          <p:cNvSpPr/>
          <p:nvPr/>
        </p:nvSpPr>
        <p:spPr>
          <a:xfrm>
            <a:off x="548640" y="4663440"/>
            <a:ext cx="548640" cy="548640"/>
          </a:xfrm>
          <a:prstGeom prst="ellipse">
            <a:avLst/>
          </a:prstGeom>
          <a:solidFill>
            <a:srgbClr val="9B6B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FFFFFF"/>
                </a:solidFill>
                <a:latin typeface="Arial"/>
                <a:ea typeface="Microsoft YaHei"/>
              </a:rPr>
              <a:t>5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234440" y="4617720"/>
            <a:ext cx="10408615" cy="6858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325880" y="4663440"/>
            <a:ext cx="10271455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900" b="1">
                <a:solidFill>
                  <a:srgbClr val="1F2A44"/>
                </a:solidFill>
                <a:latin typeface="Arial"/>
                <a:ea typeface="Microsoft YaHei"/>
              </a:rPr>
              <a:t>Are small gifts a good idea? What would you choose?</a:t>
            </a:r>
          </a:p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400" b="0">
                <a:solidFill>
                  <a:srgbClr val="5F677A"/>
                </a:solidFill>
                <a:latin typeface="Arial"/>
                <a:ea typeface="Microsoft YaHei"/>
              </a:rPr>
              <a:t>💬 “A small gift such as… shows that…” / “I would avoid… because…”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4A90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8442656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3200" b="1">
                <a:solidFill>
                  <a:srgbClr val="1F2A44"/>
                </a:solidFill>
                <a:latin typeface="Arial"/>
                <a:ea typeface="Microsoft YaHei"/>
              </a:rPr>
              <a:t>🌟 Model Answer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74175" y="438912"/>
            <a:ext cx="2560320" cy="475488"/>
          </a:xfrm>
          <a:prstGeom prst="roundRect">
            <a:avLst>
              <a:gd name="adj" fmla="val 50000"/>
            </a:avLst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3152" rIns="73152"/>
          <a:lstStyle/>
          <a:p>
            <a:pPr algn="ctr">
              <a:spcAft>
                <a:spcPts val="200"/>
              </a:spcAft>
            </a:pPr>
            <a:r>
              <a:rPr sz="1300" b="1">
                <a:solidFill>
                  <a:srgbClr val="FFFFFF"/>
                </a:solidFill>
                <a:latin typeface="Arial"/>
                <a:ea typeface="Microsoft YaHei"/>
              </a:rPr>
              <a:t>04 Discussion 讨论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19088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100" b="0">
                <a:solidFill>
                  <a:srgbClr val="5F677A"/>
                </a:solidFill>
                <a:latin typeface="Arial"/>
                <a:ea typeface="Microsoft YaHei"/>
              </a:rPr>
              <a:t>Business English · Level 4 · Unit 3 · Lesson 09 Making visitors feel welcome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28655" y="6419088"/>
            <a:ext cx="914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  <a:spcAft>
                <a:spcPts val="800"/>
              </a:spcAft>
            </a:pPr>
            <a:r>
              <a:rPr sz="1100" b="0">
                <a:solidFill>
                  <a:srgbClr val="5F677A"/>
                </a:solidFill>
                <a:latin typeface="Arial"/>
                <a:ea typeface="Microsoft YaHei"/>
              </a:rPr>
              <a:t>105</a:t>
            </a:r>
          </a:p>
        </p:txBody>
      </p:sp>
      <p:sp>
        <p:nvSpPr>
          <p:cNvPr id="7" name="Rounded Rectangle 6">
            <a:hlinkClick action="ppaction://hlinksldjump" r:id="rId2"/>
          </p:cNvPr>
          <p:cNvSpPr/>
          <p:nvPr/>
        </p:nvSpPr>
        <p:spPr>
          <a:xfrm>
            <a:off x="9677095" y="6382512"/>
            <a:ext cx="960120" cy="329184"/>
          </a:xfrm>
          <a:prstGeom prst="roundRect">
            <a:avLst>
              <a:gd name="adj" fmla="val 50000"/>
            </a:avLst>
          </a:prstGeom>
          <a:solidFill>
            <a:srgbClr val="FFE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Aft>
                <a:spcPts val="200"/>
              </a:spcAft>
            </a:pPr>
            <a:r>
              <a:rPr sz="1100" b="1">
                <a:solidFill>
                  <a:srgbClr val="1F2A44"/>
                </a:solidFill>
                <a:latin typeface="Arial"/>
                <a:ea typeface="Microsoft YaHei"/>
              </a:rPr>
              <a:t>🗺 Map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005840"/>
            <a:ext cx="11094415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500" b="0">
                <a:solidFill>
                  <a:srgbClr val="5F677A"/>
                </a:solidFill>
                <a:latin typeface="Arial"/>
                <a:ea typeface="Microsoft YaHei"/>
              </a:rPr>
              <a:t>Model answer (Question 3)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463040"/>
            <a:ext cx="11094415" cy="40690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1371600"/>
            <a:ext cx="9144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5400" b="0">
                <a:solidFill>
                  <a:srgbClr val="4A90E2"/>
                </a:solidFill>
                <a:latin typeface="Arial"/>
                <a:ea typeface="Microsoft YaHei"/>
              </a:rPr>
              <a:t>❝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0" y="1600200"/>
            <a:ext cx="9814255" cy="3794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2600" b="0">
                <a:solidFill>
                  <a:srgbClr val="1F2A44"/>
                </a:solidFill>
                <a:latin typeface="Arial"/>
                <a:ea typeface="Microsoft YaHei"/>
              </a:rPr>
              <a:t>I would just ask directly and politely. In an email before the visit, I would write,”Please let us know if you have any dietary requirements or other needs.” I think it is better to ask before the visit than to guess. It also shows that I care. If a guest says they don’t eat a certain food, I never ask for the reason. I just say, “Thank you for letting me know. I’ll make sure we choose a suitable restaurant.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5760720"/>
            <a:ext cx="11094415" cy="502920"/>
          </a:xfrm>
          <a:prstGeom prst="roundRect">
            <a:avLst>
              <a:gd name="adj" fmla="val 30000"/>
            </a:avLst>
          </a:prstGeom>
          <a:solidFill>
            <a:srgbClr val="FFE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1F2A44"/>
                </a:solidFill>
                <a:latin typeface="Arial"/>
                <a:ea typeface="Microsoft YaHei"/>
              </a:rPr>
              <a:t>💡 “It shows that I care”(这说明我很在意)。“I never ask for the reason” 里 never 放在动词前。“suitable”(合适的)比 good 更准确。</a:t>
            </a:r>
          </a:p>
        </p:txBody>
      </p:sp>
    </p:spTree>
  </p:cSld>
  <p:clrMapOvr>
    <a:masterClrMapping/>
  </p:clrMapOvr>
  <p:transition spd="med">
    <p:fade/>
  </p:transition>
</p:sld>
</file>

<file path=ppt/slides/slide1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3CC4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8442656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2400" b="1">
                <a:solidFill>
                  <a:srgbClr val="1F2A44"/>
                </a:solidFill>
                <a:latin typeface="Arial"/>
                <a:ea typeface="Microsoft YaHei"/>
              </a:rPr>
              <a:t>💡 Making welcoming small talk with “you must be…”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74175" y="438912"/>
            <a:ext cx="2560320" cy="475488"/>
          </a:xfrm>
          <a:prstGeom prst="roundRect">
            <a:avLst>
              <a:gd name="adj" fmla="val 50000"/>
            </a:avLst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3152" rIns="73152"/>
          <a:lstStyle/>
          <a:p>
            <a:pPr algn="ctr">
              <a:spcAft>
                <a:spcPts val="200"/>
              </a:spcAft>
            </a:pPr>
            <a:r>
              <a:rPr sz="1300" b="1">
                <a:solidFill>
                  <a:srgbClr val="FFFFFF"/>
                </a:solidFill>
                <a:latin typeface="Arial"/>
                <a:ea typeface="Microsoft YaHei"/>
              </a:rPr>
              <a:t>05 Language Tips 贴士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19088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100" b="0">
                <a:solidFill>
                  <a:srgbClr val="5F677A"/>
                </a:solidFill>
                <a:latin typeface="Arial"/>
                <a:ea typeface="Microsoft YaHei"/>
              </a:rPr>
              <a:t>Business English · Level 4 · Unit 3 · Lesson 09 Making visitors feel welcome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28655" y="6419088"/>
            <a:ext cx="914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  <a:spcAft>
                <a:spcPts val="800"/>
              </a:spcAft>
            </a:pPr>
            <a:r>
              <a:rPr sz="1100" b="0">
                <a:solidFill>
                  <a:srgbClr val="5F677A"/>
                </a:solidFill>
                <a:latin typeface="Arial"/>
                <a:ea typeface="Microsoft YaHei"/>
              </a:rPr>
              <a:t>106</a:t>
            </a:r>
          </a:p>
        </p:txBody>
      </p:sp>
      <p:sp>
        <p:nvSpPr>
          <p:cNvPr id="7" name="Rounded Rectangle 6">
            <a:hlinkClick action="ppaction://hlinksldjump" r:id="rId2"/>
          </p:cNvPr>
          <p:cNvSpPr/>
          <p:nvPr/>
        </p:nvSpPr>
        <p:spPr>
          <a:xfrm>
            <a:off x="9677095" y="6382512"/>
            <a:ext cx="960120" cy="329184"/>
          </a:xfrm>
          <a:prstGeom prst="roundRect">
            <a:avLst>
              <a:gd name="adj" fmla="val 50000"/>
            </a:avLst>
          </a:prstGeom>
          <a:solidFill>
            <a:srgbClr val="FFE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Aft>
                <a:spcPts val="200"/>
              </a:spcAft>
            </a:pPr>
            <a:r>
              <a:rPr sz="1100" b="1">
                <a:solidFill>
                  <a:srgbClr val="1F2A44"/>
                </a:solidFill>
                <a:latin typeface="Arial"/>
                <a:ea typeface="Microsoft YaHei"/>
              </a:rPr>
              <a:t>🗺 Map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960120"/>
            <a:ext cx="11094415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500" b="0">
                <a:solidFill>
                  <a:srgbClr val="5F677A"/>
                </a:solidFill>
                <a:latin typeface="Arial"/>
                <a:ea typeface="Microsoft YaHei"/>
              </a:rPr>
              <a:t>用 “You must be…” 表示体贴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48640" y="1417320"/>
          <a:ext cx="11094415" cy="16337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47207"/>
                <a:gridCol w="5547208"/>
              </a:tblGrid>
              <a:tr h="408432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Arial"/>
                          <a:ea typeface="Microsoft YaHei"/>
                        </a:rPr>
                        <a:t>Situation</a:t>
                      </a:r>
                    </a:p>
                  </a:txBody>
                  <a:tcPr anchor="ctr">
                    <a:solidFill>
                      <a:srgbClr val="3CC49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Arial"/>
                          <a:ea typeface="Microsoft YaHei"/>
                        </a:rPr>
                        <a:t>What to say</a:t>
                      </a:r>
                    </a:p>
                  </a:txBody>
                  <a:tcPr anchor="ctr">
                    <a:solidFill>
                      <a:srgbClr val="3CC49A"/>
                    </a:solidFill>
                  </a:tcPr>
                </a:tc>
              </a:tr>
              <a:tr h="408432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1F2A44"/>
                          </a:solidFill>
                          <a:latin typeface="Arial"/>
                          <a:ea typeface="Microsoft YaHei"/>
                        </a:rPr>
                        <a:t>After a long flight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F2A44"/>
                          </a:solidFill>
                          <a:latin typeface="Arial"/>
                          <a:ea typeface="Microsoft YaHei"/>
                        </a:rPr>
                        <a:t>You must be exhausted. / You must be jet-lagged.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08432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1F2A44"/>
                          </a:solidFill>
                          <a:latin typeface="Arial"/>
                          <a:ea typeface="Microsoft YaHei"/>
                        </a:rPr>
                        <a:t>After a hot or cold journey</a:t>
                      </a:r>
                    </a:p>
                  </a:txBody>
                  <a:tcPr anchor="ctr">
                    <a:solidFill>
                      <a:srgbClr val="FFEFD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F2A44"/>
                          </a:solidFill>
                          <a:latin typeface="Arial"/>
                          <a:ea typeface="Microsoft YaHei"/>
                        </a:rPr>
                        <a:t>You must be freezing! Let’s get you inside.</a:t>
                      </a:r>
                    </a:p>
                  </a:txBody>
                  <a:tcPr anchor="ctr">
                    <a:solidFill>
                      <a:srgbClr val="FFEFD9"/>
                    </a:solidFill>
                  </a:tcPr>
                </a:tc>
              </a:tr>
              <a:tr h="408432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1F2A44"/>
                          </a:solidFill>
                          <a:latin typeface="Arial"/>
                          <a:ea typeface="Microsoft YaHei"/>
                        </a:rPr>
                        <a:t>Before lunch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F2A44"/>
                          </a:solidFill>
                          <a:latin typeface="Arial"/>
                          <a:ea typeface="Microsoft YaHei"/>
                        </a:rPr>
                        <a:t>You must be hungry. Shall we eat first?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 spd="med">
    <p:fade/>
  </p:transition>
</p:sld>
</file>

<file path=ppt/slides/slide1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3CC4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8442656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2400" b="1">
                <a:solidFill>
                  <a:srgbClr val="1F2A44"/>
                </a:solidFill>
                <a:latin typeface="Arial"/>
                <a:ea typeface="Microsoft YaHei"/>
              </a:rPr>
              <a:t>💡 Making welcoming small talk with “you must be…”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74175" y="438912"/>
            <a:ext cx="2560320" cy="475488"/>
          </a:xfrm>
          <a:prstGeom prst="roundRect">
            <a:avLst>
              <a:gd name="adj" fmla="val 50000"/>
            </a:avLst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3152" rIns="73152"/>
          <a:lstStyle/>
          <a:p>
            <a:pPr algn="ctr">
              <a:spcAft>
                <a:spcPts val="200"/>
              </a:spcAft>
            </a:pPr>
            <a:r>
              <a:rPr sz="1300" b="1">
                <a:solidFill>
                  <a:srgbClr val="FFFFFF"/>
                </a:solidFill>
                <a:latin typeface="Arial"/>
                <a:ea typeface="Microsoft YaHei"/>
              </a:rPr>
              <a:t>05 Language Tips 贴士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19088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100" b="0">
                <a:solidFill>
                  <a:srgbClr val="5F677A"/>
                </a:solidFill>
                <a:latin typeface="Arial"/>
                <a:ea typeface="Microsoft YaHei"/>
              </a:rPr>
              <a:t>Business English · Level 4 · Unit 3 · Lesson 09 Making visitors feel welcome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28655" y="6419088"/>
            <a:ext cx="914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  <a:spcAft>
                <a:spcPts val="800"/>
              </a:spcAft>
            </a:pPr>
            <a:r>
              <a:rPr sz="1100" b="0">
                <a:solidFill>
                  <a:srgbClr val="5F677A"/>
                </a:solidFill>
                <a:latin typeface="Arial"/>
                <a:ea typeface="Microsoft YaHei"/>
              </a:rPr>
              <a:t>107</a:t>
            </a:r>
          </a:p>
        </p:txBody>
      </p:sp>
      <p:sp>
        <p:nvSpPr>
          <p:cNvPr id="7" name="Rounded Rectangle 6">
            <a:hlinkClick action="ppaction://hlinksldjump" r:id="rId2"/>
          </p:cNvPr>
          <p:cNvSpPr/>
          <p:nvPr/>
        </p:nvSpPr>
        <p:spPr>
          <a:xfrm>
            <a:off x="9677095" y="6382512"/>
            <a:ext cx="960120" cy="329184"/>
          </a:xfrm>
          <a:prstGeom prst="roundRect">
            <a:avLst>
              <a:gd name="adj" fmla="val 50000"/>
            </a:avLst>
          </a:prstGeom>
          <a:solidFill>
            <a:srgbClr val="FFE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Aft>
                <a:spcPts val="200"/>
              </a:spcAft>
            </a:pPr>
            <a:r>
              <a:rPr sz="1100" b="1">
                <a:solidFill>
                  <a:srgbClr val="1F2A44"/>
                </a:solidFill>
                <a:latin typeface="Arial"/>
                <a:ea typeface="Microsoft YaHei"/>
              </a:rPr>
              <a:t>🗺 Map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960120"/>
            <a:ext cx="11094415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500" b="0">
                <a:solidFill>
                  <a:srgbClr val="5F677A"/>
                </a:solidFill>
                <a:latin typeface="Arial"/>
                <a:ea typeface="Microsoft YaHei"/>
              </a:rPr>
              <a:t>用 “You must be…” 表示体贴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417320"/>
            <a:ext cx="11094415" cy="701039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1417320"/>
            <a:ext cx="91440" cy="701039"/>
          </a:xfrm>
          <a:prstGeom prst="rect">
            <a:avLst/>
          </a:prstGeom>
          <a:solidFill>
            <a:srgbClr val="FF6B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1417320"/>
            <a:ext cx="10728655" cy="70103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700" b="0">
                <a:solidFill>
                  <a:srgbClr val="1F2A44"/>
                </a:solidFill>
                <a:latin typeface="Arial"/>
                <a:ea typeface="Microsoft YaHei"/>
              </a:rPr>
              <a:t>must be = “I guess that you are”. It shows you understand how they feel. Don’t use it for facts you don’t know.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2209799"/>
            <a:ext cx="11094415" cy="441959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48640" y="2209799"/>
            <a:ext cx="91440" cy="441959"/>
          </a:xfrm>
          <a:prstGeom prst="rect">
            <a:avLst/>
          </a:prstGeom>
          <a:solidFill>
            <a:srgbClr val="4A90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2209799"/>
            <a:ext cx="10728655" cy="44195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700" b="0">
                <a:solidFill>
                  <a:srgbClr val="1F2A44"/>
                </a:solidFill>
                <a:latin typeface="Arial"/>
                <a:ea typeface="Microsoft YaHei"/>
              </a:rPr>
              <a:t>Offer, don’t push. “Would you like to… or would you prefer to…?” gives the visitor a choice.</a:t>
            </a:r>
          </a:p>
        </p:txBody>
      </p:sp>
    </p:spTree>
  </p:cSld>
  <p:clrMapOvr>
    <a:masterClrMapping/>
  </p:clrMapOvr>
  <p:transition spd="med">
    <p:fade/>
  </p:transition>
</p:sld>
</file>

<file path=ppt/slides/slide1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3CC4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8442656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3200" b="1">
                <a:solidFill>
                  <a:srgbClr val="1F2A44"/>
                </a:solidFill>
                <a:latin typeface="Arial"/>
                <a:ea typeface="Microsoft YaHei"/>
              </a:rPr>
              <a:t>💡 Responding to thanks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74175" y="438912"/>
            <a:ext cx="2560320" cy="475488"/>
          </a:xfrm>
          <a:prstGeom prst="roundRect">
            <a:avLst>
              <a:gd name="adj" fmla="val 50000"/>
            </a:avLst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3152" rIns="73152"/>
          <a:lstStyle/>
          <a:p>
            <a:pPr algn="ctr">
              <a:spcAft>
                <a:spcPts val="200"/>
              </a:spcAft>
            </a:pPr>
            <a:r>
              <a:rPr sz="1300" b="1">
                <a:solidFill>
                  <a:srgbClr val="FFFFFF"/>
                </a:solidFill>
                <a:latin typeface="Arial"/>
                <a:ea typeface="Microsoft YaHei"/>
              </a:rPr>
              <a:t>05 Language Tips 贴士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19088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100" b="0">
                <a:solidFill>
                  <a:srgbClr val="5F677A"/>
                </a:solidFill>
                <a:latin typeface="Arial"/>
                <a:ea typeface="Microsoft YaHei"/>
              </a:rPr>
              <a:t>Business English · Level 4 · Unit 3 · Lesson 09 Making visitors feel welcome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28655" y="6419088"/>
            <a:ext cx="914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  <a:spcAft>
                <a:spcPts val="800"/>
              </a:spcAft>
            </a:pPr>
            <a:r>
              <a:rPr sz="1100" b="0">
                <a:solidFill>
                  <a:srgbClr val="5F677A"/>
                </a:solidFill>
                <a:latin typeface="Arial"/>
                <a:ea typeface="Microsoft YaHei"/>
              </a:rPr>
              <a:t>108</a:t>
            </a:r>
          </a:p>
        </p:txBody>
      </p:sp>
      <p:sp>
        <p:nvSpPr>
          <p:cNvPr id="7" name="Rounded Rectangle 6">
            <a:hlinkClick action="ppaction://hlinksldjump" r:id="rId2"/>
          </p:cNvPr>
          <p:cNvSpPr/>
          <p:nvPr/>
        </p:nvSpPr>
        <p:spPr>
          <a:xfrm>
            <a:off x="9677095" y="6382512"/>
            <a:ext cx="960120" cy="329184"/>
          </a:xfrm>
          <a:prstGeom prst="roundRect">
            <a:avLst>
              <a:gd name="adj" fmla="val 50000"/>
            </a:avLst>
          </a:prstGeom>
          <a:solidFill>
            <a:srgbClr val="FFE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Aft>
                <a:spcPts val="200"/>
              </a:spcAft>
            </a:pPr>
            <a:r>
              <a:rPr sz="1100" b="1">
                <a:solidFill>
                  <a:srgbClr val="1F2A44"/>
                </a:solidFill>
                <a:latin typeface="Arial"/>
                <a:ea typeface="Microsoft YaHei"/>
              </a:rPr>
              <a:t>🗺 Map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960120"/>
            <a:ext cx="11094415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500" b="0">
                <a:solidFill>
                  <a:srgbClr val="5F677A"/>
                </a:solidFill>
                <a:latin typeface="Arial"/>
                <a:ea typeface="Microsoft YaHei"/>
              </a:rPr>
              <a:t>回应感谢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48640" y="1417320"/>
          <a:ext cx="11094415" cy="16337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47207"/>
                <a:gridCol w="5547208"/>
              </a:tblGrid>
              <a:tr h="408432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Arial"/>
                          <a:ea typeface="Microsoft YaHei"/>
                        </a:rPr>
                        <a:t>Casual</a:t>
                      </a:r>
                    </a:p>
                  </a:txBody>
                  <a:tcPr anchor="ctr">
                    <a:solidFill>
                      <a:srgbClr val="3CC49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Arial"/>
                          <a:ea typeface="Microsoft YaHei"/>
                        </a:rPr>
                        <a:t>Formal / warm</a:t>
                      </a:r>
                    </a:p>
                  </a:txBody>
                  <a:tcPr anchor="ctr">
                    <a:solidFill>
                      <a:srgbClr val="3CC49A"/>
                    </a:solidFill>
                  </a:tcPr>
                </a:tc>
              </a:tr>
              <a:tr h="408432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1F2A44"/>
                          </a:solidFill>
                          <a:latin typeface="Arial"/>
                          <a:ea typeface="Microsoft YaHei"/>
                        </a:rPr>
                        <a:t>No problem. / No worries.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F2A44"/>
                          </a:solidFill>
                          <a:latin typeface="Arial"/>
                          <a:ea typeface="Microsoft YaHei"/>
                        </a:rPr>
                        <a:t>It’s my pleasure. / It’s no trouble at all.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08432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1F2A44"/>
                          </a:solidFill>
                          <a:latin typeface="Arial"/>
                          <a:ea typeface="Microsoft YaHei"/>
                        </a:rPr>
                        <a:t>Sure!</a:t>
                      </a:r>
                    </a:p>
                  </a:txBody>
                  <a:tcPr anchor="ctr">
                    <a:solidFill>
                      <a:srgbClr val="FFEFD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F2A44"/>
                          </a:solidFill>
                          <a:latin typeface="Arial"/>
                          <a:ea typeface="Microsoft YaHei"/>
                        </a:rPr>
                        <a:t>Don’t mention it. / The pleasure is mine.</a:t>
                      </a:r>
                    </a:p>
                  </a:txBody>
                  <a:tcPr anchor="ctr">
                    <a:solidFill>
                      <a:srgbClr val="FFEFD9"/>
                    </a:solidFill>
                  </a:tcPr>
                </a:tc>
              </a:tr>
              <a:tr h="408432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1F2A44"/>
                          </a:solidFill>
                          <a:latin typeface="Arial"/>
                          <a:ea typeface="Microsoft YaHei"/>
                        </a:rPr>
                        <a:t>Anytime.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F2A44"/>
                          </a:solidFill>
                          <a:latin typeface="Arial"/>
                          <a:ea typeface="Microsoft YaHei"/>
                        </a:rPr>
                        <a:t>It’s the least we could do. / I’m happy to help.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 spd="med">
    <p:fade/>
  </p:transition>
</p:sld>
</file>

<file path=ppt/slides/slide1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F6B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8442656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3200" b="1">
                <a:solidFill>
                  <a:srgbClr val="1F2A44"/>
                </a:solidFill>
                <a:latin typeface="Arial"/>
                <a:ea typeface="Microsoft YaHei"/>
              </a:rPr>
              <a:t>🕵️ Spot the Mistake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74175" y="438912"/>
            <a:ext cx="2560320" cy="475488"/>
          </a:xfrm>
          <a:prstGeom prst="roundRect">
            <a:avLst>
              <a:gd name="adj" fmla="val 50000"/>
            </a:avLst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3152" rIns="73152"/>
          <a:lstStyle/>
          <a:p>
            <a:pPr algn="ctr">
              <a:spcAft>
                <a:spcPts val="200"/>
              </a:spcAft>
            </a:pPr>
            <a:r>
              <a:rPr sz="1300" b="1">
                <a:solidFill>
                  <a:srgbClr val="FFFFFF"/>
                </a:solidFill>
                <a:latin typeface="Arial"/>
                <a:ea typeface="Microsoft YaHei"/>
              </a:rPr>
              <a:t>05 Language Tips 贴士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19088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100" b="0">
                <a:solidFill>
                  <a:srgbClr val="5F677A"/>
                </a:solidFill>
                <a:latin typeface="Arial"/>
                <a:ea typeface="Microsoft YaHei"/>
              </a:rPr>
              <a:t>Business English · Level 4 · Unit 3 · Lesson 09 Making visitors feel welcome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28655" y="6419088"/>
            <a:ext cx="914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  <a:spcAft>
                <a:spcPts val="800"/>
              </a:spcAft>
            </a:pPr>
            <a:r>
              <a:rPr sz="1100" b="0">
                <a:solidFill>
                  <a:srgbClr val="5F677A"/>
                </a:solidFill>
                <a:latin typeface="Arial"/>
                <a:ea typeface="Microsoft YaHei"/>
              </a:rPr>
              <a:t>109</a:t>
            </a:r>
          </a:p>
        </p:txBody>
      </p:sp>
      <p:sp>
        <p:nvSpPr>
          <p:cNvPr id="7" name="Rounded Rectangle 6">
            <a:hlinkClick action="ppaction://hlinksldjump" r:id="rId2"/>
          </p:cNvPr>
          <p:cNvSpPr/>
          <p:nvPr/>
        </p:nvSpPr>
        <p:spPr>
          <a:xfrm>
            <a:off x="9677095" y="6382512"/>
            <a:ext cx="960120" cy="329184"/>
          </a:xfrm>
          <a:prstGeom prst="roundRect">
            <a:avLst>
              <a:gd name="adj" fmla="val 50000"/>
            </a:avLst>
          </a:prstGeom>
          <a:solidFill>
            <a:srgbClr val="FFE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Aft>
                <a:spcPts val="200"/>
              </a:spcAft>
            </a:pPr>
            <a:r>
              <a:rPr sz="1100" b="1">
                <a:solidFill>
                  <a:srgbClr val="1F2A44"/>
                </a:solidFill>
                <a:latin typeface="Arial"/>
                <a:ea typeface="Microsoft YaHei"/>
              </a:rPr>
              <a:t>🗺 Map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024128"/>
            <a:ext cx="11094415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500" b="0">
                <a:solidFill>
                  <a:srgbClr val="5F677A"/>
                </a:solidFill>
                <a:latin typeface="Arial"/>
                <a:ea typeface="Microsoft YaHei"/>
              </a:rPr>
              <a:t>What's wrong? Fix it before you click!  哪里错了？先改正，再点击核对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463040"/>
            <a:ext cx="5455767" cy="609599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31750">
            <a:solidFill>
              <a:srgbClr val="FF6B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FF6B5B"/>
                </a:solidFill>
                <a:latin typeface="Arial"/>
                <a:ea typeface="Microsoft YaHei"/>
              </a:rPr>
              <a:t>✗  I arranged a car pick you up.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87287" y="1463040"/>
            <a:ext cx="5455767" cy="609599"/>
          </a:xfrm>
          <a:prstGeom prst="roundRect">
            <a:avLst>
              <a:gd name="adj" fmla="val 15000"/>
            </a:avLst>
          </a:prstGeom>
          <a:solidFill>
            <a:srgbClr val="3CC4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Arial"/>
                <a:ea typeface="Microsoft YaHei"/>
              </a:rPr>
              <a:t>✓  I arranged for a car to pick you up.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FFFFFF"/>
                </a:solidFill>
                <a:latin typeface="Arial"/>
                <a:ea typeface="Microsoft YaHei"/>
              </a:rPr>
              <a:t>arrange for sb to do sth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2164079"/>
            <a:ext cx="5455767" cy="609599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31750">
            <a:solidFill>
              <a:srgbClr val="FF6B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FF6B5B"/>
                </a:solidFill>
                <a:latin typeface="Arial"/>
                <a:ea typeface="Microsoft YaHei"/>
              </a:rPr>
              <a:t>✗  I book the hotel last week.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87287" y="2164079"/>
            <a:ext cx="5455767" cy="609599"/>
          </a:xfrm>
          <a:prstGeom prst="roundRect">
            <a:avLst>
              <a:gd name="adj" fmla="val 15000"/>
            </a:avLst>
          </a:prstGeom>
          <a:solidFill>
            <a:srgbClr val="3CC4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Arial"/>
                <a:ea typeface="Microsoft YaHei"/>
              </a:rPr>
              <a:t>✓  I booked the hotel last week.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FFFFFF"/>
                </a:solidFill>
                <a:latin typeface="Arial"/>
                <a:ea typeface="Microsoft YaHei"/>
              </a:rPr>
              <a:t>last week → 过去式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2865118"/>
            <a:ext cx="5455767" cy="609599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31750">
            <a:solidFill>
              <a:srgbClr val="FF6B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FF6B5B"/>
                </a:solidFill>
                <a:latin typeface="Arial"/>
                <a:ea typeface="Microsoft YaHei"/>
              </a:rPr>
              <a:t>✗  I’m very tired after the flight long.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87287" y="2865118"/>
            <a:ext cx="5455767" cy="609599"/>
          </a:xfrm>
          <a:prstGeom prst="roundRect">
            <a:avLst>
              <a:gd name="adj" fmla="val 15000"/>
            </a:avLst>
          </a:prstGeom>
          <a:solidFill>
            <a:srgbClr val="3CC4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Arial"/>
                <a:ea typeface="Microsoft YaHei"/>
              </a:rPr>
              <a:t>✓  I’m very tired after the long flight.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FFFFFF"/>
                </a:solidFill>
                <a:latin typeface="Arial"/>
                <a:ea typeface="Microsoft YaHei"/>
              </a:rPr>
              <a:t>形容词放名词前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3566157"/>
            <a:ext cx="5455767" cy="609599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31750">
            <a:solidFill>
              <a:srgbClr val="FF6B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FF6B5B"/>
                </a:solidFill>
                <a:latin typeface="Arial"/>
                <a:ea typeface="Microsoft YaHei"/>
              </a:rPr>
              <a:t>✗  You are exhausted. (as a guess)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87287" y="3566157"/>
            <a:ext cx="5455767" cy="609599"/>
          </a:xfrm>
          <a:prstGeom prst="roundRect">
            <a:avLst>
              <a:gd name="adj" fmla="val 15000"/>
            </a:avLst>
          </a:prstGeom>
          <a:solidFill>
            <a:srgbClr val="3CC4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Arial"/>
                <a:ea typeface="Microsoft YaHei"/>
              </a:rPr>
              <a:t>✓  You must be exhausted.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FFFFFF"/>
                </a:solidFill>
                <a:latin typeface="Arial"/>
                <a:ea typeface="Microsoft YaHei"/>
              </a:rPr>
              <a:t>表示推测用 must be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4267196"/>
            <a:ext cx="5455767" cy="609599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31750">
            <a:solidFill>
              <a:srgbClr val="FF6B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FF6B5B"/>
                </a:solidFill>
                <a:latin typeface="Arial"/>
                <a:ea typeface="Microsoft YaHei"/>
              </a:rPr>
              <a:t>✗  You are welcome. (as a greeting at the airport)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87287" y="4267196"/>
            <a:ext cx="5455767" cy="609599"/>
          </a:xfrm>
          <a:prstGeom prst="roundRect">
            <a:avLst>
              <a:gd name="adj" fmla="val 15000"/>
            </a:avLst>
          </a:prstGeom>
          <a:solidFill>
            <a:srgbClr val="3CC4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Arial"/>
                <a:ea typeface="Microsoft YaHei"/>
              </a:rPr>
              <a:t>✓  Welcome to Shanghai.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FFFFFF"/>
                </a:solidFill>
                <a:latin typeface="Arial"/>
                <a:ea typeface="Microsoft YaHei"/>
              </a:rPr>
              <a:t>欢迎光临 ≠ You’re welcome(不客气)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" fill="hold">
                      <p:stCondLst>
                        <p:cond delay="indefinite"/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F6B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8442656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3200" b="1">
                <a:solidFill>
                  <a:srgbClr val="1F2A44"/>
                </a:solidFill>
                <a:latin typeface="Arial"/>
                <a:ea typeface="Microsoft YaHei"/>
              </a:rPr>
              <a:t>🕵️ Spot the Mistake (cont.)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74175" y="438912"/>
            <a:ext cx="2560320" cy="475488"/>
          </a:xfrm>
          <a:prstGeom prst="roundRect">
            <a:avLst>
              <a:gd name="adj" fmla="val 50000"/>
            </a:avLst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3152" rIns="73152"/>
          <a:lstStyle/>
          <a:p>
            <a:pPr algn="ctr">
              <a:spcAft>
                <a:spcPts val="200"/>
              </a:spcAft>
            </a:pPr>
            <a:r>
              <a:rPr sz="1300" b="1">
                <a:solidFill>
                  <a:srgbClr val="FFFFFF"/>
                </a:solidFill>
                <a:latin typeface="Arial"/>
                <a:ea typeface="Microsoft YaHei"/>
              </a:rPr>
              <a:t>05 Language Tips 贴士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19088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100" b="0">
                <a:solidFill>
                  <a:srgbClr val="5F677A"/>
                </a:solidFill>
                <a:latin typeface="Arial"/>
                <a:ea typeface="Microsoft YaHei"/>
              </a:rPr>
              <a:t>Business English · Level 4 · Unit 3 · Lesson 09 Making visitors feel welcome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28655" y="6419088"/>
            <a:ext cx="914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  <a:spcAft>
                <a:spcPts val="800"/>
              </a:spcAft>
            </a:pPr>
            <a:r>
              <a:rPr sz="1100" b="0">
                <a:solidFill>
                  <a:srgbClr val="5F677A"/>
                </a:solidFill>
                <a:latin typeface="Arial"/>
                <a:ea typeface="Microsoft YaHei"/>
              </a:rPr>
              <a:t>110</a:t>
            </a:r>
          </a:p>
        </p:txBody>
      </p:sp>
      <p:sp>
        <p:nvSpPr>
          <p:cNvPr id="7" name="Rounded Rectangle 6">
            <a:hlinkClick action="ppaction://hlinksldjump" r:id="rId2"/>
          </p:cNvPr>
          <p:cNvSpPr/>
          <p:nvPr/>
        </p:nvSpPr>
        <p:spPr>
          <a:xfrm>
            <a:off x="9677095" y="6382512"/>
            <a:ext cx="960120" cy="329184"/>
          </a:xfrm>
          <a:prstGeom prst="roundRect">
            <a:avLst>
              <a:gd name="adj" fmla="val 50000"/>
            </a:avLst>
          </a:prstGeom>
          <a:solidFill>
            <a:srgbClr val="FFE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Aft>
                <a:spcPts val="200"/>
              </a:spcAft>
            </a:pPr>
            <a:r>
              <a:rPr sz="1100" b="1">
                <a:solidFill>
                  <a:srgbClr val="1F2A44"/>
                </a:solidFill>
                <a:latin typeface="Arial"/>
                <a:ea typeface="Microsoft YaHei"/>
              </a:rPr>
              <a:t>🗺 Map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024128"/>
            <a:ext cx="11094415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500" b="0">
                <a:solidFill>
                  <a:srgbClr val="5F677A"/>
                </a:solidFill>
                <a:latin typeface="Arial"/>
                <a:ea typeface="Microsoft YaHei"/>
              </a:rPr>
              <a:t>What's wrong? Fix it before you click!  哪里错了？先改正，再点击核对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463040"/>
            <a:ext cx="5455767" cy="609599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31750">
            <a:solidFill>
              <a:srgbClr val="FF6B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FF6B5B"/>
                </a:solidFill>
                <a:latin typeface="Arial"/>
                <a:ea typeface="Microsoft YaHei"/>
              </a:rPr>
              <a:t>✗  Please be careful your head.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87287" y="1463040"/>
            <a:ext cx="5455767" cy="609599"/>
          </a:xfrm>
          <a:prstGeom prst="roundRect">
            <a:avLst>
              <a:gd name="adj" fmla="val 15000"/>
            </a:avLst>
          </a:prstGeom>
          <a:solidFill>
            <a:srgbClr val="3CC4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Arial"/>
                <a:ea typeface="Microsoft YaHei"/>
              </a:rPr>
              <a:t>✓  Please mind your head. / Watch your head.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FFFFFF"/>
                </a:solidFill>
                <a:latin typeface="Arial"/>
                <a:ea typeface="Microsoft YaHei"/>
              </a:rPr>
              <a:t>mind / watch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2164079"/>
            <a:ext cx="5455767" cy="609599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31750">
            <a:solidFill>
              <a:srgbClr val="FF6B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FF6B5B"/>
                </a:solidFill>
                <a:latin typeface="Arial"/>
                <a:ea typeface="Microsoft YaHei"/>
              </a:rPr>
              <a:t>✗  Do you have any diet requirements?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87287" y="2164079"/>
            <a:ext cx="5455767" cy="609599"/>
          </a:xfrm>
          <a:prstGeom prst="roundRect">
            <a:avLst>
              <a:gd name="adj" fmla="val 15000"/>
            </a:avLst>
          </a:prstGeom>
          <a:solidFill>
            <a:srgbClr val="3CC4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Arial"/>
                <a:ea typeface="Microsoft YaHei"/>
              </a:rPr>
              <a:t>✓  Do you have any dietary requirements?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FFFFFF"/>
                </a:solidFill>
                <a:latin typeface="Arial"/>
                <a:ea typeface="Microsoft YaHei"/>
              </a:rPr>
              <a:t>形容词 dietary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2865118"/>
            <a:ext cx="5455767" cy="609599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31750">
            <a:solidFill>
              <a:srgbClr val="FF6B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FF6B5B"/>
                </a:solidFill>
                <a:latin typeface="Arial"/>
                <a:ea typeface="Microsoft YaHei"/>
              </a:rPr>
              <a:t>✗  Is there something we can do?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87287" y="2865118"/>
            <a:ext cx="5455767" cy="609599"/>
          </a:xfrm>
          <a:prstGeom prst="roundRect">
            <a:avLst>
              <a:gd name="adj" fmla="val 15000"/>
            </a:avLst>
          </a:prstGeom>
          <a:solidFill>
            <a:srgbClr val="3CC4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Arial"/>
                <a:ea typeface="Microsoft YaHei"/>
              </a:rPr>
              <a:t>✓  Is there anything we can do?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FFFFFF"/>
                </a:solidFill>
                <a:latin typeface="Arial"/>
                <a:ea typeface="Microsoft YaHei"/>
              </a:rPr>
              <a:t>疑问句用 anything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3566157"/>
            <a:ext cx="5455767" cy="609599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31750">
            <a:solidFill>
              <a:srgbClr val="FF6B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FF6B5B"/>
                </a:solidFill>
                <a:latin typeface="Arial"/>
                <a:ea typeface="Microsoft YaHei"/>
              </a:rPr>
              <a:t>✗  dietry / vegeterian / exausted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87287" y="3566157"/>
            <a:ext cx="5455767" cy="609599"/>
          </a:xfrm>
          <a:prstGeom prst="roundRect">
            <a:avLst>
              <a:gd name="adj" fmla="val 15000"/>
            </a:avLst>
          </a:prstGeom>
          <a:solidFill>
            <a:srgbClr val="3CC4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Arial"/>
                <a:ea typeface="Microsoft YaHei"/>
              </a:rPr>
              <a:t>✓  dietary / vegetarian / exhausted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FFFFFF"/>
                </a:solidFill>
                <a:latin typeface="Arial"/>
                <a:ea typeface="Microsoft YaHei"/>
              </a:rPr>
              <a:t>拼写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5760720"/>
            <a:ext cx="11094415" cy="502920"/>
          </a:xfrm>
          <a:prstGeom prst="roundRect">
            <a:avLst>
              <a:gd name="adj" fmla="val 30000"/>
            </a:avLst>
          </a:prstGeom>
          <a:solidFill>
            <a:srgbClr val="FFE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1F2A44"/>
                </a:solidFill>
                <a:latin typeface="Arial"/>
                <a:ea typeface="Microsoft YaHei"/>
              </a:rPr>
              <a:t>⚠️ Welcome (to a visitor) and You’re welcome (reply to thanks) are different. Say: “Welcome to Shanghai!” and “You’re welcome” or “My pleasure.”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" fill="hold">
                      <p:stCondLst>
                        <p:cond delay="indefinite"/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3CC4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8442656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3200" b="1">
                <a:solidFill>
                  <a:srgbClr val="1F2A44"/>
                </a:solidFill>
                <a:latin typeface="Arial"/>
                <a:ea typeface="Microsoft YaHei"/>
              </a:rPr>
              <a:t>🌏 Cultural tips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74175" y="438912"/>
            <a:ext cx="2560320" cy="475488"/>
          </a:xfrm>
          <a:prstGeom prst="roundRect">
            <a:avLst>
              <a:gd name="adj" fmla="val 50000"/>
            </a:avLst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3152" rIns="73152"/>
          <a:lstStyle/>
          <a:p>
            <a:pPr algn="ctr">
              <a:spcAft>
                <a:spcPts val="200"/>
              </a:spcAft>
            </a:pPr>
            <a:r>
              <a:rPr sz="1300" b="1">
                <a:solidFill>
                  <a:srgbClr val="FFFFFF"/>
                </a:solidFill>
                <a:latin typeface="Arial"/>
                <a:ea typeface="Microsoft YaHei"/>
              </a:rPr>
              <a:t>05 Language Tips 贴士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19088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100" b="0">
                <a:solidFill>
                  <a:srgbClr val="5F677A"/>
                </a:solidFill>
                <a:latin typeface="Arial"/>
                <a:ea typeface="Microsoft YaHei"/>
              </a:rPr>
              <a:t>Business English · Level 4 · Unit 3 · Lesson 09 Making visitors feel welcome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28655" y="6419088"/>
            <a:ext cx="914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  <a:spcAft>
                <a:spcPts val="800"/>
              </a:spcAft>
            </a:pPr>
            <a:r>
              <a:rPr sz="1100" b="0">
                <a:solidFill>
                  <a:srgbClr val="5F677A"/>
                </a:solidFill>
                <a:latin typeface="Arial"/>
                <a:ea typeface="Microsoft YaHei"/>
              </a:rPr>
              <a:t>111</a:t>
            </a:r>
          </a:p>
        </p:txBody>
      </p:sp>
      <p:sp>
        <p:nvSpPr>
          <p:cNvPr id="7" name="Rounded Rectangle 6">
            <a:hlinkClick action="ppaction://hlinksldjump" r:id="rId2"/>
          </p:cNvPr>
          <p:cNvSpPr/>
          <p:nvPr/>
        </p:nvSpPr>
        <p:spPr>
          <a:xfrm>
            <a:off x="9677095" y="6382512"/>
            <a:ext cx="960120" cy="329184"/>
          </a:xfrm>
          <a:prstGeom prst="roundRect">
            <a:avLst>
              <a:gd name="adj" fmla="val 50000"/>
            </a:avLst>
          </a:prstGeom>
          <a:solidFill>
            <a:srgbClr val="FFE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Aft>
                <a:spcPts val="200"/>
              </a:spcAft>
            </a:pPr>
            <a:r>
              <a:rPr sz="1100" b="1">
                <a:solidFill>
                  <a:srgbClr val="1F2A44"/>
                </a:solidFill>
                <a:latin typeface="Arial"/>
                <a:ea typeface="Microsoft YaHei"/>
              </a:rPr>
              <a:t>🗺 Map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960120"/>
            <a:ext cx="11094415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500" b="0">
                <a:solidFill>
                  <a:srgbClr val="5F677A"/>
                </a:solidFill>
                <a:latin typeface="Arial"/>
                <a:ea typeface="Microsoft YaHei"/>
              </a:rPr>
              <a:t>文化小贴士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417320"/>
            <a:ext cx="11094415" cy="701039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1417320"/>
            <a:ext cx="91440" cy="701039"/>
          </a:xfrm>
          <a:prstGeom prst="rect">
            <a:avLst/>
          </a:prstGeom>
          <a:solidFill>
            <a:srgbClr val="FF6B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1417320"/>
            <a:ext cx="10728655" cy="70103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700" b="0">
                <a:solidFill>
                  <a:srgbClr val="1F2A44"/>
                </a:solidFill>
                <a:latin typeface="Arial"/>
                <a:ea typeface="Microsoft YaHei"/>
              </a:rPr>
              <a:t>Ask before ordering for the guest. In China, hosts often order many dishes for the guest. Many Western guests prefer to choose their own meal. Say: “Please order whatever you like.”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2209799"/>
            <a:ext cx="11094415" cy="701039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48640" y="2209799"/>
            <a:ext cx="91440" cy="701039"/>
          </a:xfrm>
          <a:prstGeom prst="rect">
            <a:avLst/>
          </a:prstGeom>
          <a:solidFill>
            <a:srgbClr val="4A90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2209799"/>
            <a:ext cx="10728655" cy="70103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700" b="0">
                <a:solidFill>
                  <a:srgbClr val="1F2A44"/>
                </a:solidFill>
                <a:latin typeface="Arial"/>
                <a:ea typeface="Microsoft YaHei"/>
              </a:rPr>
              <a:t>Dietary needs are normal. Vegetarian, halal, kosher, gluten-free and allergies are common. Ask before the visit and keep the answer private.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3002278"/>
            <a:ext cx="11094415" cy="701039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48640" y="3002278"/>
            <a:ext cx="91440" cy="701039"/>
          </a:xfrm>
          <a:prstGeom prst="rect">
            <a:avLst/>
          </a:prstGeom>
          <a:solidFill>
            <a:srgbClr val="3CC4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" y="3002278"/>
            <a:ext cx="10728655" cy="70103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700" b="0">
                <a:solidFill>
                  <a:srgbClr val="1F2A44"/>
                </a:solidFill>
                <a:latin typeface="Arial"/>
                <a:ea typeface="Microsoft YaHei"/>
              </a:rPr>
              <a:t>Jet lag is real. A visitor from Europe or the US may not be at their best on the first day. A light schedule on day one shows you are thoughtful.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3794757"/>
            <a:ext cx="11094415" cy="701039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48640" y="3794757"/>
            <a:ext cx="91440" cy="701039"/>
          </a:xfrm>
          <a:prstGeom prst="rect">
            <a:avLst/>
          </a:prstGeom>
          <a:solidFill>
            <a:srgbClr val="FFC8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" y="3794757"/>
            <a:ext cx="10728655" cy="70103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700" b="1">
                <a:solidFill>
                  <a:srgbClr val="FFC857"/>
                </a:solidFill>
                <a:latin typeface="Arial"/>
                <a:ea typeface="Microsoft YaHei"/>
              </a:rPr>
              <a:t>Gifts: </a:t>
            </a:r>
            <a:r>
              <a:rPr sz="1700" b="0">
                <a:solidFill>
                  <a:srgbClr val="1F2A44"/>
                </a:solidFill>
                <a:latin typeface="Arial"/>
                <a:ea typeface="Microsoft YaHei"/>
              </a:rPr>
              <a:t>In many Western companies, gifts should be small and not expensive. A local specialty (tea, sweets) is better than something very expensive.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8640" y="4587236"/>
            <a:ext cx="11094415" cy="701039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48640" y="4587236"/>
            <a:ext cx="91440" cy="701039"/>
          </a:xfrm>
          <a:prstGeom prst="rect">
            <a:avLst/>
          </a:prstGeom>
          <a:solidFill>
            <a:srgbClr val="9B6B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77240" y="4587236"/>
            <a:ext cx="10728655" cy="70103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700" b="1">
                <a:solidFill>
                  <a:srgbClr val="9B6BE0"/>
                </a:solidFill>
                <a:latin typeface="Arial"/>
                <a:ea typeface="Microsoft YaHei"/>
              </a:rPr>
              <a:t>Say thank you for their effort as well as yours: </a:t>
            </a:r>
            <a:r>
              <a:rPr sz="1700" b="0">
                <a:solidFill>
                  <a:srgbClr val="1F2A44"/>
                </a:solidFill>
                <a:latin typeface="Arial"/>
                <a:ea typeface="Microsoft YaHei"/>
              </a:rPr>
              <a:t>“Thank you for travelling so far for this meeting.”</a:t>
            </a:r>
          </a:p>
        </p:txBody>
      </p:sp>
    </p:spTree>
  </p:cSld>
  <p:clrMapOvr>
    <a:masterClrMapping/>
  </p:clrMapOvr>
  <p:transition spd="med">
    <p:fade/>
  </p:transition>
</p:sld>
</file>

<file path=ppt/slides/slide1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3CC4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8442656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3200" b="1">
                <a:solidFill>
                  <a:srgbClr val="1F2A44"/>
                </a:solidFill>
                <a:latin typeface="Arial"/>
                <a:ea typeface="Microsoft YaHei"/>
              </a:rPr>
              <a:t>✅ Can-do Check 掌握度自检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74175" y="438912"/>
            <a:ext cx="2560320" cy="475488"/>
          </a:xfrm>
          <a:prstGeom prst="roundRect">
            <a:avLst>
              <a:gd name="adj" fmla="val 50000"/>
            </a:avLst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3152" rIns="73152"/>
          <a:lstStyle/>
          <a:p>
            <a:pPr algn="ctr">
              <a:spcAft>
                <a:spcPts val="200"/>
              </a:spcAft>
            </a:pPr>
            <a:r>
              <a:rPr sz="1300" b="1">
                <a:solidFill>
                  <a:srgbClr val="FFFFFF"/>
                </a:solidFill>
                <a:latin typeface="Arial"/>
                <a:ea typeface="Microsoft YaHei"/>
              </a:rPr>
              <a:t>Lesson 09 wrap-up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19088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100" b="0">
                <a:solidFill>
                  <a:srgbClr val="5F677A"/>
                </a:solidFill>
                <a:latin typeface="Arial"/>
                <a:ea typeface="Microsoft YaHei"/>
              </a:rPr>
              <a:t>Business English · Level 4 · Unit 3 · Lesson 09 Making visitors feel welcome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28655" y="6419088"/>
            <a:ext cx="914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  <a:spcAft>
                <a:spcPts val="800"/>
              </a:spcAft>
            </a:pPr>
            <a:r>
              <a:rPr sz="1100" b="0">
                <a:solidFill>
                  <a:srgbClr val="5F677A"/>
                </a:solidFill>
                <a:latin typeface="Arial"/>
                <a:ea typeface="Microsoft YaHei"/>
              </a:rPr>
              <a:t>112</a:t>
            </a:r>
          </a:p>
        </p:txBody>
      </p:sp>
      <p:sp>
        <p:nvSpPr>
          <p:cNvPr id="7" name="Rounded Rectangle 6">
            <a:hlinkClick action="ppaction://hlinksldjump" r:id="rId2"/>
          </p:cNvPr>
          <p:cNvSpPr/>
          <p:nvPr/>
        </p:nvSpPr>
        <p:spPr>
          <a:xfrm>
            <a:off x="9677095" y="6382512"/>
            <a:ext cx="960120" cy="329184"/>
          </a:xfrm>
          <a:prstGeom prst="roundRect">
            <a:avLst>
              <a:gd name="adj" fmla="val 50000"/>
            </a:avLst>
          </a:prstGeom>
          <a:solidFill>
            <a:srgbClr val="FFE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Aft>
                <a:spcPts val="200"/>
              </a:spcAft>
            </a:pPr>
            <a:r>
              <a:rPr sz="1100" b="1">
                <a:solidFill>
                  <a:srgbClr val="1F2A44"/>
                </a:solidFill>
                <a:latin typeface="Arial"/>
                <a:ea typeface="Microsoft YaHei"/>
              </a:rPr>
              <a:t>🗺 Map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024128"/>
            <a:ext cx="11094415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500" b="0">
                <a:solidFill>
                  <a:srgbClr val="5F677A"/>
                </a:solidFill>
                <a:latin typeface="Arial"/>
                <a:ea typeface="Microsoft YaHei"/>
              </a:rPr>
              <a:t>Rate yourself: ⭐ not yet · ⭐⭐ almost · ⭐⭐⭐ I can do it!  给自己打星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508760"/>
            <a:ext cx="11094415" cy="749808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1508760"/>
            <a:ext cx="54864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2400" b="0">
                <a:solidFill>
                  <a:srgbClr val="3CC49A"/>
                </a:solidFill>
                <a:latin typeface="Arial"/>
                <a:ea typeface="Microsoft YaHei"/>
              </a:rPr>
              <a:t>☐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4440" y="1508760"/>
            <a:ext cx="8168335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800" b="0">
                <a:solidFill>
                  <a:srgbClr val="1F2A44"/>
                </a:solidFill>
                <a:latin typeface="Arial"/>
                <a:ea typeface="Microsoft YaHei"/>
              </a:rPr>
              <a:t>I can plan a welcome (transport, hotel, food) and say it with I’ve arranged for…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539935" y="1508760"/>
            <a:ext cx="201168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800"/>
              </a:spcAft>
            </a:pPr>
            <a:r>
              <a:rPr sz="2200" b="0">
                <a:solidFill>
                  <a:srgbClr val="FFC857"/>
                </a:solidFill>
                <a:latin typeface="Arial"/>
                <a:ea typeface="Microsoft YaHei"/>
              </a:rPr>
              <a:t>☆ ☆ ☆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2350008"/>
            <a:ext cx="11094415" cy="749808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5800" y="2350008"/>
            <a:ext cx="54864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2400" b="0">
                <a:solidFill>
                  <a:srgbClr val="3CC49A"/>
                </a:solidFill>
                <a:latin typeface="Arial"/>
                <a:ea typeface="Microsoft YaHei"/>
              </a:rPr>
              <a:t>☐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34440" y="2350008"/>
            <a:ext cx="8168335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800" b="0">
                <a:solidFill>
                  <a:srgbClr val="1F2A44"/>
                </a:solidFill>
                <a:latin typeface="Arial"/>
                <a:ea typeface="Microsoft YaHei"/>
              </a:rPr>
              <a:t>I can ask about food and other needs politely (Do you have any dietary requirements?).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539935" y="2350008"/>
            <a:ext cx="201168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800"/>
              </a:spcAft>
            </a:pPr>
            <a:r>
              <a:rPr sz="2200" b="0">
                <a:solidFill>
                  <a:srgbClr val="FFC857"/>
                </a:solidFill>
                <a:latin typeface="Arial"/>
                <a:ea typeface="Microsoft YaHei"/>
              </a:rPr>
              <a:t>☆ ☆ ☆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3191256"/>
            <a:ext cx="11094415" cy="749808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5800" y="3191256"/>
            <a:ext cx="54864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2400" b="0">
                <a:solidFill>
                  <a:srgbClr val="3CC49A"/>
                </a:solidFill>
                <a:latin typeface="Arial"/>
                <a:ea typeface="Microsoft YaHei"/>
              </a:rPr>
              <a:t>☐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34440" y="3191256"/>
            <a:ext cx="8168335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800" b="0">
                <a:solidFill>
                  <a:srgbClr val="1F2A44"/>
                </a:solidFill>
                <a:latin typeface="Arial"/>
                <a:ea typeface="Microsoft YaHei"/>
              </a:rPr>
              <a:t>I can show I care with You must be… and Would you like to freshen up first?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539935" y="3191256"/>
            <a:ext cx="201168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800"/>
              </a:spcAft>
            </a:pPr>
            <a:r>
              <a:rPr sz="2200" b="0">
                <a:solidFill>
                  <a:srgbClr val="FFC857"/>
                </a:solidFill>
                <a:latin typeface="Arial"/>
                <a:ea typeface="Microsoft YaHei"/>
              </a:rPr>
              <a:t>☆ ☆ ☆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8640" y="4032504"/>
            <a:ext cx="11094415" cy="749808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85800" y="4032504"/>
            <a:ext cx="54864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2400" b="0">
                <a:solidFill>
                  <a:srgbClr val="3CC49A"/>
                </a:solidFill>
                <a:latin typeface="Arial"/>
                <a:ea typeface="Microsoft YaHei"/>
              </a:rPr>
              <a:t>☐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34440" y="4032504"/>
            <a:ext cx="8168335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800" b="0">
                <a:solidFill>
                  <a:srgbClr val="1F2A44"/>
                </a:solidFill>
                <a:latin typeface="Arial"/>
                <a:ea typeface="Microsoft YaHei"/>
              </a:rPr>
              <a:t>I can respond to thanks warmly (It’s no trouble at all. My pleasure. Don’t mention it.).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539935" y="4032504"/>
            <a:ext cx="201168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800"/>
              </a:spcAft>
            </a:pPr>
            <a:r>
              <a:rPr sz="2200" b="0">
                <a:solidFill>
                  <a:srgbClr val="FFC857"/>
                </a:solidFill>
                <a:latin typeface="Arial"/>
                <a:ea typeface="Microsoft YaHei"/>
              </a:rPr>
              <a:t>☆ ☆ ☆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48640" y="4873752"/>
            <a:ext cx="11094415" cy="749808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85800" y="4873752"/>
            <a:ext cx="54864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2400" b="0">
                <a:solidFill>
                  <a:srgbClr val="3CC49A"/>
                </a:solidFill>
                <a:latin typeface="Arial"/>
                <a:ea typeface="Microsoft YaHei"/>
              </a:rPr>
              <a:t>☐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234440" y="4873752"/>
            <a:ext cx="8168335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800" b="0">
                <a:solidFill>
                  <a:srgbClr val="1F2A44"/>
                </a:solidFill>
                <a:latin typeface="Arial"/>
                <a:ea typeface="Microsoft YaHei"/>
              </a:rPr>
              <a:t>I can use arrange for sb to do, must be and the right form of welcome correctly.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539935" y="4873752"/>
            <a:ext cx="201168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800"/>
              </a:spcAft>
            </a:pPr>
            <a:r>
              <a:rPr sz="2200" b="0">
                <a:solidFill>
                  <a:srgbClr val="FFC857"/>
                </a:solidFill>
                <a:latin typeface="Arial"/>
                <a:ea typeface="Microsoft YaHei"/>
              </a:rPr>
              <a:t>☆ ☆ ☆</a:t>
            </a:r>
          </a:p>
        </p:txBody>
      </p:sp>
    </p:spTree>
  </p:cSld>
  <p:clrMapOvr>
    <a:masterClrMapping/>
  </p:clrMapOvr>
  <p:transition spd="med">
    <p:fade/>
  </p:transition>
</p:sld>
</file>

<file path=ppt/slides/slide1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4A90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8442656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3200" b="1">
                <a:solidFill>
                  <a:srgbClr val="1F2A44"/>
                </a:solidFill>
                <a:latin typeface="Arial"/>
                <a:ea typeface="Microsoft YaHei"/>
              </a:rPr>
              <a:t>🏠 After Class: 10-Minute Daily Plan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74175" y="438912"/>
            <a:ext cx="2560320" cy="475488"/>
          </a:xfrm>
          <a:prstGeom prst="roundRect">
            <a:avLst>
              <a:gd name="adj" fmla="val 50000"/>
            </a:avLst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3152" rIns="73152"/>
          <a:lstStyle/>
          <a:p>
            <a:pPr algn="ctr">
              <a:spcAft>
                <a:spcPts val="200"/>
              </a:spcAft>
            </a:pPr>
            <a:r>
              <a:rPr sz="1300" b="1">
                <a:solidFill>
                  <a:srgbClr val="FFFFFF"/>
                </a:solidFill>
                <a:latin typeface="Arial"/>
                <a:ea typeface="Microsoft YaHei"/>
              </a:rPr>
              <a:t>课后练习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19088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100" b="0">
                <a:solidFill>
                  <a:srgbClr val="5F677A"/>
                </a:solidFill>
                <a:latin typeface="Arial"/>
                <a:ea typeface="Microsoft YaHei"/>
              </a:rPr>
              <a:t>Business English · Level 4 · Unit 3 · Lesson 09 Making visitors feel welcome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28655" y="6419088"/>
            <a:ext cx="914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  <a:spcAft>
                <a:spcPts val="800"/>
              </a:spcAft>
            </a:pPr>
            <a:r>
              <a:rPr sz="1100" b="0">
                <a:solidFill>
                  <a:srgbClr val="5F677A"/>
                </a:solidFill>
                <a:latin typeface="Arial"/>
                <a:ea typeface="Microsoft YaHei"/>
              </a:rPr>
              <a:t>113</a:t>
            </a:r>
          </a:p>
        </p:txBody>
      </p:sp>
      <p:sp>
        <p:nvSpPr>
          <p:cNvPr id="7" name="Rounded Rectangle 6">
            <a:hlinkClick action="ppaction://hlinksldjump" r:id="rId2"/>
          </p:cNvPr>
          <p:cNvSpPr/>
          <p:nvPr/>
        </p:nvSpPr>
        <p:spPr>
          <a:xfrm>
            <a:off x="9677095" y="6382512"/>
            <a:ext cx="960120" cy="329184"/>
          </a:xfrm>
          <a:prstGeom prst="roundRect">
            <a:avLst>
              <a:gd name="adj" fmla="val 50000"/>
            </a:avLst>
          </a:prstGeom>
          <a:solidFill>
            <a:srgbClr val="FFE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Aft>
                <a:spcPts val="200"/>
              </a:spcAft>
            </a:pPr>
            <a:r>
              <a:rPr sz="1100" b="1">
                <a:solidFill>
                  <a:srgbClr val="1F2A44"/>
                </a:solidFill>
                <a:latin typeface="Arial"/>
                <a:ea typeface="Microsoft YaHei"/>
              </a:rPr>
              <a:t>🗺 Map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325880"/>
            <a:ext cx="1554480" cy="713232"/>
          </a:xfrm>
          <a:prstGeom prst="roundRect">
            <a:avLst>
              <a:gd name="adj" fmla="val 20000"/>
            </a:avLst>
          </a:prstGeom>
          <a:solidFill>
            <a:srgbClr val="FF6B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Aft>
                <a:spcPts val="200"/>
              </a:spcAft>
            </a:pPr>
            <a:r>
              <a:rPr sz="1500" b="1">
                <a:solidFill>
                  <a:srgbClr val="FFFFFF"/>
                </a:solidFill>
                <a:latin typeface="Arial"/>
                <a:ea typeface="Microsoft YaHei"/>
              </a:rPr>
              <a:t>⏱ 0–2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240280" y="1325880"/>
            <a:ext cx="9402775" cy="713232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l">
              <a:spcAft>
                <a:spcPts val="200"/>
              </a:spcAft>
            </a:pPr>
            <a:r>
              <a:rPr sz="1800" b="1">
                <a:solidFill>
                  <a:srgbClr val="1F2A44"/>
                </a:solidFill>
                <a:latin typeface="Arial"/>
                <a:ea typeface="Microsoft YaHei"/>
              </a:rPr>
              <a:t>Read the 15 expressions aloud. Cover the English and say it from the Chinese. Make 2 true sentences with ★ items.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112264"/>
            <a:ext cx="1554480" cy="438912"/>
          </a:xfrm>
          <a:prstGeom prst="roundRect">
            <a:avLst>
              <a:gd name="adj" fmla="val 20000"/>
            </a:avLst>
          </a:prstGeom>
          <a:solidFill>
            <a:srgbClr val="4A90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Aft>
                <a:spcPts val="200"/>
              </a:spcAft>
            </a:pPr>
            <a:r>
              <a:rPr sz="1500" b="1">
                <a:solidFill>
                  <a:srgbClr val="FFFFFF"/>
                </a:solidFill>
                <a:latin typeface="Arial"/>
                <a:ea typeface="Microsoft YaHei"/>
              </a:rPr>
              <a:t>⏱ 2–5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240280" y="2112264"/>
            <a:ext cx="9402775" cy="438912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l">
              <a:spcAft>
                <a:spcPts val="200"/>
              </a:spcAft>
            </a:pPr>
            <a:r>
              <a:rPr sz="1800" b="1">
                <a:solidFill>
                  <a:srgbClr val="1F2A44"/>
                </a:solidFill>
                <a:latin typeface="Arial"/>
                <a:ea typeface="Microsoft YaHei"/>
              </a:rPr>
              <a:t>Shadow the model dialogue or model email (copy the rhythm and intonation).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2624328"/>
            <a:ext cx="1554480" cy="438912"/>
          </a:xfrm>
          <a:prstGeom prst="roundRect">
            <a:avLst>
              <a:gd name="adj" fmla="val 20000"/>
            </a:avLst>
          </a:prstGeom>
          <a:solidFill>
            <a:srgbClr val="3CC4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Aft>
                <a:spcPts val="200"/>
              </a:spcAft>
            </a:pPr>
            <a:r>
              <a:rPr sz="1500" b="1">
                <a:solidFill>
                  <a:srgbClr val="FFFFFF"/>
                </a:solidFill>
                <a:latin typeface="Arial"/>
                <a:ea typeface="Microsoft YaHei"/>
              </a:rPr>
              <a:t>⏱ 5–8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240280" y="2624328"/>
            <a:ext cx="9402775" cy="438912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l">
              <a:spcAft>
                <a:spcPts val="200"/>
              </a:spcAft>
            </a:pPr>
            <a:r>
              <a:rPr sz="1800" b="1">
                <a:solidFill>
                  <a:srgbClr val="1F2A44"/>
                </a:solidFill>
                <a:latin typeface="Arial"/>
                <a:ea typeface="Microsoft YaHei"/>
              </a:rPr>
              <a:t>Do the role play with the blank role card. Record yourself.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3136392"/>
            <a:ext cx="1554480" cy="987552"/>
          </a:xfrm>
          <a:prstGeom prst="roundRect">
            <a:avLst>
              <a:gd name="adj" fmla="val 20000"/>
            </a:avLst>
          </a:prstGeom>
          <a:solidFill>
            <a:srgbClr val="FFC8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Aft>
                <a:spcPts val="200"/>
              </a:spcAft>
            </a:pPr>
            <a:r>
              <a:rPr sz="1500" b="1">
                <a:solidFill>
                  <a:srgbClr val="FFFFFF"/>
                </a:solidFill>
                <a:latin typeface="Arial"/>
                <a:ea typeface="Microsoft YaHei"/>
              </a:rPr>
              <a:t>⏱ 8–10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240280" y="3136392"/>
            <a:ext cx="9402775" cy="987552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l">
              <a:spcAft>
                <a:spcPts val="200"/>
              </a:spcAft>
            </a:pPr>
            <a:r>
              <a:rPr sz="1800" b="1">
                <a:solidFill>
                  <a:srgbClr val="1F2A44"/>
                </a:solidFill>
                <a:latin typeface="Arial"/>
                <a:ea typeface="Microsoft YaHei"/>
              </a:rPr>
              <a:t>Listen to the recording. Check: arrange for sb to do, past tense (booked, arranged), Welcome vs You’re welcome, and spelling (dietary, exhausted). Write 3 corrections.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5760720"/>
            <a:ext cx="11094415" cy="502920"/>
          </a:xfrm>
          <a:prstGeom prst="roundRect">
            <a:avLst>
              <a:gd name="adj" fmla="val 30000"/>
            </a:avLst>
          </a:prstGeom>
          <a:solidFill>
            <a:srgbClr val="FFE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1F2A44"/>
                </a:solidFill>
                <a:latin typeface="Arial"/>
                <a:ea typeface="Microsoft YaHei"/>
              </a:rPr>
              <a:t>📅 Weekly rhythm: Mon–Tue Scenario 1 · Wed–Thu Scenario 2 · Fri Level-up variation · Weekend: record the 1-minute speaking prompt again and compare with Monday.</a:t>
            </a:r>
          </a:p>
        </p:txBody>
      </p:sp>
    </p:spTree>
  </p:cSld>
  <p:clrMapOvr>
    <a:masterClrMapping/>
  </p:clrMapOvr>
  <p:transition spd="med">
    <p:fade/>
  </p:transition>
</p:sld>
</file>

<file path=ppt/slides/slide1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6419088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100" b="0">
                <a:solidFill>
                  <a:srgbClr val="FFC857"/>
                </a:solidFill>
                <a:latin typeface="Arial"/>
                <a:ea typeface="Microsoft YaHei"/>
              </a:rPr>
              <a:t>Business English · Level 4 · Unit 3 · Lesson 10 Small talk with visitors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728655" y="6419088"/>
            <a:ext cx="914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  <a:spcAft>
                <a:spcPts val="800"/>
              </a:spcAft>
            </a:pPr>
            <a:r>
              <a:rPr sz="1100" b="0">
                <a:solidFill>
                  <a:srgbClr val="FFC857"/>
                </a:solidFill>
                <a:latin typeface="Arial"/>
                <a:ea typeface="Microsoft YaHei"/>
              </a:rPr>
              <a:t>114</a:t>
            </a:r>
          </a:p>
        </p:txBody>
      </p:sp>
      <p:sp>
        <p:nvSpPr>
          <p:cNvPr id="4" name="Rounded Rectangle 3">
            <a:hlinkClick action="ppaction://hlinksldjump" r:id="rId2"/>
          </p:cNvPr>
          <p:cNvSpPr/>
          <p:nvPr/>
        </p:nvSpPr>
        <p:spPr>
          <a:xfrm>
            <a:off x="9677095" y="6382512"/>
            <a:ext cx="960120" cy="329184"/>
          </a:xfrm>
          <a:prstGeom prst="roundRect">
            <a:avLst>
              <a:gd name="adj" fmla="val 50000"/>
            </a:avLst>
          </a:prstGeom>
          <a:solidFill>
            <a:srgbClr val="3642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Aft>
                <a:spcPts val="200"/>
              </a:spcAft>
            </a:pPr>
            <a:r>
              <a:rPr sz="1100" b="1">
                <a:solidFill>
                  <a:srgbClr val="FFFFFF"/>
                </a:solidFill>
                <a:latin typeface="Arial"/>
                <a:ea typeface="Microsoft YaHei"/>
              </a:rPr>
              <a:t>🗺 Map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685800"/>
            <a:ext cx="1097280" cy="91440"/>
          </a:xfrm>
          <a:prstGeom prst="rect">
            <a:avLst/>
          </a:prstGeom>
          <a:solidFill>
            <a:srgbClr val="9B6B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822960"/>
            <a:ext cx="5486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2200" b="1">
                <a:solidFill>
                  <a:srgbClr val="FFC857"/>
                </a:solidFill>
                <a:latin typeface="Arial"/>
                <a:ea typeface="Microsoft YaHei"/>
              </a:rPr>
              <a:t>LESSON 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280160"/>
            <a:ext cx="10515600" cy="12801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5400" b="1">
                <a:solidFill>
                  <a:srgbClr val="FFFFFF"/>
                </a:solidFill>
                <a:latin typeface="Arial"/>
                <a:ea typeface="Microsoft YaHei"/>
              </a:rPr>
              <a:t>Small talk with visitors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560320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2400" b="0">
                <a:solidFill>
                  <a:srgbClr val="FFFFFF"/>
                </a:solidFill>
                <a:latin typeface="Arial"/>
                <a:ea typeface="Microsoft YaHei"/>
              </a:rPr>
              <a:t>与访客聊天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246120"/>
            <a:ext cx="105156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900" b="0">
                <a:solidFill>
                  <a:srgbClr val="FFC857"/>
                </a:solidFill>
                <a:latin typeface="Arial"/>
                <a:ea typeface="Microsoft YaHei"/>
              </a:rPr>
              <a:t>🎯 start, keep going and politely end small talk with visitors: ask open questions, show interest, choose safe topics, and move smoothly from small talk to business.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4389120"/>
            <a:ext cx="1956816" cy="1143000"/>
          </a:xfrm>
          <a:prstGeom prst="roundRect">
            <a:avLst>
              <a:gd name="adj" fmla="val 20000"/>
            </a:avLst>
          </a:prstGeom>
          <a:solidFill>
            <a:srgbClr val="9B6B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Arial"/>
                <a:ea typeface="Microsoft YaHei"/>
              </a:rPr>
              <a:t>🔥 01</a:t>
            </a:r>
          </a:p>
          <a:p>
            <a:pPr algn="ctr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Arial"/>
                <a:ea typeface="Microsoft YaHei"/>
              </a:rPr>
              <a:t>Warm up</a:t>
            </a:r>
          </a:p>
          <a:p>
            <a:pPr algn="ctr">
              <a:spcAft>
                <a:spcPts val="200"/>
              </a:spcAft>
            </a:pPr>
            <a:r>
              <a:rPr sz="1300" b="0">
                <a:solidFill>
                  <a:srgbClr val="FFFFFF"/>
                </a:solidFill>
                <a:latin typeface="Arial"/>
                <a:ea typeface="Microsoft YaHei"/>
              </a:rPr>
              <a:t>热身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962656" y="4389120"/>
            <a:ext cx="1956816" cy="1143000"/>
          </a:xfrm>
          <a:prstGeom prst="roundRect">
            <a:avLst>
              <a:gd name="adj" fmla="val 20000"/>
            </a:avLst>
          </a:prstGeom>
          <a:solidFill>
            <a:srgbClr val="FF6B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Arial"/>
                <a:ea typeface="Microsoft YaHei"/>
              </a:rPr>
              <a:t>📚 02</a:t>
            </a:r>
          </a:p>
          <a:p>
            <a:pPr algn="ctr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Arial"/>
                <a:ea typeface="Microsoft YaHei"/>
              </a:rPr>
              <a:t>Vocabulary</a:t>
            </a:r>
          </a:p>
          <a:p>
            <a:pPr algn="ctr">
              <a:spcAft>
                <a:spcPts val="200"/>
              </a:spcAft>
            </a:pPr>
            <a:r>
              <a:rPr sz="1300" b="0">
                <a:solidFill>
                  <a:srgbClr val="FFFFFF"/>
                </a:solidFill>
                <a:latin typeface="Arial"/>
                <a:ea typeface="Microsoft YaHei"/>
              </a:rPr>
              <a:t>词汇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102352" y="4389120"/>
            <a:ext cx="1956816" cy="1143000"/>
          </a:xfrm>
          <a:prstGeom prst="roundRect">
            <a:avLst>
              <a:gd name="adj" fmla="val 20000"/>
            </a:avLst>
          </a:prstGeom>
          <a:solidFill>
            <a:srgbClr val="4A90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Arial"/>
                <a:ea typeface="Microsoft YaHei"/>
              </a:rPr>
              <a:t>🎭 03</a:t>
            </a:r>
          </a:p>
          <a:p>
            <a:pPr algn="ctr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Arial"/>
                <a:ea typeface="Microsoft YaHei"/>
              </a:rPr>
              <a:t>Role play</a:t>
            </a:r>
          </a:p>
          <a:p>
            <a:pPr algn="ctr">
              <a:spcAft>
                <a:spcPts val="200"/>
              </a:spcAft>
            </a:pPr>
            <a:r>
              <a:rPr sz="1300" b="0">
                <a:solidFill>
                  <a:srgbClr val="FFFFFF"/>
                </a:solidFill>
                <a:latin typeface="Arial"/>
                <a:ea typeface="Microsoft YaHei"/>
              </a:rPr>
              <a:t>角色扮演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242048" y="4389120"/>
            <a:ext cx="1956816" cy="1143000"/>
          </a:xfrm>
          <a:prstGeom prst="roundRect">
            <a:avLst>
              <a:gd name="adj" fmla="val 20000"/>
            </a:avLst>
          </a:prstGeom>
          <a:solidFill>
            <a:srgbClr val="3CC4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Arial"/>
                <a:ea typeface="Microsoft YaHei"/>
              </a:rPr>
              <a:t>💬 04</a:t>
            </a:r>
          </a:p>
          <a:p>
            <a:pPr algn="ctr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Arial"/>
                <a:ea typeface="Microsoft YaHei"/>
              </a:rPr>
              <a:t>Discussion</a:t>
            </a:r>
          </a:p>
          <a:p>
            <a:pPr algn="ctr">
              <a:spcAft>
                <a:spcPts val="200"/>
              </a:spcAft>
            </a:pPr>
            <a:r>
              <a:rPr sz="1300" b="0">
                <a:solidFill>
                  <a:srgbClr val="FFFFFF"/>
                </a:solidFill>
                <a:latin typeface="Arial"/>
                <a:ea typeface="Microsoft YaHei"/>
              </a:rPr>
              <a:t>讨论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381744" y="4389120"/>
            <a:ext cx="1956816" cy="1143000"/>
          </a:xfrm>
          <a:prstGeom prst="roundRect">
            <a:avLst>
              <a:gd name="adj" fmla="val 20000"/>
            </a:avLst>
          </a:prstGeom>
          <a:solidFill>
            <a:srgbClr val="FFC8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Arial"/>
                <a:ea typeface="Microsoft YaHei"/>
              </a:rPr>
              <a:t>💡 05</a:t>
            </a:r>
          </a:p>
          <a:p>
            <a:pPr algn="ctr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Arial"/>
                <a:ea typeface="Microsoft YaHei"/>
              </a:rPr>
              <a:t>Language Tips</a:t>
            </a:r>
          </a:p>
          <a:p>
            <a:pPr algn="ctr">
              <a:spcAft>
                <a:spcPts val="200"/>
              </a:spcAft>
            </a:pPr>
            <a:r>
              <a:rPr sz="1300" b="0">
                <a:solidFill>
                  <a:srgbClr val="FFFFFF"/>
                </a:solidFill>
                <a:latin typeface="Arial"/>
                <a:ea typeface="Microsoft YaHei"/>
              </a:rPr>
              <a:t>语言贴士</a:t>
            </a:r>
          </a:p>
        </p:txBody>
      </p:sp>
    </p:spTree>
  </p:cSld>
  <p:clrMapOvr>
    <a:masterClrMapping/>
  </p:clrMapOvr>
  <p:transition spd="med">
    <p:fade/>
  </p:transition>
</p:sld>
</file>

<file path=ppt/slides/slide1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F6B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8442656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3200" b="1">
                <a:solidFill>
                  <a:srgbClr val="1F2A44"/>
                </a:solidFill>
                <a:latin typeface="Arial"/>
                <a:ea typeface="Microsoft YaHei"/>
              </a:rPr>
              <a:t>🔥 Warm up · Ice-breaker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74175" y="438912"/>
            <a:ext cx="2560320" cy="475488"/>
          </a:xfrm>
          <a:prstGeom prst="roundRect">
            <a:avLst>
              <a:gd name="adj" fmla="val 50000"/>
            </a:avLst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3152" rIns="73152"/>
          <a:lstStyle/>
          <a:p>
            <a:pPr algn="ctr">
              <a:spcAft>
                <a:spcPts val="200"/>
              </a:spcAft>
            </a:pPr>
            <a:r>
              <a:rPr sz="1300" b="1">
                <a:solidFill>
                  <a:srgbClr val="FFFFFF"/>
                </a:solidFill>
                <a:latin typeface="Arial"/>
                <a:ea typeface="Microsoft YaHei"/>
              </a:rPr>
              <a:t>01 Warm up 热身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19088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100" b="0">
                <a:solidFill>
                  <a:srgbClr val="5F677A"/>
                </a:solidFill>
                <a:latin typeface="Arial"/>
                <a:ea typeface="Microsoft YaHei"/>
              </a:rPr>
              <a:t>Business English · Level 4 · Unit 3 · Lesson 10 Small talk with visitors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28655" y="6419088"/>
            <a:ext cx="914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  <a:spcAft>
                <a:spcPts val="800"/>
              </a:spcAft>
            </a:pPr>
            <a:r>
              <a:rPr sz="1100" b="0">
                <a:solidFill>
                  <a:srgbClr val="5F677A"/>
                </a:solidFill>
                <a:latin typeface="Arial"/>
                <a:ea typeface="Microsoft YaHei"/>
              </a:rPr>
              <a:t>115</a:t>
            </a:r>
          </a:p>
        </p:txBody>
      </p:sp>
      <p:sp>
        <p:nvSpPr>
          <p:cNvPr id="7" name="Rounded Rectangle 6">
            <a:hlinkClick action="ppaction://hlinksldjump" r:id="rId2"/>
          </p:cNvPr>
          <p:cNvSpPr/>
          <p:nvPr/>
        </p:nvSpPr>
        <p:spPr>
          <a:xfrm>
            <a:off x="9677095" y="6382512"/>
            <a:ext cx="960120" cy="329184"/>
          </a:xfrm>
          <a:prstGeom prst="roundRect">
            <a:avLst>
              <a:gd name="adj" fmla="val 50000"/>
            </a:avLst>
          </a:prstGeom>
          <a:solidFill>
            <a:srgbClr val="FFE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Aft>
                <a:spcPts val="200"/>
              </a:spcAft>
            </a:pPr>
            <a:r>
              <a:rPr sz="1100" b="1">
                <a:solidFill>
                  <a:srgbClr val="1F2A44"/>
                </a:solidFill>
                <a:latin typeface="Arial"/>
                <a:ea typeface="Microsoft YaHei"/>
              </a:rPr>
              <a:t>🗺 Map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024128"/>
            <a:ext cx="11094415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500" b="0">
                <a:solidFill>
                  <a:srgbClr val="5F677A"/>
                </a:solidFill>
                <a:latin typeface="Arial"/>
                <a:ea typeface="Microsoft YaHei"/>
              </a:rPr>
              <a:t>Answer in 2–3 sentences. Say it out loud!  用 2–3 句话回答，大声说出来</a:t>
            </a:r>
          </a:p>
        </p:txBody>
      </p:sp>
      <p:sp>
        <p:nvSpPr>
          <p:cNvPr id="9" name="Oval 8"/>
          <p:cNvSpPr/>
          <p:nvPr/>
        </p:nvSpPr>
        <p:spPr>
          <a:xfrm>
            <a:off x="548640" y="1752600"/>
            <a:ext cx="502920" cy="502920"/>
          </a:xfrm>
          <a:prstGeom prst="ellipse">
            <a:avLst/>
          </a:prstGeom>
          <a:solidFill>
            <a:srgbClr val="FF6B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FFFFFF"/>
                </a:solidFill>
                <a:latin typeface="Arial"/>
                <a:ea typeface="Microsoft YaHei"/>
              </a:rPr>
              <a:t>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234440" y="1554480"/>
            <a:ext cx="10408615" cy="89916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325880" y="1554480"/>
            <a:ext cx="10180015" cy="8991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2200" b="0">
                <a:solidFill>
                  <a:srgbClr val="1F2A44"/>
                </a:solidFill>
                <a:latin typeface="Arial"/>
                <a:ea typeface="Microsoft YaHei"/>
              </a:rPr>
              <a:t>What do you talk about with a visitor in the lift or while walking to the meeting room?</a:t>
            </a:r>
          </a:p>
        </p:txBody>
      </p:sp>
      <p:sp>
        <p:nvSpPr>
          <p:cNvPr id="12" name="Oval 11"/>
          <p:cNvSpPr/>
          <p:nvPr/>
        </p:nvSpPr>
        <p:spPr>
          <a:xfrm>
            <a:off x="548640" y="2593848"/>
            <a:ext cx="502920" cy="502920"/>
          </a:xfrm>
          <a:prstGeom prst="ellipse">
            <a:avLst/>
          </a:prstGeom>
          <a:solidFill>
            <a:srgbClr val="4A90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FFFFFF"/>
                </a:solidFill>
                <a:latin typeface="Arial"/>
                <a:ea typeface="Microsoft YaHei"/>
              </a:rPr>
              <a:t>2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234440" y="2563368"/>
            <a:ext cx="10408615" cy="56388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25880" y="2563368"/>
            <a:ext cx="10180015" cy="563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2200" b="0">
                <a:solidFill>
                  <a:srgbClr val="1F2A44"/>
                </a:solidFill>
                <a:latin typeface="Arial"/>
                <a:ea typeface="Microsoft YaHei"/>
              </a:rPr>
              <a:t>Which topics are safe for small talk in your culture? Which are not?</a:t>
            </a:r>
          </a:p>
        </p:txBody>
      </p:sp>
      <p:sp>
        <p:nvSpPr>
          <p:cNvPr id="15" name="Oval 14"/>
          <p:cNvSpPr/>
          <p:nvPr/>
        </p:nvSpPr>
        <p:spPr>
          <a:xfrm>
            <a:off x="548640" y="3267456"/>
            <a:ext cx="502920" cy="502920"/>
          </a:xfrm>
          <a:prstGeom prst="ellipse">
            <a:avLst/>
          </a:prstGeom>
          <a:solidFill>
            <a:srgbClr val="3CC4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FFFFFF"/>
                </a:solidFill>
                <a:latin typeface="Arial"/>
                <a:ea typeface="Microsoft YaHei"/>
              </a:rPr>
              <a:t>3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234440" y="3236976"/>
            <a:ext cx="10408615" cy="56388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325880" y="3236976"/>
            <a:ext cx="10180015" cy="563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2200" b="0">
                <a:solidFill>
                  <a:srgbClr val="1F2A44"/>
                </a:solidFill>
                <a:latin typeface="Arial"/>
                <a:ea typeface="Microsoft YaHei"/>
              </a:rPr>
              <a:t>Do you find small talk easy or difficult in English? Why?</a:t>
            </a:r>
          </a:p>
        </p:txBody>
      </p:sp>
      <p:sp>
        <p:nvSpPr>
          <p:cNvPr id="18" name="Oval 17"/>
          <p:cNvSpPr/>
          <p:nvPr/>
        </p:nvSpPr>
        <p:spPr>
          <a:xfrm>
            <a:off x="548640" y="4108704"/>
            <a:ext cx="502920" cy="502920"/>
          </a:xfrm>
          <a:prstGeom prst="ellipse">
            <a:avLst/>
          </a:prstGeom>
          <a:solidFill>
            <a:srgbClr val="FFC8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FFFFFF"/>
                </a:solidFill>
                <a:latin typeface="Arial"/>
                <a:ea typeface="Microsoft YaHei"/>
              </a:rPr>
              <a:t>4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234440" y="3910584"/>
            <a:ext cx="10408615" cy="89916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325880" y="3910584"/>
            <a:ext cx="10180015" cy="8991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2200" b="0">
                <a:solidFill>
                  <a:srgbClr val="1F2A44"/>
                </a:solidFill>
                <a:latin typeface="Arial"/>
                <a:ea typeface="Microsoft YaHei"/>
              </a:rPr>
              <a:t>What was the last interesting small talk you had with a client or visitor?</a:t>
            </a:r>
          </a:p>
        </p:txBody>
      </p:sp>
      <p:sp>
        <p:nvSpPr>
          <p:cNvPr id="21" name="Oval 20"/>
          <p:cNvSpPr/>
          <p:nvPr/>
        </p:nvSpPr>
        <p:spPr>
          <a:xfrm>
            <a:off x="548640" y="4949952"/>
            <a:ext cx="502920" cy="502920"/>
          </a:xfrm>
          <a:prstGeom prst="ellipse">
            <a:avLst/>
          </a:prstGeom>
          <a:solidFill>
            <a:srgbClr val="9B6B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FFFFFF"/>
                </a:solidFill>
                <a:latin typeface="Arial"/>
                <a:ea typeface="Microsoft YaHei"/>
              </a:rPr>
              <a:t>5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234440" y="4919472"/>
            <a:ext cx="10408615" cy="56388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325880" y="4919472"/>
            <a:ext cx="10180015" cy="563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2200" b="0">
                <a:solidFill>
                  <a:srgbClr val="1F2A44"/>
                </a:solidFill>
                <a:latin typeface="Arial"/>
                <a:ea typeface="Microsoft YaHei"/>
              </a:rPr>
              <a:t>How do you know when to stop small talk and start the meeting?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548640" y="5760720"/>
            <a:ext cx="11094415" cy="502920"/>
          </a:xfrm>
          <a:prstGeom prst="roundRect">
            <a:avLst>
              <a:gd name="adj" fmla="val 30000"/>
            </a:avLst>
          </a:prstGeom>
          <a:solidFill>
            <a:srgbClr val="FFE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l">
              <a:spcAft>
                <a:spcPts val="200"/>
              </a:spcAft>
            </a:pPr>
            <a:r>
              <a:rPr sz="1500" b="1">
                <a:solidFill>
                  <a:srgbClr val="1F2A44"/>
                </a:solidFill>
                <a:latin typeface="Arial"/>
                <a:ea typeface="Microsoft YaHei"/>
              </a:rPr>
              <a:t>💡 第 4 题讲过去的事,请用过去式(talked, asked, found)。第 2 题回答时注意 “avoid + -ing”。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FC8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8442656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3200" b="1">
                <a:solidFill>
                  <a:srgbClr val="1F2A44"/>
                </a:solidFill>
                <a:latin typeface="Arial"/>
                <a:ea typeface="Microsoft YaHei"/>
              </a:rPr>
              <a:t>⏱ 1-Minute Challenge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74175" y="438912"/>
            <a:ext cx="2560320" cy="475488"/>
          </a:xfrm>
          <a:prstGeom prst="roundRect">
            <a:avLst>
              <a:gd name="adj" fmla="val 50000"/>
            </a:avLst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3152" rIns="73152"/>
          <a:lstStyle/>
          <a:p>
            <a:pPr algn="ctr">
              <a:spcAft>
                <a:spcPts val="200"/>
              </a:spcAft>
            </a:pPr>
            <a:r>
              <a:rPr sz="1300" b="1">
                <a:solidFill>
                  <a:srgbClr val="FFFFFF"/>
                </a:solidFill>
                <a:latin typeface="Arial"/>
                <a:ea typeface="Microsoft YaHei"/>
              </a:rPr>
              <a:t>01 Warm up 热身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19088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100" b="0">
                <a:solidFill>
                  <a:srgbClr val="5F677A"/>
                </a:solidFill>
                <a:latin typeface="Arial"/>
                <a:ea typeface="Microsoft YaHei"/>
              </a:rPr>
              <a:t>Business English · Level 4 · Unit 3 · Lesson 10 Small talk with visitors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28655" y="6419088"/>
            <a:ext cx="914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  <a:spcAft>
                <a:spcPts val="800"/>
              </a:spcAft>
            </a:pPr>
            <a:r>
              <a:rPr sz="1100" b="0">
                <a:solidFill>
                  <a:srgbClr val="5F677A"/>
                </a:solidFill>
                <a:latin typeface="Arial"/>
                <a:ea typeface="Microsoft YaHei"/>
              </a:rPr>
              <a:t>116</a:t>
            </a:r>
          </a:p>
        </p:txBody>
      </p:sp>
      <p:sp>
        <p:nvSpPr>
          <p:cNvPr id="7" name="Rounded Rectangle 6">
            <a:hlinkClick action="ppaction://hlinksldjump" r:id="rId2"/>
          </p:cNvPr>
          <p:cNvSpPr/>
          <p:nvPr/>
        </p:nvSpPr>
        <p:spPr>
          <a:xfrm>
            <a:off x="9677095" y="6382512"/>
            <a:ext cx="960120" cy="329184"/>
          </a:xfrm>
          <a:prstGeom prst="roundRect">
            <a:avLst>
              <a:gd name="adj" fmla="val 50000"/>
            </a:avLst>
          </a:prstGeom>
          <a:solidFill>
            <a:srgbClr val="FFE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Aft>
                <a:spcPts val="200"/>
              </a:spcAft>
            </a:pPr>
            <a:r>
              <a:rPr sz="1100" b="1">
                <a:solidFill>
                  <a:srgbClr val="1F2A44"/>
                </a:solidFill>
                <a:latin typeface="Arial"/>
                <a:ea typeface="Microsoft YaHei"/>
              </a:rPr>
              <a:t>🗺 Map</a:t>
            </a:r>
          </a:p>
        </p:txBody>
      </p:sp>
      <p:sp>
        <p:nvSpPr>
          <p:cNvPr id="8" name="Oval 7"/>
          <p:cNvSpPr/>
          <p:nvPr/>
        </p:nvSpPr>
        <p:spPr>
          <a:xfrm>
            <a:off x="9814255" y="1463040"/>
            <a:ext cx="1737360" cy="1737360"/>
          </a:xfrm>
          <a:prstGeom prst="ellipse">
            <a:avLst/>
          </a:prstGeom>
          <a:solidFill>
            <a:srgbClr val="FF6B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Aft>
                <a:spcPts val="200"/>
              </a:spcAft>
            </a:pPr>
            <a:r>
              <a:rPr sz="4000" b="1">
                <a:solidFill>
                  <a:srgbClr val="FFFFFF"/>
                </a:solidFill>
                <a:latin typeface="Arial"/>
                <a:ea typeface="Microsoft YaHei"/>
              </a:rPr>
              <a:t>⏱</a:t>
            </a:r>
          </a:p>
          <a:p>
            <a:pPr algn="ctr">
              <a:spcAft>
                <a:spcPts val="200"/>
              </a:spcAft>
            </a:pPr>
            <a:r>
              <a:rPr sz="2600" b="1">
                <a:solidFill>
                  <a:srgbClr val="FFFFFF"/>
                </a:solidFill>
                <a:latin typeface="Arial"/>
                <a:ea typeface="Microsoft YaHei"/>
              </a:rPr>
              <a:t>60s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417320"/>
            <a:ext cx="877824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400" b="0">
                <a:solidFill>
                  <a:srgbClr val="5F677A"/>
                </a:solidFill>
                <a:latin typeface="Arial"/>
                <a:ea typeface="Microsoft YaHei"/>
              </a:rPr>
              <a:t>TOPIC</a:t>
            </a:r>
          </a:p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3000" b="1">
                <a:solidFill>
                  <a:srgbClr val="1F2A44"/>
                </a:solidFill>
                <a:latin typeface="Arial"/>
                <a:ea typeface="Microsoft YaHei"/>
              </a:rPr>
              <a:t>Show how you would make small talk with a visitor from another country.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3017520"/>
            <a:ext cx="1901952" cy="868680"/>
          </a:xfrm>
          <a:prstGeom prst="roundRect">
            <a:avLst>
              <a:gd name="adj" fmla="val 20000"/>
            </a:avLst>
          </a:prstGeom>
          <a:solidFill>
            <a:srgbClr val="FF6B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FFFFFF"/>
                </a:solidFill>
                <a:latin typeface="Arial"/>
                <a:ea typeface="Microsoft YaHei"/>
              </a:rPr>
              <a:t>1. a first question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587752" y="3017520"/>
            <a:ext cx="1901952" cy="868680"/>
          </a:xfrm>
          <a:prstGeom prst="roundRect">
            <a:avLst>
              <a:gd name="adj" fmla="val 20000"/>
            </a:avLst>
          </a:prstGeom>
          <a:solidFill>
            <a:srgbClr val="4A90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FFFFFF"/>
                </a:solidFill>
                <a:latin typeface="Arial"/>
                <a:ea typeface="Microsoft YaHei"/>
              </a:rPr>
              <a:t>2. a follow-up question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626864" y="3017520"/>
            <a:ext cx="1901952" cy="868680"/>
          </a:xfrm>
          <a:prstGeom prst="roundRect">
            <a:avLst>
              <a:gd name="adj" fmla="val 20000"/>
            </a:avLst>
          </a:prstGeom>
          <a:solidFill>
            <a:srgbClr val="3CC4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FFFFFF"/>
                </a:solidFill>
                <a:latin typeface="Arial"/>
                <a:ea typeface="Microsoft YaHei"/>
              </a:rPr>
              <a:t>3. a comment to show interest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665976" y="3017520"/>
            <a:ext cx="1901952" cy="868680"/>
          </a:xfrm>
          <a:prstGeom prst="roundRect">
            <a:avLst>
              <a:gd name="adj" fmla="val 20000"/>
            </a:avLst>
          </a:prstGeom>
          <a:solidFill>
            <a:srgbClr val="FFC8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FFFFFF"/>
                </a:solidFill>
                <a:latin typeface="Arial"/>
                <a:ea typeface="Microsoft YaHei"/>
              </a:rPr>
              <a:t>4. a shared experience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705088" y="3017520"/>
            <a:ext cx="1901952" cy="868680"/>
          </a:xfrm>
          <a:prstGeom prst="roundRect">
            <a:avLst>
              <a:gd name="adj" fmla="val 20000"/>
            </a:avLst>
          </a:prstGeom>
          <a:solidFill>
            <a:srgbClr val="9B6B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FFFFFF"/>
                </a:solidFill>
                <a:latin typeface="Arial"/>
                <a:ea typeface="Microsoft YaHei"/>
              </a:rPr>
              <a:t>5. a smooth change to business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4069080"/>
            <a:ext cx="11094415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400" b="0">
                <a:solidFill>
                  <a:srgbClr val="5F677A"/>
                </a:solidFill>
                <a:latin typeface="Arial"/>
                <a:ea typeface="Microsoft YaHei"/>
              </a:rPr>
              <a:t>Useful starters 开头句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4389120"/>
            <a:ext cx="11094415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2000" b="1">
                <a:solidFill>
                  <a:srgbClr val="1F2A44"/>
                </a:solidFill>
                <a:latin typeface="Arial"/>
                <a:ea typeface="Microsoft YaHei"/>
              </a:rPr>
              <a:t>💬 Is this your first time in…?   💬 How are you finding…?   💬 That sounds great.   💬 Anyway, shall we get started?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5760720"/>
            <a:ext cx="11094415" cy="502920"/>
          </a:xfrm>
          <a:prstGeom prst="roundRect">
            <a:avLst>
              <a:gd name="adj" fmla="val 30000"/>
            </a:avLst>
          </a:prstGeom>
          <a:solidFill>
            <a:srgbClr val="FFE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l">
              <a:spcAft>
                <a:spcPts val="200"/>
              </a:spcAft>
            </a:pPr>
            <a:r>
              <a:rPr sz="1500" b="1">
                <a:solidFill>
                  <a:srgbClr val="1F2A44"/>
                </a:solidFill>
                <a:latin typeface="Arial"/>
                <a:ea typeface="Microsoft YaHei"/>
              </a:rPr>
              <a:t>💡 小贴士:不要只回答 Yes / No。回答后加一句信息,再把问题抛回去(And you?)。</a:t>
            </a:r>
          </a:p>
        </p:txBody>
      </p:sp>
    </p:spTree>
  </p:cSld>
  <p:clrMapOvr>
    <a:masterClrMapping/>
  </p:clrMapOvr>
  <p:transition spd="med">
    <p:fade/>
  </p:transition>
</p:sld>
</file>

<file path=ppt/slides/slide1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4A90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8442656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3200" b="1">
                <a:solidFill>
                  <a:srgbClr val="1F2A44"/>
                </a:solidFill>
                <a:latin typeface="Arial"/>
                <a:ea typeface="Microsoft YaHei"/>
              </a:rPr>
              <a:t>📚 Chunk 1: Starting small talk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74175" y="438912"/>
            <a:ext cx="2560320" cy="475488"/>
          </a:xfrm>
          <a:prstGeom prst="roundRect">
            <a:avLst>
              <a:gd name="adj" fmla="val 50000"/>
            </a:avLst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3152" rIns="73152"/>
          <a:lstStyle/>
          <a:p>
            <a:pPr algn="ctr">
              <a:spcAft>
                <a:spcPts val="200"/>
              </a:spcAft>
            </a:pPr>
            <a:r>
              <a:rPr sz="1300" b="1">
                <a:solidFill>
                  <a:srgbClr val="FFFFFF"/>
                </a:solidFill>
                <a:latin typeface="Arial"/>
                <a:ea typeface="Microsoft YaHei"/>
              </a:rPr>
              <a:t>02 Vocabulary 词汇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19088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100" b="0">
                <a:solidFill>
                  <a:srgbClr val="5F677A"/>
                </a:solidFill>
                <a:latin typeface="Arial"/>
                <a:ea typeface="Microsoft YaHei"/>
              </a:rPr>
              <a:t>Business English · Level 4 · Unit 3 · Lesson 10 Small talk with visitors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28655" y="6419088"/>
            <a:ext cx="914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  <a:spcAft>
                <a:spcPts val="800"/>
              </a:spcAft>
            </a:pPr>
            <a:r>
              <a:rPr sz="1100" b="0">
                <a:solidFill>
                  <a:srgbClr val="5F677A"/>
                </a:solidFill>
                <a:latin typeface="Arial"/>
                <a:ea typeface="Microsoft YaHei"/>
              </a:rPr>
              <a:t>117</a:t>
            </a:r>
          </a:p>
        </p:txBody>
      </p:sp>
      <p:sp>
        <p:nvSpPr>
          <p:cNvPr id="7" name="Rounded Rectangle 6">
            <a:hlinkClick action="ppaction://hlinksldjump" r:id="rId2"/>
          </p:cNvPr>
          <p:cNvSpPr/>
          <p:nvPr/>
        </p:nvSpPr>
        <p:spPr>
          <a:xfrm>
            <a:off x="9677095" y="6382512"/>
            <a:ext cx="960120" cy="329184"/>
          </a:xfrm>
          <a:prstGeom prst="roundRect">
            <a:avLst>
              <a:gd name="adj" fmla="val 50000"/>
            </a:avLst>
          </a:prstGeom>
          <a:solidFill>
            <a:srgbClr val="FFE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Aft>
                <a:spcPts val="200"/>
              </a:spcAft>
            </a:pPr>
            <a:r>
              <a:rPr sz="1100" b="1">
                <a:solidFill>
                  <a:srgbClr val="1F2A44"/>
                </a:solidFill>
                <a:latin typeface="Arial"/>
                <a:ea typeface="Microsoft YaHei"/>
              </a:rPr>
              <a:t>🗺 Map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960120"/>
            <a:ext cx="11094415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500" b="0">
                <a:solidFill>
                  <a:srgbClr val="5F677A"/>
                </a:solidFill>
                <a:latin typeface="Arial"/>
                <a:ea typeface="Microsoft YaHei"/>
              </a:rPr>
              <a:t>开始寒暄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417320"/>
            <a:ext cx="11094415" cy="93522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1417320"/>
            <a:ext cx="91440" cy="935228"/>
          </a:xfrm>
          <a:prstGeom prst="rect">
            <a:avLst/>
          </a:prstGeom>
          <a:solidFill>
            <a:srgbClr val="FF6B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1463040"/>
            <a:ext cx="3429000" cy="8712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2000" b="1">
                <a:solidFill>
                  <a:srgbClr val="1F2A44"/>
                </a:solidFill>
                <a:latin typeface="Arial"/>
                <a:ea typeface="Microsoft YaHei"/>
              </a:rPr>
              <a:t>Is this your first time in Shanghai?</a:t>
            </a:r>
          </a:p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300" b="0">
                <a:solidFill>
                  <a:srgbClr val="5F677A"/>
                </a:solidFill>
                <a:latin typeface="Arial"/>
                <a:ea typeface="Microsoft YaHei"/>
              </a:rPr>
              <a:t>phrase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06240" y="1463040"/>
            <a:ext cx="2377440" cy="8712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700" b="1">
                <a:solidFill>
                  <a:srgbClr val="FF6B5B"/>
                </a:solidFill>
                <a:latin typeface="Arial"/>
                <a:ea typeface="Microsoft YaHei"/>
              </a:rPr>
              <a:t>这是您第一次来上海吗?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75120" y="1463040"/>
            <a:ext cx="4846320" cy="8712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700" b="0" i="1">
                <a:solidFill>
                  <a:srgbClr val="1F2A44"/>
                </a:solidFill>
                <a:latin typeface="Arial"/>
                <a:ea typeface="Microsoft YaHei"/>
              </a:rPr>
              <a:t>“Is this your first time in Shanghai?”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2425700"/>
            <a:ext cx="11094415" cy="93522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48640" y="2425700"/>
            <a:ext cx="91440" cy="935228"/>
          </a:xfrm>
          <a:prstGeom prst="rect">
            <a:avLst/>
          </a:prstGeom>
          <a:solidFill>
            <a:srgbClr val="9B6B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2471420"/>
            <a:ext cx="3429000" cy="8712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2000" b="1">
                <a:solidFill>
                  <a:srgbClr val="9B6BE0"/>
                </a:solidFill>
                <a:latin typeface="Arial"/>
                <a:ea typeface="Microsoft YaHei"/>
              </a:rPr>
              <a:t>★ How are you finding Shanghai?</a:t>
            </a:r>
          </a:p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300" b="0">
                <a:solidFill>
                  <a:srgbClr val="5F677A"/>
                </a:solidFill>
                <a:latin typeface="Arial"/>
                <a:ea typeface="Microsoft YaHei"/>
              </a:rPr>
              <a:t>phrase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06240" y="2471420"/>
            <a:ext cx="2377440" cy="8712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700" b="1">
                <a:solidFill>
                  <a:srgbClr val="FF6B5B"/>
                </a:solidFill>
                <a:latin typeface="Arial"/>
                <a:ea typeface="Microsoft YaHei"/>
              </a:rPr>
              <a:t>您觉得上海怎么样?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75120" y="2471420"/>
            <a:ext cx="4846320" cy="8712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700" b="0" i="1">
                <a:solidFill>
                  <a:srgbClr val="1F2A44"/>
                </a:solidFill>
                <a:latin typeface="Arial"/>
                <a:ea typeface="Microsoft YaHei"/>
              </a:rPr>
              <a:t>“How are you finding Shanghai so far?”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3434080"/>
            <a:ext cx="11094415" cy="93522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48640" y="3434080"/>
            <a:ext cx="91440" cy="935228"/>
          </a:xfrm>
          <a:prstGeom prst="rect">
            <a:avLst/>
          </a:prstGeom>
          <a:solidFill>
            <a:srgbClr val="3CC4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1520" y="3479800"/>
            <a:ext cx="3429000" cy="8712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2000" b="1">
                <a:solidFill>
                  <a:srgbClr val="1F2A44"/>
                </a:solidFill>
                <a:latin typeface="Arial"/>
                <a:ea typeface="Microsoft YaHei"/>
              </a:rPr>
              <a:t>What brings you to China?</a:t>
            </a:r>
          </a:p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300" b="0">
                <a:solidFill>
                  <a:srgbClr val="5F677A"/>
                </a:solidFill>
                <a:latin typeface="Arial"/>
                <a:ea typeface="Microsoft YaHei"/>
              </a:rPr>
              <a:t>phrase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206240" y="3479800"/>
            <a:ext cx="2377440" cy="8712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700" b="1">
                <a:solidFill>
                  <a:srgbClr val="FF6B5B"/>
                </a:solidFill>
                <a:latin typeface="Arial"/>
                <a:ea typeface="Microsoft YaHei"/>
              </a:rPr>
              <a:t>您来中国是为了什么?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75120" y="3479800"/>
            <a:ext cx="4846320" cy="8712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700" b="0" i="1">
                <a:solidFill>
                  <a:srgbClr val="1F2A44"/>
                </a:solidFill>
                <a:latin typeface="Arial"/>
                <a:ea typeface="Microsoft YaHei"/>
              </a:rPr>
              <a:t>“What brings you to China this time?”</a:t>
            </a:r>
          </a:p>
        </p:txBody>
      </p:sp>
    </p:spTree>
  </p:cSld>
  <p:clrMapOvr>
    <a:masterClrMapping/>
  </p:clrMapOvr>
  <p:transition spd="med">
    <p:fade/>
  </p:transition>
</p:sld>
</file>

<file path=ppt/slides/slide1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4A90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8442656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3000" b="1">
                <a:solidFill>
                  <a:srgbClr val="1F2A44"/>
                </a:solidFill>
                <a:latin typeface="Arial"/>
                <a:ea typeface="Microsoft YaHei"/>
              </a:rPr>
              <a:t>📚 Chunk 1: Starting small talk (cont.)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74175" y="438912"/>
            <a:ext cx="2560320" cy="475488"/>
          </a:xfrm>
          <a:prstGeom prst="roundRect">
            <a:avLst>
              <a:gd name="adj" fmla="val 50000"/>
            </a:avLst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3152" rIns="73152"/>
          <a:lstStyle/>
          <a:p>
            <a:pPr algn="ctr">
              <a:spcAft>
                <a:spcPts val="200"/>
              </a:spcAft>
            </a:pPr>
            <a:r>
              <a:rPr sz="1300" b="1">
                <a:solidFill>
                  <a:srgbClr val="FFFFFF"/>
                </a:solidFill>
                <a:latin typeface="Arial"/>
                <a:ea typeface="Microsoft YaHei"/>
              </a:rPr>
              <a:t>02 Vocabulary 词汇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19088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100" b="0">
                <a:solidFill>
                  <a:srgbClr val="5F677A"/>
                </a:solidFill>
                <a:latin typeface="Arial"/>
                <a:ea typeface="Microsoft YaHei"/>
              </a:rPr>
              <a:t>Business English · Level 4 · Unit 3 · Lesson 10 Small talk with visitors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28655" y="6419088"/>
            <a:ext cx="914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  <a:spcAft>
                <a:spcPts val="800"/>
              </a:spcAft>
            </a:pPr>
            <a:r>
              <a:rPr sz="1100" b="0">
                <a:solidFill>
                  <a:srgbClr val="5F677A"/>
                </a:solidFill>
                <a:latin typeface="Arial"/>
                <a:ea typeface="Microsoft YaHei"/>
              </a:rPr>
              <a:t>118</a:t>
            </a:r>
          </a:p>
        </p:txBody>
      </p:sp>
      <p:sp>
        <p:nvSpPr>
          <p:cNvPr id="7" name="Rounded Rectangle 6">
            <a:hlinkClick action="ppaction://hlinksldjump" r:id="rId2"/>
          </p:cNvPr>
          <p:cNvSpPr/>
          <p:nvPr/>
        </p:nvSpPr>
        <p:spPr>
          <a:xfrm>
            <a:off x="9677095" y="6382512"/>
            <a:ext cx="960120" cy="329184"/>
          </a:xfrm>
          <a:prstGeom prst="roundRect">
            <a:avLst>
              <a:gd name="adj" fmla="val 50000"/>
            </a:avLst>
          </a:prstGeom>
          <a:solidFill>
            <a:srgbClr val="FFE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Aft>
                <a:spcPts val="200"/>
              </a:spcAft>
            </a:pPr>
            <a:r>
              <a:rPr sz="1100" b="1">
                <a:solidFill>
                  <a:srgbClr val="1F2A44"/>
                </a:solidFill>
                <a:latin typeface="Arial"/>
                <a:ea typeface="Microsoft YaHei"/>
              </a:rPr>
              <a:t>🗺 Map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960120"/>
            <a:ext cx="11094415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500" b="0">
                <a:solidFill>
                  <a:srgbClr val="5F677A"/>
                </a:solidFill>
                <a:latin typeface="Arial"/>
                <a:ea typeface="Microsoft YaHei"/>
              </a:rPr>
              <a:t>开始寒暄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417320"/>
            <a:ext cx="11094415" cy="93522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1417320"/>
            <a:ext cx="91440" cy="935228"/>
          </a:xfrm>
          <a:prstGeom prst="rect">
            <a:avLst/>
          </a:prstGeom>
          <a:solidFill>
            <a:srgbClr val="FF6B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1463040"/>
            <a:ext cx="3429000" cy="8712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2000" b="1">
                <a:solidFill>
                  <a:srgbClr val="1F2A44"/>
                </a:solidFill>
                <a:latin typeface="Arial"/>
                <a:ea typeface="Microsoft YaHei"/>
              </a:rPr>
              <a:t>Did you manage to get some rest?</a:t>
            </a:r>
          </a:p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300" b="0">
                <a:solidFill>
                  <a:srgbClr val="5F677A"/>
                </a:solidFill>
                <a:latin typeface="Arial"/>
                <a:ea typeface="Microsoft YaHei"/>
              </a:rPr>
              <a:t>phrase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06240" y="1463040"/>
            <a:ext cx="2377440" cy="8712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700" b="1">
                <a:solidFill>
                  <a:srgbClr val="FF6B5B"/>
                </a:solidFill>
                <a:latin typeface="Arial"/>
                <a:ea typeface="Microsoft YaHei"/>
              </a:rPr>
              <a:t>您休息得好吗?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75120" y="1463040"/>
            <a:ext cx="4846320" cy="8712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700" b="0" i="1">
                <a:solidFill>
                  <a:srgbClr val="1F2A44"/>
                </a:solidFill>
                <a:latin typeface="Arial"/>
                <a:ea typeface="Microsoft YaHei"/>
              </a:rPr>
              <a:t>“Did you manage to get some rest after the flight?”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2425700"/>
            <a:ext cx="11094415" cy="93522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48640" y="2425700"/>
            <a:ext cx="91440" cy="935228"/>
          </a:xfrm>
          <a:prstGeom prst="rect">
            <a:avLst/>
          </a:prstGeom>
          <a:solidFill>
            <a:srgbClr val="9B6B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2471420"/>
            <a:ext cx="3429000" cy="8712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2000" b="1">
                <a:solidFill>
                  <a:srgbClr val="9B6BE0"/>
                </a:solidFill>
                <a:latin typeface="Arial"/>
                <a:ea typeface="Microsoft YaHei"/>
              </a:rPr>
              <a:t>★ The weather’s been lovely, hasn’t it?</a:t>
            </a:r>
          </a:p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300" b="0">
                <a:solidFill>
                  <a:srgbClr val="5F677A"/>
                </a:solidFill>
                <a:latin typeface="Arial"/>
                <a:ea typeface="Microsoft YaHei"/>
              </a:rPr>
              <a:t>question tag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06240" y="2471420"/>
            <a:ext cx="2377440" cy="8712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700" b="1">
                <a:solidFill>
                  <a:srgbClr val="FF6B5B"/>
                </a:solidFill>
                <a:latin typeface="Arial"/>
                <a:ea typeface="Microsoft YaHei"/>
              </a:rPr>
              <a:t>天气一直很好,不是吗?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75120" y="2471420"/>
            <a:ext cx="4846320" cy="8712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700" b="0" i="1">
                <a:solidFill>
                  <a:srgbClr val="1F2A44"/>
                </a:solidFill>
                <a:latin typeface="Arial"/>
                <a:ea typeface="Microsoft YaHei"/>
              </a:rPr>
              <a:t>“The weather’s been lovely, hasn’t it?” — “It has. Much better than London!”</a:t>
            </a:r>
          </a:p>
        </p:txBody>
      </p:sp>
    </p:spTree>
  </p:cSld>
  <p:clrMapOvr>
    <a:masterClrMapping/>
  </p:clrMapOvr>
  <p:transition spd="med">
    <p:fade/>
  </p:transition>
</p:sld>
</file>

<file path=ppt/slides/slide1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4A90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8442656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3200" b="1">
                <a:solidFill>
                  <a:srgbClr val="1F2A44"/>
                </a:solidFill>
                <a:latin typeface="Arial"/>
                <a:ea typeface="Microsoft YaHei"/>
              </a:rPr>
              <a:t>📚 Chunk 2: Keeping it going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74175" y="438912"/>
            <a:ext cx="2560320" cy="475488"/>
          </a:xfrm>
          <a:prstGeom prst="roundRect">
            <a:avLst>
              <a:gd name="adj" fmla="val 50000"/>
            </a:avLst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3152" rIns="73152"/>
          <a:lstStyle/>
          <a:p>
            <a:pPr algn="ctr">
              <a:spcAft>
                <a:spcPts val="200"/>
              </a:spcAft>
            </a:pPr>
            <a:r>
              <a:rPr sz="1300" b="1">
                <a:solidFill>
                  <a:srgbClr val="FFFFFF"/>
                </a:solidFill>
                <a:latin typeface="Arial"/>
                <a:ea typeface="Microsoft YaHei"/>
              </a:rPr>
              <a:t>02 Vocabulary 词汇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19088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100" b="0">
                <a:solidFill>
                  <a:srgbClr val="5F677A"/>
                </a:solidFill>
                <a:latin typeface="Arial"/>
                <a:ea typeface="Microsoft YaHei"/>
              </a:rPr>
              <a:t>Business English · Level 4 · Unit 3 · Lesson 10 Small talk with visitors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28655" y="6419088"/>
            <a:ext cx="914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  <a:spcAft>
                <a:spcPts val="800"/>
              </a:spcAft>
            </a:pPr>
            <a:r>
              <a:rPr sz="1100" b="0">
                <a:solidFill>
                  <a:srgbClr val="5F677A"/>
                </a:solidFill>
                <a:latin typeface="Arial"/>
                <a:ea typeface="Microsoft YaHei"/>
              </a:rPr>
              <a:t>119</a:t>
            </a:r>
          </a:p>
        </p:txBody>
      </p:sp>
      <p:sp>
        <p:nvSpPr>
          <p:cNvPr id="7" name="Rounded Rectangle 6">
            <a:hlinkClick action="ppaction://hlinksldjump" r:id="rId2"/>
          </p:cNvPr>
          <p:cNvSpPr/>
          <p:nvPr/>
        </p:nvSpPr>
        <p:spPr>
          <a:xfrm>
            <a:off x="9677095" y="6382512"/>
            <a:ext cx="960120" cy="329184"/>
          </a:xfrm>
          <a:prstGeom prst="roundRect">
            <a:avLst>
              <a:gd name="adj" fmla="val 50000"/>
            </a:avLst>
          </a:prstGeom>
          <a:solidFill>
            <a:srgbClr val="FFE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Aft>
                <a:spcPts val="200"/>
              </a:spcAft>
            </a:pPr>
            <a:r>
              <a:rPr sz="1100" b="1">
                <a:solidFill>
                  <a:srgbClr val="1F2A44"/>
                </a:solidFill>
                <a:latin typeface="Arial"/>
                <a:ea typeface="Microsoft YaHei"/>
              </a:rPr>
              <a:t>🗺 Map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960120"/>
            <a:ext cx="11094415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500" b="0">
                <a:solidFill>
                  <a:srgbClr val="5F677A"/>
                </a:solidFill>
                <a:latin typeface="Arial"/>
                <a:ea typeface="Microsoft YaHei"/>
              </a:rPr>
              <a:t>保持话题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417320"/>
            <a:ext cx="11094415" cy="63042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1417320"/>
            <a:ext cx="91440" cy="630428"/>
          </a:xfrm>
          <a:prstGeom prst="rect">
            <a:avLst/>
          </a:prstGeom>
          <a:solidFill>
            <a:srgbClr val="FF6B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1463040"/>
            <a:ext cx="3429000" cy="5664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2000" b="1">
                <a:solidFill>
                  <a:srgbClr val="1F2A44"/>
                </a:solidFill>
                <a:latin typeface="Arial"/>
                <a:ea typeface="Microsoft YaHei"/>
              </a:rPr>
              <a:t>Really?</a:t>
            </a:r>
          </a:p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300" b="0">
                <a:solidFill>
                  <a:srgbClr val="5F677A"/>
                </a:solidFill>
                <a:latin typeface="Arial"/>
                <a:ea typeface="Microsoft YaHei"/>
              </a:rPr>
              <a:t>reaction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06240" y="1463040"/>
            <a:ext cx="2377440" cy="5664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700" b="1">
                <a:solidFill>
                  <a:srgbClr val="FF6B5B"/>
                </a:solidFill>
                <a:latin typeface="Arial"/>
                <a:ea typeface="Microsoft YaHei"/>
              </a:rPr>
              <a:t>是吗?(表示感兴趣)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75120" y="1463040"/>
            <a:ext cx="4846320" cy="5664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700" b="0" i="1">
                <a:solidFill>
                  <a:srgbClr val="1F2A44"/>
                </a:solidFill>
                <a:latin typeface="Arial"/>
                <a:ea typeface="Microsoft YaHei"/>
              </a:rPr>
              <a:t>“I lived in Tokyo for two years.” — “Really? What was it like?”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2120900"/>
            <a:ext cx="11094415" cy="93522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48640" y="2120900"/>
            <a:ext cx="91440" cy="935228"/>
          </a:xfrm>
          <a:prstGeom prst="rect">
            <a:avLst/>
          </a:prstGeom>
          <a:solidFill>
            <a:srgbClr val="4A90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2166620"/>
            <a:ext cx="3429000" cy="8712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2000" b="1">
                <a:solidFill>
                  <a:srgbClr val="1F2A44"/>
                </a:solidFill>
                <a:latin typeface="Arial"/>
                <a:ea typeface="Microsoft YaHei"/>
              </a:rPr>
              <a:t>That sounds great / interesting.</a:t>
            </a:r>
          </a:p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300" b="0">
                <a:solidFill>
                  <a:srgbClr val="5F677A"/>
                </a:solidFill>
                <a:latin typeface="Arial"/>
                <a:ea typeface="Microsoft YaHei"/>
              </a:rPr>
              <a:t>phrase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06240" y="2166620"/>
            <a:ext cx="2377440" cy="8712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700" b="1">
                <a:solidFill>
                  <a:srgbClr val="FF6B5B"/>
                </a:solidFill>
                <a:latin typeface="Arial"/>
                <a:ea typeface="Microsoft YaHei"/>
              </a:rPr>
              <a:t>听起来很棒/有趣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75120" y="2166620"/>
            <a:ext cx="4846320" cy="8712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700" b="0" i="1">
                <a:solidFill>
                  <a:srgbClr val="1F2A44"/>
                </a:solidFill>
                <a:latin typeface="Arial"/>
                <a:ea typeface="Microsoft YaHei"/>
              </a:rPr>
              <a:t>“You run marathons? That sounds great.”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3129280"/>
            <a:ext cx="11094415" cy="63042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48640" y="3129280"/>
            <a:ext cx="91440" cy="630428"/>
          </a:xfrm>
          <a:prstGeom prst="rect">
            <a:avLst/>
          </a:prstGeom>
          <a:solidFill>
            <a:srgbClr val="9B6B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1520" y="3175000"/>
            <a:ext cx="3429000" cy="5664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2000" b="1">
                <a:solidFill>
                  <a:srgbClr val="9B6BE0"/>
                </a:solidFill>
                <a:latin typeface="Arial"/>
                <a:ea typeface="Microsoft YaHei"/>
              </a:rPr>
              <a:t>★ I know what you mean.</a:t>
            </a:r>
          </a:p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300" b="0">
                <a:solidFill>
                  <a:srgbClr val="5F677A"/>
                </a:solidFill>
                <a:latin typeface="Arial"/>
                <a:ea typeface="Microsoft YaHei"/>
              </a:rPr>
              <a:t>phrase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206240" y="3175000"/>
            <a:ext cx="2377440" cy="5664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700" b="1">
                <a:solidFill>
                  <a:srgbClr val="FF6B5B"/>
                </a:solidFill>
                <a:latin typeface="Arial"/>
                <a:ea typeface="Microsoft YaHei"/>
              </a:rPr>
              <a:t>我明白你的意思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75120" y="3175000"/>
            <a:ext cx="4846320" cy="5664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700" b="0" i="1">
                <a:solidFill>
                  <a:srgbClr val="1F2A44"/>
                </a:solidFill>
                <a:latin typeface="Arial"/>
                <a:ea typeface="Microsoft YaHei"/>
              </a:rPr>
              <a:t>“The traffic is awful.” — “I know what you mean.”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48640" y="3832860"/>
            <a:ext cx="11094415" cy="63042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48640" y="3832860"/>
            <a:ext cx="91440" cy="630428"/>
          </a:xfrm>
          <a:prstGeom prst="rect">
            <a:avLst/>
          </a:prstGeom>
          <a:solidFill>
            <a:srgbClr val="9B6B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31520" y="3878580"/>
            <a:ext cx="3429000" cy="5664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2000" b="1">
                <a:solidFill>
                  <a:srgbClr val="9B6BE0"/>
                </a:solidFill>
                <a:latin typeface="Arial"/>
                <a:ea typeface="Microsoft YaHei"/>
              </a:rPr>
              <a:t>★ Me too. / So do I.</a:t>
            </a:r>
          </a:p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300" b="0">
                <a:solidFill>
                  <a:srgbClr val="5F677A"/>
                </a:solidFill>
                <a:latin typeface="Arial"/>
                <a:ea typeface="Microsoft YaHei"/>
              </a:rPr>
              <a:t>phrase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206240" y="3878580"/>
            <a:ext cx="2377440" cy="5664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700" b="1">
                <a:solidFill>
                  <a:srgbClr val="FF6B5B"/>
                </a:solidFill>
                <a:latin typeface="Arial"/>
                <a:ea typeface="Microsoft YaHei"/>
              </a:rPr>
              <a:t>我也是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675120" y="3878580"/>
            <a:ext cx="4846320" cy="5664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700" b="0" i="1">
                <a:solidFill>
                  <a:srgbClr val="1F2A44"/>
                </a:solidFill>
                <a:latin typeface="Arial"/>
                <a:ea typeface="Microsoft YaHei"/>
              </a:rPr>
              <a:t>“I love Sichuan food.” — “So do I.”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48640" y="4536440"/>
            <a:ext cx="11094415" cy="93522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548640" y="4536440"/>
            <a:ext cx="91440" cy="935228"/>
          </a:xfrm>
          <a:prstGeom prst="rect">
            <a:avLst/>
          </a:prstGeom>
          <a:solidFill>
            <a:srgbClr val="9B6B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31520" y="4582160"/>
            <a:ext cx="3429000" cy="8712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2000" b="1">
                <a:solidFill>
                  <a:srgbClr val="1F2A44"/>
                </a:solidFill>
                <a:latin typeface="Arial"/>
                <a:ea typeface="Microsoft YaHei"/>
              </a:rPr>
              <a:t>What about you? / And you?</a:t>
            </a:r>
          </a:p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300" b="0">
                <a:solidFill>
                  <a:srgbClr val="5F677A"/>
                </a:solidFill>
                <a:latin typeface="Arial"/>
                <a:ea typeface="Microsoft YaHei"/>
              </a:rPr>
              <a:t>phrase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206240" y="4582160"/>
            <a:ext cx="2377440" cy="8712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700" b="1">
                <a:solidFill>
                  <a:srgbClr val="FF6B5B"/>
                </a:solidFill>
                <a:latin typeface="Arial"/>
                <a:ea typeface="Microsoft YaHei"/>
              </a:rPr>
              <a:t>那你呢?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675120" y="4582160"/>
            <a:ext cx="4846320" cy="8712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700" b="0" i="1">
                <a:solidFill>
                  <a:srgbClr val="1F2A44"/>
                </a:solidFill>
                <a:latin typeface="Arial"/>
                <a:ea typeface="Microsoft YaHei"/>
              </a:rPr>
              <a:t>“I’m from Leeds. What about you?”</a:t>
            </a:r>
          </a:p>
        </p:txBody>
      </p:sp>
    </p:spTree>
  </p:cSld>
  <p:clrMapOvr>
    <a:masterClrMapping/>
  </p:clrMapOvr>
  <p:transition spd="med">
    <p:fade/>
  </p:transition>
</p:sld>
</file>

<file path=ppt/slides/slide1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4A90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8442656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3000" b="1">
                <a:solidFill>
                  <a:srgbClr val="1F2A44"/>
                </a:solidFill>
                <a:latin typeface="Arial"/>
                <a:ea typeface="Microsoft YaHei"/>
              </a:rPr>
              <a:t>📚 Chunk 3: Changing topic and finishing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74175" y="438912"/>
            <a:ext cx="2560320" cy="475488"/>
          </a:xfrm>
          <a:prstGeom prst="roundRect">
            <a:avLst>
              <a:gd name="adj" fmla="val 50000"/>
            </a:avLst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3152" rIns="73152"/>
          <a:lstStyle/>
          <a:p>
            <a:pPr algn="ctr">
              <a:spcAft>
                <a:spcPts val="200"/>
              </a:spcAft>
            </a:pPr>
            <a:r>
              <a:rPr sz="1300" b="1">
                <a:solidFill>
                  <a:srgbClr val="FFFFFF"/>
                </a:solidFill>
                <a:latin typeface="Arial"/>
                <a:ea typeface="Microsoft YaHei"/>
              </a:rPr>
              <a:t>02 Vocabulary 词汇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19088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100" b="0">
                <a:solidFill>
                  <a:srgbClr val="5F677A"/>
                </a:solidFill>
                <a:latin typeface="Arial"/>
                <a:ea typeface="Microsoft YaHei"/>
              </a:rPr>
              <a:t>Business English · Level 4 · Unit 3 · Lesson 10 Small talk with visitors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28655" y="6419088"/>
            <a:ext cx="914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  <a:spcAft>
                <a:spcPts val="800"/>
              </a:spcAft>
            </a:pPr>
            <a:r>
              <a:rPr sz="1100" b="0">
                <a:solidFill>
                  <a:srgbClr val="5F677A"/>
                </a:solidFill>
                <a:latin typeface="Arial"/>
                <a:ea typeface="Microsoft YaHei"/>
              </a:rPr>
              <a:t>120</a:t>
            </a:r>
          </a:p>
        </p:txBody>
      </p:sp>
      <p:sp>
        <p:nvSpPr>
          <p:cNvPr id="7" name="Rounded Rectangle 6">
            <a:hlinkClick action="ppaction://hlinksldjump" r:id="rId2"/>
          </p:cNvPr>
          <p:cNvSpPr/>
          <p:nvPr/>
        </p:nvSpPr>
        <p:spPr>
          <a:xfrm>
            <a:off x="9677095" y="6382512"/>
            <a:ext cx="960120" cy="329184"/>
          </a:xfrm>
          <a:prstGeom prst="roundRect">
            <a:avLst>
              <a:gd name="adj" fmla="val 50000"/>
            </a:avLst>
          </a:prstGeom>
          <a:solidFill>
            <a:srgbClr val="FFE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Aft>
                <a:spcPts val="200"/>
              </a:spcAft>
            </a:pPr>
            <a:r>
              <a:rPr sz="1100" b="1">
                <a:solidFill>
                  <a:srgbClr val="1F2A44"/>
                </a:solidFill>
                <a:latin typeface="Arial"/>
                <a:ea typeface="Microsoft YaHei"/>
              </a:rPr>
              <a:t>🗺 Map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960120"/>
            <a:ext cx="11094415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500" b="0">
                <a:solidFill>
                  <a:srgbClr val="5F677A"/>
                </a:solidFill>
                <a:latin typeface="Arial"/>
                <a:ea typeface="Microsoft YaHei"/>
              </a:rPr>
              <a:t>转换话题与收尾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417320"/>
            <a:ext cx="11094415" cy="63042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1417320"/>
            <a:ext cx="91440" cy="630428"/>
          </a:xfrm>
          <a:prstGeom prst="rect">
            <a:avLst/>
          </a:prstGeom>
          <a:solidFill>
            <a:srgbClr val="9B6B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1463040"/>
            <a:ext cx="3429000" cy="5664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2000" b="1">
                <a:solidFill>
                  <a:srgbClr val="9B6BE0"/>
                </a:solidFill>
                <a:latin typeface="Arial"/>
                <a:ea typeface="Microsoft YaHei"/>
              </a:rPr>
              <a:t>★ By the way, …</a:t>
            </a:r>
          </a:p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300" b="0">
                <a:solidFill>
                  <a:srgbClr val="5F677A"/>
                </a:solidFill>
                <a:latin typeface="Arial"/>
                <a:ea typeface="Microsoft YaHei"/>
              </a:rPr>
              <a:t>discourse marker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06240" y="1463040"/>
            <a:ext cx="2377440" cy="5664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700" b="1">
                <a:solidFill>
                  <a:srgbClr val="FF6B5B"/>
                </a:solidFill>
                <a:latin typeface="Arial"/>
                <a:ea typeface="Microsoft YaHei"/>
              </a:rPr>
              <a:t>顺便问一下……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75120" y="1463040"/>
            <a:ext cx="4846320" cy="5664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700" b="0" i="1">
                <a:solidFill>
                  <a:srgbClr val="1F2A44"/>
                </a:solidFill>
                <a:latin typeface="Arial"/>
                <a:ea typeface="Microsoft YaHei"/>
              </a:rPr>
              <a:t>“By the way, did you find the hotel OK?”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2120900"/>
            <a:ext cx="11094415" cy="63042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48640" y="2120900"/>
            <a:ext cx="91440" cy="630428"/>
          </a:xfrm>
          <a:prstGeom prst="rect">
            <a:avLst/>
          </a:prstGeom>
          <a:solidFill>
            <a:srgbClr val="9B6B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2166620"/>
            <a:ext cx="3429000" cy="5664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2000" b="1">
                <a:solidFill>
                  <a:srgbClr val="9B6BE0"/>
                </a:solidFill>
                <a:latin typeface="Arial"/>
                <a:ea typeface="Microsoft YaHei"/>
              </a:rPr>
              <a:t>★ Speaking of food, …</a:t>
            </a:r>
          </a:p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300" b="0">
                <a:solidFill>
                  <a:srgbClr val="5F677A"/>
                </a:solidFill>
                <a:latin typeface="Arial"/>
                <a:ea typeface="Microsoft YaHei"/>
              </a:rPr>
              <a:t>discourse marker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06240" y="2166620"/>
            <a:ext cx="2377440" cy="5664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700" b="1">
                <a:solidFill>
                  <a:srgbClr val="FF6B5B"/>
                </a:solidFill>
                <a:latin typeface="Arial"/>
                <a:ea typeface="Microsoft YaHei"/>
              </a:rPr>
              <a:t>说到食物……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75120" y="2166620"/>
            <a:ext cx="4846320" cy="5664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700" b="0" i="1">
                <a:solidFill>
                  <a:srgbClr val="1F2A44"/>
                </a:solidFill>
                <a:latin typeface="Arial"/>
                <a:ea typeface="Microsoft YaHei"/>
              </a:rPr>
              <a:t>“Speaking of food, would you like to try a local restaurant tonight?”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2824480"/>
            <a:ext cx="11094415" cy="93522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48640" y="2824480"/>
            <a:ext cx="91440" cy="935228"/>
          </a:xfrm>
          <a:prstGeom prst="rect">
            <a:avLst/>
          </a:prstGeom>
          <a:solidFill>
            <a:srgbClr val="9B6B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1520" y="2870200"/>
            <a:ext cx="3429000" cy="8712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2000" b="1">
                <a:solidFill>
                  <a:srgbClr val="9B6BE0"/>
                </a:solidFill>
                <a:latin typeface="Arial"/>
                <a:ea typeface="Microsoft YaHei"/>
              </a:rPr>
              <a:t>★ Anyway, shall we get started?</a:t>
            </a:r>
          </a:p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300" b="0">
                <a:solidFill>
                  <a:srgbClr val="5F677A"/>
                </a:solidFill>
                <a:latin typeface="Arial"/>
                <a:ea typeface="Microsoft YaHei"/>
              </a:rPr>
              <a:t>discourse marker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206240" y="2870200"/>
            <a:ext cx="2377440" cy="8712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700" b="1">
                <a:solidFill>
                  <a:srgbClr val="FF6B5B"/>
                </a:solidFill>
                <a:latin typeface="Arial"/>
                <a:ea typeface="Microsoft YaHei"/>
              </a:rPr>
              <a:t>好了,我们开始吧?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75120" y="2870200"/>
            <a:ext cx="4846320" cy="8712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700" b="0" i="1">
                <a:solidFill>
                  <a:srgbClr val="1F2A44"/>
                </a:solidFill>
                <a:latin typeface="Arial"/>
                <a:ea typeface="Microsoft YaHei"/>
              </a:rPr>
              <a:t>“Anyway, shall we get started? Everyone is waiting.”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48640" y="3832860"/>
            <a:ext cx="11094415" cy="93522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48640" y="3832860"/>
            <a:ext cx="91440" cy="935228"/>
          </a:xfrm>
          <a:prstGeom prst="rect">
            <a:avLst/>
          </a:prstGeom>
          <a:solidFill>
            <a:srgbClr val="FFC8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31520" y="3878580"/>
            <a:ext cx="3429000" cy="8712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2000" b="1">
                <a:solidFill>
                  <a:srgbClr val="1F2A44"/>
                </a:solidFill>
                <a:latin typeface="Arial"/>
                <a:ea typeface="Microsoft YaHei"/>
              </a:rPr>
              <a:t>It’s been nice chatting.</a:t>
            </a:r>
          </a:p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300" b="0">
                <a:solidFill>
                  <a:srgbClr val="5F677A"/>
                </a:solidFill>
                <a:latin typeface="Arial"/>
                <a:ea typeface="Microsoft YaHei"/>
              </a:rPr>
              <a:t>phrase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206240" y="3878580"/>
            <a:ext cx="2377440" cy="8712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700" b="1">
                <a:solidFill>
                  <a:srgbClr val="FF6B5B"/>
                </a:solidFill>
                <a:latin typeface="Arial"/>
                <a:ea typeface="Microsoft YaHei"/>
              </a:rPr>
              <a:t>聊得很愉快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675120" y="3878580"/>
            <a:ext cx="4846320" cy="8712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700" b="0" i="1">
                <a:solidFill>
                  <a:srgbClr val="1F2A44"/>
                </a:solidFill>
                <a:latin typeface="Arial"/>
                <a:ea typeface="Microsoft YaHei"/>
              </a:rPr>
              <a:t>“It’s been nice chatting with you.”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48640" y="4841240"/>
            <a:ext cx="11094415" cy="63042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548640" y="4841240"/>
            <a:ext cx="91440" cy="630428"/>
          </a:xfrm>
          <a:prstGeom prst="rect">
            <a:avLst/>
          </a:prstGeom>
          <a:solidFill>
            <a:srgbClr val="9B6B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31520" y="4886960"/>
            <a:ext cx="3429000" cy="5664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2000" b="1">
                <a:solidFill>
                  <a:srgbClr val="1F2A44"/>
                </a:solidFill>
                <a:latin typeface="Arial"/>
                <a:ea typeface="Microsoft YaHei"/>
              </a:rPr>
              <a:t>I’ll let you get on.</a:t>
            </a:r>
          </a:p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300" b="0">
                <a:solidFill>
                  <a:srgbClr val="5F677A"/>
                </a:solidFill>
                <a:latin typeface="Arial"/>
                <a:ea typeface="Microsoft YaHei"/>
              </a:rPr>
              <a:t>phrase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206240" y="4886960"/>
            <a:ext cx="2377440" cy="5664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700" b="1">
                <a:solidFill>
                  <a:srgbClr val="FF6B5B"/>
                </a:solidFill>
                <a:latin typeface="Arial"/>
                <a:ea typeface="Microsoft YaHei"/>
              </a:rPr>
              <a:t>我不耽误您了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675120" y="4886960"/>
            <a:ext cx="4846320" cy="5664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700" b="0" i="1">
                <a:solidFill>
                  <a:srgbClr val="1F2A44"/>
                </a:solidFill>
                <a:latin typeface="Arial"/>
                <a:ea typeface="Microsoft YaHei"/>
              </a:rPr>
              <a:t>“I’ll let you get on. I know you have a lot to do.”</a:t>
            </a:r>
          </a:p>
        </p:txBody>
      </p:sp>
    </p:spTree>
  </p:cSld>
  <p:clrMapOvr>
    <a:masterClrMapping/>
  </p:clrMapOvr>
  <p:transition spd="med">
    <p:fade/>
  </p:transition>
</p:sld>
</file>

<file path=ppt/slides/slide1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F6B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8442656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3200" b="1">
                <a:solidFill>
                  <a:srgbClr val="1F2A44"/>
                </a:solidFill>
                <a:latin typeface="Arial"/>
                <a:ea typeface="Microsoft YaHei"/>
              </a:rPr>
              <a:t>⚡ Speed Round: Say it in English!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74175" y="438912"/>
            <a:ext cx="2560320" cy="475488"/>
          </a:xfrm>
          <a:prstGeom prst="roundRect">
            <a:avLst>
              <a:gd name="adj" fmla="val 50000"/>
            </a:avLst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3152" rIns="73152"/>
          <a:lstStyle/>
          <a:p>
            <a:pPr algn="ctr">
              <a:spcAft>
                <a:spcPts val="200"/>
              </a:spcAft>
            </a:pPr>
            <a:r>
              <a:rPr sz="1300" b="1">
                <a:solidFill>
                  <a:srgbClr val="FFFFFF"/>
                </a:solidFill>
                <a:latin typeface="Arial"/>
                <a:ea typeface="Microsoft YaHei"/>
              </a:rPr>
              <a:t>🎮 Game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19088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100" b="0">
                <a:solidFill>
                  <a:srgbClr val="5F677A"/>
                </a:solidFill>
                <a:latin typeface="Arial"/>
                <a:ea typeface="Microsoft YaHei"/>
              </a:rPr>
              <a:t>Business English · Level 4 · Unit 3 · Lesson 10 Small talk with visitors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28655" y="6419088"/>
            <a:ext cx="914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  <a:spcAft>
                <a:spcPts val="800"/>
              </a:spcAft>
            </a:pPr>
            <a:r>
              <a:rPr sz="1100" b="0">
                <a:solidFill>
                  <a:srgbClr val="5F677A"/>
                </a:solidFill>
                <a:latin typeface="Arial"/>
                <a:ea typeface="Microsoft YaHei"/>
              </a:rPr>
              <a:t>121</a:t>
            </a:r>
          </a:p>
        </p:txBody>
      </p:sp>
      <p:sp>
        <p:nvSpPr>
          <p:cNvPr id="7" name="Rounded Rectangle 6">
            <a:hlinkClick action="ppaction://hlinksldjump" r:id="rId2"/>
          </p:cNvPr>
          <p:cNvSpPr/>
          <p:nvPr/>
        </p:nvSpPr>
        <p:spPr>
          <a:xfrm>
            <a:off x="9677095" y="6382512"/>
            <a:ext cx="960120" cy="329184"/>
          </a:xfrm>
          <a:prstGeom prst="roundRect">
            <a:avLst>
              <a:gd name="adj" fmla="val 50000"/>
            </a:avLst>
          </a:prstGeom>
          <a:solidFill>
            <a:srgbClr val="FFE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Aft>
                <a:spcPts val="200"/>
              </a:spcAft>
            </a:pPr>
            <a:r>
              <a:rPr sz="1100" b="1">
                <a:solidFill>
                  <a:srgbClr val="1F2A44"/>
                </a:solidFill>
                <a:latin typeface="Arial"/>
                <a:ea typeface="Microsoft YaHei"/>
              </a:rPr>
              <a:t>🗺 Map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024128"/>
            <a:ext cx="11094415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500" b="0">
                <a:solidFill>
                  <a:srgbClr val="5F677A"/>
                </a:solidFill>
                <a:latin typeface="Arial"/>
                <a:ea typeface="Microsoft YaHei"/>
              </a:rPr>
              <a:t>Read the Chinese, shout the English expression! Click to reveal.  看中文，抢答英文表达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554480"/>
            <a:ext cx="2636443" cy="21488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31750">
            <a:solidFill>
              <a:srgbClr val="FF6B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1691640"/>
            <a:ext cx="2453563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800"/>
              </a:spcAft>
            </a:pPr>
            <a:r>
              <a:rPr sz="2400" b="1">
                <a:solidFill>
                  <a:srgbClr val="1F2A44"/>
                </a:solidFill>
                <a:latin typeface="Arial"/>
                <a:ea typeface="Microsoft YaHei"/>
              </a:rPr>
              <a:t>好了,我们开始吧?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2651760"/>
            <a:ext cx="2362123" cy="914400"/>
          </a:xfrm>
          <a:prstGeom prst="roundRect">
            <a:avLst>
              <a:gd name="adj" fmla="val 20000"/>
            </a:avLst>
          </a:prstGeom>
          <a:solidFill>
            <a:srgbClr val="FF6B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FFFFFF"/>
                </a:solidFill>
                <a:latin typeface="Arial"/>
                <a:ea typeface="Microsoft YaHei"/>
              </a:rPr>
              <a:t>Anyway, shall we get started?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367963" y="1554480"/>
            <a:ext cx="2636443" cy="21488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31750">
            <a:solidFill>
              <a:srgbClr val="4A90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59403" y="1691640"/>
            <a:ext cx="2453563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800"/>
              </a:spcAft>
            </a:pPr>
            <a:r>
              <a:rPr sz="2400" b="1">
                <a:solidFill>
                  <a:srgbClr val="1F2A44"/>
                </a:solidFill>
                <a:latin typeface="Arial"/>
                <a:ea typeface="Microsoft YaHei"/>
              </a:rPr>
              <a:t>您休息得好吗?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505123" y="2651760"/>
            <a:ext cx="2362123" cy="914400"/>
          </a:xfrm>
          <a:prstGeom prst="roundRect">
            <a:avLst>
              <a:gd name="adj" fmla="val 20000"/>
            </a:avLst>
          </a:prstGeom>
          <a:solidFill>
            <a:srgbClr val="4A90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FFFFFF"/>
                </a:solidFill>
                <a:latin typeface="Arial"/>
                <a:ea typeface="Microsoft YaHei"/>
              </a:rPr>
              <a:t>Did you manage to get some rest?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87286" y="1554480"/>
            <a:ext cx="2636443" cy="21488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31750">
            <a:solidFill>
              <a:srgbClr val="3CC4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78726" y="1691640"/>
            <a:ext cx="2453563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800"/>
              </a:spcAft>
            </a:pPr>
            <a:r>
              <a:rPr sz="2400" b="1">
                <a:solidFill>
                  <a:srgbClr val="1F2A44"/>
                </a:solidFill>
                <a:latin typeface="Arial"/>
                <a:ea typeface="Microsoft YaHei"/>
              </a:rPr>
              <a:t>听起来很棒/有趣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24446" y="2651760"/>
            <a:ext cx="2362123" cy="914400"/>
          </a:xfrm>
          <a:prstGeom prst="roundRect">
            <a:avLst>
              <a:gd name="adj" fmla="val 20000"/>
            </a:avLst>
          </a:prstGeom>
          <a:solidFill>
            <a:srgbClr val="3CC4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FFFFFF"/>
                </a:solidFill>
                <a:latin typeface="Arial"/>
                <a:ea typeface="Microsoft YaHei"/>
              </a:rPr>
              <a:t>That sounds great / interesting.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006609" y="1554480"/>
            <a:ext cx="2636443" cy="21488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31750">
            <a:solidFill>
              <a:srgbClr val="FFC8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098049" y="1691640"/>
            <a:ext cx="2453563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800"/>
              </a:spcAft>
            </a:pPr>
            <a:r>
              <a:rPr sz="2400" b="1">
                <a:solidFill>
                  <a:srgbClr val="1F2A44"/>
                </a:solidFill>
                <a:latin typeface="Arial"/>
                <a:ea typeface="Microsoft YaHei"/>
              </a:rPr>
              <a:t>那你呢?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143769" y="2651760"/>
            <a:ext cx="2362123" cy="914400"/>
          </a:xfrm>
          <a:prstGeom prst="roundRect">
            <a:avLst>
              <a:gd name="adj" fmla="val 20000"/>
            </a:avLst>
          </a:prstGeom>
          <a:solidFill>
            <a:srgbClr val="FFC8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FFFFFF"/>
                </a:solidFill>
                <a:latin typeface="Arial"/>
                <a:ea typeface="Microsoft YaHei"/>
              </a:rPr>
              <a:t>What about you? / And you?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8640" y="3886200"/>
            <a:ext cx="2636443" cy="21488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31750">
            <a:solidFill>
              <a:srgbClr val="9B6B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4023360"/>
            <a:ext cx="2453563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800"/>
              </a:spcAft>
            </a:pPr>
            <a:r>
              <a:rPr sz="2400" b="1">
                <a:solidFill>
                  <a:srgbClr val="1F2A44"/>
                </a:solidFill>
                <a:latin typeface="Arial"/>
                <a:ea typeface="Microsoft YaHei"/>
              </a:rPr>
              <a:t>我明白你的意思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85800" y="4983480"/>
            <a:ext cx="2362123" cy="914400"/>
          </a:xfrm>
          <a:prstGeom prst="roundRect">
            <a:avLst>
              <a:gd name="adj" fmla="val 20000"/>
            </a:avLst>
          </a:prstGeom>
          <a:solidFill>
            <a:srgbClr val="9B6B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FFFFFF"/>
                </a:solidFill>
                <a:latin typeface="Arial"/>
                <a:ea typeface="Microsoft YaHei"/>
              </a:rPr>
              <a:t>I know what you mean.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367963" y="3886200"/>
            <a:ext cx="2636443" cy="21488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31750">
            <a:solidFill>
              <a:srgbClr val="FF6B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459403" y="4023360"/>
            <a:ext cx="2453563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800"/>
              </a:spcAft>
            </a:pPr>
            <a:r>
              <a:rPr sz="2400" b="1">
                <a:solidFill>
                  <a:srgbClr val="1F2A44"/>
                </a:solidFill>
                <a:latin typeface="Arial"/>
                <a:ea typeface="Microsoft YaHei"/>
              </a:rPr>
              <a:t>是吗?(表示感兴趣)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505123" y="4983480"/>
            <a:ext cx="2362123" cy="914400"/>
          </a:xfrm>
          <a:prstGeom prst="roundRect">
            <a:avLst>
              <a:gd name="adj" fmla="val 20000"/>
            </a:avLst>
          </a:prstGeom>
          <a:solidFill>
            <a:srgbClr val="FF6B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FFFFFF"/>
                </a:solidFill>
                <a:latin typeface="Arial"/>
                <a:ea typeface="Microsoft YaHei"/>
              </a:rPr>
              <a:t>Really?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187286" y="3886200"/>
            <a:ext cx="2636443" cy="21488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31750">
            <a:solidFill>
              <a:srgbClr val="4A90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278726" y="4023360"/>
            <a:ext cx="2453563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800"/>
              </a:spcAft>
            </a:pPr>
            <a:r>
              <a:rPr sz="2400" b="1">
                <a:solidFill>
                  <a:srgbClr val="1F2A44"/>
                </a:solidFill>
                <a:latin typeface="Arial"/>
                <a:ea typeface="Microsoft YaHei"/>
              </a:rPr>
              <a:t>聊得很愉快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324446" y="4983480"/>
            <a:ext cx="2362123" cy="914400"/>
          </a:xfrm>
          <a:prstGeom prst="roundRect">
            <a:avLst>
              <a:gd name="adj" fmla="val 20000"/>
            </a:avLst>
          </a:prstGeom>
          <a:solidFill>
            <a:srgbClr val="4A90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FFFFFF"/>
                </a:solidFill>
                <a:latin typeface="Arial"/>
                <a:ea typeface="Microsoft YaHei"/>
              </a:rPr>
              <a:t>It’s been nice chatting.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006609" y="3886200"/>
            <a:ext cx="2636443" cy="21488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31750">
            <a:solidFill>
              <a:srgbClr val="3CC4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098049" y="4023360"/>
            <a:ext cx="2453563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800"/>
              </a:spcAft>
            </a:pPr>
            <a:r>
              <a:rPr sz="2400" b="1">
                <a:solidFill>
                  <a:srgbClr val="1F2A44"/>
                </a:solidFill>
                <a:latin typeface="Arial"/>
                <a:ea typeface="Microsoft YaHei"/>
              </a:rPr>
              <a:t>您来中国是为了什么?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9143769" y="4983480"/>
            <a:ext cx="2362123" cy="914400"/>
          </a:xfrm>
          <a:prstGeom prst="roundRect">
            <a:avLst>
              <a:gd name="adj" fmla="val 20000"/>
            </a:avLst>
          </a:prstGeom>
          <a:solidFill>
            <a:srgbClr val="3CC4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FFFFFF"/>
                </a:solidFill>
                <a:latin typeface="Arial"/>
                <a:ea typeface="Microsoft YaHei"/>
              </a:rPr>
              <a:t>What brings you to China?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" fill="hold">
                      <p:stCondLst>
                        <p:cond delay="indefinite"/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4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3CC4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8442656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3200" b="1">
                <a:solidFill>
                  <a:srgbClr val="1F2A44"/>
                </a:solidFill>
                <a:latin typeface="Arial"/>
                <a:ea typeface="Microsoft YaHei"/>
              </a:rPr>
              <a:t>✏️ Mini Quiz: Fill in the Blanks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74175" y="438912"/>
            <a:ext cx="2560320" cy="475488"/>
          </a:xfrm>
          <a:prstGeom prst="roundRect">
            <a:avLst>
              <a:gd name="adj" fmla="val 50000"/>
            </a:avLst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3152" rIns="73152"/>
          <a:lstStyle/>
          <a:p>
            <a:pPr algn="ctr">
              <a:spcAft>
                <a:spcPts val="200"/>
              </a:spcAft>
            </a:pPr>
            <a:r>
              <a:rPr sz="1300" b="1">
                <a:solidFill>
                  <a:srgbClr val="FFFFFF"/>
                </a:solidFill>
                <a:latin typeface="Arial"/>
                <a:ea typeface="Microsoft YaHei"/>
              </a:rPr>
              <a:t>02 Vocabulary 词汇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19088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100" b="0">
                <a:solidFill>
                  <a:srgbClr val="5F677A"/>
                </a:solidFill>
                <a:latin typeface="Arial"/>
                <a:ea typeface="Microsoft YaHei"/>
              </a:rPr>
              <a:t>Business English · Level 4 · Unit 3 · Lesson 10 Small talk with visitors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28655" y="6419088"/>
            <a:ext cx="914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  <a:spcAft>
                <a:spcPts val="800"/>
              </a:spcAft>
            </a:pPr>
            <a:r>
              <a:rPr sz="1100" b="0">
                <a:solidFill>
                  <a:srgbClr val="5F677A"/>
                </a:solidFill>
                <a:latin typeface="Arial"/>
                <a:ea typeface="Microsoft YaHei"/>
              </a:rPr>
              <a:t>122</a:t>
            </a:r>
          </a:p>
        </p:txBody>
      </p:sp>
      <p:sp>
        <p:nvSpPr>
          <p:cNvPr id="7" name="Rounded Rectangle 6">
            <a:hlinkClick action="ppaction://hlinksldjump" r:id="rId2"/>
          </p:cNvPr>
          <p:cNvSpPr/>
          <p:nvPr/>
        </p:nvSpPr>
        <p:spPr>
          <a:xfrm>
            <a:off x="9677095" y="6382512"/>
            <a:ext cx="960120" cy="329184"/>
          </a:xfrm>
          <a:prstGeom prst="roundRect">
            <a:avLst>
              <a:gd name="adj" fmla="val 50000"/>
            </a:avLst>
          </a:prstGeom>
          <a:solidFill>
            <a:srgbClr val="FFE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Aft>
                <a:spcPts val="200"/>
              </a:spcAft>
            </a:pPr>
            <a:r>
              <a:rPr sz="1100" b="1">
                <a:solidFill>
                  <a:srgbClr val="1F2A44"/>
                </a:solidFill>
                <a:latin typeface="Arial"/>
                <a:ea typeface="Microsoft YaHei"/>
              </a:rPr>
              <a:t>🗺 Map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960120"/>
            <a:ext cx="146304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400" b="0">
                <a:solidFill>
                  <a:srgbClr val="5F677A"/>
                </a:solidFill>
                <a:latin typeface="Arial"/>
                <a:ea typeface="Microsoft YaHei"/>
              </a:rPr>
              <a:t>Word bank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011680" y="987552"/>
            <a:ext cx="1024128" cy="411480"/>
          </a:xfrm>
          <a:prstGeom prst="roundRect">
            <a:avLst>
              <a:gd name="adj" fmla="val 50000"/>
            </a:avLst>
          </a:prstGeom>
          <a:solidFill>
            <a:srgbClr val="FF6B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Arial"/>
                <a:ea typeface="Microsoft YaHei"/>
              </a:rPr>
              <a:t>brings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127248" y="987552"/>
            <a:ext cx="1024128" cy="411480"/>
          </a:xfrm>
          <a:prstGeom prst="roundRect">
            <a:avLst>
              <a:gd name="adj" fmla="val 50000"/>
            </a:avLst>
          </a:prstGeom>
          <a:solidFill>
            <a:srgbClr val="4A90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Arial"/>
                <a:ea typeface="Microsoft YaHei"/>
              </a:rPr>
              <a:t>Anyway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42816" y="987552"/>
            <a:ext cx="1133856" cy="411480"/>
          </a:xfrm>
          <a:prstGeom prst="roundRect">
            <a:avLst>
              <a:gd name="adj" fmla="val 50000"/>
            </a:avLst>
          </a:prstGeom>
          <a:solidFill>
            <a:srgbClr val="3CC4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Arial"/>
                <a:ea typeface="Microsoft YaHei"/>
              </a:rPr>
              <a:t>finding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68112" y="987552"/>
            <a:ext cx="804672" cy="411480"/>
          </a:xfrm>
          <a:prstGeom prst="roundRect">
            <a:avLst>
              <a:gd name="adj" fmla="val 50000"/>
            </a:avLst>
          </a:prstGeom>
          <a:solidFill>
            <a:srgbClr val="FFC8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Arial"/>
                <a:ea typeface="Microsoft YaHei"/>
              </a:rPr>
              <a:t>mean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64224" y="987552"/>
            <a:ext cx="804672" cy="411480"/>
          </a:xfrm>
          <a:prstGeom prst="roundRect">
            <a:avLst>
              <a:gd name="adj" fmla="val 50000"/>
            </a:avLst>
          </a:prstGeom>
          <a:solidFill>
            <a:srgbClr val="9B6B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Arial"/>
                <a:ea typeface="Microsoft YaHei"/>
              </a:rPr>
              <a:t>time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260336" y="987552"/>
            <a:ext cx="1243584" cy="411480"/>
          </a:xfrm>
          <a:prstGeom prst="roundRect">
            <a:avLst>
              <a:gd name="adj" fmla="val 50000"/>
            </a:avLst>
          </a:prstGeom>
          <a:solidFill>
            <a:srgbClr val="FF6B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Arial"/>
                <a:ea typeface="Microsoft YaHei"/>
              </a:rPr>
              <a:t>Speaking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1600200"/>
            <a:ext cx="11094415" cy="605028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5800" y="1600200"/>
            <a:ext cx="8076895" cy="6050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2000" b="0">
                <a:solidFill>
                  <a:srgbClr val="1F2A44"/>
                </a:solidFill>
                <a:latin typeface="Arial"/>
                <a:ea typeface="Microsoft YaHei"/>
              </a:rPr>
              <a:t>1.  Is this your first _______ in Shanghai?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082735" y="1655064"/>
            <a:ext cx="2468880" cy="495300"/>
          </a:xfrm>
          <a:prstGeom prst="roundRect">
            <a:avLst>
              <a:gd name="adj" fmla="val 50000"/>
            </a:avLst>
          </a:prstGeom>
          <a:solidFill>
            <a:srgbClr val="3CC4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FFFFFF"/>
                </a:solidFill>
                <a:latin typeface="Arial"/>
                <a:ea typeface="Microsoft YaHei"/>
              </a:rPr>
              <a:t>time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2278380"/>
            <a:ext cx="11094415" cy="605028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2278380"/>
            <a:ext cx="8076895" cy="6050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2000" b="0">
                <a:solidFill>
                  <a:srgbClr val="1F2A44"/>
                </a:solidFill>
                <a:latin typeface="Arial"/>
                <a:ea typeface="Microsoft YaHei"/>
              </a:rPr>
              <a:t>2.  How are you _______ the city so far?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082735" y="2333244"/>
            <a:ext cx="2468880" cy="495300"/>
          </a:xfrm>
          <a:prstGeom prst="roundRect">
            <a:avLst>
              <a:gd name="adj" fmla="val 50000"/>
            </a:avLst>
          </a:prstGeom>
          <a:solidFill>
            <a:srgbClr val="3CC4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FFFFFF"/>
                </a:solidFill>
                <a:latin typeface="Arial"/>
                <a:ea typeface="Microsoft YaHei"/>
              </a:rPr>
              <a:t>finding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8640" y="2956560"/>
            <a:ext cx="11094415" cy="605028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85800" y="2956560"/>
            <a:ext cx="8076895" cy="6050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2000" b="0">
                <a:solidFill>
                  <a:srgbClr val="1F2A44"/>
                </a:solidFill>
                <a:latin typeface="Arial"/>
                <a:ea typeface="Microsoft YaHei"/>
              </a:rPr>
              <a:t>3.  What _______ you to China?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082735" y="3011424"/>
            <a:ext cx="2468880" cy="495300"/>
          </a:xfrm>
          <a:prstGeom prst="roundRect">
            <a:avLst>
              <a:gd name="adj" fmla="val 50000"/>
            </a:avLst>
          </a:prstGeom>
          <a:solidFill>
            <a:srgbClr val="3CC4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FFFFFF"/>
                </a:solidFill>
                <a:latin typeface="Arial"/>
                <a:ea typeface="Microsoft YaHei"/>
              </a:rPr>
              <a:t>brings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48640" y="3634740"/>
            <a:ext cx="11094415" cy="605028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85800" y="3634740"/>
            <a:ext cx="8076895" cy="6050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2000" b="0">
                <a:solidFill>
                  <a:srgbClr val="1F2A44"/>
                </a:solidFill>
                <a:latin typeface="Arial"/>
                <a:ea typeface="Microsoft YaHei"/>
              </a:rPr>
              <a:t>4.  I know what you _______. The traffic is terrible.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082735" y="3689604"/>
            <a:ext cx="2468880" cy="495300"/>
          </a:xfrm>
          <a:prstGeom prst="roundRect">
            <a:avLst>
              <a:gd name="adj" fmla="val 50000"/>
            </a:avLst>
          </a:prstGeom>
          <a:solidFill>
            <a:srgbClr val="3CC4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FFFFFF"/>
                </a:solidFill>
                <a:latin typeface="Arial"/>
                <a:ea typeface="Microsoft YaHei"/>
              </a:rPr>
              <a:t>mean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48640" y="4312920"/>
            <a:ext cx="11094415" cy="605028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85800" y="4312920"/>
            <a:ext cx="8076895" cy="6050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2000" b="0">
                <a:solidFill>
                  <a:srgbClr val="1F2A44"/>
                </a:solidFill>
                <a:latin typeface="Arial"/>
                <a:ea typeface="Microsoft YaHei"/>
              </a:rPr>
              <a:t>5.  _______ of food, shall we try a local restaurant tonight?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082735" y="4367784"/>
            <a:ext cx="2468880" cy="495300"/>
          </a:xfrm>
          <a:prstGeom prst="roundRect">
            <a:avLst>
              <a:gd name="adj" fmla="val 50000"/>
            </a:avLst>
          </a:prstGeom>
          <a:solidFill>
            <a:srgbClr val="3CC4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FFFFFF"/>
                </a:solidFill>
                <a:latin typeface="Arial"/>
                <a:ea typeface="Microsoft YaHei"/>
              </a:rPr>
              <a:t>Speaking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48640" y="4991100"/>
            <a:ext cx="11094415" cy="605028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85800" y="4991100"/>
            <a:ext cx="8076895" cy="6050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2000" b="0">
                <a:solidFill>
                  <a:srgbClr val="1F2A44"/>
                </a:solidFill>
                <a:latin typeface="Arial"/>
                <a:ea typeface="Microsoft YaHei"/>
              </a:rPr>
              <a:t>6.  _______, shall we get started?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9082735" y="5045964"/>
            <a:ext cx="2468880" cy="495300"/>
          </a:xfrm>
          <a:prstGeom prst="roundRect">
            <a:avLst>
              <a:gd name="adj" fmla="val 50000"/>
            </a:avLst>
          </a:prstGeom>
          <a:solidFill>
            <a:srgbClr val="3CC4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FFFFFF"/>
                </a:solidFill>
                <a:latin typeface="Arial"/>
                <a:ea typeface="Microsoft YaHei"/>
              </a:rPr>
              <a:t>Anyway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48640" y="5760720"/>
            <a:ext cx="11094415" cy="502920"/>
          </a:xfrm>
          <a:prstGeom prst="roundRect">
            <a:avLst>
              <a:gd name="adj" fmla="val 30000"/>
            </a:avLst>
          </a:prstGeom>
          <a:solidFill>
            <a:srgbClr val="FFE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1F2A44"/>
                </a:solidFill>
                <a:latin typeface="Arial"/>
                <a:ea typeface="Microsoft YaHei"/>
              </a:rPr>
              <a:t>⚠️ 拼写与句型): restaurant (not “restuarant”), weather (not “wether”), interesting (3 syllables: IN-tres-ting). In English “How are you finding Shanghai?” uses finding, not “feeling”.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" fill="hold">
                      <p:stCondLst>
                        <p:cond delay="indefinite"/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9B6B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8442656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2600" b="1">
                <a:solidFill>
                  <a:srgbClr val="1F2A44"/>
                </a:solidFill>
                <a:latin typeface="Arial"/>
                <a:ea typeface="Microsoft YaHei"/>
              </a:rPr>
              <a:t>🎭 Role Play · In the lift and in the corridor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74175" y="438912"/>
            <a:ext cx="2560320" cy="475488"/>
          </a:xfrm>
          <a:prstGeom prst="roundRect">
            <a:avLst>
              <a:gd name="adj" fmla="val 50000"/>
            </a:avLst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3152" rIns="73152"/>
          <a:lstStyle/>
          <a:p>
            <a:pPr algn="ctr">
              <a:spcAft>
                <a:spcPts val="200"/>
              </a:spcAft>
            </a:pPr>
            <a:r>
              <a:rPr sz="1300" b="1">
                <a:solidFill>
                  <a:srgbClr val="FFFFFF"/>
                </a:solidFill>
                <a:latin typeface="Arial"/>
                <a:ea typeface="Microsoft YaHei"/>
              </a:rPr>
              <a:t>03 Role play 角色扮演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19088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100" b="0">
                <a:solidFill>
                  <a:srgbClr val="5F677A"/>
                </a:solidFill>
                <a:latin typeface="Arial"/>
                <a:ea typeface="Microsoft YaHei"/>
              </a:rPr>
              <a:t>Business English · Level 4 · Unit 3 · Lesson 10 Small talk with visitors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28655" y="6419088"/>
            <a:ext cx="914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  <a:spcAft>
                <a:spcPts val="800"/>
              </a:spcAft>
            </a:pPr>
            <a:r>
              <a:rPr sz="1100" b="0">
                <a:solidFill>
                  <a:srgbClr val="5F677A"/>
                </a:solidFill>
                <a:latin typeface="Arial"/>
                <a:ea typeface="Microsoft YaHei"/>
              </a:rPr>
              <a:t>123</a:t>
            </a:r>
          </a:p>
        </p:txBody>
      </p:sp>
      <p:sp>
        <p:nvSpPr>
          <p:cNvPr id="7" name="Rounded Rectangle 6">
            <a:hlinkClick action="ppaction://hlinksldjump" r:id="rId2"/>
          </p:cNvPr>
          <p:cNvSpPr/>
          <p:nvPr/>
        </p:nvSpPr>
        <p:spPr>
          <a:xfrm>
            <a:off x="9677095" y="6382512"/>
            <a:ext cx="960120" cy="329184"/>
          </a:xfrm>
          <a:prstGeom prst="roundRect">
            <a:avLst>
              <a:gd name="adj" fmla="val 50000"/>
            </a:avLst>
          </a:prstGeom>
          <a:solidFill>
            <a:srgbClr val="FFE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Aft>
                <a:spcPts val="200"/>
              </a:spcAft>
            </a:pPr>
            <a:r>
              <a:rPr sz="1100" b="1">
                <a:solidFill>
                  <a:srgbClr val="1F2A44"/>
                </a:solidFill>
                <a:latin typeface="Arial"/>
                <a:ea typeface="Microsoft YaHei"/>
              </a:rPr>
              <a:t>🗺 Map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960120"/>
            <a:ext cx="11094415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500" b="0">
                <a:solidFill>
                  <a:srgbClr val="5F677A"/>
                </a:solidFill>
                <a:latin typeface="Arial"/>
                <a:ea typeface="Microsoft YaHei"/>
              </a:rPr>
              <a:t>电梯里和走廊上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463040"/>
            <a:ext cx="11094415" cy="14630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31750">
            <a:solidFill>
              <a:srgbClr val="9B6B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5F677A"/>
                </a:solidFill>
                <a:latin typeface="Arial"/>
                <a:ea typeface="Microsoft YaHei"/>
              </a:rPr>
              <a:t>📍 Situation 情景</a:t>
            </a:r>
          </a:p>
          <a:p>
            <a:pPr algn="l">
              <a:spcAft>
                <a:spcPts val="200"/>
              </a:spcAft>
            </a:pPr>
            <a:r>
              <a:rPr sz="2400" b="1">
                <a:solidFill>
                  <a:srgbClr val="1F2A44"/>
                </a:solidFill>
                <a:latin typeface="Arial"/>
                <a:ea typeface="Microsoft YaHei"/>
              </a:rPr>
              <a:t>You walk with Mr Park, a visitor from Seoul, to the meeting room. It is his first time in Shanghai.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3200400"/>
            <a:ext cx="5410047" cy="21945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777240" y="3429000"/>
            <a:ext cx="1097280" cy="1097280"/>
          </a:xfrm>
          <a:prstGeom prst="ellipse">
            <a:avLst/>
          </a:prstGeom>
          <a:solidFill>
            <a:srgbClr val="FF6B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3152" rIns="73152"/>
          <a:lstStyle/>
          <a:p>
            <a:pPr algn="ctr">
              <a:spcAft>
                <a:spcPts val="200"/>
              </a:spcAft>
            </a:pPr>
            <a:r>
              <a:rPr sz="3600" b="1">
                <a:solidFill>
                  <a:srgbClr val="FFFFFF"/>
                </a:solidFill>
                <a:latin typeface="Arial"/>
                <a:ea typeface="Microsoft YaHei"/>
              </a:rPr>
              <a:t>👔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11680" y="3291840"/>
            <a:ext cx="3809847" cy="2011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400" b="1">
                <a:solidFill>
                  <a:srgbClr val="FF6B5B"/>
                </a:solidFill>
                <a:latin typeface="Arial"/>
                <a:ea typeface="Microsoft YaHei"/>
              </a:rPr>
              <a:t>Role A</a:t>
            </a:r>
          </a:p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2000" b="1">
                <a:solidFill>
                  <a:srgbClr val="1F2A44"/>
                </a:solidFill>
                <a:latin typeface="Arial"/>
                <a:ea typeface="Microsoft YaHei"/>
              </a:rPr>
              <a:t>Yan Zhang, host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33007" y="3200400"/>
            <a:ext cx="5410047" cy="21945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61607" y="3429000"/>
            <a:ext cx="1097280" cy="1097280"/>
          </a:xfrm>
          <a:prstGeom prst="ellipse">
            <a:avLst/>
          </a:prstGeom>
          <a:solidFill>
            <a:srgbClr val="4A90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3152" rIns="73152"/>
          <a:lstStyle/>
          <a:p>
            <a:pPr algn="ctr">
              <a:spcAft>
                <a:spcPts val="200"/>
              </a:spcAft>
            </a:pPr>
            <a:r>
              <a:rPr sz="3600" b="1">
                <a:solidFill>
                  <a:srgbClr val="FFFFFF"/>
                </a:solidFill>
                <a:latin typeface="Arial"/>
                <a:ea typeface="Microsoft YaHei"/>
              </a:rPr>
              <a:t>💼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96047" y="3291840"/>
            <a:ext cx="3809847" cy="2011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400" b="1">
                <a:solidFill>
                  <a:srgbClr val="4A90E2"/>
                </a:solidFill>
                <a:latin typeface="Arial"/>
                <a:ea typeface="Microsoft YaHei"/>
              </a:rPr>
              <a:t>Role B</a:t>
            </a:r>
          </a:p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2000" b="1">
                <a:solidFill>
                  <a:srgbClr val="1F2A44"/>
                </a:solidFill>
                <a:latin typeface="Arial"/>
                <a:ea typeface="Microsoft YaHei"/>
              </a:rPr>
              <a:t>Mr Park, visitor</a:t>
            </a:r>
          </a:p>
        </p:txBody>
      </p:sp>
    </p:spTree>
  </p:cSld>
  <p:clrMapOvr>
    <a:masterClrMapping/>
  </p:clrMapOvr>
  <p:transition spd="med">
    <p:fade/>
  </p:transition>
</p:sld>
</file>

<file path=ppt/slides/slide1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9B6B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8442656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2300" b="1">
                <a:solidFill>
                  <a:srgbClr val="1F2A44"/>
                </a:solidFill>
                <a:latin typeface="Arial"/>
                <a:ea typeface="Microsoft YaHei"/>
              </a:rPr>
              <a:t>🎭 Model Dialogue · In the lift and in the corridor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74175" y="438912"/>
            <a:ext cx="2560320" cy="475488"/>
          </a:xfrm>
          <a:prstGeom prst="roundRect">
            <a:avLst>
              <a:gd name="adj" fmla="val 50000"/>
            </a:avLst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3152" rIns="73152"/>
          <a:lstStyle/>
          <a:p>
            <a:pPr algn="ctr">
              <a:spcAft>
                <a:spcPts val="200"/>
              </a:spcAft>
            </a:pPr>
            <a:r>
              <a:rPr sz="1300" b="1">
                <a:solidFill>
                  <a:srgbClr val="FFFFFF"/>
                </a:solidFill>
                <a:latin typeface="Arial"/>
                <a:ea typeface="Microsoft YaHei"/>
              </a:rPr>
              <a:t>Part 1/2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19088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100" b="0">
                <a:solidFill>
                  <a:srgbClr val="5F677A"/>
                </a:solidFill>
                <a:latin typeface="Arial"/>
                <a:ea typeface="Microsoft YaHei"/>
              </a:rPr>
              <a:t>Business English · Level 4 · Unit 3 · Lesson 10 Small talk with visitors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28655" y="6419088"/>
            <a:ext cx="914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  <a:spcAft>
                <a:spcPts val="800"/>
              </a:spcAft>
            </a:pPr>
            <a:r>
              <a:rPr sz="1100" b="0">
                <a:solidFill>
                  <a:srgbClr val="5F677A"/>
                </a:solidFill>
                <a:latin typeface="Arial"/>
                <a:ea typeface="Microsoft YaHei"/>
              </a:rPr>
              <a:t>124</a:t>
            </a:r>
          </a:p>
        </p:txBody>
      </p:sp>
      <p:sp>
        <p:nvSpPr>
          <p:cNvPr id="7" name="Rounded Rectangle 6">
            <a:hlinkClick action="ppaction://hlinksldjump" r:id="rId2"/>
          </p:cNvPr>
          <p:cNvSpPr/>
          <p:nvPr/>
        </p:nvSpPr>
        <p:spPr>
          <a:xfrm>
            <a:off x="9677095" y="6382512"/>
            <a:ext cx="960120" cy="329184"/>
          </a:xfrm>
          <a:prstGeom prst="roundRect">
            <a:avLst>
              <a:gd name="adj" fmla="val 50000"/>
            </a:avLst>
          </a:prstGeom>
          <a:solidFill>
            <a:srgbClr val="FFE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Aft>
                <a:spcPts val="200"/>
              </a:spcAft>
            </a:pPr>
            <a:r>
              <a:rPr sz="1100" b="1">
                <a:solidFill>
                  <a:srgbClr val="1F2A44"/>
                </a:solidFill>
                <a:latin typeface="Arial"/>
                <a:ea typeface="Microsoft YaHei"/>
              </a:rPr>
              <a:t>🗺 Map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325880"/>
            <a:ext cx="731520" cy="457200"/>
          </a:xfrm>
          <a:prstGeom prst="roundRect">
            <a:avLst>
              <a:gd name="adj" fmla="val 50000"/>
            </a:avLst>
          </a:prstGeom>
          <a:solidFill>
            <a:srgbClr val="FF6B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Arial"/>
                <a:ea typeface="Microsoft YaHei"/>
              </a:rPr>
              <a:t>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1764792"/>
            <a:ext cx="1280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800"/>
              </a:spcAft>
            </a:pPr>
            <a:r>
              <a:rPr sz="1000" b="0">
                <a:solidFill>
                  <a:srgbClr val="5F677A"/>
                </a:solidFill>
                <a:latin typeface="Arial"/>
                <a:ea typeface="Microsoft YaHei"/>
              </a:rPr>
              <a:t>Yan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463040" y="1325880"/>
            <a:ext cx="8595360" cy="490728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31750">
            <a:solidFill>
              <a:srgbClr val="FF6B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l">
              <a:spcAft>
                <a:spcPts val="200"/>
              </a:spcAft>
            </a:pPr>
            <a:r>
              <a:rPr sz="1900" b="1">
                <a:solidFill>
                  <a:srgbClr val="1F2A44"/>
                </a:solidFill>
                <a:latin typeface="Arial"/>
                <a:ea typeface="Microsoft YaHei"/>
              </a:rPr>
              <a:t>Mr Park, is this your first time in Shanghai?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911535" y="1908048"/>
            <a:ext cx="731520" cy="457200"/>
          </a:xfrm>
          <a:prstGeom prst="roundRect">
            <a:avLst>
              <a:gd name="adj" fmla="val 50000"/>
            </a:avLst>
          </a:prstGeom>
          <a:solidFill>
            <a:srgbClr val="4A90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Arial"/>
                <a:ea typeface="Microsoft YaHei"/>
              </a:rPr>
              <a:t>B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37215" y="2346960"/>
            <a:ext cx="1280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800"/>
              </a:spcAft>
            </a:pPr>
            <a:r>
              <a:rPr sz="1000" b="0">
                <a:solidFill>
                  <a:srgbClr val="5F677A"/>
                </a:solidFill>
                <a:latin typeface="Arial"/>
                <a:ea typeface="Microsoft YaHei"/>
              </a:rPr>
              <a:t>Park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133295" y="1908048"/>
            <a:ext cx="8595360" cy="490728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31750">
            <a:solidFill>
              <a:srgbClr val="4A90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l">
              <a:spcAft>
                <a:spcPts val="200"/>
              </a:spcAft>
            </a:pPr>
            <a:r>
              <a:rPr sz="1900" b="1">
                <a:solidFill>
                  <a:srgbClr val="1F2A44"/>
                </a:solidFill>
                <a:latin typeface="Arial"/>
                <a:ea typeface="Microsoft YaHei"/>
              </a:rPr>
              <a:t>Yes, it is. I arrived yesterday.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2490216"/>
            <a:ext cx="731520" cy="457200"/>
          </a:xfrm>
          <a:prstGeom prst="roundRect">
            <a:avLst>
              <a:gd name="adj" fmla="val 50000"/>
            </a:avLst>
          </a:prstGeom>
          <a:solidFill>
            <a:srgbClr val="FF6B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Arial"/>
                <a:ea typeface="Microsoft YaHei"/>
              </a:rPr>
              <a:t>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4320" y="2929128"/>
            <a:ext cx="1280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800"/>
              </a:spcAft>
            </a:pPr>
            <a:r>
              <a:rPr sz="1000" b="0">
                <a:solidFill>
                  <a:srgbClr val="5F677A"/>
                </a:solidFill>
                <a:latin typeface="Arial"/>
                <a:ea typeface="Microsoft YaHei"/>
              </a:rPr>
              <a:t> 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463040" y="2490216"/>
            <a:ext cx="8595360" cy="490728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31750">
            <a:solidFill>
              <a:srgbClr val="FF6B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l">
              <a:spcAft>
                <a:spcPts val="200"/>
              </a:spcAft>
            </a:pPr>
            <a:r>
              <a:rPr sz="1900" b="1">
                <a:solidFill>
                  <a:srgbClr val="1F2A44"/>
                </a:solidFill>
                <a:latin typeface="Arial"/>
                <a:ea typeface="Microsoft YaHei"/>
              </a:rPr>
              <a:t>How are you finding the city so far?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911535" y="3072384"/>
            <a:ext cx="731520" cy="457200"/>
          </a:xfrm>
          <a:prstGeom prst="roundRect">
            <a:avLst>
              <a:gd name="adj" fmla="val 50000"/>
            </a:avLst>
          </a:prstGeom>
          <a:solidFill>
            <a:srgbClr val="4A90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Arial"/>
                <a:ea typeface="Microsoft YaHei"/>
              </a:rPr>
              <a:t>B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637215" y="3511296"/>
            <a:ext cx="1280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800"/>
              </a:spcAft>
            </a:pPr>
            <a:r>
              <a:rPr sz="1000" b="0">
                <a:solidFill>
                  <a:srgbClr val="5F677A"/>
                </a:solidFill>
                <a:latin typeface="Arial"/>
                <a:ea typeface="Microsoft YaHei"/>
              </a:rPr>
              <a:t> 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133295" y="3072384"/>
            <a:ext cx="8595360" cy="780288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31750">
            <a:solidFill>
              <a:srgbClr val="4A90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l">
              <a:spcAft>
                <a:spcPts val="200"/>
              </a:spcAft>
            </a:pPr>
            <a:r>
              <a:rPr sz="1900" b="1">
                <a:solidFill>
                  <a:srgbClr val="1F2A44"/>
                </a:solidFill>
                <a:latin typeface="Arial"/>
                <a:ea typeface="Microsoft YaHei"/>
              </a:rPr>
              <a:t>It’s amazing. So much bigger than Seoul, and so many tall buildings.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3944112"/>
            <a:ext cx="731520" cy="457200"/>
          </a:xfrm>
          <a:prstGeom prst="roundRect">
            <a:avLst>
              <a:gd name="adj" fmla="val 50000"/>
            </a:avLst>
          </a:prstGeom>
          <a:solidFill>
            <a:srgbClr val="FF6B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Arial"/>
                <a:ea typeface="Microsoft YaHei"/>
              </a:rPr>
              <a:t>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74320" y="4383024"/>
            <a:ext cx="1280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800"/>
              </a:spcAft>
            </a:pPr>
            <a:r>
              <a:rPr sz="1000" b="0">
                <a:solidFill>
                  <a:srgbClr val="5F677A"/>
                </a:solidFill>
                <a:latin typeface="Arial"/>
                <a:ea typeface="Microsoft YaHei"/>
              </a:rPr>
              <a:t> 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463040" y="3944112"/>
            <a:ext cx="8595360" cy="780288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31750">
            <a:solidFill>
              <a:srgbClr val="FF6B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l">
              <a:spcAft>
                <a:spcPts val="200"/>
              </a:spcAft>
            </a:pPr>
            <a:r>
              <a:rPr sz="1900" b="1">
                <a:solidFill>
                  <a:srgbClr val="1F2A44"/>
                </a:solidFill>
                <a:latin typeface="Arial"/>
                <a:ea typeface="Microsoft YaHei"/>
              </a:rPr>
              <a:t>I know what you mean. I’ve lived here for years, and it still surprises me. Did you manage to get some rest?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0911535" y="4815840"/>
            <a:ext cx="731520" cy="457200"/>
          </a:xfrm>
          <a:prstGeom prst="roundRect">
            <a:avLst>
              <a:gd name="adj" fmla="val 50000"/>
            </a:avLst>
          </a:prstGeom>
          <a:solidFill>
            <a:srgbClr val="4A90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Arial"/>
                <a:ea typeface="Microsoft YaHei"/>
              </a:rPr>
              <a:t>B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637215" y="5254752"/>
            <a:ext cx="1280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800"/>
              </a:spcAft>
            </a:pPr>
            <a:r>
              <a:rPr sz="1000" b="0">
                <a:solidFill>
                  <a:srgbClr val="5F677A"/>
                </a:solidFill>
                <a:latin typeface="Arial"/>
                <a:ea typeface="Microsoft YaHei"/>
              </a:rPr>
              <a:t> 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2133295" y="4815840"/>
            <a:ext cx="8595360" cy="780288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31750">
            <a:solidFill>
              <a:srgbClr val="4A90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l">
              <a:spcAft>
                <a:spcPts val="200"/>
              </a:spcAft>
            </a:pPr>
            <a:r>
              <a:rPr sz="1900" b="1">
                <a:solidFill>
                  <a:srgbClr val="1F2A44"/>
                </a:solidFill>
                <a:latin typeface="Arial"/>
                <a:ea typeface="Microsoft YaHei"/>
              </a:rPr>
              <a:t>A little. I didn’t sleep well on the plane, but the hotel bed was very comfortable.</a:t>
            </a:r>
          </a:p>
        </p:txBody>
      </p:sp>
    </p:spTree>
  </p:cSld>
  <p:clrMapOvr>
    <a:masterClrMapping/>
  </p:clrMapOvr>
  <p:transition spd="med">
    <p:fade/>
  </p:transition>
</p:sld>
</file>

<file path=ppt/slides/slide1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9B6B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8442656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2200" b="1">
                <a:solidFill>
                  <a:srgbClr val="1F2A44"/>
                </a:solidFill>
                <a:latin typeface="Arial"/>
                <a:ea typeface="Microsoft YaHei"/>
              </a:rPr>
              <a:t>🎭 Model Dialogue · In the lift and in the corridor (cont.)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74175" y="438912"/>
            <a:ext cx="2560320" cy="475488"/>
          </a:xfrm>
          <a:prstGeom prst="roundRect">
            <a:avLst>
              <a:gd name="adj" fmla="val 50000"/>
            </a:avLst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3152" rIns="73152"/>
          <a:lstStyle/>
          <a:p>
            <a:pPr algn="ctr">
              <a:spcAft>
                <a:spcPts val="200"/>
              </a:spcAft>
            </a:pPr>
            <a:r>
              <a:rPr sz="1300" b="1">
                <a:solidFill>
                  <a:srgbClr val="FFFFFF"/>
                </a:solidFill>
                <a:latin typeface="Arial"/>
                <a:ea typeface="Microsoft YaHei"/>
              </a:rPr>
              <a:t>Part 2/2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19088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100" b="0">
                <a:solidFill>
                  <a:srgbClr val="5F677A"/>
                </a:solidFill>
                <a:latin typeface="Arial"/>
                <a:ea typeface="Microsoft YaHei"/>
              </a:rPr>
              <a:t>Business English · Level 4 · Unit 3 · Lesson 10 Small talk with visitors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28655" y="6419088"/>
            <a:ext cx="914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  <a:spcAft>
                <a:spcPts val="800"/>
              </a:spcAft>
            </a:pPr>
            <a:r>
              <a:rPr sz="1100" b="0">
                <a:solidFill>
                  <a:srgbClr val="5F677A"/>
                </a:solidFill>
                <a:latin typeface="Arial"/>
                <a:ea typeface="Microsoft YaHei"/>
              </a:rPr>
              <a:t>125</a:t>
            </a:r>
          </a:p>
        </p:txBody>
      </p:sp>
      <p:sp>
        <p:nvSpPr>
          <p:cNvPr id="7" name="Rounded Rectangle 6">
            <a:hlinkClick action="ppaction://hlinksldjump" r:id="rId2"/>
          </p:cNvPr>
          <p:cNvSpPr/>
          <p:nvPr/>
        </p:nvSpPr>
        <p:spPr>
          <a:xfrm>
            <a:off x="9677095" y="6382512"/>
            <a:ext cx="960120" cy="329184"/>
          </a:xfrm>
          <a:prstGeom prst="roundRect">
            <a:avLst>
              <a:gd name="adj" fmla="val 50000"/>
            </a:avLst>
          </a:prstGeom>
          <a:solidFill>
            <a:srgbClr val="FFE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Aft>
                <a:spcPts val="200"/>
              </a:spcAft>
            </a:pPr>
            <a:r>
              <a:rPr sz="1100" b="1">
                <a:solidFill>
                  <a:srgbClr val="1F2A44"/>
                </a:solidFill>
                <a:latin typeface="Arial"/>
                <a:ea typeface="Microsoft YaHei"/>
              </a:rPr>
              <a:t>🗺 Map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325880"/>
            <a:ext cx="731520" cy="457200"/>
          </a:xfrm>
          <a:prstGeom prst="roundRect">
            <a:avLst>
              <a:gd name="adj" fmla="val 50000"/>
            </a:avLst>
          </a:prstGeom>
          <a:solidFill>
            <a:srgbClr val="FF6B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Arial"/>
                <a:ea typeface="Microsoft YaHei"/>
              </a:rPr>
              <a:t>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1764792"/>
            <a:ext cx="1280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800"/>
              </a:spcAft>
            </a:pPr>
            <a:r>
              <a:rPr sz="1000" b="0">
                <a:solidFill>
                  <a:srgbClr val="5F677A"/>
                </a:solidFill>
                <a:latin typeface="Arial"/>
                <a:ea typeface="Microsoft YaHei"/>
              </a:rPr>
              <a:t> 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463040" y="1325880"/>
            <a:ext cx="8595360" cy="780288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31750">
            <a:solidFill>
              <a:srgbClr val="FF6B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l">
              <a:spcAft>
                <a:spcPts val="200"/>
              </a:spcAft>
            </a:pPr>
            <a:r>
              <a:rPr sz="1900" b="1">
                <a:solidFill>
                  <a:srgbClr val="1F2A44"/>
                </a:solidFill>
                <a:latin typeface="Arial"/>
                <a:ea typeface="Microsoft YaHei"/>
              </a:rPr>
              <a:t>Good. What brings you to Shanghai this time? Is it only this meeting?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911535" y="2197608"/>
            <a:ext cx="731520" cy="457200"/>
          </a:xfrm>
          <a:prstGeom prst="roundRect">
            <a:avLst>
              <a:gd name="adj" fmla="val 50000"/>
            </a:avLst>
          </a:prstGeom>
          <a:solidFill>
            <a:srgbClr val="4A90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Arial"/>
                <a:ea typeface="Microsoft YaHei"/>
              </a:rPr>
              <a:t>B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37215" y="2636520"/>
            <a:ext cx="1280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800"/>
              </a:spcAft>
            </a:pPr>
            <a:r>
              <a:rPr sz="1000" b="0">
                <a:solidFill>
                  <a:srgbClr val="5F677A"/>
                </a:solidFill>
                <a:latin typeface="Arial"/>
                <a:ea typeface="Microsoft YaHei"/>
              </a:rPr>
              <a:t> 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133295" y="2197608"/>
            <a:ext cx="8595360" cy="490728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31750">
            <a:solidFill>
              <a:srgbClr val="4A90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l">
              <a:spcAft>
                <a:spcPts val="200"/>
              </a:spcAft>
            </a:pPr>
            <a:r>
              <a:rPr sz="1900" b="1">
                <a:solidFill>
                  <a:srgbClr val="1F2A44"/>
                </a:solidFill>
                <a:latin typeface="Arial"/>
                <a:ea typeface="Microsoft YaHei"/>
              </a:rPr>
              <a:t>Mostly the meeting, but I’m also visiting a trade fair on Friday.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2779776"/>
            <a:ext cx="731520" cy="457200"/>
          </a:xfrm>
          <a:prstGeom prst="roundRect">
            <a:avLst>
              <a:gd name="adj" fmla="val 50000"/>
            </a:avLst>
          </a:prstGeom>
          <a:solidFill>
            <a:srgbClr val="FF6B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Arial"/>
                <a:ea typeface="Microsoft YaHei"/>
              </a:rPr>
              <a:t>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4320" y="3218688"/>
            <a:ext cx="1280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800"/>
              </a:spcAft>
            </a:pPr>
            <a:r>
              <a:rPr sz="1000" b="0">
                <a:solidFill>
                  <a:srgbClr val="5F677A"/>
                </a:solidFill>
                <a:latin typeface="Arial"/>
                <a:ea typeface="Microsoft YaHei"/>
              </a:rPr>
              <a:t> 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463040" y="2779776"/>
            <a:ext cx="8595360" cy="490728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31750">
            <a:solidFill>
              <a:srgbClr val="FF6B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l">
              <a:spcAft>
                <a:spcPts val="200"/>
              </a:spcAft>
            </a:pPr>
            <a:r>
              <a:rPr sz="1900" b="1">
                <a:solidFill>
                  <a:srgbClr val="1F2A44"/>
                </a:solidFill>
                <a:latin typeface="Arial"/>
                <a:ea typeface="Microsoft YaHei"/>
              </a:rPr>
              <a:t>That sounds busy. By the way, have you tried any local food yet?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911535" y="3361944"/>
            <a:ext cx="731520" cy="457200"/>
          </a:xfrm>
          <a:prstGeom prst="roundRect">
            <a:avLst>
              <a:gd name="adj" fmla="val 50000"/>
            </a:avLst>
          </a:prstGeom>
          <a:solidFill>
            <a:srgbClr val="4A90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Arial"/>
                <a:ea typeface="Microsoft YaHei"/>
              </a:rPr>
              <a:t>B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637215" y="3800856"/>
            <a:ext cx="1280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800"/>
              </a:spcAft>
            </a:pPr>
            <a:r>
              <a:rPr sz="1000" b="0">
                <a:solidFill>
                  <a:srgbClr val="5F677A"/>
                </a:solidFill>
                <a:latin typeface="Arial"/>
                <a:ea typeface="Microsoft YaHei"/>
              </a:rPr>
              <a:t> 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133295" y="3361944"/>
            <a:ext cx="8595360" cy="490728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31750">
            <a:solidFill>
              <a:srgbClr val="4A90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l">
              <a:spcAft>
                <a:spcPts val="200"/>
              </a:spcAft>
            </a:pPr>
            <a:r>
              <a:rPr sz="1900" b="1">
                <a:solidFill>
                  <a:srgbClr val="1F2A44"/>
                </a:solidFill>
                <a:latin typeface="Arial"/>
                <a:ea typeface="Microsoft YaHei"/>
              </a:rPr>
              <a:t>I had a bowl of noodles last night. It was delicious.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3944112"/>
            <a:ext cx="731520" cy="457200"/>
          </a:xfrm>
          <a:prstGeom prst="roundRect">
            <a:avLst>
              <a:gd name="adj" fmla="val 50000"/>
            </a:avLst>
          </a:prstGeom>
          <a:solidFill>
            <a:srgbClr val="FF6B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Arial"/>
                <a:ea typeface="Microsoft YaHei"/>
              </a:rPr>
              <a:t>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74320" y="4383024"/>
            <a:ext cx="1280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800"/>
              </a:spcAft>
            </a:pPr>
            <a:r>
              <a:rPr sz="1000" b="0">
                <a:solidFill>
                  <a:srgbClr val="5F677A"/>
                </a:solidFill>
                <a:latin typeface="Arial"/>
                <a:ea typeface="Microsoft YaHei"/>
              </a:rPr>
              <a:t> 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463040" y="3944112"/>
            <a:ext cx="8595360" cy="490728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31750">
            <a:solidFill>
              <a:srgbClr val="FF6B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l">
              <a:spcAft>
                <a:spcPts val="200"/>
              </a:spcAft>
            </a:pPr>
            <a:r>
              <a:rPr sz="1900" b="1">
                <a:solidFill>
                  <a:srgbClr val="1F2A44"/>
                </a:solidFill>
                <a:latin typeface="Arial"/>
                <a:ea typeface="Microsoft YaHei"/>
              </a:rPr>
              <a:t>Great. Anyway, here we are. Shall we get started?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0911535" y="4526280"/>
            <a:ext cx="731520" cy="457200"/>
          </a:xfrm>
          <a:prstGeom prst="roundRect">
            <a:avLst>
              <a:gd name="adj" fmla="val 50000"/>
            </a:avLst>
          </a:prstGeom>
          <a:solidFill>
            <a:srgbClr val="4A90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Arial"/>
                <a:ea typeface="Microsoft YaHei"/>
              </a:rPr>
              <a:t>B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637215" y="4965192"/>
            <a:ext cx="1280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800"/>
              </a:spcAft>
            </a:pPr>
            <a:r>
              <a:rPr sz="1000" b="0">
                <a:solidFill>
                  <a:srgbClr val="5F677A"/>
                </a:solidFill>
                <a:latin typeface="Arial"/>
                <a:ea typeface="Microsoft YaHei"/>
              </a:rPr>
              <a:t> 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2133295" y="4526280"/>
            <a:ext cx="8595360" cy="490728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31750">
            <a:solidFill>
              <a:srgbClr val="4A90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l">
              <a:spcAft>
                <a:spcPts val="200"/>
              </a:spcAft>
            </a:pPr>
            <a:r>
              <a:rPr sz="1900" b="1">
                <a:solidFill>
                  <a:srgbClr val="1F2A44"/>
                </a:solidFill>
                <a:latin typeface="Arial"/>
                <a:ea typeface="Microsoft YaHei"/>
              </a:rPr>
              <a:t>Yes, of course.</a:t>
            </a:r>
          </a:p>
        </p:txBody>
      </p:sp>
    </p:spTree>
  </p:cSld>
  <p:clrMapOvr>
    <a:masterClrMapping/>
  </p:clrMapOvr>
  <p:transition spd="med">
    <p:fade/>
  </p:transition>
</p:sld>
</file>

<file path=ppt/slides/slide1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FC8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8442656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2600" b="1">
                <a:solidFill>
                  <a:srgbClr val="1F2A44"/>
                </a:solidFill>
                <a:latin typeface="Arial"/>
                <a:ea typeface="Microsoft YaHei"/>
              </a:rPr>
              <a:t>🎯 Your Turn · In the lift and in the corridor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74175" y="438912"/>
            <a:ext cx="2560320" cy="475488"/>
          </a:xfrm>
          <a:prstGeom prst="roundRect">
            <a:avLst>
              <a:gd name="adj" fmla="val 50000"/>
            </a:avLst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3152" rIns="73152"/>
          <a:lstStyle/>
          <a:p>
            <a:pPr algn="ctr">
              <a:spcAft>
                <a:spcPts val="200"/>
              </a:spcAft>
            </a:pPr>
            <a:r>
              <a:rPr sz="1300" b="1">
                <a:solidFill>
                  <a:srgbClr val="FFFFFF"/>
                </a:solidFill>
                <a:latin typeface="Arial"/>
                <a:ea typeface="Microsoft YaHei"/>
              </a:rPr>
              <a:t>03 Role play 角色扮演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19088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100" b="0">
                <a:solidFill>
                  <a:srgbClr val="5F677A"/>
                </a:solidFill>
                <a:latin typeface="Arial"/>
                <a:ea typeface="Microsoft YaHei"/>
              </a:rPr>
              <a:t>Business English · Level 4 · Unit 3 · Lesson 10 Small talk with visitors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28655" y="6419088"/>
            <a:ext cx="914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  <a:spcAft>
                <a:spcPts val="800"/>
              </a:spcAft>
            </a:pPr>
            <a:r>
              <a:rPr sz="1100" b="0">
                <a:solidFill>
                  <a:srgbClr val="5F677A"/>
                </a:solidFill>
                <a:latin typeface="Arial"/>
                <a:ea typeface="Microsoft YaHei"/>
              </a:rPr>
              <a:t>126</a:t>
            </a:r>
          </a:p>
        </p:txBody>
      </p:sp>
      <p:sp>
        <p:nvSpPr>
          <p:cNvPr id="7" name="Rounded Rectangle 6">
            <a:hlinkClick action="ppaction://hlinksldjump" r:id="rId2"/>
          </p:cNvPr>
          <p:cNvSpPr/>
          <p:nvPr/>
        </p:nvSpPr>
        <p:spPr>
          <a:xfrm>
            <a:off x="9677095" y="6382512"/>
            <a:ext cx="960120" cy="329184"/>
          </a:xfrm>
          <a:prstGeom prst="roundRect">
            <a:avLst>
              <a:gd name="adj" fmla="val 50000"/>
            </a:avLst>
          </a:prstGeom>
          <a:solidFill>
            <a:srgbClr val="FFE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Aft>
                <a:spcPts val="200"/>
              </a:spcAft>
            </a:pPr>
            <a:r>
              <a:rPr sz="1100" b="1">
                <a:solidFill>
                  <a:srgbClr val="1F2A44"/>
                </a:solidFill>
                <a:latin typeface="Arial"/>
                <a:ea typeface="Microsoft YaHei"/>
              </a:rPr>
              <a:t>🗺 Map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325880"/>
            <a:ext cx="2377440" cy="408432"/>
          </a:xfrm>
          <a:prstGeom prst="roundRect">
            <a:avLst>
              <a:gd name="adj" fmla="val 15000"/>
            </a:avLst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Arial"/>
                <a:ea typeface="Microsoft YaHei"/>
              </a:rPr>
              <a:t>Situation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017520" y="1325880"/>
            <a:ext cx="8625535" cy="408432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1F2A44"/>
                </a:solidFill>
                <a:latin typeface="Arial"/>
                <a:ea typeface="Microsoft YaHei"/>
              </a:rPr>
              <a:t>You walk with a visitor to the meeting room and make small talk.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1807464"/>
            <a:ext cx="2377440" cy="408432"/>
          </a:xfrm>
          <a:prstGeom prst="roundRect">
            <a:avLst>
              <a:gd name="adj" fmla="val 15000"/>
            </a:avLst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Arial"/>
                <a:ea typeface="Microsoft YaHei"/>
              </a:rPr>
              <a:t>Your role (A)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017520" y="1807464"/>
            <a:ext cx="8625535" cy="408432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1F2A44"/>
                </a:solidFill>
                <a:latin typeface="Arial"/>
                <a:ea typeface="Microsoft YaHei"/>
              </a:rPr>
              <a:t>Host. Your name and city: ______________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2289048"/>
            <a:ext cx="2377440" cy="408432"/>
          </a:xfrm>
          <a:prstGeom prst="roundRect">
            <a:avLst>
              <a:gd name="adj" fmla="val 15000"/>
            </a:avLst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Arial"/>
                <a:ea typeface="Microsoft YaHei"/>
              </a:rPr>
              <a:t>Partner’s role (B)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017520" y="2289048"/>
            <a:ext cx="8625535" cy="408432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1F2A44"/>
                </a:solidFill>
                <a:latin typeface="Arial"/>
                <a:ea typeface="Microsoft YaHei"/>
              </a:rPr>
              <a:t>Visitor from another country. Country and reason for the trip: ______________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2770632"/>
            <a:ext cx="2377440" cy="652272"/>
          </a:xfrm>
          <a:prstGeom prst="roundRect">
            <a:avLst>
              <a:gd name="adj" fmla="val 15000"/>
            </a:avLst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Arial"/>
                <a:ea typeface="Microsoft YaHei"/>
              </a:rPr>
              <a:t>Must use (4 or more)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017520" y="2770632"/>
            <a:ext cx="8625535" cy="652272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1F2A44"/>
                </a:solidFill>
                <a:latin typeface="Arial"/>
                <a:ea typeface="Microsoft YaHei"/>
              </a:rPr>
              <a:t>Is this your first time…? · How are you finding…? · I know what you mean. · By the way, … · Anyway, shall we get started?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3496056"/>
            <a:ext cx="2377440" cy="408432"/>
          </a:xfrm>
          <a:prstGeom prst="roundRect">
            <a:avLst>
              <a:gd name="adj" fmla="val 15000"/>
            </a:avLst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Arial"/>
                <a:ea typeface="Microsoft YaHei"/>
              </a:rPr>
              <a:t>Goal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017520" y="3496056"/>
            <a:ext cx="8625535" cy="408432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1F2A44"/>
                </a:solidFill>
                <a:latin typeface="Arial"/>
                <a:ea typeface="Microsoft YaHei"/>
              </a:rPr>
              <a:t>Ask 4 questions, give 4 comments, and end with a smooth change to business.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3977640"/>
            <a:ext cx="2377440" cy="408432"/>
          </a:xfrm>
          <a:prstGeom prst="roundRect">
            <a:avLst>
              <a:gd name="adj" fmla="val 15000"/>
            </a:avLst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Arial"/>
                <a:ea typeface="Microsoft YaHei"/>
              </a:rPr>
              <a:t>My notes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017520" y="3977640"/>
            <a:ext cx="8625535" cy="408432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1F2A44"/>
                </a:solidFill>
                <a:latin typeface="Arial"/>
                <a:ea typeface="Microsoft YaHei"/>
              </a:rPr>
              <a:t>____________________________________________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4550664"/>
            <a:ext cx="11094415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500" b="1">
                <a:solidFill>
                  <a:srgbClr val="FF6B5B"/>
                </a:solidFill>
                <a:latin typeface="Arial"/>
                <a:ea typeface="Microsoft YaHei"/>
              </a:rPr>
              <a:t>🔥 Level-up challenges 进阶挑战 (click)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8640" y="4934712"/>
            <a:ext cx="3576218" cy="1283208"/>
          </a:xfrm>
          <a:prstGeom prst="roundRect">
            <a:avLst>
              <a:gd name="adj" fmla="val 12000"/>
            </a:avLst>
          </a:prstGeom>
          <a:solidFill>
            <a:srgbClr val="4A90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l">
              <a:spcAft>
                <a:spcPts val="200"/>
              </a:spcAft>
            </a:pPr>
            <a:r>
              <a:rPr sz="1500" b="1">
                <a:solidFill>
                  <a:srgbClr val="FFFFFF"/>
                </a:solidFill>
                <a:latin typeface="Arial"/>
                <a:ea typeface="Microsoft YaHei"/>
              </a:rPr>
              <a:t>Your visitor gives very short answers. Ask open questions: “What did you think of the food?” instead of “Did you like the food?”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307738" y="4934712"/>
            <a:ext cx="3576218" cy="1283208"/>
          </a:xfrm>
          <a:prstGeom prst="roundRect">
            <a:avLst>
              <a:gd name="adj" fmla="val 12000"/>
            </a:avLst>
          </a:prstGeom>
          <a:solidFill>
            <a:srgbClr val="3CC4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l">
              <a:spcAft>
                <a:spcPts val="200"/>
              </a:spcAft>
            </a:pPr>
            <a:r>
              <a:rPr sz="1500" b="1">
                <a:solidFill>
                  <a:srgbClr val="FFFFFF"/>
                </a:solidFill>
                <a:latin typeface="Arial"/>
                <a:ea typeface="Microsoft YaHei"/>
              </a:rPr>
              <a:t>Say something about yourself after each answer to keep the conversation balanced: “I’m from Chengdu, actually.”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066836" y="4934712"/>
            <a:ext cx="3576218" cy="1283208"/>
          </a:xfrm>
          <a:prstGeom prst="roundRect">
            <a:avLst>
              <a:gd name="adj" fmla="val 12000"/>
            </a:avLst>
          </a:prstGeom>
          <a:solidFill>
            <a:srgbClr val="FFC8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l">
              <a:spcAft>
                <a:spcPts val="200"/>
              </a:spcAft>
            </a:pPr>
            <a:r>
              <a:rPr sz="1500" b="1">
                <a:solidFill>
                  <a:srgbClr val="FFFFFF"/>
                </a:solidFill>
                <a:latin typeface="Arial"/>
                <a:ea typeface="Microsoft YaHei"/>
              </a:rPr>
              <a:t>Add one question tag: “It’s been a long week, hasn’t it?”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" fill="hold">
                      <p:stCondLst>
                        <p:cond delay="indefinite"/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9B6B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8442656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3200" b="1">
                <a:solidFill>
                  <a:srgbClr val="1F2A44"/>
                </a:solidFill>
                <a:latin typeface="Arial"/>
                <a:ea typeface="Microsoft YaHei"/>
              </a:rPr>
              <a:t>🎭 Role Play · Waiting for the host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74175" y="438912"/>
            <a:ext cx="2560320" cy="475488"/>
          </a:xfrm>
          <a:prstGeom prst="roundRect">
            <a:avLst>
              <a:gd name="adj" fmla="val 50000"/>
            </a:avLst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3152" rIns="73152"/>
          <a:lstStyle/>
          <a:p>
            <a:pPr algn="ctr">
              <a:spcAft>
                <a:spcPts val="200"/>
              </a:spcAft>
            </a:pPr>
            <a:r>
              <a:rPr sz="1300" b="1">
                <a:solidFill>
                  <a:srgbClr val="FFFFFF"/>
                </a:solidFill>
                <a:latin typeface="Arial"/>
                <a:ea typeface="Microsoft YaHei"/>
              </a:rPr>
              <a:t>03 Role play 角色扮演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19088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100" b="0">
                <a:solidFill>
                  <a:srgbClr val="5F677A"/>
                </a:solidFill>
                <a:latin typeface="Arial"/>
                <a:ea typeface="Microsoft YaHei"/>
              </a:rPr>
              <a:t>Business English · Level 4 · Unit 3 · Lesson 10 Small talk with visitors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28655" y="6419088"/>
            <a:ext cx="914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  <a:spcAft>
                <a:spcPts val="800"/>
              </a:spcAft>
            </a:pPr>
            <a:r>
              <a:rPr sz="1100" b="0">
                <a:solidFill>
                  <a:srgbClr val="5F677A"/>
                </a:solidFill>
                <a:latin typeface="Arial"/>
                <a:ea typeface="Microsoft YaHei"/>
              </a:rPr>
              <a:t>127</a:t>
            </a:r>
          </a:p>
        </p:txBody>
      </p:sp>
      <p:sp>
        <p:nvSpPr>
          <p:cNvPr id="7" name="Rounded Rectangle 6">
            <a:hlinkClick action="ppaction://hlinksldjump" r:id="rId2"/>
          </p:cNvPr>
          <p:cNvSpPr/>
          <p:nvPr/>
        </p:nvSpPr>
        <p:spPr>
          <a:xfrm>
            <a:off x="9677095" y="6382512"/>
            <a:ext cx="960120" cy="329184"/>
          </a:xfrm>
          <a:prstGeom prst="roundRect">
            <a:avLst>
              <a:gd name="adj" fmla="val 50000"/>
            </a:avLst>
          </a:prstGeom>
          <a:solidFill>
            <a:srgbClr val="FFE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Aft>
                <a:spcPts val="200"/>
              </a:spcAft>
            </a:pPr>
            <a:r>
              <a:rPr sz="1100" b="1">
                <a:solidFill>
                  <a:srgbClr val="1F2A44"/>
                </a:solidFill>
                <a:latin typeface="Arial"/>
                <a:ea typeface="Microsoft YaHei"/>
              </a:rPr>
              <a:t>🗺 Map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960120"/>
            <a:ext cx="11094415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500" b="0">
                <a:solidFill>
                  <a:srgbClr val="5F677A"/>
                </a:solidFill>
                <a:latin typeface="Arial"/>
                <a:ea typeface="Microsoft YaHei"/>
              </a:rPr>
              <a:t>等待主人时的闲聊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463040"/>
            <a:ext cx="11094415" cy="14630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31750">
            <a:solidFill>
              <a:srgbClr val="9B6B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5F677A"/>
                </a:solidFill>
                <a:latin typeface="Arial"/>
                <a:ea typeface="Microsoft YaHei"/>
              </a:rPr>
              <a:t>📍 Situation 情景</a:t>
            </a:r>
          </a:p>
          <a:p>
            <a:pPr algn="l">
              <a:spcAft>
                <a:spcPts val="200"/>
              </a:spcAft>
            </a:pPr>
            <a:r>
              <a:rPr sz="2400" b="1">
                <a:solidFill>
                  <a:srgbClr val="1F2A44"/>
                </a:solidFill>
                <a:latin typeface="Arial"/>
                <a:ea typeface="Microsoft YaHei"/>
              </a:rPr>
              <a:t>A visitor waits in the meeting room for ten minutes while his host finishes a call. A colleague keeps him company.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3200400"/>
            <a:ext cx="5410047" cy="21945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777240" y="3429000"/>
            <a:ext cx="1097280" cy="1097280"/>
          </a:xfrm>
          <a:prstGeom prst="ellipse">
            <a:avLst/>
          </a:prstGeom>
          <a:solidFill>
            <a:srgbClr val="FF6B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3152" rIns="73152"/>
          <a:lstStyle/>
          <a:p>
            <a:pPr algn="ctr">
              <a:spcAft>
                <a:spcPts val="200"/>
              </a:spcAft>
            </a:pPr>
            <a:r>
              <a:rPr sz="3600" b="1">
                <a:solidFill>
                  <a:srgbClr val="FFFFFF"/>
                </a:solidFill>
                <a:latin typeface="Arial"/>
                <a:ea typeface="Microsoft YaHei"/>
              </a:rPr>
              <a:t>👔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11680" y="3291840"/>
            <a:ext cx="3809847" cy="2011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400" b="1">
                <a:solidFill>
                  <a:srgbClr val="FF6B5B"/>
                </a:solidFill>
                <a:latin typeface="Arial"/>
                <a:ea typeface="Microsoft YaHei"/>
              </a:rPr>
              <a:t>Role A</a:t>
            </a:r>
          </a:p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2000" b="1">
                <a:solidFill>
                  <a:srgbClr val="1F2A44"/>
                </a:solidFill>
                <a:latin typeface="Arial"/>
                <a:ea typeface="Microsoft YaHei"/>
              </a:rPr>
              <a:t>Lily Sun, colleague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33007" y="3200400"/>
            <a:ext cx="5410047" cy="21945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61607" y="3429000"/>
            <a:ext cx="1097280" cy="1097280"/>
          </a:xfrm>
          <a:prstGeom prst="ellipse">
            <a:avLst/>
          </a:prstGeom>
          <a:solidFill>
            <a:srgbClr val="4A90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3152" rIns="73152"/>
          <a:lstStyle/>
          <a:p>
            <a:pPr algn="ctr">
              <a:spcAft>
                <a:spcPts val="200"/>
              </a:spcAft>
            </a:pPr>
            <a:r>
              <a:rPr sz="3600" b="1">
                <a:solidFill>
                  <a:srgbClr val="FFFFFF"/>
                </a:solidFill>
                <a:latin typeface="Arial"/>
                <a:ea typeface="Microsoft YaHei"/>
              </a:rPr>
              <a:t>💼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96047" y="3291840"/>
            <a:ext cx="3809847" cy="2011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400" b="1">
                <a:solidFill>
                  <a:srgbClr val="4A90E2"/>
                </a:solidFill>
                <a:latin typeface="Arial"/>
                <a:ea typeface="Microsoft YaHei"/>
              </a:rPr>
              <a:t>Role B</a:t>
            </a:r>
          </a:p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2000" b="1">
                <a:solidFill>
                  <a:srgbClr val="1F2A44"/>
                </a:solidFill>
                <a:latin typeface="Arial"/>
                <a:ea typeface="Microsoft YaHei"/>
              </a:rPr>
              <a:t>Tom Hayes, visitor from Canada</a:t>
            </a:r>
          </a:p>
        </p:txBody>
      </p:sp>
    </p:spTree>
  </p:cSld>
  <p:clrMapOvr>
    <a:masterClrMapping/>
  </p:clrMapOvr>
  <p:transition spd="med">
    <p:fade/>
  </p:transition>
</p:sld>
</file>

<file path=ppt/slides/slide1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9B6B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8442656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3000" b="1">
                <a:solidFill>
                  <a:srgbClr val="1F2A44"/>
                </a:solidFill>
                <a:latin typeface="Arial"/>
                <a:ea typeface="Microsoft YaHei"/>
              </a:rPr>
              <a:t>🎭 Model Dialogue · Waiting for the host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74175" y="438912"/>
            <a:ext cx="2560320" cy="475488"/>
          </a:xfrm>
          <a:prstGeom prst="roundRect">
            <a:avLst>
              <a:gd name="adj" fmla="val 50000"/>
            </a:avLst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3152" rIns="73152"/>
          <a:lstStyle/>
          <a:p>
            <a:pPr algn="ctr">
              <a:spcAft>
                <a:spcPts val="200"/>
              </a:spcAft>
            </a:pPr>
            <a:r>
              <a:rPr sz="1300" b="1">
                <a:solidFill>
                  <a:srgbClr val="FFFFFF"/>
                </a:solidFill>
                <a:latin typeface="Arial"/>
                <a:ea typeface="Microsoft YaHei"/>
              </a:rPr>
              <a:t>Part 1/2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19088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100" b="0">
                <a:solidFill>
                  <a:srgbClr val="5F677A"/>
                </a:solidFill>
                <a:latin typeface="Arial"/>
                <a:ea typeface="Microsoft YaHei"/>
              </a:rPr>
              <a:t>Business English · Level 4 · Unit 3 · Lesson 10 Small talk with visitors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28655" y="6419088"/>
            <a:ext cx="914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  <a:spcAft>
                <a:spcPts val="800"/>
              </a:spcAft>
            </a:pPr>
            <a:r>
              <a:rPr sz="1100" b="0">
                <a:solidFill>
                  <a:srgbClr val="5F677A"/>
                </a:solidFill>
                <a:latin typeface="Arial"/>
                <a:ea typeface="Microsoft YaHei"/>
              </a:rPr>
              <a:t>128</a:t>
            </a:r>
          </a:p>
        </p:txBody>
      </p:sp>
      <p:sp>
        <p:nvSpPr>
          <p:cNvPr id="7" name="Rounded Rectangle 6">
            <a:hlinkClick action="ppaction://hlinksldjump" r:id="rId2"/>
          </p:cNvPr>
          <p:cNvSpPr/>
          <p:nvPr/>
        </p:nvSpPr>
        <p:spPr>
          <a:xfrm>
            <a:off x="9677095" y="6382512"/>
            <a:ext cx="960120" cy="329184"/>
          </a:xfrm>
          <a:prstGeom prst="roundRect">
            <a:avLst>
              <a:gd name="adj" fmla="val 50000"/>
            </a:avLst>
          </a:prstGeom>
          <a:solidFill>
            <a:srgbClr val="FFE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Aft>
                <a:spcPts val="200"/>
              </a:spcAft>
            </a:pPr>
            <a:r>
              <a:rPr sz="1100" b="1">
                <a:solidFill>
                  <a:srgbClr val="1F2A44"/>
                </a:solidFill>
                <a:latin typeface="Arial"/>
                <a:ea typeface="Microsoft YaHei"/>
              </a:rPr>
              <a:t>🗺 Map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325880"/>
            <a:ext cx="731520" cy="457200"/>
          </a:xfrm>
          <a:prstGeom prst="roundRect">
            <a:avLst>
              <a:gd name="adj" fmla="val 50000"/>
            </a:avLst>
          </a:prstGeom>
          <a:solidFill>
            <a:srgbClr val="FF6B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Arial"/>
                <a:ea typeface="Microsoft YaHei"/>
              </a:rPr>
              <a:t>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1764792"/>
            <a:ext cx="1280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800"/>
              </a:spcAft>
            </a:pPr>
            <a:r>
              <a:rPr sz="1000" b="0">
                <a:solidFill>
                  <a:srgbClr val="5F677A"/>
                </a:solidFill>
                <a:latin typeface="Arial"/>
                <a:ea typeface="Microsoft YaHei"/>
              </a:rPr>
              <a:t>Lily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463040" y="1325880"/>
            <a:ext cx="8595360" cy="780288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31750">
            <a:solidFill>
              <a:srgbClr val="FF6B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l">
              <a:spcAft>
                <a:spcPts val="200"/>
              </a:spcAft>
            </a:pPr>
            <a:r>
              <a:rPr sz="1900" b="1">
                <a:solidFill>
                  <a:srgbClr val="1F2A44"/>
                </a:solidFill>
                <a:latin typeface="Arial"/>
                <a:ea typeface="Microsoft YaHei"/>
              </a:rPr>
              <a:t>I’m sorry about the wait, Mr Hayes. Mr Lee will be here in about ten minutes. Can I get you anything?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911535" y="2197608"/>
            <a:ext cx="731520" cy="457200"/>
          </a:xfrm>
          <a:prstGeom prst="roundRect">
            <a:avLst>
              <a:gd name="adj" fmla="val 50000"/>
            </a:avLst>
          </a:prstGeom>
          <a:solidFill>
            <a:srgbClr val="4A90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Arial"/>
                <a:ea typeface="Microsoft YaHei"/>
              </a:rPr>
              <a:t>B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37215" y="2636520"/>
            <a:ext cx="1280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800"/>
              </a:spcAft>
            </a:pPr>
            <a:r>
              <a:rPr sz="1000" b="0">
                <a:solidFill>
                  <a:srgbClr val="5F677A"/>
                </a:solidFill>
                <a:latin typeface="Arial"/>
                <a:ea typeface="Microsoft YaHei"/>
              </a:rPr>
              <a:t>Tom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133295" y="2197608"/>
            <a:ext cx="8595360" cy="490728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31750">
            <a:solidFill>
              <a:srgbClr val="4A90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l">
              <a:spcAft>
                <a:spcPts val="200"/>
              </a:spcAft>
            </a:pPr>
            <a:r>
              <a:rPr sz="1900" b="1">
                <a:solidFill>
                  <a:srgbClr val="1F2A44"/>
                </a:solidFill>
                <a:latin typeface="Arial"/>
                <a:ea typeface="Microsoft YaHei"/>
              </a:rPr>
              <a:t>Just some water would be great. And please call me Tom.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2779776"/>
            <a:ext cx="731520" cy="457200"/>
          </a:xfrm>
          <a:prstGeom prst="roundRect">
            <a:avLst>
              <a:gd name="adj" fmla="val 50000"/>
            </a:avLst>
          </a:prstGeom>
          <a:solidFill>
            <a:srgbClr val="FF6B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Arial"/>
                <a:ea typeface="Microsoft YaHei"/>
              </a:rPr>
              <a:t>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4320" y="3218688"/>
            <a:ext cx="1280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800"/>
              </a:spcAft>
            </a:pPr>
            <a:r>
              <a:rPr sz="1000" b="0">
                <a:solidFill>
                  <a:srgbClr val="5F677A"/>
                </a:solidFill>
                <a:latin typeface="Arial"/>
                <a:ea typeface="Microsoft YaHei"/>
              </a:rPr>
              <a:t> 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463040" y="2779776"/>
            <a:ext cx="8595360" cy="490728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31750">
            <a:solidFill>
              <a:srgbClr val="FF6B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l">
              <a:spcAft>
                <a:spcPts val="200"/>
              </a:spcAft>
            </a:pPr>
            <a:r>
              <a:rPr sz="1900" b="1">
                <a:solidFill>
                  <a:srgbClr val="1F2A44"/>
                </a:solidFill>
                <a:latin typeface="Arial"/>
                <a:ea typeface="Microsoft YaHei"/>
              </a:rPr>
              <a:t>Of course, Tom. Please call me Lily. How was your flight?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911535" y="3361944"/>
            <a:ext cx="731520" cy="457200"/>
          </a:xfrm>
          <a:prstGeom prst="roundRect">
            <a:avLst>
              <a:gd name="adj" fmla="val 50000"/>
            </a:avLst>
          </a:prstGeom>
          <a:solidFill>
            <a:srgbClr val="4A90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Arial"/>
                <a:ea typeface="Microsoft YaHei"/>
              </a:rPr>
              <a:t>B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637215" y="3800856"/>
            <a:ext cx="1280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800"/>
              </a:spcAft>
            </a:pPr>
            <a:r>
              <a:rPr sz="1000" b="0">
                <a:solidFill>
                  <a:srgbClr val="5F677A"/>
                </a:solidFill>
                <a:latin typeface="Arial"/>
                <a:ea typeface="Microsoft YaHei"/>
              </a:rPr>
              <a:t> 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133295" y="3361944"/>
            <a:ext cx="8595360" cy="780288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31750">
            <a:solidFill>
              <a:srgbClr val="4A90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l">
              <a:spcAft>
                <a:spcPts val="200"/>
              </a:spcAft>
            </a:pPr>
            <a:r>
              <a:rPr sz="1900" b="1">
                <a:solidFill>
                  <a:srgbClr val="1F2A44"/>
                </a:solidFill>
                <a:latin typeface="Arial"/>
                <a:ea typeface="Microsoft YaHei"/>
              </a:rPr>
              <a:t>Long, but OK. I watched three films. And you? Do you travel much for work?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4233672"/>
            <a:ext cx="731520" cy="457200"/>
          </a:xfrm>
          <a:prstGeom prst="roundRect">
            <a:avLst>
              <a:gd name="adj" fmla="val 50000"/>
            </a:avLst>
          </a:prstGeom>
          <a:solidFill>
            <a:srgbClr val="FF6B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Arial"/>
                <a:ea typeface="Microsoft YaHei"/>
              </a:rPr>
              <a:t>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74320" y="4672584"/>
            <a:ext cx="1280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800"/>
              </a:spcAft>
            </a:pPr>
            <a:r>
              <a:rPr sz="1000" b="0">
                <a:solidFill>
                  <a:srgbClr val="5F677A"/>
                </a:solidFill>
                <a:latin typeface="Arial"/>
                <a:ea typeface="Microsoft YaHei"/>
              </a:rPr>
              <a:t> 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463040" y="4233672"/>
            <a:ext cx="8595360" cy="490728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31750">
            <a:solidFill>
              <a:srgbClr val="FF6B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l">
              <a:spcAft>
                <a:spcPts val="200"/>
              </a:spcAft>
            </a:pPr>
            <a:r>
              <a:rPr sz="1900" b="1">
                <a:solidFill>
                  <a:srgbClr val="1F2A44"/>
                </a:solidFill>
                <a:latin typeface="Arial"/>
                <a:ea typeface="Microsoft YaHei"/>
              </a:rPr>
              <a:t>Quite a lot, actually. Last month I went to Frankfurt and Milan.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0911535" y="4815840"/>
            <a:ext cx="731520" cy="457200"/>
          </a:xfrm>
          <a:prstGeom prst="roundRect">
            <a:avLst>
              <a:gd name="adj" fmla="val 50000"/>
            </a:avLst>
          </a:prstGeom>
          <a:solidFill>
            <a:srgbClr val="4A90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Arial"/>
                <a:ea typeface="Microsoft YaHei"/>
              </a:rPr>
              <a:t>B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637215" y="5254752"/>
            <a:ext cx="1280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800"/>
              </a:spcAft>
            </a:pPr>
            <a:r>
              <a:rPr sz="1000" b="0">
                <a:solidFill>
                  <a:srgbClr val="5F677A"/>
                </a:solidFill>
                <a:latin typeface="Arial"/>
                <a:ea typeface="Microsoft YaHei"/>
              </a:rPr>
              <a:t> 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2133295" y="4815840"/>
            <a:ext cx="8595360" cy="490728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31750">
            <a:solidFill>
              <a:srgbClr val="4A90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l">
              <a:spcAft>
                <a:spcPts val="200"/>
              </a:spcAft>
            </a:pPr>
            <a:r>
              <a:rPr sz="1900" b="1">
                <a:solidFill>
                  <a:srgbClr val="1F2A44"/>
                </a:solidFill>
                <a:latin typeface="Arial"/>
                <a:ea typeface="Microsoft YaHei"/>
              </a:rPr>
              <a:t>Wow, that sounds great. Which did you like better?</a:t>
            </a:r>
          </a:p>
        </p:txBody>
      </p:sp>
    </p:spTree>
  </p:cSld>
  <p:clrMapOvr>
    <a:masterClrMapping/>
  </p:clrMapOvr>
  <p:transition spd="med">
    <p:fade/>
  </p:transition>
</p:sld>
</file>

<file path=ppt/slides/slide1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9B6B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8442656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2500" b="1">
                <a:solidFill>
                  <a:srgbClr val="1F2A44"/>
                </a:solidFill>
                <a:latin typeface="Arial"/>
                <a:ea typeface="Microsoft YaHei"/>
              </a:rPr>
              <a:t>🎭 Model Dialogue · Waiting for the host (cont.)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74175" y="438912"/>
            <a:ext cx="2560320" cy="475488"/>
          </a:xfrm>
          <a:prstGeom prst="roundRect">
            <a:avLst>
              <a:gd name="adj" fmla="val 50000"/>
            </a:avLst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3152" rIns="73152"/>
          <a:lstStyle/>
          <a:p>
            <a:pPr algn="ctr">
              <a:spcAft>
                <a:spcPts val="200"/>
              </a:spcAft>
            </a:pPr>
            <a:r>
              <a:rPr sz="1300" b="1">
                <a:solidFill>
                  <a:srgbClr val="FFFFFF"/>
                </a:solidFill>
                <a:latin typeface="Arial"/>
                <a:ea typeface="Microsoft YaHei"/>
              </a:rPr>
              <a:t>Part 2/2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19088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100" b="0">
                <a:solidFill>
                  <a:srgbClr val="5F677A"/>
                </a:solidFill>
                <a:latin typeface="Arial"/>
                <a:ea typeface="Microsoft YaHei"/>
              </a:rPr>
              <a:t>Business English · Level 4 · Unit 3 · Lesson 10 Small talk with visitors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28655" y="6419088"/>
            <a:ext cx="914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  <a:spcAft>
                <a:spcPts val="800"/>
              </a:spcAft>
            </a:pPr>
            <a:r>
              <a:rPr sz="1100" b="0">
                <a:solidFill>
                  <a:srgbClr val="5F677A"/>
                </a:solidFill>
                <a:latin typeface="Arial"/>
                <a:ea typeface="Microsoft YaHei"/>
              </a:rPr>
              <a:t>129</a:t>
            </a:r>
          </a:p>
        </p:txBody>
      </p:sp>
      <p:sp>
        <p:nvSpPr>
          <p:cNvPr id="7" name="Rounded Rectangle 6">
            <a:hlinkClick action="ppaction://hlinksldjump" r:id="rId2"/>
          </p:cNvPr>
          <p:cNvSpPr/>
          <p:nvPr/>
        </p:nvSpPr>
        <p:spPr>
          <a:xfrm>
            <a:off x="9677095" y="6382512"/>
            <a:ext cx="960120" cy="329184"/>
          </a:xfrm>
          <a:prstGeom prst="roundRect">
            <a:avLst>
              <a:gd name="adj" fmla="val 50000"/>
            </a:avLst>
          </a:prstGeom>
          <a:solidFill>
            <a:srgbClr val="FFE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Aft>
                <a:spcPts val="200"/>
              </a:spcAft>
            </a:pPr>
            <a:r>
              <a:rPr sz="1100" b="1">
                <a:solidFill>
                  <a:srgbClr val="1F2A44"/>
                </a:solidFill>
                <a:latin typeface="Arial"/>
                <a:ea typeface="Microsoft YaHei"/>
              </a:rPr>
              <a:t>🗺 Map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325880"/>
            <a:ext cx="731520" cy="457200"/>
          </a:xfrm>
          <a:prstGeom prst="roundRect">
            <a:avLst>
              <a:gd name="adj" fmla="val 50000"/>
            </a:avLst>
          </a:prstGeom>
          <a:solidFill>
            <a:srgbClr val="FF6B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Arial"/>
                <a:ea typeface="Microsoft YaHei"/>
              </a:rPr>
              <a:t>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1764792"/>
            <a:ext cx="1280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800"/>
              </a:spcAft>
            </a:pPr>
            <a:r>
              <a:rPr sz="1000" b="0">
                <a:solidFill>
                  <a:srgbClr val="5F677A"/>
                </a:solidFill>
                <a:latin typeface="Arial"/>
                <a:ea typeface="Microsoft YaHei"/>
              </a:rPr>
              <a:t> 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463040" y="1325880"/>
            <a:ext cx="8595360" cy="490728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31750">
            <a:solidFill>
              <a:srgbClr val="FF6B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l">
              <a:spcAft>
                <a:spcPts val="200"/>
              </a:spcAft>
            </a:pPr>
            <a:r>
              <a:rPr sz="1900" b="1">
                <a:solidFill>
                  <a:srgbClr val="1F2A44"/>
                </a:solidFill>
                <a:latin typeface="Arial"/>
                <a:ea typeface="Microsoft YaHei"/>
              </a:rPr>
              <a:t>Milan, I think. The food was fantastic. Have you been to Italy?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911535" y="1908048"/>
            <a:ext cx="731520" cy="457200"/>
          </a:xfrm>
          <a:prstGeom prst="roundRect">
            <a:avLst>
              <a:gd name="adj" fmla="val 50000"/>
            </a:avLst>
          </a:prstGeom>
          <a:solidFill>
            <a:srgbClr val="4A90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Arial"/>
                <a:ea typeface="Microsoft YaHei"/>
              </a:rPr>
              <a:t>B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37215" y="2346960"/>
            <a:ext cx="1280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800"/>
              </a:spcAft>
            </a:pPr>
            <a:r>
              <a:rPr sz="1000" b="0">
                <a:solidFill>
                  <a:srgbClr val="5F677A"/>
                </a:solidFill>
                <a:latin typeface="Arial"/>
                <a:ea typeface="Microsoft YaHei"/>
              </a:rPr>
              <a:t> 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133295" y="1908048"/>
            <a:ext cx="8595360" cy="780288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31750">
            <a:solidFill>
              <a:srgbClr val="4A90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l">
              <a:spcAft>
                <a:spcPts val="200"/>
              </a:spcAft>
            </a:pPr>
            <a:r>
              <a:rPr sz="1900" b="1">
                <a:solidFill>
                  <a:srgbClr val="1F2A44"/>
                </a:solidFill>
                <a:latin typeface="Arial"/>
                <a:ea typeface="Microsoft YaHei"/>
              </a:rPr>
              <a:t>I went once, years ago. I loved it. Speaking of food, I’d love to try some Chinese food while I’m here.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2779776"/>
            <a:ext cx="731520" cy="457200"/>
          </a:xfrm>
          <a:prstGeom prst="roundRect">
            <a:avLst>
              <a:gd name="adj" fmla="val 50000"/>
            </a:avLst>
          </a:prstGeom>
          <a:solidFill>
            <a:srgbClr val="FF6B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Arial"/>
                <a:ea typeface="Microsoft YaHei"/>
              </a:rPr>
              <a:t>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4320" y="3218688"/>
            <a:ext cx="1280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800"/>
              </a:spcAft>
            </a:pPr>
            <a:r>
              <a:rPr sz="1000" b="0">
                <a:solidFill>
                  <a:srgbClr val="5F677A"/>
                </a:solidFill>
                <a:latin typeface="Arial"/>
                <a:ea typeface="Microsoft YaHei"/>
              </a:rPr>
              <a:t> 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463040" y="2779776"/>
            <a:ext cx="8595360" cy="490728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31750">
            <a:solidFill>
              <a:srgbClr val="FF6B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l">
              <a:spcAft>
                <a:spcPts val="200"/>
              </a:spcAft>
            </a:pPr>
            <a:r>
              <a:rPr sz="1900" b="1">
                <a:solidFill>
                  <a:srgbClr val="1F2A44"/>
                </a:solidFill>
                <a:latin typeface="Arial"/>
                <a:ea typeface="Microsoft YaHei"/>
              </a:rPr>
              <a:t>You must try hotpot. Are you OK with spicy food?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911535" y="3361944"/>
            <a:ext cx="731520" cy="457200"/>
          </a:xfrm>
          <a:prstGeom prst="roundRect">
            <a:avLst>
              <a:gd name="adj" fmla="val 50000"/>
            </a:avLst>
          </a:prstGeom>
          <a:solidFill>
            <a:srgbClr val="4A90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Arial"/>
                <a:ea typeface="Microsoft YaHei"/>
              </a:rPr>
              <a:t>B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637215" y="3800856"/>
            <a:ext cx="1280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800"/>
              </a:spcAft>
            </a:pPr>
            <a:r>
              <a:rPr sz="1000" b="0">
                <a:solidFill>
                  <a:srgbClr val="5F677A"/>
                </a:solidFill>
                <a:latin typeface="Arial"/>
                <a:ea typeface="Microsoft YaHei"/>
              </a:rPr>
              <a:t> 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133295" y="3361944"/>
            <a:ext cx="8595360" cy="490728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31750">
            <a:solidFill>
              <a:srgbClr val="4A90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l">
              <a:spcAft>
                <a:spcPts val="200"/>
              </a:spcAft>
            </a:pPr>
            <a:r>
              <a:rPr sz="1900" b="1">
                <a:solidFill>
                  <a:srgbClr val="1F2A44"/>
                </a:solidFill>
                <a:latin typeface="Arial"/>
                <a:ea typeface="Microsoft YaHei"/>
              </a:rPr>
              <a:t>Absolutely. The spicier, the better!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3944112"/>
            <a:ext cx="731520" cy="457200"/>
          </a:xfrm>
          <a:prstGeom prst="roundRect">
            <a:avLst>
              <a:gd name="adj" fmla="val 50000"/>
            </a:avLst>
          </a:prstGeom>
          <a:solidFill>
            <a:srgbClr val="FF6B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Arial"/>
                <a:ea typeface="Microsoft YaHei"/>
              </a:rPr>
              <a:t>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74320" y="4383024"/>
            <a:ext cx="1280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800"/>
              </a:spcAft>
            </a:pPr>
            <a:r>
              <a:rPr sz="1000" b="0">
                <a:solidFill>
                  <a:srgbClr val="5F677A"/>
                </a:solidFill>
                <a:latin typeface="Arial"/>
                <a:ea typeface="Microsoft YaHei"/>
              </a:rPr>
              <a:t> 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463040" y="3944112"/>
            <a:ext cx="8595360" cy="780288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31750">
            <a:solidFill>
              <a:srgbClr val="FF6B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l">
              <a:spcAft>
                <a:spcPts val="200"/>
              </a:spcAft>
            </a:pPr>
            <a:r>
              <a:rPr sz="1900" b="1">
                <a:solidFill>
                  <a:srgbClr val="1F2A44"/>
                </a:solidFill>
                <a:latin typeface="Arial"/>
                <a:ea typeface="Microsoft YaHei"/>
              </a:rPr>
              <a:t>Then I’ll make sure we find a good place. Oh, here comes Mr Lee. It’s been nice chatting, Tom.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0911535" y="4815840"/>
            <a:ext cx="731520" cy="457200"/>
          </a:xfrm>
          <a:prstGeom prst="roundRect">
            <a:avLst>
              <a:gd name="adj" fmla="val 50000"/>
            </a:avLst>
          </a:prstGeom>
          <a:solidFill>
            <a:srgbClr val="4A90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Arial"/>
                <a:ea typeface="Microsoft YaHei"/>
              </a:rPr>
              <a:t>B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637215" y="5254752"/>
            <a:ext cx="1280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800"/>
              </a:spcAft>
            </a:pPr>
            <a:r>
              <a:rPr sz="1000" b="0">
                <a:solidFill>
                  <a:srgbClr val="5F677A"/>
                </a:solidFill>
                <a:latin typeface="Arial"/>
                <a:ea typeface="Microsoft YaHei"/>
              </a:rPr>
              <a:t> 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2133295" y="4815840"/>
            <a:ext cx="8595360" cy="490728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31750">
            <a:solidFill>
              <a:srgbClr val="4A90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l">
              <a:spcAft>
                <a:spcPts val="200"/>
              </a:spcAft>
            </a:pPr>
            <a:r>
              <a:rPr sz="1900" b="1">
                <a:solidFill>
                  <a:srgbClr val="1F2A44"/>
                </a:solidFill>
                <a:latin typeface="Arial"/>
                <a:ea typeface="Microsoft YaHei"/>
              </a:rPr>
              <a:t>You too, Lily. Thanks for keeping me company.</a:t>
            </a:r>
          </a:p>
        </p:txBody>
      </p:sp>
    </p:spTree>
  </p:cSld>
  <p:clrMapOvr>
    <a:masterClrMapping/>
  </p:clrMapOvr>
  <p:transition spd="med">
    <p:fade/>
  </p:transition>
</p:sld>
</file>

<file path=ppt/slides/slide1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FC8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8442656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3200" b="1">
                <a:solidFill>
                  <a:srgbClr val="1F2A44"/>
                </a:solidFill>
                <a:latin typeface="Arial"/>
                <a:ea typeface="Microsoft YaHei"/>
              </a:rPr>
              <a:t>🎯 Your Turn · Waiting for the host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74175" y="438912"/>
            <a:ext cx="2560320" cy="475488"/>
          </a:xfrm>
          <a:prstGeom prst="roundRect">
            <a:avLst>
              <a:gd name="adj" fmla="val 50000"/>
            </a:avLst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3152" rIns="73152"/>
          <a:lstStyle/>
          <a:p>
            <a:pPr algn="ctr">
              <a:spcAft>
                <a:spcPts val="200"/>
              </a:spcAft>
            </a:pPr>
            <a:r>
              <a:rPr sz="1300" b="1">
                <a:solidFill>
                  <a:srgbClr val="FFFFFF"/>
                </a:solidFill>
                <a:latin typeface="Arial"/>
                <a:ea typeface="Microsoft YaHei"/>
              </a:rPr>
              <a:t>03 Role play 角色扮演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19088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100" b="0">
                <a:solidFill>
                  <a:srgbClr val="5F677A"/>
                </a:solidFill>
                <a:latin typeface="Arial"/>
                <a:ea typeface="Microsoft YaHei"/>
              </a:rPr>
              <a:t>Business English · Level 4 · Unit 3 · Lesson 10 Small talk with visitors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28655" y="6419088"/>
            <a:ext cx="914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  <a:spcAft>
                <a:spcPts val="800"/>
              </a:spcAft>
            </a:pPr>
            <a:r>
              <a:rPr sz="1100" b="0">
                <a:solidFill>
                  <a:srgbClr val="5F677A"/>
                </a:solidFill>
                <a:latin typeface="Arial"/>
                <a:ea typeface="Microsoft YaHei"/>
              </a:rPr>
              <a:t>130</a:t>
            </a:r>
          </a:p>
        </p:txBody>
      </p:sp>
      <p:sp>
        <p:nvSpPr>
          <p:cNvPr id="7" name="Rounded Rectangle 6">
            <a:hlinkClick action="ppaction://hlinksldjump" r:id="rId2"/>
          </p:cNvPr>
          <p:cNvSpPr/>
          <p:nvPr/>
        </p:nvSpPr>
        <p:spPr>
          <a:xfrm>
            <a:off x="9677095" y="6382512"/>
            <a:ext cx="960120" cy="329184"/>
          </a:xfrm>
          <a:prstGeom prst="roundRect">
            <a:avLst>
              <a:gd name="adj" fmla="val 50000"/>
            </a:avLst>
          </a:prstGeom>
          <a:solidFill>
            <a:srgbClr val="FFE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Aft>
                <a:spcPts val="200"/>
              </a:spcAft>
            </a:pPr>
            <a:r>
              <a:rPr sz="1100" b="1">
                <a:solidFill>
                  <a:srgbClr val="1F2A44"/>
                </a:solidFill>
                <a:latin typeface="Arial"/>
                <a:ea typeface="Microsoft YaHei"/>
              </a:rPr>
              <a:t>🗺 Map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325880"/>
            <a:ext cx="2377440" cy="408432"/>
          </a:xfrm>
          <a:prstGeom prst="roundRect">
            <a:avLst>
              <a:gd name="adj" fmla="val 15000"/>
            </a:avLst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Arial"/>
                <a:ea typeface="Microsoft YaHei"/>
              </a:rPr>
              <a:t>Situation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017520" y="1325880"/>
            <a:ext cx="8625535" cy="408432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1F2A44"/>
                </a:solidFill>
                <a:latin typeface="Arial"/>
                <a:ea typeface="Microsoft YaHei"/>
              </a:rPr>
              <a:t>A visitor waits for the host and you keep them company.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1807464"/>
            <a:ext cx="2377440" cy="408432"/>
          </a:xfrm>
          <a:prstGeom prst="roundRect">
            <a:avLst>
              <a:gd name="adj" fmla="val 15000"/>
            </a:avLst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Arial"/>
                <a:ea typeface="Microsoft YaHei"/>
              </a:rPr>
              <a:t>Your role (A)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017520" y="1807464"/>
            <a:ext cx="8625535" cy="408432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1F2A44"/>
                </a:solidFill>
                <a:latin typeface="Arial"/>
                <a:ea typeface="Microsoft YaHei"/>
              </a:rPr>
              <a:t>Colleague. Your name and favourite food: ______________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2289048"/>
            <a:ext cx="2377440" cy="408432"/>
          </a:xfrm>
          <a:prstGeom prst="roundRect">
            <a:avLst>
              <a:gd name="adj" fmla="val 15000"/>
            </a:avLst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Arial"/>
                <a:ea typeface="Microsoft YaHei"/>
              </a:rPr>
              <a:t>Partner’s role (B)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017520" y="2289048"/>
            <a:ext cx="8625535" cy="408432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1F2A44"/>
                </a:solidFill>
                <a:latin typeface="Arial"/>
                <a:ea typeface="Microsoft YaHei"/>
              </a:rPr>
              <a:t>Visitor. Friendly, but a little tired.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2770632"/>
            <a:ext cx="2377440" cy="652272"/>
          </a:xfrm>
          <a:prstGeom prst="roundRect">
            <a:avLst>
              <a:gd name="adj" fmla="val 15000"/>
            </a:avLst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Arial"/>
                <a:ea typeface="Microsoft YaHei"/>
              </a:rPr>
              <a:t>Must use (4 or more)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017520" y="2770632"/>
            <a:ext cx="8625535" cy="652272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1F2A44"/>
                </a:solidFill>
                <a:latin typeface="Arial"/>
                <a:ea typeface="Microsoft YaHei"/>
              </a:rPr>
              <a:t>Do you travel much…? · That sounds great. · Me too. / So do I. · Speaking of… · It’s been nice chatting.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3496056"/>
            <a:ext cx="2377440" cy="408432"/>
          </a:xfrm>
          <a:prstGeom prst="roundRect">
            <a:avLst>
              <a:gd name="adj" fmla="val 15000"/>
            </a:avLst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Arial"/>
                <a:ea typeface="Microsoft YaHei"/>
              </a:rPr>
              <a:t>Goal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017520" y="3496056"/>
            <a:ext cx="8625535" cy="408432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1F2A44"/>
                </a:solidFill>
                <a:latin typeface="Arial"/>
                <a:ea typeface="Microsoft YaHei"/>
              </a:rPr>
              <a:t>Keep a conversation going for 2 minutes without silence.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3977640"/>
            <a:ext cx="2377440" cy="408432"/>
          </a:xfrm>
          <a:prstGeom prst="roundRect">
            <a:avLst>
              <a:gd name="adj" fmla="val 15000"/>
            </a:avLst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Arial"/>
                <a:ea typeface="Microsoft YaHei"/>
              </a:rPr>
              <a:t>My notes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017520" y="3977640"/>
            <a:ext cx="8625535" cy="408432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1F2A44"/>
                </a:solidFill>
                <a:latin typeface="Arial"/>
                <a:ea typeface="Microsoft YaHei"/>
              </a:rPr>
              <a:t>____________________________________________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4550664"/>
            <a:ext cx="11094415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500" b="1">
                <a:solidFill>
                  <a:srgbClr val="FF6B5B"/>
                </a:solidFill>
                <a:latin typeface="Arial"/>
                <a:ea typeface="Microsoft YaHei"/>
              </a:rPr>
              <a:t>🔥 Level-up challenges 进阶挑战 (click)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8640" y="4934712"/>
            <a:ext cx="3576218" cy="1283208"/>
          </a:xfrm>
          <a:prstGeom prst="roundRect">
            <a:avLst>
              <a:gd name="adj" fmla="val 12000"/>
            </a:avLst>
          </a:prstGeom>
          <a:solidFill>
            <a:srgbClr val="4A90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Arial"/>
                <a:ea typeface="Microsoft YaHei"/>
              </a:rPr>
              <a:t>Your visitor mentions a sensitive topic (politics). Change the topic politely: “Anyway, have you seen much of the city?”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307738" y="4934712"/>
            <a:ext cx="3576218" cy="1283208"/>
          </a:xfrm>
          <a:prstGeom prst="roundRect">
            <a:avLst>
              <a:gd name="adj" fmla="val 12000"/>
            </a:avLst>
          </a:prstGeom>
          <a:solidFill>
            <a:srgbClr val="3CC4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Arial"/>
                <a:ea typeface="Microsoft YaHei"/>
              </a:rPr>
              <a:t>You run out of ideas. Use a fallback question: “What do you usually do on weekends?”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066836" y="4934712"/>
            <a:ext cx="3576218" cy="1283208"/>
          </a:xfrm>
          <a:prstGeom prst="roundRect">
            <a:avLst>
              <a:gd name="adj" fmla="val 12000"/>
            </a:avLst>
          </a:prstGeom>
          <a:solidFill>
            <a:srgbClr val="FFC8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Arial"/>
                <a:ea typeface="Microsoft YaHei"/>
              </a:rPr>
              <a:t>End the chat politely: “I’ll let you get on. It was lovely to meet you.”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" fill="hold">
                      <p:stCondLst>
                        <p:cond delay="indefinite"/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4A90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8442656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3200" b="1">
                <a:solidFill>
                  <a:srgbClr val="1F2A44"/>
                </a:solidFill>
                <a:latin typeface="Arial"/>
                <a:ea typeface="Microsoft YaHei"/>
              </a:rPr>
              <a:t>💬 Discussion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74175" y="438912"/>
            <a:ext cx="2560320" cy="475488"/>
          </a:xfrm>
          <a:prstGeom prst="roundRect">
            <a:avLst>
              <a:gd name="adj" fmla="val 50000"/>
            </a:avLst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3152" rIns="73152"/>
          <a:lstStyle/>
          <a:p>
            <a:pPr algn="ctr">
              <a:spcAft>
                <a:spcPts val="200"/>
              </a:spcAft>
            </a:pPr>
            <a:r>
              <a:rPr sz="1300" b="1">
                <a:solidFill>
                  <a:srgbClr val="FFFFFF"/>
                </a:solidFill>
                <a:latin typeface="Arial"/>
                <a:ea typeface="Microsoft YaHei"/>
              </a:rPr>
              <a:t>04 Discussion 讨论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19088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100" b="0">
                <a:solidFill>
                  <a:srgbClr val="5F677A"/>
                </a:solidFill>
                <a:latin typeface="Arial"/>
                <a:ea typeface="Microsoft YaHei"/>
              </a:rPr>
              <a:t>Business English · Level 4 · Unit 3 · Lesson 10 Small talk with visitors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28655" y="6419088"/>
            <a:ext cx="914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  <a:spcAft>
                <a:spcPts val="800"/>
              </a:spcAft>
            </a:pPr>
            <a:r>
              <a:rPr sz="1100" b="0">
                <a:solidFill>
                  <a:srgbClr val="5F677A"/>
                </a:solidFill>
                <a:latin typeface="Arial"/>
                <a:ea typeface="Microsoft YaHei"/>
              </a:rPr>
              <a:t>131</a:t>
            </a:r>
          </a:p>
        </p:txBody>
      </p:sp>
      <p:sp>
        <p:nvSpPr>
          <p:cNvPr id="7" name="Rounded Rectangle 6">
            <a:hlinkClick action="ppaction://hlinksldjump" r:id="rId2"/>
          </p:cNvPr>
          <p:cNvSpPr/>
          <p:nvPr/>
        </p:nvSpPr>
        <p:spPr>
          <a:xfrm>
            <a:off x="9677095" y="6382512"/>
            <a:ext cx="960120" cy="329184"/>
          </a:xfrm>
          <a:prstGeom prst="roundRect">
            <a:avLst>
              <a:gd name="adj" fmla="val 50000"/>
            </a:avLst>
          </a:prstGeom>
          <a:solidFill>
            <a:srgbClr val="FFE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Aft>
                <a:spcPts val="200"/>
              </a:spcAft>
            </a:pPr>
            <a:r>
              <a:rPr sz="1100" b="1">
                <a:solidFill>
                  <a:srgbClr val="1F2A44"/>
                </a:solidFill>
                <a:latin typeface="Arial"/>
                <a:ea typeface="Microsoft YaHei"/>
              </a:rPr>
              <a:t>🗺 Map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024128"/>
            <a:ext cx="11094415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500" b="0">
                <a:solidFill>
                  <a:srgbClr val="5F677A"/>
                </a:solidFill>
                <a:latin typeface="Arial"/>
                <a:ea typeface="Microsoft YaHei"/>
              </a:rPr>
              <a:t>Prepare 2–3 sentences. Use the starters!  每题准备 2–3 句话，用上句型</a:t>
            </a:r>
          </a:p>
        </p:txBody>
      </p:sp>
      <p:sp>
        <p:nvSpPr>
          <p:cNvPr id="9" name="Oval 8"/>
          <p:cNvSpPr/>
          <p:nvPr/>
        </p:nvSpPr>
        <p:spPr>
          <a:xfrm>
            <a:off x="548640" y="1554480"/>
            <a:ext cx="548640" cy="548640"/>
          </a:xfrm>
          <a:prstGeom prst="ellipse">
            <a:avLst/>
          </a:prstGeom>
          <a:solidFill>
            <a:srgbClr val="FF6B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FFFFFF"/>
                </a:solidFill>
                <a:latin typeface="Arial"/>
                <a:ea typeface="Microsoft YaHei"/>
              </a:rPr>
              <a:t>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234440" y="1508760"/>
            <a:ext cx="10408615" cy="6858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325880" y="1554480"/>
            <a:ext cx="10271455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900" b="1">
                <a:solidFill>
                  <a:srgbClr val="1F2A44"/>
                </a:solidFill>
                <a:latin typeface="Arial"/>
                <a:ea typeface="Microsoft YaHei"/>
              </a:rPr>
              <a:t>What are good small-talk topics with visitors? What should you avoid?</a:t>
            </a:r>
          </a:p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400" b="0">
                <a:solidFill>
                  <a:srgbClr val="5F677A"/>
                </a:solidFill>
                <a:latin typeface="Arial"/>
                <a:ea typeface="Microsoft YaHei"/>
              </a:rPr>
              <a:t>💬 “Safe topics are… I try to avoid…” / “I wouldn’t ask about… because it’s too personal.”</a:t>
            </a:r>
          </a:p>
        </p:txBody>
      </p:sp>
      <p:sp>
        <p:nvSpPr>
          <p:cNvPr id="12" name="Oval 11"/>
          <p:cNvSpPr/>
          <p:nvPr/>
        </p:nvSpPr>
        <p:spPr>
          <a:xfrm>
            <a:off x="548640" y="2331720"/>
            <a:ext cx="548640" cy="548640"/>
          </a:xfrm>
          <a:prstGeom prst="ellipse">
            <a:avLst/>
          </a:prstGeom>
          <a:solidFill>
            <a:srgbClr val="4A90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FFFFFF"/>
                </a:solidFill>
                <a:latin typeface="Arial"/>
                <a:ea typeface="Microsoft YaHei"/>
              </a:rPr>
              <a:t>2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234440" y="2286000"/>
            <a:ext cx="10408615" cy="9753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25880" y="2331720"/>
            <a:ext cx="10271455" cy="929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900" b="1">
                <a:solidFill>
                  <a:srgbClr val="1F2A44"/>
                </a:solidFill>
                <a:latin typeface="Arial"/>
                <a:ea typeface="Microsoft YaHei"/>
              </a:rPr>
              <a:t>How do you keep a conversation going when the other person gives short answers?</a:t>
            </a:r>
          </a:p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400" b="0">
                <a:solidFill>
                  <a:srgbClr val="5F677A"/>
                </a:solidFill>
                <a:latin typeface="Arial"/>
                <a:ea typeface="Microsoft YaHei"/>
              </a:rPr>
              <a:t>💬 “I ask open questions such as…” / “I share a little about myself.”</a:t>
            </a:r>
          </a:p>
        </p:txBody>
      </p:sp>
      <p:sp>
        <p:nvSpPr>
          <p:cNvPr id="15" name="Oval 14"/>
          <p:cNvSpPr/>
          <p:nvPr/>
        </p:nvSpPr>
        <p:spPr>
          <a:xfrm>
            <a:off x="548640" y="3398520"/>
            <a:ext cx="548640" cy="548640"/>
          </a:xfrm>
          <a:prstGeom prst="ellipse">
            <a:avLst/>
          </a:prstGeom>
          <a:solidFill>
            <a:srgbClr val="3CC4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FFFFFF"/>
                </a:solidFill>
                <a:latin typeface="Arial"/>
                <a:ea typeface="Microsoft YaHei"/>
              </a:rPr>
              <a:t>3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234440" y="3352800"/>
            <a:ext cx="10408615" cy="6858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325880" y="3398520"/>
            <a:ext cx="10271455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900" b="1">
                <a:solidFill>
                  <a:srgbClr val="1F2A44"/>
                </a:solidFill>
                <a:latin typeface="Arial"/>
                <a:ea typeface="Microsoft YaHei"/>
              </a:rPr>
              <a:t>Is small talk important in business? Why or why not?</a:t>
            </a:r>
          </a:p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400" b="0">
                <a:solidFill>
                  <a:srgbClr val="5F677A"/>
                </a:solidFill>
                <a:latin typeface="Arial"/>
                <a:ea typeface="Microsoft YaHei"/>
              </a:rPr>
              <a:t>💬 “I think small talk is important because…” / “It builds trust by…”</a:t>
            </a:r>
          </a:p>
        </p:txBody>
      </p:sp>
      <p:sp>
        <p:nvSpPr>
          <p:cNvPr id="18" name="Oval 17"/>
          <p:cNvSpPr/>
          <p:nvPr/>
        </p:nvSpPr>
        <p:spPr>
          <a:xfrm>
            <a:off x="548640" y="4175760"/>
            <a:ext cx="548640" cy="548640"/>
          </a:xfrm>
          <a:prstGeom prst="ellipse">
            <a:avLst/>
          </a:prstGeom>
          <a:solidFill>
            <a:srgbClr val="FFC8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FFFFFF"/>
                </a:solidFill>
                <a:latin typeface="Arial"/>
                <a:ea typeface="Microsoft YaHei"/>
              </a:rPr>
              <a:t>4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234440" y="4130040"/>
            <a:ext cx="10408615" cy="6858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325880" y="4175760"/>
            <a:ext cx="10271455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900" b="1">
                <a:solidFill>
                  <a:srgbClr val="1F2A44"/>
                </a:solidFill>
                <a:latin typeface="Arial"/>
                <a:ea typeface="Microsoft YaHei"/>
              </a:rPr>
              <a:t>How do you end small talk politely?</a:t>
            </a:r>
          </a:p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400" b="0">
                <a:solidFill>
                  <a:srgbClr val="5F677A"/>
                </a:solidFill>
                <a:latin typeface="Arial"/>
                <a:ea typeface="Microsoft YaHei"/>
              </a:rPr>
              <a:t>💬 “I usually say…” / “A smooth way to change topic is…”</a:t>
            </a:r>
          </a:p>
        </p:txBody>
      </p:sp>
      <p:sp>
        <p:nvSpPr>
          <p:cNvPr id="21" name="Oval 20"/>
          <p:cNvSpPr/>
          <p:nvPr/>
        </p:nvSpPr>
        <p:spPr>
          <a:xfrm>
            <a:off x="548640" y="4953000"/>
            <a:ext cx="548640" cy="548640"/>
          </a:xfrm>
          <a:prstGeom prst="ellipse">
            <a:avLst/>
          </a:prstGeom>
          <a:solidFill>
            <a:srgbClr val="9B6B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FFFFFF"/>
                </a:solidFill>
                <a:latin typeface="Arial"/>
                <a:ea typeface="Microsoft YaHei"/>
              </a:rPr>
              <a:t>5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234440" y="4907280"/>
            <a:ext cx="10408615" cy="6858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325880" y="4953000"/>
            <a:ext cx="10271455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900" b="1">
                <a:solidFill>
                  <a:srgbClr val="1F2A44"/>
                </a:solidFill>
                <a:latin typeface="Arial"/>
                <a:ea typeface="Microsoft YaHei"/>
              </a:rPr>
              <a:t>Is small talk different in your country and in English-speaking countries?</a:t>
            </a:r>
          </a:p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400" b="0">
                <a:solidFill>
                  <a:srgbClr val="5F677A"/>
                </a:solidFill>
                <a:latin typeface="Arial"/>
                <a:ea typeface="Microsoft YaHei"/>
              </a:rPr>
              <a:t>💬 “In my country, people usually…” / “In English-speaking countries, it is common to…”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4A90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8442656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3200" b="1">
                <a:solidFill>
                  <a:srgbClr val="1F2A44"/>
                </a:solidFill>
                <a:latin typeface="Arial"/>
                <a:ea typeface="Microsoft YaHei"/>
              </a:rPr>
              <a:t>🌟 Model Answer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74175" y="438912"/>
            <a:ext cx="2560320" cy="475488"/>
          </a:xfrm>
          <a:prstGeom prst="roundRect">
            <a:avLst>
              <a:gd name="adj" fmla="val 50000"/>
            </a:avLst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3152" rIns="73152"/>
          <a:lstStyle/>
          <a:p>
            <a:pPr algn="ctr">
              <a:spcAft>
                <a:spcPts val="200"/>
              </a:spcAft>
            </a:pPr>
            <a:r>
              <a:rPr sz="1300" b="1">
                <a:solidFill>
                  <a:srgbClr val="FFFFFF"/>
                </a:solidFill>
                <a:latin typeface="Arial"/>
                <a:ea typeface="Microsoft YaHei"/>
              </a:rPr>
              <a:t>04 Discussion 讨论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19088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100" b="0">
                <a:solidFill>
                  <a:srgbClr val="5F677A"/>
                </a:solidFill>
                <a:latin typeface="Arial"/>
                <a:ea typeface="Microsoft YaHei"/>
              </a:rPr>
              <a:t>Business English · Level 4 · Unit 3 · Lesson 10 Small talk with visitors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28655" y="6419088"/>
            <a:ext cx="914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  <a:spcAft>
                <a:spcPts val="800"/>
              </a:spcAft>
            </a:pPr>
            <a:r>
              <a:rPr sz="1100" b="0">
                <a:solidFill>
                  <a:srgbClr val="5F677A"/>
                </a:solidFill>
                <a:latin typeface="Arial"/>
                <a:ea typeface="Microsoft YaHei"/>
              </a:rPr>
              <a:t>132</a:t>
            </a:r>
          </a:p>
        </p:txBody>
      </p:sp>
      <p:sp>
        <p:nvSpPr>
          <p:cNvPr id="7" name="Rounded Rectangle 6">
            <a:hlinkClick action="ppaction://hlinksldjump" r:id="rId2"/>
          </p:cNvPr>
          <p:cNvSpPr/>
          <p:nvPr/>
        </p:nvSpPr>
        <p:spPr>
          <a:xfrm>
            <a:off x="9677095" y="6382512"/>
            <a:ext cx="960120" cy="329184"/>
          </a:xfrm>
          <a:prstGeom prst="roundRect">
            <a:avLst>
              <a:gd name="adj" fmla="val 50000"/>
            </a:avLst>
          </a:prstGeom>
          <a:solidFill>
            <a:srgbClr val="FFE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Aft>
                <a:spcPts val="200"/>
              </a:spcAft>
            </a:pPr>
            <a:r>
              <a:rPr sz="1100" b="1">
                <a:solidFill>
                  <a:srgbClr val="1F2A44"/>
                </a:solidFill>
                <a:latin typeface="Arial"/>
                <a:ea typeface="Microsoft YaHei"/>
              </a:rPr>
              <a:t>🗺 Map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005840"/>
            <a:ext cx="11094415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500" b="0">
                <a:solidFill>
                  <a:srgbClr val="5F677A"/>
                </a:solidFill>
                <a:latin typeface="Arial"/>
                <a:ea typeface="Microsoft YaHei"/>
              </a:rPr>
              <a:t>Model answer (Question 1)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463040"/>
            <a:ext cx="11094415" cy="40690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1371600"/>
            <a:ext cx="9144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5400" b="0">
                <a:solidFill>
                  <a:srgbClr val="4A90E2"/>
                </a:solidFill>
                <a:latin typeface="Arial"/>
                <a:ea typeface="Microsoft YaHei"/>
              </a:rPr>
              <a:t>❝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0" y="1600200"/>
            <a:ext cx="9814255" cy="3794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2600" b="0">
                <a:solidFill>
                  <a:srgbClr val="1F2A44"/>
                </a:solidFill>
                <a:latin typeface="Arial"/>
                <a:ea typeface="Microsoft YaHei"/>
              </a:rPr>
              <a:t>Safe topics are travel, food, the weather, the city and sport. These topics are easy and rarely cause problems. I try to avoid asking about money, age, politics or religion, because they can feel too personal. If I’m not sure, I ask an open question, such as”What did you think of the city?” rather than “Do you like it?”, because the first question invites a longer answer.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5760720"/>
            <a:ext cx="11094415" cy="502920"/>
          </a:xfrm>
          <a:prstGeom prst="roundRect">
            <a:avLst>
              <a:gd name="adj" fmla="val 30000"/>
            </a:avLst>
          </a:prstGeom>
          <a:solidFill>
            <a:srgbClr val="FFE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1F2A44"/>
                </a:solidFill>
                <a:latin typeface="Arial"/>
                <a:ea typeface="Microsoft YaHei"/>
              </a:rPr>
              <a:t>💡 “rather than” 是 B2 常用对比结构,后面接同类结构。“invite a longer answer”(引出更长的回答)是地道搭配。注意 “avoid asking”(avoid + -ing)。</a:t>
            </a:r>
          </a:p>
        </p:txBody>
      </p:sp>
    </p:spTree>
  </p:cSld>
  <p:clrMapOvr>
    <a:masterClrMapping/>
  </p:clrMapOvr>
  <p:transition spd="med">
    <p:fade/>
  </p:transition>
</p:sld>
</file>

<file path=ppt/slides/slide1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3CC4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8442656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3200" b="1">
                <a:solidFill>
                  <a:srgbClr val="1F2A44"/>
                </a:solidFill>
                <a:latin typeface="Arial"/>
                <a:ea typeface="Microsoft YaHei"/>
              </a:rPr>
              <a:t>💡 Open vs closed questions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74175" y="438912"/>
            <a:ext cx="2560320" cy="475488"/>
          </a:xfrm>
          <a:prstGeom prst="roundRect">
            <a:avLst>
              <a:gd name="adj" fmla="val 50000"/>
            </a:avLst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3152" rIns="73152"/>
          <a:lstStyle/>
          <a:p>
            <a:pPr algn="ctr">
              <a:spcAft>
                <a:spcPts val="200"/>
              </a:spcAft>
            </a:pPr>
            <a:r>
              <a:rPr sz="1300" b="1">
                <a:solidFill>
                  <a:srgbClr val="FFFFFF"/>
                </a:solidFill>
                <a:latin typeface="Arial"/>
                <a:ea typeface="Microsoft YaHei"/>
              </a:rPr>
              <a:t>05 Language Tips 贴士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19088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100" b="0">
                <a:solidFill>
                  <a:srgbClr val="5F677A"/>
                </a:solidFill>
                <a:latin typeface="Arial"/>
                <a:ea typeface="Microsoft YaHei"/>
              </a:rPr>
              <a:t>Business English · Level 4 · Unit 3 · Lesson 10 Small talk with visitors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28655" y="6419088"/>
            <a:ext cx="914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  <a:spcAft>
                <a:spcPts val="800"/>
              </a:spcAft>
            </a:pPr>
            <a:r>
              <a:rPr sz="1100" b="0">
                <a:solidFill>
                  <a:srgbClr val="5F677A"/>
                </a:solidFill>
                <a:latin typeface="Arial"/>
                <a:ea typeface="Microsoft YaHei"/>
              </a:rPr>
              <a:t>133</a:t>
            </a:r>
          </a:p>
        </p:txBody>
      </p:sp>
      <p:sp>
        <p:nvSpPr>
          <p:cNvPr id="7" name="Rounded Rectangle 6">
            <a:hlinkClick action="ppaction://hlinksldjump" r:id="rId2"/>
          </p:cNvPr>
          <p:cNvSpPr/>
          <p:nvPr/>
        </p:nvSpPr>
        <p:spPr>
          <a:xfrm>
            <a:off x="9677095" y="6382512"/>
            <a:ext cx="960120" cy="329184"/>
          </a:xfrm>
          <a:prstGeom prst="roundRect">
            <a:avLst>
              <a:gd name="adj" fmla="val 50000"/>
            </a:avLst>
          </a:prstGeom>
          <a:solidFill>
            <a:srgbClr val="FFE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Aft>
                <a:spcPts val="200"/>
              </a:spcAft>
            </a:pPr>
            <a:r>
              <a:rPr sz="1100" b="1">
                <a:solidFill>
                  <a:srgbClr val="1F2A44"/>
                </a:solidFill>
                <a:latin typeface="Arial"/>
                <a:ea typeface="Microsoft YaHei"/>
              </a:rPr>
              <a:t>🗺 Map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960120"/>
            <a:ext cx="11094415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500" b="0">
                <a:solidFill>
                  <a:srgbClr val="5F677A"/>
                </a:solidFill>
                <a:latin typeface="Arial"/>
                <a:ea typeface="Microsoft YaHei"/>
              </a:rPr>
              <a:t>开放式与封闭式问题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48640" y="1417320"/>
          <a:ext cx="11094415" cy="2042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47207"/>
                <a:gridCol w="5547208"/>
              </a:tblGrid>
              <a:tr h="408432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Arial"/>
                          <a:ea typeface="Microsoft YaHei"/>
                        </a:rPr>
                        <a:t>Closed (short answer)</a:t>
                      </a:r>
                    </a:p>
                  </a:txBody>
                  <a:tcPr anchor="ctr">
                    <a:solidFill>
                      <a:srgbClr val="3CC49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Arial"/>
                          <a:ea typeface="Microsoft YaHei"/>
                        </a:rPr>
                        <a:t>Open (longer answer) ★</a:t>
                      </a:r>
                    </a:p>
                  </a:txBody>
                  <a:tcPr anchor="ctr">
                    <a:solidFill>
                      <a:srgbClr val="3CC49A"/>
                    </a:solidFill>
                  </a:tcPr>
                </a:tc>
              </a:tr>
              <a:tr h="408432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1F2A44"/>
                          </a:solidFill>
                          <a:latin typeface="Arial"/>
                          <a:ea typeface="Microsoft YaHei"/>
                        </a:rPr>
                        <a:t>Do you like Shanghai?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F2A44"/>
                          </a:solidFill>
                          <a:latin typeface="Arial"/>
                          <a:ea typeface="Microsoft YaHei"/>
                        </a:rPr>
                        <a:t>What do you like most about Shanghai?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08432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1F2A44"/>
                          </a:solidFill>
                          <a:latin typeface="Arial"/>
                          <a:ea typeface="Microsoft YaHei"/>
                        </a:rPr>
                        <a:t>Was your flight OK?</a:t>
                      </a:r>
                    </a:p>
                  </a:txBody>
                  <a:tcPr anchor="ctr">
                    <a:solidFill>
                      <a:srgbClr val="FFEFD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F2A44"/>
                          </a:solidFill>
                          <a:latin typeface="Arial"/>
                          <a:ea typeface="Microsoft YaHei"/>
                        </a:rPr>
                        <a:t>How was your flight?</a:t>
                      </a:r>
                    </a:p>
                  </a:txBody>
                  <a:tcPr anchor="ctr">
                    <a:solidFill>
                      <a:srgbClr val="FFEFD9"/>
                    </a:solidFill>
                  </a:tcPr>
                </a:tc>
              </a:tr>
              <a:tr h="408432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1F2A44"/>
                          </a:solidFill>
                          <a:latin typeface="Arial"/>
                          <a:ea typeface="Microsoft YaHei"/>
                        </a:rPr>
                        <a:t>Do you travel a lot?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F2A44"/>
                          </a:solidFill>
                          <a:latin typeface="Arial"/>
                          <a:ea typeface="Microsoft YaHei"/>
                        </a:rPr>
                        <a:t>How often do you travel for work?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08432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1F2A44"/>
                          </a:solidFill>
                          <a:latin typeface="Arial"/>
                          <a:ea typeface="Microsoft YaHei"/>
                        </a:rPr>
                        <a:t>Did you enjoy the food?</a:t>
                      </a:r>
                    </a:p>
                  </a:txBody>
                  <a:tcPr anchor="ctr">
                    <a:solidFill>
                      <a:srgbClr val="FFEFD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F2A44"/>
                          </a:solidFill>
                          <a:latin typeface="Arial"/>
                          <a:ea typeface="Microsoft YaHei"/>
                        </a:rPr>
                        <a:t>What did you think of the food?</a:t>
                      </a:r>
                    </a:p>
                  </a:txBody>
                  <a:tcPr anchor="ctr">
                    <a:solidFill>
                      <a:srgbClr val="FFEFD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 spd="med">
    <p:fade/>
  </p:transition>
</p:sld>
</file>

<file path=ppt/slides/slide1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3CC4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8442656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3200" b="1">
                <a:solidFill>
                  <a:srgbClr val="1F2A44"/>
                </a:solidFill>
                <a:latin typeface="Arial"/>
                <a:ea typeface="Microsoft YaHei"/>
              </a:rPr>
              <a:t>💡 Showing interest: reactions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74175" y="438912"/>
            <a:ext cx="2560320" cy="475488"/>
          </a:xfrm>
          <a:prstGeom prst="roundRect">
            <a:avLst>
              <a:gd name="adj" fmla="val 50000"/>
            </a:avLst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3152" rIns="73152"/>
          <a:lstStyle/>
          <a:p>
            <a:pPr algn="ctr">
              <a:spcAft>
                <a:spcPts val="200"/>
              </a:spcAft>
            </a:pPr>
            <a:r>
              <a:rPr sz="1300" b="1">
                <a:solidFill>
                  <a:srgbClr val="FFFFFF"/>
                </a:solidFill>
                <a:latin typeface="Arial"/>
                <a:ea typeface="Microsoft YaHei"/>
              </a:rPr>
              <a:t>05 Language Tips 贴士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19088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100" b="0">
                <a:solidFill>
                  <a:srgbClr val="5F677A"/>
                </a:solidFill>
                <a:latin typeface="Arial"/>
                <a:ea typeface="Microsoft YaHei"/>
              </a:rPr>
              <a:t>Business English · Level 4 · Unit 3 · Lesson 10 Small talk with visitors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28655" y="6419088"/>
            <a:ext cx="914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  <a:spcAft>
                <a:spcPts val="800"/>
              </a:spcAft>
            </a:pPr>
            <a:r>
              <a:rPr sz="1100" b="0">
                <a:solidFill>
                  <a:srgbClr val="5F677A"/>
                </a:solidFill>
                <a:latin typeface="Arial"/>
                <a:ea typeface="Microsoft YaHei"/>
              </a:rPr>
              <a:t>134</a:t>
            </a:r>
          </a:p>
        </p:txBody>
      </p:sp>
      <p:sp>
        <p:nvSpPr>
          <p:cNvPr id="7" name="Rounded Rectangle 6">
            <a:hlinkClick action="ppaction://hlinksldjump" r:id="rId2"/>
          </p:cNvPr>
          <p:cNvSpPr/>
          <p:nvPr/>
        </p:nvSpPr>
        <p:spPr>
          <a:xfrm>
            <a:off x="9677095" y="6382512"/>
            <a:ext cx="960120" cy="329184"/>
          </a:xfrm>
          <a:prstGeom prst="roundRect">
            <a:avLst>
              <a:gd name="adj" fmla="val 50000"/>
            </a:avLst>
          </a:prstGeom>
          <a:solidFill>
            <a:srgbClr val="FFE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Aft>
                <a:spcPts val="200"/>
              </a:spcAft>
            </a:pPr>
            <a:r>
              <a:rPr sz="1100" b="1">
                <a:solidFill>
                  <a:srgbClr val="1F2A44"/>
                </a:solidFill>
                <a:latin typeface="Arial"/>
                <a:ea typeface="Microsoft YaHei"/>
              </a:rPr>
              <a:t>🗺 Map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960120"/>
            <a:ext cx="11094415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500" b="0">
                <a:solidFill>
                  <a:srgbClr val="5F677A"/>
                </a:solidFill>
                <a:latin typeface="Arial"/>
                <a:ea typeface="Microsoft YaHei"/>
              </a:rPr>
              <a:t>表达兴趣的反应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417320"/>
            <a:ext cx="11094415" cy="441959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1417320"/>
            <a:ext cx="91440" cy="441959"/>
          </a:xfrm>
          <a:prstGeom prst="rect">
            <a:avLst/>
          </a:prstGeom>
          <a:solidFill>
            <a:srgbClr val="FF6B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1417320"/>
            <a:ext cx="10728655" cy="44195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700" b="1">
                <a:solidFill>
                  <a:srgbClr val="FF6B5B"/>
                </a:solidFill>
                <a:latin typeface="Arial"/>
                <a:ea typeface="Microsoft YaHei"/>
              </a:rPr>
              <a:t>Short reaction + follow-up: </a:t>
            </a:r>
            <a:r>
              <a:rPr sz="1700" b="0">
                <a:solidFill>
                  <a:srgbClr val="1F2A44"/>
                </a:solidFill>
                <a:latin typeface="Arial"/>
                <a:ea typeface="Microsoft YaHei"/>
              </a:rPr>
              <a:t>“Really? When was that?” “Oh, nice! What was it like?”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1950719"/>
            <a:ext cx="11094415" cy="701039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48640" y="1950719"/>
            <a:ext cx="91440" cy="701039"/>
          </a:xfrm>
          <a:prstGeom prst="rect">
            <a:avLst/>
          </a:prstGeom>
          <a:solidFill>
            <a:srgbClr val="4A90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1950719"/>
            <a:ext cx="10728655" cy="70103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700" b="1">
                <a:solidFill>
                  <a:srgbClr val="4A90E2"/>
                </a:solidFill>
                <a:latin typeface="Arial"/>
                <a:ea typeface="Microsoft YaHei"/>
              </a:rPr>
              <a:t>Question tags invite agreement: </a:t>
            </a:r>
            <a:r>
              <a:rPr sz="1700" b="0">
                <a:solidFill>
                  <a:srgbClr val="1F2A44"/>
                </a:solidFill>
                <a:latin typeface="Arial"/>
                <a:ea typeface="Microsoft YaHei"/>
              </a:rPr>
              <a:t>“It’s been a long day, hasn’t it?” “It’s not too cold, is it?” Positive statement → negative tag; negative statement → positive tag.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2743198"/>
            <a:ext cx="11094415" cy="701039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48640" y="2743198"/>
            <a:ext cx="91440" cy="701039"/>
          </a:xfrm>
          <a:prstGeom prst="rect">
            <a:avLst/>
          </a:prstGeom>
          <a:solidFill>
            <a:srgbClr val="3CC4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" y="2743198"/>
            <a:ext cx="10728655" cy="70103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700" b="1">
                <a:solidFill>
                  <a:srgbClr val="3CC49A"/>
                </a:solidFill>
                <a:latin typeface="Arial"/>
                <a:ea typeface="Microsoft YaHei"/>
              </a:rPr>
              <a:t>Me too / So do I / Neither do I: </a:t>
            </a:r>
            <a:r>
              <a:rPr sz="1700" b="0">
                <a:solidFill>
                  <a:srgbClr val="1F2A44"/>
                </a:solidFill>
                <a:latin typeface="Arial"/>
                <a:ea typeface="Microsoft YaHei"/>
              </a:rPr>
              <a:t>“I love hotpot.” — “So do I.” “I don’t eat meat.” — “Neither do I.”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3535677"/>
            <a:ext cx="11094415" cy="441959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48640" y="3535677"/>
            <a:ext cx="91440" cy="441959"/>
          </a:xfrm>
          <a:prstGeom prst="rect">
            <a:avLst/>
          </a:prstGeom>
          <a:solidFill>
            <a:srgbClr val="FFC8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" y="3535677"/>
            <a:ext cx="10728655" cy="44195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700" b="1">
                <a:solidFill>
                  <a:srgbClr val="FFC857"/>
                </a:solidFill>
                <a:latin typeface="Arial"/>
                <a:ea typeface="Microsoft YaHei"/>
              </a:rPr>
              <a:t>Balance: </a:t>
            </a:r>
            <a:r>
              <a:rPr sz="1700" b="0">
                <a:solidFill>
                  <a:srgbClr val="1F2A44"/>
                </a:solidFill>
                <a:latin typeface="Arial"/>
                <a:ea typeface="Microsoft YaHei"/>
              </a:rPr>
              <a:t>Ask about 50% of the time, share about 50% of the time. Don’t turn it into an interview.</a:t>
            </a:r>
          </a:p>
        </p:txBody>
      </p:sp>
    </p:spTree>
  </p:cSld>
  <p:clrMapOvr>
    <a:masterClrMapping/>
  </p:clrMapOvr>
  <p:transition spd="med">
    <p:fade/>
  </p:transition>
</p:sld>
</file>

<file path=ppt/slides/slide1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3CC4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8442656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3200" b="1">
                <a:solidFill>
                  <a:srgbClr val="1F2A44"/>
                </a:solidFill>
                <a:latin typeface="Arial"/>
                <a:ea typeface="Microsoft YaHei"/>
              </a:rPr>
              <a:t>💡 Moving from small talk to business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74175" y="438912"/>
            <a:ext cx="2560320" cy="475488"/>
          </a:xfrm>
          <a:prstGeom prst="roundRect">
            <a:avLst>
              <a:gd name="adj" fmla="val 50000"/>
            </a:avLst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3152" rIns="73152"/>
          <a:lstStyle/>
          <a:p>
            <a:pPr algn="ctr">
              <a:spcAft>
                <a:spcPts val="200"/>
              </a:spcAft>
            </a:pPr>
            <a:r>
              <a:rPr sz="1300" b="1">
                <a:solidFill>
                  <a:srgbClr val="FFFFFF"/>
                </a:solidFill>
                <a:latin typeface="Arial"/>
                <a:ea typeface="Microsoft YaHei"/>
              </a:rPr>
              <a:t>05 Language Tips 贴士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19088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100" b="0">
                <a:solidFill>
                  <a:srgbClr val="5F677A"/>
                </a:solidFill>
                <a:latin typeface="Arial"/>
                <a:ea typeface="Microsoft YaHei"/>
              </a:rPr>
              <a:t>Business English · Level 4 · Unit 3 · Lesson 10 Small talk with visitors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28655" y="6419088"/>
            <a:ext cx="914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  <a:spcAft>
                <a:spcPts val="800"/>
              </a:spcAft>
            </a:pPr>
            <a:r>
              <a:rPr sz="1100" b="0">
                <a:solidFill>
                  <a:srgbClr val="5F677A"/>
                </a:solidFill>
                <a:latin typeface="Arial"/>
                <a:ea typeface="Microsoft YaHei"/>
              </a:rPr>
              <a:t>135</a:t>
            </a:r>
          </a:p>
        </p:txBody>
      </p:sp>
      <p:sp>
        <p:nvSpPr>
          <p:cNvPr id="7" name="Rounded Rectangle 6">
            <a:hlinkClick action="ppaction://hlinksldjump" r:id="rId2"/>
          </p:cNvPr>
          <p:cNvSpPr/>
          <p:nvPr/>
        </p:nvSpPr>
        <p:spPr>
          <a:xfrm>
            <a:off x="9677095" y="6382512"/>
            <a:ext cx="960120" cy="329184"/>
          </a:xfrm>
          <a:prstGeom prst="roundRect">
            <a:avLst>
              <a:gd name="adj" fmla="val 50000"/>
            </a:avLst>
          </a:prstGeom>
          <a:solidFill>
            <a:srgbClr val="FFE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Aft>
                <a:spcPts val="200"/>
              </a:spcAft>
            </a:pPr>
            <a:r>
              <a:rPr sz="1100" b="1">
                <a:solidFill>
                  <a:srgbClr val="1F2A44"/>
                </a:solidFill>
                <a:latin typeface="Arial"/>
                <a:ea typeface="Microsoft YaHei"/>
              </a:rPr>
              <a:t>🗺 Map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960120"/>
            <a:ext cx="11094415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500" b="0">
                <a:solidFill>
                  <a:srgbClr val="5F677A"/>
                </a:solidFill>
                <a:latin typeface="Arial"/>
                <a:ea typeface="Microsoft YaHei"/>
              </a:rPr>
              <a:t>转入正题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48640" y="1417320"/>
          <a:ext cx="11094415" cy="212140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47207"/>
                <a:gridCol w="5547208"/>
              </a:tblGrid>
              <a:tr h="408432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Arial"/>
                          <a:ea typeface="Microsoft YaHei"/>
                        </a:rPr>
                        <a:t>Step</a:t>
                      </a:r>
                    </a:p>
                  </a:txBody>
                  <a:tcPr anchor="ctr">
                    <a:solidFill>
                      <a:srgbClr val="3CC49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Arial"/>
                          <a:ea typeface="Microsoft YaHei"/>
                        </a:rPr>
                        <a:t>Say this</a:t>
                      </a:r>
                    </a:p>
                  </a:txBody>
                  <a:tcPr anchor="ctr">
                    <a:solidFill>
                      <a:srgbClr val="3CC49A"/>
                    </a:solidFill>
                  </a:tcPr>
                </a:tc>
              </a:tr>
              <a:tr h="652272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1F2A44"/>
                          </a:solidFill>
                          <a:latin typeface="Arial"/>
                          <a:ea typeface="Microsoft YaHei"/>
                        </a:rPr>
                        <a:t>Close the topic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F2A44"/>
                          </a:solidFill>
                          <a:latin typeface="Arial"/>
                          <a:ea typeface="Microsoft YaHei"/>
                        </a:rPr>
                        <a:t>That sounds great. / I’d love to hear more about that later.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08432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1F2A44"/>
                          </a:solidFill>
                          <a:latin typeface="Arial"/>
                          <a:ea typeface="Microsoft YaHei"/>
                        </a:rPr>
                        <a:t>Signal</a:t>
                      </a:r>
                    </a:p>
                  </a:txBody>
                  <a:tcPr anchor="ctr">
                    <a:solidFill>
                      <a:srgbClr val="FFEFD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F2A44"/>
                          </a:solidFill>
                          <a:latin typeface="Arial"/>
                          <a:ea typeface="Microsoft YaHei"/>
                        </a:rPr>
                        <a:t>Anyway, … / Well, … / Right, …</a:t>
                      </a:r>
                    </a:p>
                  </a:txBody>
                  <a:tcPr anchor="ctr">
                    <a:solidFill>
                      <a:srgbClr val="FFEFD9"/>
                    </a:solidFill>
                  </a:tcPr>
                </a:tc>
              </a:tr>
              <a:tr h="652272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1F2A44"/>
                          </a:solidFill>
                          <a:latin typeface="Arial"/>
                          <a:ea typeface="Microsoft YaHei"/>
                        </a:rPr>
                        <a:t>Move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F2A44"/>
                          </a:solidFill>
                          <a:latin typeface="Arial"/>
                          <a:ea typeface="Microsoft YaHei"/>
                        </a:rPr>
                        <a:t>Shall we get started? / Shall we get down to business? ★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 spd="med">
    <p:fade/>
  </p:transition>
</p:sld>
</file>

<file path=ppt/slides/slide1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F6B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8442656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3200" b="1">
                <a:solidFill>
                  <a:srgbClr val="1F2A44"/>
                </a:solidFill>
                <a:latin typeface="Arial"/>
                <a:ea typeface="Microsoft YaHei"/>
              </a:rPr>
              <a:t>🕵️ Spot the Mistake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74175" y="438912"/>
            <a:ext cx="2560320" cy="475488"/>
          </a:xfrm>
          <a:prstGeom prst="roundRect">
            <a:avLst>
              <a:gd name="adj" fmla="val 50000"/>
            </a:avLst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3152" rIns="73152"/>
          <a:lstStyle/>
          <a:p>
            <a:pPr algn="ctr">
              <a:spcAft>
                <a:spcPts val="200"/>
              </a:spcAft>
            </a:pPr>
            <a:r>
              <a:rPr sz="1300" b="1">
                <a:solidFill>
                  <a:srgbClr val="FFFFFF"/>
                </a:solidFill>
                <a:latin typeface="Arial"/>
                <a:ea typeface="Microsoft YaHei"/>
              </a:rPr>
              <a:t>05 Language Tips 贴士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19088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100" b="0">
                <a:solidFill>
                  <a:srgbClr val="5F677A"/>
                </a:solidFill>
                <a:latin typeface="Arial"/>
                <a:ea typeface="Microsoft YaHei"/>
              </a:rPr>
              <a:t>Business English · Level 4 · Unit 3 · Lesson 10 Small talk with visitors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28655" y="6419088"/>
            <a:ext cx="914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  <a:spcAft>
                <a:spcPts val="800"/>
              </a:spcAft>
            </a:pPr>
            <a:r>
              <a:rPr sz="1100" b="0">
                <a:solidFill>
                  <a:srgbClr val="5F677A"/>
                </a:solidFill>
                <a:latin typeface="Arial"/>
                <a:ea typeface="Microsoft YaHei"/>
              </a:rPr>
              <a:t>136</a:t>
            </a:r>
          </a:p>
        </p:txBody>
      </p:sp>
      <p:sp>
        <p:nvSpPr>
          <p:cNvPr id="7" name="Rounded Rectangle 6">
            <a:hlinkClick action="ppaction://hlinksldjump" r:id="rId2"/>
          </p:cNvPr>
          <p:cNvSpPr/>
          <p:nvPr/>
        </p:nvSpPr>
        <p:spPr>
          <a:xfrm>
            <a:off x="9677095" y="6382512"/>
            <a:ext cx="960120" cy="329184"/>
          </a:xfrm>
          <a:prstGeom prst="roundRect">
            <a:avLst>
              <a:gd name="adj" fmla="val 50000"/>
            </a:avLst>
          </a:prstGeom>
          <a:solidFill>
            <a:srgbClr val="FFE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Aft>
                <a:spcPts val="200"/>
              </a:spcAft>
            </a:pPr>
            <a:r>
              <a:rPr sz="1100" b="1">
                <a:solidFill>
                  <a:srgbClr val="1F2A44"/>
                </a:solidFill>
                <a:latin typeface="Arial"/>
                <a:ea typeface="Microsoft YaHei"/>
              </a:rPr>
              <a:t>🗺 Map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024128"/>
            <a:ext cx="11094415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500" b="0">
                <a:solidFill>
                  <a:srgbClr val="5F677A"/>
                </a:solidFill>
                <a:latin typeface="Arial"/>
                <a:ea typeface="Microsoft YaHei"/>
              </a:rPr>
              <a:t>What's wrong? Fix it before you click!  哪里错了？先改正，再点击核对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463040"/>
            <a:ext cx="5455767" cy="609599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31750">
            <a:solidFill>
              <a:srgbClr val="FF6B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FF6B5B"/>
                </a:solidFill>
                <a:latin typeface="Arial"/>
                <a:ea typeface="Microsoft YaHei"/>
              </a:rPr>
              <a:t>✗  How do you feel Shanghai?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87287" y="1463040"/>
            <a:ext cx="5455767" cy="609599"/>
          </a:xfrm>
          <a:prstGeom prst="roundRect">
            <a:avLst>
              <a:gd name="adj" fmla="val 15000"/>
            </a:avLst>
          </a:prstGeom>
          <a:solidFill>
            <a:srgbClr val="3CC4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Arial"/>
                <a:ea typeface="Microsoft YaHei"/>
              </a:rPr>
              <a:t>✓  How are you finding Shanghai?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FFFFFF"/>
                </a:solidFill>
                <a:latin typeface="Arial"/>
                <a:ea typeface="Microsoft YaHei"/>
              </a:rPr>
              <a:t>询问感受用 find,不用 feel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2164079"/>
            <a:ext cx="5455767" cy="853439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31750">
            <a:solidFill>
              <a:srgbClr val="FF6B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FF6B5B"/>
                </a:solidFill>
                <a:latin typeface="Arial"/>
                <a:ea typeface="Microsoft YaHei"/>
              </a:rPr>
              <a:t>✗  You are married? How old are you? (to a visitor)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87287" y="2164079"/>
            <a:ext cx="5455767" cy="853439"/>
          </a:xfrm>
          <a:prstGeom prst="roundRect">
            <a:avLst>
              <a:gd name="adj" fmla="val 15000"/>
            </a:avLst>
          </a:prstGeom>
          <a:solidFill>
            <a:srgbClr val="3CC4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Arial"/>
                <a:ea typeface="Microsoft YaHei"/>
              </a:rPr>
              <a:t>✓  What brings you to Shanghai? / Is this your first visit?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FFFFFF"/>
                </a:solidFill>
                <a:latin typeface="Arial"/>
                <a:ea typeface="Microsoft YaHei"/>
              </a:rPr>
              <a:t>避免个人隐私问题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3108958"/>
            <a:ext cx="5455767" cy="609599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31750">
            <a:solidFill>
              <a:srgbClr val="FF6B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FF6B5B"/>
                </a:solidFill>
                <a:latin typeface="Arial"/>
                <a:ea typeface="Microsoft YaHei"/>
              </a:rPr>
              <a:t>✗  I am agree with you.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87287" y="3108958"/>
            <a:ext cx="5455767" cy="609599"/>
          </a:xfrm>
          <a:prstGeom prst="roundRect">
            <a:avLst>
              <a:gd name="adj" fmla="val 15000"/>
            </a:avLst>
          </a:prstGeom>
          <a:solidFill>
            <a:srgbClr val="3CC4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Arial"/>
                <a:ea typeface="Microsoft YaHei"/>
              </a:rPr>
              <a:t>✓  I agree with you. / I know what you mean.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FFFFFF"/>
                </a:solidFill>
                <a:latin typeface="Arial"/>
                <a:ea typeface="Microsoft YaHei"/>
              </a:rPr>
              <a:t>agree 是动词,不加 am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3809997"/>
            <a:ext cx="5455767" cy="609599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31750">
            <a:solidFill>
              <a:srgbClr val="FF6B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FF6B5B"/>
                </a:solidFill>
                <a:latin typeface="Arial"/>
                <a:ea typeface="Microsoft YaHei"/>
              </a:rPr>
              <a:t>✗  I also like it too.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87287" y="3809997"/>
            <a:ext cx="5455767" cy="609599"/>
          </a:xfrm>
          <a:prstGeom prst="roundRect">
            <a:avLst>
              <a:gd name="adj" fmla="val 15000"/>
            </a:avLst>
          </a:prstGeom>
          <a:solidFill>
            <a:srgbClr val="3CC4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Arial"/>
                <a:ea typeface="Microsoft YaHei"/>
              </a:rPr>
              <a:t>✓  I like it too. / So do I.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FFFFFF"/>
                </a:solidFill>
                <a:latin typeface="Arial"/>
                <a:ea typeface="Microsoft YaHei"/>
              </a:rPr>
              <a:t>also 和 too 不连用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" fill="hold">
                      <p:stCondLst>
                        <p:cond delay="indefinite"/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F6B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8442656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3200" b="1">
                <a:solidFill>
                  <a:srgbClr val="1F2A44"/>
                </a:solidFill>
                <a:latin typeface="Arial"/>
                <a:ea typeface="Microsoft YaHei"/>
              </a:rPr>
              <a:t>🕵️ Spot the Mistake (cont.)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74175" y="438912"/>
            <a:ext cx="2560320" cy="475488"/>
          </a:xfrm>
          <a:prstGeom prst="roundRect">
            <a:avLst>
              <a:gd name="adj" fmla="val 50000"/>
            </a:avLst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3152" rIns="73152"/>
          <a:lstStyle/>
          <a:p>
            <a:pPr algn="ctr">
              <a:spcAft>
                <a:spcPts val="200"/>
              </a:spcAft>
            </a:pPr>
            <a:r>
              <a:rPr sz="1300" b="1">
                <a:solidFill>
                  <a:srgbClr val="FFFFFF"/>
                </a:solidFill>
                <a:latin typeface="Arial"/>
                <a:ea typeface="Microsoft YaHei"/>
              </a:rPr>
              <a:t>05 Language Tips 贴士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19088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100" b="0">
                <a:solidFill>
                  <a:srgbClr val="5F677A"/>
                </a:solidFill>
                <a:latin typeface="Arial"/>
                <a:ea typeface="Microsoft YaHei"/>
              </a:rPr>
              <a:t>Business English · Level 4 · Unit 3 · Lesson 10 Small talk with visitors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28655" y="6419088"/>
            <a:ext cx="914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  <a:spcAft>
                <a:spcPts val="800"/>
              </a:spcAft>
            </a:pPr>
            <a:r>
              <a:rPr sz="1100" b="0">
                <a:solidFill>
                  <a:srgbClr val="5F677A"/>
                </a:solidFill>
                <a:latin typeface="Arial"/>
                <a:ea typeface="Microsoft YaHei"/>
              </a:rPr>
              <a:t>137</a:t>
            </a:r>
          </a:p>
        </p:txBody>
      </p:sp>
      <p:sp>
        <p:nvSpPr>
          <p:cNvPr id="7" name="Rounded Rectangle 6">
            <a:hlinkClick action="ppaction://hlinksldjump" r:id="rId2"/>
          </p:cNvPr>
          <p:cNvSpPr/>
          <p:nvPr/>
        </p:nvSpPr>
        <p:spPr>
          <a:xfrm>
            <a:off x="9677095" y="6382512"/>
            <a:ext cx="960120" cy="329184"/>
          </a:xfrm>
          <a:prstGeom prst="roundRect">
            <a:avLst>
              <a:gd name="adj" fmla="val 50000"/>
            </a:avLst>
          </a:prstGeom>
          <a:solidFill>
            <a:srgbClr val="FFE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Aft>
                <a:spcPts val="200"/>
              </a:spcAft>
            </a:pPr>
            <a:r>
              <a:rPr sz="1100" b="1">
                <a:solidFill>
                  <a:srgbClr val="1F2A44"/>
                </a:solidFill>
                <a:latin typeface="Arial"/>
                <a:ea typeface="Microsoft YaHei"/>
              </a:rPr>
              <a:t>🗺 Map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024128"/>
            <a:ext cx="11094415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500" b="0">
                <a:solidFill>
                  <a:srgbClr val="5F677A"/>
                </a:solidFill>
                <a:latin typeface="Arial"/>
                <a:ea typeface="Microsoft YaHei"/>
              </a:rPr>
              <a:t>What's wrong? Fix it before you click!  哪里错了？先改正，再点击核对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463040"/>
            <a:ext cx="5455767" cy="853439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31750">
            <a:solidFill>
              <a:srgbClr val="FF6B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FF6B5B"/>
                </a:solidFill>
                <a:latin typeface="Arial"/>
                <a:ea typeface="Microsoft YaHei"/>
              </a:rPr>
              <a:t>✗  Yes, I very like Chinese food.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87287" y="1463040"/>
            <a:ext cx="5455767" cy="853439"/>
          </a:xfrm>
          <a:prstGeom prst="roundRect">
            <a:avLst>
              <a:gd name="adj" fmla="val 15000"/>
            </a:avLst>
          </a:prstGeom>
          <a:solidFill>
            <a:srgbClr val="3CC4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Arial"/>
                <a:ea typeface="Microsoft YaHei"/>
              </a:rPr>
              <a:t>✓  Yes, I really like Chinese food. / I like Chinese food very much.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FFFFFF"/>
                </a:solidFill>
                <a:latin typeface="Arial"/>
                <a:ea typeface="Microsoft YaHei"/>
              </a:rPr>
              <a:t>very 不修饰动词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2407919"/>
            <a:ext cx="5455767" cy="609599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31750">
            <a:solidFill>
              <a:srgbClr val="FF6B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FF6B5B"/>
                </a:solidFill>
                <a:latin typeface="Arial"/>
                <a:ea typeface="Microsoft YaHei"/>
              </a:rPr>
              <a:t>✗  How was the weather in your country now?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87287" y="2407919"/>
            <a:ext cx="5455767" cy="609599"/>
          </a:xfrm>
          <a:prstGeom prst="roundRect">
            <a:avLst>
              <a:gd name="adj" fmla="val 15000"/>
            </a:avLst>
          </a:prstGeom>
          <a:solidFill>
            <a:srgbClr val="3CC4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Arial"/>
                <a:ea typeface="Microsoft YaHei"/>
              </a:rPr>
              <a:t>✓  How’s the weather in your country now?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FFFFFF"/>
                </a:solidFill>
                <a:latin typeface="Arial"/>
                <a:ea typeface="Microsoft YaHei"/>
              </a:rPr>
              <a:t>现在 → 现在时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3108958"/>
            <a:ext cx="5455767" cy="609599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31750">
            <a:solidFill>
              <a:srgbClr val="FF6B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FF6B5B"/>
                </a:solidFill>
                <a:latin typeface="Arial"/>
                <a:ea typeface="Microsoft YaHei"/>
              </a:rPr>
              <a:t>✗  I’m boring in this city.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87287" y="3108958"/>
            <a:ext cx="5455767" cy="609599"/>
          </a:xfrm>
          <a:prstGeom prst="roundRect">
            <a:avLst>
              <a:gd name="adj" fmla="val 15000"/>
            </a:avLst>
          </a:prstGeom>
          <a:solidFill>
            <a:srgbClr val="3CC4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Arial"/>
                <a:ea typeface="Microsoft YaHei"/>
              </a:rPr>
              <a:t>✓  I’m bored in this city. / This city is boring.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FFFFFF"/>
                </a:solidFill>
                <a:latin typeface="Arial"/>
                <a:ea typeface="Microsoft YaHei"/>
              </a:rPr>
              <a:t>人是 bored,事物是 boring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3809997"/>
            <a:ext cx="5455767" cy="853439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31750">
            <a:solidFill>
              <a:srgbClr val="FF6B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FF6B5B"/>
                </a:solidFill>
                <a:latin typeface="Arial"/>
                <a:ea typeface="Microsoft YaHei"/>
              </a:rPr>
              <a:t>✗  I’m busy now, I go first.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87287" y="3809997"/>
            <a:ext cx="5455767" cy="853439"/>
          </a:xfrm>
          <a:prstGeom prst="roundRect">
            <a:avLst>
              <a:gd name="adj" fmla="val 15000"/>
            </a:avLst>
          </a:prstGeom>
          <a:solidFill>
            <a:srgbClr val="3CC4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Arial"/>
                <a:ea typeface="Microsoft YaHei"/>
              </a:rPr>
              <a:t>✓  I’ll let you get on. / I should get back to work.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FFFFFF"/>
                </a:solidFill>
                <a:latin typeface="Arial"/>
                <a:ea typeface="Microsoft YaHei"/>
              </a:rPr>
              <a:t>结束聊天要委婉,不要直接说走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5760720"/>
            <a:ext cx="11094415" cy="502920"/>
          </a:xfrm>
          <a:prstGeom prst="roundRect">
            <a:avLst>
              <a:gd name="adj" fmla="val 30000"/>
            </a:avLst>
          </a:prstGeom>
          <a:solidFill>
            <a:srgbClr val="FFE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1F2A44"/>
                </a:solidFill>
                <a:latin typeface="Arial"/>
                <a:ea typeface="Microsoft YaHei"/>
              </a:rPr>
              <a:t>⚠️ I like it very much (not “I very like it”). Interested / bored describe people; interesting / boring describe things.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" fill="hold">
                      <p:stCondLst>
                        <p:cond delay="indefinite"/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3CC4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8442656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3200" b="1">
                <a:solidFill>
                  <a:srgbClr val="1F2A44"/>
                </a:solidFill>
                <a:latin typeface="Arial"/>
                <a:ea typeface="Microsoft YaHei"/>
              </a:rPr>
              <a:t>🌏 Cultural tips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74175" y="438912"/>
            <a:ext cx="2560320" cy="475488"/>
          </a:xfrm>
          <a:prstGeom prst="roundRect">
            <a:avLst>
              <a:gd name="adj" fmla="val 50000"/>
            </a:avLst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3152" rIns="73152"/>
          <a:lstStyle/>
          <a:p>
            <a:pPr algn="ctr">
              <a:spcAft>
                <a:spcPts val="200"/>
              </a:spcAft>
            </a:pPr>
            <a:r>
              <a:rPr sz="1300" b="1">
                <a:solidFill>
                  <a:srgbClr val="FFFFFF"/>
                </a:solidFill>
                <a:latin typeface="Arial"/>
                <a:ea typeface="Microsoft YaHei"/>
              </a:rPr>
              <a:t>05 Language Tips 贴士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19088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100" b="0">
                <a:solidFill>
                  <a:srgbClr val="5F677A"/>
                </a:solidFill>
                <a:latin typeface="Arial"/>
                <a:ea typeface="Microsoft YaHei"/>
              </a:rPr>
              <a:t>Business English · Level 4 · Unit 3 · Lesson 10 Small talk with visitors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28655" y="6419088"/>
            <a:ext cx="914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  <a:spcAft>
                <a:spcPts val="800"/>
              </a:spcAft>
            </a:pPr>
            <a:r>
              <a:rPr sz="1100" b="0">
                <a:solidFill>
                  <a:srgbClr val="5F677A"/>
                </a:solidFill>
                <a:latin typeface="Arial"/>
                <a:ea typeface="Microsoft YaHei"/>
              </a:rPr>
              <a:t>138</a:t>
            </a:r>
          </a:p>
        </p:txBody>
      </p:sp>
      <p:sp>
        <p:nvSpPr>
          <p:cNvPr id="7" name="Rounded Rectangle 6">
            <a:hlinkClick action="ppaction://hlinksldjump" r:id="rId2"/>
          </p:cNvPr>
          <p:cNvSpPr/>
          <p:nvPr/>
        </p:nvSpPr>
        <p:spPr>
          <a:xfrm>
            <a:off x="9677095" y="6382512"/>
            <a:ext cx="960120" cy="329184"/>
          </a:xfrm>
          <a:prstGeom prst="roundRect">
            <a:avLst>
              <a:gd name="adj" fmla="val 50000"/>
            </a:avLst>
          </a:prstGeom>
          <a:solidFill>
            <a:srgbClr val="FFE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Aft>
                <a:spcPts val="200"/>
              </a:spcAft>
            </a:pPr>
            <a:r>
              <a:rPr sz="1100" b="1">
                <a:solidFill>
                  <a:srgbClr val="1F2A44"/>
                </a:solidFill>
                <a:latin typeface="Arial"/>
                <a:ea typeface="Microsoft YaHei"/>
              </a:rPr>
              <a:t>🗺 Map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960120"/>
            <a:ext cx="11094415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500" b="0">
                <a:solidFill>
                  <a:srgbClr val="5F677A"/>
                </a:solidFill>
                <a:latin typeface="Arial"/>
                <a:ea typeface="Microsoft YaHei"/>
              </a:rPr>
              <a:t>文化小贴士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417320"/>
            <a:ext cx="11094415" cy="701039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1417320"/>
            <a:ext cx="91440" cy="701039"/>
          </a:xfrm>
          <a:prstGeom prst="rect">
            <a:avLst/>
          </a:prstGeom>
          <a:solidFill>
            <a:srgbClr val="FF6B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1417320"/>
            <a:ext cx="10728655" cy="70103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700" b="0">
                <a:solidFill>
                  <a:srgbClr val="1F2A44"/>
                </a:solidFill>
                <a:latin typeface="Arial"/>
                <a:ea typeface="Microsoft YaHei"/>
              </a:rPr>
              <a:t>Small talk is part of business, not a waste of time. In the US, UK and Australia, a few minutes of friendly chat before a meeting builds trust.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2209799"/>
            <a:ext cx="11094415" cy="701039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48640" y="2209799"/>
            <a:ext cx="91440" cy="701039"/>
          </a:xfrm>
          <a:prstGeom prst="rect">
            <a:avLst/>
          </a:prstGeom>
          <a:solidFill>
            <a:srgbClr val="4A90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2209799"/>
            <a:ext cx="10728655" cy="70103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700" b="0">
                <a:solidFill>
                  <a:srgbClr val="1F2A44"/>
                </a:solidFill>
                <a:latin typeface="Arial"/>
                <a:ea typeface="Microsoft YaHei"/>
              </a:rPr>
              <a:t>Weather is a real topic. In the UK, “Lovely day, isn’t it?” is a normal way to start. You are not talking about the weather; you are saying hello.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3002278"/>
            <a:ext cx="11094415" cy="9601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48640" y="3002278"/>
            <a:ext cx="91440" cy="960120"/>
          </a:xfrm>
          <a:prstGeom prst="rect">
            <a:avLst/>
          </a:prstGeom>
          <a:solidFill>
            <a:srgbClr val="3CC4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" y="3002278"/>
            <a:ext cx="1072865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700" b="1">
                <a:solidFill>
                  <a:srgbClr val="3CC49A"/>
                </a:solidFill>
                <a:latin typeface="Arial"/>
                <a:ea typeface="Microsoft YaHei"/>
              </a:rPr>
              <a:t>Avoid: </a:t>
            </a:r>
            <a:r>
              <a:rPr sz="1700" b="0">
                <a:solidFill>
                  <a:srgbClr val="1F2A44"/>
                </a:solidFill>
                <a:latin typeface="Arial"/>
                <a:ea typeface="Microsoft YaHei"/>
              </a:rPr>
              <a:t>age, salary, marital status, weight, politics, religion. In China these questions (age, marriage, salary) can be a sign of friendly interest, but in English-speaking settings they can feel intrusive.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4053838"/>
            <a:ext cx="11094415" cy="701039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48640" y="4053838"/>
            <a:ext cx="91440" cy="701039"/>
          </a:xfrm>
          <a:prstGeom prst="rect">
            <a:avLst/>
          </a:prstGeom>
          <a:solidFill>
            <a:srgbClr val="FFC8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" y="4053838"/>
            <a:ext cx="10728655" cy="70103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700" b="0">
                <a:solidFill>
                  <a:srgbClr val="1F2A44"/>
                </a:solidFill>
                <a:latin typeface="Arial"/>
                <a:ea typeface="Microsoft YaHei"/>
              </a:rPr>
              <a:t>Compliments are fine (about the city, the food, the office), but keep them specific and sincere: “I love the view from your office.”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8640" y="4846317"/>
            <a:ext cx="11094415" cy="441959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48640" y="4846317"/>
            <a:ext cx="91440" cy="441959"/>
          </a:xfrm>
          <a:prstGeom prst="rect">
            <a:avLst/>
          </a:prstGeom>
          <a:solidFill>
            <a:srgbClr val="9B6B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77240" y="4846317"/>
            <a:ext cx="10728655" cy="44195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700" b="0">
                <a:solidFill>
                  <a:srgbClr val="1F2A44"/>
                </a:solidFill>
                <a:latin typeface="Arial"/>
                <a:ea typeface="Microsoft YaHei"/>
              </a:rPr>
              <a:t>Don’t talk too long. About 3–5 minutes is enough before moving to business.</a:t>
            </a:r>
          </a:p>
        </p:txBody>
      </p:sp>
    </p:spTree>
  </p:cSld>
  <p:clrMapOvr>
    <a:masterClrMapping/>
  </p:clrMapOvr>
  <p:transition spd="med">
    <p:fade/>
  </p:transition>
</p:sld>
</file>

<file path=ppt/slides/slide1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3CC4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8442656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3200" b="1">
                <a:solidFill>
                  <a:srgbClr val="1F2A44"/>
                </a:solidFill>
                <a:latin typeface="Arial"/>
                <a:ea typeface="Microsoft YaHei"/>
              </a:rPr>
              <a:t>✅ Can-do Check 掌握度自检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74175" y="438912"/>
            <a:ext cx="2560320" cy="475488"/>
          </a:xfrm>
          <a:prstGeom prst="roundRect">
            <a:avLst>
              <a:gd name="adj" fmla="val 50000"/>
            </a:avLst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3152" rIns="73152"/>
          <a:lstStyle/>
          <a:p>
            <a:pPr algn="ctr">
              <a:spcAft>
                <a:spcPts val="200"/>
              </a:spcAft>
            </a:pPr>
            <a:r>
              <a:rPr sz="1300" b="1">
                <a:solidFill>
                  <a:srgbClr val="FFFFFF"/>
                </a:solidFill>
                <a:latin typeface="Arial"/>
                <a:ea typeface="Microsoft YaHei"/>
              </a:rPr>
              <a:t>Lesson 10 wrap-up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19088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100" b="0">
                <a:solidFill>
                  <a:srgbClr val="5F677A"/>
                </a:solidFill>
                <a:latin typeface="Arial"/>
                <a:ea typeface="Microsoft YaHei"/>
              </a:rPr>
              <a:t>Business English · Level 4 · Unit 3 · Lesson 10 Small talk with visitors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28655" y="6419088"/>
            <a:ext cx="914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  <a:spcAft>
                <a:spcPts val="800"/>
              </a:spcAft>
            </a:pPr>
            <a:r>
              <a:rPr sz="1100" b="0">
                <a:solidFill>
                  <a:srgbClr val="5F677A"/>
                </a:solidFill>
                <a:latin typeface="Arial"/>
                <a:ea typeface="Microsoft YaHei"/>
              </a:rPr>
              <a:t>139</a:t>
            </a:r>
          </a:p>
        </p:txBody>
      </p:sp>
      <p:sp>
        <p:nvSpPr>
          <p:cNvPr id="7" name="Rounded Rectangle 6">
            <a:hlinkClick action="ppaction://hlinksldjump" r:id="rId2"/>
          </p:cNvPr>
          <p:cNvSpPr/>
          <p:nvPr/>
        </p:nvSpPr>
        <p:spPr>
          <a:xfrm>
            <a:off x="9677095" y="6382512"/>
            <a:ext cx="960120" cy="329184"/>
          </a:xfrm>
          <a:prstGeom prst="roundRect">
            <a:avLst>
              <a:gd name="adj" fmla="val 50000"/>
            </a:avLst>
          </a:prstGeom>
          <a:solidFill>
            <a:srgbClr val="FFE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Aft>
                <a:spcPts val="200"/>
              </a:spcAft>
            </a:pPr>
            <a:r>
              <a:rPr sz="1100" b="1">
                <a:solidFill>
                  <a:srgbClr val="1F2A44"/>
                </a:solidFill>
                <a:latin typeface="Arial"/>
                <a:ea typeface="Microsoft YaHei"/>
              </a:rPr>
              <a:t>🗺 Map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024128"/>
            <a:ext cx="11094415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500" b="0">
                <a:solidFill>
                  <a:srgbClr val="5F677A"/>
                </a:solidFill>
                <a:latin typeface="Arial"/>
                <a:ea typeface="Microsoft YaHei"/>
              </a:rPr>
              <a:t>Rate yourself: ⭐ not yet · ⭐⭐ almost · ⭐⭐⭐ I can do it!  给自己打星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508760"/>
            <a:ext cx="11094415" cy="810768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1508760"/>
            <a:ext cx="548640" cy="8107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2400" b="0">
                <a:solidFill>
                  <a:srgbClr val="3CC49A"/>
                </a:solidFill>
                <a:latin typeface="Arial"/>
                <a:ea typeface="Microsoft YaHei"/>
              </a:rPr>
              <a:t>☐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4440" y="1508760"/>
            <a:ext cx="8168335" cy="8107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2000" b="0">
                <a:solidFill>
                  <a:srgbClr val="1F2A44"/>
                </a:solidFill>
                <a:latin typeface="Arial"/>
                <a:ea typeface="Microsoft YaHei"/>
              </a:rPr>
              <a:t>I can start a conversation with Is this your first time…? How are you finding…?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539935" y="1508760"/>
            <a:ext cx="2011680" cy="8107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800"/>
              </a:spcAft>
            </a:pPr>
            <a:r>
              <a:rPr sz="2200" b="0">
                <a:solidFill>
                  <a:srgbClr val="FFC857"/>
                </a:solidFill>
                <a:latin typeface="Arial"/>
                <a:ea typeface="Microsoft YaHei"/>
              </a:rPr>
              <a:t>☆ ☆ ☆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2410968"/>
            <a:ext cx="11094415" cy="810768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5800" y="2410968"/>
            <a:ext cx="548640" cy="8107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2400" b="0">
                <a:solidFill>
                  <a:srgbClr val="3CC49A"/>
                </a:solidFill>
                <a:latin typeface="Arial"/>
                <a:ea typeface="Microsoft YaHei"/>
              </a:rPr>
              <a:t>☐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34440" y="2410968"/>
            <a:ext cx="8168335" cy="8107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2000" b="0">
                <a:solidFill>
                  <a:srgbClr val="1F2A44"/>
                </a:solidFill>
                <a:latin typeface="Arial"/>
                <a:ea typeface="Microsoft YaHei"/>
              </a:rPr>
              <a:t>I can show interest with Really? That sounds great. I know what you mean.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539935" y="2410968"/>
            <a:ext cx="2011680" cy="8107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800"/>
              </a:spcAft>
            </a:pPr>
            <a:r>
              <a:rPr sz="2200" b="0">
                <a:solidFill>
                  <a:srgbClr val="FFC857"/>
                </a:solidFill>
                <a:latin typeface="Arial"/>
                <a:ea typeface="Microsoft YaHei"/>
              </a:rPr>
              <a:t>☆ ☆ ☆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3313176"/>
            <a:ext cx="11094415" cy="505968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5800" y="3313176"/>
            <a:ext cx="548640" cy="5059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2400" b="0">
                <a:solidFill>
                  <a:srgbClr val="3CC49A"/>
                </a:solidFill>
                <a:latin typeface="Arial"/>
                <a:ea typeface="Microsoft YaHei"/>
              </a:rPr>
              <a:t>☐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34440" y="3313176"/>
            <a:ext cx="8168335" cy="5059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2000" b="0">
                <a:solidFill>
                  <a:srgbClr val="1F2A44"/>
                </a:solidFill>
                <a:latin typeface="Arial"/>
                <a:ea typeface="Microsoft YaHei"/>
              </a:rPr>
              <a:t>I can ask open questions instead of yes/no questions.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539935" y="3313176"/>
            <a:ext cx="2011680" cy="5059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800"/>
              </a:spcAft>
            </a:pPr>
            <a:r>
              <a:rPr sz="2200" b="0">
                <a:solidFill>
                  <a:srgbClr val="FFC857"/>
                </a:solidFill>
                <a:latin typeface="Arial"/>
                <a:ea typeface="Microsoft YaHei"/>
              </a:rPr>
              <a:t>☆ ☆ ☆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8640" y="3910584"/>
            <a:ext cx="11094415" cy="810768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85800" y="3910584"/>
            <a:ext cx="548640" cy="8107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2400" b="0">
                <a:solidFill>
                  <a:srgbClr val="3CC49A"/>
                </a:solidFill>
                <a:latin typeface="Arial"/>
                <a:ea typeface="Microsoft YaHei"/>
              </a:rPr>
              <a:t>☐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34440" y="3910584"/>
            <a:ext cx="8168335" cy="8107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2000" b="0">
                <a:solidFill>
                  <a:srgbClr val="1F2A44"/>
                </a:solidFill>
                <a:latin typeface="Arial"/>
                <a:ea typeface="Microsoft YaHei"/>
              </a:rPr>
              <a:t>I can change the topic and end small talk with By the way, … Anyway, shall we get started?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539935" y="3910584"/>
            <a:ext cx="2011680" cy="8107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800"/>
              </a:spcAft>
            </a:pPr>
            <a:r>
              <a:rPr sz="2200" b="0">
                <a:solidFill>
                  <a:srgbClr val="FFC857"/>
                </a:solidFill>
                <a:latin typeface="Arial"/>
                <a:ea typeface="Microsoft YaHei"/>
              </a:rPr>
              <a:t>☆ ☆ ☆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48640" y="4812792"/>
            <a:ext cx="11094415" cy="810768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85800" y="4812792"/>
            <a:ext cx="548640" cy="8107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2400" b="0">
                <a:solidFill>
                  <a:srgbClr val="3CC49A"/>
                </a:solidFill>
                <a:latin typeface="Arial"/>
                <a:ea typeface="Microsoft YaHei"/>
              </a:rPr>
              <a:t>☐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234440" y="4812792"/>
            <a:ext cx="8168335" cy="8107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2000" b="0">
                <a:solidFill>
                  <a:srgbClr val="1F2A44"/>
                </a:solidFill>
                <a:latin typeface="Arial"/>
                <a:ea typeface="Microsoft YaHei"/>
              </a:rPr>
              <a:t>I can use question tags, So do I, and interested / interesting correctly.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539935" y="4812792"/>
            <a:ext cx="2011680" cy="8107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800"/>
              </a:spcAft>
            </a:pPr>
            <a:r>
              <a:rPr sz="2200" b="0">
                <a:solidFill>
                  <a:srgbClr val="FFC857"/>
                </a:solidFill>
                <a:latin typeface="Arial"/>
                <a:ea typeface="Microsoft YaHei"/>
              </a:rPr>
              <a:t>☆ ☆ ☆</a:t>
            </a:r>
          </a:p>
        </p:txBody>
      </p:sp>
    </p:spTree>
  </p:cSld>
  <p:clrMapOvr>
    <a:masterClrMapping/>
  </p:clrMapOvr>
  <p:transition spd="med">
    <p:fade/>
  </p:transition>
</p:sld>
</file>

<file path=ppt/slides/slide1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4A90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8442656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3200" b="1">
                <a:solidFill>
                  <a:srgbClr val="1F2A44"/>
                </a:solidFill>
                <a:latin typeface="Arial"/>
                <a:ea typeface="Microsoft YaHei"/>
              </a:rPr>
              <a:t>🏠 After Class: 10-Minute Daily Plan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74175" y="438912"/>
            <a:ext cx="2560320" cy="475488"/>
          </a:xfrm>
          <a:prstGeom prst="roundRect">
            <a:avLst>
              <a:gd name="adj" fmla="val 50000"/>
            </a:avLst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3152" rIns="73152"/>
          <a:lstStyle/>
          <a:p>
            <a:pPr algn="ctr">
              <a:spcAft>
                <a:spcPts val="200"/>
              </a:spcAft>
            </a:pPr>
            <a:r>
              <a:rPr sz="1300" b="1">
                <a:solidFill>
                  <a:srgbClr val="FFFFFF"/>
                </a:solidFill>
                <a:latin typeface="Arial"/>
                <a:ea typeface="Microsoft YaHei"/>
              </a:rPr>
              <a:t>课后练习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19088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100" b="0">
                <a:solidFill>
                  <a:srgbClr val="5F677A"/>
                </a:solidFill>
                <a:latin typeface="Arial"/>
                <a:ea typeface="Microsoft YaHei"/>
              </a:rPr>
              <a:t>Business English · Level 4 · Unit 3 · Lesson 10 Small talk with visitors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28655" y="6419088"/>
            <a:ext cx="914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  <a:spcAft>
                <a:spcPts val="800"/>
              </a:spcAft>
            </a:pPr>
            <a:r>
              <a:rPr sz="1100" b="0">
                <a:solidFill>
                  <a:srgbClr val="5F677A"/>
                </a:solidFill>
                <a:latin typeface="Arial"/>
                <a:ea typeface="Microsoft YaHei"/>
              </a:rPr>
              <a:t>140</a:t>
            </a:r>
          </a:p>
        </p:txBody>
      </p:sp>
      <p:sp>
        <p:nvSpPr>
          <p:cNvPr id="7" name="Rounded Rectangle 6">
            <a:hlinkClick action="ppaction://hlinksldjump" r:id="rId2"/>
          </p:cNvPr>
          <p:cNvSpPr/>
          <p:nvPr/>
        </p:nvSpPr>
        <p:spPr>
          <a:xfrm>
            <a:off x="9677095" y="6382512"/>
            <a:ext cx="960120" cy="329184"/>
          </a:xfrm>
          <a:prstGeom prst="roundRect">
            <a:avLst>
              <a:gd name="adj" fmla="val 50000"/>
            </a:avLst>
          </a:prstGeom>
          <a:solidFill>
            <a:srgbClr val="FFE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Aft>
                <a:spcPts val="200"/>
              </a:spcAft>
            </a:pPr>
            <a:r>
              <a:rPr sz="1100" b="1">
                <a:solidFill>
                  <a:srgbClr val="1F2A44"/>
                </a:solidFill>
                <a:latin typeface="Arial"/>
                <a:ea typeface="Microsoft YaHei"/>
              </a:rPr>
              <a:t>🗺 Map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325880"/>
            <a:ext cx="1554480" cy="713232"/>
          </a:xfrm>
          <a:prstGeom prst="roundRect">
            <a:avLst>
              <a:gd name="adj" fmla="val 20000"/>
            </a:avLst>
          </a:prstGeom>
          <a:solidFill>
            <a:srgbClr val="FF6B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Aft>
                <a:spcPts val="200"/>
              </a:spcAft>
            </a:pPr>
            <a:r>
              <a:rPr sz="1500" b="1">
                <a:solidFill>
                  <a:srgbClr val="FFFFFF"/>
                </a:solidFill>
                <a:latin typeface="Arial"/>
                <a:ea typeface="Microsoft YaHei"/>
              </a:rPr>
              <a:t>⏱ 0–2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240280" y="1325880"/>
            <a:ext cx="9402775" cy="713232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l">
              <a:spcAft>
                <a:spcPts val="200"/>
              </a:spcAft>
            </a:pPr>
            <a:r>
              <a:rPr sz="1800" b="1">
                <a:solidFill>
                  <a:srgbClr val="1F2A44"/>
                </a:solidFill>
                <a:latin typeface="Arial"/>
                <a:ea typeface="Microsoft YaHei"/>
              </a:rPr>
              <a:t>Read the 15 expressions aloud. Cover the English and say it from the Chinese. Make 2 true sentences with ★ items.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112264"/>
            <a:ext cx="1554480" cy="438912"/>
          </a:xfrm>
          <a:prstGeom prst="roundRect">
            <a:avLst>
              <a:gd name="adj" fmla="val 20000"/>
            </a:avLst>
          </a:prstGeom>
          <a:solidFill>
            <a:srgbClr val="4A90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Aft>
                <a:spcPts val="200"/>
              </a:spcAft>
            </a:pPr>
            <a:r>
              <a:rPr sz="1500" b="1">
                <a:solidFill>
                  <a:srgbClr val="FFFFFF"/>
                </a:solidFill>
                <a:latin typeface="Arial"/>
                <a:ea typeface="Microsoft YaHei"/>
              </a:rPr>
              <a:t>⏱ 2–5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240280" y="2112264"/>
            <a:ext cx="9402775" cy="438912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l">
              <a:spcAft>
                <a:spcPts val="200"/>
              </a:spcAft>
            </a:pPr>
            <a:r>
              <a:rPr sz="1800" b="1">
                <a:solidFill>
                  <a:srgbClr val="1F2A44"/>
                </a:solidFill>
                <a:latin typeface="Arial"/>
                <a:ea typeface="Microsoft YaHei"/>
              </a:rPr>
              <a:t>Shadow the model dialogue or model email (copy the rhythm and intonation).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2624328"/>
            <a:ext cx="1554480" cy="438912"/>
          </a:xfrm>
          <a:prstGeom prst="roundRect">
            <a:avLst>
              <a:gd name="adj" fmla="val 20000"/>
            </a:avLst>
          </a:prstGeom>
          <a:solidFill>
            <a:srgbClr val="3CC4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Aft>
                <a:spcPts val="200"/>
              </a:spcAft>
            </a:pPr>
            <a:r>
              <a:rPr sz="1500" b="1">
                <a:solidFill>
                  <a:srgbClr val="FFFFFF"/>
                </a:solidFill>
                <a:latin typeface="Arial"/>
                <a:ea typeface="Microsoft YaHei"/>
              </a:rPr>
              <a:t>⏱ 5–8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240280" y="2624328"/>
            <a:ext cx="9402775" cy="438912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l">
              <a:spcAft>
                <a:spcPts val="200"/>
              </a:spcAft>
            </a:pPr>
            <a:r>
              <a:rPr sz="1800" b="1">
                <a:solidFill>
                  <a:srgbClr val="1F2A44"/>
                </a:solidFill>
                <a:latin typeface="Arial"/>
                <a:ea typeface="Microsoft YaHei"/>
              </a:rPr>
              <a:t>Do the role play with the blank role card. Record yourself.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3136392"/>
            <a:ext cx="1554480" cy="713232"/>
          </a:xfrm>
          <a:prstGeom prst="roundRect">
            <a:avLst>
              <a:gd name="adj" fmla="val 20000"/>
            </a:avLst>
          </a:prstGeom>
          <a:solidFill>
            <a:srgbClr val="FFC8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Aft>
                <a:spcPts val="200"/>
              </a:spcAft>
            </a:pPr>
            <a:r>
              <a:rPr sz="1500" b="1">
                <a:solidFill>
                  <a:srgbClr val="FFFFFF"/>
                </a:solidFill>
                <a:latin typeface="Arial"/>
                <a:ea typeface="Microsoft YaHei"/>
              </a:rPr>
              <a:t>⏱ 8–10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240280" y="3136392"/>
            <a:ext cx="9402775" cy="713232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l">
              <a:spcAft>
                <a:spcPts val="200"/>
              </a:spcAft>
            </a:pPr>
            <a:r>
              <a:rPr sz="1800" b="1">
                <a:solidFill>
                  <a:srgbClr val="1F2A44"/>
                </a:solidFill>
                <a:latin typeface="Arial"/>
                <a:ea typeface="Microsoft YaHei"/>
              </a:rPr>
              <a:t>Listen to the recording. Check: open questions, question tags, bored / boring, very much (not “very like”), and spelling. Write 3 corrections.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5760720"/>
            <a:ext cx="11094415" cy="502920"/>
          </a:xfrm>
          <a:prstGeom prst="roundRect">
            <a:avLst>
              <a:gd name="adj" fmla="val 30000"/>
            </a:avLst>
          </a:prstGeom>
          <a:solidFill>
            <a:srgbClr val="FFE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1F2A44"/>
                </a:solidFill>
                <a:latin typeface="Arial"/>
                <a:ea typeface="Microsoft YaHei"/>
              </a:rPr>
              <a:t>📅 Weekly rhythm: Mon–Tue Scenario 1 · Wed–Thu Scenario 2 · Fri Level-up variation · Weekend: record the 1-minute speaking prompt again and compare with Monday.</a:t>
            </a:r>
          </a:p>
        </p:txBody>
      </p:sp>
    </p:spTree>
  </p:cSld>
  <p:clrMapOvr>
    <a:masterClrMapping/>
  </p:clrMapOvr>
  <p:transition spd="med">
    <p:fade/>
  </p:transition>
</p:sld>
</file>

<file path=ppt/slides/slide1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FC8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8442656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3200" b="1">
                <a:solidFill>
                  <a:srgbClr val="1F2A44"/>
                </a:solidFill>
                <a:latin typeface="Arial"/>
                <a:ea typeface="Microsoft YaHei"/>
              </a:rPr>
              <a:t>🎁 Lucky Boxes 幸运盒子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74175" y="438912"/>
            <a:ext cx="2560320" cy="475488"/>
          </a:xfrm>
          <a:prstGeom prst="roundRect">
            <a:avLst>
              <a:gd name="adj" fmla="val 50000"/>
            </a:avLst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3152" rIns="73152"/>
          <a:lstStyle/>
          <a:p>
            <a:pPr algn="ctr">
              <a:spcAft>
                <a:spcPts val="200"/>
              </a:spcAft>
            </a:pPr>
            <a:r>
              <a:rPr sz="1300" b="1">
                <a:solidFill>
                  <a:srgbClr val="FFFFFF"/>
                </a:solidFill>
                <a:latin typeface="Arial"/>
                <a:ea typeface="Microsoft YaHei"/>
              </a:rPr>
              <a:t>🎮 Unit game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19088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100" b="0">
                <a:solidFill>
                  <a:srgbClr val="5F677A"/>
                </a:solidFill>
                <a:latin typeface="Arial"/>
                <a:ea typeface="Microsoft YaHei"/>
              </a:rPr>
              <a:t>Business English · Level 4 · Unit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28655" y="6419088"/>
            <a:ext cx="914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  <a:spcAft>
                <a:spcPts val="800"/>
              </a:spcAft>
            </a:pPr>
            <a:r>
              <a:rPr sz="1100" b="0">
                <a:solidFill>
                  <a:srgbClr val="5F677A"/>
                </a:solidFill>
                <a:latin typeface="Arial"/>
                <a:ea typeface="Microsoft YaHei"/>
              </a:rPr>
              <a:t>141</a:t>
            </a:r>
          </a:p>
        </p:txBody>
      </p:sp>
      <p:sp>
        <p:nvSpPr>
          <p:cNvPr id="7" name="Rounded Rectangle 6">
            <a:hlinkClick action="ppaction://hlinksldjump" r:id="rId2"/>
          </p:cNvPr>
          <p:cNvSpPr/>
          <p:nvPr/>
        </p:nvSpPr>
        <p:spPr>
          <a:xfrm>
            <a:off x="9677095" y="6382512"/>
            <a:ext cx="960120" cy="329184"/>
          </a:xfrm>
          <a:prstGeom prst="roundRect">
            <a:avLst>
              <a:gd name="adj" fmla="val 50000"/>
            </a:avLst>
          </a:prstGeom>
          <a:solidFill>
            <a:srgbClr val="FFE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Aft>
                <a:spcPts val="200"/>
              </a:spcAft>
            </a:pPr>
            <a:r>
              <a:rPr sz="1100" b="1">
                <a:solidFill>
                  <a:srgbClr val="1F2A44"/>
                </a:solidFill>
                <a:latin typeface="Arial"/>
                <a:ea typeface="Microsoft YaHei"/>
              </a:rPr>
              <a:t>🗺 Map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024128"/>
            <a:ext cx="11094415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500" b="0">
                <a:solidFill>
                  <a:srgbClr val="5F677A"/>
                </a:solidFill>
                <a:latin typeface="Arial"/>
                <a:ea typeface="Microsoft YaHei"/>
              </a:rPr>
              <a:t>Pick a number, take the challenge!  选一个数字，接受挑战</a:t>
            </a:r>
          </a:p>
        </p:txBody>
      </p:sp>
      <p:sp>
        <p:nvSpPr>
          <p:cNvPr id="9" name="Rounded Rectangle 8">
            <a:hlinkClick action="ppaction://hlinksldjump" r:id="rId4"/>
          </p:cNvPr>
          <p:cNvSpPr/>
          <p:nvPr/>
        </p:nvSpPr>
        <p:spPr>
          <a:xfrm>
            <a:off x="1691640" y="1508760"/>
            <a:ext cx="2773680" cy="1371600"/>
          </a:xfrm>
          <a:prstGeom prst="roundRect">
            <a:avLst>
              <a:gd name="adj" fmla="val 18000"/>
            </a:avLst>
          </a:prstGeom>
          <a:solidFill>
            <a:srgbClr val="FF6B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Aft>
                <a:spcPts val="200"/>
              </a:spcAft>
            </a:pPr>
            <a:r>
              <a:rPr sz="3400" b="1">
                <a:solidFill>
                  <a:srgbClr val="FFFFFF"/>
                </a:solidFill>
                <a:latin typeface="Arial"/>
                <a:ea typeface="Microsoft YaHei"/>
              </a:rPr>
              <a:t>🎁 1</a:t>
            </a:r>
          </a:p>
        </p:txBody>
      </p:sp>
      <p:sp>
        <p:nvSpPr>
          <p:cNvPr id="10" name="Rounded Rectangle 9">
            <a:hlinkClick action="ppaction://hlinksldjump" r:id="rId5"/>
          </p:cNvPr>
          <p:cNvSpPr/>
          <p:nvPr/>
        </p:nvSpPr>
        <p:spPr>
          <a:xfrm>
            <a:off x="4693920" y="1508760"/>
            <a:ext cx="2773680" cy="1371600"/>
          </a:xfrm>
          <a:prstGeom prst="roundRect">
            <a:avLst>
              <a:gd name="adj" fmla="val 18000"/>
            </a:avLst>
          </a:prstGeom>
          <a:solidFill>
            <a:srgbClr val="4A90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Aft>
                <a:spcPts val="200"/>
              </a:spcAft>
            </a:pPr>
            <a:r>
              <a:rPr sz="3400" b="1">
                <a:solidFill>
                  <a:srgbClr val="FFFFFF"/>
                </a:solidFill>
                <a:latin typeface="Arial"/>
                <a:ea typeface="Microsoft YaHei"/>
              </a:rPr>
              <a:t>🎁 2</a:t>
            </a:r>
          </a:p>
        </p:txBody>
      </p:sp>
      <p:sp>
        <p:nvSpPr>
          <p:cNvPr id="11" name="Rounded Rectangle 10">
            <a:hlinkClick action="ppaction://hlinksldjump" r:id="rId6"/>
          </p:cNvPr>
          <p:cNvSpPr/>
          <p:nvPr/>
        </p:nvSpPr>
        <p:spPr>
          <a:xfrm>
            <a:off x="7696200" y="1508760"/>
            <a:ext cx="2773680" cy="1371600"/>
          </a:xfrm>
          <a:prstGeom prst="roundRect">
            <a:avLst>
              <a:gd name="adj" fmla="val 18000"/>
            </a:avLst>
          </a:prstGeom>
          <a:solidFill>
            <a:srgbClr val="3CC4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Aft>
                <a:spcPts val="200"/>
              </a:spcAft>
            </a:pPr>
            <a:r>
              <a:rPr sz="3400" b="1">
                <a:solidFill>
                  <a:srgbClr val="FFFFFF"/>
                </a:solidFill>
                <a:latin typeface="Arial"/>
                <a:ea typeface="Microsoft YaHei"/>
              </a:rPr>
              <a:t>🎁 3</a:t>
            </a:r>
          </a:p>
        </p:txBody>
      </p:sp>
      <p:sp>
        <p:nvSpPr>
          <p:cNvPr id="12" name="Rounded Rectangle 11">
            <a:hlinkClick action="ppaction://hlinksldjump" r:id="rId7"/>
          </p:cNvPr>
          <p:cNvSpPr/>
          <p:nvPr/>
        </p:nvSpPr>
        <p:spPr>
          <a:xfrm>
            <a:off x="1691640" y="3108960"/>
            <a:ext cx="2773680" cy="1371600"/>
          </a:xfrm>
          <a:prstGeom prst="roundRect">
            <a:avLst>
              <a:gd name="adj" fmla="val 18000"/>
            </a:avLst>
          </a:prstGeom>
          <a:solidFill>
            <a:srgbClr val="FFC8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Aft>
                <a:spcPts val="200"/>
              </a:spcAft>
            </a:pPr>
            <a:r>
              <a:rPr sz="3400" b="1">
                <a:solidFill>
                  <a:srgbClr val="FFFFFF"/>
                </a:solidFill>
                <a:latin typeface="Arial"/>
                <a:ea typeface="Microsoft YaHei"/>
              </a:rPr>
              <a:t>🎁 4</a:t>
            </a:r>
          </a:p>
        </p:txBody>
      </p:sp>
      <p:sp>
        <p:nvSpPr>
          <p:cNvPr id="13" name="Rounded Rectangle 12">
            <a:hlinkClick action="ppaction://hlinksldjump" r:id="rId8"/>
          </p:cNvPr>
          <p:cNvSpPr/>
          <p:nvPr/>
        </p:nvSpPr>
        <p:spPr>
          <a:xfrm>
            <a:off x="4693920" y="3108960"/>
            <a:ext cx="2773680" cy="1371600"/>
          </a:xfrm>
          <a:prstGeom prst="roundRect">
            <a:avLst>
              <a:gd name="adj" fmla="val 18000"/>
            </a:avLst>
          </a:prstGeom>
          <a:solidFill>
            <a:srgbClr val="9B6B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Aft>
                <a:spcPts val="200"/>
              </a:spcAft>
            </a:pPr>
            <a:r>
              <a:rPr sz="3400" b="1">
                <a:solidFill>
                  <a:srgbClr val="FFFFFF"/>
                </a:solidFill>
                <a:latin typeface="Arial"/>
                <a:ea typeface="Microsoft YaHei"/>
              </a:rPr>
              <a:t>🎁 5</a:t>
            </a:r>
          </a:p>
        </p:txBody>
      </p:sp>
      <p:sp>
        <p:nvSpPr>
          <p:cNvPr id="14" name="Rounded Rectangle 13">
            <a:hlinkClick action="ppaction://hlinksldjump" r:id="rId9"/>
          </p:cNvPr>
          <p:cNvSpPr/>
          <p:nvPr/>
        </p:nvSpPr>
        <p:spPr>
          <a:xfrm>
            <a:off x="7696200" y="3108960"/>
            <a:ext cx="2773680" cy="1371600"/>
          </a:xfrm>
          <a:prstGeom prst="roundRect">
            <a:avLst>
              <a:gd name="adj" fmla="val 18000"/>
            </a:avLst>
          </a:prstGeom>
          <a:solidFill>
            <a:srgbClr val="FF6B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Aft>
                <a:spcPts val="200"/>
              </a:spcAft>
            </a:pPr>
            <a:r>
              <a:rPr sz="3400" b="1">
                <a:solidFill>
                  <a:srgbClr val="FFFFFF"/>
                </a:solidFill>
                <a:latin typeface="Arial"/>
                <a:ea typeface="Microsoft YaHei"/>
              </a:rPr>
              <a:t>🎁 6</a:t>
            </a:r>
          </a:p>
        </p:txBody>
      </p:sp>
      <p:sp>
        <p:nvSpPr>
          <p:cNvPr id="15" name="Rounded Rectangle 14">
            <a:hlinkClick action="ppaction://hlinksldjump" r:id="rId10"/>
          </p:cNvPr>
          <p:cNvSpPr/>
          <p:nvPr/>
        </p:nvSpPr>
        <p:spPr>
          <a:xfrm>
            <a:off x="1691640" y="4709160"/>
            <a:ext cx="2773680" cy="1371600"/>
          </a:xfrm>
          <a:prstGeom prst="roundRect">
            <a:avLst>
              <a:gd name="adj" fmla="val 18000"/>
            </a:avLst>
          </a:prstGeom>
          <a:solidFill>
            <a:srgbClr val="4A90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Aft>
                <a:spcPts val="200"/>
              </a:spcAft>
            </a:pPr>
            <a:r>
              <a:rPr sz="3400" b="1">
                <a:solidFill>
                  <a:srgbClr val="FFFFFF"/>
                </a:solidFill>
                <a:latin typeface="Arial"/>
                <a:ea typeface="Microsoft YaHei"/>
              </a:rPr>
              <a:t>🎁 7</a:t>
            </a:r>
          </a:p>
        </p:txBody>
      </p:sp>
      <p:sp>
        <p:nvSpPr>
          <p:cNvPr id="16" name="Rounded Rectangle 15">
            <a:hlinkClick action="ppaction://hlinksldjump" r:id="rId11"/>
          </p:cNvPr>
          <p:cNvSpPr/>
          <p:nvPr/>
        </p:nvSpPr>
        <p:spPr>
          <a:xfrm>
            <a:off x="4693920" y="4709160"/>
            <a:ext cx="2773680" cy="1371600"/>
          </a:xfrm>
          <a:prstGeom prst="roundRect">
            <a:avLst>
              <a:gd name="adj" fmla="val 18000"/>
            </a:avLst>
          </a:prstGeom>
          <a:solidFill>
            <a:srgbClr val="3CC4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Aft>
                <a:spcPts val="200"/>
              </a:spcAft>
            </a:pPr>
            <a:r>
              <a:rPr sz="3400" b="1">
                <a:solidFill>
                  <a:srgbClr val="FFFFFF"/>
                </a:solidFill>
                <a:latin typeface="Arial"/>
                <a:ea typeface="Microsoft YaHei"/>
              </a:rPr>
              <a:t>🎁 8</a:t>
            </a:r>
          </a:p>
        </p:txBody>
      </p:sp>
      <p:sp>
        <p:nvSpPr>
          <p:cNvPr id="17" name="Rounded Rectangle 16">
            <a:hlinkClick action="ppaction://hlinksldjump" r:id="rId12"/>
          </p:cNvPr>
          <p:cNvSpPr/>
          <p:nvPr/>
        </p:nvSpPr>
        <p:spPr>
          <a:xfrm>
            <a:off x="7696200" y="4709160"/>
            <a:ext cx="2773680" cy="1371600"/>
          </a:xfrm>
          <a:prstGeom prst="roundRect">
            <a:avLst>
              <a:gd name="adj" fmla="val 18000"/>
            </a:avLst>
          </a:prstGeom>
          <a:solidFill>
            <a:srgbClr val="FFC8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Aft>
                <a:spcPts val="200"/>
              </a:spcAft>
            </a:pPr>
            <a:r>
              <a:rPr sz="3400" b="1">
                <a:solidFill>
                  <a:srgbClr val="FFFFFF"/>
                </a:solidFill>
                <a:latin typeface="Arial"/>
                <a:ea typeface="Microsoft YaHei"/>
              </a:rPr>
              <a:t>🎁 9</a:t>
            </a:r>
          </a:p>
        </p:txBody>
      </p:sp>
    </p:spTree>
  </p:cSld>
  <p:clrMapOvr>
    <a:masterClrMapping/>
  </p:clrMapOvr>
  <p:transition spd="med">
    <p:fade/>
  </p:transition>
</p:sld>
</file>

<file path=ppt/slides/slide142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bg>
      <p:bgPr>
        <a:solidFill>
          <a:srgbClr val="FFF8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FC8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8442656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3200" b="1">
                <a:solidFill>
                  <a:srgbClr val="1F2A44"/>
                </a:solidFill>
                <a:latin typeface="Arial"/>
                <a:ea typeface="Microsoft YaHei"/>
              </a:rPr>
              <a:t>Lucky Box 1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74175" y="438912"/>
            <a:ext cx="2560320" cy="475488"/>
          </a:xfrm>
          <a:prstGeom prst="roundRect">
            <a:avLst>
              <a:gd name="adj" fmla="val 50000"/>
            </a:avLst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3152" rIns="73152"/>
          <a:lstStyle/>
          <a:p>
            <a:pPr algn="ctr">
              <a:spcAft>
                <a:spcPts val="200"/>
              </a:spcAft>
            </a:pPr>
            <a:r>
              <a:rPr sz="1300" b="1">
                <a:solidFill>
                  <a:srgbClr val="FFFFFF"/>
                </a:solidFill>
                <a:latin typeface="Arial"/>
                <a:ea typeface="Microsoft YaHei"/>
              </a:rPr>
              <a:t>🎁 Lucky Boxes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19088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100" b="0">
                <a:solidFill>
                  <a:srgbClr val="5F677A"/>
                </a:solidFill>
                <a:latin typeface="Arial"/>
                <a:ea typeface="Microsoft YaHei"/>
              </a:rPr>
              <a:t>Business English · Level 4 · Unit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28655" y="6419088"/>
            <a:ext cx="914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  <a:spcAft>
                <a:spcPts val="800"/>
              </a:spcAft>
            </a:pPr>
            <a:r>
              <a:rPr sz="1100" b="0">
                <a:solidFill>
                  <a:srgbClr val="5F677A"/>
                </a:solidFill>
                <a:latin typeface="Arial"/>
                <a:ea typeface="Microsoft YaHei"/>
              </a:rPr>
              <a:t>142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0" y="1371600"/>
            <a:ext cx="12191695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800"/>
              </a:spcAft>
            </a:pPr>
            <a:r>
              <a:rPr sz="11000" b="0">
                <a:solidFill>
                  <a:srgbClr val="1F2A44"/>
                </a:solidFill>
                <a:latin typeface="Arial"/>
                <a:ea typeface="Microsoft YaHei"/>
              </a:rPr>
              <a:t>🎁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0" y="3474720"/>
            <a:ext cx="12191695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800"/>
              </a:spcAft>
            </a:pPr>
            <a:r>
              <a:rPr sz="5400" b="1">
                <a:solidFill>
                  <a:srgbClr val="FF6B5B"/>
                </a:solidFill>
                <a:latin typeface="Arial"/>
                <a:ea typeface="Microsoft YaHei"/>
              </a:rPr>
              <a:t>Bonus!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0" y="4480560"/>
            <a:ext cx="12191695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800"/>
              </a:spcAft>
            </a:pPr>
            <a:r>
              <a:rPr sz="2400" b="0">
                <a:solidFill>
                  <a:srgbClr val="5F677A"/>
                </a:solidFill>
                <a:latin typeface="Arial"/>
                <a:ea typeface="Microsoft YaHei"/>
              </a:rPr>
              <a:t>本组直接 +2 ⭐</a:t>
            </a:r>
          </a:p>
        </p:txBody>
      </p:sp>
      <p:sp>
        <p:nvSpPr>
          <p:cNvPr id="10" name="Rounded Rectangle 9">
            <a:hlinkClick action="ppaction://hlinksldjump" r:id="rId2"/>
          </p:cNvPr>
          <p:cNvSpPr/>
          <p:nvPr/>
        </p:nvSpPr>
        <p:spPr>
          <a:xfrm>
            <a:off x="9814255" y="5669280"/>
            <a:ext cx="1828800" cy="594360"/>
          </a:xfrm>
          <a:prstGeom prst="roundRect">
            <a:avLst>
              <a:gd name="adj" fmla="val 50000"/>
            </a:avLst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Aft>
                <a:spcPts val="200"/>
              </a:spcAft>
            </a:pPr>
            <a:r>
              <a:rPr sz="2000" b="1">
                <a:solidFill>
                  <a:srgbClr val="FFFFFF"/>
                </a:solidFill>
                <a:latin typeface="Arial"/>
                <a:ea typeface="Microsoft YaHei"/>
              </a:rPr>
              <a:t>↩ Back</a:t>
            </a:r>
          </a:p>
        </p:txBody>
      </p:sp>
    </p:spTree>
  </p:cSld>
  <p:clrMapOvr>
    <a:masterClrMapping/>
  </p:clrMapOvr>
  <p:transition spd="med">
    <p:fade/>
  </p:transition>
</p:sld>
</file>

<file path=ppt/slides/slide143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bg>
      <p:bgPr>
        <a:solidFill>
          <a:srgbClr val="FFF8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FC8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8442656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3200" b="1">
                <a:solidFill>
                  <a:srgbClr val="1F2A44"/>
                </a:solidFill>
                <a:latin typeface="Arial"/>
                <a:ea typeface="Microsoft YaHei"/>
              </a:rPr>
              <a:t>Lucky Box 2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74175" y="438912"/>
            <a:ext cx="2560320" cy="475488"/>
          </a:xfrm>
          <a:prstGeom prst="roundRect">
            <a:avLst>
              <a:gd name="adj" fmla="val 50000"/>
            </a:avLst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3152" rIns="73152"/>
          <a:lstStyle/>
          <a:p>
            <a:pPr algn="ctr">
              <a:spcAft>
                <a:spcPts val="200"/>
              </a:spcAft>
            </a:pPr>
            <a:r>
              <a:rPr sz="1300" b="1">
                <a:solidFill>
                  <a:srgbClr val="FFFFFF"/>
                </a:solidFill>
                <a:latin typeface="Arial"/>
                <a:ea typeface="Microsoft YaHei"/>
              </a:rPr>
              <a:t>🎁 Lucky Boxes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19088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100" b="0">
                <a:solidFill>
                  <a:srgbClr val="5F677A"/>
                </a:solidFill>
                <a:latin typeface="Arial"/>
                <a:ea typeface="Microsoft YaHei"/>
              </a:rPr>
              <a:t>Business English · Level 4 · Unit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28655" y="6419088"/>
            <a:ext cx="914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  <a:spcAft>
                <a:spcPts val="800"/>
              </a:spcAft>
            </a:pPr>
            <a:r>
              <a:rPr sz="1100" b="0">
                <a:solidFill>
                  <a:srgbClr val="5F677A"/>
                </a:solidFill>
                <a:latin typeface="Arial"/>
                <a:ea typeface="Microsoft YaHei"/>
              </a:rPr>
              <a:t>143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0" y="1234440"/>
            <a:ext cx="12191695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800"/>
              </a:spcAft>
            </a:pPr>
            <a:r>
              <a:rPr sz="3600" b="1">
                <a:solidFill>
                  <a:srgbClr val="4A90E2"/>
                </a:solidFill>
                <a:latin typeface="Arial"/>
                <a:ea typeface="Microsoft YaHei"/>
              </a:rPr>
              <a:t>🔤  Say it in English!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0" y="1920240"/>
            <a:ext cx="12191695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800"/>
              </a:spcAft>
            </a:pPr>
            <a:r>
              <a:rPr sz="1800" b="0">
                <a:solidFill>
                  <a:srgbClr val="5F677A"/>
                </a:solidFill>
                <a:latin typeface="Arial"/>
                <a:ea typeface="Microsoft YaHei"/>
              </a:rPr>
              <a:t>这个用英语怎么说？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645920" y="2514600"/>
            <a:ext cx="8869680" cy="16459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31750">
            <a:solidFill>
              <a:srgbClr val="FFC8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Aft>
                <a:spcPts val="200"/>
              </a:spcAft>
            </a:pPr>
            <a:r>
              <a:rPr sz="4000" b="1">
                <a:solidFill>
                  <a:srgbClr val="1F2A44"/>
                </a:solidFill>
                <a:latin typeface="Arial"/>
                <a:ea typeface="Microsoft YaHei"/>
              </a:rPr>
              <a:t>您是来找哪位的?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103120" y="4389120"/>
            <a:ext cx="7955279" cy="1005840"/>
          </a:xfrm>
          <a:prstGeom prst="roundRect">
            <a:avLst>
              <a:gd name="adj" fmla="val 20000"/>
            </a:avLst>
          </a:prstGeom>
          <a:solidFill>
            <a:srgbClr val="3CC4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Aft>
                <a:spcPts val="200"/>
              </a:spcAft>
            </a:pPr>
            <a:r>
              <a:rPr sz="2400" b="1">
                <a:solidFill>
                  <a:srgbClr val="FFFFFF"/>
                </a:solidFill>
                <a:latin typeface="Arial"/>
                <a:ea typeface="Microsoft YaHei"/>
              </a:rPr>
              <a:t>Who are you here to see?</a:t>
            </a:r>
          </a:p>
        </p:txBody>
      </p:sp>
      <p:sp>
        <p:nvSpPr>
          <p:cNvPr id="11" name="Rounded Rectangle 10">
            <a:hlinkClick action="ppaction://hlinksldjump" r:id="rId2"/>
          </p:cNvPr>
          <p:cNvSpPr/>
          <p:nvPr/>
        </p:nvSpPr>
        <p:spPr>
          <a:xfrm>
            <a:off x="9814255" y="5669280"/>
            <a:ext cx="1828800" cy="594360"/>
          </a:xfrm>
          <a:prstGeom prst="roundRect">
            <a:avLst>
              <a:gd name="adj" fmla="val 50000"/>
            </a:avLst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Aft>
                <a:spcPts val="200"/>
              </a:spcAft>
            </a:pPr>
            <a:r>
              <a:rPr sz="2000" b="1">
                <a:solidFill>
                  <a:srgbClr val="FFFFFF"/>
                </a:solidFill>
                <a:latin typeface="Arial"/>
                <a:ea typeface="Microsoft YaHei"/>
              </a:rPr>
              <a:t>↩ Back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" fill="hold">
                      <p:stCondLst>
                        <p:cond delay="indefinite"/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4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bg>
      <p:bgPr>
        <a:solidFill>
          <a:srgbClr val="FFF8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FC8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8442656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3200" b="1">
                <a:solidFill>
                  <a:srgbClr val="1F2A44"/>
                </a:solidFill>
                <a:latin typeface="Arial"/>
                <a:ea typeface="Microsoft YaHei"/>
              </a:rPr>
              <a:t>Lucky Box 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74175" y="438912"/>
            <a:ext cx="2560320" cy="475488"/>
          </a:xfrm>
          <a:prstGeom prst="roundRect">
            <a:avLst>
              <a:gd name="adj" fmla="val 50000"/>
            </a:avLst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3152" rIns="73152"/>
          <a:lstStyle/>
          <a:p>
            <a:pPr algn="ctr">
              <a:spcAft>
                <a:spcPts val="200"/>
              </a:spcAft>
            </a:pPr>
            <a:r>
              <a:rPr sz="1300" b="1">
                <a:solidFill>
                  <a:srgbClr val="FFFFFF"/>
                </a:solidFill>
                <a:latin typeface="Arial"/>
                <a:ea typeface="Microsoft YaHei"/>
              </a:rPr>
              <a:t>🎁 Lucky Boxes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19088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100" b="0">
                <a:solidFill>
                  <a:srgbClr val="5F677A"/>
                </a:solidFill>
                <a:latin typeface="Arial"/>
                <a:ea typeface="Microsoft YaHei"/>
              </a:rPr>
              <a:t>Business English · Level 4 · Unit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28655" y="6419088"/>
            <a:ext cx="914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  <a:spcAft>
                <a:spcPts val="800"/>
              </a:spcAft>
            </a:pPr>
            <a:r>
              <a:rPr sz="1100" b="0">
                <a:solidFill>
                  <a:srgbClr val="5F677A"/>
                </a:solidFill>
                <a:latin typeface="Arial"/>
                <a:ea typeface="Microsoft YaHei"/>
              </a:rPr>
              <a:t>144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0" y="1234440"/>
            <a:ext cx="12191695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800"/>
              </a:spcAft>
            </a:pPr>
            <a:r>
              <a:rPr sz="3600" b="1">
                <a:solidFill>
                  <a:srgbClr val="4A90E2"/>
                </a:solidFill>
                <a:latin typeface="Arial"/>
                <a:ea typeface="Microsoft YaHei"/>
              </a:rPr>
              <a:t>💡  Use it!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0" y="1920240"/>
            <a:ext cx="12191695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800"/>
              </a:spcAft>
            </a:pPr>
            <a:r>
              <a:rPr sz="1800" b="0">
                <a:solidFill>
                  <a:srgbClr val="5F677A"/>
                </a:solidFill>
                <a:latin typeface="Arial"/>
                <a:ea typeface="Microsoft YaHei"/>
              </a:rPr>
              <a:t>用这个表达说一句和你工作相关的话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645920" y="2514600"/>
            <a:ext cx="8869680" cy="16459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31750">
            <a:solidFill>
              <a:srgbClr val="FFC8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Aft>
                <a:spcPts val="200"/>
              </a:spcAft>
            </a:pPr>
            <a:r>
              <a:rPr sz="4000" b="1">
                <a:solidFill>
                  <a:srgbClr val="1F2A44"/>
                </a:solidFill>
                <a:latin typeface="Arial"/>
                <a:ea typeface="Microsoft YaHei"/>
              </a:rPr>
              <a:t>Really?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103120" y="4389120"/>
            <a:ext cx="7955279" cy="1005840"/>
          </a:xfrm>
          <a:prstGeom prst="roundRect">
            <a:avLst>
              <a:gd name="adj" fmla="val 20000"/>
            </a:avLst>
          </a:prstGeom>
          <a:solidFill>
            <a:srgbClr val="3CC4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Aft>
                <a:spcPts val="200"/>
              </a:spcAft>
            </a:pPr>
            <a:r>
              <a:rPr sz="2400" b="1">
                <a:solidFill>
                  <a:srgbClr val="FFFFFF"/>
                </a:solidFill>
                <a:latin typeface="Arial"/>
                <a:ea typeface="Microsoft YaHei"/>
              </a:rPr>
              <a:t>I lived in Tokyo for two years.” — “Really? What was it like?</a:t>
            </a:r>
          </a:p>
        </p:txBody>
      </p:sp>
      <p:sp>
        <p:nvSpPr>
          <p:cNvPr id="11" name="Rounded Rectangle 10">
            <a:hlinkClick action="ppaction://hlinksldjump" r:id="rId2"/>
          </p:cNvPr>
          <p:cNvSpPr/>
          <p:nvPr/>
        </p:nvSpPr>
        <p:spPr>
          <a:xfrm>
            <a:off x="9814255" y="5669280"/>
            <a:ext cx="1828800" cy="594360"/>
          </a:xfrm>
          <a:prstGeom prst="roundRect">
            <a:avLst>
              <a:gd name="adj" fmla="val 50000"/>
            </a:avLst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Aft>
                <a:spcPts val="200"/>
              </a:spcAft>
            </a:pPr>
            <a:r>
              <a:rPr sz="2000" b="1">
                <a:solidFill>
                  <a:srgbClr val="FFFFFF"/>
                </a:solidFill>
                <a:latin typeface="Arial"/>
                <a:ea typeface="Microsoft YaHei"/>
              </a:rPr>
              <a:t>↩ Back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" fill="hold">
                      <p:stCondLst>
                        <p:cond delay="indefinite"/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5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bg>
      <p:bgPr>
        <a:solidFill>
          <a:srgbClr val="FFF8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FC8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8442656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3200" b="1">
                <a:solidFill>
                  <a:srgbClr val="1F2A44"/>
                </a:solidFill>
                <a:latin typeface="Arial"/>
                <a:ea typeface="Microsoft YaHei"/>
              </a:rPr>
              <a:t>Lucky Box 4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74175" y="438912"/>
            <a:ext cx="2560320" cy="475488"/>
          </a:xfrm>
          <a:prstGeom prst="roundRect">
            <a:avLst>
              <a:gd name="adj" fmla="val 50000"/>
            </a:avLst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3152" rIns="73152"/>
          <a:lstStyle/>
          <a:p>
            <a:pPr algn="ctr">
              <a:spcAft>
                <a:spcPts val="200"/>
              </a:spcAft>
            </a:pPr>
            <a:r>
              <a:rPr sz="1300" b="1">
                <a:solidFill>
                  <a:srgbClr val="FFFFFF"/>
                </a:solidFill>
                <a:latin typeface="Arial"/>
                <a:ea typeface="Microsoft YaHei"/>
              </a:rPr>
              <a:t>🎁 Lucky Boxes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19088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100" b="0">
                <a:solidFill>
                  <a:srgbClr val="5F677A"/>
                </a:solidFill>
                <a:latin typeface="Arial"/>
                <a:ea typeface="Microsoft YaHei"/>
              </a:rPr>
              <a:t>Business English · Level 4 · Unit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28655" y="6419088"/>
            <a:ext cx="914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  <a:spcAft>
                <a:spcPts val="800"/>
              </a:spcAft>
            </a:pPr>
            <a:r>
              <a:rPr sz="1100" b="0">
                <a:solidFill>
                  <a:srgbClr val="5F677A"/>
                </a:solidFill>
                <a:latin typeface="Arial"/>
                <a:ea typeface="Microsoft YaHei"/>
              </a:rPr>
              <a:t>145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0" y="1234440"/>
            <a:ext cx="12191695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800"/>
              </a:spcAft>
            </a:pPr>
            <a:r>
              <a:rPr sz="3600" b="1">
                <a:solidFill>
                  <a:srgbClr val="4A90E2"/>
                </a:solidFill>
                <a:latin typeface="Arial"/>
                <a:ea typeface="Microsoft YaHei"/>
              </a:rPr>
              <a:t>💡  Use it!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0" y="1920240"/>
            <a:ext cx="12191695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800"/>
              </a:spcAft>
            </a:pPr>
            <a:r>
              <a:rPr sz="1800" b="0">
                <a:solidFill>
                  <a:srgbClr val="5F677A"/>
                </a:solidFill>
                <a:latin typeface="Arial"/>
                <a:ea typeface="Microsoft YaHei"/>
              </a:rPr>
              <a:t>用这个表达说一句和你工作相关的话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645920" y="2514600"/>
            <a:ext cx="8869680" cy="16459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31750">
            <a:solidFill>
              <a:srgbClr val="FFC8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Aft>
                <a:spcPts val="200"/>
              </a:spcAft>
            </a:pPr>
            <a:r>
              <a:rPr sz="4000" b="1">
                <a:solidFill>
                  <a:srgbClr val="1F2A44"/>
                </a:solidFill>
                <a:latin typeface="Arial"/>
                <a:ea typeface="Microsoft YaHei"/>
              </a:rPr>
              <a:t>I’ve booked a hotel for you.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103120" y="4389120"/>
            <a:ext cx="7955279" cy="1005840"/>
          </a:xfrm>
          <a:prstGeom prst="roundRect">
            <a:avLst>
              <a:gd name="adj" fmla="val 20000"/>
            </a:avLst>
          </a:prstGeom>
          <a:solidFill>
            <a:srgbClr val="3CC4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Aft>
                <a:spcPts val="200"/>
              </a:spcAft>
            </a:pPr>
            <a:r>
              <a:rPr sz="2400" b="1">
                <a:solidFill>
                  <a:srgbClr val="FFFFFF"/>
                </a:solidFill>
                <a:latin typeface="Arial"/>
                <a:ea typeface="Microsoft YaHei"/>
              </a:rPr>
              <a:t>I’ve booked a hotel near the office for you.</a:t>
            </a:r>
          </a:p>
        </p:txBody>
      </p:sp>
      <p:sp>
        <p:nvSpPr>
          <p:cNvPr id="11" name="Rounded Rectangle 10">
            <a:hlinkClick action="ppaction://hlinksldjump" r:id="rId2"/>
          </p:cNvPr>
          <p:cNvSpPr/>
          <p:nvPr/>
        </p:nvSpPr>
        <p:spPr>
          <a:xfrm>
            <a:off x="9814255" y="5669280"/>
            <a:ext cx="1828800" cy="594360"/>
          </a:xfrm>
          <a:prstGeom prst="roundRect">
            <a:avLst>
              <a:gd name="adj" fmla="val 50000"/>
            </a:avLst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Aft>
                <a:spcPts val="200"/>
              </a:spcAft>
            </a:pPr>
            <a:r>
              <a:rPr sz="2000" b="1">
                <a:solidFill>
                  <a:srgbClr val="FFFFFF"/>
                </a:solidFill>
                <a:latin typeface="Arial"/>
                <a:ea typeface="Microsoft YaHei"/>
              </a:rPr>
              <a:t>↩ Back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" fill="hold">
                      <p:stCondLst>
                        <p:cond delay="indefinite"/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6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bg>
      <p:bgPr>
        <a:solidFill>
          <a:srgbClr val="FFF8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FC8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8442656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3200" b="1">
                <a:solidFill>
                  <a:srgbClr val="1F2A44"/>
                </a:solidFill>
                <a:latin typeface="Arial"/>
                <a:ea typeface="Microsoft YaHei"/>
              </a:rPr>
              <a:t>Lucky Box 5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74175" y="438912"/>
            <a:ext cx="2560320" cy="475488"/>
          </a:xfrm>
          <a:prstGeom prst="roundRect">
            <a:avLst>
              <a:gd name="adj" fmla="val 50000"/>
            </a:avLst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3152" rIns="73152"/>
          <a:lstStyle/>
          <a:p>
            <a:pPr algn="ctr">
              <a:spcAft>
                <a:spcPts val="200"/>
              </a:spcAft>
            </a:pPr>
            <a:r>
              <a:rPr sz="1300" b="1">
                <a:solidFill>
                  <a:srgbClr val="FFFFFF"/>
                </a:solidFill>
                <a:latin typeface="Arial"/>
                <a:ea typeface="Microsoft YaHei"/>
              </a:rPr>
              <a:t>🎁 Lucky Boxes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19088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100" b="0">
                <a:solidFill>
                  <a:srgbClr val="5F677A"/>
                </a:solidFill>
                <a:latin typeface="Arial"/>
                <a:ea typeface="Microsoft YaHei"/>
              </a:rPr>
              <a:t>Business English · Level 4 · Unit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28655" y="6419088"/>
            <a:ext cx="914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  <a:spcAft>
                <a:spcPts val="800"/>
              </a:spcAft>
            </a:pPr>
            <a:r>
              <a:rPr sz="1100" b="0">
                <a:solidFill>
                  <a:srgbClr val="5F677A"/>
                </a:solidFill>
                <a:latin typeface="Arial"/>
                <a:ea typeface="Microsoft YaHei"/>
              </a:rPr>
              <a:t>146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0" y="1234440"/>
            <a:ext cx="12191695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800"/>
              </a:spcAft>
            </a:pPr>
            <a:r>
              <a:rPr sz="3600" b="1">
                <a:solidFill>
                  <a:srgbClr val="4A90E2"/>
                </a:solidFill>
                <a:latin typeface="Arial"/>
                <a:ea typeface="Microsoft YaHei"/>
              </a:rPr>
              <a:t>🔤  Say it in English!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0" y="1920240"/>
            <a:ext cx="12191695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800"/>
              </a:spcAft>
            </a:pPr>
            <a:r>
              <a:rPr sz="1800" b="0">
                <a:solidFill>
                  <a:srgbClr val="5F677A"/>
                </a:solidFill>
                <a:latin typeface="Arial"/>
                <a:ea typeface="Microsoft YaHei"/>
              </a:rPr>
              <a:t>这个用英语怎么说？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645920" y="2514600"/>
            <a:ext cx="8869680" cy="16459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31750">
            <a:solidFill>
              <a:srgbClr val="FFC8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Aft>
                <a:spcPts val="200"/>
              </a:spcAft>
            </a:pPr>
            <a:r>
              <a:rPr sz="4000" b="1">
                <a:solidFill>
                  <a:srgbClr val="1F2A44"/>
                </a:solidFill>
                <a:latin typeface="Arial"/>
                <a:ea typeface="Microsoft YaHei"/>
              </a:rPr>
              <a:t>我真的非常感谢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103120" y="4389120"/>
            <a:ext cx="7955279" cy="1005840"/>
          </a:xfrm>
          <a:prstGeom prst="roundRect">
            <a:avLst>
              <a:gd name="adj" fmla="val 20000"/>
            </a:avLst>
          </a:prstGeom>
          <a:solidFill>
            <a:srgbClr val="3CC4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Aft>
                <a:spcPts val="200"/>
              </a:spcAft>
            </a:pPr>
            <a:r>
              <a:rPr sz="2400" b="1">
                <a:solidFill>
                  <a:srgbClr val="FFFFFF"/>
                </a:solidFill>
                <a:latin typeface="Arial"/>
                <a:ea typeface="Microsoft YaHei"/>
              </a:rPr>
              <a:t>I really appreciate it.</a:t>
            </a:r>
          </a:p>
        </p:txBody>
      </p:sp>
      <p:sp>
        <p:nvSpPr>
          <p:cNvPr id="11" name="Rounded Rectangle 10">
            <a:hlinkClick action="ppaction://hlinksldjump" r:id="rId2"/>
          </p:cNvPr>
          <p:cNvSpPr/>
          <p:nvPr/>
        </p:nvSpPr>
        <p:spPr>
          <a:xfrm>
            <a:off x="9814255" y="5669280"/>
            <a:ext cx="1828800" cy="594360"/>
          </a:xfrm>
          <a:prstGeom prst="roundRect">
            <a:avLst>
              <a:gd name="adj" fmla="val 50000"/>
            </a:avLst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Aft>
                <a:spcPts val="200"/>
              </a:spcAft>
            </a:pPr>
            <a:r>
              <a:rPr sz="2000" b="1">
                <a:solidFill>
                  <a:srgbClr val="FFFFFF"/>
                </a:solidFill>
                <a:latin typeface="Arial"/>
                <a:ea typeface="Microsoft YaHei"/>
              </a:rPr>
              <a:t>↩ Back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" fill="hold">
                      <p:stCondLst>
                        <p:cond delay="indefinite"/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7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bg>
      <p:bgPr>
        <a:solidFill>
          <a:srgbClr val="FFF8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FC8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8442656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3200" b="1">
                <a:solidFill>
                  <a:srgbClr val="1F2A44"/>
                </a:solidFill>
                <a:latin typeface="Arial"/>
                <a:ea typeface="Microsoft YaHei"/>
              </a:rPr>
              <a:t>Lucky Box 6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74175" y="438912"/>
            <a:ext cx="2560320" cy="475488"/>
          </a:xfrm>
          <a:prstGeom prst="roundRect">
            <a:avLst>
              <a:gd name="adj" fmla="val 50000"/>
            </a:avLst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3152" rIns="73152"/>
          <a:lstStyle/>
          <a:p>
            <a:pPr algn="ctr">
              <a:spcAft>
                <a:spcPts val="200"/>
              </a:spcAft>
            </a:pPr>
            <a:r>
              <a:rPr sz="1300" b="1">
                <a:solidFill>
                  <a:srgbClr val="FFFFFF"/>
                </a:solidFill>
                <a:latin typeface="Arial"/>
                <a:ea typeface="Microsoft YaHei"/>
              </a:rPr>
              <a:t>🎁 Lucky Boxes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19088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100" b="0">
                <a:solidFill>
                  <a:srgbClr val="5F677A"/>
                </a:solidFill>
                <a:latin typeface="Arial"/>
                <a:ea typeface="Microsoft YaHei"/>
              </a:rPr>
              <a:t>Business English · Level 4 · Unit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28655" y="6419088"/>
            <a:ext cx="914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  <a:spcAft>
                <a:spcPts val="800"/>
              </a:spcAft>
            </a:pPr>
            <a:r>
              <a:rPr sz="1100" b="0">
                <a:solidFill>
                  <a:srgbClr val="5F677A"/>
                </a:solidFill>
                <a:latin typeface="Arial"/>
                <a:ea typeface="Microsoft YaHei"/>
              </a:rPr>
              <a:t>147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0" y="1234440"/>
            <a:ext cx="12191695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800"/>
              </a:spcAft>
            </a:pPr>
            <a:r>
              <a:rPr sz="3600" b="1">
                <a:solidFill>
                  <a:srgbClr val="4A90E2"/>
                </a:solidFill>
                <a:latin typeface="Arial"/>
                <a:ea typeface="Microsoft YaHei"/>
              </a:rPr>
              <a:t>🕵️  Fix it!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0" y="1920240"/>
            <a:ext cx="12191695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800"/>
              </a:spcAft>
            </a:pPr>
            <a:r>
              <a:rPr sz="1800" b="0">
                <a:solidFill>
                  <a:srgbClr val="5F677A"/>
                </a:solidFill>
                <a:latin typeface="Arial"/>
                <a:ea typeface="Microsoft YaHei"/>
              </a:rPr>
              <a:t>找出并改正错误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645920" y="2514600"/>
            <a:ext cx="8869680" cy="16459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31750">
            <a:solidFill>
              <a:srgbClr val="FFC8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Aft>
                <a:spcPts val="200"/>
              </a:spcAft>
            </a:pPr>
            <a:r>
              <a:rPr sz="4000" b="1">
                <a:solidFill>
                  <a:srgbClr val="1F2A44"/>
                </a:solidFill>
                <a:latin typeface="Arial"/>
                <a:ea typeface="Microsoft YaHei"/>
              </a:rPr>
              <a:t>How do you feel Shanghai?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103120" y="4389120"/>
            <a:ext cx="7955279" cy="1005840"/>
          </a:xfrm>
          <a:prstGeom prst="roundRect">
            <a:avLst>
              <a:gd name="adj" fmla="val 20000"/>
            </a:avLst>
          </a:prstGeom>
          <a:solidFill>
            <a:srgbClr val="3CC4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Aft>
                <a:spcPts val="200"/>
              </a:spcAft>
            </a:pPr>
            <a:r>
              <a:rPr sz="2400" b="1">
                <a:solidFill>
                  <a:srgbClr val="FFFFFF"/>
                </a:solidFill>
                <a:latin typeface="Arial"/>
                <a:ea typeface="Microsoft YaHei"/>
              </a:rPr>
              <a:t>How are you finding Shanghai?</a:t>
            </a:r>
          </a:p>
        </p:txBody>
      </p:sp>
      <p:sp>
        <p:nvSpPr>
          <p:cNvPr id="11" name="Rounded Rectangle 10">
            <a:hlinkClick action="ppaction://hlinksldjump" r:id="rId2"/>
          </p:cNvPr>
          <p:cNvSpPr/>
          <p:nvPr/>
        </p:nvSpPr>
        <p:spPr>
          <a:xfrm>
            <a:off x="9814255" y="5669280"/>
            <a:ext cx="1828800" cy="594360"/>
          </a:xfrm>
          <a:prstGeom prst="roundRect">
            <a:avLst>
              <a:gd name="adj" fmla="val 50000"/>
            </a:avLst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Aft>
                <a:spcPts val="200"/>
              </a:spcAft>
            </a:pPr>
            <a:r>
              <a:rPr sz="2000" b="1">
                <a:solidFill>
                  <a:srgbClr val="FFFFFF"/>
                </a:solidFill>
                <a:latin typeface="Arial"/>
                <a:ea typeface="Microsoft YaHei"/>
              </a:rPr>
              <a:t>↩ Back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" fill="hold">
                      <p:stCondLst>
                        <p:cond delay="indefinite"/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8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bg>
      <p:bgPr>
        <a:solidFill>
          <a:srgbClr val="FFF8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FC8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8442656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3200" b="1">
                <a:solidFill>
                  <a:srgbClr val="1F2A44"/>
                </a:solidFill>
                <a:latin typeface="Arial"/>
                <a:ea typeface="Microsoft YaHei"/>
              </a:rPr>
              <a:t>Lucky Box 7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74175" y="438912"/>
            <a:ext cx="2560320" cy="475488"/>
          </a:xfrm>
          <a:prstGeom prst="roundRect">
            <a:avLst>
              <a:gd name="adj" fmla="val 50000"/>
            </a:avLst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3152" rIns="73152"/>
          <a:lstStyle/>
          <a:p>
            <a:pPr algn="ctr">
              <a:spcAft>
                <a:spcPts val="200"/>
              </a:spcAft>
            </a:pPr>
            <a:r>
              <a:rPr sz="1300" b="1">
                <a:solidFill>
                  <a:srgbClr val="FFFFFF"/>
                </a:solidFill>
                <a:latin typeface="Arial"/>
                <a:ea typeface="Microsoft YaHei"/>
              </a:rPr>
              <a:t>🎁 Lucky Boxes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19088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100" b="0">
                <a:solidFill>
                  <a:srgbClr val="5F677A"/>
                </a:solidFill>
                <a:latin typeface="Arial"/>
                <a:ea typeface="Microsoft YaHei"/>
              </a:rPr>
              <a:t>Business English · Level 4 · Unit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28655" y="6419088"/>
            <a:ext cx="914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  <a:spcAft>
                <a:spcPts val="800"/>
              </a:spcAft>
            </a:pPr>
            <a:r>
              <a:rPr sz="1100" b="0">
                <a:solidFill>
                  <a:srgbClr val="5F677A"/>
                </a:solidFill>
                <a:latin typeface="Arial"/>
                <a:ea typeface="Microsoft YaHei"/>
              </a:rPr>
              <a:t>148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0" y="1234440"/>
            <a:ext cx="12191695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800"/>
              </a:spcAft>
            </a:pPr>
            <a:r>
              <a:rPr sz="3600" b="1">
                <a:solidFill>
                  <a:srgbClr val="4A90E2"/>
                </a:solidFill>
                <a:latin typeface="Arial"/>
                <a:ea typeface="Microsoft YaHei"/>
              </a:rPr>
              <a:t>🔤  Say it in English!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0" y="1920240"/>
            <a:ext cx="12191695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800"/>
              </a:spcAft>
            </a:pPr>
            <a:r>
              <a:rPr sz="1800" b="0">
                <a:solidFill>
                  <a:srgbClr val="5F677A"/>
                </a:solidFill>
                <a:latin typeface="Arial"/>
                <a:ea typeface="Microsoft YaHei"/>
              </a:rPr>
              <a:t>这个用英语怎么说？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645920" y="2514600"/>
            <a:ext cx="8869680" cy="16459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31750">
            <a:solidFill>
              <a:srgbClr val="FFC8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Aft>
                <a:spcPts val="200"/>
              </a:spcAft>
            </a:pPr>
            <a:r>
              <a:rPr sz="4000" b="1">
                <a:solidFill>
                  <a:srgbClr val="1F2A44"/>
                </a:solidFill>
                <a:latin typeface="Arial"/>
                <a:ea typeface="Microsoft YaHei"/>
              </a:rPr>
              <a:t>我在路上被堵住了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103120" y="4389120"/>
            <a:ext cx="7955279" cy="1005840"/>
          </a:xfrm>
          <a:prstGeom prst="roundRect">
            <a:avLst>
              <a:gd name="adj" fmla="val 20000"/>
            </a:avLst>
          </a:prstGeom>
          <a:solidFill>
            <a:srgbClr val="3CC4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Aft>
                <a:spcPts val="200"/>
              </a:spcAft>
            </a:pPr>
            <a:r>
              <a:rPr sz="2400" b="1">
                <a:solidFill>
                  <a:srgbClr val="FFFFFF"/>
                </a:solidFill>
                <a:latin typeface="Arial"/>
                <a:ea typeface="Microsoft YaHei"/>
              </a:rPr>
              <a:t>I got held up in traffic.</a:t>
            </a:r>
          </a:p>
        </p:txBody>
      </p:sp>
      <p:sp>
        <p:nvSpPr>
          <p:cNvPr id="11" name="Rounded Rectangle 10">
            <a:hlinkClick action="ppaction://hlinksldjump" r:id="rId2"/>
          </p:cNvPr>
          <p:cNvSpPr/>
          <p:nvPr/>
        </p:nvSpPr>
        <p:spPr>
          <a:xfrm>
            <a:off x="9814255" y="5669280"/>
            <a:ext cx="1828800" cy="594360"/>
          </a:xfrm>
          <a:prstGeom prst="roundRect">
            <a:avLst>
              <a:gd name="adj" fmla="val 50000"/>
            </a:avLst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Aft>
                <a:spcPts val="200"/>
              </a:spcAft>
            </a:pPr>
            <a:r>
              <a:rPr sz="2000" b="1">
                <a:solidFill>
                  <a:srgbClr val="FFFFFF"/>
                </a:solidFill>
                <a:latin typeface="Arial"/>
                <a:ea typeface="Microsoft YaHei"/>
              </a:rPr>
              <a:t>↩ Back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" fill="hold">
                      <p:stCondLst>
                        <p:cond delay="indefinite"/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9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bg>
      <p:bgPr>
        <a:solidFill>
          <a:srgbClr val="FFF8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FC8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8442656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3200" b="1">
                <a:solidFill>
                  <a:srgbClr val="1F2A44"/>
                </a:solidFill>
                <a:latin typeface="Arial"/>
                <a:ea typeface="Microsoft YaHei"/>
              </a:rPr>
              <a:t>Lucky Box 8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74175" y="438912"/>
            <a:ext cx="2560320" cy="475488"/>
          </a:xfrm>
          <a:prstGeom prst="roundRect">
            <a:avLst>
              <a:gd name="adj" fmla="val 50000"/>
            </a:avLst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3152" rIns="73152"/>
          <a:lstStyle/>
          <a:p>
            <a:pPr algn="ctr">
              <a:spcAft>
                <a:spcPts val="200"/>
              </a:spcAft>
            </a:pPr>
            <a:r>
              <a:rPr sz="1300" b="1">
                <a:solidFill>
                  <a:srgbClr val="FFFFFF"/>
                </a:solidFill>
                <a:latin typeface="Arial"/>
                <a:ea typeface="Microsoft YaHei"/>
              </a:rPr>
              <a:t>🎁 Lucky Boxes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19088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100" b="0">
                <a:solidFill>
                  <a:srgbClr val="5F677A"/>
                </a:solidFill>
                <a:latin typeface="Arial"/>
                <a:ea typeface="Microsoft YaHei"/>
              </a:rPr>
              <a:t>Business English · Level 4 · Unit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28655" y="6419088"/>
            <a:ext cx="914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  <a:spcAft>
                <a:spcPts val="800"/>
              </a:spcAft>
            </a:pPr>
            <a:r>
              <a:rPr sz="1100" b="0">
                <a:solidFill>
                  <a:srgbClr val="5F677A"/>
                </a:solidFill>
                <a:latin typeface="Arial"/>
                <a:ea typeface="Microsoft YaHei"/>
              </a:rPr>
              <a:t>149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0" y="1371600"/>
            <a:ext cx="12191695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800"/>
              </a:spcAft>
            </a:pPr>
            <a:r>
              <a:rPr sz="11000" b="0">
                <a:solidFill>
                  <a:srgbClr val="1F2A44"/>
                </a:solidFill>
                <a:latin typeface="Arial"/>
                <a:ea typeface="Microsoft YaHei"/>
              </a:rPr>
              <a:t>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0" y="3474720"/>
            <a:ext cx="12191695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800"/>
              </a:spcAft>
            </a:pPr>
            <a:r>
              <a:rPr sz="5400" b="1">
                <a:solidFill>
                  <a:srgbClr val="FF6B5B"/>
                </a:solidFill>
                <a:latin typeface="Arial"/>
                <a:ea typeface="Microsoft YaHei"/>
              </a:rPr>
              <a:t>Steal!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0" y="4480560"/>
            <a:ext cx="12191695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800"/>
              </a:spcAft>
            </a:pPr>
            <a:r>
              <a:rPr sz="2400" b="0">
                <a:solidFill>
                  <a:srgbClr val="5F677A"/>
                </a:solidFill>
                <a:latin typeface="Arial"/>
                <a:ea typeface="Microsoft YaHei"/>
              </a:rPr>
              <a:t>从任意一组偷走 1 ⭐</a:t>
            </a:r>
          </a:p>
        </p:txBody>
      </p:sp>
      <p:sp>
        <p:nvSpPr>
          <p:cNvPr id="10" name="Rounded Rectangle 9">
            <a:hlinkClick action="ppaction://hlinksldjump" r:id="rId2"/>
          </p:cNvPr>
          <p:cNvSpPr/>
          <p:nvPr/>
        </p:nvSpPr>
        <p:spPr>
          <a:xfrm>
            <a:off x="9814255" y="5669280"/>
            <a:ext cx="1828800" cy="594360"/>
          </a:xfrm>
          <a:prstGeom prst="roundRect">
            <a:avLst>
              <a:gd name="adj" fmla="val 50000"/>
            </a:avLst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Aft>
                <a:spcPts val="200"/>
              </a:spcAft>
            </a:pPr>
            <a:r>
              <a:rPr sz="2000" b="1">
                <a:solidFill>
                  <a:srgbClr val="FFFFFF"/>
                </a:solidFill>
                <a:latin typeface="Arial"/>
                <a:ea typeface="Microsoft YaHei"/>
              </a:rPr>
              <a:t>↩ Back</a:t>
            </a:r>
          </a:p>
        </p:txBody>
      </p:sp>
    </p:spTree>
  </p:cSld>
  <p:clrMapOvr>
    <a:masterClrMapping/>
  </p:clrMapOvr>
  <p:transition spd="med">
    <p:fade/>
  </p:transition>
</p:sld>
</file>

<file path=ppt/slides/slide150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bg>
      <p:bgPr>
        <a:solidFill>
          <a:srgbClr val="FFF8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FC8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8442656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3200" b="1">
                <a:solidFill>
                  <a:srgbClr val="1F2A44"/>
                </a:solidFill>
                <a:latin typeface="Arial"/>
                <a:ea typeface="Microsoft YaHei"/>
              </a:rPr>
              <a:t>Lucky Box 9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74175" y="438912"/>
            <a:ext cx="2560320" cy="475488"/>
          </a:xfrm>
          <a:prstGeom prst="roundRect">
            <a:avLst>
              <a:gd name="adj" fmla="val 50000"/>
            </a:avLst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3152" rIns="73152"/>
          <a:lstStyle/>
          <a:p>
            <a:pPr algn="ctr">
              <a:spcAft>
                <a:spcPts val="200"/>
              </a:spcAft>
            </a:pPr>
            <a:r>
              <a:rPr sz="1300" b="1">
                <a:solidFill>
                  <a:srgbClr val="FFFFFF"/>
                </a:solidFill>
                <a:latin typeface="Arial"/>
                <a:ea typeface="Microsoft YaHei"/>
              </a:rPr>
              <a:t>🎁 Lucky Boxes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19088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100" b="0">
                <a:solidFill>
                  <a:srgbClr val="5F677A"/>
                </a:solidFill>
                <a:latin typeface="Arial"/>
                <a:ea typeface="Microsoft YaHei"/>
              </a:rPr>
              <a:t>Business English · Level 4 · Unit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28655" y="6419088"/>
            <a:ext cx="914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  <a:spcAft>
                <a:spcPts val="800"/>
              </a:spcAft>
            </a:pPr>
            <a:r>
              <a:rPr sz="1100" b="0">
                <a:solidFill>
                  <a:srgbClr val="5F677A"/>
                </a:solidFill>
                <a:latin typeface="Arial"/>
                <a:ea typeface="Microsoft YaHei"/>
              </a:rPr>
              <a:t>150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0" y="1371600"/>
            <a:ext cx="12191695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800"/>
              </a:spcAft>
            </a:pPr>
            <a:r>
              <a:rPr sz="11000" b="0">
                <a:solidFill>
                  <a:srgbClr val="1F2A44"/>
                </a:solidFill>
                <a:latin typeface="Arial"/>
                <a:ea typeface="Microsoft YaHei"/>
              </a:rPr>
              <a:t>💣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0" y="3474720"/>
            <a:ext cx="12191695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800"/>
              </a:spcAft>
            </a:pPr>
            <a:r>
              <a:rPr sz="5400" b="1">
                <a:solidFill>
                  <a:srgbClr val="FF6B5B"/>
                </a:solidFill>
                <a:latin typeface="Arial"/>
                <a:ea typeface="Microsoft YaHei"/>
              </a:rPr>
              <a:t>Bomb!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0" y="4480560"/>
            <a:ext cx="12191695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800"/>
              </a:spcAft>
            </a:pPr>
            <a:r>
              <a:rPr sz="2400" b="0">
                <a:solidFill>
                  <a:srgbClr val="5F677A"/>
                </a:solidFill>
                <a:latin typeface="Arial"/>
                <a:ea typeface="Microsoft YaHei"/>
              </a:rPr>
              <a:t>本轮不得分，换下一组</a:t>
            </a:r>
          </a:p>
        </p:txBody>
      </p:sp>
      <p:sp>
        <p:nvSpPr>
          <p:cNvPr id="10" name="Rounded Rectangle 9">
            <a:hlinkClick action="ppaction://hlinksldjump" r:id="rId2"/>
          </p:cNvPr>
          <p:cNvSpPr/>
          <p:nvPr/>
        </p:nvSpPr>
        <p:spPr>
          <a:xfrm>
            <a:off x="9814255" y="5669280"/>
            <a:ext cx="1828800" cy="594360"/>
          </a:xfrm>
          <a:prstGeom prst="roundRect">
            <a:avLst>
              <a:gd name="adj" fmla="val 50000"/>
            </a:avLst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Aft>
                <a:spcPts val="200"/>
              </a:spcAft>
            </a:pPr>
            <a:r>
              <a:rPr sz="2000" b="1">
                <a:solidFill>
                  <a:srgbClr val="FFFFFF"/>
                </a:solidFill>
                <a:latin typeface="Arial"/>
                <a:ea typeface="Microsoft YaHei"/>
              </a:rPr>
              <a:t>↩ Back</a:t>
            </a:r>
          </a:p>
        </p:txBody>
      </p:sp>
    </p:spTree>
  </p:cSld>
  <p:clrMapOvr>
    <a:masterClrMapping/>
  </p:clrMapOvr>
  <p:transition spd="med">
    <p:fade/>
  </p:transition>
</p:sld>
</file>

<file path=ppt/slides/slide1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F6B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8442656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3200" b="1">
                <a:solidFill>
                  <a:srgbClr val="1F2A44"/>
                </a:solidFill>
                <a:latin typeface="Arial"/>
                <a:ea typeface="Microsoft YaHei"/>
              </a:rPr>
              <a:t>👾 Boss Challenge 终极挑战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74175" y="438912"/>
            <a:ext cx="2560320" cy="475488"/>
          </a:xfrm>
          <a:prstGeom prst="roundRect">
            <a:avLst>
              <a:gd name="adj" fmla="val 50000"/>
            </a:avLst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3152" rIns="73152"/>
          <a:lstStyle/>
          <a:p>
            <a:pPr algn="ctr">
              <a:spcAft>
                <a:spcPts val="200"/>
              </a:spcAft>
            </a:pPr>
            <a:r>
              <a:rPr sz="1300" b="1">
                <a:solidFill>
                  <a:srgbClr val="FFFFFF"/>
                </a:solidFill>
                <a:latin typeface="Arial"/>
                <a:ea typeface="Microsoft YaHei"/>
              </a:rPr>
              <a:t>🏁 Unit review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19088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100" b="0">
                <a:solidFill>
                  <a:srgbClr val="5F677A"/>
                </a:solidFill>
                <a:latin typeface="Arial"/>
                <a:ea typeface="Microsoft YaHei"/>
              </a:rPr>
              <a:t>Business English · Level 4 · Unit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28655" y="6419088"/>
            <a:ext cx="914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  <a:spcAft>
                <a:spcPts val="800"/>
              </a:spcAft>
            </a:pPr>
            <a:r>
              <a:rPr sz="1100" b="0">
                <a:solidFill>
                  <a:srgbClr val="5F677A"/>
                </a:solidFill>
                <a:latin typeface="Arial"/>
                <a:ea typeface="Microsoft YaHei"/>
              </a:rPr>
              <a:t>151</a:t>
            </a:r>
          </a:p>
        </p:txBody>
      </p:sp>
      <p:sp>
        <p:nvSpPr>
          <p:cNvPr id="7" name="Rounded Rectangle 6">
            <a:hlinkClick action="ppaction://hlinksldjump" r:id="rId2"/>
          </p:cNvPr>
          <p:cNvSpPr/>
          <p:nvPr/>
        </p:nvSpPr>
        <p:spPr>
          <a:xfrm>
            <a:off x="9677095" y="6382512"/>
            <a:ext cx="960120" cy="329184"/>
          </a:xfrm>
          <a:prstGeom prst="roundRect">
            <a:avLst>
              <a:gd name="adj" fmla="val 50000"/>
            </a:avLst>
          </a:prstGeom>
          <a:solidFill>
            <a:srgbClr val="FFE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Aft>
                <a:spcPts val="200"/>
              </a:spcAft>
            </a:pPr>
            <a:r>
              <a:rPr sz="1100" b="1">
                <a:solidFill>
                  <a:srgbClr val="1F2A44"/>
                </a:solidFill>
                <a:latin typeface="Arial"/>
                <a:ea typeface="Microsoft YaHei"/>
              </a:rPr>
              <a:t>🗺 Map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024128"/>
            <a:ext cx="11094415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500" b="0">
                <a:solidFill>
                  <a:srgbClr val="5F677A"/>
                </a:solidFill>
                <a:latin typeface="Arial"/>
                <a:ea typeface="Microsoft YaHei"/>
              </a:rPr>
              <a:t>10 seconds per question. Beat the boss!  每题限时 10 秒，打败大魔王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966960" y="1463040"/>
            <a:ext cx="173736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800"/>
              </a:spcAft>
            </a:pPr>
            <a:r>
              <a:rPr sz="8000" b="0">
                <a:solidFill>
                  <a:srgbClr val="1F2A44"/>
                </a:solidFill>
                <a:latin typeface="Arial"/>
                <a:ea typeface="Microsoft YaHei"/>
              </a:rPr>
              <a:t>👾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1508760"/>
            <a:ext cx="5577840" cy="850392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31750">
            <a:solidFill>
              <a:srgbClr val="FF6B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l">
              <a:spcAft>
                <a:spcPts val="200"/>
              </a:spcAft>
            </a:pPr>
            <a:r>
              <a:rPr sz="2000" b="1">
                <a:solidFill>
                  <a:srgbClr val="1F2A44"/>
                </a:solidFill>
                <a:latin typeface="Arial"/>
                <a:ea typeface="Microsoft YaHei"/>
              </a:rPr>
              <a:t>Q1. “您先请” in English?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1508760"/>
            <a:ext cx="3520440" cy="850392"/>
          </a:xfrm>
          <a:prstGeom prst="roundRect">
            <a:avLst>
              <a:gd name="adj" fmla="val 15000"/>
            </a:avLst>
          </a:prstGeom>
          <a:solidFill>
            <a:srgbClr val="3CC4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FFFFFF"/>
                </a:solidFill>
                <a:latin typeface="Arial"/>
                <a:ea typeface="Microsoft YaHei"/>
              </a:rPr>
              <a:t>After you.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2468880"/>
            <a:ext cx="5577840" cy="850392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31750">
            <a:solidFill>
              <a:srgbClr val="4A90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l">
              <a:spcAft>
                <a:spcPts val="200"/>
              </a:spcAft>
            </a:pPr>
            <a:r>
              <a:rPr sz="2000" b="1">
                <a:solidFill>
                  <a:srgbClr val="1F2A44"/>
                </a:solidFill>
                <a:latin typeface="Arial"/>
                <a:ea typeface="Microsoft YaHei"/>
              </a:rPr>
              <a:t>Q2. “访客无线网络” in English?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63640" y="2468880"/>
            <a:ext cx="3520440" cy="850392"/>
          </a:xfrm>
          <a:prstGeom prst="roundRect">
            <a:avLst>
              <a:gd name="adj" fmla="val 15000"/>
            </a:avLst>
          </a:prstGeom>
          <a:solidFill>
            <a:srgbClr val="3CC4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FFFFFF"/>
                </a:solidFill>
                <a:latin typeface="Arial"/>
                <a:ea typeface="Microsoft YaHei"/>
              </a:rPr>
              <a:t>guest Wi-Fi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3429000"/>
            <a:ext cx="5577840" cy="850392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31750">
            <a:solidFill>
              <a:srgbClr val="3CC4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l">
              <a:spcAft>
                <a:spcPts val="200"/>
              </a:spcAft>
            </a:pPr>
            <a:r>
              <a:rPr sz="2000" b="1">
                <a:solidFill>
                  <a:srgbClr val="1F2A44"/>
                </a:solidFill>
                <a:latin typeface="Arial"/>
                <a:ea typeface="Microsoft YaHei"/>
              </a:rPr>
              <a:t>Q3. “您想喝点什么吗?” in English?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63640" y="3429000"/>
            <a:ext cx="3520440" cy="850392"/>
          </a:xfrm>
          <a:prstGeom prst="roundRect">
            <a:avLst>
              <a:gd name="adj" fmla="val 15000"/>
            </a:avLst>
          </a:prstGeom>
          <a:solidFill>
            <a:srgbClr val="3CC4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FFFFFF"/>
                </a:solidFill>
                <a:latin typeface="Arial"/>
                <a:ea typeface="Microsoft YaHei"/>
              </a:rPr>
              <a:t>Would you like something to drink?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4389120"/>
            <a:ext cx="5577840" cy="850392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31750">
            <a:solidFill>
              <a:srgbClr val="FFC8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l">
              <a:spcAft>
                <a:spcPts val="200"/>
              </a:spcAft>
            </a:pPr>
            <a:r>
              <a:rPr sz="2000" b="1">
                <a:solidFill>
                  <a:srgbClr val="1F2A44"/>
                </a:solidFill>
                <a:latin typeface="Arial"/>
                <a:ea typeface="Microsoft YaHei"/>
              </a:rPr>
              <a:t>Q4. Fix it: Please be careful your head.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63640" y="4389120"/>
            <a:ext cx="3520440" cy="850392"/>
          </a:xfrm>
          <a:prstGeom prst="roundRect">
            <a:avLst>
              <a:gd name="adj" fmla="val 15000"/>
            </a:avLst>
          </a:prstGeom>
          <a:solidFill>
            <a:srgbClr val="3CC4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FFFFFF"/>
                </a:solidFill>
                <a:latin typeface="Arial"/>
                <a:ea typeface="Microsoft YaHei"/>
              </a:rPr>
              <a:t>Please mind your head. / Watch your head.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5349240"/>
            <a:ext cx="5577840" cy="850392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31750">
            <a:solidFill>
              <a:srgbClr val="9B6B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l">
              <a:spcAft>
                <a:spcPts val="200"/>
              </a:spcAft>
            </a:pPr>
            <a:r>
              <a:rPr sz="2000" b="1">
                <a:solidFill>
                  <a:srgbClr val="1F2A44"/>
                </a:solidFill>
                <a:latin typeface="Arial"/>
                <a:ea typeface="Microsoft YaHei"/>
              </a:rPr>
              <a:t>Q5. Fix it: The meeting room is at the third floor.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63640" y="5349240"/>
            <a:ext cx="3520440" cy="850392"/>
          </a:xfrm>
          <a:prstGeom prst="roundRect">
            <a:avLst>
              <a:gd name="adj" fmla="val 15000"/>
            </a:avLst>
          </a:prstGeom>
          <a:solidFill>
            <a:srgbClr val="3CC4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FFFFFF"/>
                </a:solidFill>
                <a:latin typeface="Arial"/>
                <a:ea typeface="Microsoft YaHei"/>
              </a:rPr>
              <a:t>The meeting room is on the third floor.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" fill="hold">
                      <p:stCondLst>
                        <p:cond delay="indefinite"/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6419088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100" b="0">
                <a:solidFill>
                  <a:srgbClr val="FFC857"/>
                </a:solidFill>
                <a:latin typeface="Arial"/>
                <a:ea typeface="Microsoft YaHei"/>
              </a:rPr>
              <a:t>Business English · Level 4 · Unit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728655" y="6419088"/>
            <a:ext cx="914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  <a:spcAft>
                <a:spcPts val="800"/>
              </a:spcAft>
            </a:pPr>
            <a:r>
              <a:rPr sz="1100" b="0">
                <a:solidFill>
                  <a:srgbClr val="FFC857"/>
                </a:solidFill>
                <a:latin typeface="Arial"/>
                <a:ea typeface="Microsoft YaHei"/>
              </a:rPr>
              <a:t>152</a:t>
            </a:r>
          </a:p>
        </p:txBody>
      </p:sp>
      <p:sp>
        <p:nvSpPr>
          <p:cNvPr id="4" name="Rounded Rectangle 3">
            <a:hlinkClick action="ppaction://hlinksldjump" r:id="rId2"/>
          </p:cNvPr>
          <p:cNvSpPr/>
          <p:nvPr/>
        </p:nvSpPr>
        <p:spPr>
          <a:xfrm>
            <a:off x="9677095" y="6382512"/>
            <a:ext cx="960120" cy="329184"/>
          </a:xfrm>
          <a:prstGeom prst="roundRect">
            <a:avLst>
              <a:gd name="adj" fmla="val 50000"/>
            </a:avLst>
          </a:prstGeom>
          <a:solidFill>
            <a:srgbClr val="3642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Aft>
                <a:spcPts val="200"/>
              </a:spcAft>
            </a:pPr>
            <a:r>
              <a:rPr sz="1100" b="1">
                <a:solidFill>
                  <a:srgbClr val="FFFFFF"/>
                </a:solidFill>
                <a:latin typeface="Arial"/>
                <a:ea typeface="Microsoft YaHei"/>
              </a:rPr>
              <a:t>🗺 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822960"/>
            <a:ext cx="12191695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800"/>
              </a:spcAft>
            </a:pPr>
            <a:r>
              <a:rPr sz="10000" b="0">
                <a:solidFill>
                  <a:srgbClr val="1F2A44"/>
                </a:solidFill>
                <a:latin typeface="Arial"/>
                <a:ea typeface="Microsoft YaHei"/>
              </a:rPr>
              <a:t>🏆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2560320"/>
            <a:ext cx="12191695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800"/>
              </a:spcAft>
            </a:pPr>
            <a:r>
              <a:rPr sz="4600" b="1">
                <a:solidFill>
                  <a:srgbClr val="FFFFFF"/>
                </a:solidFill>
                <a:latin typeface="Arial"/>
                <a:ea typeface="Microsoft YaHei"/>
              </a:rPr>
              <a:t>And the winning team is…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0" y="3520440"/>
            <a:ext cx="12191695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800"/>
              </a:spcAft>
            </a:pPr>
            <a:r>
              <a:rPr sz="2200" b="0">
                <a:solidFill>
                  <a:srgbClr val="FFC857"/>
                </a:solidFill>
                <a:latin typeface="Arial"/>
                <a:ea typeface="Microsoft YaHei"/>
              </a:rPr>
              <a:t>统计积分，看看今天的冠军是哪一组！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4480560"/>
            <a:ext cx="2468880" cy="822960"/>
          </a:xfrm>
          <a:prstGeom prst="roundRect">
            <a:avLst>
              <a:gd name="adj" fmla="val 40000"/>
            </a:avLst>
          </a:prstGeom>
          <a:solidFill>
            <a:srgbClr val="FF6B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FFFFFF"/>
                </a:solidFill>
                <a:latin typeface="Arial"/>
                <a:ea typeface="Microsoft YaHei"/>
              </a:rPr>
              <a:t>🦅 Team Alpha: ____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520440" y="4480560"/>
            <a:ext cx="2468880" cy="822960"/>
          </a:xfrm>
          <a:prstGeom prst="roundRect">
            <a:avLst>
              <a:gd name="adj" fmla="val 40000"/>
            </a:avLst>
          </a:prstGeom>
          <a:solidFill>
            <a:srgbClr val="4A90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FFFFFF"/>
                </a:solidFill>
                <a:latin typeface="Arial"/>
                <a:ea typeface="Microsoft YaHei"/>
              </a:rPr>
              <a:t>🐺 Team Bravo: ____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4480560"/>
            <a:ext cx="2468880" cy="822960"/>
          </a:xfrm>
          <a:prstGeom prst="roundRect">
            <a:avLst>
              <a:gd name="adj" fmla="val 40000"/>
            </a:avLst>
          </a:prstGeom>
          <a:solidFill>
            <a:srgbClr val="3CC4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FFFFFF"/>
                </a:solidFill>
                <a:latin typeface="Arial"/>
                <a:ea typeface="Microsoft YaHei"/>
              </a:rPr>
              <a:t>🦁 Team Charlie: ____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915400" y="4480560"/>
            <a:ext cx="2468880" cy="822960"/>
          </a:xfrm>
          <a:prstGeom prst="roundRect">
            <a:avLst>
              <a:gd name="adj" fmla="val 40000"/>
            </a:avLst>
          </a:prstGeom>
          <a:solidFill>
            <a:srgbClr val="FFC8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FFFFFF"/>
                </a:solidFill>
                <a:latin typeface="Arial"/>
                <a:ea typeface="Microsoft YaHei"/>
              </a:rPr>
              <a:t>🐬 Team Delta: ____</a:t>
            </a:r>
          </a:p>
        </p:txBody>
      </p:sp>
    </p:spTree>
  </p:cSld>
  <p:clrMapOvr>
    <a:masterClrMapping/>
  </p:clrMapOvr>
  <p:transition spd="med">
    <p:fade/>
  </p:transition>
</p:sld>
</file>

<file path=ppt/slides/slide1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6419088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100" b="0">
                <a:solidFill>
                  <a:srgbClr val="FFC857"/>
                </a:solidFill>
                <a:latin typeface="Arial"/>
                <a:ea typeface="Microsoft YaHei"/>
              </a:rPr>
              <a:t>Business English · Level 4 · Unit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728655" y="6419088"/>
            <a:ext cx="914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  <a:spcAft>
                <a:spcPts val="800"/>
              </a:spcAft>
            </a:pPr>
            <a:r>
              <a:rPr sz="1100" b="0">
                <a:solidFill>
                  <a:srgbClr val="FFC857"/>
                </a:solidFill>
                <a:latin typeface="Arial"/>
                <a:ea typeface="Microsoft YaHei"/>
              </a:rPr>
              <a:t>153</a:t>
            </a:r>
          </a:p>
        </p:txBody>
      </p:sp>
      <p:sp>
        <p:nvSpPr>
          <p:cNvPr id="4" name="Rounded Rectangle 3">
            <a:hlinkClick action="ppaction://hlinksldjump" r:id="rId2"/>
          </p:cNvPr>
          <p:cNvSpPr/>
          <p:nvPr/>
        </p:nvSpPr>
        <p:spPr>
          <a:xfrm>
            <a:off x="9677095" y="6382512"/>
            <a:ext cx="960120" cy="329184"/>
          </a:xfrm>
          <a:prstGeom prst="roundRect">
            <a:avLst>
              <a:gd name="adj" fmla="val 50000"/>
            </a:avLst>
          </a:prstGeom>
          <a:solidFill>
            <a:srgbClr val="3642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Aft>
                <a:spcPts val="200"/>
              </a:spcAft>
            </a:pPr>
            <a:r>
              <a:rPr sz="1100" b="1">
                <a:solidFill>
                  <a:srgbClr val="FFFFFF"/>
                </a:solidFill>
                <a:latin typeface="Arial"/>
                <a:ea typeface="Microsoft YaHei"/>
              </a:rPr>
              <a:t>🗺 Map</a:t>
            </a:r>
          </a:p>
        </p:txBody>
      </p:sp>
      <p:sp>
        <p:nvSpPr>
          <p:cNvPr id="5" name="Oval 4"/>
          <p:cNvSpPr/>
          <p:nvPr/>
        </p:nvSpPr>
        <p:spPr>
          <a:xfrm>
            <a:off x="640080" y="548640"/>
            <a:ext cx="1280160" cy="1280160"/>
          </a:xfrm>
          <a:prstGeom prst="ellipse">
            <a:avLst/>
          </a:prstGeom>
          <a:solidFill>
            <a:srgbClr val="FF6B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332720" y="4754880"/>
            <a:ext cx="1371600" cy="1371600"/>
          </a:xfrm>
          <a:prstGeom prst="ellipse">
            <a:avLst/>
          </a:prstGeom>
          <a:solidFill>
            <a:srgbClr val="FFC8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881360" y="822960"/>
            <a:ext cx="731520" cy="731520"/>
          </a:xfrm>
          <a:prstGeom prst="ellipse">
            <a:avLst/>
          </a:prstGeom>
          <a:solidFill>
            <a:srgbClr val="3CC4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0" y="1645920"/>
            <a:ext cx="12191695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800"/>
              </a:spcAft>
            </a:pPr>
            <a:r>
              <a:rPr sz="6400" b="0">
                <a:solidFill>
                  <a:srgbClr val="1F2A44"/>
                </a:solidFill>
                <a:latin typeface="Arial"/>
                <a:ea typeface="Microsoft YaHei"/>
              </a:rPr>
              <a:t>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0" y="2743200"/>
            <a:ext cx="12191695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800"/>
              </a:spcAft>
            </a:pPr>
            <a:r>
              <a:rPr sz="5600" b="1">
                <a:solidFill>
                  <a:srgbClr val="FFFFFF"/>
                </a:solidFill>
                <a:latin typeface="Arial"/>
                <a:ea typeface="Microsoft YaHei"/>
              </a:rPr>
              <a:t>Unit 3 Complete!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0" y="3931920"/>
            <a:ext cx="12191695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800"/>
              </a:spcAft>
            </a:pPr>
            <a:r>
              <a:rPr sz="2200" b="0">
                <a:solidFill>
                  <a:srgbClr val="FFC857"/>
                </a:solidFill>
                <a:latin typeface="Arial"/>
                <a:ea typeface="Microsoft YaHei"/>
              </a:rPr>
              <a:t>Great work today! Keep practising 10 minutes a day.  每天 10 分钟，坚持就是进步！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