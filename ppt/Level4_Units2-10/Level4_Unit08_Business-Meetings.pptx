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8: Business Meetings — Self-Study Workbook (Lessons 32–34)</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32 · Meetings 会议</a:t>
            </a:r>
          </a:p>
          <a:p>
            <a:r>
              <a:t>Goal: take an active part in a business meeting: give your opinion, ask for other people’s views, agree and disagree politely, interrupt and keep the discussion on track, and ask for clarification when you do not understand.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题讲过去的事,请用过去式(gave, said, liked)。第 2 题可以说 “I mostly… because…”。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opinion on a proposal in a meeting and respond to a colleague who disagrees.</a:t>
            </a:r>
          </a:p>
          <a:p>
            <a:r>
              <a:t>Say: your opinion → one reason → one example → respond politely to a different view → suggest a next step.</a:t>
            </a:r>
          </a:p>
          <a:p>
            <a:r>
              <a:t>Useful starters: “In my opinion, we should… because…” / “From my point of view, …” / “I see your point, but…” / “Perhaps we could…”</a:t>
            </a:r>
          </a:p>
          <a:p>
            <a:r>
              <a:t>说观点要有理由和例子。反对时先肯定再提出不同意见:I see your point, but…。不要只说 “I don’t agree”。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Giving and asking for opinions 表达与询问观点</a:t>
            </a:r>
          </a:p>
          <a:p>
            <a:r>
              <a:t>领读 → 学员跟读 → 请学员用表达造一个和自己工作相关的句子。</a:t>
            </a:r>
          </a:p>
          <a:p>
            <a:r>
              <a:t>In my opinion, … / I think… (phrase) 我认为…… — “In my opinion, we should postpone the launch.”</a:t>
            </a:r>
          </a:p>
          <a:p>
            <a:r>
              <a:t>From my point of view, … (phrase) 从我的角度看,…… — “From my point of view, the biggest risk is cost.”</a:t>
            </a:r>
          </a:p>
          <a:p>
            <a:r>
              <a:t>What do you think, Dan? (phrase) 丹,你怎么看? — “What do you think, Dan? You know the market well.”</a:t>
            </a:r>
          </a:p>
          <a:p>
            <a:r>
              <a:t>★ Do you have any thoughts on…? (phrase) 你对……有什么想法吗? — “Do you have any thoughts on the new pricing?”</a:t>
            </a:r>
          </a:p>
          <a:p>
            <a:r>
              <a:t>★ I’d like to hear your take on this. (phrase) 我想听听你对此的看法 — “I’d like to hear your take on this, Sophie.”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Agreeing and disagreeing 同意与不同意</a:t>
            </a:r>
          </a:p>
          <a:p>
            <a:r>
              <a:t>领读 → 学员跟读 → 请学员用表达造一个和自己工作相关的句子。</a:t>
            </a:r>
          </a:p>
          <a:p>
            <a:r>
              <a:t>I agree with you. / That’s right. (phrase) 我同意 — “I agree with you on the budget.”</a:t>
            </a:r>
          </a:p>
          <a:p>
            <a:r>
              <a:t>★ I couldn’t agree more. (phrase) 我完全同意 — “I couldn’t agree more. That’s exactly what we need.”</a:t>
            </a:r>
          </a:p>
          <a:p>
            <a:r>
              <a:t>I see your point, but… (phrase) 我理解你的观点,但是…… — “I see your point, but it will cost too much.”</a:t>
            </a:r>
          </a:p>
          <a:p>
            <a:r>
              <a:t>★ I’m afraid I see it differently. (phrase (polite)) 恐怕我的看法不同 — “I’m afraid I see it differently. In my experience, …”</a:t>
            </a:r>
          </a:p>
          <a:p>
            <a:r>
              <a:t>I’m not sure I agree. (phrase) 我不确定我是否同意 — “I’m not sure I agree. Can we look at the figures?”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Interrupting and clarifying 打断与澄清</a:t>
            </a:r>
          </a:p>
          <a:p>
            <a:r>
              <a:t>领读 → 学员跟读 → 请学员用表达造一个和自己工作相关的句子。</a:t>
            </a:r>
          </a:p>
          <a:p>
            <a:r>
              <a:t>Sorry to interrupt, but… (phrase) 抱歉打断一下,但是…… — “Sorry to interrupt, but can I just ask a quick question?”</a:t>
            </a:r>
          </a:p>
          <a:p>
            <a:r>
              <a:t>★ If I could just come in here… (phrase) 请允许我插一句…… — “If I could just come in here for a moment, …”</a:t>
            </a:r>
          </a:p>
          <a:p>
            <a:r>
              <a:t>Could I add something? (phrase) 我可以补充一点吗? — “Could I add something to what Dan said?”</a:t>
            </a:r>
          </a:p>
          <a:p>
            <a:r>
              <a:t>★ Could you elaborate on that? (phrase) 您能详细说明一下吗? — “Could you elaborate on that point?”</a:t>
            </a:r>
          </a:p>
          <a:p>
            <a:r>
              <a:t>★ Let’s stick to the agenda. (phrase) 我们回到议程吧 — “That’s interesting, but let’s stick to the agenda.”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couldn’t / agenda / differently / interrupt / think / opinion</a:t>
            </a:r>
          </a:p>
          <a:p>
            <a:r>
              <a:t>1. In my _______, we should postpone the launch. → opinion</a:t>
            </a:r>
          </a:p>
          <a:p>
            <a:r>
              <a:t>2. What do you _______, Dan? → think</a:t>
            </a:r>
          </a:p>
          <a:p>
            <a:r>
              <a:t>3. I _______ agree more. → couldn’t</a:t>
            </a:r>
          </a:p>
          <a:p>
            <a:r>
              <a:t>4. I’m afraid I see it _______. → differently</a:t>
            </a:r>
          </a:p>
          <a:p>
            <a:r>
              <a:t>5. Sorry to _______, but can I ask a quick question? → interrupt</a:t>
            </a:r>
          </a:p>
          <a:p>
            <a:r>
              <a:t>6. Let’s stick to the _______. → agenda</a:t>
            </a:r>
          </a:p>
          <a:p>
            <a:r>
              <a:t>Mistake Watch (拼写与搭配): opinion (not “opinon”), differently, agenda, interrupt (rr). We say in my opinion (not “according to me”). Agree with a person; agree on/about a topic.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opinions about a proposal 就一项提案发表意见</a:t>
            </a:r>
          </a:p>
          <a:p>
            <a:r>
              <a:t>情景：Your team meets to discuss moving the product launch from November to January.</a:t>
            </a:r>
          </a:p>
          <a:p>
            <a:r>
              <a:t>Role A: Li Wei, chair Role B: Dan Reed, marketing Role C: Sophie Zhou, finance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Let’s start with the proposal to move the launch to January. Dan, what do you think?</a:t>
            </a:r>
          </a:p>
          <a:p>
            <a:r>
              <a:t>B (Dan): In my opinion, we should keep November. Our competitors will launch in December, so we need to be first.</a:t>
            </a:r>
          </a:p>
          <a:p>
            <a:r>
              <a:t>A: I see. Sophie, do you have any thoughts on this?</a:t>
            </a:r>
          </a:p>
          <a:p>
            <a:r>
              <a:t>C (Sophie): From my point of view, January makes more sense. The product still has some quality issues.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Sorry to interrupt, but the quality problems are small, and we can fix them by early November.</a:t>
            </a:r>
          </a:p>
          <a:p>
            <a:r>
              <a:t>C: I see your point, but if we launch with problems, it will damage our reputation.</a:t>
            </a:r>
          </a:p>
          <a:p>
            <a:r>
              <a:t>A: That’s a fair point. Dan, could you elaborate on the risks of waiting?</a:t>
            </a:r>
          </a:p>
          <a:p>
            <a:r>
              <a:t>B: If we wait, we lose the Christmas season. That could mean 20% of our annual sales.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C: I’m afraid I see it differently. A bad launch could cost much more than 20%.</a:t>
            </a:r>
          </a:p>
          <a:p>
            <a:r>
              <a:t>A: Both views are valid. Perhaps we could look for a middle way. Could we launch in early December?</a:t>
            </a:r>
          </a:p>
          <a:p>
            <a:r>
              <a:t>B: I could live with that.</a:t>
            </a:r>
          </a:p>
          <a:p>
            <a:r>
              <a:t>C: I couldn’t agree more. That gives us time to fix the product.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59 | </a:t>
            </a:r>
          </a:p>
          <a:p>
            <a:r>
              <a:t>Situation | A team meeting about a proposal where people disagree.</a:t>
            </a:r>
          </a:p>
          <a:p>
            <a:r>
              <a:t>Your role (A) | Chair. Ask for opinions, summarize, propose a middle way.</a:t>
            </a:r>
          </a:p>
          <a:p>
            <a:r>
              <a:t>Partners (B, C) | Team members with different views.</a:t>
            </a:r>
          </a:p>
          <a:p>
            <a:r>
              <a:t>Must use (4 or more) | In my opinion… · What do you think…? · I see your point, but… · Could you elaborate on…? · I couldn’t agree more.</a:t>
            </a:r>
          </a:p>
          <a:p>
            <a:r>
              <a:t>Goal | Hear both views, disagree politely, find a compromise in 3 minutes.</a:t>
            </a:r>
          </a:p>
          <a:p>
            <a:r>
              <a:t>My notes | ____________________________________________</a:t>
            </a:r>
          </a:p>
          <a:p>
            <a:r>
              <a:t>Someone dominates the discussion. Say: “Thanks, Dan. Let’s hear from the others too.”</a:t>
            </a:r>
          </a:p>
          <a:p>
            <a:r>
              <a:t>Someone is silent. Say: “Sophie, we haven’t heard from you yet. What’s your view?”</a:t>
            </a:r>
          </a:p>
          <a:p>
            <a:r>
              <a:t>Use ★ language: “I’m afraid I see it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Interrupting politely and asking for clarification 礼貌打断与澄清</a:t>
            </a:r>
          </a:p>
          <a:p>
            <a:r>
              <a:t>情景：A colleague presents figures. You do not understand one point and you interrupt politely.</a:t>
            </a:r>
          </a:p>
          <a:p>
            <a:r>
              <a:t>Role A: Karen Ortiz, presenter Role B: Li Wei, listener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(Karen): As you can see, our sales in the north fell by 8% in the third quarter.</a:t>
            </a:r>
          </a:p>
          <a:p>
            <a:r>
              <a:t>B (Li Wei): Sorry to interrupt, Karen. Could I just check something? Is that compared with the second quarter or with last year?</a:t>
            </a:r>
          </a:p>
          <a:p>
            <a:r>
              <a:t>A: Good question. It’s compared with the same quarter last year.</a:t>
            </a:r>
          </a:p>
          <a:p>
            <a:r>
              <a:t>B: Thank you. And when you say “the north”, do you mean only the Beijing office?</a:t>
            </a:r>
          </a:p>
          <a:p>
            <a:r>
              <a:t>A: No, it covers Beijing, Tianjin and Shenyang.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 see. Could you elaborate on why Shenyang was so weak?</a:t>
            </a:r>
          </a:p>
          <a:p>
            <a:r>
              <a:t>A: Yes, we lost two big customers there. I’ll go into that on the next slide.</a:t>
            </a:r>
          </a:p>
          <a:p>
            <a:r>
              <a:t>B: Sorry, I didn’t mean to jump ahead. Please carry on.</a:t>
            </a:r>
          </a:p>
          <a:p>
            <a:r>
              <a:t>A: Not at all. It’s good that you asked. Shall I continue?</a:t>
            </a:r>
          </a:p>
          <a:p>
            <a:r>
              <a:t>B: Please do.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60 | </a:t>
            </a:r>
          </a:p>
          <a:p>
            <a:r>
              <a:t>Situation | You ask a clarifying question during a presentation.</a:t>
            </a:r>
          </a:p>
          <a:p>
            <a:r>
              <a:t>Your role (B) | Listener. Interrupt politely, ask for clarification, thank the speaker.</a:t>
            </a:r>
          </a:p>
          <a:p>
            <a:r>
              <a:t>Partner’s role (A) | Presenter. Answers politely.</a:t>
            </a:r>
          </a:p>
          <a:p>
            <a:r>
              <a:t>Must use (3 or more) | Sorry to interrupt, but… · Could I just check…? · Do you mean…? · Could you elaborate on…? · Please carry on.</a:t>
            </a:r>
          </a:p>
          <a:p>
            <a:r>
              <a:t>Goal | Ask two questions without breaking the flow. About 90 seconds.</a:t>
            </a:r>
          </a:p>
          <a:p>
            <a:r>
              <a:t>My notes | ____________________________________________</a:t>
            </a:r>
          </a:p>
          <a:p>
            <a:r>
              <a:t>The speaker goes too fast. Say: “Sorry, could you slow down a little? I’d like to take notes.”</a:t>
            </a:r>
          </a:p>
          <a:p>
            <a:r>
              <a:t>The speaker says “As you know”. You don’t know. Say: “Sorry, I’m new to this. Could you explain?”</a:t>
            </a:r>
          </a:p>
          <a:p>
            <a:r>
              <a:t>Use a softer interruption: “If I could just come in here…”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often do you speak in meetings? What would you like to change? | “I speak… because…” / “I’d like to speak more, but…”</a:t>
            </a:r>
          </a:p>
          <a:p>
            <a:r>
              <a:t>2. What makes a meeting productive? | “A productive meeting has…” / “It starts and ends on time, and everyone…”</a:t>
            </a:r>
          </a:p>
          <a:p>
            <a:r>
              <a:t>3. How do you disagree with your boss in a meeting? | “I would start by saying…” / “I’d ask a question, such as…”</a:t>
            </a:r>
          </a:p>
          <a:p>
            <a:r>
              <a:t>4. Is it rude to interrupt? When is it acceptable? | “It depends on…” / “Interrupting is acceptable if you do it politely.”</a:t>
            </a:r>
          </a:p>
          <a:p>
            <a:r>
              <a:t>5. How can a chair make quiet people speak? | “The chair can ask direct questions, such as…” / “I like to go around the table.”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would start by saying that I understand the reasoning, for example,”I can see why you suggest this.” Then I would give my view, using “I” rather than “you”, so it doesn’t sound like criticism: “My concern is that…”. If I’m not sure, I’d ask a question, such as “Have we considered…?” I try to disagree with the idea, not the person, and to offer an alternative.”</a:t>
            </a:r>
          </a:p>
          <a:p>
            <a:r>
              <a:t>“using I rather than you” 能减少指责感。“disagree with the idea, not the person” 对事不对人。“offer an alternative”(提供替代方案)是 B2 常用表达。</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language: participating 参与会议用语</a:t>
            </a:r>
          </a:p>
          <a:p>
            <a:r>
              <a:t>Function | Say this</a:t>
            </a:r>
          </a:p>
          <a:p>
            <a:r>
              <a:t>Give opinion | In my opinion, … / From my point of view, … / I think…</a:t>
            </a:r>
          </a:p>
          <a:p>
            <a:r>
              <a:t>Ask opinion | What do you think? / Do you have any thoughts on…? ★</a:t>
            </a:r>
          </a:p>
          <a:p>
            <a:r>
              <a:t>Agree | I agree. / That’s right. / I couldn’t agree more. ★</a:t>
            </a:r>
          </a:p>
          <a:p>
            <a:r>
              <a:t>Partly agree | I see your point, but… / That’s true, but…</a:t>
            </a:r>
          </a:p>
          <a:p>
            <a:r>
              <a:t>Disagree (polite) | I’m afraid I see it differently. ★ / I’m not sure I agree.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language: participating 参与会议用语</a:t>
            </a:r>
          </a:p>
          <a:p>
            <a:r>
              <a:t>Function | Say this</a:t>
            </a:r>
          </a:p>
          <a:p>
            <a:r>
              <a:t>Interrupt | Sorry to interrupt, but… / If I could just come in here… ★</a:t>
            </a:r>
          </a:p>
          <a:p>
            <a:r>
              <a:t>Ask to add | Could I add something? / May I say something?</a:t>
            </a:r>
          </a:p>
          <a:p>
            <a:r>
              <a:t>Clarify | Do you mean…? / Could you elaborate on that? ★</a:t>
            </a:r>
          </a:p>
          <a:p>
            <a:r>
              <a:t>Return to topic | Let’s stick to the agenda. ★ / Let’s get back to the point.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 of agreement and disagreement 同意与反对的程度</a:t>
            </a:r>
          </a:p>
          <a:p>
            <a:r>
              <a:t>Strong agreement | Partly agree | Polite disagreement | Strong disagreement</a:t>
            </a:r>
          </a:p>
          <a:p>
            <a:r>
              <a:t>I couldn’t agree more. | I agree up to a point. | I’m afraid I see it differently. | I’m sorry, but I really can’t agree.</a:t>
            </a:r>
          </a:p>
          <a:p>
            <a:r>
              <a:t>Absolutely. | That’s true, but… | I’m not sure that’s the case. | I strongly disagree.</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 of agreement and disagreement 同意与反对的程度</a:t>
            </a:r>
          </a:p>
          <a:p>
            <a:r>
              <a:t>Soften with I’m afraid, I’m not sure, perhaps, maybe, a bit: “I’m not sure that’s the best option.”</a:t>
            </a:r>
          </a:p>
          <a:p>
            <a:r>
              <a:t>Use “I” statements: “I’m worried that…” is better than “You’re wrong.”</a:t>
            </a:r>
          </a:p>
          <a:p>
            <a:r>
              <a:t>Agree with sb; agree on/about sth; agree to a proposal: “I agree with Dan on the budget.”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agree.  →  ✓ I agree. / I couldn’t agree more.  (agree 是动词)</a:t>
            </a:r>
          </a:p>
          <a:p>
            <a:r>
              <a:t>✗ I disagree with your opinion, that is wrong.  →  ✓ I’m afraid I see it differently.  (太直接)</a:t>
            </a:r>
          </a:p>
          <a:p>
            <a:r>
              <a:t>✗ No, no, no!  →  ✓ I’m not sure I agree.  (避免直接否定)</a:t>
            </a:r>
          </a:p>
          <a:p>
            <a:r>
              <a:t>✗ According to me, we should wait.  →  ✓ In my opinion, we should wait.  (in my opinion / I think)</a:t>
            </a:r>
          </a:p>
          <a:p>
            <a:r>
              <a:t>✗ I think so that we should wait.  →  ✓ I think we should wait.  (不加 so that)</a:t>
            </a:r>
          </a:p>
          <a:p>
            <a:r>
              <a:t>Mistake Watch: I agree (no “am”), in my opinion (not “according to me”), Could I add something? (not “I want to say”). Check double letters: opinion, interrupt,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say something.  →  ✓ Could I add something? / May I say something?  (更礼貌)</a:t>
            </a:r>
          </a:p>
          <a:p>
            <a:r>
              <a:t>✗ Excuse me, you are wrong.  →  ✓ Sorry to interrupt, but I think there’s a mistake here.  (打断+委婉)</a:t>
            </a:r>
          </a:p>
          <a:p>
            <a:r>
              <a:t>✗ Can you explain more detail?  →  ✓ Could you give us more detail? / Could you elaborate?  (give more detail)</a:t>
            </a:r>
          </a:p>
          <a:p>
            <a:r>
              <a:t>✗ I’m agree with you about this.  →  ✓ I agree with you about this.  (am 不用)</a:t>
            </a:r>
          </a:p>
          <a:p>
            <a:r>
              <a:t>✗ oppinion / diffrently  →  ✓ opinion / differently  (拼写)</a:t>
            </a:r>
          </a:p>
          <a:p>
            <a:r>
              <a:t>Mistake Watch: I agree (no “am”), in my opinion (not “according to me”), Could I add something? (not “I want to say”). Check double letters: opinion, interrupt,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Speak up. In Anglo-American meetings, silence may mean you have no opinion. Even a short comment is expected: “I agree with Dan on the budget.”</a:t>
            </a:r>
          </a:p>
          <a:p>
            <a:r>
              <a:t>Disagreement is not rude. Polite disagreement shows you are thinking. But keep your tone calm and your language soft.</a:t>
            </a:r>
          </a:p>
          <a:p>
            <a:r>
              <a:t>Don’t wait for a long pause. English speakers often overlap a little. “Can I come in here?” is acceptable.</a:t>
            </a:r>
          </a:p>
          <a:p>
            <a:r>
              <a:t>Hierarchy: In many Asian companies, junior staff don’t disagree with seniors in public. In UK/US teams, it’s usually fine to disagree respectfully with your manager.</a:t>
            </a:r>
          </a:p>
          <a:p>
            <a:r>
              <a:t>Take your time. If you need time to think, say “That’s an interesting question. Let me think about it for a moment.”</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an opinion with a reason and an example (In my opinion… because…).</a:t>
            </a:r>
          </a:p>
          <a:p>
            <a:r>
              <a:t>I can ask others for their views (What do you think? Do you have any thoughts on…?).</a:t>
            </a:r>
          </a:p>
          <a:p>
            <a:r>
              <a:t>I can agree and disagree politely (I couldn’t agree more. I’m afraid I see it differently.).</a:t>
            </a:r>
          </a:p>
          <a:p>
            <a:r>
              <a:t>I can interrupt and clarify (Sorry to interrupt, but… Could you elaborate on that?).</a:t>
            </a:r>
          </a:p>
          <a:p>
            <a:r>
              <a:t>I can use I agree, in my opinion and agree with / on correctly.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agree (no “am”), in my opinion, polite interruptions, and spelling (opinion, interrupt).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33 · Down to business 进入正题</a:t>
            </a:r>
          </a:p>
          <a:p>
            <a:r>
              <a:t>Goal: move a meeting from small talk to the main business: introduce agenda items, discuss figures and trends, ask for updates, keep to time, and make clear decisions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题讲过去的事,请用过去式(was, helped, finished)。第 5 题可以说 “I say, ‘Sales went up by…’”。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Open the main part of a meeting and report sales figures.</a:t>
            </a:r>
          </a:p>
          <a:p>
            <a:r>
              <a:t>Say: move to the agenda → present the first item → report the numbers (change and cause) → ask for comments.</a:t>
            </a:r>
          </a:p>
          <a:p>
            <a:r>
              <a:t>Useful starters: “Let’s get down to business.” / “The first item on the agenda is…” / “Sales rose by… compared with…” / “That’s mainly because…”</a:t>
            </a:r>
          </a:p>
          <a:p>
            <a:r>
              <a:t>描述数据:rise / fall / increase / drop + by + 数字;from…to…;compared with + 时间。过去的变化用过去式。</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Moving to the main business 进入正题</a:t>
            </a:r>
          </a:p>
          <a:p>
            <a:r>
              <a:t>领读 → 学员跟读 → 请学员用表达造一个和自己工作相关的句子。</a:t>
            </a:r>
          </a:p>
          <a:p>
            <a:r>
              <a:t>Shall we get down to business? (phrase) 我们开始谈正事吧? — “Shall we get down to business?”</a:t>
            </a:r>
          </a:p>
          <a:p>
            <a:r>
              <a:t>The first item on the agenda is… (phrase) 议程的第一项是…… — “The first item on the agenda is the sales report.”</a:t>
            </a:r>
          </a:p>
          <a:p>
            <a:r>
              <a:t>Let’s move on to item two. (phrasal verb) 我们进入第二项 — “Let’s move on to item two: the budget.”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Moving to the main business 进入正题</a:t>
            </a:r>
          </a:p>
          <a:p>
            <a:r>
              <a:t>领读 → 学员跟读 → 请学员用表达造一个和自己工作相关的句子。</a:t>
            </a:r>
          </a:p>
          <a:p>
            <a:r>
              <a:t>Could you bring us up to date on…? (phrase) 您能向我们通报一下……的最新情况吗? — “Could you bring us up to date on the project?”</a:t>
            </a:r>
          </a:p>
          <a:p>
            <a:r>
              <a:t>★ Let’s start with the headline figures. (phrase) 我们先看关键数字 — “Let’s start with the headline figures.”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Talking about figures and trends 谈数字与趋势</a:t>
            </a:r>
          </a:p>
          <a:p>
            <a:r>
              <a:t>领读 → 学员跟读 → 请学员用表达造一个和自己工作相关的句子。</a:t>
            </a:r>
          </a:p>
          <a:p>
            <a:r>
              <a:t>Sales rose / increased by 10%. (phrase) 销售额增长了 10% — “Sales rose by 10% in the third quarter.”</a:t>
            </a:r>
          </a:p>
          <a:p>
            <a:r>
              <a:t>Costs fell from $50,000 to $40,000. (phrase) 成本从五万降到四万 — “Costs fell from $50,000 to $40,000.”</a:t>
            </a:r>
          </a:p>
          <a:p>
            <a:r>
              <a:t>★ Sales peaked in July. (phrase) 销售额在七月达到峰值 — “Sales peaked in July at $1.2 million.”</a:t>
            </a:r>
          </a:p>
          <a:p>
            <a:r>
              <a:t>★ The figures levelled off in September. (phrase) 数据在九月趋于平稳 — “The figures levelled off in September.”</a:t>
            </a:r>
          </a:p>
          <a:p>
            <a:r>
              <a:t>Compared with last year, … (phrase) 与去年相比,…… — “Compared with last year, profit is up 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Keeping on track 保持效率</a:t>
            </a:r>
          </a:p>
          <a:p>
            <a:r>
              <a:t>领读 → 学员跟读 → 请学员用表达造一个和自己工作相关的句子。</a:t>
            </a:r>
          </a:p>
          <a:p>
            <a:r>
              <a:t>★ The bottom line is… (idiom) 底线/要点是…… — “The bottom line is that we need to cut costs by 10%.”</a:t>
            </a:r>
          </a:p>
          <a:p>
            <a:r>
              <a:t>★ It comes down to… (phrasal verb) 归根结底是…… — “It comes down to price and quality.”</a:t>
            </a:r>
          </a:p>
          <a:p>
            <a:r>
              <a:t>★ To cut a long story short, … (idiom) 长话短说,…… — “To cut a long story short, we missed the target.”</a:t>
            </a:r>
          </a:p>
          <a:p>
            <a:r>
              <a:t>We only have ten minutes for this item. (phrase) 这项我们只有十分钟 — “We only have ten minutes for this item.”</a:t>
            </a:r>
          </a:p>
          <a:p>
            <a:r>
              <a:t>★ Let’s park that for now. (phrasal verb) 这个我们先放一放 — “That’s important, but let’s park that for now.”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business / rose / from / park / agenda / bottom</a:t>
            </a:r>
          </a:p>
          <a:p>
            <a:r>
              <a:t>1. Shall we get down to _______? → business</a:t>
            </a:r>
          </a:p>
          <a:p>
            <a:r>
              <a:t>2. The first item on the _______ is the sales report. → agenda</a:t>
            </a:r>
          </a:p>
          <a:p>
            <a:r>
              <a:t>3. Sales _______ by 10% in the third quarter. → rose</a:t>
            </a:r>
          </a:p>
          <a:p>
            <a:r>
              <a:t>4. Costs fell _______ $50,000 to $40,000. → from</a:t>
            </a:r>
          </a:p>
          <a:p>
            <a:r>
              <a:t>5. The _______ line is that we need to cut costs. → bottom</a:t>
            </a:r>
          </a:p>
          <a:p>
            <a:r>
              <a:t>6. That’s important, but let’s _______ that for now. → park</a:t>
            </a:r>
          </a:p>
          <a:p>
            <a:r>
              <a:t>Mistake Watch (数字与时态): rise → rose → risen, fall → fell → fallen. Say by 10% (the amount of change), to 40% (the new level), from 30% to 40%. Percent (US) / per cent (UK). Don’t say “increased 10%” without by if you mean the change.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the main business and reporting figures 进入议程并汇报数据</a:t>
            </a:r>
          </a:p>
          <a:p>
            <a:r>
              <a:t>情景：After coffee, the chair begins the meeting and the sales manager reports the quarterly numbers.</a:t>
            </a:r>
          </a:p>
          <a:p>
            <a:r>
              <a:t>Role A: Li Wei, chair Role B: Karen Ortiz, sales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OK, everyone. Shall we get down to business? The first item on the agenda is the sales report. Karen, could you bring us up to date?</a:t>
            </a:r>
          </a:p>
          <a:p>
            <a:r>
              <a:t>B (Karen): Sure. Let me start with the headline figures. Sales rose by 10% in the third quarter, from $2.0 million to $2.2 million.</a:t>
            </a:r>
          </a:p>
          <a:p>
            <a:r>
              <a:t>A: That’s good news. What’s behind the increase?</a:t>
            </a:r>
          </a:p>
          <a:p>
            <a:r>
              <a:t>B: Mainly two things: the new product line and a promotion in September.</a:t>
            </a:r>
          </a:p>
          <a:p>
            <a:r>
              <a:t>A: And how do we compare with last year?</a:t>
            </a:r>
          </a:p>
          <a:p>
            <a:r>
              <a:t>B: Compared with last year, we’re up 5%. Sales peaked in July at $800,000 and levelled off in September.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What about costs?</a:t>
            </a:r>
          </a:p>
          <a:p>
            <a:r>
              <a:t>B: Costs fell from $1.5 million to $1.4 million. The bottom line is that profit is up 18%.</a:t>
            </a:r>
          </a:p>
          <a:p>
            <a:r>
              <a:t>A: Excellent. Any questions for Karen?</a:t>
            </a:r>
          </a:p>
          <a:p>
            <a:r>
              <a:t>B: Just to add: the Asia region is still weak. I’d like to come back to that under item three.</a:t>
            </a:r>
          </a:p>
          <a:p>
            <a:r>
              <a:t>A: Good. Let’s park that for now and move on to item two.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61 | </a:t>
            </a:r>
          </a:p>
          <a:p>
            <a:r>
              <a:t>Situation | You report figures at the start of a meeting.</a:t>
            </a:r>
          </a:p>
          <a:p>
            <a:r>
              <a:t>Your role (B) | Reporter. Prepare 4 figures: ______________</a:t>
            </a:r>
          </a:p>
          <a:p>
            <a:r>
              <a:t>Partner’s role (A) | Chair. Asks about causes and compares with last year.</a:t>
            </a:r>
          </a:p>
          <a:p>
            <a:r>
              <a:t>Must use (4 or more) | rose / fell by… · from… to… · compared with… · peaked · The bottom line is…</a:t>
            </a:r>
          </a:p>
          <a:p>
            <a:r>
              <a:t>Goal | Report three numbers and explain the trend in 60 seconds.</a:t>
            </a:r>
          </a:p>
          <a:p>
            <a:r>
              <a:t>My notes | ____________________________________________</a:t>
            </a:r>
          </a:p>
          <a:p>
            <a:r>
              <a:t>Admit that you don’t have a number: “I don’t have that figure to hand, but I’ll send it to you after the meeting.”</a:t>
            </a:r>
          </a:p>
          <a:p>
            <a:r>
              <a:t>Use a softer verb: “Costs came down slightly.”</a:t>
            </a:r>
          </a:p>
          <a:p>
            <a:r>
              <a:t>Add a graph description: “As you can see on this slide, the line goes up in July.”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Keeping the meeting efficient 让会议保持高效</a:t>
            </a:r>
          </a:p>
          <a:p>
            <a:r>
              <a:t>情景：The discussion goes off topic and the chair brings it back.</a:t>
            </a:r>
          </a:p>
          <a:p>
            <a:r>
              <a:t>Role A: Li Wei, chair Role B: Dan Reed Role C: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We only have ten minutes for this item, so let’s focus. Dan, what is your proposal?</a:t>
            </a:r>
          </a:p>
          <a:p>
            <a:r>
              <a:t>B (Dan): I’d like to start a customer survey. It would take two weeks and cost about 5,000 yuan.</a:t>
            </a:r>
          </a:p>
          <a:p>
            <a:r>
              <a:t>A: Thanks. Does anyone have a question?</a:t>
            </a:r>
          </a:p>
          <a:p>
            <a:r>
              <a:t>B: By the way, this reminds me of the problem we had with our old website last year.</a:t>
            </a:r>
          </a:p>
          <a:p>
            <a:r>
              <a:t>A: That’s interesting, Dan, but I’d like to stick to the agenda. Could we park that for now?</a:t>
            </a:r>
          </a:p>
          <a:p>
            <a:r>
              <a:t>B: Sure. Sorry, I went off on a tangent.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No problem. So, the bottom line is that we need budget approval for the survey. Sophie, any objection?</a:t>
            </a:r>
          </a:p>
          <a:p>
            <a:r>
              <a:t>C (Sophie): No objection, but could we keep the cost under 5,000?</a:t>
            </a:r>
          </a:p>
          <a:p>
            <a:r>
              <a:t>A: Dan, is that possible?</a:t>
            </a:r>
          </a:p>
          <a:p>
            <a:r>
              <a:t>B: I think so. I’ll check the quotation again.</a:t>
            </a:r>
          </a:p>
          <a:p>
            <a:r>
              <a:t>A: Good. Let’s go with that. Let’s move on to item three.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62 | </a:t>
            </a:r>
          </a:p>
          <a:p>
            <a:r>
              <a:t>Situation | A meeting is slow or off topic. You bring it back.</a:t>
            </a:r>
          </a:p>
          <a:p>
            <a:r>
              <a:t>Your role (A) | Chair. Time-check, park off-topic points, reach a decision.</a:t>
            </a:r>
          </a:p>
          <a:p>
            <a:r>
              <a:t>Partners (B, C) | Team members. One goes off topic.</a:t>
            </a:r>
          </a:p>
          <a:p>
            <a:r>
              <a:t>Must use (4 or more) | We only have… minutes for this item. · stick to the agenda · park that for now · The bottom line is… · Let’s move on to…</a:t>
            </a:r>
          </a:p>
          <a:p>
            <a:r>
              <a:t>Goal | Finish one agenda item in 3 minutes with a decision.</a:t>
            </a:r>
          </a:p>
          <a:p>
            <a:r>
              <a:t>My notes | ____________________________________________</a:t>
            </a:r>
          </a:p>
          <a:p>
            <a:r>
              <a:t>Someone starts a long story. Say: “To cut a long story short, what is your recommendation?”</a:t>
            </a:r>
          </a:p>
          <a:p>
            <a:r>
              <a:t>Use ★ language: “It comes down to cost.”</a:t>
            </a:r>
          </a:p>
          <a:p>
            <a:r>
              <a:t>The off-topic point is important. Say: “Good point. Let’s put it on the list for next time.”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long should it take to start the main business of a meeting? | “I think five minutes is enough.” / “Small talk is fine, but not more than…”</a:t>
            </a:r>
          </a:p>
          <a:p>
            <a:r>
              <a:t>2. How do you politely stop someone who talks too much? | “I say ‘Thanks, Dan. Let’s hear from others.’” / “I use a time limit.”</a:t>
            </a:r>
          </a:p>
          <a:p>
            <a:r>
              <a:t>3. What are the key numbers you present in your job? | “In my job, we look at… such as…” / “The most important figure is…”</a:t>
            </a:r>
          </a:p>
          <a:p>
            <a:r>
              <a:t>4. Do you prefer to see numbers in a table or in a chart? Why? | “A chart is better when you want to show…” / “I prefer a table when I need exact numbers.”</a:t>
            </a:r>
          </a:p>
          <a:p>
            <a:r>
              <a:t>5. What can you do to make meetings shorter? | “We can use an agenda with times.” / “We can send the information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“We can make meetings shorter by preparing better. First, we should send the agenda and documents in advance, so people don’t need to read them in the meeting. Second, we can give each item a time limit, such as ten minutes. And third, the chair should stop discussions that go off topic. If a topic needs more time, we can park it for later or arrange a separate meeting.”</a:t>
            </a:r>
          </a:p>
          <a:p>
            <a:r>
              <a:t>“so people don’t need to…” 表示目的。“go off topic”(离题)。用 first / second / third 排列要点。“arrange a separate meeting”(另外安排会议)。</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language: getting down to business 进入正题用语</a:t>
            </a:r>
          </a:p>
          <a:p>
            <a:r>
              <a:t>Function | Say this</a:t>
            </a:r>
          </a:p>
          <a:p>
            <a:r>
              <a:t>Start | Shall we get down to business? / Let’s make a start.</a:t>
            </a:r>
          </a:p>
          <a:p>
            <a:r>
              <a:t>Item | The first item on the agenda is… / Let’s move on to item two.</a:t>
            </a:r>
          </a:p>
          <a:p>
            <a:r>
              <a:t>Update | Could you bring us up to date on…?</a:t>
            </a:r>
          </a:p>
          <a:p>
            <a:r>
              <a:t>Figures | Let’s start with the headline figures. ★ / Sales rose by 10%.</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language: getting down to business 进入正题用语</a:t>
            </a:r>
          </a:p>
          <a:p>
            <a:r>
              <a:t>Function | Say this</a:t>
            </a:r>
          </a:p>
          <a:p>
            <a:r>
              <a:t>Explain | What’s behind the increase? / That’s mainly because…</a:t>
            </a:r>
          </a:p>
          <a:p>
            <a:r>
              <a:t>Summarize | The bottom line is… ★ / It comes down to… ★</a:t>
            </a:r>
          </a:p>
          <a:p>
            <a:r>
              <a:t>Time | We only have ten minutes for this item.</a:t>
            </a:r>
          </a:p>
          <a:p>
            <a:r>
              <a:t>Park | Let’s park that for now. ★ / Let’s discuss that under any other business.</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trends 描述趋势</a:t>
            </a:r>
          </a:p>
          <a:p>
            <a:r>
              <a:t>Direction | Verb (past) | Noun | Example</a:t>
            </a:r>
          </a:p>
          <a:p>
            <a:r>
              <a:t>Up | rose, increased, went up | a rise, an increase | Sales rose by 10%.</a:t>
            </a:r>
          </a:p>
          <a:p>
            <a:r>
              <a:t>Down | fell, decreased, dropped | a fall, a decrease | Costs fell by 8%.</a:t>
            </a:r>
          </a:p>
          <a:p>
            <a:r>
              <a:t>Stay the same | stayed the same, remained stable | — | Prices remained stable.</a:t>
            </a:r>
          </a:p>
          <a:p>
            <a:r>
              <a:t>Top | peaked at ★ | a peak | Sales peaked at $2 million.</a:t>
            </a:r>
          </a:p>
          <a:p>
            <a:r>
              <a:t>Flat after rise ★ | levelled off | — | Sales levelled off in autumn.</a:t>
            </a:r>
          </a:p>
          <a:p>
            <a:r>
              <a:t>Fast/slow | rose sharply / slightly | a sharp / slight rise | Costs rose sharply in March.</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trends 描述趋势</a:t>
            </a:r>
          </a:p>
          <a:p>
            <a:r>
              <a:t>By = the amount of change; to = the new level; from…to = both. “Sales rose by 10% to $2.2 million from $2.0 million.”</a:t>
            </a:r>
          </a:p>
          <a:p>
            <a:r>
              <a:t>Past tense for finished periods: “Sales rose in Q3.” Present perfect when connected to now: “Sales have risen steadily since March.”</a:t>
            </a:r>
          </a:p>
          <a:p>
            <a:r>
              <a:t>Say percentages: “ten percent”, “a quarter (25%)”, “three-quarters”, “double”, “half”.</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Sales increased 10%.  →  ✓ Sales increased by 10%.  (增加量用 by)</a:t>
            </a:r>
          </a:p>
          <a:p>
            <a:r>
              <a:t>✗ Sales rise last quarter.  →  ✓ Sales rose last quarter.  (过去式)</a:t>
            </a:r>
          </a:p>
          <a:p>
            <a:r>
              <a:t>✗ Sales rised last year.  →  ✓ Sales rose last year.  (不规则动词)</a:t>
            </a:r>
          </a:p>
          <a:p>
            <a:r>
              <a:t>✗ Costs have decreased in 2025.  →  ✓ Costs decreased in 2025.  (有具体年份用过去式)</a:t>
            </a:r>
          </a:p>
          <a:p>
            <a:r>
              <a:t>✗ Sales rose from $2.0 million until $2.2 million.  →  ✓ Sales rose from $2.0 million to $2.2 million.  (from…to…)</a:t>
            </a:r>
          </a:p>
          <a:p>
            <a:r>
              <a:t>Mistake Watch: rise / rose / risen (intransitive) vs raise / raised (transitive). The number of … is. by 10% (change) vs to 10% (level).</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Sales raised by 10%.  →  ✓ Sales rose by 10%. / The company raised prices by 10%.  (rise 不及物,raise 及物)</a:t>
            </a:r>
          </a:p>
          <a:p>
            <a:r>
              <a:t>✗ The number of customers are growing.  →  ✓ The number of customers is growing.  (number 是单数)</a:t>
            </a:r>
          </a:p>
          <a:p>
            <a:r>
              <a:t>✗ A lot of informations.  →  ✓ A lot of information.  (information 不可数)</a:t>
            </a:r>
          </a:p>
          <a:p>
            <a:r>
              <a:t>✗ We should discuss about it later.  →  ✓ We should discuss it later.  (discuss 后不加 about)</a:t>
            </a:r>
          </a:p>
          <a:p>
            <a:r>
              <a:t>✗ Today agenda first is the sales report.  →  ✓ The first item on the agenda is the sales report.  (完整结构)</a:t>
            </a:r>
          </a:p>
          <a:p>
            <a:r>
              <a:t>Mistake Watch: rise / rose / risen (intransitive) vs raise / raised (transitive). The number of … is. by 10% (change) vs to 10% (level).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Meetings in the UK/US usually start with 2–5 minutes of small talk, then “Right, shall we get started?” The chair marks the change with a clear phrase.</a:t>
            </a:r>
          </a:p>
          <a:p>
            <a:r>
              <a:t>Be on time and prepared. Read the papers before the meeting. In many companies, “I haven’t had time to read it” is not acceptable.</a:t>
            </a:r>
          </a:p>
          <a:p>
            <a:r>
              <a:t>Numbers: Be precise but not too long. “Around 10%” or “just over two million” is fine when exact figures aren’t needed.</a:t>
            </a:r>
          </a:p>
          <a:p>
            <a:r>
              <a:t>Stay on topic. English-speaking chairs often say “Let’s take that offline” (discuss it after the meeting) if a topic is too detailed.</a:t>
            </a:r>
          </a:p>
          <a:p>
            <a:r>
              <a:t>Time is money. Starting and finishing on time shows respect, especially for senior people.</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signal the move from small talk to business (Shall we get down to business?).</a:t>
            </a:r>
          </a:p>
          <a:p>
            <a:r>
              <a:t>I can introduce agenda items and ask for updates (The first item is… Could you bring us up to date on…?).</a:t>
            </a:r>
          </a:p>
          <a:p>
            <a:r>
              <a:t>I can describe numbers and trends (rose by 10%, fell from… to…, peaked at, levelled off).</a:t>
            </a:r>
          </a:p>
          <a:p>
            <a:r>
              <a:t>I can keep a meeting on track (Let’s stick to the agenda. Let’s park that for now.).</a:t>
            </a:r>
          </a:p>
          <a:p>
            <a:r>
              <a:t>I can use rise / raise, by / to / from and the number of … is correctly.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rose / raised, by / to / from, past tense for finished periods, and discuss + noun.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34 · Closing the meeting 结束会议</a:t>
            </a:r>
          </a:p>
          <a:p>
            <a:r>
              <a:t>Goal: close a business meeting properly: check that all agenda items are done, summarize decisions, confirm action points, deal with any other business, agree on the next meeting, thank people and finish on time.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题讲过去的事,请用过去式(left, didn’t know, was)。第 5 题可以说 “The minutes should include…”。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Close a team meeting with a summary and clear next steps.</a:t>
            </a:r>
          </a:p>
          <a:p>
            <a:r>
              <a:t>Say: check the agenda → summarize decisions → action points → any other business → next meeting → thank people.</a:t>
            </a:r>
          </a:p>
          <a:p>
            <a:r>
              <a:t>Useful starters: “That brings us to the end of the agenda.” / “Let me summarize what we’ve decided.” / “Any other business?” / “Thank you all for your contributions.”</a:t>
            </a:r>
          </a:p>
          <a:p>
            <a:r>
              <a:t>总结决定:We’ve agreed that…;行动项:X will… by…;结束用语:Let’s call it a day。AOB 是 any other business 的缩写。</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Wrapping up the agenda 结束议程</a:t>
            </a:r>
          </a:p>
          <a:p>
            <a:r>
              <a:t>领读 → 学员跟读 → 请学员用表达造一个和自己工作相关的句子。</a:t>
            </a:r>
          </a:p>
          <a:p>
            <a:r>
              <a:t>That brings us to the end of the agenda. (phrase) 议程到此结束 — “That brings us to the end of the agenda.”</a:t>
            </a:r>
          </a:p>
          <a:p>
            <a:r>
              <a:t>★ Is there any other business? (AOB) (phrase) 还有其他事项吗? — “Is there any other business?”</a:t>
            </a:r>
          </a:p>
          <a:p>
            <a:r>
              <a:t>Let me summarize what we’ve decided. (phrase) 让我总结一下我们的决定 — “Let me summarize what we’ve decided.”</a:t>
            </a:r>
          </a:p>
          <a:p>
            <a:r>
              <a:t>We’ve agreed that… (phrase) 我们已同意…… — “We’ve agreed that the launch will be in December.”</a:t>
            </a:r>
          </a:p>
          <a:p>
            <a:r>
              <a:t>★ Let’s recap the action points. (phrase) 我们回顾一下行动项 — “Let’s recap the action points.”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Actions and follow-up 行动与跟进</a:t>
            </a:r>
          </a:p>
          <a:p>
            <a:r>
              <a:t>领读 → 学员跟读 → 请学员用表达造一个和自己工作相关的句子。</a:t>
            </a:r>
          </a:p>
          <a:p>
            <a:r>
              <a:t>Who’s going to… ? (phrase) 谁来……? — “Who’s going to book the venue?”</a:t>
            </a:r>
          </a:p>
          <a:p>
            <a:r>
              <a:t>Li Wei will… by… (phrase) 李伟将在……前…… — “Li Wei will update the budget by Wednesday.”</a:t>
            </a:r>
          </a:p>
          <a:p>
            <a:r>
              <a:t>I’ll circulate the minutes by tomorrow. (phrase) 我明天分发会议纪要 — “I’ll circulate the minutes by tomorrow afternoon.”</a:t>
            </a:r>
          </a:p>
          <a:p>
            <a:r>
              <a:t>★ Please keep me posted. (phrase) 请随时告诉我进展 — “Please keep me posted on the supplier talks.”</a:t>
            </a:r>
          </a:p>
          <a:p>
            <a:r>
              <a:t>★ Let’s touch base next week. (phrase) 下周再碰个头 — “Let’s touch base next week to see how it’s going.”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Closing politely 礼貌收尾</a:t>
            </a:r>
          </a:p>
          <a:p>
            <a:r>
              <a:t>领读 → 学员跟读 → 请学员用表达造一个和自己工作相关的句子。</a:t>
            </a:r>
          </a:p>
          <a:p>
            <a:r>
              <a:t>The next meeting will be on… (phrase) 下次会议在…… — “The next meeting will be on Monday the 7th.”</a:t>
            </a:r>
          </a:p>
          <a:p>
            <a:r>
              <a:t>Thank you all for your contributions. (phrase) 感谢大家的发言 — “Thank you all for your contributions.”</a:t>
            </a:r>
          </a:p>
          <a:p>
            <a:r>
              <a:t>★ It’s been a very productive meeting. (phrase) 这次会议很有成效 — “It’s been a very productive meeting.”</a:t>
            </a:r>
          </a:p>
          <a:p>
            <a:r>
              <a:t>★ Let’s call it a day. (idiom) 今天就到这里吧 — “It’s five o’clock. Let’s call it a day.”</a:t>
            </a:r>
          </a:p>
          <a:p>
            <a:r>
              <a:t>★ I declare the meeting closed. (phrase (formal)) 我宣布会议结束 — “If there’s nothing else, I declare the meeting closed.”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business / contributions / by / agenda / summarize / posted</a:t>
            </a:r>
          </a:p>
          <a:p>
            <a:r>
              <a:t>1. That brings us to the end of the _______. → agenda</a:t>
            </a:r>
          </a:p>
          <a:p>
            <a:r>
              <a:t>2. Is there any other _______? → business</a:t>
            </a:r>
          </a:p>
          <a:p>
            <a:r>
              <a:t>3. Let me _______ what we’ve decided. → summarize</a:t>
            </a:r>
          </a:p>
          <a:p>
            <a:r>
              <a:t>4. Li Wei will update the budget _______ Wednesday. → by</a:t>
            </a:r>
          </a:p>
          <a:p>
            <a:r>
              <a:t>5. Please keep me _______ on the supplier talks. → posted</a:t>
            </a:r>
          </a:p>
          <a:p>
            <a:r>
              <a:t>6. Thank you all for your _______. → contributions</a:t>
            </a:r>
          </a:p>
          <a:p>
            <a:r>
              <a:t>Mistake Watch (拼写与时态): summarize (UK also summarise), business (not “bussiness”), minutes, contribution. Use will for decisions: “Li Wei will update the budget”. Present perfect for results: “We’ve agreed that…”.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 team meeting 结束团队会议</a:t>
            </a:r>
          </a:p>
          <a:p>
            <a:r>
              <a:t>情景：You chair a team meeting. It’s the end of the agenda.</a:t>
            </a:r>
          </a:p>
          <a:p>
            <a:r>
              <a:t>Role A: Li Wei, chair Role B: Dan Reed Role C: Sophie Zhou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That brings us to the end of the agenda. Is there any other business?</a:t>
            </a:r>
          </a:p>
          <a:p>
            <a:r>
              <a:t>B (Dan): Just one thing. Can we agree on who books the venue?</a:t>
            </a:r>
          </a:p>
          <a:p>
            <a:r>
              <a:t>A: Good point. Sophie, could you do that?</a:t>
            </a:r>
          </a:p>
          <a:p>
            <a:r>
              <a:t>C (Sophie): Sure. I’ll book it by Wednesday.</a:t>
            </a:r>
          </a:p>
          <a:p>
            <a:r>
              <a:t>A: Thanks. Let me summarize what we’ve decided. We’ve agreed that the launch will be in early December. Dan will prepare the customer survey by next Friday. Sophie will book the venue by Wednesday. I’ll update the budget and circulate the minutes by tomorrow afternoon.</a:t>
            </a:r>
          </a:p>
          <a:p>
            <a:r>
              <a:t>B: That’s right.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Please keep me posted if anything changes. The next meeting will be on Monday the 7th, at the same time.</a:t>
            </a:r>
          </a:p>
          <a:p>
            <a:r>
              <a:t>C: Works for me.</a:t>
            </a:r>
          </a:p>
          <a:p>
            <a:r>
              <a:t>A: Thank you all for your contributions. It’s been a very productive meeting. Let’s call it a day.</a:t>
            </a:r>
          </a:p>
          <a:p>
            <a:r>
              <a:t>B: Thanks, Li Wei.</a:t>
            </a:r>
          </a:p>
          <a:p>
            <a:r>
              <a:t>C: See you on Monday.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63 | </a:t>
            </a:r>
          </a:p>
          <a:p>
            <a:r>
              <a:t>Situation | You close a team meeting.</a:t>
            </a:r>
          </a:p>
          <a:p>
            <a:r>
              <a:t>Your role (A) | Chair. Summarize, assign, set the next date.</a:t>
            </a:r>
          </a:p>
          <a:p>
            <a:r>
              <a:t>Partners (B, C) | Team members. Raise AOB, confirm actions.</a:t>
            </a:r>
          </a:p>
          <a:p>
            <a:r>
              <a:t>Must use (4 or more) | That brings us to the end of… · Is there any other business? · We’ve agreed that… · will… by… · The next meeting will be on…</a:t>
            </a:r>
          </a:p>
          <a:p>
            <a:r>
              <a:t>Goal | A 60-second closing with 3 decisions and 3 action points.</a:t>
            </a:r>
          </a:p>
          <a:p>
            <a:r>
              <a:t>My notes | ____________________________________________</a:t>
            </a:r>
          </a:p>
          <a:p>
            <a:r>
              <a:t>Someone says, “I’m not sure what I should do.” Say: “Let me check the action list. You’ll …, right?”</a:t>
            </a:r>
          </a:p>
          <a:p>
            <a:r>
              <a:t>Time is up but the topic is not finished. Say: “We’re out of time. Let’s continue this at the next meeting.”</a:t>
            </a:r>
          </a:p>
          <a:p>
            <a:r>
              <a:t>End with a compliment: “I think we made good progress today.”</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Writing and checking the minutes 撰写并核对会议纪要</a:t>
            </a:r>
          </a:p>
          <a:p>
            <a:r>
              <a:t>情景：After the meeting, you check the minutes with a colleague before you send them.</a:t>
            </a:r>
          </a:p>
          <a:p>
            <a:r>
              <a:t>Role A: Li Wei Role B: Dan Reed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Dan, could you check the minutes before I send them?</a:t>
            </a:r>
          </a:p>
          <a:p>
            <a:r>
              <a:t>B (Dan): Sure. The decisions look right. But I think the survey date is wrong. We said “next Friday”, which is the fourth of December, not the eleventh.</a:t>
            </a:r>
          </a:p>
          <a:p>
            <a:r>
              <a:t>A: You’re right. I’ll correct that to the fourth of December.</a:t>
            </a:r>
          </a:p>
          <a:p>
            <a:r>
              <a:t>B: And the next meeting. The draft says Monday 2 December, but the 2nd is a Wednesday. I thought it was Monday the 7th.</a:t>
            </a:r>
          </a:p>
          <a:p>
            <a:r>
              <a:t>A: Good catch. You’re right, it’s the 7th. I’ll correct both dates.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One more thing: add “Venue booked” under Sophie’s name with the deadline.</a:t>
            </a:r>
          </a:p>
          <a:p>
            <a:r>
              <a:t>A: It’s there. “Sophie to book the venue by Wednesday 2 December.”</a:t>
            </a:r>
          </a:p>
          <a:p>
            <a:r>
              <a:t>B: Perfect. I’m happy with it.</a:t>
            </a:r>
          </a:p>
          <a:p>
            <a:r>
              <a:t>A: Thanks. I’ll send it out now.</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64 | </a:t>
            </a:r>
          </a:p>
          <a:p>
            <a:r>
              <a:t>Situation | You and a colleague check the minutes of a meeting.</a:t>
            </a:r>
          </a:p>
          <a:p>
            <a:r>
              <a:t>Your role (A) | Writer. Read and correct the minutes.</a:t>
            </a:r>
          </a:p>
          <a:p>
            <a:r>
              <a:t>Partner’s role (B) | Checker. Finds two mistakes.</a:t>
            </a:r>
          </a:p>
          <a:p>
            <a:r>
              <a:t>Must use (3 or more) | Could you check…? · I think … is wrong. · Good catch. · Action points · by + date</a:t>
            </a:r>
          </a:p>
          <a:p>
            <a:r>
              <a:t>Goal | Check dates and names, correct the mistakes, and send the minutes.</a:t>
            </a:r>
          </a:p>
          <a:p>
            <a:r>
              <a:t>My notes | ____________________________________________</a:t>
            </a:r>
          </a:p>
          <a:p>
            <a:r>
              <a:t>Add the line “Apologies from Jack Wu (absent)”.</a:t>
            </a:r>
          </a:p>
          <a:p>
            <a:r>
              <a:t>Write a one-sentence summary at the top of the minutes.</a:t>
            </a:r>
          </a:p>
          <a:p>
            <a:r>
              <a:t>Check that every action point has an owner and a date.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Who should write the minutes? Why? | “I think the secretary should… because…” / “It’s good to share this task because…”</a:t>
            </a:r>
          </a:p>
          <a:p>
            <a:r>
              <a:t>2. How long should minutes be? What should you not include? | “Minutes should be one page and include…” / “I don’t include every detail because…”</a:t>
            </a:r>
          </a:p>
          <a:p>
            <a:r>
              <a:t>3. Is it better to end a meeting early or on time? | “If we finish early, then…” / “I think it’s best to end on time because…”</a:t>
            </a:r>
          </a:p>
          <a:p>
            <a:r>
              <a:t>4. How do you deal with someone who always talks at the end of the meeting? | “I would say, ‘Thanks. Can we discuss it after the meeting?’” / “I put it on the next agenda.”</a:t>
            </a:r>
          </a:p>
          <a:p>
            <a:r>
              <a:t>5. What would make you feel positive when a meeting ends? | “I feel good if the decisions are clear and…” / “A short thank-you from the chair helps.”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the secretary should write the minutes, but in a small team, we can share the task in turn. If one person always takes the minutes, the rest of the team may not pay enough attention. Rotating also helps everyone learn. The important thing is that the minutes are sent within 24 hours, with clear decisions and action points.”</a:t>
            </a:r>
          </a:p>
          <a:p>
            <a:r>
              <a:t>“in turn”(轮流)。“pay attention”(注意),“pay enough attention” 搭配自然。“within 24 hours”(24 小时内)用 within 表示期限。</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language: closing 结束会议用语</a:t>
            </a:r>
          </a:p>
          <a:p>
            <a:r>
              <a:t>Step | Say this</a:t>
            </a:r>
          </a:p>
          <a:p>
            <a:r>
              <a:t>Close agenda | That brings us to the end of the agenda.</a:t>
            </a:r>
          </a:p>
          <a:p>
            <a:r>
              <a:t>AOB | Is there any other business? ★</a:t>
            </a:r>
          </a:p>
          <a:p>
            <a:r>
              <a:t>Summarize | Let me summarize what we’ve decided. / We’ve agreed that…</a:t>
            </a:r>
          </a:p>
          <a:p>
            <a:r>
              <a:t>Actions | Let’s recap the action points. ★ / Li Wei will… by…</a:t>
            </a:r>
          </a:p>
          <a:p>
            <a:r>
              <a:t>Follow-up | Please keep me posted. ★ / Let’s touch base next week. ★</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language: closing 结束会议用语</a:t>
            </a:r>
          </a:p>
          <a:p>
            <a:r>
              <a:t>Step | Say this</a:t>
            </a:r>
          </a:p>
          <a:p>
            <a:r>
              <a:t>Minutes | I’ll circulate the minutes by tomorrow.</a:t>
            </a:r>
          </a:p>
          <a:p>
            <a:r>
              <a:t>Next meeting | The next meeting will be on…</a:t>
            </a:r>
          </a:p>
          <a:p>
            <a:r>
              <a:t>Thank | Thank you all for your contributions. / It’s been a productive meeting. ★</a:t>
            </a:r>
          </a:p>
          <a:p>
            <a:r>
              <a:t>End | Let’s call it a day. ★ / I declare the meeting closed. ★ (very formal)</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template 会议纪要模板</a:t>
            </a:r>
          </a:p>
          <a:p>
            <a:r>
              <a:t>Section | Example</a:t>
            </a:r>
          </a:p>
          <a:p>
            <a:r>
              <a:t>Title | Minutes: Product Launch Team, Thursday 26 November</a:t>
            </a:r>
          </a:p>
          <a:p>
            <a:r>
              <a:t>Present / Apologies | Present: Li Wei (chair), Dan Reed, Sophie Zhou. Apologies: Jack Wu</a:t>
            </a:r>
          </a:p>
          <a:p>
            <a:r>
              <a:t>Item 1 | The launch will be in early December.</a:t>
            </a:r>
          </a:p>
          <a:p>
            <a:r>
              <a:t>Item 2 | Customer survey approved (budget: 5,000 yuan).</a:t>
            </a:r>
          </a:p>
          <a:p>
            <a:r>
              <a:t>Action points | Dan to prepare the survey by 4 Dec. Sophie to book the venue by 2 Dec.</a:t>
            </a:r>
          </a:p>
          <a:p>
            <a:r>
              <a:t>AOB | Venue booking: Sophie to handle.</a:t>
            </a:r>
          </a:p>
          <a:p>
            <a:r>
              <a:t>Next meeting | Monday 7 December, 10 a.m.</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template 会议纪要模板</a:t>
            </a:r>
          </a:p>
          <a:p>
            <a:r>
              <a:t>Style: short sentences, past or present, no names of people who spoke, only decisions and actions.</a:t>
            </a:r>
          </a:p>
          <a:p>
            <a:r>
              <a:t>“to + verb” for actions in minutes: “Dan to prepare the survey.” (It means “Dan is to prepare…”)</a:t>
            </a:r>
          </a:p>
          <a:p>
            <a:r>
              <a:t>Date style: UK “26 November” / US “November 26”. Write the month in letters.</a:t>
            </a:r>
          </a:p>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Meeting finish.  →  ✓ That brings us to the end of the agenda.  (完整说法)</a:t>
            </a:r>
          </a:p>
          <a:p>
            <a:r>
              <a:t>✗ Any question? (as a closing)  →  ✓ Is there any other business? / Does anyone have any questions?  (更完整)</a:t>
            </a:r>
          </a:p>
          <a:p>
            <a:r>
              <a:t>✗ We decide that the launch is in December.  →  ✓ We’ve decided that the launch will be in December.  (现在完成时 + will)</a:t>
            </a:r>
          </a:p>
          <a:p>
            <a:r>
              <a:t>✗ I will to send the minutes.  →  ✓ I will send the minutes.  (will 后面不加 to)</a:t>
            </a:r>
          </a:p>
          <a:p>
            <a:r>
              <a:t>✗ Next meeting is in Monday.  →  ✓ The next meeting is on Monday.  (冠词 + on)</a:t>
            </a:r>
          </a:p>
          <a:p>
            <a:r>
              <a:t>Mistake Watch: the next meeting is on Monday, I will send (no “to”), We’ve agreed that…, and business, summarize.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Thank you for hear me.  →  ✓ Thank you for listening. / Thank you all for your contributions.  (for + -ing)</a:t>
            </a:r>
          </a:p>
          <a:p>
            <a:r>
              <a:t>✗ I make a summary.  →  ✓ Let me summarize. / To sum up, …  (惯用语)</a:t>
            </a:r>
          </a:p>
          <a:p>
            <a:r>
              <a:t>✗ See you next time (no date)  →  ✓ The next meeting will be on Monday the 7th.  (具体的日期)</a:t>
            </a:r>
          </a:p>
          <a:p>
            <a:r>
              <a:t>✗ bussiness / sumarize  →  ✓ business / summarize  (拼写)</a:t>
            </a:r>
          </a:p>
          <a:p>
            <a:r>
              <a:t>✗ He have to book the venue.  →  ✓ He has to book the venue.  (第三人称单数 has)</a:t>
            </a:r>
          </a:p>
          <a:p>
            <a:r>
              <a:t>Mistake Watch: the next meeting is on Monday, I will send (no “to”), We’ve agreed that…, and business, summarize.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End on time. In UK/US companies, meetings end at the planned time. “We’re out of time” is a normal reason to stop.</a:t>
            </a:r>
          </a:p>
          <a:p>
            <a:r>
              <a:t>Action points must have an owner. “Someone should check this” doesn’t work. “Dan will check this by Friday” does.</a:t>
            </a:r>
          </a:p>
          <a:p>
            <a:r>
              <a:t>Thanks matters. A closing thank-you (“Thank you all for your contributions”) makes people feel valued.</a:t>
            </a:r>
          </a:p>
          <a:p>
            <a:r>
              <a:t>“AOB” is a standard item. It gives people a place to raise small things without a full agenda item.</a:t>
            </a:r>
          </a:p>
          <a:p>
            <a:r>
              <a:t>Minutes protect everyone. If there is a dispute later, the minutes show what was decided. Send them within 24–48 hours.</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close the agenda and ask for any other business.</a:t>
            </a:r>
          </a:p>
          <a:p>
            <a:r>
              <a:t>I can summarize decisions (We’ve agreed that…) and confirm action points (X will… by…).</a:t>
            </a:r>
          </a:p>
          <a:p>
            <a:r>
              <a:t>I can agree the next meeting and thank participants.</a:t>
            </a:r>
          </a:p>
          <a:p>
            <a:r>
              <a:t>I can write or check short minutes with decisions and action points.</a:t>
            </a:r>
          </a:p>
          <a:p>
            <a:r>
              <a:t>I can use will + verb, on + day, the next meeting and business / summarize correctly.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will + base verb, on + day, We’ve agreed that…, and spelling (business, summarize).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“数据在九月趋于平稳” in English? → The figures levelled off in September.</a:t>
            </a:r>
          </a:p>
          <a:p>
            <a:r>
              <a:t>“我们已同意……” in English? → We’ve agreed that…</a:t>
            </a:r>
          </a:p>
          <a:p>
            <a:r>
              <a:t>“我们回顾一下行动项” in English? → Let’s recap the action points.</a:t>
            </a:r>
          </a:p>
          <a:p>
            <a:r>
              <a:t>Fix it: I think so that we should wait. → I think we should wait.</a:t>
            </a:r>
          </a:p>
          <a:p>
            <a:r>
              <a:t>Fix it: I am agree. → I agree. / I couldn’t agree more.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2.xml"/><Relationship Id="rId5" Type="http://schemas.openxmlformats.org/officeDocument/2006/relationships/slide" Target="slide6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 Id="rId4" Type="http://schemas.openxmlformats.org/officeDocument/2006/relationships/slide" Target="slide88.xml"/><Relationship Id="rId5" Type="http://schemas.openxmlformats.org/officeDocument/2006/relationships/slide" Target="slide89.xml"/><Relationship Id="rId6" Type="http://schemas.openxmlformats.org/officeDocument/2006/relationships/slide" Target="slide90.xml"/><Relationship Id="rId7" Type="http://schemas.openxmlformats.org/officeDocument/2006/relationships/slide" Target="slide91.xml"/><Relationship Id="rId8" Type="http://schemas.openxmlformats.org/officeDocument/2006/relationships/slide" Target="slide92.xml"/><Relationship Id="rId9" Type="http://schemas.openxmlformats.org/officeDocument/2006/relationships/slide" Target="slide93.xml"/><Relationship Id="rId10" Type="http://schemas.openxmlformats.org/officeDocument/2006/relationships/slide" Target="slide94.xml"/><Relationship Id="rId11" Type="http://schemas.openxmlformats.org/officeDocument/2006/relationships/slide" Target="slide95.xml"/><Relationship Id="rId12" Type="http://schemas.openxmlformats.org/officeDocument/2006/relationships/slide" Target="slide9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8</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Business Meetings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L32 Meetings · L33 Down to business · L34 Closing the meeting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32</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Meetings</a:t>
            </a:r>
          </a:p>
          <a:p>
            <a:pPr algn="l">
              <a:lnSpc>
                <a:spcPct val="100000"/>
              </a:lnSpc>
              <a:spcAft>
                <a:spcPts val="800"/>
              </a:spcAft>
            </a:pPr>
            <a:r>
              <a:rPr sz="1400" b="0">
                <a:solidFill>
                  <a:srgbClr val="5F677A"/>
                </a:solidFill>
                <a:latin typeface="Arial"/>
                <a:ea typeface="Microsoft YaHei"/>
              </a:rPr>
              <a:t>会议</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33</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Down to business</a:t>
            </a:r>
          </a:p>
          <a:p>
            <a:pPr algn="l">
              <a:lnSpc>
                <a:spcPct val="100000"/>
              </a:lnSpc>
              <a:spcAft>
                <a:spcPts val="800"/>
              </a:spcAft>
            </a:pPr>
            <a:r>
              <a:rPr sz="1400" b="0">
                <a:solidFill>
                  <a:srgbClr val="5F677A"/>
                </a:solidFill>
                <a:latin typeface="Arial"/>
                <a:ea typeface="Microsoft YaHei"/>
              </a:rPr>
              <a:t>进入正题</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34</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Closing the meeting</a:t>
            </a:r>
          </a:p>
          <a:p>
            <a:pPr algn="l">
              <a:lnSpc>
                <a:spcPct val="100000"/>
              </a:lnSpc>
              <a:spcAft>
                <a:spcPts val="800"/>
              </a:spcAft>
            </a:pPr>
            <a:r>
              <a:rPr sz="1400" b="0">
                <a:solidFill>
                  <a:srgbClr val="5F677A"/>
                </a:solidFill>
                <a:latin typeface="Arial"/>
                <a:ea typeface="Microsoft YaHei"/>
              </a:rPr>
              <a:t>结束会议</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8 · Lesson 32 Meetings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Meetings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take an active part in a business meeting: give your opinion, ask for other people’s views, agree and disagree politely, interrupt and keep the discussion on track, and ask for clarification when you do not understand.</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many meetings do you attend in a typical week? Which ones are useful?</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speak a lot in meetings, or do you mostly listen? Why?</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difficult about speaking in English in a meeting?</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meeting where you gave an opinion that people liked. What did you say?</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feel when someone interrupts you in a meeting?</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题讲过去的事,请用过去式(gave, said, liked)。第 2 题可以说 “I mostly… because…”。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900" b="1">
                <a:solidFill>
                  <a:srgbClr val="1F2A44"/>
                </a:solidFill>
                <a:latin typeface="Arial"/>
                <a:ea typeface="Microsoft YaHei"/>
              </a:rPr>
              <a:t>Give your opinion on a proposal in a meeting and respond to a colleague who disagrees.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1. your opinion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2. one reason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3. one example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4. respond politely to a different view</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5. suggest a next step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my opinion, we should… because…   💬 From my point of view, …   💬 I see your point, but…   💬 Perhaps we could…</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说观点要有理由和例子。反对时先肯定再提出不同意见:I see your point, but…。不要只说 “I don’t agree”。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1: Giving and asking for opinions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表达与询问观点</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 my opinion, … / I think…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我认为……</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my opinion, we should postpone the launch.”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From my point of view,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从我的角度看,……</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“From my point of view, the biggest risk is cost.”</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do you think, Dan?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丹,你怎么看?</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do you think, Dan? You know the market well.”</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Do you have any thoughts on…?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你对……有什么想法吗?</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 you have any thoughts on the new pricing?”</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like to hear your take on this.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我想听听你对此的看法</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hear your take on this, Sophie.”</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Agreeing and disagreeing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同意与不同意</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agree with you. / That’s right.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我同意</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agree with you on the budget.”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couldn’t agree more.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我完全同意</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couldn’t agree more. That’s exactly what we need.”</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see your point, but…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我理解你的观点,但是……</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see your point, but it will cost too much.”</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afraid I see it differently.</a:t>
            </a:r>
          </a:p>
          <a:p>
            <a:pPr algn="l">
              <a:lnSpc>
                <a:spcPct val="115000"/>
              </a:lnSpc>
              <a:spcAft>
                <a:spcPts val="800"/>
              </a:spcAft>
            </a:pPr>
            <a:r>
              <a:rPr sz="1300" b="0">
                <a:solidFill>
                  <a:srgbClr val="5F677A"/>
                </a:solidFill>
                <a:latin typeface="Arial"/>
                <a:ea typeface="Microsoft YaHei"/>
              </a:rPr>
              <a:t>phrase (polite)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恐怕我的看法不同</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I see it differently. In my experience, …”</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not sure I agree.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我不确定我是否同意</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not sure I agree. Can we look at the figures?”</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3: Interrupting and clarifying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打断与澄清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to interrupt, but…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抱歉打断一下,但是……</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to interrupt, but can I just ask a quick question?”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If I could just come in here…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请允许我插一句……</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I could just come in here for a moment, …”</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add something?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我可以补充一点吗?</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add something to what Dan said?”</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elaborate on that?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您能详细说明一下吗?</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elaborate on that point?”</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stick to the agenda.</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我们回到议程吧</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interesting, but let’s stick to the agenda.”</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我同意</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agree with you. / That’s right.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我可以补充一点吗?</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I add something?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抱歉打断一下,但是……</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Sorry to interrupt, but…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我理解你的观点,但是……</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see your point, but…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丹,你怎么看?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do you think, Dan?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你对……有什么想法吗?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Do you have any thoughts 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我们回到议程吧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stick to the agenda.</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恐怕我的看法不同</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afraid I see it differently.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couldn’t</a:t>
            </a:r>
          </a:p>
        </p:txBody>
      </p:sp>
      <p:sp>
        <p:nvSpPr>
          <p:cNvPr id="10" name="Rounded Rectangle 9"/>
          <p:cNvSpPr/>
          <p:nvPr/>
        </p:nvSpPr>
        <p:spPr>
          <a:xfrm>
            <a:off x="3346704"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1" name="Rounded Rectangle 10"/>
          <p:cNvSpPr/>
          <p:nvPr/>
        </p:nvSpPr>
        <p:spPr>
          <a:xfrm>
            <a:off x="4462272"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differently</a:t>
            </a:r>
          </a:p>
        </p:txBody>
      </p:sp>
      <p:sp>
        <p:nvSpPr>
          <p:cNvPr id="12" name="Rounded Rectangle 11"/>
          <p:cNvSpPr/>
          <p:nvPr/>
        </p:nvSpPr>
        <p:spPr>
          <a:xfrm>
            <a:off x="6126479"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interrupt</a:t>
            </a:r>
          </a:p>
        </p:txBody>
      </p:sp>
      <p:sp>
        <p:nvSpPr>
          <p:cNvPr id="13" name="Rounded Rectangle 12"/>
          <p:cNvSpPr/>
          <p:nvPr/>
        </p:nvSpPr>
        <p:spPr>
          <a:xfrm>
            <a:off x="7571231"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think</a:t>
            </a:r>
          </a:p>
        </p:txBody>
      </p:sp>
      <p:sp>
        <p:nvSpPr>
          <p:cNvPr id="14" name="Rounded Rectangle 13"/>
          <p:cNvSpPr/>
          <p:nvPr/>
        </p:nvSpPr>
        <p:spPr>
          <a:xfrm>
            <a:off x="8577071"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opinion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In my _______, we should postpone the launch.</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opinion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What do you _______, Dan?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think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_______ agree more.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couldn’t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I’m afraid I see it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differently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Sorry to _______, but can I ask a quick question?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interrupt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stick to the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opinion (not “opinon”), differently, agenda, interrupt (rr). We say in my opinion (not “according to me”). Agree with a person; agree on/about a topic.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Giving opinions about a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就一项提案发表意见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team meets to discuss moving the product launch from November to January.</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 marketing</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Sophie Zhou, finance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Giving opinions about a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start with the proposal to move the launch to January. Dan, what do you think?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my opinion, we should keep November. Our competitors will launch in December, so we need to be first.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Sophie, do you have any thoughts on this?</a:t>
            </a:r>
          </a:p>
        </p:txBody>
      </p:sp>
      <p:sp>
        <p:nvSpPr>
          <p:cNvPr id="17" name="Rounded Rectangle 16"/>
          <p:cNvSpPr/>
          <p:nvPr/>
        </p:nvSpPr>
        <p:spPr>
          <a:xfrm>
            <a:off x="548640" y="365150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9" name="Rounded Rectangle 18"/>
          <p:cNvSpPr/>
          <p:nvPr/>
        </p:nvSpPr>
        <p:spPr>
          <a:xfrm>
            <a:off x="1463040" y="3651504"/>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From my point of view, January makes more sense. The product still has some quality issues.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opinions about a proposal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to interrupt, but the quality problems are small, and we can fix them by early November.</a:t>
            </a:r>
          </a:p>
        </p:txBody>
      </p:sp>
      <p:sp>
        <p:nvSpPr>
          <p:cNvPr id="11" name="Rounded Rectangle 10"/>
          <p:cNvSpPr/>
          <p:nvPr/>
        </p:nvSpPr>
        <p:spPr>
          <a:xfrm>
            <a:off x="548640" y="2197608"/>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your point, but if we launch with problems, it will damage our reputation.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Dan, could you elaborate on the risks of waiting?</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If we wait, we lose the Christmas season. That could mean 20% of our annual sales.</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opinions about a proposal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 see it differently. A bad launch could cost much more than 20%.</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Both views are valid. Perhaps we could look for a middle way. Could we launch in early December?</a:t>
            </a:r>
          </a:p>
        </p:txBody>
      </p:sp>
      <p:sp>
        <p:nvSpPr>
          <p:cNvPr id="14" name="Rounded Rectangle 13"/>
          <p:cNvSpPr/>
          <p:nvPr/>
        </p:nvSpPr>
        <p:spPr>
          <a:xfrm>
            <a:off x="10911535" y="306933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306933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live with that.</a:t>
            </a:r>
          </a:p>
        </p:txBody>
      </p:sp>
      <p:sp>
        <p:nvSpPr>
          <p:cNvPr id="17" name="Rounded Rectangle 16"/>
          <p:cNvSpPr/>
          <p:nvPr/>
        </p:nvSpPr>
        <p:spPr>
          <a:xfrm>
            <a:off x="548640" y="365150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couldn’t agree more. That gives us time to fix the product.</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Giving opinions about a proposal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team meeting about a proposal where people disagree.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Ask for opinions, summarize, propose a middle way.</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members with different views.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 my opinion… · What do you think…? · I see your point, but… · Could you elaborate on…? · I couldn’t agree more.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Hear both views, disagree politely, find a compromise in 3 minutes.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Someone dominates the discussion. Say: “Thanks, Dan. Let’s hear from the others too.”</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Someone is silent. Say: “Sophie, we haven’t heard from you yet. What’s your view?”</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 language: “I’m afraid I see it differently.”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Interrupting politely and asking for clarification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礼貌打断与澄清</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presents figures. You do not understand one point and you interrupt politely.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Karen Ortiz,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Li Wei, listener</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Interrupting politely and asking for clarification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As you can see, our sales in the north fell by 8% in the third quarter.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to interrupt, Karen. Could I just check something? Is that compared with the second quarter or with last year?</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It’s compared with the same quarter last year.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And when you say “the north”, do you mean only the Beijing office?</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it covers Beijing, Tianjin and Shenyang.</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Interrupting politely and asking for clarification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Could you elaborate on why Shenyang was so weak?</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 lost two big customers there. I’ll go into that on the next slide.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I didn’t mean to jump ahead. Please carry on.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at all. It’s good that you asked. Shall I continue?</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Interrupting politely and asking for clarification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ask a clarifying question during a presentation.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Listener. Interrupt politely, ask for clarification, thank the speaker.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Answers politely.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Sorry to interrupt, but… · Could I just check…? · Do you mean…? · Could you elaborate on…? · Please carry 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Ask two questions without breaking the flow. About 90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speaker goes too fast. Say: “Sorry, could you slow down a little? I’d like to take notes.”</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speaker says “As you know”. You don’t know. Say: “Sorry, I’m new to this. Could you explain?”</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softer interruption: “If I could just come in here…”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often do you speak in meetings? What would you like to change?</a:t>
            </a:r>
          </a:p>
          <a:p>
            <a:pPr algn="l">
              <a:lnSpc>
                <a:spcPct val="115000"/>
              </a:lnSpc>
              <a:spcAft>
                <a:spcPts val="800"/>
              </a:spcAft>
            </a:pPr>
            <a:r>
              <a:rPr sz="1400" b="0">
                <a:solidFill>
                  <a:srgbClr val="5F677A"/>
                </a:solidFill>
                <a:latin typeface="Arial"/>
                <a:ea typeface="Microsoft YaHei"/>
              </a:rPr>
              <a:t>💬 “I speak… because…” / “I’d like to speak more,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meeting productive?</a:t>
            </a:r>
          </a:p>
          <a:p>
            <a:pPr algn="l">
              <a:lnSpc>
                <a:spcPct val="115000"/>
              </a:lnSpc>
              <a:spcAft>
                <a:spcPts val="800"/>
              </a:spcAft>
            </a:pPr>
            <a:r>
              <a:rPr sz="1400" b="0">
                <a:solidFill>
                  <a:srgbClr val="5F677A"/>
                </a:solidFill>
                <a:latin typeface="Arial"/>
                <a:ea typeface="Microsoft YaHei"/>
              </a:rPr>
              <a:t>💬 “A productive meeting has…” / “It starts and ends on time, and everyone…”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disagree with your boss in a meeting?</a:t>
            </a:r>
          </a:p>
          <a:p>
            <a:pPr algn="l">
              <a:lnSpc>
                <a:spcPct val="115000"/>
              </a:lnSpc>
              <a:spcAft>
                <a:spcPts val="800"/>
              </a:spcAft>
            </a:pPr>
            <a:r>
              <a:rPr sz="1400" b="0">
                <a:solidFill>
                  <a:srgbClr val="5F677A"/>
                </a:solidFill>
                <a:latin typeface="Arial"/>
                <a:ea typeface="Microsoft YaHei"/>
              </a:rPr>
              <a:t>💬 “I would start by saying…” / “I’d ask a question, such 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rude to interrupt? When is it acceptable?</a:t>
            </a:r>
          </a:p>
          <a:p>
            <a:pPr algn="l">
              <a:lnSpc>
                <a:spcPct val="115000"/>
              </a:lnSpc>
              <a:spcAft>
                <a:spcPts val="800"/>
              </a:spcAft>
            </a:pPr>
            <a:r>
              <a:rPr sz="1400" b="0">
                <a:solidFill>
                  <a:srgbClr val="5F677A"/>
                </a:solidFill>
                <a:latin typeface="Arial"/>
                <a:ea typeface="Microsoft YaHei"/>
              </a:rPr>
              <a:t>💬 “It depends on…” / “Interrupting is acceptable if you do it politely.”</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chair make quiet people speak?</a:t>
            </a:r>
          </a:p>
          <a:p>
            <a:pPr algn="l">
              <a:lnSpc>
                <a:spcPct val="115000"/>
              </a:lnSpc>
              <a:spcAft>
                <a:spcPts val="800"/>
              </a:spcAft>
            </a:pPr>
            <a:r>
              <a:rPr sz="1400" b="0">
                <a:solidFill>
                  <a:srgbClr val="5F677A"/>
                </a:solidFill>
                <a:latin typeface="Arial"/>
                <a:ea typeface="Microsoft YaHei"/>
              </a:rPr>
              <a:t>💬 “The chair can ask direct questions, such as…” / “I like to go around the 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would start by saying that I understand the reasoning, for example,”I can see why you suggest this.” Then I would give my view, using “I” rather than “you”, so it doesn’t sound like criticism: “My concern is that…”. If I’m not sure, I’d ask a question, such as “Have we considered…?” I try to disagree with the idea, not the person, and to offer an alternative.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“using I rather than you” 能减少指责感。“disagree with the idea, not the person” 对事不对人。“offer an alternative”(提供替代方案)是 B2 常用表达。</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Meeting language: participating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参与会议用语</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Give opinion</a:t>
                      </a:r>
                    </a:p>
                  </a:txBody>
                  <a:tcPr anchor="ctr">
                    <a:solidFill>
                      <a:srgbClr val="FFFFFF"/>
                    </a:solidFill>
                  </a:tcPr>
                </a:tc>
                <a:tc>
                  <a:txBody>
                    <a:bodyPr wrap="square"/>
                    <a:lstStyle/>
                    <a:p>
                      <a:r>
                        <a:rPr sz="1600" b="0">
                          <a:solidFill>
                            <a:srgbClr val="1F2A44"/>
                          </a:solidFill>
                          <a:latin typeface="Arial"/>
                          <a:ea typeface="Microsoft YaHei"/>
                        </a:rPr>
                        <a:t>In my opinion, … / From my point of view, … / I think…</a:t>
                      </a:r>
                    </a:p>
                  </a:txBody>
                  <a:tcPr anchor="ctr">
                    <a:solidFill>
                      <a:srgbClr val="FFFFFF"/>
                    </a:solidFill>
                  </a:tcPr>
                </a:tc>
              </a:tr>
              <a:tr h="652272">
                <a:tc>
                  <a:txBody>
                    <a:bodyPr wrap="square"/>
                    <a:lstStyle/>
                    <a:p>
                      <a:r>
                        <a:rPr sz="1600" b="1">
                          <a:solidFill>
                            <a:srgbClr val="1F2A44"/>
                          </a:solidFill>
                          <a:latin typeface="Arial"/>
                          <a:ea typeface="Microsoft YaHei"/>
                        </a:rPr>
                        <a:t>Ask opinion</a:t>
                      </a:r>
                    </a:p>
                  </a:txBody>
                  <a:tcPr anchor="ctr">
                    <a:solidFill>
                      <a:srgbClr val="FFEFD9"/>
                    </a:solidFill>
                  </a:tcPr>
                </a:tc>
                <a:tc>
                  <a:txBody>
                    <a:bodyPr wrap="square"/>
                    <a:lstStyle/>
                    <a:p>
                      <a:r>
                        <a:rPr sz="1600" b="0">
                          <a:solidFill>
                            <a:srgbClr val="1F2A44"/>
                          </a:solidFill>
                          <a:latin typeface="Arial"/>
                          <a:ea typeface="Microsoft YaHei"/>
                        </a:rPr>
                        <a:t>What do you think? / Do you have any thoughts on…? ★</a:t>
                      </a:r>
                    </a:p>
                  </a:txBody>
                  <a:tcPr anchor="ctr">
                    <a:solidFill>
                      <a:srgbClr val="FFEFD9"/>
                    </a:solidFill>
                  </a:tcPr>
                </a:tc>
              </a:tr>
              <a:tr h="408432">
                <a:tc>
                  <a:txBody>
                    <a:bodyPr wrap="square"/>
                    <a:lstStyle/>
                    <a:p>
                      <a:r>
                        <a:rPr sz="1600" b="1">
                          <a:solidFill>
                            <a:srgbClr val="1F2A44"/>
                          </a:solidFill>
                          <a:latin typeface="Arial"/>
                          <a:ea typeface="Microsoft YaHei"/>
                        </a:rPr>
                        <a:t>Agree</a:t>
                      </a:r>
                    </a:p>
                  </a:txBody>
                  <a:tcPr anchor="ctr">
                    <a:solidFill>
                      <a:srgbClr val="FFFFFF"/>
                    </a:solidFill>
                  </a:tcPr>
                </a:tc>
                <a:tc>
                  <a:txBody>
                    <a:bodyPr wrap="square"/>
                    <a:lstStyle/>
                    <a:p>
                      <a:r>
                        <a:rPr sz="1600" b="0">
                          <a:solidFill>
                            <a:srgbClr val="1F2A44"/>
                          </a:solidFill>
                          <a:latin typeface="Arial"/>
                          <a:ea typeface="Microsoft YaHei"/>
                        </a:rPr>
                        <a:t>I agree. / That’s right. / I couldn’t agree more. ★</a:t>
                      </a:r>
                    </a:p>
                  </a:txBody>
                  <a:tcPr anchor="ctr">
                    <a:solidFill>
                      <a:srgbClr val="FFFFFF"/>
                    </a:solidFill>
                  </a:tcPr>
                </a:tc>
              </a:tr>
              <a:tr h="408432">
                <a:tc>
                  <a:txBody>
                    <a:bodyPr wrap="square"/>
                    <a:lstStyle/>
                    <a:p>
                      <a:r>
                        <a:rPr sz="1600" b="1">
                          <a:solidFill>
                            <a:srgbClr val="1F2A44"/>
                          </a:solidFill>
                          <a:latin typeface="Arial"/>
                          <a:ea typeface="Microsoft YaHei"/>
                        </a:rPr>
                        <a:t>Partly agree</a:t>
                      </a:r>
                    </a:p>
                  </a:txBody>
                  <a:tcPr anchor="ctr">
                    <a:solidFill>
                      <a:srgbClr val="FFEFD9"/>
                    </a:solidFill>
                  </a:tcPr>
                </a:tc>
                <a:tc>
                  <a:txBody>
                    <a:bodyPr wrap="square"/>
                    <a:lstStyle/>
                    <a:p>
                      <a:r>
                        <a:rPr sz="1600" b="0">
                          <a:solidFill>
                            <a:srgbClr val="1F2A44"/>
                          </a:solidFill>
                          <a:latin typeface="Arial"/>
                          <a:ea typeface="Microsoft YaHei"/>
                        </a:rPr>
                        <a:t>I see your point, but… / That’s true, but…</a:t>
                      </a:r>
                    </a:p>
                  </a:txBody>
                  <a:tcPr anchor="ctr">
                    <a:solidFill>
                      <a:srgbClr val="FFEFD9"/>
                    </a:solidFill>
                  </a:tcPr>
                </a:tc>
              </a:tr>
              <a:tr h="652272">
                <a:tc>
                  <a:txBody>
                    <a:bodyPr wrap="square"/>
                    <a:lstStyle/>
                    <a:p>
                      <a:r>
                        <a:rPr sz="1600" b="1">
                          <a:solidFill>
                            <a:srgbClr val="1F2A44"/>
                          </a:solidFill>
                          <a:latin typeface="Arial"/>
                          <a:ea typeface="Microsoft YaHei"/>
                        </a:rPr>
                        <a:t>Disagree (polite)</a:t>
                      </a:r>
                    </a:p>
                  </a:txBody>
                  <a:tcPr anchor="ctr">
                    <a:solidFill>
                      <a:srgbClr val="FFFFFF"/>
                    </a:solidFill>
                  </a:tcPr>
                </a:tc>
                <a:tc>
                  <a:txBody>
                    <a:bodyPr wrap="square"/>
                    <a:lstStyle/>
                    <a:p>
                      <a:r>
                        <a:rPr sz="1600" b="0">
                          <a:solidFill>
                            <a:srgbClr val="1F2A44"/>
                          </a:solidFill>
                          <a:latin typeface="Arial"/>
                          <a:ea typeface="Microsoft YaHei"/>
                        </a:rPr>
                        <a:t>I’m afraid I see it differently. ★ / I’m not sure I agree.</a:t>
                      </a:r>
                    </a:p>
                  </a:txBody>
                  <a:tcPr anchor="ctr">
                    <a:solidFill>
                      <a:srgbClr val="FFFFFF"/>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Meeting language: participating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参与会议用语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Interrupt</a:t>
                      </a:r>
                    </a:p>
                  </a:txBody>
                  <a:tcPr anchor="ctr">
                    <a:solidFill>
                      <a:srgbClr val="FFFFFF"/>
                    </a:solidFill>
                  </a:tcPr>
                </a:tc>
                <a:tc>
                  <a:txBody>
                    <a:bodyPr wrap="square"/>
                    <a:lstStyle/>
                    <a:p>
                      <a:r>
                        <a:rPr sz="1600" b="0">
                          <a:solidFill>
                            <a:srgbClr val="1F2A44"/>
                          </a:solidFill>
                          <a:latin typeface="Arial"/>
                          <a:ea typeface="Microsoft YaHei"/>
                        </a:rPr>
                        <a:t>Sorry to interrupt, but… / If I could just come in here… ★</a:t>
                      </a:r>
                    </a:p>
                  </a:txBody>
                  <a:tcPr anchor="ctr">
                    <a:solidFill>
                      <a:srgbClr val="FFFFFF"/>
                    </a:solidFill>
                  </a:tcPr>
                </a:tc>
              </a:tr>
              <a:tr h="408432">
                <a:tc>
                  <a:txBody>
                    <a:bodyPr wrap="square"/>
                    <a:lstStyle/>
                    <a:p>
                      <a:r>
                        <a:rPr sz="1600" b="1">
                          <a:solidFill>
                            <a:srgbClr val="1F2A44"/>
                          </a:solidFill>
                          <a:latin typeface="Arial"/>
                          <a:ea typeface="Microsoft YaHei"/>
                        </a:rPr>
                        <a:t>Ask to add</a:t>
                      </a:r>
                    </a:p>
                  </a:txBody>
                  <a:tcPr anchor="ctr">
                    <a:solidFill>
                      <a:srgbClr val="FFEFD9"/>
                    </a:solidFill>
                  </a:tcPr>
                </a:tc>
                <a:tc>
                  <a:txBody>
                    <a:bodyPr wrap="square"/>
                    <a:lstStyle/>
                    <a:p>
                      <a:r>
                        <a:rPr sz="1600" b="0">
                          <a:solidFill>
                            <a:srgbClr val="1F2A44"/>
                          </a:solidFill>
                          <a:latin typeface="Arial"/>
                          <a:ea typeface="Microsoft YaHei"/>
                        </a:rPr>
                        <a:t>Could I add something? / May I say something?</a:t>
                      </a:r>
                    </a:p>
                  </a:txBody>
                  <a:tcPr anchor="ctr">
                    <a:solidFill>
                      <a:srgbClr val="FFEFD9"/>
                    </a:solidFill>
                  </a:tcPr>
                </a:tc>
              </a:tr>
              <a:tr h="408432">
                <a:tc>
                  <a:txBody>
                    <a:bodyPr wrap="square"/>
                    <a:lstStyle/>
                    <a:p>
                      <a:r>
                        <a:rPr sz="1600" b="1">
                          <a:solidFill>
                            <a:srgbClr val="1F2A44"/>
                          </a:solidFill>
                          <a:latin typeface="Arial"/>
                          <a:ea typeface="Microsoft YaHei"/>
                        </a:rPr>
                        <a:t>Clarify</a:t>
                      </a:r>
                    </a:p>
                  </a:txBody>
                  <a:tcPr anchor="ctr">
                    <a:solidFill>
                      <a:srgbClr val="FFFFFF"/>
                    </a:solidFill>
                  </a:tcPr>
                </a:tc>
                <a:tc>
                  <a:txBody>
                    <a:bodyPr wrap="square"/>
                    <a:lstStyle/>
                    <a:p>
                      <a:r>
                        <a:rPr sz="1600" b="0">
                          <a:solidFill>
                            <a:srgbClr val="1F2A44"/>
                          </a:solidFill>
                          <a:latin typeface="Arial"/>
                          <a:ea typeface="Microsoft YaHei"/>
                        </a:rPr>
                        <a:t>Do you mean…? / Could you elaborate on that? ★</a:t>
                      </a:r>
                    </a:p>
                  </a:txBody>
                  <a:tcPr anchor="ctr">
                    <a:solidFill>
                      <a:srgbClr val="FFFFFF"/>
                    </a:solidFill>
                  </a:tcPr>
                </a:tc>
              </a:tr>
              <a:tr h="652272">
                <a:tc>
                  <a:txBody>
                    <a:bodyPr wrap="square"/>
                    <a:lstStyle/>
                    <a:p>
                      <a:r>
                        <a:rPr sz="1600" b="1">
                          <a:solidFill>
                            <a:srgbClr val="1F2A44"/>
                          </a:solidFill>
                          <a:latin typeface="Arial"/>
                          <a:ea typeface="Microsoft YaHei"/>
                        </a:rPr>
                        <a:t>Return to topic</a:t>
                      </a:r>
                    </a:p>
                  </a:txBody>
                  <a:tcPr anchor="ctr">
                    <a:solidFill>
                      <a:srgbClr val="FFEFD9"/>
                    </a:solidFill>
                  </a:tcPr>
                </a:tc>
                <a:tc>
                  <a:txBody>
                    <a:bodyPr wrap="square"/>
                    <a:lstStyle/>
                    <a:p>
                      <a:r>
                        <a:rPr sz="1600" b="0">
                          <a:solidFill>
                            <a:srgbClr val="1F2A44"/>
                          </a:solidFill>
                          <a:latin typeface="Arial"/>
                          <a:ea typeface="Microsoft YaHei"/>
                        </a:rPr>
                        <a:t>Let’s stick to the agenda. ★ / Let’s get back to the point.</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Levels of agreement and disagreement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同意与反对的程度</a:t>
            </a:r>
          </a:p>
        </p:txBody>
      </p:sp>
      <p:graphicFrame>
        <p:nvGraphicFramePr>
          <p:cNvPr id="9" name="Table 8"/>
          <p:cNvGraphicFramePr>
            <a:graphicFrameLocks noGrp="1"/>
          </p:cNvGraphicFramePr>
          <p:nvPr/>
        </p:nvGraphicFramePr>
        <p:xfrm>
          <a:off x="548640" y="1417320"/>
          <a:ext cx="11094415" cy="1560576"/>
        </p:xfrm>
        <a:graphic>
          <a:graphicData uri="http://schemas.openxmlformats.org/drawingml/2006/table">
            <a:tbl>
              <a:tblPr firstRow="1" bandRow="1">
                <a:tableStyleId>{5C22544A-7EE6-4342-B048-85BDC9FD1C3A}</a:tableStyleId>
              </a:tblPr>
              <a:tblGrid>
                <a:gridCol w="2773603"/>
                <a:gridCol w="2773603"/>
                <a:gridCol w="2773603"/>
                <a:gridCol w="2773606"/>
              </a:tblGrid>
              <a:tr h="377952">
                <a:tc>
                  <a:txBody>
                    <a:bodyPr wrap="square"/>
                    <a:lstStyle/>
                    <a:p>
                      <a:r>
                        <a:rPr sz="1400" b="1">
                          <a:solidFill>
                            <a:srgbClr val="FFFFFF"/>
                          </a:solidFill>
                          <a:latin typeface="Arial"/>
                          <a:ea typeface="Microsoft YaHei"/>
                        </a:rPr>
                        <a:t>Strong agreement</a:t>
                      </a:r>
                    </a:p>
                  </a:txBody>
                  <a:tcPr anchor="ctr">
                    <a:solidFill>
                      <a:srgbClr val="3CC49A"/>
                    </a:solidFill>
                  </a:tcPr>
                </a:tc>
                <a:tc>
                  <a:txBody>
                    <a:bodyPr wrap="square"/>
                    <a:lstStyle/>
                    <a:p>
                      <a:r>
                        <a:rPr sz="1400" b="1">
                          <a:solidFill>
                            <a:srgbClr val="FFFFFF"/>
                          </a:solidFill>
                          <a:latin typeface="Arial"/>
                          <a:ea typeface="Microsoft YaHei"/>
                        </a:rPr>
                        <a:t>Partly agree</a:t>
                      </a:r>
                    </a:p>
                  </a:txBody>
                  <a:tcPr anchor="ctr">
                    <a:solidFill>
                      <a:srgbClr val="3CC49A"/>
                    </a:solidFill>
                  </a:tcPr>
                </a:tc>
                <a:tc>
                  <a:txBody>
                    <a:bodyPr wrap="square"/>
                    <a:lstStyle/>
                    <a:p>
                      <a:r>
                        <a:rPr sz="1400" b="1">
                          <a:solidFill>
                            <a:srgbClr val="FFFFFF"/>
                          </a:solidFill>
                          <a:latin typeface="Arial"/>
                          <a:ea typeface="Microsoft YaHei"/>
                        </a:rPr>
                        <a:t>Polite disagreement</a:t>
                      </a:r>
                    </a:p>
                  </a:txBody>
                  <a:tcPr anchor="ctr">
                    <a:solidFill>
                      <a:srgbClr val="3CC49A"/>
                    </a:solidFill>
                  </a:tcPr>
                </a:tc>
                <a:tc>
                  <a:txBody>
                    <a:bodyPr wrap="square"/>
                    <a:lstStyle/>
                    <a:p>
                      <a:r>
                        <a:rPr sz="1400" b="1">
                          <a:solidFill>
                            <a:srgbClr val="FFFFFF"/>
                          </a:solidFill>
                          <a:latin typeface="Arial"/>
                          <a:ea typeface="Microsoft YaHei"/>
                        </a:rPr>
                        <a:t>Strong disagreement</a:t>
                      </a:r>
                    </a:p>
                  </a:txBody>
                  <a:tcPr anchor="ctr">
                    <a:solidFill>
                      <a:srgbClr val="3CC49A"/>
                    </a:solidFill>
                  </a:tcPr>
                </a:tc>
              </a:tr>
              <a:tr h="591312">
                <a:tc>
                  <a:txBody>
                    <a:bodyPr wrap="square"/>
                    <a:lstStyle/>
                    <a:p>
                      <a:r>
                        <a:rPr sz="1400" b="1">
                          <a:solidFill>
                            <a:srgbClr val="1F2A44"/>
                          </a:solidFill>
                          <a:latin typeface="Arial"/>
                          <a:ea typeface="Microsoft YaHei"/>
                        </a:rPr>
                        <a:t>I couldn’t agree more.</a:t>
                      </a:r>
                    </a:p>
                  </a:txBody>
                  <a:tcPr anchor="ctr">
                    <a:solidFill>
                      <a:srgbClr val="FFFFFF"/>
                    </a:solidFill>
                  </a:tcPr>
                </a:tc>
                <a:tc>
                  <a:txBody>
                    <a:bodyPr wrap="square"/>
                    <a:lstStyle/>
                    <a:p>
                      <a:r>
                        <a:rPr sz="1400" b="0">
                          <a:solidFill>
                            <a:srgbClr val="1F2A44"/>
                          </a:solidFill>
                          <a:latin typeface="Arial"/>
                          <a:ea typeface="Microsoft YaHei"/>
                        </a:rPr>
                        <a:t>I agree up to a point.</a:t>
                      </a:r>
                    </a:p>
                  </a:txBody>
                  <a:tcPr anchor="ctr">
                    <a:solidFill>
                      <a:srgbClr val="FFFFFF"/>
                    </a:solidFill>
                  </a:tcPr>
                </a:tc>
                <a:tc>
                  <a:txBody>
                    <a:bodyPr wrap="square"/>
                    <a:lstStyle/>
                    <a:p>
                      <a:r>
                        <a:rPr sz="1400" b="0">
                          <a:solidFill>
                            <a:srgbClr val="1F2A44"/>
                          </a:solidFill>
                          <a:latin typeface="Arial"/>
                          <a:ea typeface="Microsoft YaHei"/>
                        </a:rPr>
                        <a:t>I’m afraid I see it differently.</a:t>
                      </a:r>
                    </a:p>
                  </a:txBody>
                  <a:tcPr anchor="ctr">
                    <a:solidFill>
                      <a:srgbClr val="FFFFFF"/>
                    </a:solidFill>
                  </a:tcPr>
                </a:tc>
                <a:tc>
                  <a:txBody>
                    <a:bodyPr wrap="square"/>
                    <a:lstStyle/>
                    <a:p>
                      <a:r>
                        <a:rPr sz="1400" b="0">
                          <a:solidFill>
                            <a:srgbClr val="1F2A44"/>
                          </a:solidFill>
                          <a:latin typeface="Arial"/>
                          <a:ea typeface="Microsoft YaHei"/>
                        </a:rPr>
                        <a:t>I’m sorry, but I really can’t agree.</a:t>
                      </a:r>
                    </a:p>
                  </a:txBody>
                  <a:tcPr anchor="ctr">
                    <a:solidFill>
                      <a:srgbClr val="FFFFFF"/>
                    </a:solidFill>
                  </a:tcPr>
                </a:tc>
              </a:tr>
              <a:tr h="591312">
                <a:tc>
                  <a:txBody>
                    <a:bodyPr wrap="square"/>
                    <a:lstStyle/>
                    <a:p>
                      <a:r>
                        <a:rPr sz="1400" b="1">
                          <a:solidFill>
                            <a:srgbClr val="1F2A44"/>
                          </a:solidFill>
                          <a:latin typeface="Arial"/>
                          <a:ea typeface="Microsoft YaHei"/>
                        </a:rPr>
                        <a:t>Absolutely.</a:t>
                      </a:r>
                    </a:p>
                  </a:txBody>
                  <a:tcPr anchor="ctr">
                    <a:solidFill>
                      <a:srgbClr val="FFEFD9"/>
                    </a:solidFill>
                  </a:tcPr>
                </a:tc>
                <a:tc>
                  <a:txBody>
                    <a:bodyPr wrap="square"/>
                    <a:lstStyle/>
                    <a:p>
                      <a:r>
                        <a:rPr sz="1400" b="0">
                          <a:solidFill>
                            <a:srgbClr val="1F2A44"/>
                          </a:solidFill>
                          <a:latin typeface="Arial"/>
                          <a:ea typeface="Microsoft YaHei"/>
                        </a:rPr>
                        <a:t>That’s true, but…</a:t>
                      </a:r>
                    </a:p>
                  </a:txBody>
                  <a:tcPr anchor="ctr">
                    <a:solidFill>
                      <a:srgbClr val="FFEFD9"/>
                    </a:solidFill>
                  </a:tcPr>
                </a:tc>
                <a:tc>
                  <a:txBody>
                    <a:bodyPr wrap="square"/>
                    <a:lstStyle/>
                    <a:p>
                      <a:r>
                        <a:rPr sz="1400" b="0">
                          <a:solidFill>
                            <a:srgbClr val="1F2A44"/>
                          </a:solidFill>
                          <a:latin typeface="Arial"/>
                          <a:ea typeface="Microsoft YaHei"/>
                        </a:rPr>
                        <a:t>I’m not sure that’s the case.</a:t>
                      </a:r>
                    </a:p>
                  </a:txBody>
                  <a:tcPr anchor="ctr">
                    <a:solidFill>
                      <a:srgbClr val="FFEFD9"/>
                    </a:solidFill>
                  </a:tcPr>
                </a:tc>
                <a:tc>
                  <a:txBody>
                    <a:bodyPr wrap="square"/>
                    <a:lstStyle/>
                    <a:p>
                      <a:r>
                        <a:rPr sz="1400" b="0">
                          <a:solidFill>
                            <a:srgbClr val="1F2A44"/>
                          </a:solidFill>
                          <a:latin typeface="Arial"/>
                          <a:ea typeface="Microsoft YaHei"/>
                        </a:rPr>
                        <a:t>I strongly disagree.</a:t>
                      </a:r>
                    </a:p>
                  </a:txBody>
                  <a:tcPr anchor="ctr">
                    <a:solidFill>
                      <a:srgbClr val="FFEFD9"/>
                    </a:solidFill>
                  </a:tcPr>
                </a:tc>
              </a:tr>
            </a:tbl>
          </a:graphicData>
        </a:graphic>
      </p:graphicFrame>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Levels of agreement and disagreement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同意与反对的程度</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Soften with I’m afraid, I’m not sure, perhaps, maybe, a bit: “I’m not sure that’s the best option.”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Use “I” statements: </a:t>
            </a:r>
            <a:r>
              <a:rPr sz="1700" b="0">
                <a:solidFill>
                  <a:srgbClr val="1F2A44"/>
                </a:solidFill>
                <a:latin typeface="Arial"/>
                <a:ea typeface="Microsoft YaHei"/>
              </a:rPr>
              <a:t>“I’m worried that…” is better than “You’re wrong.”</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Agree with sb; agree on/about sth; agree to a proposal: “I agree with Dan on the budget.”</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agree.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 I couldn’t agree more.</a:t>
            </a:r>
          </a:p>
          <a:p>
            <a:pPr algn="l">
              <a:spcAft>
                <a:spcPts val="200"/>
              </a:spcAft>
            </a:pPr>
            <a:r>
              <a:rPr sz="1200" b="0">
                <a:solidFill>
                  <a:srgbClr val="FFFFFF"/>
                </a:solidFill>
                <a:latin typeface="Arial"/>
                <a:ea typeface="Microsoft YaHei"/>
              </a:rPr>
              <a:t>agree 是动词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disagree with your opinion, that is wrong.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I see it differently.</a:t>
            </a:r>
          </a:p>
          <a:p>
            <a:pPr algn="l">
              <a:spcAft>
                <a:spcPts val="200"/>
              </a:spcAft>
            </a:pPr>
            <a:r>
              <a:rPr sz="1200" b="0">
                <a:solidFill>
                  <a:srgbClr val="FFFFFF"/>
                </a:solidFill>
                <a:latin typeface="Arial"/>
                <a:ea typeface="Microsoft YaHei"/>
              </a:rPr>
              <a:t>太直接</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No, no, no!</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sure I agree.</a:t>
            </a:r>
          </a:p>
          <a:p>
            <a:pPr algn="l">
              <a:spcAft>
                <a:spcPts val="200"/>
              </a:spcAft>
            </a:pPr>
            <a:r>
              <a:rPr sz="1200" b="0">
                <a:solidFill>
                  <a:srgbClr val="FFFFFF"/>
                </a:solidFill>
                <a:latin typeface="Arial"/>
                <a:ea typeface="Microsoft YaHei"/>
              </a:rPr>
              <a:t>避免直接否定</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According to me, we should wait.</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 my opinion, we should wait.</a:t>
            </a:r>
          </a:p>
          <a:p>
            <a:pPr algn="l">
              <a:spcAft>
                <a:spcPts val="200"/>
              </a:spcAft>
            </a:pPr>
            <a:r>
              <a:rPr sz="1200" b="0">
                <a:solidFill>
                  <a:srgbClr val="FFFFFF"/>
                </a:solidFill>
                <a:latin typeface="Arial"/>
                <a:ea typeface="Microsoft YaHei"/>
              </a:rPr>
              <a:t>in my opinion / I think</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think so that we should wait.</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think we should wait.</a:t>
            </a:r>
          </a:p>
          <a:p>
            <a:pPr algn="l">
              <a:spcAft>
                <a:spcPts val="200"/>
              </a:spcAft>
            </a:pPr>
            <a:r>
              <a:rPr sz="1200" b="0">
                <a:solidFill>
                  <a:srgbClr val="FFFFFF"/>
                </a:solidFill>
                <a:latin typeface="Arial"/>
                <a:ea typeface="Microsoft YaHei"/>
              </a:rPr>
              <a:t>不加 so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say something.</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I add something? / May I say something?</a:t>
            </a:r>
          </a:p>
          <a:p>
            <a:pPr algn="l">
              <a:spcAft>
                <a:spcPts val="200"/>
              </a:spcAft>
            </a:pPr>
            <a:r>
              <a:rPr sz="1200" b="0">
                <a:solidFill>
                  <a:srgbClr val="FFFFFF"/>
                </a:solidFill>
                <a:latin typeface="Arial"/>
                <a:ea typeface="Microsoft YaHei"/>
              </a:rPr>
              <a:t>更礼貌</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Excuse me, you are wrong.</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to interrupt, but I think there’s a mistake here.</a:t>
            </a:r>
          </a:p>
          <a:p>
            <a:pPr algn="l">
              <a:spcAft>
                <a:spcPts val="200"/>
              </a:spcAft>
            </a:pPr>
            <a:r>
              <a:rPr sz="1200" b="0">
                <a:solidFill>
                  <a:srgbClr val="FFFFFF"/>
                </a:solidFill>
                <a:latin typeface="Arial"/>
                <a:ea typeface="Microsoft YaHei"/>
              </a:rPr>
              <a:t>打断+委婉</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explain more detail?</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give us more detail? / Could you elaborate?</a:t>
            </a:r>
          </a:p>
          <a:p>
            <a:pPr algn="l">
              <a:spcAft>
                <a:spcPts val="200"/>
              </a:spcAft>
            </a:pPr>
            <a:r>
              <a:rPr sz="1200" b="0">
                <a:solidFill>
                  <a:srgbClr val="FFFFFF"/>
                </a:solidFill>
                <a:latin typeface="Arial"/>
                <a:ea typeface="Microsoft YaHei"/>
              </a:rPr>
              <a:t>give more detail</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with you about this.</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you about this.</a:t>
            </a:r>
          </a:p>
          <a:p>
            <a:pPr algn="l">
              <a:spcAft>
                <a:spcPts val="200"/>
              </a:spcAft>
            </a:pPr>
            <a:r>
              <a:rPr sz="1200" b="0">
                <a:solidFill>
                  <a:srgbClr val="FFFFFF"/>
                </a:solidFill>
                <a:latin typeface="Arial"/>
                <a:ea typeface="Microsoft YaHei"/>
              </a:rPr>
              <a:t>am 不用</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oppinion / diffrently</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opinion / differently</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I agree (no “am”), in my opinion (not “according to me”), Could I add something? (not “I want to say”). Check double letters: opinion, interrupt, differently.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Speak up. In Anglo-American meetings, silence may mean you have no opinion. Even a short comment is expected: “I agree with Dan on the budget.”</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Disagreement is not rude. Polite disagreement shows you are thinking. But keep your tone calm and your language soft.</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Don’t wait for a long pause. English speakers often overlap a little. “Can I come in here?” is acceptable.</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Hierarchy: </a:t>
            </a:r>
            <a:r>
              <a:rPr sz="1700" b="0">
                <a:solidFill>
                  <a:srgbClr val="1F2A44"/>
                </a:solidFill>
                <a:latin typeface="Arial"/>
                <a:ea typeface="Microsoft YaHei"/>
              </a:rPr>
              <a:t>In many Asian companies, junior staff don’t disagree with seniors in public. In UK/US teams, it’s usually fine to disagree respectfully with your manager.</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0">
                <a:solidFill>
                  <a:srgbClr val="1F2A44"/>
                </a:solidFill>
                <a:latin typeface="Arial"/>
                <a:ea typeface="Microsoft YaHei"/>
              </a:rPr>
              <a:t>Take your time. If you need time to think, say “That’s an interesting question. Let me think about it for a moment.”</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give an opinion with a reason and an example (In my opinion… because…).</a:t>
            </a:r>
          </a:p>
        </p:txBody>
      </p:sp>
      <p:sp>
        <p:nvSpPr>
          <p:cNvPr id="12" name="TextBox 11"/>
          <p:cNvSpPr txBox="1"/>
          <p:nvPr/>
        </p:nvSpPr>
        <p:spPr>
          <a:xfrm>
            <a:off x="9539935" y="1508760"/>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80488"/>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80488"/>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80488"/>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ask others for their views (What do you think? Do you have any thoughts on…?).</a:t>
            </a:r>
          </a:p>
        </p:txBody>
      </p:sp>
      <p:sp>
        <p:nvSpPr>
          <p:cNvPr id="16" name="TextBox 15"/>
          <p:cNvSpPr txBox="1"/>
          <p:nvPr/>
        </p:nvSpPr>
        <p:spPr>
          <a:xfrm>
            <a:off x="9539935" y="2380488"/>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252216"/>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52216"/>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252216"/>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agree and disagree politely (I couldn’t agree more. I’m afraid I see it differently.).</a:t>
            </a:r>
          </a:p>
        </p:txBody>
      </p:sp>
      <p:sp>
        <p:nvSpPr>
          <p:cNvPr id="20" name="TextBox 19"/>
          <p:cNvSpPr txBox="1"/>
          <p:nvPr/>
        </p:nvSpPr>
        <p:spPr>
          <a:xfrm>
            <a:off x="9539935" y="3252216"/>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123944"/>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123944"/>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123944"/>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interrupt and clarify (Sorry to interrupt, but… Could you elaborate on that?).</a:t>
            </a:r>
          </a:p>
        </p:txBody>
      </p:sp>
      <p:sp>
        <p:nvSpPr>
          <p:cNvPr id="24" name="TextBox 23"/>
          <p:cNvSpPr txBox="1"/>
          <p:nvPr/>
        </p:nvSpPr>
        <p:spPr>
          <a:xfrm>
            <a:off x="9539935" y="4123944"/>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995672"/>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995672"/>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995672"/>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I agree, in my opinion and agree with / on correctly.</a:t>
            </a:r>
          </a:p>
        </p:txBody>
      </p:sp>
      <p:sp>
        <p:nvSpPr>
          <p:cNvPr id="28" name="TextBox 27"/>
          <p:cNvSpPr txBox="1"/>
          <p:nvPr/>
        </p:nvSpPr>
        <p:spPr>
          <a:xfrm>
            <a:off x="9539935" y="4995672"/>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32 Meetings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agree (no “am”), in my opinion, polite interruptions, and spelling (opinion, interrupt).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8 · Lesson 33 Down to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32</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Down to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进入正题</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800" b="0">
                <a:solidFill>
                  <a:srgbClr val="FFC857"/>
                </a:solidFill>
                <a:latin typeface="Arial"/>
                <a:ea typeface="Microsoft YaHei"/>
              </a:rPr>
              <a:t>🎯 move a meeting from small talk to the main business: introduce agenda items, discuss figures and trends, ask for updates, keep to time, and make clear decisions efficiently.</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long does your team chat before starting the main business?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move from small talk to the first item on the agenda?</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if a meeting gets off topic?</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Tell me about a meeting that was very efficient. What helped?</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talk about numbers in English (sales, costs, percentages)?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题讲过去的事,请用过去式(was, helped, finished)。第 5 题可以说 “I say, ‘Sales went up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Open the main part of a meeting and report sales figures.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move to the agenda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present the first item</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report the numbers (change and cause)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ask for comments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Let’s get down to business.   💬 The first item on the agenda is…   💬 Sales rose by… compared with…   💬 That’s mainly because…</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描述数据:rise / fall / increase / drop + by + 数字;from…to…;compared with + 时间。过去的变化用过去式。</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1: Moving to the main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进入正题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Shall we get down to business?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我们开始谈正事吧?</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“Shall we get down to business?”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first item on the agenda is…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议程的第一项是……</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first item on the agenda is the sales report.”</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move on to item two.</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我们进入第二项</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move on to item two: the budget.”</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Chunk 1: Moving to the main business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进入正题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bring us up to date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您能向我们通报一下……的最新情况吗?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bring us up to date on the project?”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start with the headline figures.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我们先看关键数字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start with the headline figures.”</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Chunk 2: Talking about figures and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谈数字与趋势</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Sales rose / increased by 10%.</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销售额增长了 10%</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rose by 10% in the third quarter.”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Costs fell from $50,000 to $40,000.</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成本从五万降到四万</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“Costs fell from $50,000 to $40,000.”</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Sales peaked in July.</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销售额在七月达到峰值</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peaked in July at $1.2 million.”</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figures levelled off in September.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数据在九月趋于平稳</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figures levelled off in September.”</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Compared with last year, …</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与去年相比,……</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“Compared with last year, profit is up 5%.”</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Keeping on track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保持效率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bottom line is…</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底线/要点是……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bottom line is that we need to cut costs by 10%.”</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 comes down to…</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归根结底是……</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comes down to price and quality.”</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To cut a long story short, …</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长话短说,……</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cut a long story short, we missed the target.”</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only have ten minutes for this item.</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这项我们只有十分钟</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only have ten minutes for this item.”</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park that for now.</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这个我们先放一放</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important, but let’s park that for now.”</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议程的第一项是……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first item on the agenda is…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我们开始谈正事吧?</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Shall we get down to business?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长话短说,……</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 cut a long story short, …</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这项我们只有十分钟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 only have ten minutes for this item.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数据在九月趋于平稳</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The figures levelled off in September.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归根结底是……</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 comes down to…</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我们进入第二项</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move on to item two.</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销售额增长了 10%</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Sales rose / increased by 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business</a:t>
            </a:r>
          </a:p>
        </p:txBody>
      </p:sp>
      <p:sp>
        <p:nvSpPr>
          <p:cNvPr id="10" name="Rounded Rectangle 9"/>
          <p:cNvSpPr/>
          <p:nvPr/>
        </p:nvSpPr>
        <p:spPr>
          <a:xfrm>
            <a:off x="3346704"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rose</a:t>
            </a:r>
          </a:p>
        </p:txBody>
      </p:sp>
      <p:sp>
        <p:nvSpPr>
          <p:cNvPr id="11" name="Rounded Rectangle 10"/>
          <p:cNvSpPr/>
          <p:nvPr/>
        </p:nvSpPr>
        <p:spPr>
          <a:xfrm>
            <a:off x="4242816"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from</a:t>
            </a:r>
          </a:p>
        </p:txBody>
      </p:sp>
      <p:sp>
        <p:nvSpPr>
          <p:cNvPr id="12" name="Rounded Rectangle 11"/>
          <p:cNvSpPr/>
          <p:nvPr/>
        </p:nvSpPr>
        <p:spPr>
          <a:xfrm>
            <a:off x="5138928"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park</a:t>
            </a:r>
          </a:p>
        </p:txBody>
      </p:sp>
      <p:sp>
        <p:nvSpPr>
          <p:cNvPr id="13" name="Rounded Rectangle 12"/>
          <p:cNvSpPr/>
          <p:nvPr/>
        </p:nvSpPr>
        <p:spPr>
          <a:xfrm>
            <a:off x="603504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4" name="Rounded Rectangle 13"/>
          <p:cNvSpPr/>
          <p:nvPr/>
        </p:nvSpPr>
        <p:spPr>
          <a:xfrm>
            <a:off x="7150608"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bottom</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Shall we get down to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business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first item on the _______ is the sales report.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Sales _______ by 10% in the third quarter.</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rose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Costs fell _______ $50,000 to $40,000.</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from</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_______ line is that we need to cut costs.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bottom</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That’s important, but let’s _______ that for now.</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park</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数字与时态): rise → rose → risen, fall → fell → fallen. Say by 10% (the amount of change), to 40% (the new level), from 30% to 40%. Percent (US) / per cent (UK). Don’t say “increased 10%” without by if you mean the change.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Opening the main business and reporting figures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进入议程并汇报数据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coffee, the chair begins the meeting and the sales manager reports the quarterly numbers.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Karen Ortiz, sales manager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the main business and reporting figures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everyone. Shall we get down to business? The first item on the agenda is the sales report. Karen, could you bring us up to date?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Let me start with the headline figures. Sales rose by 10% in the third quarter, from $2.0 million to $2.2 million.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good news. What’s behind the increase?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Mainly two things: the new product line and a promotion in September.</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do we compare with last year?</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Compared with last year, we’re up 5%. Sales peaked in July at $800,000 and levelled off in September.</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the main business and reporting figures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What about costs?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Costs fell from $1.5 million to $1.4 million. The bottom line is that profit is up 18%.</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Excellent. Any questions for Karen?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to add: the Asia region is still weak. I’d like to come back to that under item three.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park that for now and move on to item two.</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Opening the main business and reporting figures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report figures at the start of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(B)</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Reporter. Prepare 4 figures: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(A)</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Asks about causes and compares with last year.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rose / fell by… · from… to… · compared with… · peaked · The bottom line is…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Report three numbers and explain the trend in 60 seconds.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Admit that you don’t have a number: “I don’t have that figure to hand, but I’ll send it to you after the meeting.”</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a softer verb: “Costs came down slightly.”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graph description: “As you can see on this slide, the line goes up in July.”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Keeping the meeting efficient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让会议保持高效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The discussion goes off topic and the chair brings it back.</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Keeping the meeting efficient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 only have ten minutes for this item, so let’s focus. Dan, what is your proposal?</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start a customer survey. It would take two weeks and cost about 5,000 yuan.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Does anyone have a question?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the way, this reminds me of the problem we had with our old website last year.</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interesting, Dan, but I’d like to stick to the agenda. Could we park that for now?</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Sorry, I went off on a tangent.</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Keeping the meeting efficient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So, the bottom line is that we need budget approval for the survey. Sophie, any objection?</a:t>
            </a:r>
          </a:p>
        </p:txBody>
      </p:sp>
      <p:sp>
        <p:nvSpPr>
          <p:cNvPr id="11" name="Rounded Rectangle 10"/>
          <p:cNvSpPr/>
          <p:nvPr/>
        </p:nvSpPr>
        <p:spPr>
          <a:xfrm>
            <a:off x="548640" y="2197608"/>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objection, but could we keep the cost under 5,000?</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is that possible?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think so. I’ll check the quotation again.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go with that. Let’s move on to item three.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Keeping the meeting efficient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meeting is slow or off topic. You bring it 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Time-check, park off-topic points, reach a decision.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members. One goes off topic.</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 only have… minutes for this item. · stick to the agenda · park that for now · The bottom line is… · Let’s move on to…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Finish one agenda item in 3 minutes with a decision.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Someone starts a long story. Say: “To cut a long story short, what is your recommendation?”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 language: “It comes down to cost.”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off-topic point is important. Say: “Good point. Let’s put it on the list for next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it take to start the main business of a meeting?</a:t>
            </a:r>
          </a:p>
          <a:p>
            <a:pPr algn="l">
              <a:lnSpc>
                <a:spcPct val="115000"/>
              </a:lnSpc>
              <a:spcAft>
                <a:spcPts val="800"/>
              </a:spcAft>
            </a:pPr>
            <a:r>
              <a:rPr sz="1400" b="0">
                <a:solidFill>
                  <a:srgbClr val="5F677A"/>
                </a:solidFill>
                <a:latin typeface="Arial"/>
                <a:ea typeface="Microsoft YaHei"/>
              </a:rPr>
              <a:t>💬 “I think five minutes is enough.” / “Small talk is fine, but not more than…”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politely stop someone who talks too much?</a:t>
            </a:r>
          </a:p>
          <a:p>
            <a:pPr algn="l">
              <a:lnSpc>
                <a:spcPct val="115000"/>
              </a:lnSpc>
              <a:spcAft>
                <a:spcPts val="800"/>
              </a:spcAft>
            </a:pPr>
            <a:r>
              <a:rPr sz="1400" b="0">
                <a:solidFill>
                  <a:srgbClr val="5F677A"/>
                </a:solidFill>
                <a:latin typeface="Arial"/>
                <a:ea typeface="Microsoft YaHei"/>
              </a:rPr>
              <a:t>💬 “I say ‘Thanks, Dan. Let’s hear from others.’” / “I use a time limit.”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key numbers you present in your job?</a:t>
            </a:r>
          </a:p>
          <a:p>
            <a:pPr algn="l">
              <a:lnSpc>
                <a:spcPct val="115000"/>
              </a:lnSpc>
              <a:spcAft>
                <a:spcPts val="800"/>
              </a:spcAft>
            </a:pPr>
            <a:r>
              <a:rPr sz="1400" b="0">
                <a:solidFill>
                  <a:srgbClr val="5F677A"/>
                </a:solidFill>
                <a:latin typeface="Arial"/>
                <a:ea typeface="Microsoft YaHei"/>
              </a:rPr>
              <a:t>💬 “In my job, we look at… such as…” / “The most important figure is…”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to see numbers in a table or in a chart? Why?</a:t>
            </a:r>
          </a:p>
          <a:p>
            <a:pPr algn="l">
              <a:lnSpc>
                <a:spcPct val="115000"/>
              </a:lnSpc>
              <a:spcAft>
                <a:spcPts val="800"/>
              </a:spcAft>
            </a:pPr>
            <a:r>
              <a:rPr sz="1400" b="0">
                <a:solidFill>
                  <a:srgbClr val="5F677A"/>
                </a:solidFill>
                <a:latin typeface="Arial"/>
                <a:ea typeface="Microsoft YaHei"/>
              </a:rPr>
              <a:t>💬 “A chart is better when you want to show…” / “I prefer a table when I need exact numbers.”</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you do to make meetings shorter?</a:t>
            </a:r>
          </a:p>
          <a:p>
            <a:pPr algn="l">
              <a:lnSpc>
                <a:spcPct val="115000"/>
              </a:lnSpc>
              <a:spcAft>
                <a:spcPts val="800"/>
              </a:spcAft>
            </a:pPr>
            <a:r>
              <a:rPr sz="1400" b="0">
                <a:solidFill>
                  <a:srgbClr val="5F677A"/>
                </a:solidFill>
                <a:latin typeface="Arial"/>
                <a:ea typeface="Microsoft YaHei"/>
              </a:rPr>
              <a:t>💬 “We can use an agenda with times.” / “We can send the information before the meeting.”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5)</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We can make meetings shorter by preparing better. First, we should send the agenda and documents in advance, so people don’t need to read them in the meeting. Second, we can give each item a time limit, such as ten minutes. And third, the chair should stop discussions that go off topic. If a topic needs more time, we can park it for later or arrange a separate meeting.</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“so people don’t need to…” 表示目的。“go off topic”(离题)。用 first / second / third 排列要点。“arrange a separate meeting”(另外安排会议)。</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Meeting language: getting down to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进入正题用语</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Start</a:t>
                      </a:r>
                    </a:p>
                  </a:txBody>
                  <a:tcPr anchor="ctr">
                    <a:solidFill>
                      <a:srgbClr val="FFFFFF"/>
                    </a:solidFill>
                  </a:tcPr>
                </a:tc>
                <a:tc>
                  <a:txBody>
                    <a:bodyPr wrap="square"/>
                    <a:lstStyle/>
                    <a:p>
                      <a:r>
                        <a:rPr sz="1600" b="0">
                          <a:solidFill>
                            <a:srgbClr val="1F2A44"/>
                          </a:solidFill>
                          <a:latin typeface="Arial"/>
                          <a:ea typeface="Microsoft YaHei"/>
                        </a:rPr>
                        <a:t>Shall we get down to business? / Let’s make a start.</a:t>
                      </a:r>
                    </a:p>
                  </a:txBody>
                  <a:tcPr anchor="ctr">
                    <a:solidFill>
                      <a:srgbClr val="FFFFFF"/>
                    </a:solidFill>
                  </a:tcPr>
                </a:tc>
              </a:tr>
              <a:tr h="652272">
                <a:tc>
                  <a:txBody>
                    <a:bodyPr wrap="square"/>
                    <a:lstStyle/>
                    <a:p>
                      <a:r>
                        <a:rPr sz="1600" b="1">
                          <a:solidFill>
                            <a:srgbClr val="1F2A44"/>
                          </a:solidFill>
                          <a:latin typeface="Arial"/>
                          <a:ea typeface="Microsoft YaHei"/>
                        </a:rPr>
                        <a:t>Item</a:t>
                      </a:r>
                    </a:p>
                  </a:txBody>
                  <a:tcPr anchor="ctr">
                    <a:solidFill>
                      <a:srgbClr val="FFEFD9"/>
                    </a:solidFill>
                  </a:tcPr>
                </a:tc>
                <a:tc>
                  <a:txBody>
                    <a:bodyPr wrap="square"/>
                    <a:lstStyle/>
                    <a:p>
                      <a:r>
                        <a:rPr sz="1600" b="0">
                          <a:solidFill>
                            <a:srgbClr val="1F2A44"/>
                          </a:solidFill>
                          <a:latin typeface="Arial"/>
                          <a:ea typeface="Microsoft YaHei"/>
                        </a:rPr>
                        <a:t>The first item on the agenda is… / Let’s move on to item two.</a:t>
                      </a:r>
                    </a:p>
                  </a:txBody>
                  <a:tcPr anchor="ctr">
                    <a:solidFill>
                      <a:srgbClr val="FFEFD9"/>
                    </a:solidFill>
                  </a:tcPr>
                </a:tc>
              </a:tr>
              <a:tr h="408432">
                <a:tc>
                  <a:txBody>
                    <a:bodyPr wrap="square"/>
                    <a:lstStyle/>
                    <a:p>
                      <a:r>
                        <a:rPr sz="1600" b="1">
                          <a:solidFill>
                            <a:srgbClr val="1F2A44"/>
                          </a:solidFill>
                          <a:latin typeface="Arial"/>
                          <a:ea typeface="Microsoft YaHei"/>
                        </a:rPr>
                        <a:t>Update</a:t>
                      </a:r>
                    </a:p>
                  </a:txBody>
                  <a:tcPr anchor="ctr">
                    <a:solidFill>
                      <a:srgbClr val="FFFFFF"/>
                    </a:solidFill>
                  </a:tcPr>
                </a:tc>
                <a:tc>
                  <a:txBody>
                    <a:bodyPr wrap="square"/>
                    <a:lstStyle/>
                    <a:p>
                      <a:r>
                        <a:rPr sz="1600" b="0">
                          <a:solidFill>
                            <a:srgbClr val="1F2A44"/>
                          </a:solidFill>
                          <a:latin typeface="Arial"/>
                          <a:ea typeface="Microsoft YaHei"/>
                        </a:rPr>
                        <a:t>Could you bring us up to date on…?</a:t>
                      </a:r>
                    </a:p>
                  </a:txBody>
                  <a:tcPr anchor="ctr">
                    <a:solidFill>
                      <a:srgbClr val="FFFFFF"/>
                    </a:solidFill>
                  </a:tcPr>
                </a:tc>
              </a:tr>
              <a:tr h="652272">
                <a:tc>
                  <a:txBody>
                    <a:bodyPr wrap="square"/>
                    <a:lstStyle/>
                    <a:p>
                      <a:r>
                        <a:rPr sz="1600" b="1">
                          <a:solidFill>
                            <a:srgbClr val="1F2A44"/>
                          </a:solidFill>
                          <a:latin typeface="Arial"/>
                          <a:ea typeface="Microsoft YaHei"/>
                        </a:rPr>
                        <a:t>Figures</a:t>
                      </a:r>
                    </a:p>
                  </a:txBody>
                  <a:tcPr anchor="ctr">
                    <a:solidFill>
                      <a:srgbClr val="FFEFD9"/>
                    </a:solidFill>
                  </a:tcPr>
                </a:tc>
                <a:tc>
                  <a:txBody>
                    <a:bodyPr wrap="square"/>
                    <a:lstStyle/>
                    <a:p>
                      <a:r>
                        <a:rPr sz="1600" b="0">
                          <a:solidFill>
                            <a:srgbClr val="1F2A44"/>
                          </a:solidFill>
                          <a:latin typeface="Arial"/>
                          <a:ea typeface="Microsoft YaHei"/>
                        </a:rPr>
                        <a:t>Let’s start with the headline figures. ★ / Sales rose by 10%.</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Meeting language: getting down to business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进入正题用语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Function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Explain</a:t>
                      </a:r>
                    </a:p>
                  </a:txBody>
                  <a:tcPr anchor="ctr">
                    <a:solidFill>
                      <a:srgbClr val="FFFFFF"/>
                    </a:solidFill>
                  </a:tcPr>
                </a:tc>
                <a:tc>
                  <a:txBody>
                    <a:bodyPr wrap="square"/>
                    <a:lstStyle/>
                    <a:p>
                      <a:r>
                        <a:rPr sz="1600" b="0">
                          <a:solidFill>
                            <a:srgbClr val="1F2A44"/>
                          </a:solidFill>
                          <a:latin typeface="Arial"/>
                          <a:ea typeface="Microsoft YaHei"/>
                        </a:rPr>
                        <a:t>What’s behind the increase? / That’s mainly because…</a:t>
                      </a:r>
                    </a:p>
                  </a:txBody>
                  <a:tcPr anchor="ctr">
                    <a:solidFill>
                      <a:srgbClr val="FFFFFF"/>
                    </a:solidFill>
                  </a:tcPr>
                </a:tc>
              </a:tr>
              <a:tr h="408432">
                <a:tc>
                  <a:txBody>
                    <a:bodyPr wrap="square"/>
                    <a:lstStyle/>
                    <a:p>
                      <a:r>
                        <a:rPr sz="1600" b="1">
                          <a:solidFill>
                            <a:srgbClr val="1F2A44"/>
                          </a:solidFill>
                          <a:latin typeface="Arial"/>
                          <a:ea typeface="Microsoft YaHei"/>
                        </a:rPr>
                        <a:t>Summarize</a:t>
                      </a:r>
                    </a:p>
                  </a:txBody>
                  <a:tcPr anchor="ctr">
                    <a:solidFill>
                      <a:srgbClr val="FFEFD9"/>
                    </a:solidFill>
                  </a:tcPr>
                </a:tc>
                <a:tc>
                  <a:txBody>
                    <a:bodyPr wrap="square"/>
                    <a:lstStyle/>
                    <a:p>
                      <a:r>
                        <a:rPr sz="1600" b="0">
                          <a:solidFill>
                            <a:srgbClr val="1F2A44"/>
                          </a:solidFill>
                          <a:latin typeface="Arial"/>
                          <a:ea typeface="Microsoft YaHei"/>
                        </a:rPr>
                        <a:t>The bottom line is… ★ / It comes down to… ★</a:t>
                      </a:r>
                    </a:p>
                  </a:txBody>
                  <a:tcPr anchor="ctr">
                    <a:solidFill>
                      <a:srgbClr val="FFEFD9"/>
                    </a:solidFill>
                  </a:tcPr>
                </a:tc>
              </a:tr>
              <a:tr h="408432">
                <a:tc>
                  <a:txBody>
                    <a:bodyPr wrap="square"/>
                    <a:lstStyle/>
                    <a:p>
                      <a:r>
                        <a:rPr sz="1600" b="1">
                          <a:solidFill>
                            <a:srgbClr val="1F2A44"/>
                          </a:solidFill>
                          <a:latin typeface="Arial"/>
                          <a:ea typeface="Microsoft YaHei"/>
                        </a:rPr>
                        <a:t>Time</a:t>
                      </a:r>
                    </a:p>
                  </a:txBody>
                  <a:tcPr anchor="ctr">
                    <a:solidFill>
                      <a:srgbClr val="FFFFFF"/>
                    </a:solidFill>
                  </a:tcPr>
                </a:tc>
                <a:tc>
                  <a:txBody>
                    <a:bodyPr wrap="square"/>
                    <a:lstStyle/>
                    <a:p>
                      <a:r>
                        <a:rPr sz="1600" b="0">
                          <a:solidFill>
                            <a:srgbClr val="1F2A44"/>
                          </a:solidFill>
                          <a:latin typeface="Arial"/>
                          <a:ea typeface="Microsoft YaHei"/>
                        </a:rPr>
                        <a:t>We only have ten minutes for this item.</a:t>
                      </a:r>
                    </a:p>
                  </a:txBody>
                  <a:tcPr anchor="ctr">
                    <a:solidFill>
                      <a:srgbClr val="FFFFFF"/>
                    </a:solidFill>
                  </a:tcPr>
                </a:tc>
              </a:tr>
              <a:tr h="652272">
                <a:tc>
                  <a:txBody>
                    <a:bodyPr wrap="square"/>
                    <a:lstStyle/>
                    <a:p>
                      <a:r>
                        <a:rPr sz="1600" b="1">
                          <a:solidFill>
                            <a:srgbClr val="1F2A44"/>
                          </a:solidFill>
                          <a:latin typeface="Arial"/>
                          <a:ea typeface="Microsoft YaHei"/>
                        </a:rPr>
                        <a:t>Park</a:t>
                      </a:r>
                    </a:p>
                  </a:txBody>
                  <a:tcPr anchor="ctr">
                    <a:solidFill>
                      <a:srgbClr val="FFEFD9"/>
                    </a:solidFill>
                  </a:tcPr>
                </a:tc>
                <a:tc>
                  <a:txBody>
                    <a:bodyPr wrap="square"/>
                    <a:lstStyle/>
                    <a:p>
                      <a:r>
                        <a:rPr sz="1600" b="0">
                          <a:solidFill>
                            <a:srgbClr val="1F2A44"/>
                          </a:solidFill>
                          <a:latin typeface="Arial"/>
                          <a:ea typeface="Microsoft YaHei"/>
                        </a:rPr>
                        <a:t>Let’s park that for now. ★ / Let’s discuss that under any other business.</a:t>
                      </a:r>
                    </a:p>
                  </a:txBody>
                  <a:tcPr anchor="ctr">
                    <a:solidFill>
                      <a:srgbClr val="FFEFD9"/>
                    </a:solidFill>
                  </a:tcPr>
                </a:tc>
              </a:tr>
            </a:tbl>
          </a:graphicData>
        </a:graphic>
      </p:graphicFrame>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描述趋势</a:t>
            </a:r>
          </a:p>
        </p:txBody>
      </p:sp>
      <p:graphicFrame>
        <p:nvGraphicFramePr>
          <p:cNvPr id="9" name="Table 8"/>
          <p:cNvGraphicFramePr>
            <a:graphicFrameLocks noGrp="1"/>
          </p:cNvGraphicFramePr>
          <p:nvPr/>
        </p:nvGraphicFramePr>
        <p:xfrm>
          <a:off x="548640" y="1417320"/>
          <a:ext cx="11094415" cy="3285744"/>
        </p:xfrm>
        <a:graphic>
          <a:graphicData uri="http://schemas.openxmlformats.org/drawingml/2006/table">
            <a:tbl>
              <a:tblPr firstRow="1" bandRow="1">
                <a:tableStyleId>{5C22544A-7EE6-4342-B048-85BDC9FD1C3A}</a:tableStyleId>
              </a:tblPr>
              <a:tblGrid>
                <a:gridCol w="2773603"/>
                <a:gridCol w="2773603"/>
                <a:gridCol w="2773603"/>
                <a:gridCol w="2773606"/>
              </a:tblGrid>
              <a:tr h="377952">
                <a:tc>
                  <a:txBody>
                    <a:bodyPr wrap="square"/>
                    <a:lstStyle/>
                    <a:p>
                      <a:r>
                        <a:rPr sz="1400" b="1">
                          <a:solidFill>
                            <a:srgbClr val="FFFFFF"/>
                          </a:solidFill>
                          <a:latin typeface="Arial"/>
                          <a:ea typeface="Microsoft YaHei"/>
                        </a:rPr>
                        <a:t>Direction</a:t>
                      </a:r>
                    </a:p>
                  </a:txBody>
                  <a:tcPr anchor="ctr">
                    <a:solidFill>
                      <a:srgbClr val="3CC49A"/>
                    </a:solidFill>
                  </a:tcPr>
                </a:tc>
                <a:tc>
                  <a:txBody>
                    <a:bodyPr wrap="square"/>
                    <a:lstStyle/>
                    <a:p>
                      <a:r>
                        <a:rPr sz="1400" b="1">
                          <a:solidFill>
                            <a:srgbClr val="FFFFFF"/>
                          </a:solidFill>
                          <a:latin typeface="Arial"/>
                          <a:ea typeface="Microsoft YaHei"/>
                        </a:rPr>
                        <a:t>Verb (past)</a:t>
                      </a:r>
                    </a:p>
                  </a:txBody>
                  <a:tcPr anchor="ctr">
                    <a:solidFill>
                      <a:srgbClr val="3CC49A"/>
                    </a:solidFill>
                  </a:tcPr>
                </a:tc>
                <a:tc>
                  <a:txBody>
                    <a:bodyPr wrap="square"/>
                    <a:lstStyle/>
                    <a:p>
                      <a:r>
                        <a:rPr sz="1400" b="1">
                          <a:solidFill>
                            <a:srgbClr val="FFFFFF"/>
                          </a:solidFill>
                          <a:latin typeface="Arial"/>
                          <a:ea typeface="Microsoft YaHei"/>
                        </a:rPr>
                        <a:t>Noun</a:t>
                      </a:r>
                    </a:p>
                  </a:txBody>
                  <a:tcPr anchor="ctr">
                    <a:solidFill>
                      <a:srgbClr val="3CC49A"/>
                    </a:solidFill>
                  </a:tcPr>
                </a:tc>
                <a:tc>
                  <a:txBody>
                    <a:bodyPr wrap="square"/>
                    <a:lstStyle/>
                    <a:p>
                      <a:r>
                        <a:rPr sz="1400" b="1">
                          <a:solidFill>
                            <a:srgbClr val="FFFFFF"/>
                          </a:solidFill>
                          <a:latin typeface="Arial"/>
                          <a:ea typeface="Microsoft YaHei"/>
                        </a:rPr>
                        <a:t>Example</a:t>
                      </a:r>
                    </a:p>
                  </a:txBody>
                  <a:tcPr anchor="ctr">
                    <a:solidFill>
                      <a:srgbClr val="3CC49A"/>
                    </a:solidFill>
                  </a:tcPr>
                </a:tc>
              </a:tr>
              <a:tr h="377952">
                <a:tc>
                  <a:txBody>
                    <a:bodyPr wrap="square"/>
                    <a:lstStyle/>
                    <a:p>
                      <a:r>
                        <a:rPr sz="1400" b="1">
                          <a:solidFill>
                            <a:srgbClr val="1F2A44"/>
                          </a:solidFill>
                          <a:latin typeface="Arial"/>
                          <a:ea typeface="Microsoft YaHei"/>
                        </a:rPr>
                        <a:t>Up</a:t>
                      </a:r>
                    </a:p>
                  </a:txBody>
                  <a:tcPr anchor="ctr">
                    <a:solidFill>
                      <a:srgbClr val="FFFFFF"/>
                    </a:solidFill>
                  </a:tcPr>
                </a:tc>
                <a:tc>
                  <a:txBody>
                    <a:bodyPr wrap="square"/>
                    <a:lstStyle/>
                    <a:p>
                      <a:r>
                        <a:rPr sz="1400" b="0">
                          <a:solidFill>
                            <a:srgbClr val="1F2A44"/>
                          </a:solidFill>
                          <a:latin typeface="Arial"/>
                          <a:ea typeface="Microsoft YaHei"/>
                        </a:rPr>
                        <a:t>rose, increased, went up</a:t>
                      </a:r>
                    </a:p>
                  </a:txBody>
                  <a:tcPr anchor="ctr">
                    <a:solidFill>
                      <a:srgbClr val="FFFFFF"/>
                    </a:solidFill>
                  </a:tcPr>
                </a:tc>
                <a:tc>
                  <a:txBody>
                    <a:bodyPr wrap="square"/>
                    <a:lstStyle/>
                    <a:p>
                      <a:r>
                        <a:rPr sz="1400" b="0">
                          <a:solidFill>
                            <a:srgbClr val="1F2A44"/>
                          </a:solidFill>
                          <a:latin typeface="Arial"/>
                          <a:ea typeface="Microsoft YaHei"/>
                        </a:rPr>
                        <a:t>a rise, an increase</a:t>
                      </a:r>
                    </a:p>
                  </a:txBody>
                  <a:tcPr anchor="ctr">
                    <a:solidFill>
                      <a:srgbClr val="FFFFFF"/>
                    </a:solidFill>
                  </a:tcPr>
                </a:tc>
                <a:tc>
                  <a:txBody>
                    <a:bodyPr wrap="square"/>
                    <a:lstStyle/>
                    <a:p>
                      <a:r>
                        <a:rPr sz="1400" b="0">
                          <a:solidFill>
                            <a:srgbClr val="1F2A44"/>
                          </a:solidFill>
                          <a:latin typeface="Arial"/>
                          <a:ea typeface="Microsoft YaHei"/>
                        </a:rPr>
                        <a:t>Sales rose by 10%.</a:t>
                      </a:r>
                    </a:p>
                  </a:txBody>
                  <a:tcPr anchor="ctr">
                    <a:solidFill>
                      <a:srgbClr val="FFFFFF"/>
                    </a:solidFill>
                  </a:tcPr>
                </a:tc>
              </a:tr>
              <a:tr h="377952">
                <a:tc>
                  <a:txBody>
                    <a:bodyPr wrap="square"/>
                    <a:lstStyle/>
                    <a:p>
                      <a:r>
                        <a:rPr sz="1400" b="1">
                          <a:solidFill>
                            <a:srgbClr val="1F2A44"/>
                          </a:solidFill>
                          <a:latin typeface="Arial"/>
                          <a:ea typeface="Microsoft YaHei"/>
                        </a:rPr>
                        <a:t>Down</a:t>
                      </a:r>
                    </a:p>
                  </a:txBody>
                  <a:tcPr anchor="ctr">
                    <a:solidFill>
                      <a:srgbClr val="FFEFD9"/>
                    </a:solidFill>
                  </a:tcPr>
                </a:tc>
                <a:tc>
                  <a:txBody>
                    <a:bodyPr wrap="square"/>
                    <a:lstStyle/>
                    <a:p>
                      <a:r>
                        <a:rPr sz="1400" b="0">
                          <a:solidFill>
                            <a:srgbClr val="1F2A44"/>
                          </a:solidFill>
                          <a:latin typeface="Arial"/>
                          <a:ea typeface="Microsoft YaHei"/>
                        </a:rPr>
                        <a:t>fell, decreased, dropped</a:t>
                      </a:r>
                    </a:p>
                  </a:txBody>
                  <a:tcPr anchor="ctr">
                    <a:solidFill>
                      <a:srgbClr val="FFEFD9"/>
                    </a:solidFill>
                  </a:tcPr>
                </a:tc>
                <a:tc>
                  <a:txBody>
                    <a:bodyPr wrap="square"/>
                    <a:lstStyle/>
                    <a:p>
                      <a:r>
                        <a:rPr sz="1400" b="0">
                          <a:solidFill>
                            <a:srgbClr val="1F2A44"/>
                          </a:solidFill>
                          <a:latin typeface="Arial"/>
                          <a:ea typeface="Microsoft YaHei"/>
                        </a:rPr>
                        <a:t>a fall, a decrease</a:t>
                      </a:r>
                    </a:p>
                  </a:txBody>
                  <a:tcPr anchor="ctr">
                    <a:solidFill>
                      <a:srgbClr val="FFEFD9"/>
                    </a:solidFill>
                  </a:tcPr>
                </a:tc>
                <a:tc>
                  <a:txBody>
                    <a:bodyPr wrap="square"/>
                    <a:lstStyle/>
                    <a:p>
                      <a:r>
                        <a:rPr sz="1400" b="0">
                          <a:solidFill>
                            <a:srgbClr val="1F2A44"/>
                          </a:solidFill>
                          <a:latin typeface="Arial"/>
                          <a:ea typeface="Microsoft YaHei"/>
                        </a:rPr>
                        <a:t>Costs fell by 8%.</a:t>
                      </a:r>
                    </a:p>
                  </a:txBody>
                  <a:tcPr anchor="ctr">
                    <a:solidFill>
                      <a:srgbClr val="FFEFD9"/>
                    </a:solidFill>
                  </a:tcPr>
                </a:tc>
              </a:tr>
              <a:tr h="591312">
                <a:tc>
                  <a:txBody>
                    <a:bodyPr wrap="square"/>
                    <a:lstStyle/>
                    <a:p>
                      <a:r>
                        <a:rPr sz="1400" b="1">
                          <a:solidFill>
                            <a:srgbClr val="1F2A44"/>
                          </a:solidFill>
                          <a:latin typeface="Arial"/>
                          <a:ea typeface="Microsoft YaHei"/>
                        </a:rPr>
                        <a:t>Stay the same</a:t>
                      </a:r>
                    </a:p>
                  </a:txBody>
                  <a:tcPr anchor="ctr">
                    <a:solidFill>
                      <a:srgbClr val="FFFFFF"/>
                    </a:solidFill>
                  </a:tcPr>
                </a:tc>
                <a:tc>
                  <a:txBody>
                    <a:bodyPr wrap="square"/>
                    <a:lstStyle/>
                    <a:p>
                      <a:r>
                        <a:rPr sz="1400" b="0">
                          <a:solidFill>
                            <a:srgbClr val="1F2A44"/>
                          </a:solidFill>
                          <a:latin typeface="Arial"/>
                          <a:ea typeface="Microsoft YaHei"/>
                        </a:rPr>
                        <a:t>stayed the same, remained stable</a:t>
                      </a:r>
                    </a:p>
                  </a:txBody>
                  <a:tcPr anchor="ctr">
                    <a:solidFill>
                      <a:srgbClr val="FFFFFF"/>
                    </a:solidFill>
                  </a:tcPr>
                </a:tc>
                <a:tc>
                  <a:txBody>
                    <a:bodyPr wrap="square"/>
                    <a:lstStyle/>
                    <a:p>
                      <a:r>
                        <a:rPr sz="1400" b="0">
                          <a:solidFill>
                            <a:srgbClr val="1F2A44"/>
                          </a:solidFill>
                          <a:latin typeface="Arial"/>
                          <a:ea typeface="Microsoft YaHei"/>
                        </a:rPr>
                        <a:t>—</a:t>
                      </a:r>
                    </a:p>
                  </a:txBody>
                  <a:tcPr anchor="ctr">
                    <a:solidFill>
                      <a:srgbClr val="FFFFFF"/>
                    </a:solidFill>
                  </a:tcPr>
                </a:tc>
                <a:tc>
                  <a:txBody>
                    <a:bodyPr wrap="square"/>
                    <a:lstStyle/>
                    <a:p>
                      <a:r>
                        <a:rPr sz="1400" b="0">
                          <a:solidFill>
                            <a:srgbClr val="1F2A44"/>
                          </a:solidFill>
                          <a:latin typeface="Arial"/>
                          <a:ea typeface="Microsoft YaHei"/>
                        </a:rPr>
                        <a:t>Prices remained stable.</a:t>
                      </a:r>
                    </a:p>
                  </a:txBody>
                  <a:tcPr anchor="ctr">
                    <a:solidFill>
                      <a:srgbClr val="FFFFFF"/>
                    </a:solidFill>
                  </a:tcPr>
                </a:tc>
              </a:tr>
              <a:tr h="377952">
                <a:tc>
                  <a:txBody>
                    <a:bodyPr wrap="square"/>
                    <a:lstStyle/>
                    <a:p>
                      <a:r>
                        <a:rPr sz="1400" b="1">
                          <a:solidFill>
                            <a:srgbClr val="1F2A44"/>
                          </a:solidFill>
                          <a:latin typeface="Arial"/>
                          <a:ea typeface="Microsoft YaHei"/>
                        </a:rPr>
                        <a:t>Top</a:t>
                      </a:r>
                    </a:p>
                  </a:txBody>
                  <a:tcPr anchor="ctr">
                    <a:solidFill>
                      <a:srgbClr val="FFEFD9"/>
                    </a:solidFill>
                  </a:tcPr>
                </a:tc>
                <a:tc>
                  <a:txBody>
                    <a:bodyPr wrap="square"/>
                    <a:lstStyle/>
                    <a:p>
                      <a:r>
                        <a:rPr sz="1400" b="0">
                          <a:solidFill>
                            <a:srgbClr val="1F2A44"/>
                          </a:solidFill>
                          <a:latin typeface="Arial"/>
                          <a:ea typeface="Microsoft YaHei"/>
                        </a:rPr>
                        <a:t>peaked at ★</a:t>
                      </a:r>
                    </a:p>
                  </a:txBody>
                  <a:tcPr anchor="ctr">
                    <a:solidFill>
                      <a:srgbClr val="FFEFD9"/>
                    </a:solidFill>
                  </a:tcPr>
                </a:tc>
                <a:tc>
                  <a:txBody>
                    <a:bodyPr wrap="square"/>
                    <a:lstStyle/>
                    <a:p>
                      <a:r>
                        <a:rPr sz="1400" b="0">
                          <a:solidFill>
                            <a:srgbClr val="1F2A44"/>
                          </a:solidFill>
                          <a:latin typeface="Arial"/>
                          <a:ea typeface="Microsoft YaHei"/>
                        </a:rPr>
                        <a:t>a peak</a:t>
                      </a:r>
                    </a:p>
                  </a:txBody>
                  <a:tcPr anchor="ctr">
                    <a:solidFill>
                      <a:srgbClr val="FFEFD9"/>
                    </a:solidFill>
                  </a:tcPr>
                </a:tc>
                <a:tc>
                  <a:txBody>
                    <a:bodyPr wrap="square"/>
                    <a:lstStyle/>
                    <a:p>
                      <a:r>
                        <a:rPr sz="1400" b="0">
                          <a:solidFill>
                            <a:srgbClr val="1F2A44"/>
                          </a:solidFill>
                          <a:latin typeface="Arial"/>
                          <a:ea typeface="Microsoft YaHei"/>
                        </a:rPr>
                        <a:t>Sales peaked at $2 million.</a:t>
                      </a:r>
                    </a:p>
                  </a:txBody>
                  <a:tcPr anchor="ctr">
                    <a:solidFill>
                      <a:srgbClr val="FFEFD9"/>
                    </a:solidFill>
                  </a:tcPr>
                </a:tc>
              </a:tr>
              <a:tr h="591312">
                <a:tc>
                  <a:txBody>
                    <a:bodyPr wrap="square"/>
                    <a:lstStyle/>
                    <a:p>
                      <a:r>
                        <a:rPr sz="1400" b="1">
                          <a:solidFill>
                            <a:srgbClr val="1F2A44"/>
                          </a:solidFill>
                          <a:latin typeface="Arial"/>
                          <a:ea typeface="Microsoft YaHei"/>
                        </a:rPr>
                        <a:t>Flat after rise ★</a:t>
                      </a:r>
                    </a:p>
                  </a:txBody>
                  <a:tcPr anchor="ctr">
                    <a:solidFill>
                      <a:srgbClr val="FFFFFF"/>
                    </a:solidFill>
                  </a:tcPr>
                </a:tc>
                <a:tc>
                  <a:txBody>
                    <a:bodyPr wrap="square"/>
                    <a:lstStyle/>
                    <a:p>
                      <a:r>
                        <a:rPr sz="1400" b="0">
                          <a:solidFill>
                            <a:srgbClr val="1F2A44"/>
                          </a:solidFill>
                          <a:latin typeface="Arial"/>
                          <a:ea typeface="Microsoft YaHei"/>
                        </a:rPr>
                        <a:t>levelled off</a:t>
                      </a:r>
                    </a:p>
                  </a:txBody>
                  <a:tcPr anchor="ctr">
                    <a:solidFill>
                      <a:srgbClr val="FFFFFF"/>
                    </a:solidFill>
                  </a:tcPr>
                </a:tc>
                <a:tc>
                  <a:txBody>
                    <a:bodyPr wrap="square"/>
                    <a:lstStyle/>
                    <a:p>
                      <a:r>
                        <a:rPr sz="1400" b="0">
                          <a:solidFill>
                            <a:srgbClr val="1F2A44"/>
                          </a:solidFill>
                          <a:latin typeface="Arial"/>
                          <a:ea typeface="Microsoft YaHei"/>
                        </a:rPr>
                        <a:t>—</a:t>
                      </a:r>
                    </a:p>
                  </a:txBody>
                  <a:tcPr anchor="ctr">
                    <a:solidFill>
                      <a:srgbClr val="FFFFFF"/>
                    </a:solidFill>
                  </a:tcPr>
                </a:tc>
                <a:tc>
                  <a:txBody>
                    <a:bodyPr wrap="square"/>
                    <a:lstStyle/>
                    <a:p>
                      <a:r>
                        <a:rPr sz="1400" b="0">
                          <a:solidFill>
                            <a:srgbClr val="1F2A44"/>
                          </a:solidFill>
                          <a:latin typeface="Arial"/>
                          <a:ea typeface="Microsoft YaHei"/>
                        </a:rPr>
                        <a:t>Sales levelled off in autumn.</a:t>
                      </a:r>
                    </a:p>
                  </a:txBody>
                  <a:tcPr anchor="ctr">
                    <a:solidFill>
                      <a:srgbClr val="FFFFFF"/>
                    </a:solidFill>
                  </a:tcPr>
                </a:tc>
              </a:tr>
              <a:tr h="591312">
                <a:tc>
                  <a:txBody>
                    <a:bodyPr wrap="square"/>
                    <a:lstStyle/>
                    <a:p>
                      <a:r>
                        <a:rPr sz="1400" b="1">
                          <a:solidFill>
                            <a:srgbClr val="1F2A44"/>
                          </a:solidFill>
                          <a:latin typeface="Arial"/>
                          <a:ea typeface="Microsoft YaHei"/>
                        </a:rPr>
                        <a:t>Fast/slow</a:t>
                      </a:r>
                    </a:p>
                  </a:txBody>
                  <a:tcPr anchor="ctr">
                    <a:solidFill>
                      <a:srgbClr val="FFEFD9"/>
                    </a:solidFill>
                  </a:tcPr>
                </a:tc>
                <a:tc>
                  <a:txBody>
                    <a:bodyPr wrap="square"/>
                    <a:lstStyle/>
                    <a:p>
                      <a:r>
                        <a:rPr sz="1400" b="0">
                          <a:solidFill>
                            <a:srgbClr val="1F2A44"/>
                          </a:solidFill>
                          <a:latin typeface="Arial"/>
                          <a:ea typeface="Microsoft YaHei"/>
                        </a:rPr>
                        <a:t>rose sharply / slightly</a:t>
                      </a:r>
                    </a:p>
                  </a:txBody>
                  <a:tcPr anchor="ctr">
                    <a:solidFill>
                      <a:srgbClr val="FFEFD9"/>
                    </a:solidFill>
                  </a:tcPr>
                </a:tc>
                <a:tc>
                  <a:txBody>
                    <a:bodyPr wrap="square"/>
                    <a:lstStyle/>
                    <a:p>
                      <a:r>
                        <a:rPr sz="1400" b="0">
                          <a:solidFill>
                            <a:srgbClr val="1F2A44"/>
                          </a:solidFill>
                          <a:latin typeface="Arial"/>
                          <a:ea typeface="Microsoft YaHei"/>
                        </a:rPr>
                        <a:t>a sharp / slight rise</a:t>
                      </a:r>
                    </a:p>
                  </a:txBody>
                  <a:tcPr anchor="ctr">
                    <a:solidFill>
                      <a:srgbClr val="FFEFD9"/>
                    </a:solidFill>
                  </a:tcPr>
                </a:tc>
                <a:tc>
                  <a:txBody>
                    <a:bodyPr wrap="square"/>
                    <a:lstStyle/>
                    <a:p>
                      <a:r>
                        <a:rPr sz="1400" b="0">
                          <a:solidFill>
                            <a:srgbClr val="1F2A44"/>
                          </a:solidFill>
                          <a:latin typeface="Arial"/>
                          <a:ea typeface="Microsoft YaHei"/>
                        </a:rPr>
                        <a:t>Costs rose sharply in March.</a:t>
                      </a:r>
                    </a:p>
                  </a:txBody>
                  <a:tcPr anchor="ctr">
                    <a:solidFill>
                      <a:srgbClr val="FFEFD9"/>
                    </a:solidFill>
                  </a:tcPr>
                </a:tc>
              </a:tr>
            </a:tbl>
          </a:graphicData>
        </a:graphic>
      </p:graphicFrame>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Describing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描述趋势</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By = the amount of change; to = the new level; from…to = both. “Sales rose by 10% to $2.2 million from $2.0 million.”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Past tense for finished periods: </a:t>
            </a:r>
            <a:r>
              <a:rPr sz="1700" b="0">
                <a:solidFill>
                  <a:srgbClr val="1F2A44"/>
                </a:solidFill>
                <a:latin typeface="Arial"/>
                <a:ea typeface="Microsoft YaHei"/>
              </a:rPr>
              <a:t>“Sales rose in Q3.” Present perfect when connected to now: “Sales have risen steadily since March.”</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1">
                <a:solidFill>
                  <a:srgbClr val="3CC49A"/>
                </a:solidFill>
                <a:latin typeface="Arial"/>
                <a:ea typeface="Microsoft YaHei"/>
              </a:rPr>
              <a:t>Say percentages: </a:t>
            </a:r>
            <a:r>
              <a:rPr sz="1700" b="0">
                <a:solidFill>
                  <a:srgbClr val="1F2A44"/>
                </a:solidFill>
                <a:latin typeface="Arial"/>
                <a:ea typeface="Microsoft YaHei"/>
              </a:rPr>
              <a:t>“ten percent”, “a quarter (25%)”, “three-quarters”, “double”, “half”.</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increased 10%.</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increased by 10%.</a:t>
            </a:r>
          </a:p>
          <a:p>
            <a:pPr algn="l">
              <a:spcAft>
                <a:spcPts val="200"/>
              </a:spcAft>
            </a:pPr>
            <a:r>
              <a:rPr sz="1200" b="0">
                <a:solidFill>
                  <a:srgbClr val="FFFFFF"/>
                </a:solidFill>
                <a:latin typeface="Arial"/>
                <a:ea typeface="Microsoft YaHei"/>
              </a:rPr>
              <a:t>增加量用 by</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rise last quarter.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rose last quarter.</a:t>
            </a:r>
          </a:p>
          <a:p>
            <a:pPr algn="l">
              <a:spcAft>
                <a:spcPts val="200"/>
              </a:spcAft>
            </a:pPr>
            <a:r>
              <a:rPr sz="1200" b="0">
                <a:solidFill>
                  <a:srgbClr val="FFFFFF"/>
                </a:solidFill>
                <a:latin typeface="Arial"/>
                <a:ea typeface="Microsoft YaHei"/>
              </a:rPr>
              <a:t>过去式</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rised last year.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rose last year.</a:t>
            </a:r>
          </a:p>
          <a:p>
            <a:pPr algn="l">
              <a:spcAft>
                <a:spcPts val="200"/>
              </a:spcAft>
            </a:pPr>
            <a:r>
              <a:rPr sz="1200" b="0">
                <a:solidFill>
                  <a:srgbClr val="FFFFFF"/>
                </a:solidFill>
                <a:latin typeface="Arial"/>
                <a:ea typeface="Microsoft YaHei"/>
              </a:rPr>
              <a:t>不规则动词</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Costs have decreased in 2025.</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Costs decreased in 2025.</a:t>
            </a:r>
          </a:p>
          <a:p>
            <a:pPr algn="l">
              <a:spcAft>
                <a:spcPts val="200"/>
              </a:spcAft>
            </a:pPr>
            <a:r>
              <a:rPr sz="1200" b="0">
                <a:solidFill>
                  <a:srgbClr val="FFFFFF"/>
                </a:solidFill>
                <a:latin typeface="Arial"/>
                <a:ea typeface="Microsoft YaHei"/>
              </a:rPr>
              <a:t>有具体年份用过去式</a:t>
            </a:r>
          </a:p>
        </p:txBody>
      </p:sp>
      <p:sp>
        <p:nvSpPr>
          <p:cNvPr id="17" name="Rounded Rectangle 16"/>
          <p:cNvSpPr/>
          <p:nvPr/>
        </p:nvSpPr>
        <p:spPr>
          <a:xfrm>
            <a:off x="548640" y="4267196"/>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rose from $2.0 million until $2.2 million.</a:t>
            </a:r>
          </a:p>
        </p:txBody>
      </p:sp>
      <p:sp>
        <p:nvSpPr>
          <p:cNvPr id="18" name="Rounded Rectangle 17"/>
          <p:cNvSpPr/>
          <p:nvPr/>
        </p:nvSpPr>
        <p:spPr>
          <a:xfrm>
            <a:off x="6187287" y="4267196"/>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rose from $2.0 million to $2.2 million.</a:t>
            </a:r>
          </a:p>
          <a:p>
            <a:pPr algn="l">
              <a:spcAft>
                <a:spcPts val="200"/>
              </a:spcAft>
            </a:pPr>
            <a:r>
              <a:rPr sz="1200" b="0">
                <a:solidFill>
                  <a:srgbClr val="FFFFFF"/>
                </a:solidFill>
                <a:latin typeface="Arial"/>
                <a:ea typeface="Microsoft YaHei"/>
              </a:rPr>
              <a:t>from…to…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raised by 10%.</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rose by 10%. / The company raised prices by 10%.</a:t>
            </a:r>
          </a:p>
          <a:p>
            <a:pPr algn="l">
              <a:spcAft>
                <a:spcPts val="200"/>
              </a:spcAft>
            </a:pPr>
            <a:r>
              <a:rPr sz="1200" b="0">
                <a:solidFill>
                  <a:srgbClr val="FFFFFF"/>
                </a:solidFill>
                <a:latin typeface="Arial"/>
                <a:ea typeface="Microsoft YaHei"/>
              </a:rPr>
              <a:t>rise 不及物,raise 及物</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number of customers are growing.</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number of customers is growing.</a:t>
            </a:r>
          </a:p>
          <a:p>
            <a:pPr algn="l">
              <a:spcAft>
                <a:spcPts val="200"/>
              </a:spcAft>
            </a:pPr>
            <a:r>
              <a:rPr sz="1200" b="0">
                <a:solidFill>
                  <a:srgbClr val="FFFFFF"/>
                </a:solidFill>
                <a:latin typeface="Arial"/>
                <a:ea typeface="Microsoft YaHei"/>
              </a:rPr>
              <a:t>number 是单数</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lot of informations.</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lot of information.</a:t>
            </a:r>
          </a:p>
          <a:p>
            <a:pPr algn="l">
              <a:spcAft>
                <a:spcPts val="200"/>
              </a:spcAft>
            </a:pPr>
            <a:r>
              <a:rPr sz="1200" b="0">
                <a:solidFill>
                  <a:srgbClr val="FFFFFF"/>
                </a:solidFill>
                <a:latin typeface="Arial"/>
                <a:ea typeface="Microsoft YaHei"/>
              </a:rPr>
              <a:t>information 不可数</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discuss about it later.</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discuss it later.</a:t>
            </a:r>
          </a:p>
          <a:p>
            <a:pPr algn="l">
              <a:spcAft>
                <a:spcPts val="200"/>
              </a:spcAft>
            </a:pPr>
            <a:r>
              <a:rPr sz="1200" b="0">
                <a:solidFill>
                  <a:srgbClr val="FFFFFF"/>
                </a:solidFill>
                <a:latin typeface="Arial"/>
                <a:ea typeface="Microsoft YaHei"/>
              </a:rPr>
              <a:t>discuss 后不加 about</a:t>
            </a:r>
          </a:p>
        </p:txBody>
      </p:sp>
      <p:sp>
        <p:nvSpPr>
          <p:cNvPr id="17" name="Rounded Rectangle 16"/>
          <p:cNvSpPr/>
          <p:nvPr/>
        </p:nvSpPr>
        <p:spPr>
          <a:xfrm>
            <a:off x="548640" y="4511036"/>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Today agenda first is the sales report.</a:t>
            </a:r>
          </a:p>
        </p:txBody>
      </p:sp>
      <p:sp>
        <p:nvSpPr>
          <p:cNvPr id="18" name="Rounded Rectangle 17"/>
          <p:cNvSpPr/>
          <p:nvPr/>
        </p:nvSpPr>
        <p:spPr>
          <a:xfrm>
            <a:off x="6187287" y="4511036"/>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first item on the agenda is the sales report.</a:t>
            </a:r>
          </a:p>
          <a:p>
            <a:pPr algn="l">
              <a:spcAft>
                <a:spcPts val="200"/>
              </a:spcAft>
            </a:pPr>
            <a:r>
              <a:rPr sz="1200" b="0">
                <a:solidFill>
                  <a:srgbClr val="FFFFFF"/>
                </a:solidFill>
                <a:latin typeface="Arial"/>
                <a:ea typeface="Microsoft YaHei"/>
              </a:rPr>
              <a:t>完整结构</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rise / rose / risen (intransitive) vs raise / raised (transitive). The number of … is. by 10% (change) vs to 10% (level).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Meetings in the UK/US usually start with 2–5 minutes of small talk, then “Right, shall we get started?” The chair marks the change with a clear phrase.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Be on time and prepared. Read the papers before the meeting. In many companies, “I haven’t had time to read it” is not acceptable.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Numbers: </a:t>
            </a:r>
            <a:r>
              <a:rPr sz="1700" b="0">
                <a:solidFill>
                  <a:srgbClr val="1F2A44"/>
                </a:solidFill>
                <a:latin typeface="Arial"/>
                <a:ea typeface="Microsoft YaHei"/>
              </a:rPr>
              <a:t>Be precise but not too long. “Around 10%” or “just over two million” is fine when exact figures aren’t needed.</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Stay on topic. English-speaking chairs often say “Let’s take that offline” (discuss it after the meeting) if a topic is too detailed.</a:t>
            </a:r>
          </a:p>
        </p:txBody>
      </p:sp>
      <p:sp>
        <p:nvSpPr>
          <p:cNvPr id="21" name="Rounded Rectangle 20"/>
          <p:cNvSpPr/>
          <p:nvPr/>
        </p:nvSpPr>
        <p:spPr>
          <a:xfrm>
            <a:off x="548640" y="458723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441959"/>
          </a:xfrm>
          <a:prstGeom prst="rect">
            <a:avLst/>
          </a:prstGeom>
          <a:noFill/>
        </p:spPr>
        <p:txBody>
          <a:bodyPr wrap="square" anchor="ctr">
            <a:spAutoFit/>
          </a:bodyPr>
          <a:lstStyle/>
          <a:p>
            <a:r>
              <a:rPr sz="1700" b="0">
                <a:solidFill>
                  <a:srgbClr val="1F2A44"/>
                </a:solidFill>
                <a:latin typeface="Arial"/>
                <a:ea typeface="Microsoft YaHei"/>
              </a:rPr>
              <a:t>Time is money. Starting and finishing on time shows respect, especially for senior people.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signal the move from small talk to business (Shall we get down to business?).</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introduce agenda items and ask for updates (The first item is… Could you bring us up to date on…?).</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describe numbers and trends (rose by 10%, fell from… to…, peaked at, levelled off).</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keep a meeting on track (Let’s stick to the agenda. Let’s park that for now.).</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rise / raise, by / to / from and the number of … is correctly.</a:t>
            </a:r>
          </a:p>
        </p:txBody>
      </p:sp>
      <p:sp>
        <p:nvSpPr>
          <p:cNvPr id="28" name="TextBox 27"/>
          <p:cNvSpPr txBox="1"/>
          <p:nvPr/>
        </p:nvSpPr>
        <p:spPr>
          <a:xfrm>
            <a:off x="9539935" y="487375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33 Down 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rose / raised, by / to / from, past tense for finished periods, and discuss + noun.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8 · Lesson 34 Closing the meeting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34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Closing the meeting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结束会议</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close a business meeting properly: check that all agenda items are done, summarize decisions, confirm action points, deal with any other business, agree on the next meeting, thank people and finish on time.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does your boss usually end a meeting?</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do when a meeting runs over time?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meetings end without clear decisions?</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Tell me about a time you left a meeting not knowing what to do next.</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be written in the minutes?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题讲过去的事,请用过去式(left, didn’t know, was)。第 5 题可以说 “The minutes should include…”。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Close a team meeting with a summary and clear next steps.</a:t>
            </a:r>
          </a:p>
        </p:txBody>
      </p:sp>
      <p:sp>
        <p:nvSpPr>
          <p:cNvPr id="10" name="Rounded Rectangle 9"/>
          <p:cNvSpPr/>
          <p:nvPr/>
        </p:nvSpPr>
        <p:spPr>
          <a:xfrm>
            <a:off x="5486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check the agenda</a:t>
            </a:r>
          </a:p>
        </p:txBody>
      </p:sp>
      <p:sp>
        <p:nvSpPr>
          <p:cNvPr id="11" name="Rounded Rectangle 10"/>
          <p:cNvSpPr/>
          <p:nvPr/>
        </p:nvSpPr>
        <p:spPr>
          <a:xfrm>
            <a:off x="2247900" y="3017520"/>
            <a:ext cx="156210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summarize decisions</a:t>
            </a:r>
          </a:p>
        </p:txBody>
      </p:sp>
      <p:sp>
        <p:nvSpPr>
          <p:cNvPr id="12" name="Rounded Rectangle 11"/>
          <p:cNvSpPr/>
          <p:nvPr/>
        </p:nvSpPr>
        <p:spPr>
          <a:xfrm>
            <a:off x="3947160" y="3017520"/>
            <a:ext cx="156210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action points</a:t>
            </a:r>
          </a:p>
        </p:txBody>
      </p:sp>
      <p:sp>
        <p:nvSpPr>
          <p:cNvPr id="13" name="Rounded Rectangle 12"/>
          <p:cNvSpPr/>
          <p:nvPr/>
        </p:nvSpPr>
        <p:spPr>
          <a:xfrm>
            <a:off x="5646420" y="3017520"/>
            <a:ext cx="156210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any other business</a:t>
            </a:r>
          </a:p>
        </p:txBody>
      </p:sp>
      <p:sp>
        <p:nvSpPr>
          <p:cNvPr id="14" name="Rounded Rectangle 13"/>
          <p:cNvSpPr/>
          <p:nvPr/>
        </p:nvSpPr>
        <p:spPr>
          <a:xfrm>
            <a:off x="7345680" y="3017520"/>
            <a:ext cx="1562100"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next meeting</a:t>
            </a:r>
          </a:p>
        </p:txBody>
      </p:sp>
      <p:sp>
        <p:nvSpPr>
          <p:cNvPr id="15" name="Rounded Rectangle 14"/>
          <p:cNvSpPr/>
          <p:nvPr/>
        </p:nvSpPr>
        <p:spPr>
          <a:xfrm>
            <a:off x="9044940" y="3017520"/>
            <a:ext cx="156210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6. thank people</a:t>
            </a:r>
          </a:p>
        </p:txBody>
      </p:sp>
      <p:sp>
        <p:nvSpPr>
          <p:cNvPr id="16" name="TextBox 15"/>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7" name="TextBox 16"/>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That brings us to the end of the agenda.   💬 Let me summarize what we’ve decided.   💬 Any other business?   💬 Thank you all for your contributions.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总结决定:We’ve agreed that…;行动项:X will… by…;结束用语:Let’s call it a day。AOB 是 any other business 的缩写。</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Wrapping up the agenda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结束议程</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brings us to the end of the agenda.</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议程到此结束</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brings us to the end of the agenda.”</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Is there any other business? (AOB)</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还有其他事项吗?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there any other business?”</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summarize what we’ve decided.</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让我总结一下我们的决定</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summarize what we’ve decided.”</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We’ve agreed that…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我们已同意……</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“We’ve agreed that the launch will be in December.”</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recap the action points.</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我们回顾一下行动项</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recap the action points.”</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Actions and follow-up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行动与跟进</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Who’s going to…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谁来……?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“Who’s going to book the venue?”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 Wei will… by…</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李伟将在……前……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“Li Wei will update the budget by Wednesday.”</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circulate the minutes by tomorrow.</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我明天分发会议纪要</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circulate the minutes by tomorrow afternoon.”</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Please keep me posted.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请随时告诉我进展</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keep me posted on the supplier talks.”</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touch base next week.</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下周再碰个头</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touch base next week to see how it’s going.”</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Closing politely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礼貌收尾</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next meeting will be on…</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下次会议在……</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next meeting will be on Monday the 7th.”</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all for your contributions.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感谢大家的发言</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all for your contributions.”</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It’s been a very productive meeting.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这次会议很有成效</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been a very productive meeting.”</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call it a day.</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今天就到这里吧</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five o’clock. Let’s call it a day.”</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declare the meeting closed.</a:t>
            </a:r>
          </a:p>
          <a:p>
            <a:pPr algn="l">
              <a:lnSpc>
                <a:spcPct val="115000"/>
              </a:lnSpc>
              <a:spcAft>
                <a:spcPts val="800"/>
              </a:spcAft>
            </a:pPr>
            <a:r>
              <a:rPr sz="1300" b="0">
                <a:solidFill>
                  <a:srgbClr val="5F677A"/>
                </a:solidFill>
                <a:latin typeface="Arial"/>
                <a:ea typeface="Microsoft YaHei"/>
              </a:rPr>
              <a:t>phrase (formal)</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我宣布会议结束</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“If there’s nothing else, I declare the meeting closed.”</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谁来……?</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Who’s going to… ?</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我们回顾一下行动项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recap the action points.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我宣布会议结束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declare the meeting closed.</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感谢大家的发言</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Thank you all for your contributions.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李伟将在……前……</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 Wei will… by…</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这次会议很有成效</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It’s been a very productive meeting.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我明天分发会议纪要</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I’ll circulate the minutes by tomorrow.</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下周再碰个头</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touch base next week.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business</a:t>
            </a:r>
          </a:p>
        </p:txBody>
      </p:sp>
      <p:sp>
        <p:nvSpPr>
          <p:cNvPr id="10" name="Rounded Rectangle 9"/>
          <p:cNvSpPr/>
          <p:nvPr/>
        </p:nvSpPr>
        <p:spPr>
          <a:xfrm>
            <a:off x="3346704" y="987552"/>
            <a:ext cx="179222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contributions</a:t>
            </a:r>
          </a:p>
        </p:txBody>
      </p:sp>
      <p:sp>
        <p:nvSpPr>
          <p:cNvPr id="11" name="Rounded Rectangle 10"/>
          <p:cNvSpPr/>
          <p:nvPr/>
        </p:nvSpPr>
        <p:spPr>
          <a:xfrm>
            <a:off x="5230368" y="987552"/>
            <a:ext cx="58521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by</a:t>
            </a:r>
          </a:p>
        </p:txBody>
      </p:sp>
      <p:sp>
        <p:nvSpPr>
          <p:cNvPr id="12" name="Rounded Rectangle 11"/>
          <p:cNvSpPr/>
          <p:nvPr/>
        </p:nvSpPr>
        <p:spPr>
          <a:xfrm>
            <a:off x="5907024"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agenda</a:t>
            </a:r>
          </a:p>
        </p:txBody>
      </p:sp>
      <p:sp>
        <p:nvSpPr>
          <p:cNvPr id="13" name="Rounded Rectangle 12"/>
          <p:cNvSpPr/>
          <p:nvPr/>
        </p:nvSpPr>
        <p:spPr>
          <a:xfrm>
            <a:off x="7022592"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summarize</a:t>
            </a:r>
          </a:p>
        </p:txBody>
      </p:sp>
      <p:sp>
        <p:nvSpPr>
          <p:cNvPr id="14" name="Rounded Rectangle 13"/>
          <p:cNvSpPr/>
          <p:nvPr/>
        </p:nvSpPr>
        <p:spPr>
          <a:xfrm>
            <a:off x="846734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posted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That brings us to the end of the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agenda</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Is there any other _______?</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business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 me _______ what we’ve decided.</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summarize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Li Wei will update the budget _______ Wednesday.</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Please keep me _______ on the supplier talks.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posted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 you all for your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contributions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拼写与时态): summarize (UK also summarise), business (not “bussiness”), minutes, contribution. Use will for decisions: “Li Wei will update the budget”. Present perfect for results: “We’ve agreed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Closing a team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结束团队会议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chair a team meeting. It’s the end of the agenda.</a:t>
            </a:r>
          </a:p>
        </p:txBody>
      </p:sp>
      <p:sp>
        <p:nvSpPr>
          <p:cNvPr id="10" name="Rounded Rectangle 9"/>
          <p:cNvSpPr/>
          <p:nvPr/>
        </p:nvSpPr>
        <p:spPr>
          <a:xfrm>
            <a:off x="548640"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chair</a:t>
            </a:r>
          </a:p>
        </p:txBody>
      </p:sp>
      <p:sp>
        <p:nvSpPr>
          <p:cNvPr id="13" name="Rounded Rectangle 12"/>
          <p:cNvSpPr/>
          <p:nvPr/>
        </p:nvSpPr>
        <p:spPr>
          <a:xfrm>
            <a:off x="4338218"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66818"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5801258"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
        <p:nvSpPr>
          <p:cNvPr id="16" name="Rounded Rectangle 15"/>
          <p:cNvSpPr/>
          <p:nvPr/>
        </p:nvSpPr>
        <p:spPr>
          <a:xfrm>
            <a:off x="8127796" y="3200400"/>
            <a:ext cx="3515258"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356396" y="3429000"/>
            <a:ext cx="1097280" cy="109728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8" name="TextBox 17"/>
          <p:cNvSpPr txBox="1"/>
          <p:nvPr/>
        </p:nvSpPr>
        <p:spPr>
          <a:xfrm>
            <a:off x="9590836" y="3291840"/>
            <a:ext cx="1915058" cy="2011680"/>
          </a:xfrm>
          <a:prstGeom prst="rect">
            <a:avLst/>
          </a:prstGeom>
          <a:noFill/>
        </p:spPr>
        <p:txBody>
          <a:bodyPr wrap="square" anchor="ctr">
            <a:spAutoFit/>
          </a:bodyPr>
          <a:lstStyle/>
          <a:p>
            <a:pPr algn="l">
              <a:lnSpc>
                <a:spcPct val="115000"/>
              </a:lnSpc>
              <a:spcAft>
                <a:spcPts val="800"/>
              </a:spcAft>
            </a:pPr>
            <a:r>
              <a:rPr sz="1400" b="1">
                <a:solidFill>
                  <a:srgbClr val="3CC49A"/>
                </a:solidFill>
                <a:latin typeface="Arial"/>
                <a:ea typeface="Microsoft YaHei"/>
              </a:rPr>
              <a:t>Role C</a:t>
            </a:r>
          </a:p>
          <a:p>
            <a:pPr algn="l">
              <a:lnSpc>
                <a:spcPct val="115000"/>
              </a:lnSpc>
              <a:spcAft>
                <a:spcPts val="800"/>
              </a:spcAft>
            </a:pPr>
            <a:r>
              <a:rPr sz="2000" b="1">
                <a:solidFill>
                  <a:srgbClr val="1F2A44"/>
                </a:solidFill>
                <a:latin typeface="Arial"/>
                <a:ea typeface="Microsoft YaHei"/>
              </a:rPr>
              <a:t>Sophie Zhou</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Closing a team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brings us to the end of the agenda. Is there any other business?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Just one thing. Can we agree on who books the venue?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Sophie, could you do that?</a:t>
            </a:r>
          </a:p>
        </p:txBody>
      </p:sp>
      <p:sp>
        <p:nvSpPr>
          <p:cNvPr id="17" name="Rounded Rectangle 16"/>
          <p:cNvSpPr/>
          <p:nvPr/>
        </p:nvSpPr>
        <p:spPr>
          <a:xfrm>
            <a:off x="548640" y="336194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I’ll book it by Wednesday.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135940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Let me summarize what we’ve decided. We’ve agreed that the launch will be in early December. Dan will prepare the customer survey by next Friday. Sophie will book the venue by Wednesday. I’ll update the budget and circulate the minutes by tomorrow afternoon.</a:t>
            </a:r>
          </a:p>
        </p:txBody>
      </p:sp>
      <p:sp>
        <p:nvSpPr>
          <p:cNvPr id="23" name="Rounded Rectangle 22"/>
          <p:cNvSpPr/>
          <p:nvPr/>
        </p:nvSpPr>
        <p:spPr>
          <a:xfrm>
            <a:off x="10911535" y="539496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83387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39496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Closing a team meeting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keep me posted if anything changes. The next meeting will be on Monday the 7th, at the same time.</a:t>
            </a:r>
          </a:p>
        </p:txBody>
      </p:sp>
      <p:sp>
        <p:nvSpPr>
          <p:cNvPr id="11" name="Rounded Rectangle 10"/>
          <p:cNvSpPr/>
          <p:nvPr/>
        </p:nvSpPr>
        <p:spPr>
          <a:xfrm>
            <a:off x="548640" y="2197608"/>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Works for me.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all for your contributions. It’s been a very productive meeting. Let’s call it a 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Li Wei.</a:t>
            </a:r>
          </a:p>
        </p:txBody>
      </p:sp>
      <p:sp>
        <p:nvSpPr>
          <p:cNvPr id="20" name="Rounded Rectangle 19"/>
          <p:cNvSpPr/>
          <p:nvPr/>
        </p:nvSpPr>
        <p:spPr>
          <a:xfrm>
            <a:off x="548640" y="4233672"/>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See you on Monday.</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Closing a team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close a team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Summarize, assign, set the next date.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(B, C)</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members. Raise AOB, confirm actions.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 brings us to the end of… · Is there any other business? · We’ve agreed that… · will… by… · The next meeting will be 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60-second closing with 3 decisions and 3 action points.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Someone says, “I’m not sure what I should do.” Say: “Let me check the action list. You’ll …, right?”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Time is up but the topic is not finished. Say: “We’re out of time. Let’s continue this at the next meeting.”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compliment: “I think we made good progress today.”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Writing and checking the minutes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撰写并核对会议纪要</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After the meeting, you check the minutes with a colleague before you send them.</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Writing and checking the minutes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Dan, could you check the minutes before I send them?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1908048"/>
            <a:ext cx="8595360" cy="1069847"/>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The decisions look right. But I think the survey date is wrong. We said “next Friday”, which is the fourth of December, not the eleventh.</a:t>
            </a:r>
          </a:p>
        </p:txBody>
      </p:sp>
      <p:sp>
        <p:nvSpPr>
          <p:cNvPr id="14" name="Rounded Rectangle 13"/>
          <p:cNvSpPr/>
          <p:nvPr/>
        </p:nvSpPr>
        <p:spPr>
          <a:xfrm>
            <a:off x="548640" y="306933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5"/>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I’ll correct that to the fourth of December.</a:t>
            </a:r>
          </a:p>
        </p:txBody>
      </p:sp>
      <p:sp>
        <p:nvSpPr>
          <p:cNvPr id="17" name="Rounded Rectangle 16"/>
          <p:cNvSpPr/>
          <p:nvPr/>
        </p:nvSpPr>
        <p:spPr>
          <a:xfrm>
            <a:off x="10911535" y="365150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3"/>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next meeting. The draft says Monday 2 December, but the 2nd is a Wednesday. I thought it was Monday the 7th.</a:t>
            </a:r>
          </a:p>
        </p:txBody>
      </p:sp>
      <p:sp>
        <p:nvSpPr>
          <p:cNvPr id="20" name="Rounded Rectangle 19"/>
          <p:cNvSpPr/>
          <p:nvPr/>
        </p:nvSpPr>
        <p:spPr>
          <a:xfrm>
            <a:off x="548640" y="452323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catch. You’re right, it’s the 7th. I’ll correct both dates.</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Writing and checking the minutes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more thing: add “Venue booked” under Sophie’s name with the deadline.</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there. “Sophie to book the venue by Wednesday 2 December.”</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I’m happy with it.</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I’ll send it out now.</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Writing and checking the minutes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and a colleague check the minutes of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Writer. Read and correct the minutes.</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Checker. Finds two mistakes.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Could you check…? · I think … is wrong. · Good catch. · Action points · by + date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Check dates and names, correct the mistakes, and send the minutes.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the line “Apologies from Jack Wu (absent)”.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one-sentence summary at the top of the minutes.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Check that every action point has an owner and a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write the minutes? Why?</a:t>
            </a:r>
          </a:p>
          <a:p>
            <a:pPr algn="l">
              <a:lnSpc>
                <a:spcPct val="115000"/>
              </a:lnSpc>
              <a:spcAft>
                <a:spcPts val="800"/>
              </a:spcAft>
            </a:pPr>
            <a:r>
              <a:rPr sz="1400" b="0">
                <a:solidFill>
                  <a:srgbClr val="5F677A"/>
                </a:solidFill>
                <a:latin typeface="Arial"/>
                <a:ea typeface="Microsoft YaHei"/>
              </a:rPr>
              <a:t>💬 “I think the secretary should… because…” / “It’s good to share this task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minutes be? What should you not include?</a:t>
            </a:r>
          </a:p>
          <a:p>
            <a:pPr algn="l">
              <a:lnSpc>
                <a:spcPct val="115000"/>
              </a:lnSpc>
              <a:spcAft>
                <a:spcPts val="800"/>
              </a:spcAft>
            </a:pPr>
            <a:r>
              <a:rPr sz="1400" b="0">
                <a:solidFill>
                  <a:srgbClr val="5F677A"/>
                </a:solidFill>
                <a:latin typeface="Arial"/>
                <a:ea typeface="Microsoft YaHei"/>
              </a:rPr>
              <a:t>💬 “Minutes should be one page and include…” / “I don’t include every detail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end a meeting early or on time?</a:t>
            </a:r>
          </a:p>
          <a:p>
            <a:pPr algn="l">
              <a:lnSpc>
                <a:spcPct val="115000"/>
              </a:lnSpc>
              <a:spcAft>
                <a:spcPts val="800"/>
              </a:spcAft>
            </a:pPr>
            <a:r>
              <a:rPr sz="1400" b="0">
                <a:solidFill>
                  <a:srgbClr val="5F677A"/>
                </a:solidFill>
                <a:latin typeface="Arial"/>
                <a:ea typeface="Microsoft YaHei"/>
              </a:rPr>
              <a:t>💬 “If we finish early, then…” / “I think it’s best to end on time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someone who always talks at the end of the meeting?</a:t>
            </a:r>
          </a:p>
          <a:p>
            <a:pPr algn="l">
              <a:lnSpc>
                <a:spcPct val="115000"/>
              </a:lnSpc>
              <a:spcAft>
                <a:spcPts val="800"/>
              </a:spcAft>
            </a:pPr>
            <a:r>
              <a:rPr sz="1400" b="0">
                <a:solidFill>
                  <a:srgbClr val="5F677A"/>
                </a:solidFill>
                <a:latin typeface="Arial"/>
                <a:ea typeface="Microsoft YaHei"/>
              </a:rPr>
              <a:t>💬 “I would say, ‘Thanks. Can we discuss it after the meeting?’” / “I put it on the next agenda.”</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make you feel positive when a meeting ends?</a:t>
            </a:r>
          </a:p>
          <a:p>
            <a:pPr algn="l">
              <a:lnSpc>
                <a:spcPct val="115000"/>
              </a:lnSpc>
              <a:spcAft>
                <a:spcPts val="800"/>
              </a:spcAft>
            </a:pPr>
            <a:r>
              <a:rPr sz="1400" b="0">
                <a:solidFill>
                  <a:srgbClr val="5F677A"/>
                </a:solidFill>
                <a:latin typeface="Arial"/>
                <a:ea typeface="Microsoft YaHei"/>
              </a:rPr>
              <a:t>💬 “I feel good if the decisions are clear and…” / “A short thank-you from the chair helps.”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the secretary should write the minutes, but in a small team, we can share the task in turn. If one person always takes the minutes, the rest of the team may not pay enough attention. Rotating also helps everyone learn. The important thing is that the minutes are sent within 24 hours, with clear decisions and action points.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“in turn”(轮流)。“pay attention”(注意),“pay enough attention” 搭配自然。“within 24 hours”(24 小时内)用 within 表示期限。</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Meeting language: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结束会议用语</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Close agenda</a:t>
                      </a:r>
                    </a:p>
                  </a:txBody>
                  <a:tcPr anchor="ctr">
                    <a:solidFill>
                      <a:srgbClr val="FFFFFF"/>
                    </a:solidFill>
                  </a:tcPr>
                </a:tc>
                <a:tc>
                  <a:txBody>
                    <a:bodyPr wrap="square"/>
                    <a:lstStyle/>
                    <a:p>
                      <a:r>
                        <a:rPr sz="1600" b="0">
                          <a:solidFill>
                            <a:srgbClr val="1F2A44"/>
                          </a:solidFill>
                          <a:latin typeface="Arial"/>
                          <a:ea typeface="Microsoft YaHei"/>
                        </a:rPr>
                        <a:t>That brings us to the end of the agenda.</a:t>
                      </a:r>
                    </a:p>
                  </a:txBody>
                  <a:tcPr anchor="ctr">
                    <a:solidFill>
                      <a:srgbClr val="FFFFFF"/>
                    </a:solidFill>
                  </a:tcPr>
                </a:tc>
              </a:tr>
              <a:tr h="408432">
                <a:tc>
                  <a:txBody>
                    <a:bodyPr wrap="square"/>
                    <a:lstStyle/>
                    <a:p>
                      <a:r>
                        <a:rPr sz="1600" b="1">
                          <a:solidFill>
                            <a:srgbClr val="1F2A44"/>
                          </a:solidFill>
                          <a:latin typeface="Arial"/>
                          <a:ea typeface="Microsoft YaHei"/>
                        </a:rPr>
                        <a:t>AOB</a:t>
                      </a:r>
                    </a:p>
                  </a:txBody>
                  <a:tcPr anchor="ctr">
                    <a:solidFill>
                      <a:srgbClr val="FFEFD9"/>
                    </a:solidFill>
                  </a:tcPr>
                </a:tc>
                <a:tc>
                  <a:txBody>
                    <a:bodyPr wrap="square"/>
                    <a:lstStyle/>
                    <a:p>
                      <a:r>
                        <a:rPr sz="1600" b="0">
                          <a:solidFill>
                            <a:srgbClr val="1F2A44"/>
                          </a:solidFill>
                          <a:latin typeface="Arial"/>
                          <a:ea typeface="Microsoft YaHei"/>
                        </a:rPr>
                        <a:t>Is there any other business? ★</a:t>
                      </a:r>
                    </a:p>
                  </a:txBody>
                  <a:tcPr anchor="ctr">
                    <a:solidFill>
                      <a:srgbClr val="FFEFD9"/>
                    </a:solidFill>
                  </a:tcPr>
                </a:tc>
              </a:tr>
              <a:tr h="652272">
                <a:tc>
                  <a:txBody>
                    <a:bodyPr wrap="square"/>
                    <a:lstStyle/>
                    <a:p>
                      <a:r>
                        <a:rPr sz="1600" b="1">
                          <a:solidFill>
                            <a:srgbClr val="1F2A44"/>
                          </a:solidFill>
                          <a:latin typeface="Arial"/>
                          <a:ea typeface="Microsoft YaHei"/>
                        </a:rPr>
                        <a:t>Summarize</a:t>
                      </a:r>
                    </a:p>
                  </a:txBody>
                  <a:tcPr anchor="ctr">
                    <a:solidFill>
                      <a:srgbClr val="FFFFFF"/>
                    </a:solidFill>
                  </a:tcPr>
                </a:tc>
                <a:tc>
                  <a:txBody>
                    <a:bodyPr wrap="square"/>
                    <a:lstStyle/>
                    <a:p>
                      <a:r>
                        <a:rPr sz="1600" b="0">
                          <a:solidFill>
                            <a:srgbClr val="1F2A44"/>
                          </a:solidFill>
                          <a:latin typeface="Arial"/>
                          <a:ea typeface="Microsoft YaHei"/>
                        </a:rPr>
                        <a:t>Let me summarize what we’ve decided. / We’ve agreed that…</a:t>
                      </a:r>
                    </a:p>
                  </a:txBody>
                  <a:tcPr anchor="ctr">
                    <a:solidFill>
                      <a:srgbClr val="FFFFFF"/>
                    </a:solidFill>
                  </a:tcPr>
                </a:tc>
              </a:tr>
              <a:tr h="408432">
                <a:tc>
                  <a:txBody>
                    <a:bodyPr wrap="square"/>
                    <a:lstStyle/>
                    <a:p>
                      <a:r>
                        <a:rPr sz="1600" b="1">
                          <a:solidFill>
                            <a:srgbClr val="1F2A44"/>
                          </a:solidFill>
                          <a:latin typeface="Arial"/>
                          <a:ea typeface="Microsoft YaHei"/>
                        </a:rPr>
                        <a:t>Actions</a:t>
                      </a:r>
                    </a:p>
                  </a:txBody>
                  <a:tcPr anchor="ctr">
                    <a:solidFill>
                      <a:srgbClr val="FFEFD9"/>
                    </a:solidFill>
                  </a:tcPr>
                </a:tc>
                <a:tc>
                  <a:txBody>
                    <a:bodyPr wrap="square"/>
                    <a:lstStyle/>
                    <a:p>
                      <a:r>
                        <a:rPr sz="1600" b="0">
                          <a:solidFill>
                            <a:srgbClr val="1F2A44"/>
                          </a:solidFill>
                          <a:latin typeface="Arial"/>
                          <a:ea typeface="Microsoft YaHei"/>
                        </a:rPr>
                        <a:t>Let’s recap the action points. ★ / Li Wei will… by…</a:t>
                      </a:r>
                    </a:p>
                  </a:txBody>
                  <a:tcPr anchor="ctr">
                    <a:solidFill>
                      <a:srgbClr val="FFEFD9"/>
                    </a:solidFill>
                  </a:tcPr>
                </a:tc>
              </a:tr>
              <a:tr h="652272">
                <a:tc>
                  <a:txBody>
                    <a:bodyPr wrap="square"/>
                    <a:lstStyle/>
                    <a:p>
                      <a:r>
                        <a:rPr sz="1600" b="1">
                          <a:solidFill>
                            <a:srgbClr val="1F2A44"/>
                          </a:solidFill>
                          <a:latin typeface="Arial"/>
                          <a:ea typeface="Microsoft YaHei"/>
                        </a:rPr>
                        <a:t>Follow-up</a:t>
                      </a:r>
                    </a:p>
                  </a:txBody>
                  <a:tcPr anchor="ctr">
                    <a:solidFill>
                      <a:srgbClr val="FFFFFF"/>
                    </a:solidFill>
                  </a:tcPr>
                </a:tc>
                <a:tc>
                  <a:txBody>
                    <a:bodyPr wrap="square"/>
                    <a:lstStyle/>
                    <a:p>
                      <a:r>
                        <a:rPr sz="1600" b="0">
                          <a:solidFill>
                            <a:srgbClr val="1F2A44"/>
                          </a:solidFill>
                          <a:latin typeface="Arial"/>
                          <a:ea typeface="Microsoft YaHei"/>
                        </a:rPr>
                        <a:t>Please keep me posted. ★ / Let’s touch base next week. ★</a:t>
                      </a:r>
                    </a:p>
                  </a:txBody>
                  <a:tcPr anchor="ctr">
                    <a:solidFill>
                      <a:srgbClr val="FFFFFF"/>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Meeting language: closing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结束会议用语</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Minutes</a:t>
                      </a:r>
                    </a:p>
                  </a:txBody>
                  <a:tcPr anchor="ctr">
                    <a:solidFill>
                      <a:srgbClr val="FFFFFF"/>
                    </a:solidFill>
                  </a:tcPr>
                </a:tc>
                <a:tc>
                  <a:txBody>
                    <a:bodyPr wrap="square"/>
                    <a:lstStyle/>
                    <a:p>
                      <a:r>
                        <a:rPr sz="1600" b="0">
                          <a:solidFill>
                            <a:srgbClr val="1F2A44"/>
                          </a:solidFill>
                          <a:latin typeface="Arial"/>
                          <a:ea typeface="Microsoft YaHei"/>
                        </a:rPr>
                        <a:t>I’ll circulate the minutes by tomorrow.</a:t>
                      </a:r>
                    </a:p>
                  </a:txBody>
                  <a:tcPr anchor="ctr">
                    <a:solidFill>
                      <a:srgbClr val="FFFFFF"/>
                    </a:solidFill>
                  </a:tcPr>
                </a:tc>
              </a:tr>
              <a:tr h="408432">
                <a:tc>
                  <a:txBody>
                    <a:bodyPr wrap="square"/>
                    <a:lstStyle/>
                    <a:p>
                      <a:r>
                        <a:rPr sz="1600" b="1">
                          <a:solidFill>
                            <a:srgbClr val="1F2A44"/>
                          </a:solidFill>
                          <a:latin typeface="Arial"/>
                          <a:ea typeface="Microsoft YaHei"/>
                        </a:rPr>
                        <a:t>Next meeting</a:t>
                      </a:r>
                    </a:p>
                  </a:txBody>
                  <a:tcPr anchor="ctr">
                    <a:solidFill>
                      <a:srgbClr val="FFEFD9"/>
                    </a:solidFill>
                  </a:tcPr>
                </a:tc>
                <a:tc>
                  <a:txBody>
                    <a:bodyPr wrap="square"/>
                    <a:lstStyle/>
                    <a:p>
                      <a:r>
                        <a:rPr sz="1600" b="0">
                          <a:solidFill>
                            <a:srgbClr val="1F2A44"/>
                          </a:solidFill>
                          <a:latin typeface="Arial"/>
                          <a:ea typeface="Microsoft YaHei"/>
                        </a:rPr>
                        <a:t>The next meeting will be on…</a:t>
                      </a:r>
                    </a:p>
                  </a:txBody>
                  <a:tcPr anchor="ctr">
                    <a:solidFill>
                      <a:srgbClr val="FFEFD9"/>
                    </a:solidFill>
                  </a:tcPr>
                </a:tc>
              </a:tr>
              <a:tr h="652272">
                <a:tc>
                  <a:txBody>
                    <a:bodyPr wrap="square"/>
                    <a:lstStyle/>
                    <a:p>
                      <a:r>
                        <a:rPr sz="1600" b="1">
                          <a:solidFill>
                            <a:srgbClr val="1F2A44"/>
                          </a:solidFill>
                          <a:latin typeface="Arial"/>
                          <a:ea typeface="Microsoft YaHei"/>
                        </a:rPr>
                        <a:t>Thank</a:t>
                      </a:r>
                    </a:p>
                  </a:txBody>
                  <a:tcPr anchor="ctr">
                    <a:solidFill>
                      <a:srgbClr val="FFFFFF"/>
                    </a:solidFill>
                  </a:tcPr>
                </a:tc>
                <a:tc>
                  <a:txBody>
                    <a:bodyPr wrap="square"/>
                    <a:lstStyle/>
                    <a:p>
                      <a:r>
                        <a:rPr sz="1600" b="0">
                          <a:solidFill>
                            <a:srgbClr val="1F2A44"/>
                          </a:solidFill>
                          <a:latin typeface="Arial"/>
                          <a:ea typeface="Microsoft YaHei"/>
                        </a:rPr>
                        <a:t>Thank you all for your contributions. / It’s been a productive meeting. ★</a:t>
                      </a:r>
                    </a:p>
                  </a:txBody>
                  <a:tcPr anchor="ctr">
                    <a:solidFill>
                      <a:srgbClr val="FFFFFF"/>
                    </a:solidFill>
                  </a:tcPr>
                </a:tc>
              </a:tr>
              <a:tr h="652272">
                <a:tc>
                  <a:txBody>
                    <a:bodyPr wrap="square"/>
                    <a:lstStyle/>
                    <a:p>
                      <a:r>
                        <a:rPr sz="1600" b="1">
                          <a:solidFill>
                            <a:srgbClr val="1F2A44"/>
                          </a:solidFill>
                          <a:latin typeface="Arial"/>
                          <a:ea typeface="Microsoft YaHei"/>
                        </a:rPr>
                        <a:t>End</a:t>
                      </a:r>
                    </a:p>
                  </a:txBody>
                  <a:tcPr anchor="ctr">
                    <a:solidFill>
                      <a:srgbClr val="FFEFD9"/>
                    </a:solidFill>
                  </a:tcPr>
                </a:tc>
                <a:tc>
                  <a:txBody>
                    <a:bodyPr wrap="square"/>
                    <a:lstStyle/>
                    <a:p>
                      <a:r>
                        <a:rPr sz="1600" b="0">
                          <a:solidFill>
                            <a:srgbClr val="1F2A44"/>
                          </a:solidFill>
                          <a:latin typeface="Arial"/>
                          <a:ea typeface="Microsoft YaHei"/>
                        </a:rPr>
                        <a:t>Let’s call it a day. ★ / I declare the meeting closed. ★ (very formal)</a:t>
                      </a:r>
                    </a:p>
                  </a:txBody>
                  <a:tcPr anchor="ctr">
                    <a:solidFill>
                      <a:srgbClr val="FFEFD9"/>
                    </a:solidFill>
                  </a:tcPr>
                </a:tc>
              </a:tr>
            </a:tbl>
          </a:graphicData>
        </a:graphic>
      </p:graphicFrame>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Minutes template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会议纪要模板</a:t>
            </a:r>
          </a:p>
        </p:txBody>
      </p:sp>
      <p:graphicFrame>
        <p:nvGraphicFramePr>
          <p:cNvPr id="9" name="Table 8"/>
          <p:cNvGraphicFramePr>
            <a:graphicFrameLocks noGrp="1"/>
          </p:cNvGraphicFramePr>
          <p:nvPr/>
        </p:nvGraphicFramePr>
        <p:xfrm>
          <a:off x="548640" y="1417320"/>
          <a:ext cx="11094415" cy="375513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Section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Title</a:t>
                      </a:r>
                    </a:p>
                  </a:txBody>
                  <a:tcPr anchor="ctr">
                    <a:solidFill>
                      <a:srgbClr val="FFFFFF"/>
                    </a:solidFill>
                  </a:tcPr>
                </a:tc>
                <a:tc>
                  <a:txBody>
                    <a:bodyPr wrap="square"/>
                    <a:lstStyle/>
                    <a:p>
                      <a:r>
                        <a:rPr sz="1600" b="0">
                          <a:solidFill>
                            <a:srgbClr val="1F2A44"/>
                          </a:solidFill>
                          <a:latin typeface="Arial"/>
                          <a:ea typeface="Microsoft YaHei"/>
                        </a:rPr>
                        <a:t>Minutes: Product Launch Team, Thursday 26 November</a:t>
                      </a:r>
                    </a:p>
                  </a:txBody>
                  <a:tcPr anchor="ctr">
                    <a:solidFill>
                      <a:srgbClr val="FFFFFF"/>
                    </a:solidFill>
                  </a:tcPr>
                </a:tc>
              </a:tr>
              <a:tr h="652272">
                <a:tc>
                  <a:txBody>
                    <a:bodyPr wrap="square"/>
                    <a:lstStyle/>
                    <a:p>
                      <a:r>
                        <a:rPr sz="1600" b="1">
                          <a:solidFill>
                            <a:srgbClr val="1F2A44"/>
                          </a:solidFill>
                          <a:latin typeface="Arial"/>
                          <a:ea typeface="Microsoft YaHei"/>
                        </a:rPr>
                        <a:t>Present / Apologies</a:t>
                      </a:r>
                    </a:p>
                  </a:txBody>
                  <a:tcPr anchor="ctr">
                    <a:solidFill>
                      <a:srgbClr val="FFEFD9"/>
                    </a:solidFill>
                  </a:tcPr>
                </a:tc>
                <a:tc>
                  <a:txBody>
                    <a:bodyPr wrap="square"/>
                    <a:lstStyle/>
                    <a:p>
                      <a:r>
                        <a:rPr sz="1600" b="0">
                          <a:solidFill>
                            <a:srgbClr val="1F2A44"/>
                          </a:solidFill>
                          <a:latin typeface="Arial"/>
                          <a:ea typeface="Microsoft YaHei"/>
                        </a:rPr>
                        <a:t>Present: Li Wei (chair), Dan Reed, Sophie Zhou. Apologies: Jack Wu</a:t>
                      </a:r>
                    </a:p>
                  </a:txBody>
                  <a:tcPr anchor="ctr">
                    <a:solidFill>
                      <a:srgbClr val="FFEFD9"/>
                    </a:solidFill>
                  </a:tcPr>
                </a:tc>
              </a:tr>
              <a:tr h="408432">
                <a:tc>
                  <a:txBody>
                    <a:bodyPr wrap="square"/>
                    <a:lstStyle/>
                    <a:p>
                      <a:r>
                        <a:rPr sz="1600" b="1">
                          <a:solidFill>
                            <a:srgbClr val="1F2A44"/>
                          </a:solidFill>
                          <a:latin typeface="Arial"/>
                          <a:ea typeface="Microsoft YaHei"/>
                        </a:rPr>
                        <a:t>Item 1</a:t>
                      </a:r>
                    </a:p>
                  </a:txBody>
                  <a:tcPr anchor="ctr">
                    <a:solidFill>
                      <a:srgbClr val="FFFFFF"/>
                    </a:solidFill>
                  </a:tcPr>
                </a:tc>
                <a:tc>
                  <a:txBody>
                    <a:bodyPr wrap="square"/>
                    <a:lstStyle/>
                    <a:p>
                      <a:r>
                        <a:rPr sz="1600" b="0">
                          <a:solidFill>
                            <a:srgbClr val="1F2A44"/>
                          </a:solidFill>
                          <a:latin typeface="Arial"/>
                          <a:ea typeface="Microsoft YaHei"/>
                        </a:rPr>
                        <a:t>The launch will be in early December.</a:t>
                      </a:r>
                    </a:p>
                  </a:txBody>
                  <a:tcPr anchor="ctr">
                    <a:solidFill>
                      <a:srgbClr val="FFFFFF"/>
                    </a:solidFill>
                  </a:tcPr>
                </a:tc>
              </a:tr>
              <a:tr h="408432">
                <a:tc>
                  <a:txBody>
                    <a:bodyPr wrap="square"/>
                    <a:lstStyle/>
                    <a:p>
                      <a:r>
                        <a:rPr sz="1600" b="1">
                          <a:solidFill>
                            <a:srgbClr val="1F2A44"/>
                          </a:solidFill>
                          <a:latin typeface="Arial"/>
                          <a:ea typeface="Microsoft YaHei"/>
                        </a:rPr>
                        <a:t>Item 2</a:t>
                      </a:r>
                    </a:p>
                  </a:txBody>
                  <a:tcPr anchor="ctr">
                    <a:solidFill>
                      <a:srgbClr val="FFEFD9"/>
                    </a:solidFill>
                  </a:tcPr>
                </a:tc>
                <a:tc>
                  <a:txBody>
                    <a:bodyPr wrap="square"/>
                    <a:lstStyle/>
                    <a:p>
                      <a:r>
                        <a:rPr sz="1600" b="0">
                          <a:solidFill>
                            <a:srgbClr val="1F2A44"/>
                          </a:solidFill>
                          <a:latin typeface="Arial"/>
                          <a:ea typeface="Microsoft YaHei"/>
                        </a:rPr>
                        <a:t>Customer survey approved (budget: 5,000 yuan).</a:t>
                      </a:r>
                    </a:p>
                  </a:txBody>
                  <a:tcPr anchor="ctr">
                    <a:solidFill>
                      <a:srgbClr val="FFEFD9"/>
                    </a:solidFill>
                  </a:tcPr>
                </a:tc>
              </a:tr>
              <a:tr h="652272">
                <a:tc>
                  <a:txBody>
                    <a:bodyPr wrap="square"/>
                    <a:lstStyle/>
                    <a:p>
                      <a:r>
                        <a:rPr sz="1600" b="1">
                          <a:solidFill>
                            <a:srgbClr val="1F2A44"/>
                          </a:solidFill>
                          <a:latin typeface="Arial"/>
                          <a:ea typeface="Microsoft YaHei"/>
                        </a:rPr>
                        <a:t>Action points</a:t>
                      </a:r>
                    </a:p>
                  </a:txBody>
                  <a:tcPr anchor="ctr">
                    <a:solidFill>
                      <a:srgbClr val="FFFFFF"/>
                    </a:solidFill>
                  </a:tcPr>
                </a:tc>
                <a:tc>
                  <a:txBody>
                    <a:bodyPr wrap="square"/>
                    <a:lstStyle/>
                    <a:p>
                      <a:r>
                        <a:rPr sz="1600" b="0">
                          <a:solidFill>
                            <a:srgbClr val="1F2A44"/>
                          </a:solidFill>
                          <a:latin typeface="Arial"/>
                          <a:ea typeface="Microsoft YaHei"/>
                        </a:rPr>
                        <a:t>Dan to prepare the survey by 4 Dec. Sophie to book the venue by 2 Dec.</a:t>
                      </a:r>
                    </a:p>
                  </a:txBody>
                  <a:tcPr anchor="ctr">
                    <a:solidFill>
                      <a:srgbClr val="FFFFFF"/>
                    </a:solidFill>
                  </a:tcPr>
                </a:tc>
              </a:tr>
              <a:tr h="408432">
                <a:tc>
                  <a:txBody>
                    <a:bodyPr wrap="square"/>
                    <a:lstStyle/>
                    <a:p>
                      <a:r>
                        <a:rPr sz="1600" b="1">
                          <a:solidFill>
                            <a:srgbClr val="1F2A44"/>
                          </a:solidFill>
                          <a:latin typeface="Arial"/>
                          <a:ea typeface="Microsoft YaHei"/>
                        </a:rPr>
                        <a:t>AOB</a:t>
                      </a:r>
                    </a:p>
                  </a:txBody>
                  <a:tcPr anchor="ctr">
                    <a:solidFill>
                      <a:srgbClr val="FFEFD9"/>
                    </a:solidFill>
                  </a:tcPr>
                </a:tc>
                <a:tc>
                  <a:txBody>
                    <a:bodyPr wrap="square"/>
                    <a:lstStyle/>
                    <a:p>
                      <a:r>
                        <a:rPr sz="1600" b="0">
                          <a:solidFill>
                            <a:srgbClr val="1F2A44"/>
                          </a:solidFill>
                          <a:latin typeface="Arial"/>
                          <a:ea typeface="Microsoft YaHei"/>
                        </a:rPr>
                        <a:t>Venue booking: Sophie to handle.</a:t>
                      </a:r>
                    </a:p>
                  </a:txBody>
                  <a:tcPr anchor="ctr">
                    <a:solidFill>
                      <a:srgbClr val="FFEFD9"/>
                    </a:solidFill>
                  </a:tcPr>
                </a:tc>
              </a:tr>
              <a:tr h="408432">
                <a:tc>
                  <a:txBody>
                    <a:bodyPr wrap="square"/>
                    <a:lstStyle/>
                    <a:p>
                      <a:r>
                        <a:rPr sz="1600" b="1">
                          <a:solidFill>
                            <a:srgbClr val="1F2A44"/>
                          </a:solidFill>
                          <a:latin typeface="Arial"/>
                          <a:ea typeface="Microsoft YaHei"/>
                        </a:rPr>
                        <a:t>Next meeting</a:t>
                      </a:r>
                    </a:p>
                  </a:txBody>
                  <a:tcPr anchor="ctr">
                    <a:solidFill>
                      <a:srgbClr val="FFFFFF"/>
                    </a:solidFill>
                  </a:tcPr>
                </a:tc>
                <a:tc>
                  <a:txBody>
                    <a:bodyPr wrap="square"/>
                    <a:lstStyle/>
                    <a:p>
                      <a:r>
                        <a:rPr sz="1600" b="0">
                          <a:solidFill>
                            <a:srgbClr val="1F2A44"/>
                          </a:solidFill>
                          <a:latin typeface="Arial"/>
                          <a:ea typeface="Microsoft YaHei"/>
                        </a:rPr>
                        <a:t>Monday 7 December, 10 a.m.</a:t>
                      </a:r>
                    </a:p>
                  </a:txBody>
                  <a:tcPr anchor="ctr">
                    <a:solidFill>
                      <a:srgbClr val="FFFFFF"/>
                    </a:solidFill>
                  </a:tcPr>
                </a:tc>
              </a:tr>
            </a:tbl>
          </a:graphicData>
        </a:graphic>
      </p:graphicFrame>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Minutes template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会议纪要模板</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Style: </a:t>
            </a:r>
            <a:r>
              <a:rPr sz="1700" b="0">
                <a:solidFill>
                  <a:srgbClr val="1F2A44"/>
                </a:solidFill>
                <a:latin typeface="Arial"/>
                <a:ea typeface="Microsoft YaHei"/>
              </a:rPr>
              <a:t>short sentences, past or present, no names of people who spoke, only decisions and actions.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“to + verb” for actions in minutes: “Dan to prepare the survey.” (It means “Dan is to prepare…”)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Date style: </a:t>
            </a:r>
            <a:r>
              <a:rPr sz="1700" b="0">
                <a:solidFill>
                  <a:srgbClr val="1F2A44"/>
                </a:solidFill>
                <a:latin typeface="Arial"/>
                <a:ea typeface="Microsoft YaHei"/>
              </a:rPr>
              <a:t>UK “26 November” / US “November 26”. Write the month in letters.</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Meeting finish.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That brings us to the end of the agenda.</a:t>
            </a:r>
          </a:p>
          <a:p>
            <a:pPr algn="l">
              <a:spcAft>
                <a:spcPts val="200"/>
              </a:spcAft>
            </a:pPr>
            <a:r>
              <a:rPr sz="1200" b="0">
                <a:solidFill>
                  <a:srgbClr val="FFFFFF"/>
                </a:solidFill>
                <a:latin typeface="Arial"/>
                <a:ea typeface="Microsoft YaHei"/>
              </a:rPr>
              <a:t>完整说法</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Any question? (as a closing)</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Is there any other business? / Does anyone have any questions?</a:t>
            </a:r>
          </a:p>
          <a:p>
            <a:pPr algn="l">
              <a:spcAft>
                <a:spcPts val="200"/>
              </a:spcAft>
            </a:pPr>
            <a:r>
              <a:rPr sz="1200" b="0">
                <a:solidFill>
                  <a:srgbClr val="FFFFFF"/>
                </a:solidFill>
                <a:latin typeface="Arial"/>
                <a:ea typeface="Microsoft YaHei"/>
              </a:rPr>
              <a:t>更完整</a:t>
            </a:r>
          </a:p>
        </p:txBody>
      </p:sp>
      <p:sp>
        <p:nvSpPr>
          <p:cNvPr id="13" name="Rounded Rectangle 12"/>
          <p:cNvSpPr/>
          <p:nvPr/>
        </p:nvSpPr>
        <p:spPr>
          <a:xfrm>
            <a:off x="548640" y="310895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decide that the launch is in December.</a:t>
            </a:r>
          </a:p>
        </p:txBody>
      </p:sp>
      <p:sp>
        <p:nvSpPr>
          <p:cNvPr id="14" name="Rounded Rectangle 13"/>
          <p:cNvSpPr/>
          <p:nvPr/>
        </p:nvSpPr>
        <p:spPr>
          <a:xfrm>
            <a:off x="6187287" y="310895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We’ve decided that the launch will be in December.</a:t>
            </a:r>
          </a:p>
          <a:p>
            <a:pPr algn="l">
              <a:spcAft>
                <a:spcPts val="200"/>
              </a:spcAft>
            </a:pPr>
            <a:r>
              <a:rPr sz="1200" b="0">
                <a:solidFill>
                  <a:srgbClr val="FFFFFF"/>
                </a:solidFill>
                <a:latin typeface="Arial"/>
                <a:ea typeface="Microsoft YaHei"/>
              </a:rPr>
              <a:t>现在完成时 + will</a:t>
            </a:r>
          </a:p>
        </p:txBody>
      </p:sp>
      <p:sp>
        <p:nvSpPr>
          <p:cNvPr id="15" name="Rounded Rectangle 14"/>
          <p:cNvSpPr/>
          <p:nvPr/>
        </p:nvSpPr>
        <p:spPr>
          <a:xfrm>
            <a:off x="548640" y="405383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to send the minutes.</a:t>
            </a:r>
          </a:p>
        </p:txBody>
      </p:sp>
      <p:sp>
        <p:nvSpPr>
          <p:cNvPr id="16" name="Rounded Rectangle 15"/>
          <p:cNvSpPr/>
          <p:nvPr/>
        </p:nvSpPr>
        <p:spPr>
          <a:xfrm>
            <a:off x="6187287" y="405383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send the minutes.</a:t>
            </a:r>
          </a:p>
          <a:p>
            <a:pPr algn="l">
              <a:spcAft>
                <a:spcPts val="200"/>
              </a:spcAft>
            </a:pPr>
            <a:r>
              <a:rPr sz="1200" b="0">
                <a:solidFill>
                  <a:srgbClr val="FFFFFF"/>
                </a:solidFill>
                <a:latin typeface="Arial"/>
                <a:ea typeface="Microsoft YaHei"/>
              </a:rPr>
              <a:t>will 后面不加 to</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Next meeting is in Monday.</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next meeting is on Monday.</a:t>
            </a:r>
          </a:p>
          <a:p>
            <a:pPr algn="l">
              <a:spcAft>
                <a:spcPts val="200"/>
              </a:spcAft>
            </a:pPr>
            <a:r>
              <a:rPr sz="1200" b="0">
                <a:solidFill>
                  <a:srgbClr val="FFFFFF"/>
                </a:solidFill>
                <a:latin typeface="Arial"/>
                <a:ea typeface="Microsoft YaHei"/>
              </a:rPr>
              <a:t>冠词 +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hear me.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listening. / Thank you all for your contributions.</a:t>
            </a:r>
          </a:p>
          <a:p>
            <a:pPr algn="l">
              <a:spcAft>
                <a:spcPts val="200"/>
              </a:spcAft>
            </a:pPr>
            <a:r>
              <a:rPr sz="1200" b="0">
                <a:solidFill>
                  <a:srgbClr val="FFFFFF"/>
                </a:solidFill>
                <a:latin typeface="Arial"/>
                <a:ea typeface="Microsoft YaHei"/>
              </a:rPr>
              <a:t>for + -ing</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make a summary.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 me summarize. / To sum up, …</a:t>
            </a:r>
          </a:p>
          <a:p>
            <a:pPr algn="l">
              <a:spcAft>
                <a:spcPts val="200"/>
              </a:spcAft>
            </a:pPr>
            <a:r>
              <a:rPr sz="1200" b="0">
                <a:solidFill>
                  <a:srgbClr val="FFFFFF"/>
                </a:solidFill>
                <a:latin typeface="Arial"/>
                <a:ea typeface="Microsoft YaHei"/>
              </a:rPr>
              <a:t>惯用语</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See you next time (no date)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next meeting will be on Monday the 7th.</a:t>
            </a:r>
          </a:p>
          <a:p>
            <a:pPr algn="l">
              <a:spcAft>
                <a:spcPts val="200"/>
              </a:spcAft>
            </a:pPr>
            <a:r>
              <a:rPr sz="1200" b="0">
                <a:solidFill>
                  <a:srgbClr val="FFFFFF"/>
                </a:solidFill>
                <a:latin typeface="Arial"/>
                <a:ea typeface="Microsoft YaHei"/>
              </a:rPr>
              <a:t>具体的日期</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bussiness / sumarize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business / summarize</a:t>
            </a:r>
          </a:p>
          <a:p>
            <a:pPr algn="l">
              <a:spcAft>
                <a:spcPts val="200"/>
              </a:spcAft>
            </a:pPr>
            <a:r>
              <a:rPr sz="1200" b="0">
                <a:solidFill>
                  <a:srgbClr val="FFFFFF"/>
                </a:solidFill>
                <a:latin typeface="Arial"/>
                <a:ea typeface="Microsoft YaHei"/>
              </a:rPr>
              <a:t>拼写</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have to book the venue.</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has to book the venue.</a:t>
            </a:r>
          </a:p>
          <a:p>
            <a:pPr algn="l">
              <a:spcAft>
                <a:spcPts val="200"/>
              </a:spcAft>
            </a:pPr>
            <a:r>
              <a:rPr sz="1200" b="0">
                <a:solidFill>
                  <a:srgbClr val="FFFFFF"/>
                </a:solidFill>
                <a:latin typeface="Arial"/>
                <a:ea typeface="Microsoft YaHei"/>
              </a:rPr>
              <a:t>第三人称单数 has</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next meeting is on Monday, I will send (no “to”), We’ve agreed that…, and business, summarize.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End on time. In UK/US companies, meetings end at the planned time. “We’re out of time” is a normal reason to stop.</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Action points must have an owner. “Someone should check this” doesn’t work. “Dan will check this by Friday” does.</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Thanks matters. A closing thank-you (“Thank you all for your contributions”) makes people feel valued.</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0">
                <a:solidFill>
                  <a:srgbClr val="1F2A44"/>
                </a:solidFill>
                <a:latin typeface="Arial"/>
                <a:ea typeface="Microsoft YaHei"/>
              </a:rPr>
              <a:t>“AOB” is a standard item. It gives people a place to raise small things without a full agenda item.</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0">
                <a:solidFill>
                  <a:srgbClr val="1F2A44"/>
                </a:solidFill>
                <a:latin typeface="Arial"/>
                <a:ea typeface="Microsoft YaHei"/>
              </a:rPr>
              <a:t>Minutes protect everyone. If there is a dispute later, the minutes show what was decided. Send them within 24–48 hours.</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34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close the agenda and ask for any other business.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summarize decisions (We’ve agreed that…) and confirm action points (X will… by…).</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agree the next meeting and thank participants.</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or check short minutes with decisions and action points.</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will + verb, on + day, the next meeting and business / summarize correctly.</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 · Lesson 34 Closing the meeting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will + base verb, on + day, We’ve agreed that…, and spelling (business, summarize).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Let’s start with the headline figures.</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Let’s start with the headline figures.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Could you bring us up to date on…?</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Could you bring us up to date on the project?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Sales increased 10%.</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Sales increased by 10%.</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我明天分发会议纪要</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I’ll circulate the minutes by tomorrow.</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我认为……</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In my opinion, … / I think…</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感谢大家的发言</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Thank you all for your contributions.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8</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“数据在九月趋于平稳”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figures levelled off in September.</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“我们已同意……”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We’ve agreed that…</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“我们回顾一下行动项”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recap the action points.</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think so that we should wait.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think we should wait.</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am agree.</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agree. / I couldn’t agree more.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8</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8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