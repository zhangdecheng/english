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4</a:t>
            </a:r>
          </a:p>
          <a:p>
            <a:r>
              <a:t>Unit 10: Workplace Socializing — Self-Study Workbook (Lessons 37–45)</a:t>
            </a:r>
          </a:p>
          <a:p/>
          <a:p>
            <a:r>
              <a:t>开场：简单介绍本单元的主题和要完成的 9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37 · Welcome back 欢迎回来</a:t>
            </a:r>
          </a:p>
          <a:p>
            <a:r>
              <a:t>Goal: welcome a colleague or client back after a trip, holiday or leave: ask about the journey, show interest, say you missed them, bring them up to date, and make them feel part of the team again.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题讲过去的事,请用过去式(was, said, brought)。第 3 题可以说 “I want to know 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Welcome a colleague back from a two-week trip and tell them what happened while they were away.</a:t>
            </a:r>
          </a:p>
          <a:p>
            <a:r>
              <a:t>Say: a warm welcome → questions about the trip → what happened in the office → what you need from them.</a:t>
            </a:r>
          </a:p>
          <a:p>
            <a:r>
              <a:t>Useful starters: “Welcome back!” / “How was your trip?” / “While you were away, …” / “We’re so glad to have you back.”</a:t>
            </a:r>
          </a:p>
          <a:p>
            <a:r>
              <a:t>问旅行用过去式:How was…? Did you enjoy…? 描述你不在时发生的事:While you were away, we…(过去进行/过去式)。</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Welcoming someone back 欢迎归来</a:t>
            </a:r>
          </a:p>
          <a:p>
            <a:r>
              <a:t>领读 → 学员跟读 → 请学员用表达造一个和自己工作相关的句子。</a:t>
            </a:r>
          </a:p>
          <a:p>
            <a:r>
              <a:t>Welcome back! (phrase) 欢迎回来! — “Welcome back! How was your trip?”</a:t>
            </a:r>
          </a:p>
          <a:p>
            <a:r>
              <a:t>It’s good to have you back. (phrase) 你回来真好 — “It’s good to have you back.”</a:t>
            </a:r>
          </a:p>
          <a:p>
            <a:r>
              <a:t>We’ve missed you. (phrase) 我们想你了 — “We’ve missed you. The office wasn’t the same.”</a:t>
            </a:r>
          </a:p>
          <a:p>
            <a:r>
              <a:t>★ You look refreshed / well-rested. (phrase) 你看起来精神焕发 — “You look refreshed. The break did you good.”</a:t>
            </a:r>
          </a:p>
          <a:p>
            <a:r>
              <a:t>★ Did you manage to switch off? (phrase) 你有没有彻底放松? — “Did you manage to switch off completely?”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Asking about the trip 询问旅行</a:t>
            </a:r>
          </a:p>
          <a:p>
            <a:r>
              <a:t>领读 → 学员跟读 → 请学员用表达造一个和自己工作相关的句子。</a:t>
            </a:r>
          </a:p>
          <a:p>
            <a:r>
              <a:t>How was your trip / holiday / flight? (phrase) 你的旅行/假期/航班怎么样? — “How was your holiday in Thailand?”</a:t>
            </a:r>
          </a:p>
          <a:p>
            <a:r>
              <a:t>Did you have a good time? / Did you enjoy yourself? (phrase) 你玩得开心吗? — “Did you enjoy yourself?”</a:t>
            </a:r>
          </a:p>
          <a:p>
            <a:r>
              <a:t>★ What did you get up to? (phrasal verb) 你做了些什么? — “What did you get up to in Bali?”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Asking about the trip 询问旅行</a:t>
            </a:r>
          </a:p>
          <a:p>
            <a:r>
              <a:t>领读 → 学员跟读 → 请学员用表达造一个和自己工作相关的句子。</a:t>
            </a:r>
          </a:p>
          <a:p>
            <a:r>
              <a:t>★ Have you got over your jet lag? (phrase) 你倒过时差了吗? — “Have you got over your jet lag?”</a:t>
            </a:r>
          </a:p>
          <a:p>
            <a:r>
              <a:t>What was the highlight of your trip? (phrase) 旅行中最精彩的部分是什么? — “What was the highlight of your trip?”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Catching up 通报近况</a:t>
            </a:r>
          </a:p>
          <a:p>
            <a:r>
              <a:t>领读 → 学员跟读 → 请学员用表达造一个和自己工作相关的句子。</a:t>
            </a:r>
          </a:p>
          <a:p>
            <a:r>
              <a:t>While you were away, … (phrase) 你不在的时候,…… — “While you were away, we signed a new client.”</a:t>
            </a:r>
          </a:p>
          <a:p>
            <a:r>
              <a:t>★ I’ll fill you in. (phrasal verb) 我来给你讲讲 — “Don’t worry, I’ll fill you in on the details.”</a:t>
            </a:r>
          </a:p>
          <a:p>
            <a:r>
              <a:t>★ Let me bring you up to speed. (idiom) 让我告诉你最新情况 — “Let me bring you up to speed on the project.”</a:t>
            </a:r>
          </a:p>
          <a:p>
            <a:r>
              <a:t>You haven’t missed much. (phrase) 你没错过什么 — “You haven’t missed much. It was fairly quiet.”</a:t>
            </a:r>
          </a:p>
          <a:p>
            <a:r>
              <a:t>★ I bet you’re snowed under. (idiom) 我猜你被工作淹没了 — “I bet you’re snowed under with emails.”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back / up / enjoy / Welcome / speed / snowed</a:t>
            </a:r>
          </a:p>
          <a:p>
            <a:r>
              <a:t>1. _______ back! How was your trip? → Welcome</a:t>
            </a:r>
          </a:p>
          <a:p>
            <a:r>
              <a:t>2. It’s good to have you _______. → back</a:t>
            </a:r>
          </a:p>
          <a:p>
            <a:r>
              <a:t>3. Did you _______ yourself? → enjoy</a:t>
            </a:r>
          </a:p>
          <a:p>
            <a:r>
              <a:t>4. What did you get _______ to in Bali? → up</a:t>
            </a:r>
          </a:p>
          <a:p>
            <a:r>
              <a:t>5. Let me bring you up to _______ on the project. → speed</a:t>
            </a:r>
          </a:p>
          <a:p>
            <a:r>
              <a:t>6. I bet you’re _______ under with emails. → snowed</a:t>
            </a:r>
          </a:p>
          <a:p>
            <a:r>
              <a:t>Mistake Watch (时态与搭配): holiday (UK) / vacation (US), jet lag (two words), refreshed. Past simple for finished trips: “How was your trip?” (not “How is your trip?” after it ended). Get back (return) vs bring back (carry).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Welcoming a colleague back from holiday 欢迎同事休假归来</a:t>
            </a:r>
          </a:p>
          <a:p>
            <a:r>
              <a:t>情景：Sophie returns to the office after two weeks of holiday in Thailand. Her colleague Li Wei greets her.</a:t>
            </a:r>
          </a:p>
          <a:p>
            <a:r>
              <a:t>Role A: Li Wei Role B: Sophie Zhou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Sophie! Welcome back! You look so refreshed.</a:t>
            </a:r>
          </a:p>
          <a:p>
            <a:r>
              <a:t>B (Sophie): Thanks, Li Wei. I feel great. It’s good to be back, though I’m a bit nervous about my inbox.</a:t>
            </a:r>
          </a:p>
          <a:p>
            <a:r>
              <a:t>A: We’ve missed you. How was Thailand?</a:t>
            </a:r>
          </a:p>
          <a:p>
            <a:r>
              <a:t>B: Wonderful. The weather was perfect, and the food was incredible.</a:t>
            </a:r>
          </a:p>
          <a:p>
            <a:r>
              <a:t>A: What did you get up to?</a:t>
            </a:r>
          </a:p>
          <a:p>
            <a:r>
              <a:t>B: Mostly beaches and temples. We also did a cooking class, which was the highlight.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 sounds amazing. Did you manage to switch off completely?</a:t>
            </a:r>
          </a:p>
          <a:p>
            <a:r>
              <a:t>B: Almost. I only checked my email twice.</a:t>
            </a:r>
          </a:p>
          <a:p>
            <a:r>
              <a:t>A: Well done! While you were away, we signed the contract with BlueSea, so that’s good news.</a:t>
            </a:r>
          </a:p>
          <a:p>
            <a:r>
              <a:t>B: Really? That’s great. I bet there’s a lot to catch up on.</a:t>
            </a:r>
          </a:p>
          <a:p>
            <a:r>
              <a:t>A: Don’t worry. I’ll fill you in over coffee. You haven’t missed much besides that.</a:t>
            </a:r>
          </a:p>
          <a:p>
            <a:r>
              <a:t>B: Thanks. You’re a star.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69 | </a:t>
            </a:r>
          </a:p>
          <a:p>
            <a:r>
              <a:t>Situation | A colleague returns from a holiday or trip.</a:t>
            </a:r>
          </a:p>
          <a:p>
            <a:r>
              <a:t>Your role (A) | Welcoming colleague. Warm greeting, 3 questions, 1 piece of news.</a:t>
            </a:r>
          </a:p>
          <a:p>
            <a:r>
              <a:t>Partner’s role (B) | Returning colleague. Tired but happy.</a:t>
            </a:r>
          </a:p>
          <a:p>
            <a:r>
              <a:t>Must use (4 or more) | Welcome back! · It’s good to have you back. · How was…? · What did you get up to? · I’ll fill you in.</a:t>
            </a:r>
          </a:p>
          <a:p>
            <a:r>
              <a:t>Goal | A friendly 90-second chat with follow-up questions and office news.</a:t>
            </a:r>
          </a:p>
          <a:p>
            <a:r>
              <a:t>My notes | ____________________________________________</a:t>
            </a:r>
          </a:p>
          <a:p>
            <a:r>
              <a:t>Your colleague had a bad trip. Say: “Oh no, I’m sorry to hear that. What happened?”</a:t>
            </a:r>
          </a:p>
          <a:p>
            <a:r>
              <a:t>Your colleague is jet-lagged. Say: “Have you got over your jet lag? Take it easy today.”</a:t>
            </a:r>
          </a:p>
          <a:p>
            <a:r>
              <a:t>Give three pieces of news in order of importance.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Welcoming a client back for a second visit 欢迎客户再次来访</a:t>
            </a:r>
          </a:p>
          <a:p>
            <a:r>
              <a:t>情景：A client returns to your company for a follow-up visit six months after the first one.</a:t>
            </a:r>
          </a:p>
          <a:p>
            <a:r>
              <a:t>Role A: Li Wei, host Role B: Mr Anders, client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Mr Anders! Welcome back to Shanghai. It’s wonderful to see you again.</a:t>
            </a:r>
          </a:p>
          <a:p>
            <a:r>
              <a:t>B (Anders): Thank you, Li Wei. It’s good to be back. The city looks different every time.</a:t>
            </a:r>
          </a:p>
          <a:p>
            <a:r>
              <a:t>A: It does. Have you got over your jet lag?</a:t>
            </a:r>
          </a:p>
          <a:p>
            <a:r>
              <a:t>B: Almost. I arrived yesterday, so I had a good night’s sleep.</a:t>
            </a:r>
          </a:p>
          <a:p>
            <a:r>
              <a:t>A: Good. How was the flight?</a:t>
            </a:r>
          </a:p>
          <a:p>
            <a:r>
              <a:t>B: Long, but smooth. I watched two films and slept for four hours.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That’s the best way. Since your last visit, we’ve moved into a new office, so I’ll show you around later.</a:t>
            </a:r>
          </a:p>
          <a:p>
            <a:r>
              <a:t>B: I’d love that. And how’s the team? Is Dan still here?</a:t>
            </a:r>
          </a:p>
          <a:p>
            <a:r>
              <a:t>A: Yes, he’s well. He’s looking forward to seeing you. He’ll join us for lunch.</a:t>
            </a:r>
          </a:p>
          <a:p>
            <a:r>
              <a:t>B: That sounds great. Please give him my regards.</a:t>
            </a:r>
          </a:p>
          <a:p>
            <a:r>
              <a:t>A: I will. Shall we get started? I have a coffee ready for you.</a:t>
            </a:r>
          </a:p>
          <a:p>
            <a:r>
              <a:t>B: Perfect. Thank you for the warm welcome.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70 | </a:t>
            </a:r>
          </a:p>
          <a:p>
            <a:r>
              <a:t>Situation | A client returns for a second visit.</a:t>
            </a:r>
          </a:p>
          <a:p>
            <a:r>
              <a:t>Your role (A) | Host. Remember something personal from the last visit.</a:t>
            </a:r>
          </a:p>
          <a:p>
            <a:r>
              <a:t>Partner’s role (B) | Client. Friendly. Asks about the team.</a:t>
            </a:r>
          </a:p>
          <a:p>
            <a:r>
              <a:t>Must use (3 or more) | Welcome back to… · It’s wonderful to see you again. · Since your last visit, … · Have you got over your jet lag? · Please give my regards to…</a:t>
            </a:r>
          </a:p>
          <a:p>
            <a:r>
              <a:t>Goal | Make the client feel remembered and valued. 90 seconds.</a:t>
            </a:r>
          </a:p>
          <a:p>
            <a:r>
              <a:t>My notes | ____________________________________________</a:t>
            </a:r>
          </a:p>
          <a:p>
            <a:r>
              <a:t>Remember a detail: “Last time you told me about your daughter’s graduation. How did it go?”</a:t>
            </a:r>
          </a:p>
          <a:p>
            <a:r>
              <a:t>Say what has changed since the last visit: “Since your last visit, we’ve launched two new products.”</a:t>
            </a:r>
          </a:p>
          <a:p>
            <a:r>
              <a:t>Offer a small surprise: “I’ve booked a table at the restaurant you enjoyed last time.”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the best way to welcome someone back after a long absence? | “I think a warm greeting and… are the best way.” / “A small gesture such as… helps.”</a:t>
            </a:r>
          </a:p>
          <a:p>
            <a:r>
              <a:t>2. Is it good to talk about holidays at work? Why? | “Yes, it’s a good way to…” / “A little is fine, but…”</a:t>
            </a:r>
          </a:p>
          <a:p>
            <a:r>
              <a:t>3. How do you help a returning colleague catch up quickly? | “I send a short summary of…” / “I meet them for coffee and tell them…”</a:t>
            </a:r>
          </a:p>
          <a:p>
            <a:r>
              <a:t>4. Should a returning colleague start work immediately, or have a slow first day? | “A slow first day is better because…” / “It depends on the workload.”</a:t>
            </a:r>
          </a:p>
          <a:p>
            <a:r>
              <a:t>5. How can a company make people feel welcome after parental leave or sick leave? | “They can offer a flexible schedule.” / “A buddy system helps.”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the best way is to send a short summary of the main news before they return, and then to meet them for coffee on the first day. The summary should include the three most important things they need to know: the projects, the people, and the deadlines. After that, I let them settle in. It’s important not to overwhelm them on the first day.”</a:t>
            </a:r>
          </a:p>
          <a:p>
            <a:r>
              <a:t>“settle in”(适应)、“overwhelm”(使不堪重负)都是 B2 词汇。“the main news… before they return” 注意 before 后用现在时。</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language: welcoming back 欢迎归来用语</a:t>
            </a:r>
          </a:p>
          <a:p>
            <a:r>
              <a:t>Function | Say this</a:t>
            </a:r>
          </a:p>
          <a:p>
            <a:r>
              <a:t>Welcome | Welcome back! / It’s good to have you back.</a:t>
            </a:r>
          </a:p>
          <a:p>
            <a:r>
              <a:t>Show you missed them | We’ve missed you. / The office wasn’t the same without you.</a:t>
            </a:r>
          </a:p>
          <a:p>
            <a:r>
              <a:t>Ask | How was your trip? / Did you enjoy yourself? / What did you get up to? ★</a:t>
            </a:r>
          </a:p>
          <a:p>
            <a:r>
              <a:t>Comment | You look refreshed. ★ / That sounds amazing.</a:t>
            </a:r>
          </a:p>
          <a:p>
            <a:r>
              <a:t>Catch up | While you were away, … / Let me bring you up to speed. ★ / I’ll fill you in. ★</a:t>
            </a:r>
          </a:p>
          <a:p>
            <a:r>
              <a:t>Sympathize | I bet you’re snowed under. ★ / Don’t worry, there’s no rush.</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Asking about a trip: tenses 询问旅行的时态</a:t>
            </a:r>
          </a:p>
          <a:p>
            <a:r>
              <a:t>Situation | Question | Why</a:t>
            </a:r>
          </a:p>
          <a:p>
            <a:r>
              <a:t>The trip is finished | How was your trip? | past simple</a:t>
            </a:r>
          </a:p>
          <a:p>
            <a:r>
              <a:t>Still on the trip | How is your trip going? | present continuous</a:t>
            </a:r>
          </a:p>
          <a:p>
            <a:r>
              <a:t>Planning the trip | Are you going anywhere nice? | future / plan</a:t>
            </a:r>
          </a:p>
          <a:p>
            <a:r>
              <a:t>Result matters now | Have you got over your jet lag? | present perfect</a:t>
            </a:r>
          </a:p>
          <a:p>
            <a:r>
              <a:t>Before they left | Did you have a good time? | past simple</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Asking about a trip: tenses 询问旅行的时态</a:t>
            </a:r>
          </a:p>
          <a:p>
            <a:r>
              <a:t>Holiday (UK) / vacation (US): “Did you have a good holiday?” / “How was your vacation?” Both are fine.</a:t>
            </a:r>
          </a:p>
          <a:p>
            <a:r>
              <a:t>Echo questions: “How was your trip?” — “Great. And you? Did you take any time off?”</a:t>
            </a:r>
          </a:p>
          <a:p>
            <a:r>
              <a:t>While you were away: past simple or past continuous: “While you were away, we signed the contract. We were working on it for weeks.”</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Welcome you back!  →  ✓ Welcome back! / It’s good to have you back.  (固定短语)</a:t>
            </a:r>
          </a:p>
          <a:p>
            <a:r>
              <a:t>✗ How is your holiday? (after it ended)  →  ✓ How was your holiday?  (假期结束了 → 过去式)</a:t>
            </a:r>
          </a:p>
          <a:p>
            <a:r>
              <a:t>✗ You have gone to Thailand?  →  ✓ Did you go to Thailand? / Did you have a good time in Thailand?  (提问用 did)</a:t>
            </a:r>
          </a:p>
          <a:p>
            <a:r>
              <a:t>✗ Did you enjoy?  →  ✓ Did you enjoy yourself? / Did you enjoy the trip?  (enjoy 需要宾语)</a:t>
            </a:r>
          </a:p>
          <a:p>
            <a:r>
              <a:t>✗ You must be very tired? (question)  →  ✓ You must be tired. Did you get any sleep?  (must be 表示推测)</a:t>
            </a:r>
          </a:p>
          <a:p>
            <a:r>
              <a:t>Mistake Watch: How was your trip? (past), Did you enjoy yourself?, What did you get up to?, jet lag (two words).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missed you so much.  →  ✓ We’ve missed you. / It’s good to see you.  (英语口语不强调 so much)</a:t>
            </a:r>
          </a:p>
          <a:p>
            <a:r>
              <a:t>✗ You look fat/thin.  →  ✓ You look well. / You look refreshed.  (不要评论体形)</a:t>
            </a:r>
          </a:p>
          <a:p>
            <a:r>
              <a:t>✗ What did you get up?  →  ✓ What did you get up to?  (get up to 固定搭配)</a:t>
            </a:r>
          </a:p>
          <a:p>
            <a:r>
              <a:t>✗ jetlag / vacasion  →  ✓ jet lag / vacation  (拼写)</a:t>
            </a:r>
          </a:p>
          <a:p>
            <a:r>
              <a:t>✗ Did you buy me a gift?  →  ✓ Did you manage to see anything interesting?  (不要主动要礼物)</a:t>
            </a:r>
          </a:p>
          <a:p>
            <a:r>
              <a:t>Mistake Watch: How was your trip? (past), Did you enjoy yourself?, What did you get up to?, jet lag (two words).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Bring a souvenir? In China, bringing back small gifts for colleagues is common. In the UK/US, it is nice but not expected. Sweets to share in the office are a simple, popular gesture.</a:t>
            </a:r>
          </a:p>
          <a:p>
            <a:r>
              <a:t>Don’t comment on body shape. “You look fat/thin” or “You got darker” can offend. Say “You look well/relaxed.”</a:t>
            </a:r>
          </a:p>
          <a:p>
            <a:r>
              <a:t>Keep it brief at the desk. A few minutes of trip talk is enough. Save longer stories for lunch.</a:t>
            </a:r>
          </a:p>
          <a:p>
            <a:r>
              <a:t>Respect privacy after sick or parental leave. Don’t ask for medical details. Say “I’m glad you’re back. Let me know if I can help.”</a:t>
            </a:r>
          </a:p>
          <a:p>
            <a:r>
              <a:t>Photos: Showing a few photos is fine; scrolling through hundreds is not.</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welcome someone back warmly (Welcome back! It’s good to have you back.).</a:t>
            </a:r>
          </a:p>
          <a:p>
            <a:r>
              <a:t>I can ask about a trip or holiday using the past simple (How was…? Did you enjoy yourself?).</a:t>
            </a:r>
          </a:p>
          <a:p>
            <a:r>
              <a:t>I can tell someone what happened while they were away (While you were away, … I’ll fill you in.).</a:t>
            </a:r>
          </a:p>
          <a:p>
            <a:r>
              <a:t>I can make a returning client feel remembered (Since your last visit, … Please give my regards to…).</a:t>
            </a:r>
          </a:p>
          <a:p>
            <a:r>
              <a:t>I can use How was…?, enjoy yourself and get up to correctly.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past simple for finished trips, enjoy yourself, get up to, and kind comments (not about weight).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38 · Back in the office 回到办公室</a:t>
            </a:r>
          </a:p>
          <a:p>
            <a:r>
              <a:t>Goal: settle back into work after time away: ask for a hand-over, find out what changed, prioritize tasks, thank those who covered for you, ask for help with a backlog, and get back into the swing of things.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题讲过去的事,请用过去式(covered, thanked, said)。第 2 题可以说 “The first thing I do is…”。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your first day back at work after two weeks away and how you manage your workload.</a:t>
            </a:r>
          </a:p>
          <a:p>
            <a:r>
              <a:t>Say: first impressions → what you do first (emails, meetings) → how you prioritize → who helps → how you feel at the end of the day.</a:t>
            </a:r>
          </a:p>
          <a:p>
            <a:r>
              <a:t>Useful starters: “The first thing I do is…” / “I start by checking…” / “I prioritize by…” / “I’m grateful to…, who covered for me.”</a:t>
            </a:r>
          </a:p>
          <a:p>
            <a:r>
              <a:t>排序用 first, then, after that。优先级:urgent / important / can wait。感谢同事帮忙:Thank you for covering for me.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Catching up with the team 了解近况</a:t>
            </a:r>
          </a:p>
          <a:p>
            <a:r>
              <a:t>领读 → 学员跟读 → 请学员用表达造一个和自己工作相关的句子。</a:t>
            </a:r>
          </a:p>
          <a:p>
            <a:r>
              <a:t>What did I miss? (phrase) 我错过了什么? — “Hi, I’m back. What did I miss?”</a:t>
            </a:r>
          </a:p>
          <a:p>
            <a:r>
              <a:t>Has anything changed while I was away? (phrase) 我不在的时候有变化吗? — “Has anything changed while I was away?”</a:t>
            </a:r>
          </a:p>
          <a:p>
            <a:r>
              <a:t>★ Who’s been covering for me? (phrase) 谁一直在替我的班? — “Who’s been covering for me while I was out?”</a:t>
            </a:r>
          </a:p>
          <a:p>
            <a:r>
              <a:t>★ Could you give me a quick hand-over? (phrase) 你能给我简单交接一下吗? — “Could you give me a quick hand-over on the project?”</a:t>
            </a:r>
          </a:p>
          <a:p>
            <a:r>
              <a:t>Could you forward me the important emails? (phrase) 你能把重要邮件转发给我吗? — “Could you forward me the important emails?”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Managing the workload 处理工作量</a:t>
            </a:r>
          </a:p>
          <a:p>
            <a:r>
              <a:t>领读 → 学员跟读 → 请学员用表达造一个和自己工作相关的句子。</a:t>
            </a:r>
          </a:p>
          <a:p>
            <a:r>
              <a:t>I’ve got a lot of catching up to do. (phrase) 我有很多事要补上 — “I’ve got a lot of catching up to do.”</a:t>
            </a:r>
          </a:p>
          <a:p>
            <a:r>
              <a:t>★ I’m snowed under. (idiom) 我被工作淹没了 — “Sorry, I’m snowed under this week.”</a:t>
            </a:r>
          </a:p>
          <a:p>
            <a:r>
              <a:t>★ I need to work through my backlog. (phrase) 我得处理积压的工作 — “I need to work through my backlog of emails first.”</a:t>
            </a:r>
          </a:p>
          <a:p>
            <a:r>
              <a:t>What’s the priority? / What’s most urgent? (phrase) 什么最优先?/最紧急? — “What’s the most urgent thing on my list?”</a:t>
            </a:r>
          </a:p>
          <a:p>
            <a:r>
              <a:t>★ Let me get back into the swing of things. (idiom) 让我重新进入工作状态 — “Give me a day to get back into the swing of things.”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Thanking and asking for help 感谢与求助</a:t>
            </a:r>
          </a:p>
          <a:p>
            <a:r>
              <a:t>领读 → 学员跟读 → 请学员用表达造一个和自己工作相关的句子。</a:t>
            </a:r>
          </a:p>
          <a:p>
            <a:r>
              <a:t>Thank you for covering for me. (phrase) 谢谢你替我顶班 — “Thank you for covering for me. I really appreciate it.”</a:t>
            </a:r>
          </a:p>
          <a:p>
            <a:r>
              <a:t>★ I owe you one. (idiom) 我欠你一个人情 — “You saved me. I owe you one.”</a:t>
            </a:r>
          </a:p>
          <a:p>
            <a:r>
              <a:t>Could you give me a hand with…? (phrase) 你能帮我……吗? — “Could you give me a hand with these reports?”</a:t>
            </a:r>
          </a:p>
          <a:p>
            <a:r>
              <a:t>Let’s schedule a catch-up meeting. (phrase) 我们约个碰头会吧 — “Let’s schedule a catch-up meeting for tomorrow.”</a:t>
            </a:r>
          </a:p>
          <a:p>
            <a:r>
              <a:t>★ I’ll be up to speed by Friday. (phrase) 周五前我就能跟上进度 — “I’ll be up to speed by Friday.”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covering / miss / up / owe / backlog / schedule</a:t>
            </a:r>
          </a:p>
          <a:p>
            <a:r>
              <a:t>1. Hi, I’m back. What did I _______? → miss</a:t>
            </a:r>
          </a:p>
          <a:p>
            <a:r>
              <a:t>2. Who’s been _______ for me while I was out? → covering</a:t>
            </a:r>
          </a:p>
          <a:p>
            <a:r>
              <a:t>3. I’ve got a lot of catching _______ to do. → up</a:t>
            </a:r>
          </a:p>
          <a:p>
            <a:r>
              <a:t>4. I need to work through my _______ of emails. → backlog</a:t>
            </a:r>
          </a:p>
          <a:p>
            <a:r>
              <a:t>5. Thank you for covering for me. I _______ you one. → owe</a:t>
            </a:r>
          </a:p>
          <a:p>
            <a:r>
              <a:t>6. Let’s _______ a catch-up meeting for tomorrow. → schedule</a:t>
            </a:r>
          </a:p>
          <a:p>
            <a:r>
              <a:t>Mistake Watch (搭配与拼写): backlog (one word), schedule, priority (not “pirority”), catch-up (noun, hyphen) vs catch up (verb). Cover for a person; cover a task.</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Getting up to speed with a colleague 向同事了解最新情况</a:t>
            </a:r>
          </a:p>
          <a:p>
            <a:r>
              <a:t>情景：You are back at work after two weeks. You talk to your colleague Dan to find out what happened.</a:t>
            </a:r>
          </a:p>
          <a:p>
            <a:r>
              <a:t>Role A: Li Wei (returning) Role B: Dan Hughes (covered for her)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Morning, Dan. I’m back! What did I miss?</a:t>
            </a:r>
          </a:p>
          <a:p>
            <a:r>
              <a:t>B (Dan): Welcome back! Quite a lot, actually. How was the holiday?</a:t>
            </a:r>
          </a:p>
          <a:p>
            <a:r>
              <a:t>A: Great, thanks. But I’m already snowed under. I’ve got about 400 emails.</a:t>
            </a:r>
          </a:p>
          <a:p>
            <a:r>
              <a:t>B: Ouch. Let me bring you up to speed on the important stuff. The BlueSea contract was signed, and the client meeting is on Thursday.</a:t>
            </a:r>
          </a:p>
          <a:p>
            <a:r>
              <a:t>A: Thanks. Who’s been covering for me with the suppliers?</a:t>
            </a:r>
          </a:p>
          <a:p>
            <a:r>
              <a:t>B: I have, and Sophie took the customer calls.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Thank you for covering for me. I owe you one.</a:t>
            </a:r>
          </a:p>
          <a:p>
            <a:r>
              <a:t>B: No problem. Here’s a hand-over note. The urgent items are at the top.</a:t>
            </a:r>
          </a:p>
          <a:p>
            <a:r>
              <a:t>A: That’s really helpful. Could you forward me the emails from BlueSea?</a:t>
            </a:r>
          </a:p>
          <a:p>
            <a:r>
              <a:t>B: Already done. Shall we schedule a catch-up meeting this afternoon?</a:t>
            </a:r>
          </a:p>
          <a:p>
            <a:r>
              <a:t>A: Yes, let’s say three o’clock. I should be up to speed by then.</a:t>
            </a:r>
          </a:p>
          <a:p>
            <a:r>
              <a:t>B: Great. See you at three.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71 | </a:t>
            </a:r>
          </a:p>
          <a:p>
            <a:r>
              <a:t>Situation | You are back from leave and need to catch up.</a:t>
            </a:r>
          </a:p>
          <a:p>
            <a:r>
              <a:t>Your role (A) | Returning employee. Ask what happened and what’s urgent.</a:t>
            </a:r>
          </a:p>
          <a:p>
            <a:r>
              <a:t>Partner’s role (B) | Colleague who covered. Gives you a short summary.</a:t>
            </a:r>
          </a:p>
          <a:p>
            <a:r>
              <a:t>Must use (4 or more) | What did I miss? · Who’s been covering for me? · hand-over · Thank you for covering for me. · catch-up meeting</a:t>
            </a:r>
          </a:p>
          <a:p>
            <a:r>
              <a:t>Goal | Find out the top 3 priorities and agree on a follow-up meeting.</a:t>
            </a:r>
          </a:p>
          <a:p>
            <a:r>
              <a:t>My notes | ____________________________________________</a:t>
            </a:r>
          </a:p>
          <a:p>
            <a:r>
              <a:t>You discover an urgent problem. Say: “I’m afraid I’ll need to deal with this first. Can we catch up later?”</a:t>
            </a:r>
          </a:p>
          <a:p>
            <a:r>
              <a:t>You need help. Say: “Could you give me a hand with the supplier report?”</a:t>
            </a:r>
          </a:p>
          <a:p>
            <a:r>
              <a:t>Say what you will do by when: “I’ll be up to speed by Friday.”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Prioritizing with your manager 与经理确定优先级</a:t>
            </a:r>
          </a:p>
          <a:p>
            <a:r>
              <a:t>情景：You ask your manager what to do first, because you have too many tasks.</a:t>
            </a:r>
          </a:p>
          <a:p>
            <a:r>
              <a:t>Role A: Li Wei Role B: Sophie Zhou,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Sophie, do you have a minute? I’ve got a lot of catching up to do, and I’d like to check the priorities.</a:t>
            </a:r>
          </a:p>
          <a:p>
            <a:r>
              <a:t>B (Sophie): Of course. What have you got on your list?</a:t>
            </a:r>
          </a:p>
          <a:p>
            <a:r>
              <a:t>A: A report for Thursday, the BlueSea contract follow-up, 400 emails and a client visit on Friday.</a:t>
            </a:r>
          </a:p>
          <a:p>
            <a:r>
              <a:t>B: Let’s see. The client visit is the most important. The report can wait until Thursday afternoon.</a:t>
            </a:r>
          </a:p>
          <a:p>
            <a:r>
              <a:t>A: And the emails?</a:t>
            </a:r>
          </a:p>
          <a:p>
            <a:r>
              <a:t>B: Only reply to the urgent ones today. The rest can wait until Wednesday.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OK. I’ll set aside two hours this afternoon for the contract. Is that realistic?</a:t>
            </a:r>
          </a:p>
          <a:p>
            <a:r>
              <a:t>B: I think so. If you need help, ask Dan.</a:t>
            </a:r>
          </a:p>
          <a:p>
            <a:r>
              <a:t>A: I will. I’ll let you know by tomorrow how it’s going.</a:t>
            </a:r>
          </a:p>
          <a:p>
            <a:r>
              <a:t>B: Good. Welcome back, by the way.</a:t>
            </a:r>
          </a:p>
          <a:p>
            <a:r>
              <a:t>A: Thanks. I’m glad to be back.</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72 | </a:t>
            </a:r>
          </a:p>
          <a:p>
            <a:r>
              <a:t>Situation | You have too many tasks after a break.</a:t>
            </a:r>
          </a:p>
          <a:p>
            <a:r>
              <a:t>Your role (A) | Employee. List tasks and ask for priorities.</a:t>
            </a:r>
          </a:p>
          <a:p>
            <a:r>
              <a:t>Partner’s role (B) | Manager. Helps you decide what is urgent.</a:t>
            </a:r>
          </a:p>
          <a:p>
            <a:r>
              <a:t>Must use (3 or more) | I’d like to check the priorities. · What’s most urgent? · can wait until… · I’ll set aside… · I’ll let you know.</a:t>
            </a:r>
          </a:p>
          <a:p>
            <a:r>
              <a:t>Goal | Agree on an order of tasks and a time plan.</a:t>
            </a:r>
          </a:p>
          <a:p>
            <a:r>
              <a:t>My notes | ____________________________________________</a:t>
            </a:r>
          </a:p>
          <a:p>
            <a:r>
              <a:t>The manager gives a new task. Say: “I can do that, but then I’d need to move the report. Is that OK?”</a:t>
            </a:r>
          </a:p>
          <a:p>
            <a:r>
              <a:t>Say “no” politely: “I’m afraid I can’t take that on this week. Could it wait until Monday?”</a:t>
            </a:r>
          </a:p>
          <a:p>
            <a:r>
              <a:t>Explain your plan in 3 steps.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the best way to start the first day back at work? | “I think the best way is to…” / “I would first…”</a:t>
            </a:r>
          </a:p>
          <a:p>
            <a:r>
              <a:t>2. How do you handle a long list of emails after a holiday? | “I sort them by…” / “I skim the subject lines and…”</a:t>
            </a:r>
          </a:p>
          <a:p>
            <a:r>
              <a:t>3. How should a team cover for someone who is away? | “They should share the tasks and…” / “A hand-over note helps.”</a:t>
            </a:r>
          </a:p>
          <a:p>
            <a:r>
              <a:t>4. How do you say no politely when you are overloaded? | “I say ‘I’m afraid I can’t take that on this week.’” / “I offer another date.”</a:t>
            </a:r>
          </a:p>
          <a:p>
            <a:r>
              <a:t>5. Do you think people should check emails during holidays? | “No, rest is important.” / “Only for emergencies.”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sort my emails into three groups: urgent, important, and can wait. First, I check for emails from my manager and key clients. Then I answer the urgent ones. Everything else I look at later in the day. If there are more than 100 emails, I skim the subject lines first. I also ask a colleague,”Is there anything I need to know?” It saves a lot of time.”</a:t>
            </a:r>
          </a:p>
          <a:p>
            <a:r>
              <a:t>“skim the subject lines”(快速浏览主题行),“can wait”(可以等)。“It saves a lot of time.” 是简洁的总结句。</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language: back in the office 回到办公室用语</a:t>
            </a:r>
          </a:p>
          <a:p>
            <a:r>
              <a:t>Function | Say this</a:t>
            </a:r>
          </a:p>
          <a:p>
            <a:r>
              <a:t>Ask | What did I miss? / Has anything changed while I was away?</a:t>
            </a:r>
          </a:p>
          <a:p>
            <a:r>
              <a:t>Cover | Who’s been covering for me? ★ / Thank you for covering for me.</a:t>
            </a:r>
          </a:p>
          <a:p>
            <a:r>
              <a:t>Hand-over | Could you give me a quick hand-over? ★</a:t>
            </a:r>
          </a:p>
          <a:p>
            <a:r>
              <a:t>Workload | I’ve got a lot of catching up to do. / I’m snowed under. ★</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language: back in the office 回到办公室用语</a:t>
            </a:r>
          </a:p>
          <a:p>
            <a:r>
              <a:t>Function | Say this</a:t>
            </a:r>
          </a:p>
          <a:p>
            <a:r>
              <a:t>Priority | What’s the most urgent? / What can wait?</a:t>
            </a:r>
          </a:p>
          <a:p>
            <a:r>
              <a:t>Plan | I’ll set aside two hours for… / I’ll be up to speed by Friday. ★</a:t>
            </a:r>
          </a:p>
          <a:p>
            <a:r>
              <a:t>Thanks | I owe you one. ★ / I really appreciate it.</a:t>
            </a:r>
          </a:p>
          <a:p>
            <a:r>
              <a:t>Help | Could you give me a hand with…?</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Prioritizing: the urgent-important rule 优先级排序</a:t>
            </a:r>
          </a:p>
          <a:p>
            <a:r>
              <a:t> | Urgent | Not urgent</a:t>
            </a:r>
          </a:p>
          <a:p>
            <a:r>
              <a:t>Important | Do it now (client visit) | Plan it (long-term project)</a:t>
            </a:r>
          </a:p>
          <a:p>
            <a:r>
              <a:t>Not important | Delegate it (small request) | Delete or leave (junk email)</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Prioritizing: the urgent-important rule 优先级排序</a:t>
            </a:r>
          </a:p>
          <a:p>
            <a:r>
              <a:t>Useful phrases: “That’s top priority.” / “That can wait until next week.” / “Let’s focus on the essentials first.” ★</a:t>
            </a:r>
          </a:p>
          <a:p>
            <a:r>
              <a:t>Say no politely: “I’m afraid I can’t take that on this week.” ★ “Could we look at it on Monday?”</a:t>
            </a:r>
          </a:p>
          <a:p>
            <a:r>
              <a:t>Phrasal verbs: catch up (reach the same level), get through (finish), set aside (reserve time), take on (accept work), hand over (give responsibility to someone), cover for (do someone’s job).</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have many works to do.  →  ✓ I have a lot of work to do.  (work 不可数)</a:t>
            </a:r>
          </a:p>
          <a:p>
            <a:r>
              <a:t>✗ I am very busy to catch up.  →  ✓ I’m very busy catching up.  (be busy + -ing)</a:t>
            </a:r>
          </a:p>
          <a:p>
            <a:r>
              <a:t>✗ Who is helping me?  →  ✓ Who’s been covering for me?  (现在完成进行时)</a:t>
            </a:r>
          </a:p>
          <a:p>
            <a:r>
              <a:t>✗ I catch up with the email now.  →  ✓ I’m catching up on my emails.  (catch up on sth / with sb)</a:t>
            </a:r>
          </a:p>
          <a:p>
            <a:r>
              <a:t>✗ I’m busy in the emails.  →  ✓ I’m busy with the emails. / I’m snowed under.  (busy with)</a:t>
            </a:r>
          </a:p>
          <a:p>
            <a:r>
              <a:t>Mistake Watch: a lot of work (uncountable), busy + -ing / busy with, catch up on sth, thank you for + -ing.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Thank you for your help me.  →  ✓ Thank you for helping me. / Thank you for covering for me.  (for + -ing)</a:t>
            </a:r>
          </a:p>
          <a:p>
            <a:r>
              <a:t>✗ Please help me to do this.  →  ✓ Could you give me a hand with this?  (口语更自然)</a:t>
            </a:r>
          </a:p>
          <a:p>
            <a:r>
              <a:t>✗ I must to finish it.  →  ✓ I have to finish it. / I must finish it.  (must 后原形)</a:t>
            </a:r>
          </a:p>
          <a:p>
            <a:r>
              <a:t>✗ I will busy this week.  →  ✓ I’ll be busy this week.  (will be)</a:t>
            </a:r>
          </a:p>
          <a:p>
            <a:r>
              <a:t>✗ backlock / pirority  →  ✓ backlog / priority  (拼写)</a:t>
            </a:r>
          </a:p>
          <a:p>
            <a:r>
              <a:t>Mistake Watch: a lot of work (uncountable), busy + -ing / busy with, catch up on sth, thank you for + -ing.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Don’t expect full speed on day one. Many companies allow a slow first day or half-day. It’s fine to say “I’m still catching up.”</a:t>
            </a:r>
          </a:p>
          <a:p>
            <a:r>
              <a:t>Be honest about your workload. Western managers prefer “I can’t do all of this by Friday” to silent overwork. Always propose an alternative.</a:t>
            </a:r>
          </a:p>
          <a:p>
            <a:r>
              <a:t>Thank people who covered for you, in person or by email. A small gift (coffee, chocolates) is a friendly gesture.</a:t>
            </a:r>
          </a:p>
          <a:p>
            <a:r>
              <a:t>Hand-over notes are standard. Use a short list: what’s urgent, who to contact, where the files are.</a:t>
            </a:r>
          </a:p>
          <a:p>
            <a:r>
              <a:t>Out-of-office messages: Use them. “I’m out of the office until 12 October. For urgent matters, contact Dan Hughes.”</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find out what happened while I was away (What did I miss? Has anything changed?).</a:t>
            </a:r>
          </a:p>
          <a:p>
            <a:r>
              <a:t>I can ask for and give a hand-over (Could you give me a quick hand-over?).</a:t>
            </a:r>
          </a:p>
          <a:p>
            <a:r>
              <a:t>I can describe my workload and ask for priorities (I’ve got a lot of catching up to do. What’s the most urgent?).</a:t>
            </a:r>
          </a:p>
          <a:p>
            <a:r>
              <a:t>I can thank people (Thank you for covering for me. I owe you one.).</a:t>
            </a:r>
          </a:p>
          <a:p>
            <a:r>
              <a:t>I can use a lot of work, busy + -ing, catch up on and thank you for + -ing correctly.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work (uncountable), busy + -ing, catch up on, thank you for + -ing, and spelling (backlog, priority).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39 · Organizing an event 组织活动</a:t>
            </a:r>
          </a:p>
          <a:p>
            <a:r>
              <a:t>Goal: plan and organize a business event (a client dinner, a training day, a team party): decide the purpose, date, venue, budget, guest list and schedule, share tasks, check progress and solve problems.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题讲过去的事,请用过去式(went wrong, happened, forgot)。第 2 题可以说 “First, I decide…”。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you would organize a client appreciation dinner for 40 people.</a:t>
            </a:r>
          </a:p>
          <a:p>
            <a:r>
              <a:t>Say: purpose and date → venue and budget → invitations and guest list → schedule on the day → who does what.</a:t>
            </a:r>
          </a:p>
          <a:p>
            <a:r>
              <a:t>Useful starters: “The purpose of the event is…” / “We need to book…” / “The budget is…” / “I’ll take care of…”</a:t>
            </a:r>
          </a:p>
          <a:p>
            <a:r>
              <a:t>计划用 will / be going to / need to + 动词。分工:I’ll take care of the venue. Dan is in charge of invitations。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Setting goals and basics 确定目标与基本信息</a:t>
            </a:r>
          </a:p>
          <a:p>
            <a:r>
              <a:t>领读 → 学员跟读 → 请学员用表达造一个和自己工作相关的句子。</a:t>
            </a:r>
          </a:p>
          <a:p>
            <a:r>
              <a:t>What’s the purpose of the event? (phrase) 活动的目的是什么? — “What’s the purpose of the event? Is it to thank clients or to sell?”</a:t>
            </a:r>
          </a:p>
          <a:p>
            <a:r>
              <a:t>We’re planning to hold… (phrase) 我们计划举办…… — “We’re planning to hold a dinner for 40 clients in November.”</a:t>
            </a:r>
          </a:p>
          <a:p>
            <a:r>
              <a:t>What’s our budget? (phrase) 我们的预算是多少? — “What’s our budget for the dinner?”</a:t>
            </a:r>
          </a:p>
          <a:p>
            <a:r>
              <a:t>★ Let’s aim for around 40 guests. (phrase) 我们的目标大约 40 位嘉宾 — “Let’s aim for around 40 guests.”</a:t>
            </a:r>
          </a:p>
          <a:p>
            <a:r>
              <a:t>★ We need a ballpark figure. (idiom) 我们需要一个大概的数字 — “We need a ballpark figure for the total cost.”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Arranging details 安排细节</a:t>
            </a:r>
          </a:p>
          <a:p>
            <a:r>
              <a:t>领读 → 学员跟读 → 请学员用表达造一个和自己工作相关的句子。</a:t>
            </a:r>
          </a:p>
          <a:p>
            <a:r>
              <a:t>We need to book a venue / caterer. (phrase) 我们需要订场地/餐饮 — “We need to book a venue by the end of the week.”</a:t>
            </a:r>
          </a:p>
          <a:p>
            <a:r>
              <a:t>Who’s in charge of invitations? (phrase) 谁负责邀请函? — “Who’s in charge of invitations?”</a:t>
            </a:r>
          </a:p>
          <a:p>
            <a:r>
              <a:t>★ Let’s draw up a guest list. (phrasal verb) 我们列一份嘉宾名单 — “Let’s draw up a guest list by Monday.”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Arranging details 安排细节</a:t>
            </a:r>
          </a:p>
          <a:p>
            <a:r>
              <a:t>领读 → 学员跟读 → 请学员用表达造一个和自己工作相关的句子。</a:t>
            </a:r>
          </a:p>
          <a:p>
            <a:r>
              <a:t>I’ll take care of the catering. (phrase) 餐饮我来负责 — “I’ll take care of the catering.”</a:t>
            </a:r>
          </a:p>
          <a:p>
            <a:r>
              <a:t>★ We should send out the invitations well in advance. (phrase) 我们应该提前很久发邀请 — “We should send out the invitations well in advance.”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Checking and solving problems 检查进度与解决问题</a:t>
            </a:r>
          </a:p>
          <a:p>
            <a:r>
              <a:t>领读 → 学员跟读 → 请学员用表达造一个和自己工作相关的句子。</a:t>
            </a:r>
          </a:p>
          <a:p>
            <a:r>
              <a:t>How are we doing on…? (phrase) ……进展如何? — “How are we doing on the guest list?”</a:t>
            </a:r>
          </a:p>
          <a:p>
            <a:r>
              <a:t>★ We’re on track. / We’re a bit behind. (phrase) 我们进度正常/稍有落后 — “We’re on track for the 20th.”</a:t>
            </a:r>
          </a:p>
          <a:p>
            <a:r>
              <a:t>★ We need a contingency plan. (phrase) 我们需要一个应急方案 — “We need a contingency plan in case it rains.”</a:t>
            </a:r>
          </a:p>
          <a:p>
            <a:r>
              <a:t>Let’s make a checklist. (phrase) 我们列个清单 — “Let’s make a checklist of everything we need.”</a:t>
            </a:r>
          </a:p>
          <a:p>
            <a:r>
              <a:t>★ Let’s keep within budget. (phrase) 我们要控制在预算内 — “Let’s keep within budget, please.”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within / contingency / purpose / list / charge / hold</a:t>
            </a:r>
          </a:p>
          <a:p>
            <a:r>
              <a:t>1. What’s the _______ of the event? → purpose</a:t>
            </a:r>
          </a:p>
          <a:p>
            <a:r>
              <a:t>2. We’re planning to _______ a dinner for 40 clients. → hold</a:t>
            </a:r>
          </a:p>
          <a:p>
            <a:r>
              <a:t>3. Who’s in _______ of invitations? → charge</a:t>
            </a:r>
          </a:p>
          <a:p>
            <a:r>
              <a:t>4. Let’s draw up a guest _______. → list</a:t>
            </a:r>
          </a:p>
          <a:p>
            <a:r>
              <a:t>5. We need a _______ plan in case it rains. → contingency</a:t>
            </a:r>
          </a:p>
          <a:p>
            <a:r>
              <a:t>6. Let’s keep _______ budget. → within</a:t>
            </a:r>
          </a:p>
          <a:p>
            <a:r>
              <a:t>Mistake Watch (搭配与拼写): organize (UK also organise), budget, catering, venue, contingency. Hold / host / organize an event (not “do an event”); book a venue; send out invitations.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Planning an event meeting 策划会议</a:t>
            </a:r>
          </a:p>
          <a:p>
            <a:r>
              <a:t>情景：Your team plans a client appreciation dinner for 40 people. You hold a short planning meeting.</a:t>
            </a:r>
          </a:p>
          <a:p>
            <a:r>
              <a:t>Role A: Li Wei, event leader Role B: Dan Hughes Role C: Sophie Zhou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Thanks for coming. As you know, we’re planning to hold a client dinner in December. First question: what’s the purpose?</a:t>
            </a:r>
          </a:p>
          <a:p>
            <a:r>
              <a:t>B (Dan): To say thank you to our top clients and to introduce the new product range.</a:t>
            </a:r>
          </a:p>
          <a:p>
            <a:r>
              <a:t>A: Good. And how many guests? Let’s aim for around 40.</a:t>
            </a:r>
          </a:p>
          <a:p>
            <a:r>
              <a:t>C (Sophie): The budget is 80,000 yuan. That’s about 2,000 per person, including drinks.</a:t>
            </a:r>
          </a:p>
          <a:p>
            <a:r>
              <a:t>A: That’s workable. We need a venue for 40. Dan, can you take care of that?</a:t>
            </a:r>
          </a:p>
          <a:p>
            <a:r>
              <a:t>B: Sure. I’ll get three quotes by Friday.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Sophie, could you draw up the guest list?</a:t>
            </a:r>
          </a:p>
          <a:p>
            <a:r>
              <a:t>C: Yes. And I’ll send out the invitations well in advance, probably by 20 November.</a:t>
            </a:r>
          </a:p>
          <a:p>
            <a:r>
              <a:t>A: Good. Who’s in charge of the programme?</a:t>
            </a:r>
          </a:p>
          <a:p>
            <a:r>
              <a:t>B: I’ll do it. I’ll start with a short welcome, then dinner, then a short product presentation.</a:t>
            </a:r>
          </a:p>
          <a:p>
            <a:r>
              <a:t>A: Let’s make a checklist and meet again on Friday to see how we’re doing.</a:t>
            </a:r>
          </a:p>
          <a:p>
            <a:r>
              <a:t>C: Agreed.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73 | </a:t>
            </a:r>
          </a:p>
          <a:p>
            <a:r>
              <a:t>Situation | Plan a client or team event.</a:t>
            </a:r>
          </a:p>
          <a:p>
            <a:r>
              <a:t>Your role (A) | Event leader. Ask questions, assign tasks, set deadlines.</a:t>
            </a:r>
          </a:p>
          <a:p>
            <a:r>
              <a:t>Partners (B, C) | Team members. Give ideas and take tasks.</a:t>
            </a:r>
          </a:p>
          <a:p>
            <a:r>
              <a:t>Must use (4 or more) | What’s the purpose of…? · Let’s aim for… · Who’s in charge of…? · I’ll take care of… · How are we doing on…?</a:t>
            </a:r>
          </a:p>
          <a:p>
            <a:r>
              <a:t>Goal | Agree purpose, number of guests, budget, venue and 3 tasks with dates.</a:t>
            </a:r>
          </a:p>
          <a:p>
            <a:r>
              <a:t>My notes | ____________________________________________</a:t>
            </a:r>
          </a:p>
          <a:p>
            <a:r>
              <a:t>The budget is cut by 20%. Say: “We’ll have to keep within budget. What can we cut?”</a:t>
            </a:r>
          </a:p>
          <a:p>
            <a:r>
              <a:t>It’s Plan B time: “We need a contingency plan in case the venue cancels.”</a:t>
            </a:r>
          </a:p>
          <a:p>
            <a:r>
              <a:t>Add a short run-of-show with times: “6:30 welcome drinks, 7:00 dinner, 8:30 speech.”</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Checking progress and solving a problem 检查进展并解决问题</a:t>
            </a:r>
          </a:p>
          <a:p>
            <a:r>
              <a:t>情景：One week before the event, you check progress. The venue has a problem.</a:t>
            </a:r>
          </a:p>
          <a:p>
            <a:r>
              <a:t>Role A: Li Wei Role B: Dan Hughes</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Dan, how are we doing on the venue? The event is in a week.</a:t>
            </a:r>
          </a:p>
          <a:p>
            <a:r>
              <a:t>B (Dan): We’re a bit behind, I’m afraid. The restaurant has told us they can’t seat 40 people. They can only do 32.</a:t>
            </a:r>
          </a:p>
          <a:p>
            <a:r>
              <a:t>A: That’s a problem. How many people have confirmed?</a:t>
            </a:r>
          </a:p>
          <a:p>
            <a:r>
              <a:t>B: So far 36. We expect a few more.</a:t>
            </a:r>
          </a:p>
          <a:p>
            <a:r>
              <a:t>A: We need a contingency plan. Could we split the group into two rooms?</a:t>
            </a:r>
          </a:p>
          <a:p>
            <a:r>
              <a:t>B: I asked. They have a second room for 12, next to the main one.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 could work. Would the speeches still work?</a:t>
            </a:r>
          </a:p>
          <a:p>
            <a:r>
              <a:t>B: We can use a microphone, and a screen in the second room.</a:t>
            </a:r>
          </a:p>
          <a:p>
            <a:r>
              <a:t>A: Good. Let’s go with that. Could you confirm it with the restaurant today?</a:t>
            </a:r>
          </a:p>
          <a:p>
            <a:r>
              <a:t>B: Will do. I’ll also check the dietary requirements for the menu.</a:t>
            </a:r>
          </a:p>
          <a:p>
            <a:r>
              <a:t>A: Thanks, Dan. Let’s keep within budget, though.</a:t>
            </a:r>
          </a:p>
          <a:p>
            <a:r>
              <a:t>B: Understood.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74 | </a:t>
            </a:r>
          </a:p>
          <a:p>
            <a:r>
              <a:t>Situation | A problem appears one week before an event.</a:t>
            </a:r>
          </a:p>
          <a:p>
            <a:r>
              <a:t>Your role (A) | Leader. Ask about progress, find a solution, confirm tasks.</a:t>
            </a:r>
          </a:p>
          <a:p>
            <a:r>
              <a:t>Partner’s role (B) | Team member with a problem to report.</a:t>
            </a:r>
          </a:p>
          <a:p>
            <a:r>
              <a:t>Must use (4 or more) | How are we doing on…? · We’re a bit behind. · We need a contingency plan. · That could work. · Will do.</a:t>
            </a:r>
          </a:p>
          <a:p>
            <a:r>
              <a:t>Goal | Agree on a solution and who does what by when.</a:t>
            </a:r>
          </a:p>
          <a:p>
            <a:r>
              <a:t>My notes | ____________________________________________</a:t>
            </a:r>
          </a:p>
          <a:p>
            <a:r>
              <a:t>The speaker cancels. Say: “Let’s ask Karen to step in. Who can contact her?”</a:t>
            </a:r>
          </a:p>
          <a:p>
            <a:r>
              <a:t>Half the guests have not replied. Say: “Let’s send a reminder and phone the key clients.”</a:t>
            </a:r>
          </a:p>
          <a:p>
            <a:r>
              <a:t>Decide: reduce guests or find a bigger place?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are the most important things to decide when you plan an event? | “The most important things are…” / “First, I decide…”</a:t>
            </a:r>
          </a:p>
          <a:p>
            <a:r>
              <a:t>2. How do you work out a realistic budget? | “I get quotes from…” / “I add 10% for surprises.”</a:t>
            </a:r>
          </a:p>
          <a:p>
            <a:r>
              <a:t>3. What can go wrong at an event? How do you prepare? | “Things that can go wrong include…” / “I prepare a Plan B for…”</a:t>
            </a:r>
          </a:p>
          <a:p>
            <a:r>
              <a:t>4. How do you choose between a formal event and a casual one? | “It depends on the guests and the aim.” / “A formal event suits… while a casual one…”</a:t>
            </a:r>
          </a:p>
          <a:p>
            <a:r>
              <a:t>5. How do you measure whether an event was successful? | “I look at feedback and…” / “If guests say… and clients place orders, it’s a success.”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“Things that can go wrong include the venue cancelling, speakers not turning up, and technical problems with microphones or projectors. To prepare, I make a checklist and a Plan B for the most important things. For example, I always have a backup microphone, and I confirm the venue and the speakers two days before. I also bring a printed copy of the schedule in case the Wi-Fi fails.”</a:t>
            </a:r>
          </a:p>
          <a:p>
            <a:r>
              <a:t>“include” 列举时常用。“in case + 句子”(以防)后面用现在时:in case the Wi-Fi fails。“turn up”(出席,出现)。</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Event-planning language 活动策划用语</a:t>
            </a:r>
          </a:p>
          <a:p>
            <a:r>
              <a:t>Function | Say this</a:t>
            </a:r>
          </a:p>
          <a:p>
            <a:r>
              <a:t>Purpose | What’s the purpose of the event? / The aim is to…</a:t>
            </a:r>
          </a:p>
          <a:p>
            <a:r>
              <a:t>Basics | We’re planning to hold… / Let’s aim for around 40 guests. ★</a:t>
            </a:r>
          </a:p>
          <a:p>
            <a:r>
              <a:t>Budget | What’s our budget? / We need a ballpark figure. ★ / Let’s keep within budget. ★</a:t>
            </a:r>
          </a:p>
          <a:p>
            <a:r>
              <a:t>Tasks | Who’s in charge of…? / I’ll take care of… / Could you draw up…? ★</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Event-planning language 活动策划用语</a:t>
            </a:r>
          </a:p>
          <a:p>
            <a:r>
              <a:t>Function | Say this</a:t>
            </a:r>
          </a:p>
          <a:p>
            <a:r>
              <a:t>Timing | We should send out the invitations well in advance. ★</a:t>
            </a:r>
          </a:p>
          <a:p>
            <a:r>
              <a:t>Progress | How are we doing on…? / We’re on track. ★ / We’re a bit behind.</a:t>
            </a:r>
          </a:p>
          <a:p>
            <a:r>
              <a:t>Problems | We need a contingency plan. ★ / Let’s go with Plan B.</a:t>
            </a:r>
          </a:p>
          <a:p>
            <a:r>
              <a:t>Checklist | Let’s make a checklist. / Let’s go through the list.</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 checklist 活动检查清单</a:t>
            </a:r>
          </a:p>
          <a:p>
            <a:r>
              <a:t>Item | Questions</a:t>
            </a:r>
          </a:p>
          <a:p>
            <a:r>
              <a:t>Purpose | Why are we doing this? Who is it for?</a:t>
            </a:r>
          </a:p>
          <a:p>
            <a:r>
              <a:t>Date and time | Does it clash with holidays or other events?</a:t>
            </a:r>
          </a:p>
          <a:p>
            <a:r>
              <a:t>Venue | Capacity? Location? Parking? Access?</a:t>
            </a:r>
          </a:p>
          <a:p>
            <a:r>
              <a:t>Budget | Venue, food, drinks, speakers, decorations, gifts, 10% spare</a:t>
            </a:r>
          </a:p>
          <a:p>
            <a:r>
              <a:t>Guests | Guest list, invitations, RSVP, dietary needs</a:t>
            </a:r>
          </a:p>
          <a:p>
            <a:r>
              <a:t>Programme | Welcome, speeches, activities, finish time</a:t>
            </a:r>
          </a:p>
          <a:p>
            <a:r>
              <a:t>Logistics | AV equipment, signs, name badges, transport</a:t>
            </a:r>
          </a:p>
          <a:p>
            <a:r>
              <a:t>Follow-up | Thank-you emails, photos, feedback survey</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 checklist 活动检查清单</a:t>
            </a:r>
          </a:p>
          <a:p>
            <a:r>
              <a:t>Plan with going to / will / present continuous: “We’re going to book the hall” (plan), “I’ll send the invitations” (decision now), “We’re meeting the caterer on Monday” (arrangement).</a:t>
            </a:r>
          </a:p>
          <a:p>
            <a:r>
              <a:t>Words: host (organize), attend (go to), turn up (arrive), no-show (a person who doesn’t come), headcount (number of people) ★.</a:t>
            </a:r>
          </a:p>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will do an event.  →  ✓ We will hold / organize an event.  (hold / organize an event)</a:t>
            </a:r>
          </a:p>
          <a:p>
            <a:r>
              <a:t>✗ We make a party.  →  ✓ We’re having / throwing a party.  (have / throw a party)</a:t>
            </a:r>
          </a:p>
          <a:p>
            <a:r>
              <a:t>✗ I in charge of the venue.  →  ✓ I’m in charge of the venue.  (缺 be 动词)</a:t>
            </a:r>
          </a:p>
          <a:p>
            <a:r>
              <a:t>✗ Responsible of the catering.  →  ✓ Responsible for the catering.  (responsible for)</a:t>
            </a:r>
          </a:p>
          <a:p>
            <a:r>
              <a:t>✗ He don’t come.  →  ✓ He doesn’t come. / He didn’t turn up.  (助动词)</a:t>
            </a:r>
          </a:p>
          <a:p>
            <a:r>
              <a:t>Mistake Watch: hold / have an event, in charge of, responsible for, people (no -s), must + base verb.</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should send the invitations in advance.  →  ✓ We should send the invitations well in advance.  (加 well)</a:t>
            </a:r>
          </a:p>
          <a:p>
            <a:r>
              <a:t>✗ We must to book it.  →  ✓ We must book it. / We need to book it.  (must 后不加 to)</a:t>
            </a:r>
          </a:p>
          <a:p>
            <a:r>
              <a:t>✗ The budget is not enough.  →  ✓ We’re on a tight budget, so we need to keep costs down.  (地道说法)</a:t>
            </a:r>
          </a:p>
          <a:p>
            <a:r>
              <a:t>✗ Partys / cateing  →  ✓ Parties / catering  (拼写)</a:t>
            </a:r>
          </a:p>
          <a:p>
            <a:r>
              <a:t>✗ There are 40 peoples.  →  ✓ There are 40 people.  (people 本身是复数)</a:t>
            </a:r>
          </a:p>
          <a:p>
            <a:r>
              <a:t>Mistake Watch: hold / have an event, in charge of, responsible for, people (no -s), must + base verb.</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Plan early. Western calendars fill quickly. Invitations for a corporate event often go out 4–6 weeks before.</a:t>
            </a:r>
          </a:p>
          <a:p>
            <a:r>
              <a:t>Be inclusive. Offer alcohol-free drinks and vegetarian or halal food. Don’t assume everyone drinks.</a:t>
            </a:r>
          </a:p>
          <a:p>
            <a:r>
              <a:t>Dress code: State it clearly in the invitation. “Business casual” is a common standard.</a:t>
            </a:r>
          </a:p>
          <a:p>
            <a:r>
              <a:t>Time: After-work events usually start at 6–7 p.m. and end by 9–10 p.m. Leave before the end only if you say goodbye to the host.</a:t>
            </a:r>
          </a:p>
          <a:p>
            <a:r>
              <a:t>Thank-you: Send a short “Thank you for coming” email the next day. Include a photo if possible.</a:t>
            </a:r>
          </a:p>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set the purpose, date, venue, budget and number of guests for an event.</a:t>
            </a:r>
          </a:p>
          <a:p>
            <a:r>
              <a:t>I can share tasks (Who’s in charge of…? I’ll take care of…) and set deadlines.</a:t>
            </a:r>
          </a:p>
          <a:p>
            <a:r>
              <a:t>I can check progress (How are we doing on…? We’re on track / a bit behind.).</a:t>
            </a:r>
          </a:p>
          <a:p>
            <a:r>
              <a:t>I can suggest a Plan B (We need a contingency plan.) and stay within budget.</a:t>
            </a:r>
          </a:p>
          <a:p>
            <a:r>
              <a:t>I can use hold an event, in charge of, responsible for and people correctly.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hold an event, in charge of / responsible for, must + base verb, and spelling (catering, parties).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40 · Plans 计划</a:t>
            </a:r>
          </a:p>
          <a:p>
            <a:r>
              <a:t>Goal: talk about plans and intentions at work and outside work: weekend and holiday plans, business trips, project goals, and make tentative arrangements using the right future forms (going to, will, present continuous, hope to, aim to).</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题讲过去的事,请用过去式(worked, planned, didn’t go)。第 1 题可以说 “I’m going to… / I’m having…”。</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your plans for the next three months at work and in your free time.</a:t>
            </a:r>
          </a:p>
          <a:p>
            <a:r>
              <a:t>Say: your main goal → the first step → a possible problem → a personal plan → “if all goes well, …”</a:t>
            </a:r>
          </a:p>
          <a:p>
            <a:r>
              <a:t>Useful starters: “I’m planning to…” / “We’re hoping to…” / “If all goes well, …” / “It depends on…”</a:t>
            </a:r>
          </a:p>
          <a:p>
            <a:r>
              <a:t>已安排好的事用 present continuous(I’m meeting a client on Friday);计划/打算用 be going to / planning to;临时决定用 will。</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Talking about plans 谈计划</a:t>
            </a:r>
          </a:p>
          <a:p>
            <a:r>
              <a:t>领读 → 学员跟读 → 请学员用表达造一个和自己工作相关的句子。</a:t>
            </a:r>
          </a:p>
          <a:p>
            <a:r>
              <a:t>I’m planning to… (phrase) 我打算…… — “I’m planning to take a few days off in December.”</a:t>
            </a:r>
          </a:p>
          <a:p>
            <a:r>
              <a:t>We’re hoping to… / We aim to… (phrase) 我们希望/目标是…… — “We’re hoping to launch in spring.”</a:t>
            </a:r>
          </a:p>
          <a:p>
            <a:r>
              <a:t>What are you doing this weekend? (phrase) 你这周末做什么? — “What are you doing this weekend?”</a:t>
            </a:r>
          </a:p>
          <a:p>
            <a:r>
              <a:t>I haven’t made up my mind yet. (phrase) 我还没拿定主意 — “I haven’t made up my mind yet.”</a:t>
            </a:r>
          </a:p>
          <a:p>
            <a:r>
              <a:t>★ I’m toying with the idea of… (phrase) 我在考虑…… — “I’m toying with the idea of studying part-time.”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Making arrangements 做安排</a:t>
            </a:r>
          </a:p>
          <a:p>
            <a:r>
              <a:t>领读 → 学员跟读 → 请学员用表达造一个和自己工作相关的句子。</a:t>
            </a:r>
          </a:p>
          <a:p>
            <a:r>
              <a:t>Shall we meet on…? (phrase) 我们周……见面好吗? — “Shall we meet on Tuesday?”</a:t>
            </a:r>
          </a:p>
          <a:p>
            <a:r>
              <a:t>Let’s pencil in Friday. (phrasal verb) 先暂定周五吧 — “Let’s pencil in Friday for now.”</a:t>
            </a:r>
          </a:p>
          <a:p>
            <a:r>
              <a:t>★ Nothing is set in stone. (idiom) 一切都还没定死 — “It’s only a rough plan. Nothing is set in stone.”</a:t>
            </a:r>
          </a:p>
          <a:p>
            <a:r>
              <a:t>★ It’s subject to approval. (phrase) 这需经批准 — “The trip is subject to approval from my manager.”</a:t>
            </a:r>
          </a:p>
          <a:p>
            <a:r>
              <a:t>★ It depends on… (phrase) 这取决于…… — “It depends on the budget.”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Possible problems and flexibility 灵活应对</a:t>
            </a:r>
          </a:p>
          <a:p>
            <a:r>
              <a:t>领读 → 学员跟读 → 请学员用表达造一个和自己工作相关的句子。</a:t>
            </a:r>
          </a:p>
          <a:p>
            <a:r>
              <a:t>If all goes well, … (phrase) 如果一切顺利,…… — “If all goes well, we’ll finish in March.”</a:t>
            </a:r>
          </a:p>
          <a:p>
            <a:r>
              <a:t>★ We’ll play it by ear. (idiom) 我们走一步看一步 — “We’ll play it by ear and see how things go.”</a:t>
            </a:r>
          </a:p>
          <a:p>
            <a:r>
              <a:t>Plan A / Plan B (noun) 方案A / 备用方案B — “If Plan A fails, we’ll switch to Plan B.”</a:t>
            </a:r>
          </a:p>
          <a:p>
            <a:r>
              <a:t>★ Just in case, … (phrase) 以防万一…… — “Just in case, I’ve booked a second room.”</a:t>
            </a:r>
          </a:p>
          <a:p>
            <a:r>
              <a:t>Keep me posted. (phrase) 请告诉我进展 — “Keep me posted on your plans.”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pencil / hoping / ear / planning / well / subject</a:t>
            </a:r>
          </a:p>
          <a:p>
            <a:r>
              <a:t>1. I’m _______ to take a few days off in December. → planning</a:t>
            </a:r>
          </a:p>
          <a:p>
            <a:r>
              <a:t>2. We’re _______ to launch in spring. → hoping</a:t>
            </a:r>
          </a:p>
          <a:p>
            <a:r>
              <a:t>3. Let’s _______ in Friday for now. → pencil</a:t>
            </a:r>
          </a:p>
          <a:p>
            <a:r>
              <a:t>4. The trip is _______ to approval from my manager. → subject</a:t>
            </a:r>
          </a:p>
          <a:p>
            <a:r>
              <a:t>5. If all goes _______, we’ll finish in March. → well</a:t>
            </a:r>
          </a:p>
          <a:p>
            <a:r>
              <a:t>6. We’ll play it by _______ and see how things go. → ear</a:t>
            </a:r>
          </a:p>
          <a:p>
            <a:r>
              <a:t>Mistake Watch (时态): plan (planning, planned: double n), schedule, appointment. Future forms: “I’m going to call him” (intention), “I’ll call him” (decision now), “I’m calling him at 3” (arrangement), “I’m hoping to call him” (hope).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Weekend and work plans small talk 聊周末与工作计划</a:t>
            </a:r>
          </a:p>
          <a:p>
            <a:r>
              <a:t>情景：On Friday afternoon, two colleagues chat about their plans for the weekend and next week.</a:t>
            </a:r>
          </a:p>
          <a:p>
            <a:r>
              <a:t>Role A: Li Wei Role B: Dan Hughes</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Dan, any plans for the weekend?</a:t>
            </a:r>
          </a:p>
          <a:p>
            <a:r>
              <a:t>B (Dan): Not much. I’m hoping to go hiking if the weather’s good. What about you?</a:t>
            </a:r>
          </a:p>
          <a:p>
            <a:r>
              <a:t>A: I’m visiting my parents in Suzhou. We’re planning a family dinner on Saturday.</a:t>
            </a:r>
          </a:p>
          <a:p>
            <a:r>
              <a:t>B: That sounds nice. Are you coming back on Sunday?</a:t>
            </a:r>
          </a:p>
          <a:p>
            <a:r>
              <a:t>A: Yes, I’m taking the evening train. Hopefully, it won’t be too crowded.</a:t>
            </a:r>
          </a:p>
          <a:p>
            <a:r>
              <a:t>B: And next week? Do you have anything big at work?</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I’m meeting BlueSea on Tuesday, but the time isn’t fixed. It’s subject to their schedule.</a:t>
            </a:r>
          </a:p>
          <a:p>
            <a:r>
              <a:t>B: Let’s pencil in lunch on Wednesday, then. We can discuss the new project.</a:t>
            </a:r>
          </a:p>
          <a:p>
            <a:r>
              <a:t>A: Good idea. If all goes well, I should be free from noon.</a:t>
            </a:r>
          </a:p>
          <a:p>
            <a:r>
              <a:t>B: Great. We’ll play it by ear.</a:t>
            </a:r>
          </a:p>
          <a:p>
            <a:r>
              <a:t>A: OK. Have a great weekend!</a:t>
            </a:r>
          </a:p>
          <a:p>
            <a:r>
              <a:t>B: You too. See you Monday.</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75 | </a:t>
            </a:r>
          </a:p>
          <a:p>
            <a:r>
              <a:t>Situation | You chat about plans on a Friday afternoon.</a:t>
            </a:r>
          </a:p>
          <a:p>
            <a:r>
              <a:t>Your role (A) | Yourself. Real plans for the weekend and next week: ______________</a:t>
            </a:r>
          </a:p>
          <a:p>
            <a:r>
              <a:t>Partner’s role (B) | Colleague. Asks follow-up questions.</a:t>
            </a:r>
          </a:p>
          <a:p>
            <a:r>
              <a:t>Must use (4 or more) | I’m planning to… · I’m hoping to… · It depends on… · If all goes well, … · Let’s pencil in…</a:t>
            </a:r>
          </a:p>
          <a:p>
            <a:r>
              <a:t>Goal | Share 2 personal and 2 work plans, using at least 3 different future forms.</a:t>
            </a:r>
          </a:p>
          <a:p>
            <a:r>
              <a:t>My notes | ____________________________________________</a:t>
            </a:r>
          </a:p>
          <a:p>
            <a:r>
              <a:t>Your plan changes. Say: “I might not go after all. It depends on the weather.”</a:t>
            </a:r>
          </a:p>
          <a:p>
            <a:r>
              <a:t>Ask about a plan: “Are you doing anything special for the holiday?”</a:t>
            </a:r>
          </a:p>
          <a:p>
            <a:r>
              <a:t>Make a loose plan: “Let’s play it by ear.”</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Planning a project for the next quarter 计划下季度项目</a:t>
            </a:r>
          </a:p>
          <a:p>
            <a:r>
              <a:t>情景：You discuss your plans for next quarter with your manager.</a:t>
            </a:r>
          </a:p>
          <a:p>
            <a:r>
              <a:t>Role A: Li Wei Role B: Sophie Zhou,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Sophie, I’d like to share my plans for next quarter.</a:t>
            </a:r>
          </a:p>
          <a:p>
            <a:r>
              <a:t>B (Sophie): Go ahead.</a:t>
            </a:r>
          </a:p>
          <a:p>
            <a:r>
              <a:t>A: We’re aiming to launch the new product in March. First, we’re going to finish testing by the end of January.</a:t>
            </a:r>
          </a:p>
          <a:p>
            <a:r>
              <a:t>B: That sounds ambitious. What if the supplier is late again?</a:t>
            </a:r>
          </a:p>
          <a:p>
            <a:r>
              <a:t>A: That’s why we have a Plan B. If the parts aren’t ready, we’ll use the older model for the first batch.</a:t>
            </a:r>
          </a:p>
          <a:p>
            <a:r>
              <a:t>B: OK. And what about the budget?</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It’s subject to approval. I’m presenting the numbers to Finance on Thursday.</a:t>
            </a:r>
          </a:p>
          <a:p>
            <a:r>
              <a:t>B: Good. Please keep me posted. Nothing is set in stone until Finance says yes.</a:t>
            </a:r>
          </a:p>
          <a:p>
            <a:r>
              <a:t>A: Understood. If all goes well, we can start production in February.</a:t>
            </a:r>
          </a:p>
          <a:p>
            <a:r>
              <a:t>B: Fine. Let’s pencil in a review meeting for the 15th.</a:t>
            </a:r>
          </a:p>
          <a:p>
            <a:r>
              <a:t>A: I’ll send an invitation today.</a:t>
            </a:r>
          </a:p>
          <a:p>
            <a:r>
              <a:t>B: Thanks.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76 | </a:t>
            </a:r>
          </a:p>
          <a:p>
            <a:r>
              <a:t>Situation | You present your plans for the next quarter.</a:t>
            </a:r>
          </a:p>
          <a:p>
            <a:r>
              <a:t>Your role (A) | Project manager. Goal, steps, risk, Plan B.</a:t>
            </a:r>
          </a:p>
          <a:p>
            <a:r>
              <a:t>Partner’s role (B) | Manager. Asks “What if…?” questions.</a:t>
            </a:r>
          </a:p>
          <a:p>
            <a:r>
              <a:t>Must use (4 or more) | We’re aiming to… · First, we’re going to… · It’s subject to… · Plan B · Nothing is set in stone.</a:t>
            </a:r>
          </a:p>
          <a:p>
            <a:r>
              <a:t>Goal | Explain 3 plans with dates and one backup plan.</a:t>
            </a:r>
          </a:p>
          <a:p>
            <a:r>
              <a:t>My notes | ____________________________________________</a:t>
            </a:r>
          </a:p>
          <a:p>
            <a:r>
              <a:t>Your manager says the plan is too ambitious. Say: “I see your point. We could start with a smaller pilot.”</a:t>
            </a:r>
          </a:p>
          <a:p>
            <a:r>
              <a:t>Add time words: by the end of January / in the second half of March.</a:t>
            </a:r>
          </a:p>
          <a:p>
            <a:r>
              <a:t>Use present perfect for what you’ve done so far: “We’ve already booked the testing lab.”</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Do you plan your week in detail? What tools do you use? | “I plan my week on Sunday using…” / “I use a calendar app and a notebook.”</a:t>
            </a:r>
          </a:p>
          <a:p>
            <a:r>
              <a:t>2. What are your career plans for the next three years? | “In three years, I’d like to…” / “I’m hoping to be…”</a:t>
            </a:r>
          </a:p>
          <a:p>
            <a:r>
              <a:t>3. How flexible should a plan be? | “A plan should be flexible enough to…” / “I prefer to have a clear goal, but a flexible route.”</a:t>
            </a:r>
          </a:p>
          <a:p>
            <a:r>
              <a:t>4. What is the difference between a goal and a plan? | “A goal is… while a plan is…” / “A plan shows the steps to reach the goal.”</a:t>
            </a:r>
          </a:p>
          <a:p>
            <a:r>
              <a:t>5. How do you handle it when your plans change at the last minute? | “I stay calm and look for another way.” / “I tell the others as soon as I know.”</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goal is what you want to achieve; a plan shows the steps to get there. For example, my goal is to improve my English, and my plan is to practise for ten minutes every day, to record myself every week, and to take a course next year. A goal without a plan is just a wish. But a plan without flexibility can be difficult, so I always check it once a month.”</a:t>
            </a:r>
          </a:p>
          <a:p>
            <a:r>
              <a:t>“A goal without a plan is just a wish.” 是名言式的表达。“once a month”(每月一次)。注意 “practise”(动词,英式)和 “practice”(名词)。</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language: plans 谈计划用语</a:t>
            </a:r>
          </a:p>
          <a:p>
            <a:r>
              <a:t>Function | Say this</a:t>
            </a:r>
          </a:p>
          <a:p>
            <a:r>
              <a:t>Ask | What are you doing this weekend? / Do you have any plans?</a:t>
            </a:r>
          </a:p>
          <a:p>
            <a:r>
              <a:t>Intention | I’m planning to… / I’m going to… / We’re hoping to…</a:t>
            </a:r>
          </a:p>
          <a:p>
            <a:r>
              <a:t>Idea | I’m toying with the idea of… ★ / I’m thinking of -ing</a:t>
            </a:r>
          </a:p>
          <a:p>
            <a:r>
              <a:t>Arrangement | I’m meeting a client on Friday. / We’re having lunch at noon.</a:t>
            </a:r>
          </a:p>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language: plans 谈计划用语</a:t>
            </a:r>
          </a:p>
          <a:p>
            <a:r>
              <a:t>Function | Say this</a:t>
            </a:r>
          </a:p>
          <a:p>
            <a:r>
              <a:t>Tentative | Let’s pencil in Friday. ★ / Nothing is set in stone. ★</a:t>
            </a:r>
          </a:p>
          <a:p>
            <a:r>
              <a:t>Condition | It depends on… ★ / It’s subject to approval. ★</a:t>
            </a:r>
          </a:p>
          <a:p>
            <a:r>
              <a:t>Optimism | If all goes well, … ★</a:t>
            </a:r>
          </a:p>
          <a:p>
            <a:r>
              <a:t>Flexibility | We’ll play it by ear. ★ / Just in case, … ★</a:t>
            </a:r>
          </a:p>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forms: which one? 未来时态怎么选</a:t>
            </a:r>
          </a:p>
          <a:p>
            <a:r>
              <a:t>Form | Use | Example</a:t>
            </a:r>
          </a:p>
          <a:p>
            <a:r>
              <a:t>will | decision now; promise; prediction | “I’ll send you the file now.”</a:t>
            </a:r>
          </a:p>
          <a:p>
            <a:r>
              <a:t>be going to | plan you’ve already made; evidence | “I’m going to visit Berlin next month.”</a:t>
            </a:r>
          </a:p>
          <a:p>
            <a:r>
              <a:t>present continuous | fixed arrangement (time + place) | “I’m meeting the client at 3 p.m. tomorrow.”</a:t>
            </a:r>
          </a:p>
          <a:p>
            <a:r>
              <a:t>hope to / plan to / aim to | intention | “We’re aiming to launch in March.”</a:t>
            </a:r>
          </a:p>
          <a:p>
            <a:r>
              <a:t>present simple | timetable | “The train leaves at 7:15.”</a:t>
            </a:r>
          </a:p>
          <a:p>
            <a:r>
              <a:t>might / may | possibility | “I might go hiking, if it doesn’t rain.”</a:t>
            </a:r>
          </a:p>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forms: which one? 未来时态怎么选</a:t>
            </a:r>
          </a:p>
          <a:p>
            <a:r>
              <a:t>After if / when / as soon as / before: use the present simple for the future: “If all goes well, we’ll finish.” (not “If all will go well”)</a:t>
            </a:r>
          </a:p>
          <a:p>
            <a:r>
              <a:t>Hope vs wish: “I hope it goes well.” (real) vs “I wish it were cheaper.” (unreal)</a:t>
            </a:r>
          </a:p>
          <a:p>
            <a:r>
              <a:t>Reasons and conditions: because, so, depending on, as long as, unless.</a:t>
            </a:r>
          </a:p>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will go hiking this weekend. (already planned)  →  ✓ I’m going to go hiking this weekend. / I’m planning to go hiking.  (已有计划:be going to)</a:t>
            </a:r>
          </a:p>
          <a:p>
            <a:r>
              <a:t>✗ If it will rain, I’ll stay home.  →  ✓ If it rains, I’ll stay home.  (if 从句用现在时)</a:t>
            </a:r>
          </a:p>
          <a:p>
            <a:r>
              <a:t>✗ I’m meeting him sometime, maybe. (not fixed)  →  ✓ I’m hoping to meet him. / I might meet him.  (没定的事不用现在进行时)</a:t>
            </a:r>
          </a:p>
          <a:p>
            <a:r>
              <a:t>✗ I plan to going to Beijing.  →  ✓ I plan to go / I’m planning to go to Beijing.  (plan to + 原形)</a:t>
            </a:r>
          </a:p>
          <a:p>
            <a:r>
              <a:t>✗ I’m thinking to change my job.  →  ✓ I’m thinking of changing my job.  (think of + -ing)</a:t>
            </a:r>
          </a:p>
          <a:p>
            <a:r>
              <a:t>Mistake Watch: if + present (not “if it will rain”), plan to + base verb, think of + -ing, hope to + base verb. Planning has double n.</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hope to can finish by Friday.  →  ✓ I hope to finish by Friday. / I hope I can finish by Friday.  (不用 to can)</a:t>
            </a:r>
          </a:p>
          <a:p>
            <a:r>
              <a:t>✗ Next week I go to Shanghai. (only a plan)  →  ✓ Next week I’m going to Shanghai.  (用 be going to)</a:t>
            </a:r>
          </a:p>
          <a:p>
            <a:r>
              <a:t>✗ We will to meet at 5.  →  ✓ We’ll meet at 5.  (will 后不加 to)</a:t>
            </a:r>
          </a:p>
          <a:p>
            <a:r>
              <a:t>✗ Have you any plan?  →  ✓ Do you have any plans?  (plans 通常用复数)</a:t>
            </a:r>
          </a:p>
          <a:p>
            <a:r>
              <a:t>✗ pland / planing  →  ✓ planned / planning  (拼写)</a:t>
            </a:r>
          </a:p>
          <a:p>
            <a:r>
              <a:t>Mistake Watch: if + present (not “if it will rain”), plan to + base verb, think of + -ing, hope to + base verb. Planning has double n.</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Weekends are private. Asking “What are you doing at the weekend?” is common small talk, but people may not want to give details. Don’t ask follow-up questions that sound too personal.</a:t>
            </a:r>
          </a:p>
          <a:p>
            <a:r>
              <a:t>Agree plans in writing. After a chat, “Let’s pencil in lunch on Wednesday” should be followed by a calendar invite.</a:t>
            </a:r>
          </a:p>
          <a:p>
            <a:r>
              <a:t>Be clear about how firm a plan is. “Definitely”, “probably”, “might” show certainty. Using the wrong one can cause misunderstanding.</a:t>
            </a:r>
          </a:p>
          <a:p>
            <a:r>
              <a:t>“Sometime” is vague. “Let’s get together sometime” may never happen. Add a date: “How about next Thursday?”</a:t>
            </a:r>
          </a:p>
          <a:p>
            <a:r>
              <a:t>Long-term plans: Western managers like SMART goals: Specific, Measurable, Achievable, Relevant, Time-bound.</a:t>
            </a:r>
          </a:p>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talk about plans using be going to, present continuous, planning to and hoping to.</a:t>
            </a:r>
          </a:p>
          <a:p>
            <a:r>
              <a:t>I can make tentative arrangements (Let’s pencil in… It’s subject to… It depends on…).</a:t>
            </a:r>
          </a:p>
          <a:p>
            <a:r>
              <a:t>I can describe a project plan with steps, dates and a Plan B.</a:t>
            </a:r>
          </a:p>
          <a:p>
            <a:r>
              <a:t>I can use if all goes well, play it by ear and just in case.</a:t>
            </a:r>
          </a:p>
          <a:p>
            <a:r>
              <a:t>I can avoid if it will, plan to going and thinking to.</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future forms (going to / present continuous / will), if + present simple, plan to + base verb, think of + -ing.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41 · A change of plan 计划更改</a:t>
            </a:r>
          </a:p>
          <a:p>
            <a:r>
              <a:t>Goal: tell people about a change of plan and respond to one: give a short reason, apologize, suggest alternatives, ask about others’ availability, reschedule or cancel, and keep everyone informed.</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1、4 题讲过去的事,请用过去式(changed, cancelled, missed)。第 2 题可以说 “I explain the reason and…”。</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Tell a client you must change the date of a visit and suggest a new plan.</a:t>
            </a:r>
          </a:p>
          <a:p>
            <a:r>
              <a:t>Say: apologize → give a short reason → suggest alternatives → ask if they are free → confirm the new plan.</a:t>
            </a:r>
          </a:p>
          <a:p>
            <a:r>
              <a:t>Useful starters: “I’m afraid there’s been a change of plan.” / “Something has come up.” / “Would it be possible to…?” / “How about…?”</a:t>
            </a:r>
          </a:p>
          <a:p>
            <a:r>
              <a:t>通知变更先说抱歉,再给简短原因,然后给出替代方案。理由不用太长:Something urgent has come up。</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Announcing a change 通知更改</a:t>
            </a:r>
          </a:p>
          <a:p>
            <a:r>
              <a:t>领读 → 学员跟读 → 请学员用表达造一个和自己工作相关的句子。</a:t>
            </a:r>
          </a:p>
          <a:p>
            <a:r>
              <a:t>I’m afraid there’s been a change of plan. (phrase) 恐怕计划有变 — “I’m afraid there’s been a change of plan.”</a:t>
            </a:r>
          </a:p>
          <a:p>
            <a:r>
              <a:t>★ Something has come up. (phrase) 临时有事 — “I’m sorry, something has come up and I can’t make it.”</a:t>
            </a:r>
          </a:p>
          <a:p>
            <a:r>
              <a:t>We’ll have to postpone / reschedule / cancel. (phrase) 我们得推迟/改期/取消 — “We’ll have to postpone the meeting until next week.”</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Announcing a change 通知更改</a:t>
            </a:r>
          </a:p>
          <a:p>
            <a:r>
              <a:t>领读 → 学员跟读 → 请学员用表达造一个和自己工作相关的句子。</a:t>
            </a:r>
          </a:p>
          <a:p>
            <a:r>
              <a:t>★ I’m sorry for the short notice. (phrase) 抱歉通知得太晚 — “I’m sorry for the short notice.”</a:t>
            </a:r>
          </a:p>
          <a:p>
            <a:r>
              <a:t>★ The plan has fallen through. (phrasal verb) 计划落空了 — “The deal has fallen through.”</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Suggesting alternatives 提出替代方案</a:t>
            </a:r>
          </a:p>
          <a:p>
            <a:r>
              <a:t>领读 → 学员跟读 → 请学员用表达造一个和自己工作相关的句子。</a:t>
            </a:r>
          </a:p>
          <a:p>
            <a:r>
              <a:t>Would it be possible to move it to…? (phrase) 是否可以改到……? — “Would it be possible to move it to Thursday?”</a:t>
            </a:r>
          </a:p>
          <a:p>
            <a:r>
              <a:t>Could we make it a day earlier / later? (phrase) 能否提前/推迟一天? — “Could we make it a day later?”</a:t>
            </a:r>
          </a:p>
          <a:p>
            <a:r>
              <a:t>How about doing it online instead? (phrase) 改成线上怎么样? — “How about doing it online instead?”</a:t>
            </a:r>
          </a:p>
          <a:p>
            <a:r>
              <a:t>★ Let’s go with Plan B. (phrase) 我们就用备用方案 — “Let’s go with Plan B and meet at the office.”</a:t>
            </a:r>
          </a:p>
          <a:p>
            <a:r>
              <a:t>Do you have any other availability? (phrase) 你还有其他空闲时间吗? — “Do you have any other availability next week?”</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Responding to a change 回应变更</a:t>
            </a:r>
          </a:p>
          <a:p>
            <a:r>
              <a:t>领读 → 学员跟读 → 请学员用表达造一个和自己工作相关的句子。</a:t>
            </a:r>
          </a:p>
          <a:p>
            <a:r>
              <a:t>That’s not a problem. Thanks for letting me know. (phrase) 没问题,谢谢你告诉我 — “That’s not a problem. Thanks for letting me know.”</a:t>
            </a:r>
          </a:p>
          <a:p>
            <a:r>
              <a:t>★ I’m afraid that doesn’t work for me. (phrase) 恐怕这个时间我不行 — “I’m afraid that doesn’t work for me.”</a:t>
            </a:r>
          </a:p>
          <a:p>
            <a:r>
              <a:t>★ Could we call it off? (phrasal verb) 我们可以取消吗? — “Could we call it off and meet next month?”</a:t>
            </a:r>
          </a:p>
          <a:p>
            <a:r>
              <a:t>In that case, … (phrase) 那样的话,…… — “In that case, let’s meet on Friday.”</a:t>
            </a:r>
          </a:p>
          <a:p>
            <a:r>
              <a:t>★ Let’s keep everyone in the loop. (idiom) 我们让所有人都知情 — “Let’s keep everyone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notice / loop / plan / up / possible / availability</a:t>
            </a:r>
          </a:p>
          <a:p>
            <a:r>
              <a:t>1. I’m afraid there’s been a change of _______. → plan</a:t>
            </a:r>
          </a:p>
          <a:p>
            <a:r>
              <a:t>2. I’m sorry, something has come _______ and I can’t make it. → up</a:t>
            </a:r>
          </a:p>
          <a:p>
            <a:r>
              <a:t>3. Would it be _______ to move it to Thursday? → possible</a:t>
            </a:r>
          </a:p>
          <a:p>
            <a:r>
              <a:t>4. Do you have any other _______ next week? → availability</a:t>
            </a:r>
          </a:p>
          <a:p>
            <a:r>
              <a:t>5. I’m sorry for the short _______. → notice</a:t>
            </a:r>
          </a:p>
          <a:p>
            <a:r>
              <a:t>6. Let’s keep everyone in the _______. → loop</a:t>
            </a:r>
          </a:p>
          <a:p>
            <a:r>
              <a:t>Mistake Watch (搭配与拼写): postpone (to a later time; not “delay” for events), cancel (UK: cancelled, double l), availability, notice. Change of plan (noun phrase), change the plan (verb). Come up = happen unexpectedly.</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Telling a client about a change of plan 通知客户计划变更</a:t>
            </a:r>
          </a:p>
          <a:p>
            <a:r>
              <a:t>情景：You must change the date of your visit to a client. You phone to explain and suggest a new plan.</a:t>
            </a:r>
          </a:p>
          <a:p>
            <a:r>
              <a:t>Role A: Li Wei, visitor Role B: Mr Anders, client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Hello, Mr Anders. I’m afraid I have some bad news. There’s been a change of plan.</a:t>
            </a:r>
          </a:p>
          <a:p>
            <a:r>
              <a:t>B (Anders): Oh? What’s happened?</a:t>
            </a:r>
          </a:p>
          <a:p>
            <a:r>
              <a:t>A: Something urgent has come up with another customer. I won’t be able to visit you on Tuesday. I’m so sorry for the short notice.</a:t>
            </a:r>
          </a:p>
          <a:p>
            <a:r>
              <a:t>B: I see. That’s disappointing, but I understand. Could you come on another day?</a:t>
            </a:r>
          </a:p>
          <a:p>
            <a:r>
              <a:t>A: Would it be possible to move the visit to Thursday? Or I could do next Monday.</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Thursday doesn’t work for me. I’m at a conference. Monday would be fine.</a:t>
            </a:r>
          </a:p>
          <a:p>
            <a:r>
              <a:t>A: Great. Could we make it ten o’clock?</a:t>
            </a:r>
          </a:p>
          <a:p>
            <a:r>
              <a:t>B: Ten is fine. Do you still need the tour of the factory?</a:t>
            </a:r>
          </a:p>
          <a:p>
            <a:r>
              <a:t>A: Yes, if that’s possible. If not, we’ll go with Plan B and have the meeting in the office.</a:t>
            </a:r>
          </a:p>
          <a:p>
            <a:r>
              <a:t>B: I’ll check and let you know by Friday.</a:t>
            </a:r>
          </a:p>
          <a:p>
            <a:r>
              <a:t>A: Thank you for being so understanding.</a:t>
            </a:r>
          </a:p>
          <a:p>
            <a:r>
              <a:t>B: Not at all. Thanks for letting me know.</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77 | </a:t>
            </a:r>
          </a:p>
          <a:p>
            <a:r>
              <a:t>Situation | You need to change a visit or meeting with a client.</a:t>
            </a:r>
          </a:p>
          <a:p>
            <a:r>
              <a:t>Your role (A) | Caller. Apologize, give a short reason, offer two alternatives.</a:t>
            </a:r>
          </a:p>
          <a:p>
            <a:r>
              <a:t>Partner’s role (B) | Client. Disappointed but flexible. Prefers one of the dates.</a:t>
            </a:r>
          </a:p>
          <a:p>
            <a:r>
              <a:t>Must use (4 or more) | I’m afraid there’s been a change of plan. · Something has come up. · short notice · Would it be possible to…? · Thanks for letting me know.</a:t>
            </a:r>
          </a:p>
          <a:p>
            <a:r>
              <a:t>Goal | Agree a new date and time in 90 seconds, and say how you will confirm.</a:t>
            </a:r>
          </a:p>
          <a:p>
            <a:r>
              <a:t>My notes | ____________________________________________</a:t>
            </a:r>
          </a:p>
          <a:p>
            <a:r>
              <a:t>The client cannot change the date. Say: “In that case, how about a video call on Tuesday instead?”</a:t>
            </a:r>
          </a:p>
          <a:p>
            <a:r>
              <a:t>You must cancel completely. Say: “I’m afraid we have to call this off, but I’d like to reschedule in the spring.”</a:t>
            </a:r>
          </a:p>
          <a:p>
            <a:r>
              <a:t>Confirm in writing: “I’ll send an email to confirm the new plan.”</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colleague changes the plan on you 同事临时改变计划</a:t>
            </a:r>
          </a:p>
          <a:p>
            <a:r>
              <a:t>情景：Your colleague tells you at the last minute that she can’t come to the airport pick-up. You respond.</a:t>
            </a:r>
          </a:p>
          <a:p>
            <a:r>
              <a:t>Role A: Sophie Zhou, colleague Role B: Li Wei,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(Sophie): Li Wei, I’m sorry, but there’s been a change of plan. I can’t go to the airport tomorrow. Something has come up.</a:t>
            </a:r>
          </a:p>
          <a:p>
            <a:r>
              <a:t>B (Li Wei): Oh, I see. What time was the flight?</a:t>
            </a:r>
          </a:p>
          <a:p>
            <a:r>
              <a:t>A: It lands at seven in the morning. I was going to pick up Mr Reed.</a:t>
            </a:r>
          </a:p>
          <a:p>
            <a:r>
              <a:t>B: That’s quite early. Can you ask someone else?</a:t>
            </a:r>
          </a:p>
          <a:p>
            <a:r>
              <a:t>A: I asked Dan, but he’s busy. Would you be able to go?</a:t>
            </a:r>
          </a:p>
          <a:p>
            <a:r>
              <a:t>B: I’m afraid seven doesn’t work for me. I have a call at eight, and I’ll still be in traffic.</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OK. What if we arrange a taxi for him and meet him at the hotel instead?</a:t>
            </a:r>
          </a:p>
          <a:p>
            <a:r>
              <a:t>B: That’s a good idea. In that case, I’ll book a taxi now and send him the details.</a:t>
            </a:r>
          </a:p>
          <a:p>
            <a:r>
              <a:t>A: Thanks. Let’s make sure we keep everyone in the loop.</a:t>
            </a:r>
          </a:p>
          <a:p>
            <a:r>
              <a:t>B: Of course. I’ll email Mr Reed and cc you.</a:t>
            </a:r>
          </a:p>
          <a:p>
            <a:r>
              <a:t>A: I’m really sorry for the short notice.</a:t>
            </a:r>
          </a:p>
          <a:p>
            <a:r>
              <a:t>B: Don’t worry. These things happen. We’ll sort it out.</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78 | </a:t>
            </a:r>
          </a:p>
          <a:p>
            <a:r>
              <a:t>Situation | Your plan changes at short notice and you must adapt.</a:t>
            </a:r>
          </a:p>
          <a:p>
            <a:r>
              <a:t>Your role (B) | You. Stay positive. Find an alternative plan quickly.</a:t>
            </a:r>
          </a:p>
          <a:p>
            <a:r>
              <a:t>Partner’s role (A) | Colleague. Apologizes and asks for help.</a:t>
            </a:r>
          </a:p>
          <a:p>
            <a:r>
              <a:t>Must use (4 or more) | I’m afraid that doesn’t work for me. · What if we…? · In that case, … · keep everyone in the loop · We’ll sort it out.</a:t>
            </a:r>
          </a:p>
          <a:p>
            <a:r>
              <a:t>Goal | Agree on Plan B and who tells the guest.</a:t>
            </a:r>
          </a:p>
          <a:p>
            <a:r>
              <a:t>My notes | ____________________________________________</a:t>
            </a:r>
          </a:p>
          <a:p>
            <a:r>
              <a:t>You are annoyed. Stay polite: “That’s a bit inconvenient, but let’s see what we can do.”</a:t>
            </a:r>
          </a:p>
          <a:p>
            <a:r>
              <a:t>Say no: “I’m afraid I can’t help this time, but I can take over the hotel booking.”</a:t>
            </a:r>
          </a:p>
          <a:p>
            <a:r>
              <a:t>Send a three-line update email.</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do you feel when someone changes plans at the last minute? | “I feel… because…” / “It depends on the reason.”</a:t>
            </a:r>
          </a:p>
          <a:p>
            <a:r>
              <a:t>2. What is a good reason to change a plan? What is a bad reason? | “A good reason is… A bad reason is…” / “People should be honest about the real reason.”</a:t>
            </a:r>
          </a:p>
          <a:p>
            <a:r>
              <a:t>3. How do you tell a client that you have to cancel? | “I phone first, then send an email.” / “I say sorry and offer a new date.”</a:t>
            </a:r>
          </a:p>
          <a:p>
            <a:r>
              <a:t>4. What should a company do when a big event is cancelled? | “They should inform everyone quickly.” / “They could offer a refund or a new date.”</a:t>
            </a:r>
          </a:p>
          <a:p>
            <a:r>
              <a:t>5. How do you stay flexible when your schedule changes often? | “I leave some free time in my diary.” / “I always have a Plan B.”</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“It depends on the reason and the way the person tells me. If the reason is genuine and the person apologizes and offers an alternative, I’m happy to be flexible. But if it happens often, or the person doesn’t say sorry, I feel disrespected. I think the best approach is to be honest, tell people as early as possible, and suggest a new plan.”</a:t>
            </a:r>
          </a:p>
          <a:p>
            <a:r>
              <a:t>“genuine”(真实的)、“disrespected”(感觉被不尊重)。“It depends on…”(取决于)。“as early as possible”(尽早)。</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language: changing plans 变更计划用语</a:t>
            </a:r>
          </a:p>
          <a:p>
            <a:r>
              <a:t>Function | Say this</a:t>
            </a:r>
          </a:p>
          <a:p>
            <a:r>
              <a:t>Announce | I’m afraid there’s been a change of plan. / Something has come up. ★</a:t>
            </a:r>
          </a:p>
          <a:p>
            <a:r>
              <a:t>Apologize | I’m sorry for the short notice. ★</a:t>
            </a:r>
          </a:p>
          <a:p>
            <a:r>
              <a:t>Postpone | We’ll have to postpone / reschedule. / Could we move it to…?</a:t>
            </a:r>
          </a:p>
          <a:p>
            <a:r>
              <a:t>Cancel | We’ll have to call it off. ★ / The plan has fallen through. ★</a:t>
            </a:r>
          </a:p>
          <a:p>
            <a:r>
              <a:t>Suggest | Would it be possible to…? / How about…? / What if we…?</a:t>
            </a:r>
          </a:p>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language: changing plans 变更计划用语</a:t>
            </a:r>
          </a:p>
          <a:p>
            <a:r>
              <a:t>Function | Say this</a:t>
            </a:r>
          </a:p>
          <a:p>
            <a:r>
              <a:t>Plan B | Let’s go with Plan B. ★ / We can do it online instead.</a:t>
            </a:r>
          </a:p>
          <a:p>
            <a:r>
              <a:t>Respond | That’s not a problem. Thanks for letting me know.</a:t>
            </a:r>
          </a:p>
          <a:p>
            <a:r>
              <a:t>Refuse | I’m afraid that doesn’t work for me. ★</a:t>
            </a:r>
          </a:p>
          <a:p>
            <a:r>
              <a:t>Inform | Let’s keep everyone in the loop. ★</a:t>
            </a:r>
          </a:p>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Postpone, reschedule, cancel, bring forward 推迟、改期、取消、提前</a:t>
            </a:r>
          </a:p>
          <a:p>
            <a:r>
              <a:t>Verb | Meaning | Example</a:t>
            </a:r>
          </a:p>
          <a:p>
            <a:r>
              <a:t>postpone | do it later | “We’ll postpone the meeting until Monday.”</a:t>
            </a:r>
          </a:p>
          <a:p>
            <a:r>
              <a:t>put off | postpone (informal) | “Let’s put it off until next week.”</a:t>
            </a:r>
          </a:p>
          <a:p>
            <a:r>
              <a:t>reschedule | choose a new time | “I need to reschedule our call.”</a:t>
            </a:r>
          </a:p>
          <a:p>
            <a:r>
              <a:t>bring forward | do it earlier | “Can we bring it forward to Tuesday?”</a:t>
            </a:r>
          </a:p>
          <a:p>
            <a:r>
              <a:t>push back | move later | “They pushed the deadline back a week.”</a:t>
            </a:r>
          </a:p>
          <a:p>
            <a:r>
              <a:t>cancel / call off ★ | do not do it | “The event was called off.”</a:t>
            </a:r>
          </a:p>
          <a:p>
            <a:r>
              <a:t>fall through ★ | fail (a plan or deal) | “The deal fell through.”</a:t>
            </a:r>
          </a:p>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Postpone, reschedule, cancel, bring forward 推迟、改期、取消、提前</a:t>
            </a:r>
          </a:p>
          <a:p>
            <a:r>
              <a:t>Reasons (short): “something urgent has come up”, “a client has asked to see me”, “the flight was delayed”. Keep it short and don’t over-explain.</a:t>
            </a:r>
          </a:p>
          <a:p>
            <a:r>
              <a:t>If + past for polite suggestions: “It would be great if we could meet on Monday.”</a:t>
            </a:r>
          </a:p>
          <a:p>
            <a:r>
              <a:t>What if + present: “What if we meet at the hotel?” (a possible plan)</a:t>
            </a:r>
          </a:p>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must delay the meeting to Friday.  →  ✓ We must postpone the meeting until Friday. / reschedule it for Friday.  (delay 通常指延误)</a:t>
            </a:r>
          </a:p>
          <a:p>
            <a:r>
              <a:t>✗ We change the meeting at Friday.  →  ✓ We’ll move the meeting to Friday.  (move … to)</a:t>
            </a:r>
          </a:p>
          <a:p>
            <a:r>
              <a:t>✗ The meeting is cancel.  →  ✓ The meeting is cancelled / has been cancelled.  (被动语态)</a:t>
            </a:r>
          </a:p>
          <a:p>
            <a:r>
              <a:t>✗ I can’t to come.  →  ✓ I can’t come. / I won’t be able to come.  (can 后不加 to)</a:t>
            </a:r>
          </a:p>
          <a:p>
            <a:r>
              <a:t>✗ Sorry for changing the plan suddenly.  →  ✓ I’m sorry for the short notice.  (地道表达)</a:t>
            </a:r>
          </a:p>
          <a:p>
            <a:r>
              <a:t>Mistake Watch: postpone (not “delay”) for events, the meeting has been cancelled (passive), a change of plan, move it to….</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meeting is delay to Monday.  →  ✓ The meeting has been postponed to Monday.  (被动语态 + postpone)</a:t>
            </a:r>
          </a:p>
          <a:p>
            <a:r>
              <a:t>✗ I’m sorry to change the plan, but I have something.  →  ✓ Something has come up.  (简洁自然)</a:t>
            </a:r>
          </a:p>
          <a:p>
            <a:r>
              <a:t>✗ The plan has some change.  →  ✓ There’s been a change of plan.  (固定说法)</a:t>
            </a:r>
          </a:p>
          <a:p>
            <a:r>
              <a:t>✗ Can you adjust your time?  →  ✓ Would it be possible to move it to…? / Do you have any other availability?  (更礼貌)</a:t>
            </a:r>
          </a:p>
          <a:p>
            <a:r>
              <a:t>✗ postphone / cancelation  →  ✓ postpone / cancellation  (拼写)</a:t>
            </a:r>
          </a:p>
          <a:p>
            <a:r>
              <a:t>Mistake Watch: postpone (not “delay”) for events, the meeting has been cancelled (passive), a change of plan, move it to….</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Tell people as early as possible. Last-minute changes are tolerated if you inform people immediately and apologize.</a:t>
            </a:r>
          </a:p>
          <a:p>
            <a:r>
              <a:t>Phone or message first, then confirm in writing. For important changes (client visits), call, then send a short email.</a:t>
            </a:r>
          </a:p>
          <a:p>
            <a:r>
              <a:t>Be honest but brief. You don’t need to give private details. “Something has come up” is enough in most cases.</a:t>
            </a:r>
          </a:p>
          <a:p>
            <a:r>
              <a:t>Avoid blaming others. “My boss changed everything” sounds like an excuse.</a:t>
            </a:r>
          </a:p>
          <a:p>
            <a:r>
              <a:t>Offer alternatives. A change without a suggestion creates more work for the other person.</a:t>
            </a:r>
          </a:p>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announce a change of plan politely (I’m afraid there’s been a change of plan. Something has come up.).</a:t>
            </a:r>
          </a:p>
          <a:p>
            <a:r>
              <a:t>I can apologize for short notice and offer alternatives (Would it be possible to…? How about…?).</a:t>
            </a:r>
          </a:p>
          <a:p>
            <a:r>
              <a:t>I can respond to a change (That’s not a problem. I’m afraid that doesn’t work for me.).</a:t>
            </a:r>
          </a:p>
          <a:p>
            <a:r>
              <a:t>I can postpone, reschedule or cancel with the right verb.</a:t>
            </a:r>
          </a:p>
          <a:p>
            <a:r>
              <a:t>I can use postpone, cancelled, move … to and a change of plan correctly.</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postpone / cancel / move … to, passive (has been cancelled), can’t + base verb, and spelling (postpone, cancellation).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42 · How was your visit? 您的访问如何?</a:t>
            </a:r>
          </a:p>
          <a:p>
            <a:r>
              <a:t>Goal: ask a guest about their visit and receive feedback, and as a guest, describe your visit, thank your hosts and give polite suggestions. Understand the needs and feedback of visitors.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题讲过去的事,请用过去式(enjoyed, made, saw)。第 3 题可以说 “I would say…, but…”。</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business visit you made, what you liked and what could be improved.</a:t>
            </a:r>
          </a:p>
          <a:p>
            <a:r>
              <a:t>Say: where you went → what you did → the highlight → one suggestion → thanks.</a:t>
            </a:r>
          </a:p>
          <a:p>
            <a:r>
              <a:t>Useful starters: “I visited… last month.” / “The highlight was…” / “One thing that could be improved is…” / “Thank you for having me.”</a:t>
            </a:r>
          </a:p>
          <a:p>
            <a:r>
              <a:t>讲过去的访问用过去式。提建议时用 It might be helpful if… / Perhaps next time… 委婉表达。</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Asking about the visit 询问访问情况</a:t>
            </a:r>
          </a:p>
          <a:p>
            <a:r>
              <a:t>领读 → 学员跟读 → 请学员用表达造一个和自己工作相关的句子。</a:t>
            </a:r>
          </a:p>
          <a:p>
            <a:r>
              <a:t>How was your visit? (phrase) 您的访问怎么样? — “How was your visit to our factory?”</a:t>
            </a:r>
          </a:p>
          <a:p>
            <a:r>
              <a:t>Did you enjoy your stay? (phrase) 您住得愉快吗? — “Did you enjoy your stay in Shanghai?”</a:t>
            </a:r>
          </a:p>
          <a:p>
            <a:r>
              <a:t>What did you think of the factory / the meetings? (phrase) 您觉得工厂/会议怎么样? — “What did you think of the factory?”</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Asking about the visit 询问访问情况</a:t>
            </a:r>
          </a:p>
          <a:p>
            <a:r>
              <a:t>领读 → 学员跟读 → 请学员用表达造一个和自己工作相关的句子。</a:t>
            </a:r>
          </a:p>
          <a:p>
            <a:r>
              <a:t>★ Was everything to your satisfaction? (phrase (formal)) 一切都令您满意吗? — “Was everything to your satisfaction?”</a:t>
            </a:r>
          </a:p>
          <a:p>
            <a:r>
              <a:t>★ Is there anything we could have done better? (phrase) 有什么我们可以做得更好的吗? — “Is there anything we could have done better?”</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Describing your visit as a guest 作为客人描述访问</a:t>
            </a:r>
          </a:p>
          <a:p>
            <a:r>
              <a:t>领读 → 学员跟读 → 请学员用表达造一个和自己工作相关的句子。</a:t>
            </a:r>
          </a:p>
          <a:p>
            <a:r>
              <a:t>It was a very productive trip. (phrase) 这次行程很有成效 — “It was a very productive trip.”</a:t>
            </a:r>
          </a:p>
          <a:p>
            <a:r>
              <a:t>The highlight was… (phrase) 最精彩的部分是…… — “The highlight was the factory tour.”</a:t>
            </a:r>
          </a:p>
          <a:p>
            <a:r>
              <a:t>★ It was a real eye-opener. (idiom) 这真让人大开眼界 — “The tour was a real eye-opener.”</a:t>
            </a:r>
          </a:p>
          <a:p>
            <a:r>
              <a:t>I was impressed by… (phrase) 我对……印象深刻 — “I was impressed by your team’s professionalism.”</a:t>
            </a:r>
          </a:p>
          <a:p>
            <a:r>
              <a:t>I learned a lot. (phrase) 我学到了很多 — “I learned a lot about your production process.”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Giving feedback and thanking 反馈与感谢</a:t>
            </a:r>
          </a:p>
          <a:p>
            <a:r>
              <a:t>领读 → 学员跟读 → 请学员用表达造一个和自己工作相关的句子。</a:t>
            </a:r>
          </a:p>
          <a:p>
            <a:r>
              <a:t>Thank you for having me. (phrase) 谢谢您的款待 — “Thank you for having me. I really enjoyed it.”</a:t>
            </a:r>
          </a:p>
          <a:p>
            <a:r>
              <a:t>★ Thank you for your hospitality. (phrase (formal)) 感谢您的热情款待 — “Thank you for your hospitality.”</a:t>
            </a:r>
          </a:p>
          <a:p>
            <a:r>
              <a:t>★ One suggestion would be to… (phrase) 一个建议是…… — “One suggestion would be to start the tour earlier.”</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Giving feedback and thanking 反馈与感谢</a:t>
            </a:r>
          </a:p>
          <a:p>
            <a:r>
              <a:t>领读 → 学员跟读 → 请学员用表达造一个和自己工作相关的句子。</a:t>
            </a:r>
          </a:p>
          <a:p>
            <a:r>
              <a:t>★ It might be helpful if… (phrase (softened)) 如果……可能会更有帮助 — “It might be helpful if we had the agenda in advance.”</a:t>
            </a:r>
          </a:p>
          <a:p>
            <a:r>
              <a:t>I’m looking forward to the next visit. (phrase) 期待下次访问 — “I’m looking forward to the next visit.”</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impressed / stay / highlight / hospitality / visit / helpful</a:t>
            </a:r>
          </a:p>
          <a:p>
            <a:r>
              <a:t>1. How was your _______ to our factory? → visit</a:t>
            </a:r>
          </a:p>
          <a:p>
            <a:r>
              <a:t>2. Did you enjoy your _______ in Shanghai? → stay</a:t>
            </a:r>
          </a:p>
          <a:p>
            <a:r>
              <a:t>3. The _______ was the factory tour. → highlight</a:t>
            </a:r>
          </a:p>
          <a:p>
            <a:r>
              <a:t>4. I was _______ by your team’s professionalism. → impressed</a:t>
            </a:r>
          </a:p>
          <a:p>
            <a:r>
              <a:t>5. Thank you for your _______. → hospitality</a:t>
            </a:r>
          </a:p>
          <a:p>
            <a:r>
              <a:t>6. It might be _______ if we had the agenda in advance. → helpful</a:t>
            </a:r>
          </a:p>
          <a:p>
            <a:r>
              <a:t>Mistake Watch (搭配与拼写): hospitality (not “hospitaly”), impressed (adjective), satisfaction, eye-opener. “Thank you for having me” is the natural thing to say after a visit. Visit a place (no “to” for the verb): “I visited the factory.” (“a visit to the factory” for the noun.)</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Asking a guest for feedback 向客人征求反馈</a:t>
            </a:r>
          </a:p>
          <a:p>
            <a:r>
              <a:t>情景：At the end of Mr Reed’s visit, Li Wei asks how it went.</a:t>
            </a:r>
          </a:p>
          <a:p>
            <a:r>
              <a:t>Role A: Li Wei, host Role B: James Reed, guest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James, before you leave, I’d like to ask: how was your visit?</a:t>
            </a:r>
          </a:p>
          <a:p>
            <a:r>
              <a:t>B (James): It was excellent. A very productive trip, and I learned a lot.</a:t>
            </a:r>
          </a:p>
          <a:p>
            <a:r>
              <a:t>A: I’m glad to hear it. What did you think of the factory tour?</a:t>
            </a:r>
          </a:p>
          <a:p>
            <a:r>
              <a:t>B: It was a real eye-opener. I was impressed by how organized everything was.</a:t>
            </a:r>
          </a:p>
          <a:p>
            <a:r>
              <a:t>A: Thank you. Was everything to your satisfaction? The hotel, the food, the transport?</a:t>
            </a:r>
          </a:p>
          <a:p>
            <a:r>
              <a:t>B: Everything was fine. The only small thing: the hotel was a bit far from the office.</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see. Is there anything we could have done better?</a:t>
            </a:r>
          </a:p>
          <a:p>
            <a:r>
              <a:t>B: One suggestion would be to put the schedule in the hotel in advance. It might be helpful if we had it before the trip.</a:t>
            </a:r>
          </a:p>
          <a:p>
            <a:r>
              <a:t>A: That’s a very good point. Thank you. We’ll do that next time.</a:t>
            </a:r>
          </a:p>
          <a:p>
            <a:r>
              <a:t>B: And thank you for your hospitality. I really enjoyed it.</a:t>
            </a:r>
          </a:p>
          <a:p>
            <a:r>
              <a:t>A: It was our pleasure. We look forward to your next visit.</a:t>
            </a:r>
          </a:p>
          <a:p>
            <a:r>
              <a:t>B: Me too. I’ll write up my notes and send them to you.</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79 | </a:t>
            </a:r>
          </a:p>
          <a:p>
            <a:r>
              <a:t>Situation | At the end of a visit, you ask the guest for feedback.</a:t>
            </a:r>
          </a:p>
          <a:p>
            <a:r>
              <a:t>Your role (A) | Host. Ask about the visit and ask for improvement ideas.</a:t>
            </a:r>
          </a:p>
          <a:p>
            <a:r>
              <a:t>Partner’s role (B) | Guest. Positive overall with one small suggestion.</a:t>
            </a:r>
          </a:p>
          <a:p>
            <a:r>
              <a:t>Must use (4 or more) | How was your visit? · What did you think of…? · Was everything to your satisfaction? · Is there anything we could have done better? · Thank you for your hospitality.</a:t>
            </a:r>
          </a:p>
          <a:p>
            <a:r>
              <a:t>Goal | Collect feedback and thank the guest. About 2 minutes.</a:t>
            </a:r>
          </a:p>
          <a:p>
            <a:r>
              <a:t>My notes | ____________________________________________</a:t>
            </a:r>
          </a:p>
          <a:p>
            <a:r>
              <a:t>The guest is unhappy about the hotel. Say: “I’m sorry to hear that. I’ll look into it.”</a:t>
            </a:r>
          </a:p>
          <a:p>
            <a:r>
              <a:t>Respond to a compliment: “That’s very kind of you to say so.”</a:t>
            </a:r>
          </a:p>
          <a:p>
            <a:r>
              <a:t>Ask for specific feedback: “On a scale of 1 to 5, how useful was the tour?”</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about a visit to a colleague 对同事讲述访问经历</a:t>
            </a:r>
          </a:p>
          <a:p>
            <a:r>
              <a:t>情景：You return from a visit to a supplier and tell your manager about it.</a:t>
            </a:r>
          </a:p>
          <a:p>
            <a:r>
              <a:t>Role A: Sophie Zhou, manager Role B: Li Wei, returning from a visit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(Sophie): Welcome back, Li Wei. How was your visit to Nordic Steel?</a:t>
            </a:r>
          </a:p>
          <a:p>
            <a:r>
              <a:t>B (Li Wei): Very productive, thanks. The highlight was the factory tour. I was impressed by their quality control.</a:t>
            </a:r>
          </a:p>
          <a:p>
            <a:r>
              <a:t>A: Good. What did you think of the team?</a:t>
            </a:r>
          </a:p>
          <a:p>
            <a:r>
              <a:t>B: Very professional. They answered all my questions, and they’d prepared a detailed presentation.</a:t>
            </a:r>
          </a:p>
          <a:p>
            <a:r>
              <a:t>A: Did they agree to the new prices?</a:t>
            </a:r>
          </a:p>
          <a:p>
            <a:r>
              <a:t>B: Not yet. They said they need two weeks to check, but I think they will accept.</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Were there any problems?</a:t>
            </a:r>
          </a:p>
          <a:p>
            <a:r>
              <a:t>B: Only a small one: the meeting started 30 minutes late because the manager’s flight was delayed.</a:t>
            </a:r>
          </a:p>
          <a:p>
            <a:r>
              <a:t>A: OK. And what are the next steps?</a:t>
            </a:r>
          </a:p>
          <a:p>
            <a:r>
              <a:t>B: I’ll write a report by Thursday, and I’m going to send them a thank-you email today.</a:t>
            </a:r>
          </a:p>
          <a:p>
            <a:r>
              <a:t>A: Good. Please send me the report.</a:t>
            </a:r>
          </a:p>
          <a:p>
            <a:r>
              <a:t>B: Of course. I’ve learned a lot, and I’d like to invite them to our factory in spring.</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80 | </a:t>
            </a:r>
          </a:p>
          <a:p>
            <a:r>
              <a:t>Situation | You report on a business visit.</a:t>
            </a:r>
          </a:p>
          <a:p>
            <a:r>
              <a:t>Your role (B) | Visitor. Report the highlights, one problem, and next steps.</a:t>
            </a:r>
          </a:p>
          <a:p>
            <a:r>
              <a:t>Partner’s role (A) | Manager. Asks 4 questions.</a:t>
            </a:r>
          </a:p>
          <a:p>
            <a:r>
              <a:t>Must use (4 or more) | How was…? · The highlight was… · I was impressed by… · Only a small problem: … · I’ll write a report by…</a:t>
            </a:r>
          </a:p>
          <a:p>
            <a:r>
              <a:t>Goal | Report on the visit in 90 seconds and agree on the next step.</a:t>
            </a:r>
          </a:p>
          <a:p>
            <a:r>
              <a:t>My notes | ____________________________________________</a:t>
            </a:r>
          </a:p>
          <a:p>
            <a:r>
              <a:t>Report a negative experience politely: “It wasn’t perfect, but…”</a:t>
            </a:r>
          </a:p>
          <a:p>
            <a:r>
              <a:t>Give numbers: “We visited three factories in two days.”</a:t>
            </a:r>
          </a:p>
          <a:p>
            <a:r>
              <a:t>Suggest a follow-up: “I think we should send them a thank-you gift.”</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makes a business visit successful? | “A successful visit has a clear purpose and…” / “It’s successful when both sides…”</a:t>
            </a:r>
          </a:p>
          <a:p>
            <a:r>
              <a:t>2. How do you give negative feedback politely to a host? | “I start with something positive, then say ‘One suggestion would be…’” / “I never criticize the people, only the process.”</a:t>
            </a:r>
          </a:p>
          <a:p>
            <a:r>
              <a:t>3. How do you respond when a guest says something negative about your company? | “I thank them for their honesty and say…” / “I don’t get defensive.”</a:t>
            </a:r>
          </a:p>
          <a:p>
            <a:r>
              <a:t>4. Do you think visitor feedback forms are useful? | “Yes, because they show…” / “Only if the company actually uses them.”</a:t>
            </a:r>
          </a:p>
          <a:p>
            <a:r>
              <a:t>5. What do you remember most about the best visit you ever made? | “What I remember most is…” / “The people were so… that…”</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start with something positive, because I really appreciate the host’s effort. Then I say,”One suggestion would be…” or “It might be helpful if…”. I use these soft expressions because I don’t want to sound critical. I talk about the process, not the people. For example, I don’t say, “The schedule was terrible.” I say, “It might be helpful to have the schedule a week earlier.””</a:t>
            </a:r>
          </a:p>
          <a:p>
            <a:r>
              <a:t>“start with something positive”(先说好的)。“soft expressions”(委婉表达)。“talk about the process, not the people”(对事不对人)。</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language: visit feedback 访问反馈用语</a:t>
            </a:r>
          </a:p>
          <a:p>
            <a:r>
              <a:t>Function | Say this</a:t>
            </a:r>
          </a:p>
          <a:p>
            <a:r>
              <a:t>Ask (host) | How was your visit? / Did you enjoy your stay?</a:t>
            </a:r>
          </a:p>
          <a:p>
            <a:r>
              <a:t>Ask (formal) | Was everything to your satisfaction? ★ / Is there anything we could have done better? ★</a:t>
            </a:r>
          </a:p>
          <a:p>
            <a:r>
              <a:t>Praise (guest) | It was a very productive trip. / I was impressed by… / It was a real eye-opener. ★</a:t>
            </a:r>
          </a:p>
          <a:p>
            <a:r>
              <a:t>Highlight | The highlight was… / What I enjoyed most was…</a:t>
            </a:r>
          </a:p>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language: visit feedback 访问反馈用语</a:t>
            </a:r>
          </a:p>
          <a:p>
            <a:r>
              <a:t>Function | Say this</a:t>
            </a:r>
          </a:p>
          <a:p>
            <a:r>
              <a:t>Suggest | One suggestion would be to… ★ / It might be helpful if… ★</a:t>
            </a:r>
          </a:p>
          <a:p>
            <a:r>
              <a:t>Thank | Thank you for having me. / Thank you for your hospitality. ★</a:t>
            </a:r>
          </a:p>
          <a:p>
            <a:r>
              <a:t>Future | I’m looking forward to the next visit. / I hope you can visit us soon.</a:t>
            </a:r>
          </a:p>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Polite feedback: positive + suggestion 礼貌反馈:先肯定再建议</a:t>
            </a:r>
          </a:p>
          <a:p>
            <a:r>
              <a:t>Direct ✗ | Softer ✓</a:t>
            </a:r>
          </a:p>
          <a:p>
            <a:r>
              <a:t>The hotel was too far. | The hotel was lovely, though it was a bit far from the office.</a:t>
            </a:r>
          </a:p>
          <a:p>
            <a:r>
              <a:t>The schedule was terrible. | It might be helpful to have the schedule a week earlier.</a:t>
            </a:r>
          </a:p>
          <a:p>
            <a:r>
              <a:t>The meeting started late. | The meeting started a little late, but it was well organized.</a:t>
            </a:r>
          </a:p>
          <a:p>
            <a:r>
              <a:t>You didn’t give us lunch. | Next time, it would be great if lunch could be included.</a:t>
            </a:r>
          </a:p>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Polite feedback: positive + suggestion 礼貌反馈:先肯定再建议</a:t>
            </a:r>
          </a:p>
          <a:p>
            <a:r>
              <a:t>Sandwich method: positive → suggestion → positive. “The tour was great. It might be helpful to have more time for questions. Overall, I learned a lot.”</a:t>
            </a:r>
          </a:p>
          <a:p>
            <a:r>
              <a:t>Softeners: a bit, a little, slightly, though, however, perhaps.</a:t>
            </a:r>
          </a:p>
          <a:p>
            <a:r>
              <a:t>Comparatives for suggestions: “It would be better if…” “It would be easier to…”</a:t>
            </a:r>
          </a:p>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How is your visit? (after)  →  ✓ How was your visit?  (访问已结束 → 过去式)</a:t>
            </a:r>
          </a:p>
          <a:p>
            <a:r>
              <a:t>✗ I visited to your factory.  →  ✓ I visited your factory. / I paid a visit to your factory.  (visit 作动词不加 to)</a:t>
            </a:r>
          </a:p>
          <a:p>
            <a:r>
              <a:t>✗ Thank you for invite me.  →  ✓ Thank you for having me. / inviting me.  (for + -ing)</a:t>
            </a:r>
          </a:p>
          <a:p>
            <a:r>
              <a:t>✗ Very good. (as the only answer)  →  ✓ It was very good, thanks. I particularly enjoyed the tour.  (补充一点具体内容)</a:t>
            </a:r>
          </a:p>
          <a:p>
            <a:r>
              <a:t>Mistake Watch: was (past) for finished visits, visit + object (no “to”), satisfied with, impressed by, Thank you for having me.</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food very delicious.  →  ✓ The food was delicious.  (缺 be 动词)</a:t>
            </a:r>
          </a:p>
          <a:p>
            <a:r>
              <a:t>✗ I am satisfied for the visit.  →  ✓ I’m satisfied with the visit. / It was satisfactory.  (satisfied with)</a:t>
            </a:r>
          </a:p>
          <a:p>
            <a:r>
              <a:t>✗ I was impress by your team.  →  ✓ I was impressed by your team.  (被动式)</a:t>
            </a:r>
          </a:p>
          <a:p>
            <a:r>
              <a:t>✗ Your hotel is bad.  →  ✓ The hotel could be a little closer. / It might be helpful if…  (委婉)</a:t>
            </a:r>
          </a:p>
          <a:p>
            <a:r>
              <a:t>Mistake Watch: was (past) for finished visits, visit + object (no “to”), satisfied with, impressed by, Thank you for having me.</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 is my honor.  →  ✓ It was our pleasure. / It’s been a pleasure having you.  (英文更常用)</a:t>
            </a:r>
          </a:p>
          <a:p>
            <a:r>
              <a:t>✗ hospitaly / satisfacton  →  ✓ hospitality / satisfaction  (拼写)</a:t>
            </a:r>
          </a:p>
          <a:p>
            <a:r>
              <a:t>Mistake Watch: was (past) for finished visits, visit + object (no “to”), satisfied with, impressed by, Thank you for having me.</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Compliments are expected. A short, specific compliment (“I was impressed by your quality control”) means more than “Everything was good.”</a:t>
            </a:r>
          </a:p>
          <a:p>
            <a:r>
              <a:t>Negative feedback: Be gentle. In English-speaking business, harsh criticism of a host is rare. Use “It might be helpful if…”.</a:t>
            </a:r>
          </a:p>
          <a:p>
            <a:r>
              <a:t>Hosts: If a guest gives a suggestion, say thank you, not “No, you are wrong.” Write it down.</a:t>
            </a:r>
          </a:p>
          <a:p>
            <a:r>
              <a:t>Follow up: Send a thank-you email within 24 hours: mention one specific thing you enjoyed.</a:t>
            </a:r>
          </a:p>
          <a:p>
            <a:r>
              <a:t>Cultural humility: If something was unusual, ask a question instead of judging: “Is that the usual way you do it?”</a:t>
            </a:r>
          </a:p>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ask a guest about a visit (How was your visit? Was everything to your satisfaction?).</a:t>
            </a:r>
          </a:p>
          <a:p>
            <a:r>
              <a:t>I can describe a visit with highlights and impressions (The highlight was… I was impressed by…).</a:t>
            </a:r>
          </a:p>
          <a:p>
            <a:r>
              <a:t>I can give polite feedback with a suggestion (One suggestion would be… It might be helpful if…).</a:t>
            </a:r>
          </a:p>
          <a:p>
            <a:r>
              <a:t>I can thank my hosts (Thank you for having me. Thank you for your hospitality.).</a:t>
            </a:r>
          </a:p>
          <a:p>
            <a:r>
              <a:t>I can use the past simple, visit (no “to”), satisfied with and impressed by correctly.</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past simple, visit + object, satisfied with / impressed by, softening feedback, and spelling (hospitality, satisfaction).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43 · What can I do for you? 我能为您做些什么?</a:t>
            </a:r>
          </a:p>
          <a:p>
            <a:r>
              <a:t>Goal: offer help, ask for a favour and respond to requests: ask what someone needs, make offers (Shall I…? Would you like me to…?), say yes or no politely, and promise follow-up action.</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题讲过去的事,请用过去式(helped, sent, checked)。第 3、4 题可以说 “I usually say…”。</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how you offer help and how you say no politely at work.</a:t>
            </a:r>
          </a:p>
          <a:p>
            <a:r>
              <a:t>Say: a situation → what you offer → how you ask for a favour → how you refuse politely → a follow-up.</a:t>
            </a:r>
          </a:p>
          <a:p>
            <a:r>
              <a:t>Useful starters: “I usually say…” / “If I can’t help, I…” / “I’d be happy to…” / “I’m afraid I can’t, but…”</a:t>
            </a:r>
          </a:p>
          <a:p>
            <a:r>
              <a:t>提供帮助用 Shall I / Would you like me to;婉拒时先说 I’d love to, but… 或 I’m afraid I can’t, but… 再给替代方案。</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Offering help 主动提供帮助</a:t>
            </a:r>
          </a:p>
          <a:p>
            <a:r>
              <a:t>领读 → 学员跟读 → 请学员用表达造一个和自己工作相关的句子。</a:t>
            </a:r>
          </a:p>
          <a:p>
            <a:r>
              <a:t>What can I do for you? (phrase) 我能为您做什么? — “Good morning. What can I do for you?”</a:t>
            </a:r>
          </a:p>
          <a:p>
            <a:r>
              <a:t>Shall I…? / Would you like me to…? (phrase) 要我……吗? — “Shall I book a taxi for you?”</a:t>
            </a:r>
          </a:p>
          <a:p>
            <a:r>
              <a:t>Is there anything else I can help you with? (phrase) 还有什么需要我帮忙的吗? — “Is there anything else I can help you with?”</a:t>
            </a:r>
          </a:p>
          <a:p>
            <a:r>
              <a:t>★ Leave it with me. (idiom) 交给我吧 — “Leave it with me. I’ll sort it out.”</a:t>
            </a:r>
          </a:p>
          <a:p>
            <a:r>
              <a:t>★ I’ll see what I can do. (phrase) 我看看能做些什么 — “I’ll see what I can do.”</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Asking for a favour 请求帮忙</a:t>
            </a:r>
          </a:p>
          <a:p>
            <a:r>
              <a:t>领读 → 学员跟读 → 请学员用表达造一个和自己工作相关的句子。</a:t>
            </a:r>
          </a:p>
          <a:p>
            <a:r>
              <a:t>Could you do me a favour? (phrase) 能帮我个忙吗? — “Could you do me a favour?”</a:t>
            </a:r>
          </a:p>
          <a:p>
            <a:r>
              <a:t>Would you mind checking this for me? (phrase) 你介意帮我看看这个吗? — “Would you mind checking this for me?”</a:t>
            </a:r>
          </a:p>
          <a:p>
            <a:r>
              <a:t>I was wondering if you could… (phrase (polite)) 我想知道您能否…… — “I was wondering if you could introduce me to him.”</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Asking for a favour 请求帮忙</a:t>
            </a:r>
          </a:p>
          <a:p>
            <a:r>
              <a:t>领读 → 学员跟读 → 请学员用表达造一个和自己工作相关的句子。</a:t>
            </a:r>
          </a:p>
          <a:p>
            <a:r>
              <a:t>★ I hate to bother you, but… (phrase) 不好意思打扰,但是…… — “I hate to bother you, but do you have a minute?”</a:t>
            </a:r>
          </a:p>
          <a:p>
            <a:r>
              <a:t>★ I’d really appreciate it if you could… (phrase) 如果您能……我会很感激 — “I’d really appreciate it if you could send it today.”</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Saying yes, no and thanks 答应、婉拒与感谢</a:t>
            </a:r>
          </a:p>
          <a:p>
            <a:r>
              <a:t>领读 → 学员跟读 → 请学员用表达造一个和自己工作相关的句子。</a:t>
            </a:r>
          </a:p>
          <a:p>
            <a:r>
              <a:t>Sure. No problem. / Of course. (phrase) 当然,没问题 — “Sure. No problem.”</a:t>
            </a:r>
          </a:p>
          <a:p>
            <a:r>
              <a:t>I’d be happy to. (phrase) 我很乐意 — “I’d be happy to help.”</a:t>
            </a:r>
          </a:p>
          <a:p>
            <a:r>
              <a:t>★ I’m afraid I can’t, but I could… (phrase) 恐怕不行,但我可以…… — “I’m afraid I can’t, but I could ask Dan.”</a:t>
            </a:r>
          </a:p>
          <a:p>
            <a:r>
              <a:t>★ I owe you one. (idiom) 我欠你一个人情 — “Thanks a lot. I owe you one.”</a:t>
            </a:r>
          </a:p>
          <a:p>
            <a:r>
              <a:t>Thank you so much. That’s very kind of you. (phrase) 太谢谢了,你真好 — “Thank you so much. That’s very kind of you.”</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owe / Leave / wondering / Shall / mind / you</a:t>
            </a:r>
          </a:p>
          <a:p>
            <a:r>
              <a:t>1. Good morning. What can I do for _______? → you</a:t>
            </a:r>
          </a:p>
          <a:p>
            <a:r>
              <a:t>2. _______ I book a taxi for you? → Shall</a:t>
            </a:r>
          </a:p>
          <a:p>
            <a:r>
              <a:t>3. Would you _______ checking this for me? → mind</a:t>
            </a:r>
          </a:p>
          <a:p>
            <a:r>
              <a:t>4. I was _______ if you could introduce me to him. → wondering</a:t>
            </a:r>
          </a:p>
          <a:p>
            <a:r>
              <a:t>5. _______ it with me. I’ll sort it out. → Leave</a:t>
            </a:r>
          </a:p>
          <a:p>
            <a:r>
              <a:t>6. Thanks a lot. I _______ you one. → owe</a:t>
            </a:r>
          </a:p>
          <a:p>
            <a:r>
              <a:t>Mistake Watch (搭配与句型): do a favour (UK: favour; US: favor), mind + -ing, would you mind, sort it out, arrange for. Say “Could you do me a favour?” (not “make me a favour”).</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colleague needs help 同事需要帮助</a:t>
            </a:r>
          </a:p>
          <a:p>
            <a:r>
              <a:t>情景：A new colleague asks for help with a report. You offer help and ask for a favour in return.</a:t>
            </a:r>
          </a:p>
          <a:p>
            <a:r>
              <a:t>Role A: Li Wei Role B: Anna Lee, new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Hi Anna, you look busy. What can I do for you?</a:t>
            </a:r>
          </a:p>
          <a:p>
            <a:r>
              <a:t>B (Anna): Hi Li Wei. I’m struggling with this sales report. Could you do me a favour?</a:t>
            </a:r>
          </a:p>
          <a:p>
            <a:r>
              <a:t>A: Sure. What do you need?</a:t>
            </a:r>
          </a:p>
          <a:p>
            <a:r>
              <a:t>B: Would you mind checking my English? I’d really appreciate it.</a:t>
            </a:r>
          </a:p>
          <a:p>
            <a:r>
              <a:t>A: Of course. Send it over. Shall I look at it now, or do you need it later?</a:t>
            </a:r>
          </a:p>
          <a:p>
            <a:r>
              <a:t>B: If you could look at it this afternoon, that would be great. I have to send it by five.</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I’ll do it right after lunch. Leave it with me.</a:t>
            </a:r>
          </a:p>
          <a:p>
            <a:r>
              <a:t>B: Thanks so much. I owe you one.</a:t>
            </a:r>
          </a:p>
          <a:p>
            <a:r>
              <a:t>A: Actually, could I ask you for a favour as well?</a:t>
            </a:r>
          </a:p>
          <a:p>
            <a:r>
              <a:t>B: Of course.</a:t>
            </a:r>
          </a:p>
          <a:p>
            <a:r>
              <a:t>A: I was wondering if you could cover for me at Thursday’s meeting. I have a dentist’s appointment.</a:t>
            </a:r>
          </a:p>
          <a:p>
            <a:r>
              <a:t>B: No problem. I’d be happy to. Just send me the notes.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81 | </a:t>
            </a:r>
          </a:p>
          <a:p>
            <a:r>
              <a:t>Situation | A colleague asks you for a favour, and you ask for one back.</a:t>
            </a:r>
          </a:p>
          <a:p>
            <a:r>
              <a:t>Your role (A) | Helpful colleague. Offer, agree, ask for a favour.</a:t>
            </a:r>
          </a:p>
          <a:p>
            <a:r>
              <a:t>Partner’s role (B) | New colleague. Polite and grateful.</a:t>
            </a:r>
          </a:p>
          <a:p>
            <a:r>
              <a:t>Must use (4 or more) | What can I do for you? · Shall I…? · Leave it with me. · I was wondering if you could… · I owe you one.</a:t>
            </a:r>
          </a:p>
          <a:p>
            <a:r>
              <a:t>Goal | Give help, make a request and end with thanks.</a:t>
            </a:r>
          </a:p>
          <a:p>
            <a:r>
              <a:t>My notes | ____________________________________________</a:t>
            </a:r>
          </a:p>
          <a:p>
            <a:r>
              <a:t>You are too busy. Say: “I’m afraid I can’t do it today, but I could do it tomorrow morning.”</a:t>
            </a:r>
          </a:p>
          <a:p>
            <a:r>
              <a:t>Ask for something bigger: “I hate to bother you, but would you have time to look at the whole presentation?”</a:t>
            </a:r>
          </a:p>
          <a:p>
            <a:r>
              <a:t>Reply to thanks: “Don’t mention it.” / “Any time.”</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client asks a favour you partly decline 客户请求的婉拒</a:t>
            </a:r>
          </a:p>
          <a:p>
            <a:r>
              <a:t>情景：A client asks you to deliver an urgent order in two days and to give a big discount. You can do one but not the other.</a:t>
            </a:r>
          </a:p>
          <a:p>
            <a:r>
              <a:t>Role A: Li Wei, supplier Role B: Mr Carter, client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Good afternoon, Mr Carter. What can I do for you?</a:t>
            </a:r>
          </a:p>
          <a:p>
            <a:r>
              <a:t>B (Mr Carter): Hello. I was wondering if you could do me a favour. We need the order by Friday, and we’d also like a ten percent discount.</a:t>
            </a:r>
          </a:p>
          <a:p>
            <a:r>
              <a:t>A: I see. Let me see what I can do about the delivery. I’ll check with the warehouse.</a:t>
            </a:r>
          </a:p>
          <a:p>
            <a:r>
              <a:t>B: I’d really appreciate it if you could. It’s quite urgent.</a:t>
            </a:r>
          </a:p>
          <a:p>
            <a:r>
              <a:t>A: I’m afraid I can’t promise Friday, but I could try to get it to you by Saturday morning. Would that help?</a:t>
            </a:r>
          </a:p>
          <a:p>
            <a:r>
              <a:t>B: Saturday morning could work. And what about the discount?</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I’m afraid I can’t offer ten percent. That’s beyond what I’m allowed to do. But I could offer free shipping.</a:t>
            </a:r>
          </a:p>
          <a:p>
            <a:r>
              <a:t>B: Hmm. Free shipping is a good start. Could you ask your manager about a small discount?</a:t>
            </a:r>
          </a:p>
          <a:p>
            <a:r>
              <a:t>A: I’ll see what I can do, and I’ll get back to you by tomorrow.</a:t>
            </a:r>
          </a:p>
          <a:p>
            <a:r>
              <a:t>B: That would be great. Thank you for being so helpful.</a:t>
            </a:r>
          </a:p>
          <a:p>
            <a:r>
              <a:t>A: You’re welcome. Is there anything else I can help you with?</a:t>
            </a:r>
          </a:p>
          <a:p>
            <a:r>
              <a:t>B: No, that’s all. Thanks.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82 | </a:t>
            </a:r>
          </a:p>
          <a:p>
            <a:r>
              <a:t>Situation | A client asks for two favours. You can agree to one.</a:t>
            </a:r>
          </a:p>
          <a:p>
            <a:r>
              <a:t>Your role (A) | Supplier. Try to help, but say no to the discount politely.</a:t>
            </a:r>
          </a:p>
          <a:p>
            <a:r>
              <a:t>Partner’s role (B) | Client. Persistent but polite.</a:t>
            </a:r>
          </a:p>
          <a:p>
            <a:r>
              <a:t>Must use (4 or more) | I’ll see what I can do. · I’m afraid I can’t…, but I could… · That’s beyond what I’m allowed to do. · I’ll get back to you. · Is there anything else…?</a:t>
            </a:r>
          </a:p>
          <a:p>
            <a:r>
              <a:t>Goal | Say no to one request and offer an alternative. Agree on the next step.</a:t>
            </a:r>
          </a:p>
          <a:p>
            <a:r>
              <a:t>My notes | ____________________________________________</a:t>
            </a:r>
          </a:p>
          <a:p>
            <a:r>
              <a:t>The client insists. Say: “I understand, but I really can’t. Let me check with my manager.”</a:t>
            </a:r>
          </a:p>
          <a:p>
            <a:r>
              <a:t>Agree fully: “Leave it with me. I’ll arrange it.”</a:t>
            </a:r>
          </a:p>
          <a:p>
            <a:r>
              <a:t>Finish the call: “Thanks again. Please let me know if you need anything else.”</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Do you find it easy to ask for help? Why or why not? | “I find it easy / difficult because…” / “I don’t like to bother people.”</a:t>
            </a:r>
          </a:p>
          <a:p>
            <a:r>
              <a:t>2. How do you say no politely at work? | “I start by saying ‘I’d love to, but…’” / “I give a reason and an alternative.”</a:t>
            </a:r>
          </a:p>
          <a:p>
            <a:r>
              <a:t>3. Should you do favours for clients? Where is the limit? | “I think you should help, as long as…” / “It depends on whether…”</a:t>
            </a:r>
          </a:p>
          <a:p>
            <a:r>
              <a:t>4. How do you thank someone who helped you a lot? | “I send an email” / “I buy them lunch”</a:t>
            </a:r>
          </a:p>
          <a:p>
            <a:r>
              <a:t>5. Do you think a favour should be returned? Why? | “I think so, because…” / “Not necessarily; helping is part of the job.”</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start with a positive word, like”I’d love to help, but…” or “I’m afraid I can’t, but I could…”. Then I give a short reason and, if possible, an alternative. For example, “I’m afraid I can’t finish it today, but I could do it first thing tomorrow.” I try never to just say “no”, because it can sound unfriendly. Most people appreciate an honest answer and a different solution.”</a:t>
            </a:r>
          </a:p>
          <a:p>
            <a:r>
              <a:t>“I’d love to, but…”(我很想,但……)。“first thing tomorrow”(明天一早)。“never to just say no”(不要只说 no)。</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language: offers and favours 提供帮助与请求帮忙</a:t>
            </a:r>
          </a:p>
          <a:p>
            <a:r>
              <a:t>Function | Say this</a:t>
            </a:r>
          </a:p>
          <a:p>
            <a:r>
              <a:t>Offer | What can I do for you? / Shall I…? / Would you like me to…?</a:t>
            </a:r>
          </a:p>
          <a:p>
            <a:r>
              <a:t>Offer (extra) | Is there anything else I can help you with?</a:t>
            </a:r>
          </a:p>
          <a:p>
            <a:r>
              <a:t>Promise | Leave it with me. ★ / I’ll see what I can do. ★</a:t>
            </a:r>
          </a:p>
          <a:p>
            <a:r>
              <a:t>Ask (neutral) | Could you do me a favour? / Would you mind -ing…?</a:t>
            </a:r>
          </a:p>
          <a:p>
            <a:r>
              <a:t>Ask (polite) | I was wondering if you could… / I hate to bother you, but… ★</a:t>
            </a:r>
          </a:p>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language: offers and favours 提供帮助与请求帮忙</a:t>
            </a:r>
          </a:p>
          <a:p>
            <a:r>
              <a:t>Function | Say this</a:t>
            </a:r>
          </a:p>
          <a:p>
            <a:r>
              <a:t>Ask (strong) | I’d really appreciate it if you could… ★</a:t>
            </a:r>
          </a:p>
          <a:p>
            <a:r>
              <a:t>Accept | Sure. / Of course. / I’d be happy to.</a:t>
            </a:r>
          </a:p>
          <a:p>
            <a:r>
              <a:t>Decline | I’m afraid I can’t, but I could… ★</a:t>
            </a:r>
          </a:p>
          <a:p>
            <a:r>
              <a:t>Thank | I owe you one. ★ / That’s very kind of you.</a:t>
            </a:r>
          </a:p>
          <a:p>
            <a:r>
              <a:t>Reply to thanks | Don’t mention it. / Any time. / My pleasure.</a:t>
            </a:r>
          </a:p>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Requests: from direct to very polite 从直接到很客气</a:t>
            </a:r>
          </a:p>
          <a:p>
            <a:r>
              <a:t>Level | Example</a:t>
            </a:r>
          </a:p>
          <a:p>
            <a:r>
              <a:t>Direct | Check this for me. (too direct)</a:t>
            </a:r>
          </a:p>
          <a:p>
            <a:r>
              <a:t>Neutral | Can you check this for me?</a:t>
            </a:r>
          </a:p>
          <a:p>
            <a:r>
              <a:t>Polite | Could you check this for me, please?</a:t>
            </a:r>
          </a:p>
          <a:p>
            <a:r>
              <a:t>Very polite | Would you mind checking this for me?</a:t>
            </a:r>
          </a:p>
          <a:p>
            <a:r>
              <a:t>Very polite ★ | I was wondering if you could check this for me.</a:t>
            </a:r>
          </a:p>
          <a:p>
            <a:r>
              <a:t>Very polite ★ | I’d really appreciate it if you could check this.</a:t>
            </a:r>
          </a:p>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Requests: from direct to very polite 从直接到很客气</a:t>
            </a:r>
          </a:p>
          <a:p>
            <a:r>
              <a:t>Answering “Would you mind…?”: “Not at all.” / “No, of course not.” / “Sure, no problem.” Don’t answer “Yes” (it means you do mind).</a:t>
            </a:r>
          </a:p>
          <a:p>
            <a:r>
              <a:t>Offers: Shall I + base verb (UK) / Would you like me to + base verb. “Shall I open the window?”</a:t>
            </a:r>
          </a:p>
          <a:p>
            <a:r>
              <a:t>Softening a refusal: apology + reason + alternative: “I’m afraid I can’t. I’m in a meeting all day, but I could do it tomorrow.”</a:t>
            </a:r>
          </a:p>
          <a:p>
            <a:r>
              <a:t>Would you mind + -ing: “Would you mind closing the door?” (not “to close”)</a:t>
            </a:r>
          </a:p>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Can I help you something?  →  ✓ Can I help you with anything? / What can I do for you?  (help sb with sth)</a:t>
            </a:r>
          </a:p>
          <a:p>
            <a:r>
              <a:t>✗ Would you mind to check it?  →  ✓ Would you mind checking it?  (mind + -ing)</a:t>
            </a:r>
          </a:p>
          <a:p>
            <a:r>
              <a:t>✗ Would you mind opening the window? “Yes, of course.”  →  ✓ “Not at all.” / “No problem.”  (Yes 会变成”我介意”)</a:t>
            </a:r>
          </a:p>
          <a:p>
            <a:r>
              <a:t>✗ Please help me. (to a colleague)  →  ✓ Could you give me a hand with this? / Could you help me with this?  (命令式太直接)</a:t>
            </a:r>
          </a:p>
          <a:p>
            <a:r>
              <a:t>✗ Make me a favour.  →  ✓ Do me a favour.  (do a favour)</a:t>
            </a:r>
          </a:p>
          <a:p>
            <a:r>
              <a:t>Mistake Watch: mind + -ing, do a favour (not “make”), help sb with sth, not at all (not “yes”) when answering Would you mind…?, I’m afraid I can’t, but I could….</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No, I can’t.  →  ✓ I’m afraid I can’t, but I could…  (说不时给出替代方案)</a:t>
            </a:r>
          </a:p>
          <a:p>
            <a:r>
              <a:t>✗ I will help you do that. (offer)  →  ✓ Shall I do that for you? / Would you like me to do that?  (提供帮助更礼貌)</a:t>
            </a:r>
          </a:p>
          <a:p>
            <a:r>
              <a:t>✗ I will return your favour. (as a casual thanks)  →  ✓ Thanks, I owe you one.  (口语固定说法)</a:t>
            </a:r>
          </a:p>
          <a:p>
            <a:r>
              <a:t>✗ Thank you for your help me.  →  ✓ Thank you for your help. / for helping me.  (for + 名词 / -ing)</a:t>
            </a:r>
          </a:p>
          <a:p>
            <a:r>
              <a:t>✗ Welcome. (reply to thanks)  →  ✓ You’re welcome. / Don’t mention it. / Any time.  (缺 You’re)</a:t>
            </a:r>
          </a:p>
          <a:p>
            <a:r>
              <a:t>Mistake Watch: mind + -ing, do a favour (not “make”), help sb with sth, not at all (not “yes”) when answering Would you mind…?, I’m afraid I can’t, but I could….</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Saying no is normal. English speakers value honesty. A polite “no” with an alternative is better than a vague “maybe” which you can’t keep.</a:t>
            </a:r>
          </a:p>
          <a:p>
            <a:r>
              <a:t>Favours and reciprocity. “I owe you one” shows you remember. A small return gesture (coffee, lunch) is a nice touch.</a:t>
            </a:r>
          </a:p>
          <a:p>
            <a:r>
              <a:t>Don’t overpromise. “I’ll see what I can do” is a soft promise; if you can’t help, say so quickly.</a:t>
            </a:r>
          </a:p>
          <a:p>
            <a:r>
              <a:t>Thank in the right way. A short email “Thanks again for your help with the report. It made a real difference.” is appreciated.</a:t>
            </a:r>
          </a:p>
          <a:p>
            <a:r>
              <a:t>Ask early. Asking at the last minute without apology sounds careless: “I know it’s short notice, but…”.</a:t>
            </a:r>
          </a:p>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offer help politely (What can I do for you? Shall I…? Would you like me to…?).</a:t>
            </a:r>
          </a:p>
          <a:p>
            <a:r>
              <a:t>I can ask for a favour politely (Could you do me a favour? I was wondering if you could…).</a:t>
            </a:r>
          </a:p>
          <a:p>
            <a:r>
              <a:t>I can say yes or no politely (I’d be happy to. I’m afraid I can’t, but I could…).</a:t>
            </a:r>
          </a:p>
          <a:p>
            <a:r>
              <a:t>I can promise action (Leave it with me. I’ll see what I can do.) and say thank you (I owe you one.).</a:t>
            </a:r>
          </a:p>
          <a:p>
            <a:r>
              <a:t>I can use mind + -ing, do a favour, help with and not at all correctly.</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Shall I / Would you like me to, mind + -ing, do a favour, help sb with sth, and polite refusals.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44 · Business Lunches 商务午餐</a:t>
            </a:r>
          </a:p>
          <a:p>
            <a:r>
              <a:t>Goal: handle a business lunch: invite, order, ask about the menu, mention allergies or preferences, make small talk, move to business, pay or split the bill, and thank the host.</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题讲过去的事,请用过去式(went, had, ordered)。第 4 题可以说 “In my country, the host usually…”。</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business lunch: where you went, what you ordered, what you talked about and who paid.</a:t>
            </a:r>
          </a:p>
          <a:p>
            <a:r>
              <a:t>Say: invitation → ordering → small talk → business → the bill → thanks.</a:t>
            </a:r>
          </a:p>
          <a:p>
            <a:r>
              <a:t>Useful starters: “We went to…” / “I ordered…” / “We talked about…” / “In the end, the host paid / we split the bill.”</a:t>
            </a:r>
          </a:p>
          <a:p>
            <a:r>
              <a:t>讲过去的事用过去式。点菜用 I’ll have… / I’d like…;AA 制说 go Dutch / split the bill。</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Inviting and arriving 邀请与入座</a:t>
            </a:r>
          </a:p>
          <a:p>
            <a:r>
              <a:t>领读 → 学员跟读 → 请学员用表达造一个和自己工作相关的句子。</a:t>
            </a:r>
          </a:p>
          <a:p>
            <a:r>
              <a:t>I’d like to invite you to lunch. (phrase) 我想请您吃午饭 — “I’d like to invite you to lunch on Thursday.”</a:t>
            </a:r>
          </a:p>
          <a:p>
            <a:r>
              <a:t>I’ve booked a table for two at 12:30. (phrase) 我订了12:30的两人桌 — “I’ve booked a table for two at 12:30.”</a:t>
            </a:r>
          </a:p>
          <a:p>
            <a:r>
              <a:t>★ I know a great little place near the office. (phrase) 我知道办公室附近有个很好的小餐馆 — “I know a great little place near the office.”</a:t>
            </a:r>
          </a:p>
          <a:p>
            <a:r>
              <a:t>Do you have any dietary requirements? (phrase) 您有饮食方面的要求吗? — “Do you have any dietary requirements?”</a:t>
            </a:r>
          </a:p>
          <a:p>
            <a:r>
              <a:t>★ I’m allergic to nuts. (phrase) 我对坚果过敏 — “I’m allergic to nuts. Could you check the dish?”</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Ordering and talking about food 点餐与谈论食物</a:t>
            </a:r>
          </a:p>
          <a:p>
            <a:r>
              <a:t>领读 → 学员跟读 → 请学员用表达造一个和自己工作相关的句子。</a:t>
            </a:r>
          </a:p>
          <a:p>
            <a:r>
              <a:t>What do you recommend? (phrase) 您推荐什么? — “What do you recommend?”</a:t>
            </a:r>
          </a:p>
          <a:p>
            <a:r>
              <a:t>I’ll have the soup, please. (phrase) 我要汤 — “I’ll have the soup, please.”</a:t>
            </a:r>
          </a:p>
          <a:p>
            <a:r>
              <a:t>Could I have the grilled fish without the sauce? (phrase) 我要烤鱼,不加酱 — “Could I have the grilled fish without the sauce?”</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Ordering and talking about food 点餐与谈论食物</a:t>
            </a:r>
          </a:p>
          <a:p>
            <a:r>
              <a:t>领读 → 学员跟读 → 请学员用表达造一个和自己工作相关的句子。</a:t>
            </a:r>
          </a:p>
          <a:p>
            <a:r>
              <a:t>★ I’m easy. / I’ll go with whatever you’re having. (idiom) 我随意/和你一样 — “I’ll go with whatever you’re having.”</a:t>
            </a:r>
          </a:p>
          <a:p>
            <a:r>
              <a:t>This is delicious. / It’s really good. (phrase) 真好吃 — “This is delicious. Where did you learn to cook?”</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Business, paying and thanking 谈生意、买单与致谢</a:t>
            </a:r>
          </a:p>
          <a:p>
            <a:r>
              <a:t>领读 → 学员跟读 → 请学员用表达造一个和自己工作相关的句子。</a:t>
            </a:r>
          </a:p>
          <a:p>
            <a:r>
              <a:t>★ Shall we get down to business over coffee? (phrase) 喝咖啡时谈正事吧? — “Shall we get down to business over coffee?”</a:t>
            </a:r>
          </a:p>
          <a:p>
            <a:r>
              <a:t>Could we have the bill, please? (phrase) 请结账 — “Could we have the bill, please?”</a:t>
            </a:r>
          </a:p>
          <a:p>
            <a:r>
              <a:t>★ This one’s on me. (idiom) 这顿我请 — “Please, this one’s on me.”</a:t>
            </a:r>
          </a:p>
          <a:p>
            <a:r>
              <a:t>★ Let’s split the bill. / Let’s go Dutch. (idiom) 我们AA制吧 — “Let’s split the bill.”</a:t>
            </a:r>
          </a:p>
          <a:p>
            <a:r>
              <a:t>Thank you for a lovely lunch. (phrase) 谢谢这顿美味的午餐 — “Thank you for a lovely lunch.”</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recommend / allergic / split / booked / business / me</a:t>
            </a:r>
          </a:p>
          <a:p>
            <a:r>
              <a:t>1. I’ve _______ a table for two at 12:30. → booked</a:t>
            </a:r>
          </a:p>
          <a:p>
            <a:r>
              <a:t>2. I’m _______ to nuts. → allergic</a:t>
            </a:r>
          </a:p>
          <a:p>
            <a:r>
              <a:t>3. What do you _______? → recommend</a:t>
            </a:r>
          </a:p>
          <a:p>
            <a:r>
              <a:t>4. Please, this one’s on _______. → me</a:t>
            </a:r>
          </a:p>
          <a:p>
            <a:r>
              <a:t>5. Shall we get down to _______ over coffee? → business</a:t>
            </a:r>
          </a:p>
          <a:p>
            <a:r>
              <a:t>6. Let’s _______ the bill. → split</a:t>
            </a:r>
          </a:p>
          <a:p>
            <a:r>
              <a:t>Mistake Watch (搭配与拼写): book a table, order (verb/noun), the bill (UK) / the check (US), allergic to (not “allergic with”), dietary requirements, recommend (double m, not “recomend”). Starter / main course / dessert (UK) vs appetizer / entrée (US).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Ordering and small talk 点餐与闲聊</a:t>
            </a:r>
          </a:p>
          <a:p>
            <a:r>
              <a:t>情景：Li Wei takes a client, Mr Reed, to lunch in a restaurant.</a:t>
            </a:r>
          </a:p>
          <a:p>
            <a:r>
              <a:t>Role A: Li Wei, host Role B: James Reed, client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Please, take a seat. I hope you like this place. I come here often.</a:t>
            </a:r>
          </a:p>
          <a:p>
            <a:r>
              <a:t>B (James): It’s lovely. What do you recommend?</a:t>
            </a:r>
          </a:p>
          <a:p>
            <a:r>
              <a:t>A: The grilled fish is excellent. And the soup is very popular.</a:t>
            </a:r>
          </a:p>
          <a:p>
            <a:r>
              <a:t>B: I’m allergic to shellfish, so I’ll avoid the soup. I’ll have the fish, please.</a:t>
            </a:r>
          </a:p>
          <a:p>
            <a:r>
              <a:t>A: Of course. Do you want something to drink? Water, juice, or a glass of wine?</a:t>
            </a:r>
          </a:p>
          <a:p>
            <a:r>
              <a:t>B: Just sparkling water for me, thanks. I have meetings this afternoon.</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Same here. (To the waiter) Two grilled fish, please. One without the sauce. And two sparkling waters.</a:t>
            </a:r>
          </a:p>
          <a:p>
            <a:r>
              <a:t>B: So, how long have you been working here?</a:t>
            </a:r>
          </a:p>
          <a:p>
            <a:r>
              <a:t>A: About six years. I started in the sales team. What about you?</a:t>
            </a:r>
          </a:p>
          <a:p>
            <a:r>
              <a:t>B: Ten years in this industry. I used to work in Germany.</a:t>
            </a:r>
          </a:p>
          <a:p>
            <a:r>
              <a:t>A: Really? That must have been interesting.</a:t>
            </a:r>
          </a:p>
          <a:p>
            <a:r>
              <a:t>B: It was a real eye-opener. By the way, this is delicious.</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83 | </a:t>
            </a:r>
          </a:p>
          <a:p>
            <a:r>
              <a:t>Situation | You are having lunch with a client. You order and make small talk.</a:t>
            </a:r>
          </a:p>
          <a:p>
            <a:r>
              <a:t>Your role (A) | Host. Recommend dishes, ask about preferences, keep the conversation going.</a:t>
            </a:r>
          </a:p>
          <a:p>
            <a:r>
              <a:t>Partner’s role (B) | Client. Has an allergy and little time.</a:t>
            </a:r>
          </a:p>
          <a:p>
            <a:r>
              <a:t>Must use (4 or more) | What do you recommend? · I’ll have… · I’m allergic to… · Do you have any dietary requirements? · This is delicious.</a:t>
            </a:r>
          </a:p>
          <a:p>
            <a:r>
              <a:t>Goal | Order, ask 3 small talk questions and keep it natural for 2 minutes.</a:t>
            </a:r>
          </a:p>
          <a:p>
            <a:r>
              <a:t>My notes | ____________________________________________</a:t>
            </a:r>
          </a:p>
          <a:p>
            <a:r>
              <a:t>Order something difficult: “Could I have it without the cream, please?”</a:t>
            </a:r>
          </a:p>
          <a:p>
            <a:r>
              <a:t>Say no to alcohol politely: “I won’t, thanks. I’m driving.”</a:t>
            </a:r>
          </a:p>
          <a:p>
            <a:r>
              <a:t>Compliment the food: “This is exactly what I was hoping for.”</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Getting down to business and paying 谈生意与买单</a:t>
            </a:r>
          </a:p>
          <a:p>
            <a:r>
              <a:t>情景：After the main course, you move the conversation to business and then pay the bill.</a:t>
            </a:r>
          </a:p>
          <a:p>
            <a:r>
              <a:t>Role A: Li Wei, host Role B: James Reed, client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James, shall we get down to business over coffee?</a:t>
            </a:r>
          </a:p>
          <a:p>
            <a:r>
              <a:t>B (James): Good idea. I’d like to talk about the delivery dates.</a:t>
            </a:r>
          </a:p>
          <a:p>
            <a:r>
              <a:t>A: Sure. We could deliver in the first week of November. Is that early enough?</a:t>
            </a:r>
          </a:p>
          <a:p>
            <a:r>
              <a:t>B: That works for us. We’d like to place an order for 500 units.</a:t>
            </a:r>
          </a:p>
          <a:p>
            <a:r>
              <a:t>A: That’s great news. I’ll send you a quotation tomorrow.</a:t>
            </a:r>
          </a:p>
          <a:p>
            <a:r>
              <a:t>B: Perfect. Let’s keep in touch about the details.</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Of course. (To the waiter) Could we have the bill, please?</a:t>
            </a:r>
          </a:p>
          <a:p>
            <a:r>
              <a:t>B: Let me get this. You paid last time.</a:t>
            </a:r>
          </a:p>
          <a:p>
            <a:r>
              <a:t>A: Please, this one’s on me. You’re my guest today.</a:t>
            </a:r>
          </a:p>
          <a:p>
            <a:r>
              <a:t>B: That’s very kind of you. Next time it’s my turn.</a:t>
            </a:r>
          </a:p>
          <a:p>
            <a:r>
              <a:t>A: I look forward to it.</a:t>
            </a:r>
          </a:p>
          <a:p>
            <a:r>
              <a:t>B: Thank you for a lovely lunch. The food was delicious and the conversation was even better.</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84 | </a:t>
            </a:r>
          </a:p>
          <a:p>
            <a:r>
              <a:t>Situation | After lunch, you discuss business and pay the bill.</a:t>
            </a:r>
          </a:p>
          <a:p>
            <a:r>
              <a:t>Your role (A) | Host. Move to business politely and pay.</a:t>
            </a:r>
          </a:p>
          <a:p>
            <a:r>
              <a:t>Partner’s role (B) | Client. Offers to split the bill, then accepts.</a:t>
            </a:r>
          </a:p>
          <a:p>
            <a:r>
              <a:t>Must use (4 or more) | Shall we get down to business? · Could we have the bill, please? · This one’s on me. · Let’s split the bill. · Thank you for a lovely lunch.</a:t>
            </a:r>
          </a:p>
          <a:p>
            <a:r>
              <a:t>Goal | Discuss one business point, agree on the next step, handle the bill politely.</a:t>
            </a:r>
          </a:p>
          <a:p>
            <a:r>
              <a:t>My notes | ____________________________________________</a:t>
            </a:r>
          </a:p>
          <a:p>
            <a:r>
              <a:t>Split the bill: “Let’s go Dutch. It’s easier.”</a:t>
            </a:r>
          </a:p>
          <a:p>
            <a:r>
              <a:t>Refuse politely when the client insists: “I really must insist. Next time, it’s your turn.”</a:t>
            </a:r>
          </a:p>
          <a:p>
            <a:r>
              <a:t>Add a tip: “Is service included?”</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Do you like business lunches? Why or why not? | “I enjoy them because…” / “I find them stressful when…”</a:t>
            </a:r>
          </a:p>
          <a:p>
            <a:r>
              <a:t>2. When is the best moment to talk business at a lunch? | “After the main course, over coffee.” / “It depends on the client.”</a:t>
            </a:r>
          </a:p>
          <a:p>
            <a:r>
              <a:t>3. Who should pay at a business lunch? | “The person who invited.” / “In my country, …”</a:t>
            </a:r>
          </a:p>
          <a:p>
            <a:r>
              <a:t>4. How do you choose a restaurant for a client? | “I choose a quiet place near…” / “I check dietary needs first.”</a:t>
            </a:r>
          </a:p>
          <a:p>
            <a:r>
              <a:t>5. What topics are good for small talk at lunch? What should you avoid? | “Safe topics: food, travel, sports.” / “Avoid politics and religion.”</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the person who invited should pay. In my country, the host usually pays, and the guest says thank you. In the UK or the US, it’s also common to split the bill if the lunch is among colleagues. If you’re the guest, it is polite to offer to pay, even if you know the host will refuse. Then, next time, it’s your turn.”</a:t>
            </a:r>
          </a:p>
          <a:p>
            <a:r>
              <a:t>“In my country, the host usually pays”(在我国通常请客方付款)。“split the bill”(AA制)。“it’s your turn”(轮到你了)。</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language: business lunches 商务午餐用语</a:t>
            </a:r>
          </a:p>
          <a:p>
            <a:r>
              <a:t>Function | Say this</a:t>
            </a:r>
          </a:p>
          <a:p>
            <a:r>
              <a:t>Invite | I’d like to invite you to lunch. / I’ve booked a table for two.</a:t>
            </a:r>
          </a:p>
          <a:p>
            <a:r>
              <a:t>Arrive | Please, take a seat. / I know a great little place near the office. ★</a:t>
            </a:r>
          </a:p>
          <a:p>
            <a:r>
              <a:t>Needs | Do you have any dietary requirements? / I’m allergic to nuts. ★</a:t>
            </a:r>
          </a:p>
          <a:p>
            <a:r>
              <a:t>Order | What do you recommend? / I’ll have… / I’ll go with whatever you’re having. ★</a:t>
            </a:r>
          </a:p>
          <a:p>
            <a:r>
              <a:t>Compliment | This is delicious. / It’s really good.</a:t>
            </a:r>
          </a:p>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language: business lunches 商务午餐用语</a:t>
            </a:r>
          </a:p>
          <a:p>
            <a:r>
              <a:t>Function | Say this</a:t>
            </a:r>
          </a:p>
          <a:p>
            <a:r>
              <a:t>Move to business | Shall we get down to business over coffee? ★</a:t>
            </a:r>
          </a:p>
          <a:p>
            <a:r>
              <a:t>Pay | Could we have the bill, please? / This one’s on me. ★</a:t>
            </a:r>
          </a:p>
          <a:p>
            <a:r>
              <a:t>Split | Let’s split the bill. / Let’s go Dutch. ★</a:t>
            </a:r>
          </a:p>
          <a:p>
            <a:r>
              <a:t>Thank | Thank you for a lovely lunch.</a:t>
            </a:r>
          </a:p>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Menu and table vocabulary 菜单与餐桌词汇</a:t>
            </a:r>
          </a:p>
          <a:p>
            <a:r>
              <a:t>UK | US | Meaning</a:t>
            </a:r>
          </a:p>
          <a:p>
            <a:r>
              <a:t>starter | appetizer | 前菜</a:t>
            </a:r>
          </a:p>
          <a:p>
            <a:r>
              <a:t>main course | entrée / main | 主菜</a:t>
            </a:r>
          </a:p>
          <a:p>
            <a:r>
              <a:t>pudding / dessert | dessert | 甜点</a:t>
            </a:r>
          </a:p>
          <a:p>
            <a:r>
              <a:t>the bill | the check | 账单</a:t>
            </a:r>
          </a:p>
          <a:p>
            <a:r>
              <a:t>chips | fries | 薯条</a:t>
            </a:r>
          </a:p>
          <a:p>
            <a:r>
              <a:t>crisps | chips | 薯片</a:t>
            </a:r>
          </a:p>
          <a:p>
            <a:r>
              <a:t>booking | reservation | 订位</a:t>
            </a:r>
          </a:p>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Menu and table vocabulary 菜单与餐桌词汇</a:t>
            </a:r>
          </a:p>
          <a:p>
            <a:r>
              <a:t>Dietary needs: vegetarian, vegan, gluten-free, halal, kosher, “I don’t eat pork.”</a:t>
            </a:r>
          </a:p>
          <a:p>
            <a:r>
              <a:t>Ordering: I’ll have… / I’d like… / Could I have…? (not “I want…”, too direct).</a:t>
            </a:r>
          </a:p>
          <a:p>
            <a:r>
              <a:t>Compliments: This is delicious. / It’s really good. / It’s cooked perfectly. Avoid “It’s not bad” (can sound lukewarm).</a:t>
            </a:r>
          </a:p>
          <a:p>
            <a:r>
              <a:t>Tipping: In the UK, 10–12.5% if service isn’t included. In the US, 15–20% is normal. In China, generally no tip.</a:t>
            </a:r>
          </a:p>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want a steak.  →  ✓ I’ll have the steak, please. / I’d like the steak.  (want 太直白)</a:t>
            </a:r>
          </a:p>
          <a:p>
            <a:r>
              <a:t>✗ Waiter, come here!  →  ✓ Excuse me, could we have the menu, please?  (礼貌招呼服务员)</a:t>
            </a:r>
          </a:p>
          <a:p>
            <a:r>
              <a:t>✗ I’m allergy to nuts.  →  ✓ I’m allergic to nuts. / I have a nut allergy.  (形容词 allergic to)</a:t>
            </a:r>
          </a:p>
          <a:p>
            <a:r>
              <a:t>✗ I eat vegetarian.  →  ✓ I’m vegetarian. / I don’t eat meat.  (be vegetarian)</a:t>
            </a:r>
          </a:p>
          <a:p>
            <a:r>
              <a:t>✗ Let me pay the money.  →  ✓ Let me get this. / This one’s on me.  (地道说法)</a:t>
            </a:r>
          </a:p>
          <a:p>
            <a:r>
              <a:t>Mistake Watch: I’ll have… / I’d like… (not “I want”), allergic to, I’m vegetarian, the bill / the check, This one’s on me. Recommend has double m.</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pay half and half.  →  ✓ Let’s split the bill. / Let’s go Dutch.  (固定说法)</a:t>
            </a:r>
          </a:p>
          <a:p>
            <a:r>
              <a:t>✗ Please eat more! Eat more! (pressing)  →  ✓ Please help yourself. / Would you like some more?  (劝食要有分寸)</a:t>
            </a:r>
          </a:p>
          <a:p>
            <a:r>
              <a:t>✗ The food is not bad. (as a compliment)  →  ✓ The food is really good. / delicious.  (not bad 较冷淡)</a:t>
            </a:r>
          </a:p>
          <a:p>
            <a:r>
              <a:t>✗ I can’t eat any more. (blunt)  →  ✓ I’m full, thanks. It was delicious.  (先感谢再婉拒)</a:t>
            </a:r>
          </a:p>
          <a:p>
            <a:r>
              <a:t>✗ recomend / dessart  →  ✓ recommend / dessert  (拼写)</a:t>
            </a:r>
          </a:p>
          <a:p>
            <a:r>
              <a:t>Mistake Watch: I’ll have… / I’d like… (not “I want”), allergic to, I’m vegetarian, the bill / the check, This one’s on me. Recommend has double m.</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Timing: Business lunches in English-speaking countries are often 60–90 minutes. Don’t talk about business until after ordering, or after the main course.</a:t>
            </a:r>
          </a:p>
          <a:p>
            <a:r>
              <a:t>Who pays: The person who invites usually pays. The guest may offer to pay, but should accept gracefully if the host insists. In the UK, colleagues often split the bill.</a:t>
            </a:r>
          </a:p>
          <a:p>
            <a:r>
              <a:t>Alcohol: Many people avoid alcohol at business lunches. A guest may refuse politely: “Not for me, thanks.”</a:t>
            </a:r>
          </a:p>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Toasts: A short “Cheers!” or “To a successful partnership!” is enough. Don’t force others to drink.</a:t>
            </a:r>
          </a:p>
          <a:p>
            <a:r>
              <a:t>Table manners: Napkin on your lap, wait until everyone is served, and don’t talk with food in your mouth.</a:t>
            </a:r>
          </a:p>
          <a:p>
            <a:r>
              <a:t>Chinese hospitality: Ordering many dishes and pressing guests to eat more is a sign of respect in China. In Western settings, each person orders their own dish, and “No, thanks, I’m full” should be accepted.</a:t>
            </a:r>
          </a:p>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invite a client to lunch and ask about dietary requirements.</a:t>
            </a:r>
          </a:p>
          <a:p>
            <a:r>
              <a:t>I can order food and ask for recommendations (What do you recommend? I’ll have… I’m allergic to…).</a:t>
            </a:r>
          </a:p>
          <a:p>
            <a:r>
              <a:t>I can make small talk and move to business (Shall we get down to business over coffee?).</a:t>
            </a:r>
          </a:p>
          <a:p>
            <a:r>
              <a:t>I can handle the bill politely (This one’s on me. Let’s split the bill. Could we have the bill, please?).</a:t>
            </a:r>
          </a:p>
          <a:p>
            <a:r>
              <a:t>I can use I’ll have, allergic to, I’m vegetarian and the bill / the check correctly.</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I’ll have / I’d like, allergic to, I’m vegetarian, bill/check, and small-talk topics.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45 · Goodbye 告别</a:t>
            </a:r>
          </a:p>
          <a:p>
            <a:r>
              <a:t>Goal: say goodbye in a business setting: see a visitor off, thank your hosts, say farewell to a departing colleague, give a short farewell speech, and keep in touch afterwards.</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3 题讲过去的事,请用过去式(felt, said, worked)。第 5 题可以说 “A good speech should include…”。</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a short farewell speech to a colleague who is leaving and wish them well.</a:t>
            </a:r>
          </a:p>
          <a:p>
            <a:r>
              <a:t>Say: thanks → a memory → what you’ll miss → good wishes → “keep in touch”.</a:t>
            </a:r>
          </a:p>
          <a:p>
            <a:r>
              <a:t>Useful starters: “It’s been a pleasure working with you.” / “I’ll miss…” / “I’m sure you’ll…” / “Let’s keep in touch.”</a:t>
            </a:r>
          </a:p>
          <a:p>
            <a:r>
              <a:t>告别词先感谢,再说一件具体的事,最后祝福并保持联系。别只说 “Goodbye”。</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Seeing a visitor off 送别访客</a:t>
            </a:r>
          </a:p>
          <a:p>
            <a:r>
              <a:t>领读 → 学员跟读 → 请学员用表达造一个和自己工作相关的句子。</a:t>
            </a:r>
          </a:p>
          <a:p>
            <a:r>
              <a:t>It was a pleasure meeting you. (phrase) 很高兴认识您 — “It was a pleasure meeting you.”</a:t>
            </a:r>
          </a:p>
          <a:p>
            <a:r>
              <a:t>Have a safe trip home. (phrase) 祝您回程平安 — “Have a safe trip home.”</a:t>
            </a:r>
          </a:p>
          <a:p>
            <a:r>
              <a:t>★ Safe travels! (phrase) 一路平安 — “Safe travels, and see you soon.”</a:t>
            </a:r>
          </a:p>
          <a:p>
            <a:r>
              <a:t>Please give my regards to your team. (phrase) 请代我向您的团队问好 — “Please give my regards to your team.”</a:t>
            </a:r>
          </a:p>
          <a:p>
            <a:r>
              <a:t>★ I hope we can do it again soon. (phrase) 希望我们很快能再见 — “I hope we can do it again soon.”</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Thanking and keeping in touch 感谢与保持联系</a:t>
            </a:r>
          </a:p>
          <a:p>
            <a:r>
              <a:t>领读 → 学员跟读 → 请学员用表达造一个和自己工作相关的句子。</a:t>
            </a:r>
          </a:p>
          <a:p>
            <a:r>
              <a:t>Thank you for your hospitality. (phrase) 谢谢您的热情款待 — “Thank you for your hospitality.”</a:t>
            </a:r>
          </a:p>
          <a:p>
            <a:r>
              <a:t>We really enjoyed having you. (phrase) 我们很高兴您能来 — “We really enjoyed having you.”</a:t>
            </a:r>
          </a:p>
          <a:p>
            <a:r>
              <a:t>Let’s keep in touch. (phrase) 我们保持联系 — “Let’s keep in touch.”</a:t>
            </a:r>
          </a:p>
          <a:p>
            <a:r>
              <a:t>★ Drop me a line when you get home. (phrase) 到家后给我留个言 — “Drop me a line when you get home.”</a:t>
            </a:r>
          </a:p>
          <a:p>
            <a:r>
              <a:t>I’ll send you the photos / the report. (phrase) 我会把照片/报告发给您 — “I’ll send you the photos tomorrow.”</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Farewell to a colleague 欢送同事</a:t>
            </a:r>
          </a:p>
          <a:p>
            <a:r>
              <a:t>领读 → 学员跟读 → 请学员用表达造一个和自己工作相关的句子。</a:t>
            </a:r>
          </a:p>
          <a:p>
            <a:r>
              <a:t>★ We’re going to miss you. (phrase) 我们会想你的 — “We’re going to miss you.”</a:t>
            </a:r>
          </a:p>
          <a:p>
            <a:r>
              <a:t>It’s been a pleasure working with you. (phrase) 与您共事很愉快 — “It’s been a pleasure working with you.”</a:t>
            </a:r>
          </a:p>
          <a:p>
            <a:r>
              <a:t>★ I wish you all the best in your new job. (phrase) 祝你新工作一切顺利 — “I wish you all the best in your new job.”</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Farewell to a colleague 欢送同事</a:t>
            </a:r>
          </a:p>
          <a:p>
            <a:r>
              <a:t>领读 → 学员跟读 → 请学员用表达造一个和自己工作相关的句子。</a:t>
            </a:r>
          </a:p>
          <a:p>
            <a:r>
              <a:t>★ You’ll be a hard act to follow. (idiom) 你很难被取代 — “You’ll be a hard act to follow.”</a:t>
            </a:r>
          </a:p>
          <a:p>
            <a:r>
              <a:t>I should get going. / I must be going. (phrase) 我该走了 — “I should get going. I have a train to catch.”</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best / safe / regards / miss / pleasure / Drop</a:t>
            </a:r>
          </a:p>
          <a:p>
            <a:r>
              <a:t>1. Have a _______ trip home. → safe</a:t>
            </a:r>
          </a:p>
          <a:p>
            <a:r>
              <a:t>2. Please give my _______ to your team. → regards</a:t>
            </a:r>
          </a:p>
          <a:p>
            <a:r>
              <a:t>3. _______ me a line when you get home. → Drop</a:t>
            </a:r>
          </a:p>
          <a:p>
            <a:r>
              <a:t>4. It’s been a _______ working with you. → pleasure</a:t>
            </a:r>
          </a:p>
          <a:p>
            <a:r>
              <a:t>5. We’re going to _______ you. → miss</a:t>
            </a:r>
          </a:p>
          <a:p>
            <a:r>
              <a:t>6. I wish you all the _______ in your new job. → best</a:t>
            </a:r>
          </a:p>
          <a:p>
            <a:r>
              <a:t>Mistake Watch (搭配与表达): say goodbye to (not “say goodbye with”), give my regards to (not “send my regard”), keep in touch (no “with” needed alone; “keep in touch with sb”), miss (= feel sad because someone is absent), see off (accompany someone to the station or airport).</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Seeing a visitor off 送别访客</a:t>
            </a:r>
          </a:p>
          <a:p>
            <a:r>
              <a:t>情景：Li Wei goes with Mr Reed to the airport (or the hotel lobby) and says goodbye.</a:t>
            </a:r>
          </a:p>
          <a:p>
            <a:r>
              <a:t>Role A: Li Wei, host Role B: James Reed, visitor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Well, James, it’s time to say goodbye. Do you have everything?</a:t>
            </a:r>
          </a:p>
          <a:p>
            <a:r>
              <a:t>B (James): I think so. Passport, laptop, phone… yes, I’m all set.</a:t>
            </a:r>
          </a:p>
          <a:p>
            <a:r>
              <a:t>A: It was a pleasure meeting you, and thank you for coming all this way.</a:t>
            </a:r>
          </a:p>
          <a:p>
            <a:r>
              <a:t>B: Thank you for your hospitality. I’ve had a wonderful time.</a:t>
            </a:r>
          </a:p>
          <a:p>
            <a:r>
              <a:t>A: We really enjoyed having you. I hope we can do it again soon.</a:t>
            </a:r>
          </a:p>
          <a:p>
            <a:r>
              <a:t>B: Me too. You’ll have to come to our office next time.</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love to. I’ll send you the dates by email.</a:t>
            </a:r>
          </a:p>
          <a:p>
            <a:r>
              <a:t>B: Great. Please give my regards to Sophie and the team.</a:t>
            </a:r>
          </a:p>
          <a:p>
            <a:r>
              <a:t>A: I will. Have a safe trip home, and drop me a line when you land.</a:t>
            </a:r>
          </a:p>
          <a:p>
            <a:r>
              <a:t>B: I will. Thanks again for everything.</a:t>
            </a:r>
          </a:p>
          <a:p>
            <a:r>
              <a:t>A: Safe travels!</a:t>
            </a:r>
          </a:p>
          <a:p>
            <a:r>
              <a:t>B: See you in the spring. Goodbye!</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85 | </a:t>
            </a:r>
          </a:p>
          <a:p>
            <a:r>
              <a:t>Situation | You see a business visitor off at the airport or the hotel.</a:t>
            </a:r>
          </a:p>
          <a:p>
            <a:r>
              <a:t>Your role (A) | Host. Thank, wish a safe trip, and agree on the next contact.</a:t>
            </a:r>
          </a:p>
          <a:p>
            <a:r>
              <a:t>Partner’s role (B) | Visitor. Thanks you and invites you back.</a:t>
            </a:r>
          </a:p>
          <a:p>
            <a:r>
              <a:t>Must use (4 or more) | It was a pleasure meeting you. · Thank you for your hospitality. · Please give my regards to… · Have a safe trip. · Drop me a line.</a:t>
            </a:r>
          </a:p>
          <a:p>
            <a:r>
              <a:t>Goal | Say goodbye warmly in one minute and agree to keep in touch.</a:t>
            </a:r>
          </a:p>
          <a:p>
            <a:r>
              <a:t>My notes | ____________________________________________</a:t>
            </a:r>
          </a:p>
          <a:p>
            <a:r>
              <a:t>Say goodbye at a busy station: “I should let you go. You don’t want to miss your train.”</a:t>
            </a:r>
          </a:p>
          <a:p>
            <a:r>
              <a:t>Add a small gift: “Here’s a small souvenir from us.”</a:t>
            </a:r>
          </a:p>
          <a:p>
            <a:r>
              <a:t>Say you’ll see each other soon: “See you in the spring, then.”</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farewell party for a colleague 欢送同事的聚会</a:t>
            </a:r>
          </a:p>
          <a:p>
            <a:r>
              <a:t>情景：A colleague, Dan, is leaving for a new job. You give a short speech at his farewell lunch.</a:t>
            </a:r>
          </a:p>
          <a:p>
            <a:r>
              <a:t>Role A: Li Wei (speaker) Role B: Dan Hughes (leaving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Everyone, may I have your attention for a moment? As you know, Dan is leaving us after eight years.</a:t>
            </a:r>
          </a:p>
          <a:p>
            <a:r>
              <a:t>B (Dan): (Smiles)</a:t>
            </a:r>
          </a:p>
          <a:p>
            <a:r>
              <a:t>A: Dan, it’s been a pleasure working with you. You’ve taught many of us a lot, and you always had time to help.</a:t>
            </a:r>
          </a:p>
          <a:p>
            <a:r>
              <a:t>A: I remember the first week I joined. You showed me around and said, “Don’t worry, you’ll be fine.” That meant a lot.</a:t>
            </a:r>
          </a:p>
          <a:p>
            <a:r>
              <a:t>A: We’re going to miss you, not only for your work, but also for your sense of humour.</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You’ll be a hard act to follow, but I’m sure you’ll do very well in your new job.</a:t>
            </a:r>
          </a:p>
          <a:p>
            <a:r>
              <a:t>A: So please raise your glasses: to Dan, and to the next chapter!</a:t>
            </a:r>
          </a:p>
          <a:p>
            <a:r>
              <a:t>B (Dan): Thank you, Li Wei, and thank you all. I’ve loved working here. I’ll miss you too.</a:t>
            </a:r>
          </a:p>
          <a:p>
            <a:r>
              <a:t>B: Please keep in touch. You all have my number.</a:t>
            </a:r>
          </a:p>
          <a:p>
            <a:r>
              <a:t>A: We will. And don’t be a stranger. Drop by any time.</a:t>
            </a:r>
          </a:p>
          <a:p>
            <a:r>
              <a:t>B: I will. Thanks again. Cheers!</a:t>
            </a:r>
          </a:p>
          <a:p>
            <a:r>
              <a:t>A: Cheers!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86 | </a:t>
            </a:r>
          </a:p>
          <a:p>
            <a:r>
              <a:t>Situation | A colleague is leaving. You give a farewell speech.</a:t>
            </a:r>
          </a:p>
          <a:p>
            <a:r>
              <a:t>Your role (A) | Speaker. Thank, tell a short memory, give good wishes.</a:t>
            </a:r>
          </a:p>
          <a:p>
            <a:r>
              <a:t>Partner’s role (B) | Departing colleague. Responds with thanks.</a:t>
            </a:r>
          </a:p>
          <a:p>
            <a:r>
              <a:t>Must use (4 or more) | It’s been a pleasure working with you. · We’re going to miss you. · I wish you all the best. · You’ll be a hard act to follow. · Let’s keep in touch.</a:t>
            </a:r>
          </a:p>
          <a:p>
            <a:r>
              <a:t>Goal | Give a speech of about 45 seconds, with one memory and good wishes.</a:t>
            </a:r>
          </a:p>
          <a:p>
            <a:r>
              <a:t>My notes | ____________________________________________</a:t>
            </a:r>
          </a:p>
          <a:p>
            <a:r>
              <a:t>Add some humour: “We’ll miss you, even your terrible jokes.”</a:t>
            </a:r>
          </a:p>
          <a:p>
            <a:r>
              <a:t>Respond to the farewell: “Thank you all. I’ll never forget my time here.”</a:t>
            </a:r>
          </a:p>
          <a:p>
            <a:r>
              <a:t>Offer a contact: “Here is my personal email. Do keep in touch.”</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do you say goodbye to a client after a long project? | “I send a thank-you email and…” / “I invite them for a farewell lunch.”</a:t>
            </a:r>
          </a:p>
          <a:p>
            <a:r>
              <a:t>2. What do you say when you leave a party or a meeting early? | “I’m afraid I have to get going.” / “I’m sorry to leave early. I have an appointment.”</a:t>
            </a:r>
          </a:p>
          <a:p>
            <a:r>
              <a:t>3. What makes a good farewell speech? | “A good speech is short and sincere.” / “It should include a story.”</a:t>
            </a:r>
          </a:p>
          <a:p>
            <a:r>
              <a:t>4. How do you stay in touch with former colleagues? | “We have a chat group” / “I send a message on holidays.”</a:t>
            </a:r>
          </a:p>
          <a:p>
            <a:r>
              <a:t>5. Is it difficult for you to say goodbye? Why or why not? | “It’s sad because…” / “I look at it as a new start.”</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a good speech should be short, sincere and personal. First, say thank you. Then tell one real memory, because it makes the speech more human. Finally, give your best wishes and say you’ll keep in touch. Don’t try to be too funny, and never say anything that could embarrass the person. About one minute is usually enough.”</a:t>
            </a:r>
          </a:p>
          <a:p>
            <a:r>
              <a:t>“sincere”(真诚的)。“embarrass”(使尴尬)。“One minute is usually enough”(一分钟通常足够)。</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language: saying goodbye 告别用语</a:t>
            </a:r>
          </a:p>
          <a:p>
            <a:r>
              <a:t>Function | Say this</a:t>
            </a:r>
          </a:p>
          <a:p>
            <a:r>
              <a:t>Thank | Thank you for your hospitality. / We really enjoyed having you.</a:t>
            </a:r>
          </a:p>
          <a:p>
            <a:r>
              <a:t>Wish (visitor) | Have a safe trip home. / Safe travels! ★</a:t>
            </a:r>
          </a:p>
          <a:p>
            <a:r>
              <a:t>Regards | Please give my regards to… / Say hello to … for me.</a:t>
            </a:r>
          </a:p>
          <a:p>
            <a:r>
              <a:t>Keep in touch | Let’s keep in touch. / Drop me a line. ★</a:t>
            </a:r>
          </a:p>
          <a:p>
            <a:r>
              <a:t>Future | I hope we can do it again soon. ★ / See you in the spring.</a:t>
            </a:r>
          </a:p>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language: saying goodbye 告别用语</a:t>
            </a:r>
          </a:p>
          <a:p>
            <a:r>
              <a:t>Function | Say this</a:t>
            </a:r>
          </a:p>
          <a:p>
            <a:r>
              <a:t>Leaving | I should get going. / I must be going.</a:t>
            </a:r>
          </a:p>
          <a:p>
            <a:r>
              <a:t>Colleague leaving | We’re going to miss you. ★ / It’s been a pleasure working with you.</a:t>
            </a:r>
          </a:p>
          <a:p>
            <a:r>
              <a:t>Best wishes | I wish you all the best in your new job. ★</a:t>
            </a:r>
          </a:p>
          <a:p>
            <a:r>
              <a:t>Compliment | You’ll be a hard act to follow. ★</a:t>
            </a:r>
          </a:p>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farewell speech: structure 欢送致辞结构</a:t>
            </a:r>
          </a:p>
          <a:p>
            <a:r>
              <a:t>Part | Example</a:t>
            </a:r>
          </a:p>
          <a:p>
            <a:r>
              <a:t>1. Get attention | Everyone, may I have your attention for a moment?</a:t>
            </a:r>
          </a:p>
          <a:p>
            <a:r>
              <a:t>2. Thanks | It’s been a pleasure working with you, Dan.</a:t>
            </a:r>
          </a:p>
          <a:p>
            <a:r>
              <a:t>3. A memory | I remember when you helped me with my first big project…</a:t>
            </a:r>
          </a:p>
          <a:p>
            <a:r>
              <a:t>4. What we’ll miss | We’ll miss your help and your sense of humour.</a:t>
            </a:r>
          </a:p>
          <a:p>
            <a:r>
              <a:t>5. Good wishes | I’m sure you’ll do very well. I wish you all the best.</a:t>
            </a:r>
          </a:p>
          <a:p>
            <a:r>
              <a:t>6. Toast | Please raise your glasses: to Dan!</a:t>
            </a:r>
          </a:p>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farewell speech: structure 欢送致辞结构</a:t>
            </a:r>
          </a:p>
          <a:p>
            <a:r>
              <a:t>Goodbye variations: Bye / Goodbye / See you / Take care / Have a good one / Speak soon.</a:t>
            </a:r>
          </a:p>
          <a:p>
            <a:r>
              <a:t>Formal vs. informal: Best wishes, Kind regards (email, formal) vs Take care, Cheers (informal).</a:t>
            </a:r>
          </a:p>
          <a:p>
            <a:r>
              <a:t>Regards: Give my regards to… (formal), Say hi to … for me (informal).</a:t>
            </a:r>
          </a:p>
          <a:p>
            <a:r>
              <a:t>Present perfect for a relationship: “We’ve worked together for eight years.” (still connected). Use the past simple only for finished periods: “We worked together in 2018.”</a:t>
            </a:r>
          </a:p>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Goodbye. (only, and walk away)  →  ✓ It was a pleasure meeting you. Safe travels, and see you soon.  (补充一句温暖的话)</a:t>
            </a:r>
          </a:p>
          <a:p>
            <a:r>
              <a:t>✗ Send my regard to your team.  →  ✓ Give my regards to your team. / Please say hello to your team for me.  (give my regards)</a:t>
            </a:r>
          </a:p>
          <a:p>
            <a:r>
              <a:t>✗ I will remember you.  →  ✓ I’ll miss you. / We’re going to miss you.  (remember 不表达不舍)</a:t>
            </a:r>
          </a:p>
          <a:p>
            <a:r>
              <a:t>✗ Have a nice trip back to home.  →  ✓ Have a safe trip home.  (home 前不加 to)</a:t>
            </a:r>
          </a:p>
          <a:p>
            <a:r>
              <a:t>Mistake Watch: give my regards (plural), keep in touch (not “keep contact”), a safe trip home (no “to”), I wish you all the best. Do not translate 慢走 / 请留步 word by word.</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Goodbye, welcome again! (欢迎再来)  →  ✓ Please come again soon. / We’d love to have you back.  (欢迎再来不直译)</a:t>
            </a:r>
          </a:p>
          <a:p>
            <a:r>
              <a:t>✗ We will keep contact.  →  ✓ We’ll keep in touch. / stay in touch.  (keep in touch)</a:t>
            </a:r>
          </a:p>
          <a:p>
            <a:r>
              <a:t>✗ I wish you good luck in new job.  →  ✓ I wish you all the best in your new job.  (冠词 + 习语)</a:t>
            </a:r>
          </a:p>
          <a:p>
            <a:r>
              <a:t>✗ Slowly go! / Walk slowly! (translating 慢走)  →  ✓ Safe travels! / Take care. / Have a safe trip.  (中文告别语不直译)</a:t>
            </a:r>
          </a:p>
          <a:p>
            <a:r>
              <a:t>Mistake Watch: give my regards (plural), keep in touch (not “keep contact”), a safe trip home (no “to”), I wish you all the best. Do not translate 慢走 / 请留步 word by word.</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Thanks for your take care.  →  ✓ Thank you for looking after us.  (照顾)</a:t>
            </a:r>
          </a:p>
          <a:p>
            <a:r>
              <a:t>✗ I must go back now. (abrupt)  →  ✓ I should get going. It’s been lovely talking to you.  (离开时加一句客气话)</a:t>
            </a:r>
          </a:p>
          <a:p>
            <a:r>
              <a:t>Mistake Watch: give my regards (plural), keep in touch (not “keep contact”), a safe trip home (no “to”), I wish you all the best. Do not translate 慢走 / 请留步 word by word.</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Don’t say goodbye too quickly. Add a warm closing sentence. A short thank-you and a good wish make a good impression.</a:t>
            </a:r>
          </a:p>
          <a:p>
            <a:r>
              <a:t>Chinese farewells: Hosts often see guests to the door or car and wait until they leave. In Western settings, a goodbye at the door or lobby is usual; waiting for the car to disappear is rare.</a:t>
            </a:r>
          </a:p>
          <a:p>
            <a:r>
              <a:t>Keep in touch. Followed by an action: “I’ll send you an email next week.” Without an action it sounds like a polite phrase only.</a:t>
            </a:r>
          </a:p>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Thank-you notes. A short thank-you email on the same day, or the next morning, is professional.</a:t>
            </a:r>
          </a:p>
          <a:p>
            <a:r>
              <a:t>Farewell speeches: Keep them short, positive and personal. Gentle humour is fine. Avoid inside jokes that guests don’t understand.</a:t>
            </a:r>
          </a:p>
          <a:p>
            <a:r>
              <a:t>Leaving a party early: Say thank you to the host first: “Thank you for having us. I’m afraid we have to get going.”</a:t>
            </a:r>
          </a:p>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say goodbye to a visitor warmly (It was a pleasure meeting you. Have a safe trip home. Safe travels!).</a:t>
            </a:r>
          </a:p>
          <a:p>
            <a:r>
              <a:t>I can thank my hosts and keep in touch (Thank you for your hospitality. Drop me a line.).</a:t>
            </a:r>
          </a:p>
          <a:p>
            <a:r>
              <a:t>I can say farewell to a colleague (We’re going to miss you. I wish you all the best.).</a:t>
            </a:r>
          </a:p>
          <a:p>
            <a:r>
              <a:t>I can give a short farewell speech with a memory and good wishes.</a:t>
            </a:r>
          </a:p>
          <a:p>
            <a:r>
              <a:t>I can use give my regards, keep in touch, a safe trip home and I should get going correctly.</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give my regards, keep in touch, safe trip home, I should get going, and the structure of a short farewell speech.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“如果您能……我会很感激” in English? → I’d really appreciate it if you could…</a:t>
            </a:r>
          </a:p>
          <a:p>
            <a:r>
              <a:t>“我们希望/目标是……” in English? → We’re hoping to… / We aim to…</a:t>
            </a:r>
          </a:p>
          <a:p>
            <a:r>
              <a:t>“你看起来精神焕发” in English? → You look refreshed / well-rested.</a:t>
            </a:r>
          </a:p>
          <a:p>
            <a:r>
              <a:t>Fix it: Next week I go to Shanghai. (only a plan) → Next week I’m going to Shanghai.</a:t>
            </a:r>
          </a:p>
          <a:p>
            <a:r>
              <a:t>Fix it: Please eat more! Eat more! (pressing) → Please help yourself. / Would you like some more?</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1.xml"/><Relationship Id="rId5" Type="http://schemas.openxmlformats.org/officeDocument/2006/relationships/slide" Target="slide58.xml"/><Relationship Id="rId6" Type="http://schemas.openxmlformats.org/officeDocument/2006/relationships/slide" Target="slide86.xml"/><Relationship Id="rId7" Type="http://schemas.openxmlformats.org/officeDocument/2006/relationships/slide" Target="slide113.xml"/><Relationship Id="rId8" Type="http://schemas.openxmlformats.org/officeDocument/2006/relationships/slide" Target="slide141.xml"/><Relationship Id="rId9" Type="http://schemas.openxmlformats.org/officeDocument/2006/relationships/slide" Target="slide171.xml"/><Relationship Id="rId10" Type="http://schemas.openxmlformats.org/officeDocument/2006/relationships/slide" Target="slide199.xml"/><Relationship Id="rId11" Type="http://schemas.openxmlformats.org/officeDocument/2006/relationships/slide" Target="slide2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8.xml"/><Relationship Id="rId4" Type="http://schemas.openxmlformats.org/officeDocument/2006/relationships/slide" Target="slide259.xml"/><Relationship Id="rId5" Type="http://schemas.openxmlformats.org/officeDocument/2006/relationships/slide" Target="slide260.xml"/><Relationship Id="rId6" Type="http://schemas.openxmlformats.org/officeDocument/2006/relationships/slide" Target="slide261.xml"/><Relationship Id="rId7" Type="http://schemas.openxmlformats.org/officeDocument/2006/relationships/slide" Target="slide262.xml"/><Relationship Id="rId8" Type="http://schemas.openxmlformats.org/officeDocument/2006/relationships/slide" Target="slide263.xml"/><Relationship Id="rId9" Type="http://schemas.openxmlformats.org/officeDocument/2006/relationships/slide" Target="slide264.xml"/><Relationship Id="rId10" Type="http://schemas.openxmlformats.org/officeDocument/2006/relationships/slide" Target="slide265.xml"/><Relationship Id="rId11" Type="http://schemas.openxmlformats.org/officeDocument/2006/relationships/slide" Target="slide266.xml"/><Relationship Id="rId12" Type="http://schemas.openxmlformats.org/officeDocument/2006/relationships/slide" Target="slide26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8.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8.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8.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8.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8.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8.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8.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8.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8.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9.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0.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10</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4 · UNIT 10</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Workplace Socializing</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9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L37 Welcome back · L38 Back in the office · L39 Organizing an event · L40 Plans · L41 A change of plan · L42 How was your visit? · L43 What can I do for you? · L44 Business Lunches  +1 more</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37</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Welcome back</a:t>
            </a:r>
          </a:p>
          <a:p>
            <a:pPr algn="l">
              <a:lnSpc>
                <a:spcPct val="100000"/>
              </a:lnSpc>
              <a:spcAft>
                <a:spcPts val="800"/>
              </a:spcAft>
            </a:pPr>
            <a:r>
              <a:rPr sz="1400" b="0">
                <a:solidFill>
                  <a:srgbClr val="5F677A"/>
                </a:solidFill>
                <a:latin typeface="Arial"/>
                <a:ea typeface="Microsoft YaHei"/>
              </a:rPr>
              <a:t>欢迎回来</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38</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Back in the office</a:t>
            </a:r>
          </a:p>
          <a:p>
            <a:pPr algn="l">
              <a:lnSpc>
                <a:spcPct val="100000"/>
              </a:lnSpc>
              <a:spcAft>
                <a:spcPts val="800"/>
              </a:spcAft>
            </a:pPr>
            <a:r>
              <a:rPr sz="1400" b="0">
                <a:solidFill>
                  <a:srgbClr val="5F677A"/>
                </a:solidFill>
                <a:latin typeface="Arial"/>
                <a:ea typeface="Microsoft YaHei"/>
              </a:rPr>
              <a:t>回到办公室</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39</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Organizing an event</a:t>
            </a:r>
          </a:p>
          <a:p>
            <a:pPr algn="l">
              <a:lnSpc>
                <a:spcPct val="100000"/>
              </a:lnSpc>
              <a:spcAft>
                <a:spcPts val="800"/>
              </a:spcAft>
            </a:pPr>
            <a:r>
              <a:rPr sz="1400" b="0">
                <a:solidFill>
                  <a:srgbClr val="5F677A"/>
                </a:solidFill>
                <a:latin typeface="Arial"/>
                <a:ea typeface="Microsoft YaHei"/>
              </a:rPr>
              <a:t>组织活动</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40</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Plans</a:t>
            </a:r>
          </a:p>
          <a:p>
            <a:pPr algn="l">
              <a:lnSpc>
                <a:spcPct val="100000"/>
              </a:lnSpc>
              <a:spcAft>
                <a:spcPts val="800"/>
              </a:spcAft>
            </a:pPr>
            <a:r>
              <a:rPr sz="1400" b="0">
                <a:solidFill>
                  <a:srgbClr val="5F677A"/>
                </a:solidFill>
                <a:latin typeface="Arial"/>
                <a:ea typeface="Microsoft YaHei"/>
              </a:rPr>
              <a:t>计划</a:t>
            </a:r>
          </a:p>
        </p:txBody>
      </p:sp>
      <p:sp>
        <p:nvSpPr>
          <p:cNvPr id="19" name="Rounded Rectangle 18">
            <a:hlinkClick action="ppaction://hlinksldjump" r:id="rId7"/>
          </p:cNvPr>
          <p:cNvSpPr/>
          <p:nvPr/>
        </p:nvSpPr>
        <p:spPr>
          <a:xfrm>
            <a:off x="4307738" y="2971800"/>
            <a:ext cx="3576218"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7466" y="3268980"/>
            <a:ext cx="8686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41</a:t>
            </a:r>
          </a:p>
        </p:txBody>
      </p:sp>
      <p:sp>
        <p:nvSpPr>
          <p:cNvPr id="21" name="TextBox 20"/>
          <p:cNvSpPr txBox="1"/>
          <p:nvPr/>
        </p:nvSpPr>
        <p:spPr>
          <a:xfrm>
            <a:off x="5405018"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A change of plan</a:t>
            </a:r>
          </a:p>
          <a:p>
            <a:pPr algn="l">
              <a:lnSpc>
                <a:spcPct val="100000"/>
              </a:lnSpc>
              <a:spcAft>
                <a:spcPts val="800"/>
              </a:spcAft>
            </a:pPr>
            <a:r>
              <a:rPr sz="1400" b="0">
                <a:solidFill>
                  <a:srgbClr val="5F677A"/>
                </a:solidFill>
                <a:latin typeface="Arial"/>
                <a:ea typeface="Microsoft YaHei"/>
              </a:rPr>
              <a:t>计划更改</a:t>
            </a:r>
          </a:p>
        </p:txBody>
      </p:sp>
      <p:sp>
        <p:nvSpPr>
          <p:cNvPr id="22" name="Rounded Rectangle 21">
            <a:hlinkClick action="ppaction://hlinksldjump" r:id="rId8"/>
          </p:cNvPr>
          <p:cNvSpPr/>
          <p:nvPr/>
        </p:nvSpPr>
        <p:spPr>
          <a:xfrm>
            <a:off x="8066836" y="297180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76564" y="326898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42</a:t>
            </a:r>
          </a:p>
        </p:txBody>
      </p:sp>
      <p:sp>
        <p:nvSpPr>
          <p:cNvPr id="24" name="TextBox 23"/>
          <p:cNvSpPr txBox="1"/>
          <p:nvPr/>
        </p:nvSpPr>
        <p:spPr>
          <a:xfrm>
            <a:off x="9164116"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How was your visit?</a:t>
            </a:r>
          </a:p>
          <a:p>
            <a:pPr algn="l">
              <a:lnSpc>
                <a:spcPct val="100000"/>
              </a:lnSpc>
              <a:spcAft>
                <a:spcPts val="800"/>
              </a:spcAft>
            </a:pPr>
            <a:r>
              <a:rPr sz="1400" b="0">
                <a:solidFill>
                  <a:srgbClr val="5F677A"/>
                </a:solidFill>
                <a:latin typeface="Arial"/>
                <a:ea typeface="Microsoft YaHei"/>
              </a:rPr>
              <a:t>您的访问如何?</a:t>
            </a:r>
          </a:p>
        </p:txBody>
      </p:sp>
      <p:sp>
        <p:nvSpPr>
          <p:cNvPr id="25" name="Rounded Rectangle 24">
            <a:hlinkClick action="ppaction://hlinksldjump" r:id="rId9"/>
          </p:cNvPr>
          <p:cNvSpPr/>
          <p:nvPr/>
        </p:nvSpPr>
        <p:spPr>
          <a:xfrm>
            <a:off x="548640" y="438912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8368" y="468630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43</a:t>
            </a:r>
          </a:p>
        </p:txBody>
      </p:sp>
      <p:sp>
        <p:nvSpPr>
          <p:cNvPr id="27" name="TextBox 26"/>
          <p:cNvSpPr txBox="1"/>
          <p:nvPr/>
        </p:nvSpPr>
        <p:spPr>
          <a:xfrm>
            <a:off x="1645920" y="441655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What can I do for you?</a:t>
            </a:r>
          </a:p>
          <a:p>
            <a:pPr algn="l">
              <a:lnSpc>
                <a:spcPct val="100000"/>
              </a:lnSpc>
              <a:spcAft>
                <a:spcPts val="800"/>
              </a:spcAft>
            </a:pPr>
            <a:r>
              <a:rPr sz="1400" b="0">
                <a:solidFill>
                  <a:srgbClr val="5F677A"/>
                </a:solidFill>
                <a:latin typeface="Arial"/>
                <a:ea typeface="Microsoft YaHei"/>
              </a:rPr>
              <a:t>我能为您做些什么?</a:t>
            </a:r>
          </a:p>
        </p:txBody>
      </p:sp>
      <p:sp>
        <p:nvSpPr>
          <p:cNvPr id="28" name="Rounded Rectangle 27">
            <a:hlinkClick action="ppaction://hlinksldjump" r:id="rId10"/>
          </p:cNvPr>
          <p:cNvSpPr/>
          <p:nvPr/>
        </p:nvSpPr>
        <p:spPr>
          <a:xfrm>
            <a:off x="4307738" y="438912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417466" y="468630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44</a:t>
            </a:r>
          </a:p>
        </p:txBody>
      </p:sp>
      <p:sp>
        <p:nvSpPr>
          <p:cNvPr id="30" name="TextBox 29"/>
          <p:cNvSpPr txBox="1"/>
          <p:nvPr/>
        </p:nvSpPr>
        <p:spPr>
          <a:xfrm>
            <a:off x="5405018" y="441655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Business Lunches</a:t>
            </a:r>
          </a:p>
          <a:p>
            <a:pPr algn="l">
              <a:lnSpc>
                <a:spcPct val="100000"/>
              </a:lnSpc>
              <a:spcAft>
                <a:spcPts val="800"/>
              </a:spcAft>
            </a:pPr>
            <a:r>
              <a:rPr sz="1400" b="0">
                <a:solidFill>
                  <a:srgbClr val="5F677A"/>
                </a:solidFill>
                <a:latin typeface="Arial"/>
                <a:ea typeface="Microsoft YaHei"/>
              </a:rPr>
              <a:t>商务午餐</a:t>
            </a:r>
          </a:p>
        </p:txBody>
      </p:sp>
      <p:sp>
        <p:nvSpPr>
          <p:cNvPr id="31" name="Rounded Rectangle 30">
            <a:hlinkClick action="ppaction://hlinksldjump" r:id="rId11"/>
          </p:cNvPr>
          <p:cNvSpPr/>
          <p:nvPr/>
        </p:nvSpPr>
        <p:spPr>
          <a:xfrm>
            <a:off x="8066836" y="438912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76564" y="468630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45</a:t>
            </a:r>
          </a:p>
        </p:txBody>
      </p:sp>
      <p:sp>
        <p:nvSpPr>
          <p:cNvPr id="33" name="TextBox 32"/>
          <p:cNvSpPr txBox="1"/>
          <p:nvPr/>
        </p:nvSpPr>
        <p:spPr>
          <a:xfrm>
            <a:off x="9164116" y="441655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Goodbye</a:t>
            </a:r>
          </a:p>
          <a:p>
            <a:pPr algn="l">
              <a:lnSpc>
                <a:spcPct val="100000"/>
              </a:lnSpc>
              <a:spcAft>
                <a:spcPts val="800"/>
              </a:spcAft>
            </a:pPr>
            <a:r>
              <a:rPr sz="1400" b="0">
                <a:solidFill>
                  <a:srgbClr val="5F677A"/>
                </a:solidFill>
                <a:latin typeface="Arial"/>
                <a:ea typeface="Microsoft YaHei"/>
              </a:rPr>
              <a:t>告别</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10 · Lesson 37 Welcome back</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Welcome back</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欢迎回来</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welcome a colleague or client back after a trip, holiday or leave: ask about the journey, show interest, say you missed them, bring them up to date, and make them feel part of the team again.</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8496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do you say to a colleague who comes back from a long holiday?</a:t>
            </a:r>
          </a:p>
        </p:txBody>
      </p:sp>
      <p:sp>
        <p:nvSpPr>
          <p:cNvPr id="12" name="Oval 11"/>
          <p:cNvSpPr/>
          <p:nvPr/>
        </p:nvSpPr>
        <p:spPr>
          <a:xfrm>
            <a:off x="548640" y="225856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2808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2808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do you feel on your first day back after a break?</a:t>
            </a:r>
          </a:p>
        </p:txBody>
      </p:sp>
      <p:sp>
        <p:nvSpPr>
          <p:cNvPr id="15" name="Oval 14"/>
          <p:cNvSpPr/>
          <p:nvPr/>
        </p:nvSpPr>
        <p:spPr>
          <a:xfrm>
            <a:off x="548640" y="309981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01696"/>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01696"/>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do you want to know from a colleague who has just returned from a business trip?</a:t>
            </a:r>
          </a:p>
        </p:txBody>
      </p:sp>
      <p:sp>
        <p:nvSpPr>
          <p:cNvPr id="18" name="Oval 17"/>
          <p:cNvSpPr/>
          <p:nvPr/>
        </p:nvSpPr>
        <p:spPr>
          <a:xfrm>
            <a:off x="548640" y="41087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Tell me about a time you were welcomed back to work. What did people say?</a:t>
            </a:r>
          </a:p>
        </p:txBody>
      </p:sp>
      <p:sp>
        <p:nvSpPr>
          <p:cNvPr id="21" name="Oval 20"/>
          <p:cNvSpPr/>
          <p:nvPr/>
        </p:nvSpPr>
        <p:spPr>
          <a:xfrm>
            <a:off x="548640" y="49499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1947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1947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Do you like to talk about your holiday at work, or keep it private?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题讲过去的事,请用过去式(was, said, brought)。第 3 题可以说 “I want to know how…”。</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2600" b="1">
                <a:solidFill>
                  <a:srgbClr val="1F2A44"/>
                </a:solidFill>
                <a:latin typeface="Arial"/>
                <a:ea typeface="Microsoft YaHei"/>
              </a:rPr>
              <a:t>Welcome a colleague back from a two-week trip and tell them what happened while they were away.</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a warm welcome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questions about the trip</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happened in the office</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you need from them</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Welcome back!   💬 How was your trip?   💬 While you were away, …   💬 We’re so glad to have you back.</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问旅行用过去式:How was…? Did you enjoy…? 描述你不在时发生的事:While you were away, we…(过去进行/过去式)。</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Welcoming someone 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欢迎归来</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Welcome back!</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欢迎回来!</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“Welcome back! How was your trip?”</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It’s good to have you back.</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你回来真好</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good to have you back.”</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We’ve missed you.</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我们想你了</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“We’ve missed you. The office wasn’t the same.”</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You look refreshed / well-rested.</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你看起来精神焕发</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 look refreshed. The break did you good.”</a:t>
            </a:r>
          </a:p>
        </p:txBody>
      </p:sp>
      <p:sp>
        <p:nvSpPr>
          <p:cNvPr id="29" name="Rounded Rectangle 28"/>
          <p:cNvSpPr/>
          <p:nvPr/>
        </p:nvSpPr>
        <p:spPr>
          <a:xfrm>
            <a:off x="548640" y="48412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Did you manage to switch off?</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8869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你有没有彻底放松?</a:t>
            </a:r>
          </a:p>
        </p:txBody>
      </p:sp>
      <p:sp>
        <p:nvSpPr>
          <p:cNvPr id="33" name="TextBox 32"/>
          <p:cNvSpPr txBox="1"/>
          <p:nvPr/>
        </p:nvSpPr>
        <p:spPr>
          <a:xfrm>
            <a:off x="6675120" y="48869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“Did you manage to switch off completely?”</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Asking about the trip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询问旅行</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How was your trip / holiday / flight?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你的旅行/假期/航班怎么样?</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“How was your holiday in Thailand?”</a:t>
            </a:r>
          </a:p>
        </p:txBody>
      </p:sp>
      <p:sp>
        <p:nvSpPr>
          <p:cNvPr id="14" name="Rounded Rectangle 13"/>
          <p:cNvSpPr/>
          <p:nvPr/>
        </p:nvSpPr>
        <p:spPr>
          <a:xfrm>
            <a:off x="548640" y="242570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12400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11760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Did you have a good time? / Did you enjoy yourself?</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你玩得开心吗?</a:t>
            </a:r>
          </a:p>
        </p:txBody>
      </p:sp>
      <p:sp>
        <p:nvSpPr>
          <p:cNvPr id="18" name="TextBox 17"/>
          <p:cNvSpPr txBox="1"/>
          <p:nvPr/>
        </p:nvSpPr>
        <p:spPr>
          <a:xfrm>
            <a:off x="6675120" y="247142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“Did you enjoy yourself?”</a:t>
            </a:r>
          </a:p>
        </p:txBody>
      </p:sp>
      <p:sp>
        <p:nvSpPr>
          <p:cNvPr id="19" name="Rounded Rectangle 18"/>
          <p:cNvSpPr/>
          <p:nvPr/>
        </p:nvSpPr>
        <p:spPr>
          <a:xfrm>
            <a:off x="548640" y="37388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7388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7846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What did you get up to?</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37846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你做了些什么?</a:t>
            </a:r>
          </a:p>
        </p:txBody>
      </p:sp>
      <p:sp>
        <p:nvSpPr>
          <p:cNvPr id="23" name="TextBox 22"/>
          <p:cNvSpPr txBox="1"/>
          <p:nvPr/>
        </p:nvSpPr>
        <p:spPr>
          <a:xfrm>
            <a:off x="6675120" y="37846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did you get up to in Bali?”</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Chunk 2: Asking about the trip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询问旅行</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Have you got over your jet lag?</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你倒过时差了吗?</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“Have you got over your jet lag?”</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 was the highlight of your trip?</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旅行中最精彩的部分是什么?</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was the highlight of your trip?”</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Catching 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通报近况</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While you were away, …</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你不在的时候,……</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“While you were away, we signed a new client.”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I’ll fill you in.</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我来给你讲讲</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worry, I’ll fill you in on the details.”</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 me bring you up to speed.</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让我告诉你最新情况</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bring you up to speed on the project.”</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You haven’t missed much.</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你没错过什么</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 haven’t missed much. It was fairly quiet.”</a:t>
            </a:r>
          </a:p>
        </p:txBody>
      </p:sp>
      <p:sp>
        <p:nvSpPr>
          <p:cNvPr id="29" name="Rounded Rectangle 28"/>
          <p:cNvSpPr/>
          <p:nvPr/>
        </p:nvSpPr>
        <p:spPr>
          <a:xfrm>
            <a:off x="548640" y="48412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bet you’re snowed under.</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8869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我猜你被工作淹没了</a:t>
            </a:r>
          </a:p>
        </p:txBody>
      </p:sp>
      <p:sp>
        <p:nvSpPr>
          <p:cNvPr id="33" name="TextBox 32"/>
          <p:cNvSpPr txBox="1"/>
          <p:nvPr/>
        </p:nvSpPr>
        <p:spPr>
          <a:xfrm>
            <a:off x="6675120" y="48869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bet you’re snowed under with emails.”</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旅行中最精彩的部分是什么?</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What was the highlight of your trip?</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你不在的时候,……</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While you were away, …</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我来给你讲讲</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I’ll fill you in.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欢迎回来!</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Welcome back!</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我猜你被工作淹没了</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bet you’re snowed under.</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让我告诉你最新情况</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 me bring you up to speed.</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我们想你了</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We’ve missed you.</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你看起来精神焕发</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You look refreshed / well-rested.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back</a:t>
            </a:r>
          </a:p>
        </p:txBody>
      </p:sp>
      <p:sp>
        <p:nvSpPr>
          <p:cNvPr id="10" name="Rounded Rectangle 9"/>
          <p:cNvSpPr/>
          <p:nvPr/>
        </p:nvSpPr>
        <p:spPr>
          <a:xfrm>
            <a:off x="2907792" y="987552"/>
            <a:ext cx="58521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up</a:t>
            </a:r>
          </a:p>
        </p:txBody>
      </p:sp>
      <p:sp>
        <p:nvSpPr>
          <p:cNvPr id="11" name="Rounded Rectangle 10"/>
          <p:cNvSpPr/>
          <p:nvPr/>
        </p:nvSpPr>
        <p:spPr>
          <a:xfrm>
            <a:off x="3584448" y="987552"/>
            <a:ext cx="91440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enjoy</a:t>
            </a:r>
          </a:p>
        </p:txBody>
      </p:sp>
      <p:sp>
        <p:nvSpPr>
          <p:cNvPr id="12" name="Rounded Rectangle 11"/>
          <p:cNvSpPr/>
          <p:nvPr/>
        </p:nvSpPr>
        <p:spPr>
          <a:xfrm>
            <a:off x="4590288"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Welcome</a:t>
            </a:r>
          </a:p>
        </p:txBody>
      </p:sp>
      <p:sp>
        <p:nvSpPr>
          <p:cNvPr id="13" name="Rounded Rectangle 12"/>
          <p:cNvSpPr/>
          <p:nvPr/>
        </p:nvSpPr>
        <p:spPr>
          <a:xfrm>
            <a:off x="5815584" y="987552"/>
            <a:ext cx="91440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speed</a:t>
            </a:r>
          </a:p>
        </p:txBody>
      </p:sp>
      <p:sp>
        <p:nvSpPr>
          <p:cNvPr id="14" name="Rounded Rectangle 13"/>
          <p:cNvSpPr/>
          <p:nvPr/>
        </p:nvSpPr>
        <p:spPr>
          <a:xfrm>
            <a:off x="6821424"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snowed</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_______ back! How was your trip?</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Welcome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It’s good to have you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back</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Did you _______ yourself?</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enjoy</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What did you get _______ to in Bali?</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up</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Let me bring you up to _______ on the project.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speed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 bet you’re _______ under with emails.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snowed</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时态与搭配): holiday (UK) / vacation (US), jet lag (two words), refreshed. Past simple for finished trips: “How was your trip?” (not “How is your trip?” after it ended). Get back (return) vs bring back (carry).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Welcoming a colleague back from holiday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欢迎同事休假归来</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Sophie returns to the office after two weeks of holiday in Thailand. Her colleague Li Wei greets her.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Sophie Zhou</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Welcoming a colleague back from holiday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Sophie! Welcome back! You look so refreshed.</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Sophie</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Li Wei. I feel great. It’s good to be back, though I’m a bit nervous about my inbox.</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We’ve missed you. How was Thailand?</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Wonderful. The weather was perfect, and the food was incredible.</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did you get up to?</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Mostly beaches and temples. We also did a cooking class, which was the highlight.</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Welcoming a colleague back from holiday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amazing. Did you manage to switch off completely?</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Almost. I only checked my email twice.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Well done! While you were away, we signed the contract with BlueSea, so that’s good news.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Really? That’s great. I bet there’s a lot to catch up on.</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Don’t worry. I’ll fill you in over coffee. You haven’t missed much besides that.</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You’re a star.</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Welcoming a colleague back from holiday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colleague returns from a holiday or trip.</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Welcoming colleague. Warm greeting, 3 questions, 1 piece of news.</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Returning colleague. Tired but happy.</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Welcome back! · It’s good to have you back. · How was…? · What did you get up to? · I’ll fill you in.</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friendly 90-second chat with follow-up questions and office news.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Your colleague had a bad trip. Say: “Oh no, I’m sorry to hear that. What happened?”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Your colleague is jet-lagged. Say: “Have you got over your jet lag? Take it easy today.”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three pieces of news in order of importance.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Welcoming a client back for a second visit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欢迎客户再次来访</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client returns to your company for a follow-up visit six months after the first one.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host</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Anders, client</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Welcoming a client back for a second visit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Mr Anders! Welcome back to Shanghai. It’s wonderful to see you again.</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Anders</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Li Wei. It’s good to be back. The city looks different every time.</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does. Have you got over your jet lag?</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Almost. I arrived yesterday, so I had a good night’s sleep.</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How was the flight?</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Long, but smooth. I watched two films and slept for four hours.</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Welcoming a client back for a second visit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the best way. Since your last visit, we’ve moved into a new office, so I’ll show you around later.</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love that. And how’s the team? Is Dan still here?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he’s well. He’s looking forward to seeing you. He’ll join us for lunch.</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great. Please give him my regards.</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will. Shall we get started? I have a coffee ready for you.</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Thank you for the warm welcome.</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Welcoming a client back for a second visit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client returns for a second visit.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Host. Remember something personal from the last visit.</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Friendly. Asks about the team.</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Welcome back to… · It’s wonderful to see you again. · Since your last visit, … · Have you got over your jet lag? · Please give my regards to…</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Make the client feel remembered and valued. 90 seconds.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Remember a detail: “Last time you told me about your daughter’s graduation. How did it go?”</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what has changed since the last visit: “Since your last visit, we’ve launched two new products.”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 small surprise: “I’ve booked a table at the restaurant you enjoyed last time.”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best way to welcome someone back after a long absence?</a:t>
            </a:r>
          </a:p>
          <a:p>
            <a:pPr algn="l">
              <a:lnSpc>
                <a:spcPct val="115000"/>
              </a:lnSpc>
              <a:spcAft>
                <a:spcPts val="800"/>
              </a:spcAft>
            </a:pPr>
            <a:r>
              <a:rPr sz="1400" b="0">
                <a:solidFill>
                  <a:srgbClr val="5F677A"/>
                </a:solidFill>
                <a:latin typeface="Arial"/>
                <a:ea typeface="Microsoft YaHei"/>
              </a:rPr>
              <a:t>💬 “I think a warm greeting and… are the best way.” / “A small gesture such as… helps.”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good to talk about holidays at work? Why?</a:t>
            </a:r>
          </a:p>
          <a:p>
            <a:pPr algn="l">
              <a:lnSpc>
                <a:spcPct val="115000"/>
              </a:lnSpc>
              <a:spcAft>
                <a:spcPts val="800"/>
              </a:spcAft>
            </a:pPr>
            <a:r>
              <a:rPr sz="1400" b="0">
                <a:solidFill>
                  <a:srgbClr val="5F677A"/>
                </a:solidFill>
                <a:latin typeface="Arial"/>
                <a:ea typeface="Microsoft YaHei"/>
              </a:rPr>
              <a:t>💬 “Yes, it’s a good way to…” / “A little is fine, but…”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help a returning colleague catch up quickly?</a:t>
            </a:r>
          </a:p>
          <a:p>
            <a:pPr algn="l">
              <a:lnSpc>
                <a:spcPct val="115000"/>
              </a:lnSpc>
              <a:spcAft>
                <a:spcPts val="800"/>
              </a:spcAft>
            </a:pPr>
            <a:r>
              <a:rPr sz="1400" b="0">
                <a:solidFill>
                  <a:srgbClr val="5F677A"/>
                </a:solidFill>
                <a:latin typeface="Arial"/>
                <a:ea typeface="Microsoft YaHei"/>
              </a:rPr>
              <a:t>💬 “I send a short summary of…” / “I meet them for coffee and tell them…”</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9753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92964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a returning colleague start work immediately, or have a slow first day?</a:t>
            </a:r>
          </a:p>
          <a:p>
            <a:pPr algn="l">
              <a:lnSpc>
                <a:spcPct val="115000"/>
              </a:lnSpc>
              <a:spcAft>
                <a:spcPts val="800"/>
              </a:spcAft>
            </a:pPr>
            <a:r>
              <a:rPr sz="1400" b="0">
                <a:solidFill>
                  <a:srgbClr val="5F677A"/>
                </a:solidFill>
                <a:latin typeface="Arial"/>
                <a:ea typeface="Microsoft YaHei"/>
              </a:rPr>
              <a:t>💬 “A slow first day is better because…” / “It depends on the workload.”</a:t>
            </a:r>
          </a:p>
        </p:txBody>
      </p:sp>
      <p:sp>
        <p:nvSpPr>
          <p:cNvPr id="21" name="Oval 20"/>
          <p:cNvSpPr/>
          <p:nvPr/>
        </p:nvSpPr>
        <p:spPr>
          <a:xfrm>
            <a:off x="548640" y="495300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07280"/>
            <a:ext cx="10408615" cy="9753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53000"/>
            <a:ext cx="10271455" cy="92964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a company make people feel welcome after parental leave or sick leave?</a:t>
            </a:r>
          </a:p>
          <a:p>
            <a:pPr algn="l">
              <a:lnSpc>
                <a:spcPct val="115000"/>
              </a:lnSpc>
              <a:spcAft>
                <a:spcPts val="800"/>
              </a:spcAft>
            </a:pPr>
            <a:r>
              <a:rPr sz="1400" b="0">
                <a:solidFill>
                  <a:srgbClr val="5F677A"/>
                </a:solidFill>
                <a:latin typeface="Arial"/>
                <a:ea typeface="Microsoft YaHei"/>
              </a:rPr>
              <a:t>💬 “They can offer a flexible schedule.” / “A buddy system helps.”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the best way is to send a short summary of the main news before they return, and then to meet them for coffee on the first day. The summary should include the three most important things they need to know: the projects, the people, and the deadlines. After that, I let them settle in. It’s important not to overwhelm them on the first day.</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“settle in”(适应)、“overwhelm”(使不堪重负)都是 B2 词汇。“the main news… before they return” 注意 before 后用现在时。</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Social language: welcoming 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欢迎归来用语</a:t>
            </a:r>
          </a:p>
        </p:txBody>
      </p:sp>
      <p:graphicFrame>
        <p:nvGraphicFramePr>
          <p:cNvPr id="9" name="Table 8"/>
          <p:cNvGraphicFramePr>
            <a:graphicFrameLocks noGrp="1"/>
          </p:cNvGraphicFramePr>
          <p:nvPr/>
        </p:nvGraphicFramePr>
        <p:xfrm>
          <a:off x="548640" y="1417320"/>
          <a:ext cx="11094415" cy="3834384"/>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Welcome</a:t>
                      </a:r>
                    </a:p>
                  </a:txBody>
                  <a:tcPr anchor="ctr">
                    <a:solidFill>
                      <a:srgbClr val="FFFFFF"/>
                    </a:solidFill>
                  </a:tcPr>
                </a:tc>
                <a:tc>
                  <a:txBody>
                    <a:bodyPr wrap="square"/>
                    <a:lstStyle/>
                    <a:p>
                      <a:r>
                        <a:rPr sz="1600" b="0">
                          <a:solidFill>
                            <a:srgbClr val="1F2A44"/>
                          </a:solidFill>
                          <a:latin typeface="Arial"/>
                          <a:ea typeface="Microsoft YaHei"/>
                        </a:rPr>
                        <a:t>Welcome back! / It’s good to have you back.</a:t>
                      </a:r>
                    </a:p>
                  </a:txBody>
                  <a:tcPr anchor="ctr">
                    <a:solidFill>
                      <a:srgbClr val="FFFFFF"/>
                    </a:solidFill>
                  </a:tcPr>
                </a:tc>
              </a:tr>
              <a:tr h="652272">
                <a:tc>
                  <a:txBody>
                    <a:bodyPr wrap="square"/>
                    <a:lstStyle/>
                    <a:p>
                      <a:r>
                        <a:rPr sz="1600" b="1">
                          <a:solidFill>
                            <a:srgbClr val="1F2A44"/>
                          </a:solidFill>
                          <a:latin typeface="Arial"/>
                          <a:ea typeface="Microsoft YaHei"/>
                        </a:rPr>
                        <a:t>Show you missed them</a:t>
                      </a:r>
                    </a:p>
                  </a:txBody>
                  <a:tcPr anchor="ctr">
                    <a:solidFill>
                      <a:srgbClr val="FFEFD9"/>
                    </a:solidFill>
                  </a:tcPr>
                </a:tc>
                <a:tc>
                  <a:txBody>
                    <a:bodyPr wrap="square"/>
                    <a:lstStyle/>
                    <a:p>
                      <a:r>
                        <a:rPr sz="1600" b="0">
                          <a:solidFill>
                            <a:srgbClr val="1F2A44"/>
                          </a:solidFill>
                          <a:latin typeface="Arial"/>
                          <a:ea typeface="Microsoft YaHei"/>
                        </a:rPr>
                        <a:t>We’ve missed you. / The office wasn’t the same without you.</a:t>
                      </a:r>
                    </a:p>
                  </a:txBody>
                  <a:tcPr anchor="ctr">
                    <a:solidFill>
                      <a:srgbClr val="FFEFD9"/>
                    </a:solidFill>
                  </a:tcPr>
                </a:tc>
              </a:tr>
              <a:tr h="652272">
                <a:tc>
                  <a:txBody>
                    <a:bodyPr wrap="square"/>
                    <a:lstStyle/>
                    <a:p>
                      <a:r>
                        <a:rPr sz="1600" b="1">
                          <a:solidFill>
                            <a:srgbClr val="1F2A44"/>
                          </a:solidFill>
                          <a:latin typeface="Arial"/>
                          <a:ea typeface="Microsoft YaHei"/>
                        </a:rPr>
                        <a:t>Ask</a:t>
                      </a:r>
                    </a:p>
                  </a:txBody>
                  <a:tcPr anchor="ctr">
                    <a:solidFill>
                      <a:srgbClr val="FFFFFF"/>
                    </a:solidFill>
                  </a:tcPr>
                </a:tc>
                <a:tc>
                  <a:txBody>
                    <a:bodyPr wrap="square"/>
                    <a:lstStyle/>
                    <a:p>
                      <a:r>
                        <a:rPr sz="1600" b="0">
                          <a:solidFill>
                            <a:srgbClr val="1F2A44"/>
                          </a:solidFill>
                          <a:latin typeface="Arial"/>
                          <a:ea typeface="Microsoft YaHei"/>
                        </a:rPr>
                        <a:t>How was your trip? / Did you enjoy yourself? / What did you get up to? ★</a:t>
                      </a:r>
                    </a:p>
                  </a:txBody>
                  <a:tcPr anchor="ctr">
                    <a:solidFill>
                      <a:srgbClr val="FFFFFF"/>
                    </a:solidFill>
                  </a:tcPr>
                </a:tc>
              </a:tr>
              <a:tr h="408432">
                <a:tc>
                  <a:txBody>
                    <a:bodyPr wrap="square"/>
                    <a:lstStyle/>
                    <a:p>
                      <a:r>
                        <a:rPr sz="1600" b="1">
                          <a:solidFill>
                            <a:srgbClr val="1F2A44"/>
                          </a:solidFill>
                          <a:latin typeface="Arial"/>
                          <a:ea typeface="Microsoft YaHei"/>
                        </a:rPr>
                        <a:t>Comment</a:t>
                      </a:r>
                    </a:p>
                  </a:txBody>
                  <a:tcPr anchor="ctr">
                    <a:solidFill>
                      <a:srgbClr val="FFEFD9"/>
                    </a:solidFill>
                  </a:tcPr>
                </a:tc>
                <a:tc>
                  <a:txBody>
                    <a:bodyPr wrap="square"/>
                    <a:lstStyle/>
                    <a:p>
                      <a:r>
                        <a:rPr sz="1600" b="0">
                          <a:solidFill>
                            <a:srgbClr val="1F2A44"/>
                          </a:solidFill>
                          <a:latin typeface="Arial"/>
                          <a:ea typeface="Microsoft YaHei"/>
                        </a:rPr>
                        <a:t>You look refreshed. ★ / That sounds amazing.</a:t>
                      </a:r>
                    </a:p>
                  </a:txBody>
                  <a:tcPr anchor="ctr">
                    <a:solidFill>
                      <a:srgbClr val="FFEFD9"/>
                    </a:solidFill>
                  </a:tcPr>
                </a:tc>
              </a:tr>
              <a:tr h="652272">
                <a:tc>
                  <a:txBody>
                    <a:bodyPr wrap="square"/>
                    <a:lstStyle/>
                    <a:p>
                      <a:r>
                        <a:rPr sz="1600" b="1">
                          <a:solidFill>
                            <a:srgbClr val="1F2A44"/>
                          </a:solidFill>
                          <a:latin typeface="Arial"/>
                          <a:ea typeface="Microsoft YaHei"/>
                        </a:rPr>
                        <a:t>Catch up</a:t>
                      </a:r>
                    </a:p>
                  </a:txBody>
                  <a:tcPr anchor="ctr">
                    <a:solidFill>
                      <a:srgbClr val="FFFFFF"/>
                    </a:solidFill>
                  </a:tcPr>
                </a:tc>
                <a:tc>
                  <a:txBody>
                    <a:bodyPr wrap="square"/>
                    <a:lstStyle/>
                    <a:p>
                      <a:r>
                        <a:rPr sz="1600" b="0">
                          <a:solidFill>
                            <a:srgbClr val="1F2A44"/>
                          </a:solidFill>
                          <a:latin typeface="Arial"/>
                          <a:ea typeface="Microsoft YaHei"/>
                        </a:rPr>
                        <a:t>While you were away, … / Let me bring you up to speed. ★ / I’ll fill you in. ★</a:t>
                      </a:r>
                    </a:p>
                  </a:txBody>
                  <a:tcPr anchor="ctr">
                    <a:solidFill>
                      <a:srgbClr val="FFFFFF"/>
                    </a:solidFill>
                  </a:tcPr>
                </a:tc>
              </a:tr>
              <a:tr h="652272">
                <a:tc>
                  <a:txBody>
                    <a:bodyPr wrap="square"/>
                    <a:lstStyle/>
                    <a:p>
                      <a:r>
                        <a:rPr sz="1600" b="1">
                          <a:solidFill>
                            <a:srgbClr val="1F2A44"/>
                          </a:solidFill>
                          <a:latin typeface="Arial"/>
                          <a:ea typeface="Microsoft YaHei"/>
                        </a:rPr>
                        <a:t>Sympathize</a:t>
                      </a:r>
                    </a:p>
                  </a:txBody>
                  <a:tcPr anchor="ctr">
                    <a:solidFill>
                      <a:srgbClr val="FFEFD9"/>
                    </a:solidFill>
                  </a:tcPr>
                </a:tc>
                <a:tc>
                  <a:txBody>
                    <a:bodyPr wrap="square"/>
                    <a:lstStyle/>
                    <a:p>
                      <a:r>
                        <a:rPr sz="1600" b="0">
                          <a:solidFill>
                            <a:srgbClr val="1F2A44"/>
                          </a:solidFill>
                          <a:latin typeface="Arial"/>
                          <a:ea typeface="Microsoft YaHei"/>
                        </a:rPr>
                        <a:t>I bet you’re snowed under. ★ / Don’t worry, there’s no rush.</a:t>
                      </a:r>
                    </a:p>
                  </a:txBody>
                  <a:tcPr anchor="ctr">
                    <a:solidFill>
                      <a:srgbClr val="FFEFD9"/>
                    </a:solidFill>
                  </a:tcPr>
                </a:tc>
              </a:tr>
            </a:tbl>
          </a:graphicData>
        </a:graphic>
      </p:graphicFrame>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Asking about a trip: tenses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询问旅行的时态</a:t>
            </a:r>
          </a:p>
        </p:txBody>
      </p:sp>
      <p:graphicFrame>
        <p:nvGraphicFramePr>
          <p:cNvPr id="9" name="Table 8"/>
          <p:cNvGraphicFramePr>
            <a:graphicFrameLocks noGrp="1"/>
          </p:cNvGraphicFramePr>
          <p:nvPr/>
        </p:nvGraphicFramePr>
        <p:xfrm>
          <a:off x="548640" y="1417320"/>
          <a:ext cx="11094415" cy="24505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Situation</a:t>
                      </a:r>
                    </a:p>
                  </a:txBody>
                  <a:tcPr anchor="ctr">
                    <a:solidFill>
                      <a:srgbClr val="3CC49A"/>
                    </a:solidFill>
                  </a:tcPr>
                </a:tc>
                <a:tc>
                  <a:txBody>
                    <a:bodyPr wrap="square"/>
                    <a:lstStyle/>
                    <a:p>
                      <a:r>
                        <a:rPr sz="1600" b="1">
                          <a:solidFill>
                            <a:srgbClr val="FFFFFF"/>
                          </a:solidFill>
                          <a:latin typeface="Arial"/>
                          <a:ea typeface="Microsoft YaHei"/>
                        </a:rPr>
                        <a:t>Question</a:t>
                      </a:r>
                    </a:p>
                  </a:txBody>
                  <a:tcPr anchor="ctr">
                    <a:solidFill>
                      <a:srgbClr val="3CC49A"/>
                    </a:solidFill>
                  </a:tcPr>
                </a:tc>
                <a:tc>
                  <a:txBody>
                    <a:bodyPr wrap="square"/>
                    <a:lstStyle/>
                    <a:p>
                      <a:r>
                        <a:rPr sz="1600" b="1">
                          <a:solidFill>
                            <a:srgbClr val="FFFFFF"/>
                          </a:solidFill>
                          <a:latin typeface="Arial"/>
                          <a:ea typeface="Microsoft YaHei"/>
                        </a:rPr>
                        <a:t>Why</a:t>
                      </a:r>
                    </a:p>
                  </a:txBody>
                  <a:tcPr anchor="ctr">
                    <a:solidFill>
                      <a:srgbClr val="3CC49A"/>
                    </a:solidFill>
                  </a:tcPr>
                </a:tc>
              </a:tr>
              <a:tr h="408432">
                <a:tc>
                  <a:txBody>
                    <a:bodyPr wrap="square"/>
                    <a:lstStyle/>
                    <a:p>
                      <a:r>
                        <a:rPr sz="1600" b="1">
                          <a:solidFill>
                            <a:srgbClr val="1F2A44"/>
                          </a:solidFill>
                          <a:latin typeface="Arial"/>
                          <a:ea typeface="Microsoft YaHei"/>
                        </a:rPr>
                        <a:t>The trip is finished</a:t>
                      </a:r>
                    </a:p>
                  </a:txBody>
                  <a:tcPr anchor="ctr">
                    <a:solidFill>
                      <a:srgbClr val="FFFFFF"/>
                    </a:solidFill>
                  </a:tcPr>
                </a:tc>
                <a:tc>
                  <a:txBody>
                    <a:bodyPr wrap="square"/>
                    <a:lstStyle/>
                    <a:p>
                      <a:r>
                        <a:rPr sz="1600" b="0">
                          <a:solidFill>
                            <a:srgbClr val="1F2A44"/>
                          </a:solidFill>
                          <a:latin typeface="Arial"/>
                          <a:ea typeface="Microsoft YaHei"/>
                        </a:rPr>
                        <a:t>How was your trip?</a:t>
                      </a:r>
                    </a:p>
                  </a:txBody>
                  <a:tcPr anchor="ctr">
                    <a:solidFill>
                      <a:srgbClr val="FFFFFF"/>
                    </a:solidFill>
                  </a:tcPr>
                </a:tc>
                <a:tc>
                  <a:txBody>
                    <a:bodyPr wrap="square"/>
                    <a:lstStyle/>
                    <a:p>
                      <a:r>
                        <a:rPr sz="1600" b="0">
                          <a:solidFill>
                            <a:srgbClr val="1F2A44"/>
                          </a:solidFill>
                          <a:latin typeface="Arial"/>
                          <a:ea typeface="Microsoft YaHei"/>
                        </a:rPr>
                        <a:t>past simple</a:t>
                      </a:r>
                    </a:p>
                  </a:txBody>
                  <a:tcPr anchor="ctr">
                    <a:solidFill>
                      <a:srgbClr val="FFFFFF"/>
                    </a:solidFill>
                  </a:tcPr>
                </a:tc>
              </a:tr>
              <a:tr h="408432">
                <a:tc>
                  <a:txBody>
                    <a:bodyPr wrap="square"/>
                    <a:lstStyle/>
                    <a:p>
                      <a:r>
                        <a:rPr sz="1600" b="1">
                          <a:solidFill>
                            <a:srgbClr val="1F2A44"/>
                          </a:solidFill>
                          <a:latin typeface="Arial"/>
                          <a:ea typeface="Microsoft YaHei"/>
                        </a:rPr>
                        <a:t>Still on the trip</a:t>
                      </a:r>
                    </a:p>
                  </a:txBody>
                  <a:tcPr anchor="ctr">
                    <a:solidFill>
                      <a:srgbClr val="FFEFD9"/>
                    </a:solidFill>
                  </a:tcPr>
                </a:tc>
                <a:tc>
                  <a:txBody>
                    <a:bodyPr wrap="square"/>
                    <a:lstStyle/>
                    <a:p>
                      <a:r>
                        <a:rPr sz="1600" b="0">
                          <a:solidFill>
                            <a:srgbClr val="1F2A44"/>
                          </a:solidFill>
                          <a:latin typeface="Arial"/>
                          <a:ea typeface="Microsoft YaHei"/>
                        </a:rPr>
                        <a:t>How is your trip going?</a:t>
                      </a:r>
                    </a:p>
                  </a:txBody>
                  <a:tcPr anchor="ctr">
                    <a:solidFill>
                      <a:srgbClr val="FFEFD9"/>
                    </a:solidFill>
                  </a:tcPr>
                </a:tc>
                <a:tc>
                  <a:txBody>
                    <a:bodyPr wrap="square"/>
                    <a:lstStyle/>
                    <a:p>
                      <a:r>
                        <a:rPr sz="1600" b="0">
                          <a:solidFill>
                            <a:srgbClr val="1F2A44"/>
                          </a:solidFill>
                          <a:latin typeface="Arial"/>
                          <a:ea typeface="Microsoft YaHei"/>
                        </a:rPr>
                        <a:t>present continuous</a:t>
                      </a:r>
                    </a:p>
                  </a:txBody>
                  <a:tcPr anchor="ctr">
                    <a:solidFill>
                      <a:srgbClr val="FFEFD9"/>
                    </a:solidFill>
                  </a:tcPr>
                </a:tc>
              </a:tr>
              <a:tr h="408432">
                <a:tc>
                  <a:txBody>
                    <a:bodyPr wrap="square"/>
                    <a:lstStyle/>
                    <a:p>
                      <a:r>
                        <a:rPr sz="1600" b="1">
                          <a:solidFill>
                            <a:srgbClr val="1F2A44"/>
                          </a:solidFill>
                          <a:latin typeface="Arial"/>
                          <a:ea typeface="Microsoft YaHei"/>
                        </a:rPr>
                        <a:t>Planning the trip</a:t>
                      </a:r>
                    </a:p>
                  </a:txBody>
                  <a:tcPr anchor="ctr">
                    <a:solidFill>
                      <a:srgbClr val="FFFFFF"/>
                    </a:solidFill>
                  </a:tcPr>
                </a:tc>
                <a:tc>
                  <a:txBody>
                    <a:bodyPr wrap="square"/>
                    <a:lstStyle/>
                    <a:p>
                      <a:r>
                        <a:rPr sz="1600" b="0">
                          <a:solidFill>
                            <a:srgbClr val="1F2A44"/>
                          </a:solidFill>
                          <a:latin typeface="Arial"/>
                          <a:ea typeface="Microsoft YaHei"/>
                        </a:rPr>
                        <a:t>Are you going anywhere nice?</a:t>
                      </a:r>
                    </a:p>
                  </a:txBody>
                  <a:tcPr anchor="ctr">
                    <a:solidFill>
                      <a:srgbClr val="FFFFFF"/>
                    </a:solidFill>
                  </a:tcPr>
                </a:tc>
                <a:tc>
                  <a:txBody>
                    <a:bodyPr wrap="square"/>
                    <a:lstStyle/>
                    <a:p>
                      <a:r>
                        <a:rPr sz="1600" b="0">
                          <a:solidFill>
                            <a:srgbClr val="1F2A44"/>
                          </a:solidFill>
                          <a:latin typeface="Arial"/>
                          <a:ea typeface="Microsoft YaHei"/>
                        </a:rPr>
                        <a:t>future / plan</a:t>
                      </a:r>
                    </a:p>
                  </a:txBody>
                  <a:tcPr anchor="ctr">
                    <a:solidFill>
                      <a:srgbClr val="FFFFFF"/>
                    </a:solidFill>
                  </a:tcPr>
                </a:tc>
              </a:tr>
              <a:tr h="408432">
                <a:tc>
                  <a:txBody>
                    <a:bodyPr wrap="square"/>
                    <a:lstStyle/>
                    <a:p>
                      <a:r>
                        <a:rPr sz="1600" b="1">
                          <a:solidFill>
                            <a:srgbClr val="1F2A44"/>
                          </a:solidFill>
                          <a:latin typeface="Arial"/>
                          <a:ea typeface="Microsoft YaHei"/>
                        </a:rPr>
                        <a:t>Result matters now</a:t>
                      </a:r>
                    </a:p>
                  </a:txBody>
                  <a:tcPr anchor="ctr">
                    <a:solidFill>
                      <a:srgbClr val="FFEFD9"/>
                    </a:solidFill>
                  </a:tcPr>
                </a:tc>
                <a:tc>
                  <a:txBody>
                    <a:bodyPr wrap="square"/>
                    <a:lstStyle/>
                    <a:p>
                      <a:r>
                        <a:rPr sz="1600" b="0">
                          <a:solidFill>
                            <a:srgbClr val="1F2A44"/>
                          </a:solidFill>
                          <a:latin typeface="Arial"/>
                          <a:ea typeface="Microsoft YaHei"/>
                        </a:rPr>
                        <a:t>Have you got over your jet lag?</a:t>
                      </a:r>
                    </a:p>
                  </a:txBody>
                  <a:tcPr anchor="ctr">
                    <a:solidFill>
                      <a:srgbClr val="FFEFD9"/>
                    </a:solidFill>
                  </a:tcPr>
                </a:tc>
                <a:tc>
                  <a:txBody>
                    <a:bodyPr wrap="square"/>
                    <a:lstStyle/>
                    <a:p>
                      <a:r>
                        <a:rPr sz="1600" b="0">
                          <a:solidFill>
                            <a:srgbClr val="1F2A44"/>
                          </a:solidFill>
                          <a:latin typeface="Arial"/>
                          <a:ea typeface="Microsoft YaHei"/>
                        </a:rPr>
                        <a:t>present perfect</a:t>
                      </a:r>
                    </a:p>
                  </a:txBody>
                  <a:tcPr anchor="ctr">
                    <a:solidFill>
                      <a:srgbClr val="FFEFD9"/>
                    </a:solidFill>
                  </a:tcPr>
                </a:tc>
              </a:tr>
              <a:tr h="408432">
                <a:tc>
                  <a:txBody>
                    <a:bodyPr wrap="square"/>
                    <a:lstStyle/>
                    <a:p>
                      <a:r>
                        <a:rPr sz="1600" b="1">
                          <a:solidFill>
                            <a:srgbClr val="1F2A44"/>
                          </a:solidFill>
                          <a:latin typeface="Arial"/>
                          <a:ea typeface="Microsoft YaHei"/>
                        </a:rPr>
                        <a:t>Before they left</a:t>
                      </a:r>
                    </a:p>
                  </a:txBody>
                  <a:tcPr anchor="ctr">
                    <a:solidFill>
                      <a:srgbClr val="FFFFFF"/>
                    </a:solidFill>
                  </a:tcPr>
                </a:tc>
                <a:tc>
                  <a:txBody>
                    <a:bodyPr wrap="square"/>
                    <a:lstStyle/>
                    <a:p>
                      <a:r>
                        <a:rPr sz="1600" b="0">
                          <a:solidFill>
                            <a:srgbClr val="1F2A44"/>
                          </a:solidFill>
                          <a:latin typeface="Arial"/>
                          <a:ea typeface="Microsoft YaHei"/>
                        </a:rPr>
                        <a:t>Did you have a good time?</a:t>
                      </a:r>
                    </a:p>
                  </a:txBody>
                  <a:tcPr anchor="ctr">
                    <a:solidFill>
                      <a:srgbClr val="FFFFFF"/>
                    </a:solidFill>
                  </a:tcPr>
                </a:tc>
                <a:tc>
                  <a:txBody>
                    <a:bodyPr wrap="square"/>
                    <a:lstStyle/>
                    <a:p>
                      <a:r>
                        <a:rPr sz="1600" b="0">
                          <a:solidFill>
                            <a:srgbClr val="1F2A44"/>
                          </a:solidFill>
                          <a:latin typeface="Arial"/>
                          <a:ea typeface="Microsoft YaHei"/>
                        </a:rPr>
                        <a:t>past simple</a:t>
                      </a:r>
                    </a:p>
                  </a:txBody>
                  <a:tcPr anchor="ctr">
                    <a:solidFill>
                      <a:srgbClr val="FFFFFF"/>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Asking about a trip: tenses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询问旅行的时态</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Holiday (UK) / vacation (US): </a:t>
            </a:r>
            <a:r>
              <a:rPr sz="1700" b="0">
                <a:solidFill>
                  <a:srgbClr val="1F2A44"/>
                </a:solidFill>
                <a:latin typeface="Arial"/>
                <a:ea typeface="Microsoft YaHei"/>
              </a:rPr>
              <a:t>“Did you have a good holiday?” / “How was your vacation?” Both are fine.</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Echo questions: </a:t>
            </a:r>
            <a:r>
              <a:rPr sz="1700" b="0">
                <a:solidFill>
                  <a:srgbClr val="1F2A44"/>
                </a:solidFill>
                <a:latin typeface="Arial"/>
                <a:ea typeface="Microsoft YaHei"/>
              </a:rPr>
              <a:t>“How was your trip?” — “Great. And you? Did you take any time off?”</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While you were away: </a:t>
            </a:r>
            <a:r>
              <a:rPr sz="1700" b="0">
                <a:solidFill>
                  <a:srgbClr val="1F2A44"/>
                </a:solidFill>
                <a:latin typeface="Arial"/>
                <a:ea typeface="Microsoft YaHei"/>
              </a:rPr>
              <a:t>past simple or past continuous: “While you were away, we signed the contract. We were working on it for weeks.”</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Welcome you back!</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Welcome back! / It’s good to have you back.</a:t>
            </a:r>
          </a:p>
          <a:p>
            <a:pPr algn="l">
              <a:spcAft>
                <a:spcPts val="200"/>
              </a:spcAft>
            </a:pPr>
            <a:r>
              <a:rPr sz="1200" b="0">
                <a:solidFill>
                  <a:srgbClr val="FFFFFF"/>
                </a:solidFill>
                <a:latin typeface="Arial"/>
                <a:ea typeface="Microsoft YaHei"/>
              </a:rPr>
              <a:t>固定短语</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How is your holiday? (after it ended)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How was your holiday?</a:t>
            </a:r>
          </a:p>
          <a:p>
            <a:pPr algn="l">
              <a:spcAft>
                <a:spcPts val="200"/>
              </a:spcAft>
            </a:pPr>
            <a:r>
              <a:rPr sz="1200" b="0">
                <a:solidFill>
                  <a:srgbClr val="FFFFFF"/>
                </a:solidFill>
                <a:latin typeface="Arial"/>
                <a:ea typeface="Microsoft YaHei"/>
              </a:rPr>
              <a:t>假期结束了 → 过去式</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 have gone to Thailand?</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Did you go to Thailand? / Did you have a good time in Thailand?</a:t>
            </a:r>
          </a:p>
          <a:p>
            <a:pPr algn="l">
              <a:spcAft>
                <a:spcPts val="200"/>
              </a:spcAft>
            </a:pPr>
            <a:r>
              <a:rPr sz="1200" b="0">
                <a:solidFill>
                  <a:srgbClr val="FFFFFF"/>
                </a:solidFill>
                <a:latin typeface="Arial"/>
                <a:ea typeface="Microsoft YaHei"/>
              </a:rPr>
              <a:t>提问用 did</a:t>
            </a:r>
          </a:p>
        </p:txBody>
      </p:sp>
      <p:sp>
        <p:nvSpPr>
          <p:cNvPr id="15" name="Rounded Rectangle 14"/>
          <p:cNvSpPr/>
          <p:nvPr/>
        </p:nvSpPr>
        <p:spPr>
          <a:xfrm>
            <a:off x="548640" y="3809997"/>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Did you enjoy?</a:t>
            </a:r>
          </a:p>
        </p:txBody>
      </p:sp>
      <p:sp>
        <p:nvSpPr>
          <p:cNvPr id="16" name="Rounded Rectangle 15"/>
          <p:cNvSpPr/>
          <p:nvPr/>
        </p:nvSpPr>
        <p:spPr>
          <a:xfrm>
            <a:off x="6187287" y="3809997"/>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Did you enjoy yourself? / Did you enjoy the trip?</a:t>
            </a:r>
          </a:p>
          <a:p>
            <a:pPr algn="l">
              <a:spcAft>
                <a:spcPts val="200"/>
              </a:spcAft>
            </a:pPr>
            <a:r>
              <a:rPr sz="1200" b="0">
                <a:solidFill>
                  <a:srgbClr val="FFFFFF"/>
                </a:solidFill>
                <a:latin typeface="Arial"/>
                <a:ea typeface="Microsoft YaHei"/>
              </a:rPr>
              <a:t>enjoy 需要宾语</a:t>
            </a:r>
          </a:p>
        </p:txBody>
      </p:sp>
      <p:sp>
        <p:nvSpPr>
          <p:cNvPr id="17" name="Rounded Rectangle 16"/>
          <p:cNvSpPr/>
          <p:nvPr/>
        </p:nvSpPr>
        <p:spPr>
          <a:xfrm>
            <a:off x="548640" y="475487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 must be very tired? (question)</a:t>
            </a:r>
          </a:p>
        </p:txBody>
      </p:sp>
      <p:sp>
        <p:nvSpPr>
          <p:cNvPr id="18" name="Rounded Rectangle 17"/>
          <p:cNvSpPr/>
          <p:nvPr/>
        </p:nvSpPr>
        <p:spPr>
          <a:xfrm>
            <a:off x="6187287" y="475487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You must be tired. Did you get any sleep?</a:t>
            </a:r>
          </a:p>
          <a:p>
            <a:pPr algn="l">
              <a:spcAft>
                <a:spcPts val="200"/>
              </a:spcAft>
            </a:pPr>
            <a:r>
              <a:rPr sz="1200" b="0">
                <a:solidFill>
                  <a:srgbClr val="FFFFFF"/>
                </a:solidFill>
                <a:latin typeface="Arial"/>
                <a:ea typeface="Microsoft YaHei"/>
              </a:rPr>
              <a:t>must be 表示推测</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missed you so much.</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We’ve missed you. / It’s good to see you.</a:t>
            </a:r>
          </a:p>
          <a:p>
            <a:pPr algn="l">
              <a:spcAft>
                <a:spcPts val="200"/>
              </a:spcAft>
            </a:pPr>
            <a:r>
              <a:rPr sz="1200" b="0">
                <a:solidFill>
                  <a:srgbClr val="FFFFFF"/>
                </a:solidFill>
                <a:latin typeface="Arial"/>
                <a:ea typeface="Microsoft YaHei"/>
              </a:rPr>
              <a:t>英语口语不强调 so much</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 look fat/thin.</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You look well. / You look refreshed.</a:t>
            </a:r>
          </a:p>
          <a:p>
            <a:pPr algn="l">
              <a:spcAft>
                <a:spcPts val="200"/>
              </a:spcAft>
            </a:pPr>
            <a:r>
              <a:rPr sz="1200" b="0">
                <a:solidFill>
                  <a:srgbClr val="FFFFFF"/>
                </a:solidFill>
                <a:latin typeface="Arial"/>
                <a:ea typeface="Microsoft YaHei"/>
              </a:rPr>
              <a:t>不要评论体形</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What did you get up?</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What did you get up to?</a:t>
            </a:r>
          </a:p>
          <a:p>
            <a:pPr algn="l">
              <a:spcAft>
                <a:spcPts val="200"/>
              </a:spcAft>
            </a:pPr>
            <a:r>
              <a:rPr sz="1200" b="0">
                <a:solidFill>
                  <a:srgbClr val="FFFFFF"/>
                </a:solidFill>
                <a:latin typeface="Arial"/>
                <a:ea typeface="Microsoft YaHei"/>
              </a:rPr>
              <a:t>get up to 固定搭配</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jetlag / vacasion</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jet lag / vacation</a:t>
            </a:r>
          </a:p>
          <a:p>
            <a:pPr algn="l">
              <a:spcAft>
                <a:spcPts val="200"/>
              </a:spcAft>
            </a:pPr>
            <a:r>
              <a:rPr sz="1200" b="0">
                <a:solidFill>
                  <a:srgbClr val="FFFFFF"/>
                </a:solidFill>
                <a:latin typeface="Arial"/>
                <a:ea typeface="Microsoft YaHei"/>
              </a:rPr>
              <a:t>拼写</a:t>
            </a:r>
          </a:p>
        </p:txBody>
      </p:sp>
      <p:sp>
        <p:nvSpPr>
          <p:cNvPr id="17" name="Rounded Rectangle 16"/>
          <p:cNvSpPr/>
          <p:nvPr/>
        </p:nvSpPr>
        <p:spPr>
          <a:xfrm>
            <a:off x="548640" y="426719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Did you buy me a gift?</a:t>
            </a:r>
          </a:p>
        </p:txBody>
      </p:sp>
      <p:sp>
        <p:nvSpPr>
          <p:cNvPr id="18" name="Rounded Rectangle 17"/>
          <p:cNvSpPr/>
          <p:nvPr/>
        </p:nvSpPr>
        <p:spPr>
          <a:xfrm>
            <a:off x="6187287" y="426719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Did you manage to see anything interesting?</a:t>
            </a:r>
          </a:p>
          <a:p>
            <a:pPr algn="l">
              <a:spcAft>
                <a:spcPts val="200"/>
              </a:spcAft>
            </a:pPr>
            <a:r>
              <a:rPr sz="1200" b="0">
                <a:solidFill>
                  <a:srgbClr val="FFFFFF"/>
                </a:solidFill>
                <a:latin typeface="Arial"/>
                <a:ea typeface="Microsoft YaHei"/>
              </a:rPr>
              <a:t>不要主动要礼物</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How was your trip? (past), Did you enjoy yourself?, What did you get up to?, jet lag (two words).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Bring a souvenir? In China, bringing back small gifts for colleagues is common. In the UK/US, it is nice but not expected. Sweets to share in the office are a simple, popular gesture.</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Don’t comment on body shape. “You look fat/thin” or “You got darker” can offend. Say “You look well/relaxed.”</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0">
                <a:solidFill>
                  <a:srgbClr val="1F2A44"/>
                </a:solidFill>
                <a:latin typeface="Arial"/>
                <a:ea typeface="Microsoft YaHei"/>
              </a:rPr>
              <a:t>Keep it brief at the desk. A few minutes of trip talk is enough. Save longer stories for lunch.</a:t>
            </a:r>
          </a:p>
        </p:txBody>
      </p:sp>
      <p:sp>
        <p:nvSpPr>
          <p:cNvPr id="18" name="Rounded Rectangle 17"/>
          <p:cNvSpPr/>
          <p:nvPr/>
        </p:nvSpPr>
        <p:spPr>
          <a:xfrm>
            <a:off x="548640" y="353567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701039"/>
          </a:xfrm>
          <a:prstGeom prst="rect">
            <a:avLst/>
          </a:prstGeom>
          <a:noFill/>
        </p:spPr>
        <p:txBody>
          <a:bodyPr wrap="square" anchor="ctr">
            <a:spAutoFit/>
          </a:bodyPr>
          <a:lstStyle/>
          <a:p>
            <a:r>
              <a:rPr sz="1700" b="0">
                <a:solidFill>
                  <a:srgbClr val="1F2A44"/>
                </a:solidFill>
                <a:latin typeface="Arial"/>
                <a:ea typeface="Microsoft YaHei"/>
              </a:rPr>
              <a:t>Respect privacy after sick or parental leave. Don’t ask for medical details. Say “I’m glad you’re back. Let me know if I can help.”</a:t>
            </a:r>
          </a:p>
        </p:txBody>
      </p:sp>
      <p:sp>
        <p:nvSpPr>
          <p:cNvPr id="21" name="Rounded Rectangle 20"/>
          <p:cNvSpPr/>
          <p:nvPr/>
        </p:nvSpPr>
        <p:spPr>
          <a:xfrm>
            <a:off x="548640" y="4328156"/>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328156"/>
            <a:ext cx="91440" cy="44195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328156"/>
            <a:ext cx="10728655" cy="441959"/>
          </a:xfrm>
          <a:prstGeom prst="rect">
            <a:avLst/>
          </a:prstGeom>
          <a:noFill/>
        </p:spPr>
        <p:txBody>
          <a:bodyPr wrap="square" anchor="ctr">
            <a:spAutoFit/>
          </a:bodyPr>
          <a:lstStyle/>
          <a:p>
            <a:r>
              <a:rPr sz="1700" b="1">
                <a:solidFill>
                  <a:srgbClr val="9B6BE0"/>
                </a:solidFill>
                <a:latin typeface="Arial"/>
                <a:ea typeface="Microsoft YaHei"/>
              </a:rPr>
              <a:t>Photos: </a:t>
            </a:r>
            <a:r>
              <a:rPr sz="1700" b="0">
                <a:solidFill>
                  <a:srgbClr val="1F2A44"/>
                </a:solidFill>
                <a:latin typeface="Arial"/>
                <a:ea typeface="Microsoft YaHei"/>
              </a:rPr>
              <a:t>Showing a few photos is fine; scrolling through hundreds is not.</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welcome someone back warmly (Welcome back! It’s good to have you back.).</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about a trip or holiday using the past simple (How was…? Did you enjoy yourself?).</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tell someone what happened while they were away (While you were away, … I’ll fill you in.).</a:t>
            </a:r>
          </a:p>
        </p:txBody>
      </p:sp>
      <p:sp>
        <p:nvSpPr>
          <p:cNvPr id="20" name="TextBox 19"/>
          <p:cNvSpPr txBox="1"/>
          <p:nvPr/>
        </p:nvSpPr>
        <p:spPr>
          <a:xfrm>
            <a:off x="9539935" y="33131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42153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2153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42153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make a returning client feel remembered (Since your last visit, … Please give my regards to…).</a:t>
            </a:r>
          </a:p>
        </p:txBody>
      </p:sp>
      <p:sp>
        <p:nvSpPr>
          <p:cNvPr id="24" name="TextBox 23"/>
          <p:cNvSpPr txBox="1"/>
          <p:nvPr/>
        </p:nvSpPr>
        <p:spPr>
          <a:xfrm>
            <a:off x="9539935" y="42153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5117592"/>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117592"/>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5117592"/>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How was…?, enjoy yourself and get up to correctly.</a:t>
            </a:r>
          </a:p>
        </p:txBody>
      </p:sp>
      <p:sp>
        <p:nvSpPr>
          <p:cNvPr id="28" name="TextBox 27"/>
          <p:cNvSpPr txBox="1"/>
          <p:nvPr/>
        </p:nvSpPr>
        <p:spPr>
          <a:xfrm>
            <a:off x="9539935" y="5117592"/>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37 Welcome back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past simple for finished trips, enjoy yourself, get up to, and kind comments (not about weight).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10 · Lesson 38 Back in the office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Back in the office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回到办公室</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settle back into work after time away: ask for a hand-over, find out what changed, prioritize tasks, thank those who covered for you, ask for help with a backlog, and get back into the swing of things.</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8496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do you feel on your first day back at work after a long break?</a:t>
            </a:r>
          </a:p>
        </p:txBody>
      </p:sp>
      <p:sp>
        <p:nvSpPr>
          <p:cNvPr id="12" name="Oval 11"/>
          <p:cNvSpPr/>
          <p:nvPr/>
        </p:nvSpPr>
        <p:spPr>
          <a:xfrm>
            <a:off x="548640" y="225856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2808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2808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is the first thing you do when you return to the office?</a:t>
            </a:r>
          </a:p>
        </p:txBody>
      </p:sp>
      <p:sp>
        <p:nvSpPr>
          <p:cNvPr id="15" name="Oval 14"/>
          <p:cNvSpPr/>
          <p:nvPr/>
        </p:nvSpPr>
        <p:spPr>
          <a:xfrm>
            <a:off x="548640" y="29321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0169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0169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do you decide what to do first when you have a backlog of emails?</a:t>
            </a:r>
          </a:p>
        </p:txBody>
      </p:sp>
      <p:sp>
        <p:nvSpPr>
          <p:cNvPr id="18" name="Oval 17"/>
          <p:cNvSpPr/>
          <p:nvPr/>
        </p:nvSpPr>
        <p:spPr>
          <a:xfrm>
            <a:off x="548640" y="377342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575304"/>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575304"/>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Tell me about a time when someone covered your work. How did you thank them?</a:t>
            </a:r>
          </a:p>
        </p:txBody>
      </p:sp>
      <p:sp>
        <p:nvSpPr>
          <p:cNvPr id="21" name="Oval 20"/>
          <p:cNvSpPr/>
          <p:nvPr/>
        </p:nvSpPr>
        <p:spPr>
          <a:xfrm>
            <a:off x="548640" y="461467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58419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58419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Who can help you catch up when you return from leave?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题讲过去的事,请用过去式(covered, thanked, said)。第 2 题可以说 “The first thing I do is…”。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2700" b="1">
                <a:solidFill>
                  <a:srgbClr val="1F2A44"/>
                </a:solidFill>
                <a:latin typeface="Arial"/>
                <a:ea typeface="Microsoft YaHei"/>
              </a:rPr>
              <a:t>Describe your first day back at work after two weeks away and how you manage your workload.</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1. first impressions</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2. what you do first (emails, meetings)</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3. how you prioritize</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4. who helps</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5. how you feel at the end of the day</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first thing I do is…   💬 I start by checking…   💬 I prioritize by…   💬 I’m grateful to…, who covered for me.</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排序用 first, then, after that。优先级:urgent / important / can wait。感谢同事帮忙:Thank you for covering for me.</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Catching up with the team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了解近况</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 did I miss?</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我错过了什么?</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“Hi, I’m back. What did I miss?”</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Has anything changed while I was away?</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我不在的时候有变化吗?</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“Has anything changed while I was away?”</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Who’s been covering for me?</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谁一直在替我的班?</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“Who’s been covering for me while I was out?”</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Could you give me a quick hand-over?</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你能给我简单交接一下吗?</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give me a quick hand-over on the project?”</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forward me the important emails?</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你能把重要邮件转发给我吗?</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forward me the important emails?”</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Managing the workload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处理工作量</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I’ve got a lot of catching up to do.</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我有很多事要补上</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“I’ve got a lot of catching up to do.”</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I’m snowed under.</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我被工作淹没了</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“Sorry, I’m snowed under this week.”</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need to work through my backlog.</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我得处理积压的工作</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need to work through my backlog of emails first.”</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What’s the priority? / What’s most urgent?</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什么最优先?/最紧急?</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“What’s the most urgent thing on my list?”</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 me get back into the swing of things.</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让我重新进入工作状态</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“Give me a day to get back into the swing of things.”</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3: Thanking and asking for help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感谢与求助</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Thank you for covering for me.</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谢谢你替我顶班</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for covering for me. I really appreciate it.”</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owe you one.</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我欠你一个人情</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 saved me. I owe you one.”</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give me a hand with…?</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你能帮我……吗?</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give me a hand with these reports?”</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Let’s schedule a catch-up meeting.</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我们约个碰头会吧</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schedule a catch-up meeting for tomorrow.”</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I’ll be up to speed by Friday.</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周五前我就能跟上进度</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be up to speed by Friday.”</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你能给我简单交接一下吗?</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Could you give me a quick hand-over?</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你能帮我……吗?</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you give me a hand with…?</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什么最优先?/最紧急?</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What’s the priority? / What’s most urgent?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我有很多事要补上</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I’ve got a lot of catching up to do.</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周五前我就能跟上进度</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I’ll be up to speed by Friday.</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我不在的时候有变化吗?</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Has anything changed while I was away?</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我得处理积压的工作</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I need to work through my backlog.</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谁一直在替我的班?</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Who’s been covering for 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covering</a:t>
            </a:r>
          </a:p>
        </p:txBody>
      </p:sp>
      <p:sp>
        <p:nvSpPr>
          <p:cNvPr id="10" name="Rounded Rectangle 9"/>
          <p:cNvSpPr/>
          <p:nvPr/>
        </p:nvSpPr>
        <p:spPr>
          <a:xfrm>
            <a:off x="3346704" y="987552"/>
            <a:ext cx="80467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miss</a:t>
            </a:r>
          </a:p>
        </p:txBody>
      </p:sp>
      <p:sp>
        <p:nvSpPr>
          <p:cNvPr id="11" name="Rounded Rectangle 10"/>
          <p:cNvSpPr/>
          <p:nvPr/>
        </p:nvSpPr>
        <p:spPr>
          <a:xfrm>
            <a:off x="4242816" y="987552"/>
            <a:ext cx="58521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up</a:t>
            </a:r>
          </a:p>
        </p:txBody>
      </p:sp>
      <p:sp>
        <p:nvSpPr>
          <p:cNvPr id="12" name="Rounded Rectangle 11"/>
          <p:cNvSpPr/>
          <p:nvPr/>
        </p:nvSpPr>
        <p:spPr>
          <a:xfrm>
            <a:off x="4919472" y="987552"/>
            <a:ext cx="69494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owe</a:t>
            </a:r>
          </a:p>
        </p:txBody>
      </p:sp>
      <p:sp>
        <p:nvSpPr>
          <p:cNvPr id="13" name="Rounded Rectangle 12"/>
          <p:cNvSpPr/>
          <p:nvPr/>
        </p:nvSpPr>
        <p:spPr>
          <a:xfrm>
            <a:off x="5705856"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backlog</a:t>
            </a:r>
          </a:p>
        </p:txBody>
      </p:sp>
      <p:sp>
        <p:nvSpPr>
          <p:cNvPr id="14" name="Rounded Rectangle 13"/>
          <p:cNvSpPr/>
          <p:nvPr/>
        </p:nvSpPr>
        <p:spPr>
          <a:xfrm>
            <a:off x="6931152"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schedule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Hi, I’m back. What did I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miss</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Who’s been _______ for me while I was out?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covering</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I’ve got a lot of catching _______ to do.</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up</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 need to work through my _______ of emails.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backlog</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Thank you for covering for me. I _______ you one.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owe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Let’s _______ a catch-up meeting for tomorrow.</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schedule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搭配与拼写): backlog (one word), schedule, priority (not “pirority”), catch-up (noun, hyphen) vs catch up (verb). Cover for a person; cover a task.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Getting up to speed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向同事了解最新情况</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are back at work after two weeks. You talk to your colleague Dan to find out what happened.</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(returning)</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 Hughes (covered for her)</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Getting up to speed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Morning, Dan. I’m back! What did I miss?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Welcome back! Quite a lot, actually. How was the holiday?</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thanks. But I’m already snowed under. I’ve got about 400 emails.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Ouch. Let me bring you up to speed on the important stuff. The BlueSea contract was signed, and the client meeting is on Thursday.</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Who’s been covering for me with the suppliers?</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have, and Sophie took the customer calls.</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Getting up to speed with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covering for me. I owe you one.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problem. Here’s a hand-over note. The urgent items are at the top.</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really helpful. Could you forward me the emails from BlueSea?</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Already done. Shall we schedule a catch-up meeting this afternoon?</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let’s say three o’clock. I should be up to speed by then.</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See you at three.</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Getting up to speed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are back from leave and need to catch up.</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Returning employee. Ask what happened and what’s urgent.</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who covered. Gives you a short summary.</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What did I miss? · Who’s been covering for me? · hand-over · Thank you for covering for me. · catch-up meeting</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Find out the top 3 priorities and agree on a follow-up meeting.</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discover an urgent problem. Say: “I’m afraid I’ll need to deal with this first. Can we catch up later?”</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need help. Say: “Could you give me a hand with the supplier report?”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what you will do by when: “I’ll be up to speed by Friday.”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Prioritizing with your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与经理确定优先级</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ask your manager what to do first, because you have too many tasks.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Sophie Zhou, manager</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Prioritizing with your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Sophie, do you have a minute? I’ve got a lot of catching up to do, and I’d like to check the priorities.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Sophie</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What have you got on your list?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report for Thursday, the BlueSea contract follow-up, 400 emails and a client visit on Friday.</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see. The client visit is the most important. The report can wait until Thursday afternoon.</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emails?</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Only reply to the urgent ones today. The rest can wait until Wednesday.</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Prioritizing with your manager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I’ll set aside two hours this afternoon for the contract. Is that realistic?</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think so. If you need help, ask Dan.</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will. I’ll let you know by tomorrow how it’s going.</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Welcome back, by the way.</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I’m glad to be back.</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Prioritizing with your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have too many tasks after a break.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List tasks and ask for priorities.</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Helps you decide what is urgent.</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I’d like to check the priorities. · What’s most urgent? · can wait until… · I’ll set aside… · I’ll let you know.</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Agree on an order of tasks and a time plan.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manager gives a new task. Say: “I can do that, but then I’d need to move the report. Is that OK?”</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“no” politely: “I’m afraid I can’t take that on this week. Could it wait until Monday?”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your plan in 3 steps.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best way to start the first day back at work?</a:t>
            </a:r>
          </a:p>
          <a:p>
            <a:pPr algn="l">
              <a:lnSpc>
                <a:spcPct val="115000"/>
              </a:lnSpc>
              <a:spcAft>
                <a:spcPts val="800"/>
              </a:spcAft>
            </a:pPr>
            <a:r>
              <a:rPr sz="1400" b="0">
                <a:solidFill>
                  <a:srgbClr val="5F677A"/>
                </a:solidFill>
                <a:latin typeface="Arial"/>
                <a:ea typeface="Microsoft YaHei"/>
              </a:rPr>
              <a:t>💬 “I think the best way is to…” / “I would first…”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handle a long list of emails after a holiday?</a:t>
            </a:r>
          </a:p>
          <a:p>
            <a:pPr algn="l">
              <a:lnSpc>
                <a:spcPct val="115000"/>
              </a:lnSpc>
              <a:spcAft>
                <a:spcPts val="800"/>
              </a:spcAft>
            </a:pPr>
            <a:r>
              <a:rPr sz="1400" b="0">
                <a:solidFill>
                  <a:srgbClr val="5F677A"/>
                </a:solidFill>
                <a:latin typeface="Arial"/>
                <a:ea typeface="Microsoft YaHei"/>
              </a:rPr>
              <a:t>💬 “I sort them by…” / “I skim the subject lines and…”</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a team cover for someone who is away?</a:t>
            </a:r>
          </a:p>
          <a:p>
            <a:pPr algn="l">
              <a:lnSpc>
                <a:spcPct val="115000"/>
              </a:lnSpc>
              <a:spcAft>
                <a:spcPts val="800"/>
              </a:spcAft>
            </a:pPr>
            <a:r>
              <a:rPr sz="1400" b="0">
                <a:solidFill>
                  <a:srgbClr val="5F677A"/>
                </a:solidFill>
                <a:latin typeface="Arial"/>
                <a:ea typeface="Microsoft YaHei"/>
              </a:rPr>
              <a:t>💬 “They should share the tasks and…” / “A hand-over note helps.”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say no politely when you are overloaded?</a:t>
            </a:r>
          </a:p>
          <a:p>
            <a:pPr algn="l">
              <a:lnSpc>
                <a:spcPct val="115000"/>
              </a:lnSpc>
              <a:spcAft>
                <a:spcPts val="800"/>
              </a:spcAft>
            </a:pPr>
            <a:r>
              <a:rPr sz="1400" b="0">
                <a:solidFill>
                  <a:srgbClr val="5F677A"/>
                </a:solidFill>
                <a:latin typeface="Arial"/>
                <a:ea typeface="Microsoft YaHei"/>
              </a:rPr>
              <a:t>💬 “I say ‘I’m afraid I can’t take that on this week.’” / “I offer another date.”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think people should check emails during holidays?</a:t>
            </a:r>
          </a:p>
          <a:p>
            <a:pPr algn="l">
              <a:lnSpc>
                <a:spcPct val="115000"/>
              </a:lnSpc>
              <a:spcAft>
                <a:spcPts val="800"/>
              </a:spcAft>
            </a:pPr>
            <a:r>
              <a:rPr sz="1400" b="0">
                <a:solidFill>
                  <a:srgbClr val="5F677A"/>
                </a:solidFill>
                <a:latin typeface="Arial"/>
                <a:ea typeface="Microsoft YaHei"/>
              </a:rPr>
              <a:t>💬 “No, rest is important.” / “Only for emergencies.”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sort my emails into three groups: urgent, important, and can wait. First, I check for emails from my manager and key clients. Then I answer the urgent ones. Everything else I look at later in the day. If there are more than 100 emails, I skim the subject lines first. I also ask a colleague,”Is there anything I need to know?” It saves a lot of time.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“skim the subject lines”(快速浏览主题行),“can wait”(可以等)。“It saves a lot of time.” 是简洁的总结句。</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Social language: back in the office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回到办公室用语</a:t>
            </a:r>
          </a:p>
        </p:txBody>
      </p:sp>
      <p:graphicFrame>
        <p:nvGraphicFramePr>
          <p:cNvPr id="9" name="Table 8"/>
          <p:cNvGraphicFramePr>
            <a:graphicFrameLocks noGrp="1"/>
          </p:cNvGraphicFramePr>
          <p:nvPr/>
        </p:nvGraphicFramePr>
        <p:xfrm>
          <a:off x="548640" y="1417320"/>
          <a:ext cx="11094415" cy="277368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Ask</a:t>
                      </a:r>
                    </a:p>
                  </a:txBody>
                  <a:tcPr anchor="ctr">
                    <a:solidFill>
                      <a:srgbClr val="FFFFFF"/>
                    </a:solidFill>
                  </a:tcPr>
                </a:tc>
                <a:tc>
                  <a:txBody>
                    <a:bodyPr wrap="square"/>
                    <a:lstStyle/>
                    <a:p>
                      <a:r>
                        <a:rPr sz="1600" b="0">
                          <a:solidFill>
                            <a:srgbClr val="1F2A44"/>
                          </a:solidFill>
                          <a:latin typeface="Arial"/>
                          <a:ea typeface="Microsoft YaHei"/>
                        </a:rPr>
                        <a:t>What did I miss? / Has anything changed while I was away?</a:t>
                      </a:r>
                    </a:p>
                  </a:txBody>
                  <a:tcPr anchor="ctr">
                    <a:solidFill>
                      <a:srgbClr val="FFFFFF"/>
                    </a:solidFill>
                  </a:tcPr>
                </a:tc>
              </a:tr>
              <a:tr h="652272">
                <a:tc>
                  <a:txBody>
                    <a:bodyPr wrap="square"/>
                    <a:lstStyle/>
                    <a:p>
                      <a:r>
                        <a:rPr sz="1600" b="1">
                          <a:solidFill>
                            <a:srgbClr val="1F2A44"/>
                          </a:solidFill>
                          <a:latin typeface="Arial"/>
                          <a:ea typeface="Microsoft YaHei"/>
                        </a:rPr>
                        <a:t>Cover</a:t>
                      </a:r>
                    </a:p>
                  </a:txBody>
                  <a:tcPr anchor="ctr">
                    <a:solidFill>
                      <a:srgbClr val="FFEFD9"/>
                    </a:solidFill>
                  </a:tcPr>
                </a:tc>
                <a:tc>
                  <a:txBody>
                    <a:bodyPr wrap="square"/>
                    <a:lstStyle/>
                    <a:p>
                      <a:r>
                        <a:rPr sz="1600" b="0">
                          <a:solidFill>
                            <a:srgbClr val="1F2A44"/>
                          </a:solidFill>
                          <a:latin typeface="Arial"/>
                          <a:ea typeface="Microsoft YaHei"/>
                        </a:rPr>
                        <a:t>Who’s been covering for me? ★ / Thank you for covering for me.</a:t>
                      </a:r>
                    </a:p>
                  </a:txBody>
                  <a:tcPr anchor="ctr">
                    <a:solidFill>
                      <a:srgbClr val="FFEFD9"/>
                    </a:solidFill>
                  </a:tcPr>
                </a:tc>
              </a:tr>
              <a:tr h="408432">
                <a:tc>
                  <a:txBody>
                    <a:bodyPr wrap="square"/>
                    <a:lstStyle/>
                    <a:p>
                      <a:r>
                        <a:rPr sz="1600" b="1">
                          <a:solidFill>
                            <a:srgbClr val="1F2A44"/>
                          </a:solidFill>
                          <a:latin typeface="Arial"/>
                          <a:ea typeface="Microsoft YaHei"/>
                        </a:rPr>
                        <a:t>Hand-over</a:t>
                      </a:r>
                    </a:p>
                  </a:txBody>
                  <a:tcPr anchor="ctr">
                    <a:solidFill>
                      <a:srgbClr val="FFFFFF"/>
                    </a:solidFill>
                  </a:tcPr>
                </a:tc>
                <a:tc>
                  <a:txBody>
                    <a:bodyPr wrap="square"/>
                    <a:lstStyle/>
                    <a:p>
                      <a:r>
                        <a:rPr sz="1600" b="0">
                          <a:solidFill>
                            <a:srgbClr val="1F2A44"/>
                          </a:solidFill>
                          <a:latin typeface="Arial"/>
                          <a:ea typeface="Microsoft YaHei"/>
                        </a:rPr>
                        <a:t>Could you give me a quick hand-over? ★</a:t>
                      </a:r>
                    </a:p>
                  </a:txBody>
                  <a:tcPr anchor="ctr">
                    <a:solidFill>
                      <a:srgbClr val="FFFFFF"/>
                    </a:solidFill>
                  </a:tcPr>
                </a:tc>
              </a:tr>
              <a:tr h="652272">
                <a:tc>
                  <a:txBody>
                    <a:bodyPr wrap="square"/>
                    <a:lstStyle/>
                    <a:p>
                      <a:r>
                        <a:rPr sz="1600" b="1">
                          <a:solidFill>
                            <a:srgbClr val="1F2A44"/>
                          </a:solidFill>
                          <a:latin typeface="Arial"/>
                          <a:ea typeface="Microsoft YaHei"/>
                        </a:rPr>
                        <a:t>Workload</a:t>
                      </a:r>
                    </a:p>
                  </a:txBody>
                  <a:tcPr anchor="ctr">
                    <a:solidFill>
                      <a:srgbClr val="FFEFD9"/>
                    </a:solidFill>
                  </a:tcPr>
                </a:tc>
                <a:tc>
                  <a:txBody>
                    <a:bodyPr wrap="square"/>
                    <a:lstStyle/>
                    <a:p>
                      <a:r>
                        <a:rPr sz="1600" b="0">
                          <a:solidFill>
                            <a:srgbClr val="1F2A44"/>
                          </a:solidFill>
                          <a:latin typeface="Arial"/>
                          <a:ea typeface="Microsoft YaHei"/>
                        </a:rPr>
                        <a:t>I’ve got a lot of catching up to do. / I’m snowed under. ★</a:t>
                      </a:r>
                    </a:p>
                  </a:txBody>
                  <a:tcPr anchor="ctr">
                    <a:solidFill>
                      <a:srgbClr val="FFEFD9"/>
                    </a:solidFill>
                  </a:tcPr>
                </a:tc>
              </a:tr>
            </a:tbl>
          </a:graphicData>
        </a:graphic>
      </p:graphicFrame>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Social language: back in the office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回到办公室用语</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Priority</a:t>
                      </a:r>
                    </a:p>
                  </a:txBody>
                  <a:tcPr anchor="ctr">
                    <a:solidFill>
                      <a:srgbClr val="FFFFFF"/>
                    </a:solidFill>
                  </a:tcPr>
                </a:tc>
                <a:tc>
                  <a:txBody>
                    <a:bodyPr wrap="square"/>
                    <a:lstStyle/>
                    <a:p>
                      <a:r>
                        <a:rPr sz="1600" b="0">
                          <a:solidFill>
                            <a:srgbClr val="1F2A44"/>
                          </a:solidFill>
                          <a:latin typeface="Arial"/>
                          <a:ea typeface="Microsoft YaHei"/>
                        </a:rPr>
                        <a:t>What’s the most urgent? / What can wait?</a:t>
                      </a:r>
                    </a:p>
                  </a:txBody>
                  <a:tcPr anchor="ctr">
                    <a:solidFill>
                      <a:srgbClr val="FFFFFF"/>
                    </a:solidFill>
                  </a:tcPr>
                </a:tc>
              </a:tr>
              <a:tr h="652272">
                <a:tc>
                  <a:txBody>
                    <a:bodyPr wrap="square"/>
                    <a:lstStyle/>
                    <a:p>
                      <a:r>
                        <a:rPr sz="1600" b="1">
                          <a:solidFill>
                            <a:srgbClr val="1F2A44"/>
                          </a:solidFill>
                          <a:latin typeface="Arial"/>
                          <a:ea typeface="Microsoft YaHei"/>
                        </a:rPr>
                        <a:t>Plan</a:t>
                      </a:r>
                    </a:p>
                  </a:txBody>
                  <a:tcPr anchor="ctr">
                    <a:solidFill>
                      <a:srgbClr val="FFEFD9"/>
                    </a:solidFill>
                  </a:tcPr>
                </a:tc>
                <a:tc>
                  <a:txBody>
                    <a:bodyPr wrap="square"/>
                    <a:lstStyle/>
                    <a:p>
                      <a:r>
                        <a:rPr sz="1600" b="0">
                          <a:solidFill>
                            <a:srgbClr val="1F2A44"/>
                          </a:solidFill>
                          <a:latin typeface="Arial"/>
                          <a:ea typeface="Microsoft YaHei"/>
                        </a:rPr>
                        <a:t>I’ll set aside two hours for… / I’ll be up to speed by Friday. ★</a:t>
                      </a:r>
                    </a:p>
                  </a:txBody>
                  <a:tcPr anchor="ctr">
                    <a:solidFill>
                      <a:srgbClr val="FFEFD9"/>
                    </a:solidFill>
                  </a:tcPr>
                </a:tc>
              </a:tr>
              <a:tr h="408432">
                <a:tc>
                  <a:txBody>
                    <a:bodyPr wrap="square"/>
                    <a:lstStyle/>
                    <a:p>
                      <a:r>
                        <a:rPr sz="1600" b="1">
                          <a:solidFill>
                            <a:srgbClr val="1F2A44"/>
                          </a:solidFill>
                          <a:latin typeface="Arial"/>
                          <a:ea typeface="Microsoft YaHei"/>
                        </a:rPr>
                        <a:t>Thanks</a:t>
                      </a:r>
                    </a:p>
                  </a:txBody>
                  <a:tcPr anchor="ctr">
                    <a:solidFill>
                      <a:srgbClr val="FFFFFF"/>
                    </a:solidFill>
                  </a:tcPr>
                </a:tc>
                <a:tc>
                  <a:txBody>
                    <a:bodyPr wrap="square"/>
                    <a:lstStyle/>
                    <a:p>
                      <a:r>
                        <a:rPr sz="1600" b="0">
                          <a:solidFill>
                            <a:srgbClr val="1F2A44"/>
                          </a:solidFill>
                          <a:latin typeface="Arial"/>
                          <a:ea typeface="Microsoft YaHei"/>
                        </a:rPr>
                        <a:t>I owe you one. ★ / I really appreciate it.</a:t>
                      </a:r>
                    </a:p>
                  </a:txBody>
                  <a:tcPr anchor="ctr">
                    <a:solidFill>
                      <a:srgbClr val="FFFFFF"/>
                    </a:solidFill>
                  </a:tcPr>
                </a:tc>
              </a:tr>
              <a:tr h="408432">
                <a:tc>
                  <a:txBody>
                    <a:bodyPr wrap="square"/>
                    <a:lstStyle/>
                    <a:p>
                      <a:r>
                        <a:rPr sz="1600" b="1">
                          <a:solidFill>
                            <a:srgbClr val="1F2A44"/>
                          </a:solidFill>
                          <a:latin typeface="Arial"/>
                          <a:ea typeface="Microsoft YaHei"/>
                        </a:rPr>
                        <a:t>Help</a:t>
                      </a:r>
                    </a:p>
                  </a:txBody>
                  <a:tcPr anchor="ctr">
                    <a:solidFill>
                      <a:srgbClr val="FFEFD9"/>
                    </a:solidFill>
                  </a:tcPr>
                </a:tc>
                <a:tc>
                  <a:txBody>
                    <a:bodyPr wrap="square"/>
                    <a:lstStyle/>
                    <a:p>
                      <a:r>
                        <a:rPr sz="1600" b="0">
                          <a:solidFill>
                            <a:srgbClr val="1F2A44"/>
                          </a:solidFill>
                          <a:latin typeface="Arial"/>
                          <a:ea typeface="Microsoft YaHei"/>
                        </a:rPr>
                        <a:t>Could you give me a hand with…?</a:t>
                      </a:r>
                    </a:p>
                  </a:txBody>
                  <a:tcPr anchor="ctr">
                    <a:solidFill>
                      <a:srgbClr val="FFEFD9"/>
                    </a:solidFill>
                  </a:tcPr>
                </a:tc>
              </a:tr>
            </a:tbl>
          </a:graphicData>
        </a:graphic>
      </p:graphicFrame>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Prioritizing: the urgent-important rule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优先级排序</a:t>
            </a:r>
          </a:p>
        </p:txBody>
      </p:sp>
      <p:graphicFrame>
        <p:nvGraphicFramePr>
          <p:cNvPr id="9" name="Table 8"/>
          <p:cNvGraphicFramePr>
            <a:graphicFrameLocks noGrp="1"/>
          </p:cNvGraphicFramePr>
          <p:nvPr/>
        </p:nvGraphicFramePr>
        <p:xfrm>
          <a:off x="548640" y="1417320"/>
          <a:ext cx="11094415" cy="1225296"/>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
                      </a:r>
                    </a:p>
                  </a:txBody>
                  <a:tcPr anchor="ctr">
                    <a:solidFill>
                      <a:srgbClr val="3CC49A"/>
                    </a:solidFill>
                  </a:tcPr>
                </a:tc>
                <a:tc>
                  <a:txBody>
                    <a:bodyPr wrap="square"/>
                    <a:lstStyle/>
                    <a:p>
                      <a:r>
                        <a:rPr sz="1600" b="1">
                          <a:solidFill>
                            <a:srgbClr val="FFFFFF"/>
                          </a:solidFill>
                          <a:latin typeface="Arial"/>
                          <a:ea typeface="Microsoft YaHei"/>
                        </a:rPr>
                        <a:t>Urgent</a:t>
                      </a:r>
                    </a:p>
                  </a:txBody>
                  <a:tcPr anchor="ctr">
                    <a:solidFill>
                      <a:srgbClr val="3CC49A"/>
                    </a:solidFill>
                  </a:tcPr>
                </a:tc>
                <a:tc>
                  <a:txBody>
                    <a:bodyPr wrap="square"/>
                    <a:lstStyle/>
                    <a:p>
                      <a:r>
                        <a:rPr sz="1600" b="1">
                          <a:solidFill>
                            <a:srgbClr val="FFFFFF"/>
                          </a:solidFill>
                          <a:latin typeface="Arial"/>
                          <a:ea typeface="Microsoft YaHei"/>
                        </a:rPr>
                        <a:t>Not urgent</a:t>
                      </a:r>
                    </a:p>
                  </a:txBody>
                  <a:tcPr anchor="ctr">
                    <a:solidFill>
                      <a:srgbClr val="3CC49A"/>
                    </a:solidFill>
                  </a:tcPr>
                </a:tc>
              </a:tr>
              <a:tr h="408432">
                <a:tc>
                  <a:txBody>
                    <a:bodyPr wrap="square"/>
                    <a:lstStyle/>
                    <a:p>
                      <a:r>
                        <a:rPr sz="1600" b="1">
                          <a:solidFill>
                            <a:srgbClr val="1F2A44"/>
                          </a:solidFill>
                          <a:latin typeface="Arial"/>
                          <a:ea typeface="Microsoft YaHei"/>
                        </a:rPr>
                        <a:t>Important</a:t>
                      </a:r>
                    </a:p>
                  </a:txBody>
                  <a:tcPr anchor="ctr">
                    <a:solidFill>
                      <a:srgbClr val="FFFFFF"/>
                    </a:solidFill>
                  </a:tcPr>
                </a:tc>
                <a:tc>
                  <a:txBody>
                    <a:bodyPr wrap="square"/>
                    <a:lstStyle/>
                    <a:p>
                      <a:r>
                        <a:rPr sz="1600" b="0">
                          <a:solidFill>
                            <a:srgbClr val="1F2A44"/>
                          </a:solidFill>
                          <a:latin typeface="Arial"/>
                          <a:ea typeface="Microsoft YaHei"/>
                        </a:rPr>
                        <a:t>Do it now (client visit)</a:t>
                      </a:r>
                    </a:p>
                  </a:txBody>
                  <a:tcPr anchor="ctr">
                    <a:solidFill>
                      <a:srgbClr val="FFFFFF"/>
                    </a:solidFill>
                  </a:tcPr>
                </a:tc>
                <a:tc>
                  <a:txBody>
                    <a:bodyPr wrap="square"/>
                    <a:lstStyle/>
                    <a:p>
                      <a:r>
                        <a:rPr sz="1600" b="0">
                          <a:solidFill>
                            <a:srgbClr val="1F2A44"/>
                          </a:solidFill>
                          <a:latin typeface="Arial"/>
                          <a:ea typeface="Microsoft YaHei"/>
                        </a:rPr>
                        <a:t>Plan it (long-term project)</a:t>
                      </a:r>
                    </a:p>
                  </a:txBody>
                  <a:tcPr anchor="ctr">
                    <a:solidFill>
                      <a:srgbClr val="FFFFFF"/>
                    </a:solidFill>
                  </a:tcPr>
                </a:tc>
              </a:tr>
              <a:tr h="408432">
                <a:tc>
                  <a:txBody>
                    <a:bodyPr wrap="square"/>
                    <a:lstStyle/>
                    <a:p>
                      <a:r>
                        <a:rPr sz="1600" b="1">
                          <a:solidFill>
                            <a:srgbClr val="1F2A44"/>
                          </a:solidFill>
                          <a:latin typeface="Arial"/>
                          <a:ea typeface="Microsoft YaHei"/>
                        </a:rPr>
                        <a:t>Not important</a:t>
                      </a:r>
                    </a:p>
                  </a:txBody>
                  <a:tcPr anchor="ctr">
                    <a:solidFill>
                      <a:srgbClr val="FFEFD9"/>
                    </a:solidFill>
                  </a:tcPr>
                </a:tc>
                <a:tc>
                  <a:txBody>
                    <a:bodyPr wrap="square"/>
                    <a:lstStyle/>
                    <a:p>
                      <a:r>
                        <a:rPr sz="1600" b="0">
                          <a:solidFill>
                            <a:srgbClr val="1F2A44"/>
                          </a:solidFill>
                          <a:latin typeface="Arial"/>
                          <a:ea typeface="Microsoft YaHei"/>
                        </a:rPr>
                        <a:t>Delegate it (small request)</a:t>
                      </a:r>
                    </a:p>
                  </a:txBody>
                  <a:tcPr anchor="ctr">
                    <a:solidFill>
                      <a:srgbClr val="FFEFD9"/>
                    </a:solidFill>
                  </a:tcPr>
                </a:tc>
                <a:tc>
                  <a:txBody>
                    <a:bodyPr wrap="square"/>
                    <a:lstStyle/>
                    <a:p>
                      <a:r>
                        <a:rPr sz="1600" b="0">
                          <a:solidFill>
                            <a:srgbClr val="1F2A44"/>
                          </a:solidFill>
                          <a:latin typeface="Arial"/>
                          <a:ea typeface="Microsoft YaHei"/>
                        </a:rPr>
                        <a:t>Delete or leave (junk email)</a:t>
                      </a:r>
                    </a:p>
                  </a:txBody>
                  <a:tcPr anchor="ctr">
                    <a:solidFill>
                      <a:srgbClr val="FFEFD9"/>
                    </a:solidFill>
                  </a:tcPr>
                </a:tc>
              </a:tr>
            </a:tbl>
          </a:graphicData>
        </a:graphic>
      </p:graphicFrame>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Prioritizing: the urgent-important rule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优先级排序</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Useful phrases: </a:t>
            </a:r>
            <a:r>
              <a:rPr sz="1700" b="0">
                <a:solidFill>
                  <a:srgbClr val="1F2A44"/>
                </a:solidFill>
                <a:latin typeface="Arial"/>
                <a:ea typeface="Microsoft YaHei"/>
              </a:rPr>
              <a:t>“That’s top priority.” / “That can wait until next week.” / “Let’s focus on the essentials first.” ★</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Say no politely: </a:t>
            </a:r>
            <a:r>
              <a:rPr sz="1700" b="0">
                <a:solidFill>
                  <a:srgbClr val="1F2A44"/>
                </a:solidFill>
                <a:latin typeface="Arial"/>
                <a:ea typeface="Microsoft YaHei"/>
              </a:rPr>
              <a:t>“I’m afraid I can’t take that on this week.” ★ “Could we look at it on Monday?”</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Phrasal verbs: </a:t>
            </a:r>
            <a:r>
              <a:rPr sz="1700" b="0">
                <a:solidFill>
                  <a:srgbClr val="1F2A44"/>
                </a:solidFill>
                <a:latin typeface="Arial"/>
                <a:ea typeface="Microsoft YaHei"/>
              </a:rPr>
              <a:t>catch up (reach the same level), get through (finish), set aside (reserve time), take on (accept work), hand over (give responsibility to someone), cover for (do someone’s job).</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many works to do.</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a lot of work to do.</a:t>
            </a:r>
          </a:p>
          <a:p>
            <a:pPr algn="l">
              <a:spcAft>
                <a:spcPts val="200"/>
              </a:spcAft>
            </a:pPr>
            <a:r>
              <a:rPr sz="1200" b="0">
                <a:solidFill>
                  <a:srgbClr val="FFFFFF"/>
                </a:solidFill>
                <a:latin typeface="Arial"/>
                <a:ea typeface="Microsoft YaHei"/>
              </a:rPr>
              <a:t>work 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very busy to catch up.</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very busy catching up.</a:t>
            </a:r>
          </a:p>
          <a:p>
            <a:pPr algn="l">
              <a:spcAft>
                <a:spcPts val="200"/>
              </a:spcAft>
            </a:pPr>
            <a:r>
              <a:rPr sz="1200" b="0">
                <a:solidFill>
                  <a:srgbClr val="FFFFFF"/>
                </a:solidFill>
                <a:latin typeface="Arial"/>
                <a:ea typeface="Microsoft YaHei"/>
              </a:rPr>
              <a:t>be busy + -ing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Who is helping me?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Who’s been covering for me?</a:t>
            </a:r>
          </a:p>
          <a:p>
            <a:pPr algn="l">
              <a:spcAft>
                <a:spcPts val="200"/>
              </a:spcAft>
            </a:pPr>
            <a:r>
              <a:rPr sz="1200" b="0">
                <a:solidFill>
                  <a:srgbClr val="FFFFFF"/>
                </a:solidFill>
                <a:latin typeface="Arial"/>
                <a:ea typeface="Microsoft YaHei"/>
              </a:rPr>
              <a:t>现在完成进行时</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catch up with the email now.</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catching up on my emails.</a:t>
            </a:r>
          </a:p>
          <a:p>
            <a:pPr algn="l">
              <a:spcAft>
                <a:spcPts val="200"/>
              </a:spcAft>
            </a:pPr>
            <a:r>
              <a:rPr sz="1200" b="0">
                <a:solidFill>
                  <a:srgbClr val="FFFFFF"/>
                </a:solidFill>
                <a:latin typeface="Arial"/>
                <a:ea typeface="Microsoft YaHei"/>
              </a:rPr>
              <a:t>catch up on sth / with sb</a:t>
            </a:r>
          </a:p>
        </p:txBody>
      </p:sp>
      <p:sp>
        <p:nvSpPr>
          <p:cNvPr id="17" name="Rounded Rectangle 16"/>
          <p:cNvSpPr/>
          <p:nvPr/>
        </p:nvSpPr>
        <p:spPr>
          <a:xfrm>
            <a:off x="548640" y="426719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busy in the emails.</a:t>
            </a:r>
          </a:p>
        </p:txBody>
      </p:sp>
      <p:sp>
        <p:nvSpPr>
          <p:cNvPr id="18" name="Rounded Rectangle 17"/>
          <p:cNvSpPr/>
          <p:nvPr/>
        </p:nvSpPr>
        <p:spPr>
          <a:xfrm>
            <a:off x="6187287" y="426719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busy with the emails. / I’m snowed under.</a:t>
            </a:r>
          </a:p>
          <a:p>
            <a:pPr algn="l">
              <a:spcAft>
                <a:spcPts val="200"/>
              </a:spcAft>
            </a:pPr>
            <a:r>
              <a:rPr sz="1200" b="0">
                <a:solidFill>
                  <a:srgbClr val="FFFFFF"/>
                </a:solidFill>
                <a:latin typeface="Arial"/>
                <a:ea typeface="Microsoft YaHei"/>
              </a:rPr>
              <a:t>busy with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Thank you for your help me.</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Thank you for helping me. / Thank you for covering for me.</a:t>
            </a:r>
          </a:p>
          <a:p>
            <a:pPr algn="l">
              <a:spcAft>
                <a:spcPts val="200"/>
              </a:spcAft>
            </a:pPr>
            <a:r>
              <a:rPr sz="1200" b="0">
                <a:solidFill>
                  <a:srgbClr val="FFFFFF"/>
                </a:solidFill>
                <a:latin typeface="Arial"/>
                <a:ea typeface="Microsoft YaHei"/>
              </a:rPr>
              <a:t>for + -ing</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help me to do this.</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you give me a hand with this?</a:t>
            </a:r>
          </a:p>
          <a:p>
            <a:pPr algn="l">
              <a:spcAft>
                <a:spcPts val="200"/>
              </a:spcAft>
            </a:pPr>
            <a:r>
              <a:rPr sz="1200" b="0">
                <a:solidFill>
                  <a:srgbClr val="FFFFFF"/>
                </a:solidFill>
                <a:latin typeface="Arial"/>
                <a:ea typeface="Microsoft YaHei"/>
              </a:rPr>
              <a:t>口语更自然</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must to finish it.</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to finish it. / I must finish it.</a:t>
            </a:r>
          </a:p>
          <a:p>
            <a:pPr algn="l">
              <a:spcAft>
                <a:spcPts val="200"/>
              </a:spcAft>
            </a:pPr>
            <a:r>
              <a:rPr sz="1200" b="0">
                <a:solidFill>
                  <a:srgbClr val="FFFFFF"/>
                </a:solidFill>
                <a:latin typeface="Arial"/>
                <a:ea typeface="Microsoft YaHei"/>
              </a:rPr>
              <a:t>must 后原形</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busy this week.</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be busy this week.</a:t>
            </a:r>
          </a:p>
          <a:p>
            <a:pPr algn="l">
              <a:spcAft>
                <a:spcPts val="200"/>
              </a:spcAft>
            </a:pPr>
            <a:r>
              <a:rPr sz="1200" b="0">
                <a:solidFill>
                  <a:srgbClr val="FFFFFF"/>
                </a:solidFill>
                <a:latin typeface="Arial"/>
                <a:ea typeface="Microsoft YaHei"/>
              </a:rPr>
              <a:t>will be</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backlock / pirority</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backlog / priority</a:t>
            </a:r>
          </a:p>
          <a:p>
            <a:pPr algn="l">
              <a:spcAft>
                <a:spcPts val="200"/>
              </a:spcAft>
            </a:pPr>
            <a:r>
              <a:rPr sz="1200" b="0">
                <a:solidFill>
                  <a:srgbClr val="FFFFFF"/>
                </a:solidFill>
                <a:latin typeface="Arial"/>
                <a:ea typeface="Microsoft YaHei"/>
              </a:rPr>
              <a:t>拼写</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 lot of work (uncountable), busy + -ing / busy with, catch up on sth, thank you for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Don’t expect full speed on day one. Many companies allow a slow first day or half-day. It’s fine to say “I’m still catching up.”</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Be honest about your workload. Western managers prefer “I can’t do all of this by Friday” to silent overwork. Always propose an alternative.</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0">
                <a:solidFill>
                  <a:srgbClr val="1F2A44"/>
                </a:solidFill>
                <a:latin typeface="Arial"/>
                <a:ea typeface="Microsoft YaHei"/>
              </a:rPr>
              <a:t>Thank people who covered for you, in person or by email. A small gift (coffee, chocolates) is a friendly gesture.</a:t>
            </a:r>
          </a:p>
        </p:txBody>
      </p:sp>
      <p:sp>
        <p:nvSpPr>
          <p:cNvPr id="18" name="Rounded Rectangle 17"/>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701039"/>
          </a:xfrm>
          <a:prstGeom prst="rect">
            <a:avLst/>
          </a:prstGeom>
          <a:noFill/>
        </p:spPr>
        <p:txBody>
          <a:bodyPr wrap="square" anchor="ctr">
            <a:spAutoFit/>
          </a:bodyPr>
          <a:lstStyle/>
          <a:p>
            <a:r>
              <a:rPr sz="1700" b="1">
                <a:solidFill>
                  <a:srgbClr val="FFC857"/>
                </a:solidFill>
                <a:latin typeface="Arial"/>
                <a:ea typeface="Microsoft YaHei"/>
              </a:rPr>
              <a:t>Hand-over notes are standard. Use a short list: </a:t>
            </a:r>
            <a:r>
              <a:rPr sz="1700" b="0">
                <a:solidFill>
                  <a:srgbClr val="1F2A44"/>
                </a:solidFill>
                <a:latin typeface="Arial"/>
                <a:ea typeface="Microsoft YaHei"/>
              </a:rPr>
              <a:t>what’s urgent, who to contact, where the files are.</a:t>
            </a:r>
          </a:p>
        </p:txBody>
      </p:sp>
      <p:sp>
        <p:nvSpPr>
          <p:cNvPr id="21" name="Rounded Rectangle 20"/>
          <p:cNvSpPr/>
          <p:nvPr/>
        </p:nvSpPr>
        <p:spPr>
          <a:xfrm>
            <a:off x="548640" y="458723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58723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587236"/>
            <a:ext cx="10728655" cy="701039"/>
          </a:xfrm>
          <a:prstGeom prst="rect">
            <a:avLst/>
          </a:prstGeom>
          <a:noFill/>
        </p:spPr>
        <p:txBody>
          <a:bodyPr wrap="square" anchor="ctr">
            <a:spAutoFit/>
          </a:bodyPr>
          <a:lstStyle/>
          <a:p>
            <a:r>
              <a:rPr sz="1700" b="1">
                <a:solidFill>
                  <a:srgbClr val="9B6BE0"/>
                </a:solidFill>
                <a:latin typeface="Arial"/>
                <a:ea typeface="Microsoft YaHei"/>
              </a:rPr>
              <a:t>Out-of-office messages: </a:t>
            </a:r>
            <a:r>
              <a:rPr sz="1700" b="0">
                <a:solidFill>
                  <a:srgbClr val="1F2A44"/>
                </a:solidFill>
                <a:latin typeface="Arial"/>
                <a:ea typeface="Microsoft YaHei"/>
              </a:rPr>
              <a:t>Use them. “I’m out of the office until 12 October. For urgent matters, contact Dan Hughes.”</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find out what happened while I was away (What did I miss? Has anything changed?).</a:t>
            </a:r>
          </a:p>
        </p:txBody>
      </p:sp>
      <p:sp>
        <p:nvSpPr>
          <p:cNvPr id="12" name="TextBox 11"/>
          <p:cNvSpPr txBox="1"/>
          <p:nvPr/>
        </p:nvSpPr>
        <p:spPr>
          <a:xfrm>
            <a:off x="9539935" y="1508760"/>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350008"/>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50008"/>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350008"/>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ask for and give a hand-over (Could you give me a quick hand-over?).</a:t>
            </a:r>
          </a:p>
        </p:txBody>
      </p:sp>
      <p:sp>
        <p:nvSpPr>
          <p:cNvPr id="16" name="TextBox 15"/>
          <p:cNvSpPr txBox="1"/>
          <p:nvPr/>
        </p:nvSpPr>
        <p:spPr>
          <a:xfrm>
            <a:off x="9539935" y="2350008"/>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191256"/>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191256"/>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191256"/>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describe my workload and ask for priorities (I’ve got a lot of catching up to do. What’s the most urgent?).</a:t>
            </a:r>
          </a:p>
        </p:txBody>
      </p:sp>
      <p:sp>
        <p:nvSpPr>
          <p:cNvPr id="20" name="TextBox 19"/>
          <p:cNvSpPr txBox="1"/>
          <p:nvPr/>
        </p:nvSpPr>
        <p:spPr>
          <a:xfrm>
            <a:off x="9539935" y="3191256"/>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4032504"/>
            <a:ext cx="11094415" cy="4754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032504"/>
            <a:ext cx="548640" cy="4754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4032504"/>
            <a:ext cx="8168335" cy="47548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thank people (Thank you for covering for me. I owe you one.).</a:t>
            </a:r>
          </a:p>
        </p:txBody>
      </p:sp>
      <p:sp>
        <p:nvSpPr>
          <p:cNvPr id="24" name="TextBox 23"/>
          <p:cNvSpPr txBox="1"/>
          <p:nvPr/>
        </p:nvSpPr>
        <p:spPr>
          <a:xfrm>
            <a:off x="9539935" y="4032504"/>
            <a:ext cx="2011680" cy="4754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99432"/>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99432"/>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99432"/>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use a lot of work, busy + -ing, catch up on and thank you for + -ing correctly.</a:t>
            </a:r>
          </a:p>
        </p:txBody>
      </p:sp>
      <p:sp>
        <p:nvSpPr>
          <p:cNvPr id="28" name="TextBox 27"/>
          <p:cNvSpPr txBox="1"/>
          <p:nvPr/>
        </p:nvSpPr>
        <p:spPr>
          <a:xfrm>
            <a:off x="9539935" y="4599432"/>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38 Back in the office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work (uncountable), busy + -ing, catch up on, thank you for + -ing, and spelling (backlog, priority).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10 · Lesson 39 Organizing an event</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Organizing an event</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组织活动</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plan and organize a business event (a client dinner, a training day, a team party): decide the purpose, date, venue, budget, guest list and schedule, share tasks, check progress and solve problems.</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9258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Have you ever organized an event at work? What kind of event was it?</a:t>
            </a:r>
          </a:p>
        </p:txBody>
      </p:sp>
      <p:sp>
        <p:nvSpPr>
          <p:cNvPr id="12" name="Oval 11"/>
          <p:cNvSpPr/>
          <p:nvPr/>
        </p:nvSpPr>
        <p:spPr>
          <a:xfrm>
            <a:off x="548640" y="228142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43328"/>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43328"/>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What are the first three decisions you make when you plan an event?</a:t>
            </a:r>
          </a:p>
        </p:txBody>
      </p:sp>
      <p:sp>
        <p:nvSpPr>
          <p:cNvPr id="15" name="Oval 14"/>
          <p:cNvSpPr/>
          <p:nvPr/>
        </p:nvSpPr>
        <p:spPr>
          <a:xfrm>
            <a:off x="548640" y="29702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32176"/>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32176"/>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Who usually organizes events in your company?</a:t>
            </a:r>
          </a:p>
        </p:txBody>
      </p:sp>
      <p:sp>
        <p:nvSpPr>
          <p:cNvPr id="18" name="Oval 17"/>
          <p:cNvSpPr/>
          <p:nvPr/>
        </p:nvSpPr>
        <p:spPr>
          <a:xfrm>
            <a:off x="548640" y="365912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21024"/>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21024"/>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Tell me about an event that went wrong. What happened and why?</a:t>
            </a:r>
          </a:p>
        </p:txBody>
      </p:sp>
      <p:sp>
        <p:nvSpPr>
          <p:cNvPr id="21" name="Oval 20"/>
          <p:cNvSpPr/>
          <p:nvPr/>
        </p:nvSpPr>
        <p:spPr>
          <a:xfrm>
            <a:off x="548640" y="434797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09872"/>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09872"/>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How do you share tasks in a team when you plan an event?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题讲过去的事,请用过去式(went wrong, happened, forgot)。第 2 题可以说 “First, I decide…”。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you would organize a client appreciation dinner for 40 people.</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purpose and date</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venue and budget</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invitations and guest list</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schedule on the day</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who does what</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purpose of the event is…   💬 We need to book…   💬 The budget is…   💬 I’ll take care of…</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计划用 will / be going to / need to + 动词。分工:I’ll take care of the venue. Dan is in charge of invitations。</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Setting goals and basics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确定目标与基本信息</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What’s the purpose of the event?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活动的目的是什么?</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“What’s the purpose of the event? Is it to thank clients or to sell?”</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We’re planning to hold…</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我们计划举办……</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planning to hold a dinner for 40 clients in November.”</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What’s our budget?</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我们的预算是多少?</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“What’s our budget for the dinner?”</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Let’s aim for around 40 guests.</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我们的目标大约 40 位嘉宾</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aim for around 40 guests.”</a:t>
            </a:r>
          </a:p>
        </p:txBody>
      </p:sp>
      <p:sp>
        <p:nvSpPr>
          <p:cNvPr id="29" name="Rounded Rectangle 28"/>
          <p:cNvSpPr/>
          <p:nvPr/>
        </p:nvSpPr>
        <p:spPr>
          <a:xfrm>
            <a:off x="548640" y="48412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 need a ballpark figure.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8869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我们需要一个大概的数字</a:t>
            </a:r>
          </a:p>
        </p:txBody>
      </p:sp>
      <p:sp>
        <p:nvSpPr>
          <p:cNvPr id="33" name="TextBox 32"/>
          <p:cNvSpPr txBox="1"/>
          <p:nvPr/>
        </p:nvSpPr>
        <p:spPr>
          <a:xfrm>
            <a:off x="6675120" y="48869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a ballpark figure for the total cost.”</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Arranging details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安排细节</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 need to book a venue / caterer.</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我们需要订场地/餐饮</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book a venue by the end of the week.”</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Who’s in charge of invitations?</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谁负责邀请函?</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“Who’s in charge of invitations?”</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Let’s draw up a guest list.</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我们列一份嘉宾名单</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draw up a guest list by Monday.”</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Arranging details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安排细节</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I’ll take care of the catering.</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餐饮我来负责</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take care of the catering.”</a:t>
            </a:r>
          </a:p>
        </p:txBody>
      </p:sp>
      <p:sp>
        <p:nvSpPr>
          <p:cNvPr id="14" name="Rounded Rectangle 13"/>
          <p:cNvSpPr/>
          <p:nvPr/>
        </p:nvSpPr>
        <p:spPr>
          <a:xfrm>
            <a:off x="548640" y="242570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12400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11760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 should send out the invitations well in advance.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我们应该提前很久发邀请</a:t>
            </a:r>
          </a:p>
        </p:txBody>
      </p:sp>
      <p:sp>
        <p:nvSpPr>
          <p:cNvPr id="18" name="TextBox 17"/>
          <p:cNvSpPr txBox="1"/>
          <p:nvPr/>
        </p:nvSpPr>
        <p:spPr>
          <a:xfrm>
            <a:off x="6675120" y="247142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should send out the invitations well in advance.”</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Chunk 3: Checking and solving problems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检查进度与解决问题</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How are we doing on…?</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……进展如何?</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“How are we doing on the guest list?”</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We’re on track. / We’re a bit behind.</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我们进度正常/稍有落后</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on track for the 20th.”</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 need a contingency plan.</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我们需要一个应急方案</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a contingency plan in case it rains.”</a:t>
            </a:r>
          </a:p>
        </p:txBody>
      </p:sp>
      <p:sp>
        <p:nvSpPr>
          <p:cNvPr id="24" name="Rounded Rectangle 23"/>
          <p:cNvSpPr/>
          <p:nvPr/>
        </p:nvSpPr>
        <p:spPr>
          <a:xfrm>
            <a:off x="548640" y="41376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Let’s make a checklist.</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我们列个清单</a:t>
            </a:r>
          </a:p>
        </p:txBody>
      </p:sp>
      <p:sp>
        <p:nvSpPr>
          <p:cNvPr id="28" name="TextBox 27"/>
          <p:cNvSpPr txBox="1"/>
          <p:nvPr/>
        </p:nvSpPr>
        <p:spPr>
          <a:xfrm>
            <a:off x="6675120" y="41833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make a checklist of everything we need.”</a:t>
            </a:r>
          </a:p>
        </p:txBody>
      </p:sp>
      <p:sp>
        <p:nvSpPr>
          <p:cNvPr id="29" name="Rounded Rectangle 28"/>
          <p:cNvSpPr/>
          <p:nvPr/>
        </p:nvSpPr>
        <p:spPr>
          <a:xfrm>
            <a:off x="548640" y="48412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Let’s keep within budget.</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8869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我们要控制在预算内</a:t>
            </a:r>
          </a:p>
        </p:txBody>
      </p:sp>
      <p:sp>
        <p:nvSpPr>
          <p:cNvPr id="33" name="TextBox 32"/>
          <p:cNvSpPr txBox="1"/>
          <p:nvPr/>
        </p:nvSpPr>
        <p:spPr>
          <a:xfrm>
            <a:off x="6675120" y="48869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keep within budget, please.”</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我们要控制在预算内</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Let’s keep within budget.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活动的目的是什么?</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What’s the purpose of the event?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我们列一份嘉宾名单</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Let’s draw up a guest list.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餐饮我来负责</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I’ll take care of the catering.</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我们应该提前很久发邀请</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We should send out the invitations well in advance.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我们的目标大约 40 位嘉宾</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Let’s aim for around 40 guests.</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我们列个清单</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Let’s make a checklist.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我们需要一个应急方案</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 need a contingency plan.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within</a:t>
            </a:r>
          </a:p>
        </p:txBody>
      </p:sp>
      <p:sp>
        <p:nvSpPr>
          <p:cNvPr id="10" name="Rounded Rectangle 9"/>
          <p:cNvSpPr/>
          <p:nvPr/>
        </p:nvSpPr>
        <p:spPr>
          <a:xfrm>
            <a:off x="3127248" y="987552"/>
            <a:ext cx="1572767"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contingency</a:t>
            </a:r>
          </a:p>
        </p:txBody>
      </p:sp>
      <p:sp>
        <p:nvSpPr>
          <p:cNvPr id="11" name="Rounded Rectangle 10"/>
          <p:cNvSpPr/>
          <p:nvPr/>
        </p:nvSpPr>
        <p:spPr>
          <a:xfrm>
            <a:off x="4791455"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purpose</a:t>
            </a:r>
          </a:p>
        </p:txBody>
      </p:sp>
      <p:sp>
        <p:nvSpPr>
          <p:cNvPr id="12" name="Rounded Rectangle 11"/>
          <p:cNvSpPr/>
          <p:nvPr/>
        </p:nvSpPr>
        <p:spPr>
          <a:xfrm>
            <a:off x="6016751"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list</a:t>
            </a:r>
          </a:p>
        </p:txBody>
      </p:sp>
      <p:sp>
        <p:nvSpPr>
          <p:cNvPr id="13" name="Rounded Rectangle 12"/>
          <p:cNvSpPr/>
          <p:nvPr/>
        </p:nvSpPr>
        <p:spPr>
          <a:xfrm>
            <a:off x="6912863"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charge</a:t>
            </a:r>
          </a:p>
        </p:txBody>
      </p:sp>
      <p:sp>
        <p:nvSpPr>
          <p:cNvPr id="14" name="Rounded Rectangle 13"/>
          <p:cNvSpPr/>
          <p:nvPr/>
        </p:nvSpPr>
        <p:spPr>
          <a:xfrm>
            <a:off x="8028431"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hold</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What’s the _______ of the event?</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purpose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We’re planning to _______ a dinner for 40 clients.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hold</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Who’s in _______ of invitations?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charge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Let’s draw up a guest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list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 need a _______ plan in case it rains.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contingency</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Let’s keep _______ budget.</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within</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搭配与拼写): organize (UK also organise), budget, catering, venue, contingency. Hold / host / organize an event (not “do an event”); book a venue; send out invitations.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Planning an event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策划会议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team plans a client appreciation dinner for 40 people. You hold a short planning meeting.</a:t>
            </a:r>
          </a:p>
        </p:txBody>
      </p:sp>
      <p:sp>
        <p:nvSpPr>
          <p:cNvPr id="10" name="Rounded Rectangle 9"/>
          <p:cNvSpPr/>
          <p:nvPr/>
        </p:nvSpPr>
        <p:spPr>
          <a:xfrm>
            <a:off x="548640"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event leader</a:t>
            </a:r>
          </a:p>
        </p:txBody>
      </p:sp>
      <p:sp>
        <p:nvSpPr>
          <p:cNvPr id="13" name="Rounded Rectangle 12"/>
          <p:cNvSpPr/>
          <p:nvPr/>
        </p:nvSpPr>
        <p:spPr>
          <a:xfrm>
            <a:off x="4338218"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66818"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5801258"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 Hughes</a:t>
            </a:r>
          </a:p>
        </p:txBody>
      </p:sp>
      <p:sp>
        <p:nvSpPr>
          <p:cNvPr id="16" name="Rounded Rectangle 15"/>
          <p:cNvSpPr/>
          <p:nvPr/>
        </p:nvSpPr>
        <p:spPr>
          <a:xfrm>
            <a:off x="8127796"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56396" y="3429000"/>
            <a:ext cx="1097280" cy="109728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8" name="TextBox 17"/>
          <p:cNvSpPr txBox="1"/>
          <p:nvPr/>
        </p:nvSpPr>
        <p:spPr>
          <a:xfrm>
            <a:off x="9590836"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3CC49A"/>
                </a:solidFill>
                <a:latin typeface="Arial"/>
                <a:ea typeface="Microsoft YaHei"/>
              </a:rPr>
              <a:t>Role C</a:t>
            </a:r>
          </a:p>
          <a:p>
            <a:pPr algn="l">
              <a:lnSpc>
                <a:spcPct val="115000"/>
              </a:lnSpc>
              <a:spcAft>
                <a:spcPts val="800"/>
              </a:spcAft>
            </a:pPr>
            <a:r>
              <a:rPr sz="2000" b="1">
                <a:solidFill>
                  <a:srgbClr val="1F2A44"/>
                </a:solidFill>
                <a:latin typeface="Arial"/>
                <a:ea typeface="Microsoft YaHei"/>
              </a:rPr>
              <a:t>Sophie Zhou</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Planning an event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coming. As you know, we’re planning to hold a client dinner in December. First question: what’s the purpose?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 say thank you to our top clients and to introduce the new product range.</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And how many guests? Let’s aim for around 40.</a:t>
            </a:r>
          </a:p>
        </p:txBody>
      </p:sp>
      <p:sp>
        <p:nvSpPr>
          <p:cNvPr id="17" name="Rounded Rectangle 16"/>
          <p:cNvSpPr/>
          <p:nvPr/>
        </p:nvSpPr>
        <p:spPr>
          <a:xfrm>
            <a:off x="548640" y="3651504"/>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18" name="TextBox 17"/>
          <p:cNvSpPr txBox="1"/>
          <p:nvPr/>
        </p:nvSpPr>
        <p:spPr>
          <a:xfrm>
            <a:off x="274320"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Sophie</a:t>
            </a:r>
          </a:p>
        </p:txBody>
      </p:sp>
      <p:sp>
        <p:nvSpPr>
          <p:cNvPr id="19" name="Rounded Rectangle 18"/>
          <p:cNvSpPr/>
          <p:nvPr/>
        </p:nvSpPr>
        <p:spPr>
          <a:xfrm>
            <a:off x="1463040" y="3651504"/>
            <a:ext cx="8595360" cy="78028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budget is 80,000 yuan. That’s about 2,000 per person, including drinks.</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workable. We need a venue for 40. Dan, can you take care of that?</a:t>
            </a:r>
          </a:p>
        </p:txBody>
      </p:sp>
      <p:sp>
        <p:nvSpPr>
          <p:cNvPr id="23" name="Rounded Rectangle 22"/>
          <p:cNvSpPr/>
          <p:nvPr/>
        </p:nvSpPr>
        <p:spPr>
          <a:xfrm>
            <a:off x="10911535" y="539496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83387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39496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I’ll get three quotes by Friday.</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Planning an event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Sophie, could you draw up the guest list?</a:t>
            </a:r>
          </a:p>
        </p:txBody>
      </p:sp>
      <p:sp>
        <p:nvSpPr>
          <p:cNvPr id="11" name="Rounded Rectangle 10"/>
          <p:cNvSpPr/>
          <p:nvPr/>
        </p:nvSpPr>
        <p:spPr>
          <a:xfrm>
            <a:off x="548640" y="1908048"/>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And I’ll send out the invitations well in advance, probably by 20 November.</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Who’s in charge of the programme?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do it. I’ll start with a short welcome, then dinner, then a short product presentation.</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make a checklist and meet again on Friday to see how we’re doing.</a:t>
            </a:r>
          </a:p>
        </p:txBody>
      </p:sp>
      <p:sp>
        <p:nvSpPr>
          <p:cNvPr id="23" name="Rounded Rectangle 22"/>
          <p:cNvSpPr/>
          <p:nvPr/>
        </p:nvSpPr>
        <p:spPr>
          <a:xfrm>
            <a:off x="548640" y="5105400"/>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24" name="TextBox 23"/>
          <p:cNvSpPr txBox="1"/>
          <p:nvPr/>
        </p:nvSpPr>
        <p:spPr>
          <a:xfrm>
            <a:off x="274320"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1463040" y="5105400"/>
            <a:ext cx="8595360" cy="49072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Planning an event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Plan a client or team event.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Event leader. Ask questions, assign tasks, set deadlines.</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(B, C)</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members. Give ideas and take tasks.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What’s the purpose of…? · Let’s aim for… · Who’s in charge of…? · I’ll take care of… · How are we doing on…?</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Agree purpose, number of guests, budget, venue and 3 tasks with dates.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budget is cut by 20%. Say: “We’ll have to keep within budget. What can we cut?”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It’s Plan B time: “We need a contingency plan in case the venue cancels.”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short run-of-show with times: “6:30 welcome drinks, 7:00 dinner, 8:30 speech.”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Checking progress and solving a problem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检查进展并解决问题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One week before the event, you check progress. The venue has a problem.</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 Hughes</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Checking progress and solving a problem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Dan, how are we doing on the venue? The event is in a week.</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We’re a bit behind, I’m afraid. The restaurant has told us they can’t seat 40 people. They can only do 32.</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problem. How many people have confirmed?</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far 36. We expect a few more.</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need a contingency plan. Could we split the group into two rooms?</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asked. They have a second room for 12, next to the main one.</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Checking progress and solving a problem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could work. Would the speeches still work?</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can use a microphone, and a screen in the second room.</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Let’s go with that. Could you confirm it with the restaurant today?</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Will do. I’ll also check the dietary requirements for the menu.</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Dan. Let’s keep within budget, though.</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Understood.</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Checking progress and solving a problem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problem appears one week before an event.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Leader. Ask about progress, find a solution, confirm tasks.</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with a problem to report.</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How are we doing on…? · We’re a bit behind. · We need a contingency plan. · That could work. · Will do.</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Agree on a solution and who does what by when.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speaker cancels. Say: “Let’s ask Karen to step in. Who can contact her?”</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Half the guests have not replied. Say: “Let’s send a reminder and phone the key clients.”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Decide: reduce guests or find a bigger place?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most important things to decide when you plan an event?</a:t>
            </a:r>
          </a:p>
          <a:p>
            <a:pPr algn="l">
              <a:lnSpc>
                <a:spcPct val="115000"/>
              </a:lnSpc>
              <a:spcAft>
                <a:spcPts val="800"/>
              </a:spcAft>
            </a:pPr>
            <a:r>
              <a:rPr sz="1400" b="0">
                <a:solidFill>
                  <a:srgbClr val="5F677A"/>
                </a:solidFill>
                <a:latin typeface="Arial"/>
                <a:ea typeface="Microsoft YaHei"/>
              </a:rPr>
              <a:t>💬 “The most important things are…” / “First, I decide…”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work out a realistic budget?</a:t>
            </a:r>
          </a:p>
          <a:p>
            <a:pPr algn="l">
              <a:lnSpc>
                <a:spcPct val="115000"/>
              </a:lnSpc>
              <a:spcAft>
                <a:spcPts val="800"/>
              </a:spcAft>
            </a:pPr>
            <a:r>
              <a:rPr sz="1400" b="0">
                <a:solidFill>
                  <a:srgbClr val="5F677A"/>
                </a:solidFill>
                <a:latin typeface="Arial"/>
                <a:ea typeface="Microsoft YaHei"/>
              </a:rPr>
              <a:t>💬 “I get quotes from…” / “I add 10% for surprises.”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can go wrong at an event? How do you prepare?</a:t>
            </a:r>
          </a:p>
          <a:p>
            <a:pPr algn="l">
              <a:lnSpc>
                <a:spcPct val="115000"/>
              </a:lnSpc>
              <a:spcAft>
                <a:spcPts val="800"/>
              </a:spcAft>
            </a:pPr>
            <a:r>
              <a:rPr sz="1400" b="0">
                <a:solidFill>
                  <a:srgbClr val="5F677A"/>
                </a:solidFill>
                <a:latin typeface="Arial"/>
                <a:ea typeface="Microsoft YaHei"/>
              </a:rPr>
              <a:t>💬 “Things that can go wrong include…” / “I prepare a Plan B for…”</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choose between a formal event and a casual one?</a:t>
            </a:r>
          </a:p>
          <a:p>
            <a:pPr algn="l">
              <a:lnSpc>
                <a:spcPct val="115000"/>
              </a:lnSpc>
              <a:spcAft>
                <a:spcPts val="800"/>
              </a:spcAft>
            </a:pPr>
            <a:r>
              <a:rPr sz="1400" b="0">
                <a:solidFill>
                  <a:srgbClr val="5F677A"/>
                </a:solidFill>
                <a:latin typeface="Arial"/>
                <a:ea typeface="Microsoft YaHei"/>
              </a:rPr>
              <a:t>💬 “It depends on the guests and the aim.” / “A formal event suits… while a casual one…”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measure whether an event was successful?</a:t>
            </a:r>
          </a:p>
          <a:p>
            <a:pPr algn="l">
              <a:lnSpc>
                <a:spcPct val="115000"/>
              </a:lnSpc>
              <a:spcAft>
                <a:spcPts val="800"/>
              </a:spcAft>
            </a:pPr>
            <a:r>
              <a:rPr sz="1400" b="0">
                <a:solidFill>
                  <a:srgbClr val="5F677A"/>
                </a:solidFill>
                <a:latin typeface="Arial"/>
                <a:ea typeface="Microsoft YaHei"/>
              </a:rPr>
              <a:t>💬 “I look at feedback and…” / “If guests say… and clients place orders, it’s a success.”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Things that can go wrong include the venue cancelling, speakers not turning up, and technical problems with microphones or projectors. To prepare, I make a checklist and a Plan B for the most important things. For example, I always have a backup microphone, and I confirm the venue and the speakers two days before. I also bring a printed copy of the schedule in case the Wi-Fi fails.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“include” 列举时常用。“in case + 句子”(以防)后面用现在时:in case the Wi-Fi fails。“turn up”(出席,出现)。</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Event-planning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活动策划用语</a:t>
            </a:r>
          </a:p>
        </p:txBody>
      </p:sp>
      <p:graphicFrame>
        <p:nvGraphicFramePr>
          <p:cNvPr id="9" name="Table 8"/>
          <p:cNvGraphicFramePr>
            <a:graphicFrameLocks noGrp="1"/>
          </p:cNvGraphicFramePr>
          <p:nvPr/>
        </p:nvGraphicFramePr>
        <p:xfrm>
          <a:off x="548640" y="1417320"/>
          <a:ext cx="11094415" cy="277368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Purpose</a:t>
                      </a:r>
                    </a:p>
                  </a:txBody>
                  <a:tcPr anchor="ctr">
                    <a:solidFill>
                      <a:srgbClr val="FFFFFF"/>
                    </a:solidFill>
                  </a:tcPr>
                </a:tc>
                <a:tc>
                  <a:txBody>
                    <a:bodyPr wrap="square"/>
                    <a:lstStyle/>
                    <a:p>
                      <a:r>
                        <a:rPr sz="1600" b="0">
                          <a:solidFill>
                            <a:srgbClr val="1F2A44"/>
                          </a:solidFill>
                          <a:latin typeface="Arial"/>
                          <a:ea typeface="Microsoft YaHei"/>
                        </a:rPr>
                        <a:t>What’s the purpose of the event? / The aim is to…</a:t>
                      </a:r>
                    </a:p>
                  </a:txBody>
                  <a:tcPr anchor="ctr">
                    <a:solidFill>
                      <a:srgbClr val="FFFFFF"/>
                    </a:solidFill>
                  </a:tcPr>
                </a:tc>
              </a:tr>
              <a:tr h="652272">
                <a:tc>
                  <a:txBody>
                    <a:bodyPr wrap="square"/>
                    <a:lstStyle/>
                    <a:p>
                      <a:r>
                        <a:rPr sz="1600" b="1">
                          <a:solidFill>
                            <a:srgbClr val="1F2A44"/>
                          </a:solidFill>
                          <a:latin typeface="Arial"/>
                          <a:ea typeface="Microsoft YaHei"/>
                        </a:rPr>
                        <a:t>Basics</a:t>
                      </a:r>
                    </a:p>
                  </a:txBody>
                  <a:tcPr anchor="ctr">
                    <a:solidFill>
                      <a:srgbClr val="FFEFD9"/>
                    </a:solidFill>
                  </a:tcPr>
                </a:tc>
                <a:tc>
                  <a:txBody>
                    <a:bodyPr wrap="square"/>
                    <a:lstStyle/>
                    <a:p>
                      <a:r>
                        <a:rPr sz="1600" b="0">
                          <a:solidFill>
                            <a:srgbClr val="1F2A44"/>
                          </a:solidFill>
                          <a:latin typeface="Arial"/>
                          <a:ea typeface="Microsoft YaHei"/>
                        </a:rPr>
                        <a:t>We’re planning to hold… / Let’s aim for around 40 guests. ★</a:t>
                      </a:r>
                    </a:p>
                  </a:txBody>
                  <a:tcPr anchor="ctr">
                    <a:solidFill>
                      <a:srgbClr val="FFEFD9"/>
                    </a:solidFill>
                  </a:tcPr>
                </a:tc>
              </a:tr>
              <a:tr h="652272">
                <a:tc>
                  <a:txBody>
                    <a:bodyPr wrap="square"/>
                    <a:lstStyle/>
                    <a:p>
                      <a:r>
                        <a:rPr sz="1600" b="1">
                          <a:solidFill>
                            <a:srgbClr val="1F2A44"/>
                          </a:solidFill>
                          <a:latin typeface="Arial"/>
                          <a:ea typeface="Microsoft YaHei"/>
                        </a:rPr>
                        <a:t>Budget</a:t>
                      </a:r>
                    </a:p>
                  </a:txBody>
                  <a:tcPr anchor="ctr">
                    <a:solidFill>
                      <a:srgbClr val="FFFFFF"/>
                    </a:solidFill>
                  </a:tcPr>
                </a:tc>
                <a:tc>
                  <a:txBody>
                    <a:bodyPr wrap="square"/>
                    <a:lstStyle/>
                    <a:p>
                      <a:r>
                        <a:rPr sz="1600" b="0">
                          <a:solidFill>
                            <a:srgbClr val="1F2A44"/>
                          </a:solidFill>
                          <a:latin typeface="Arial"/>
                          <a:ea typeface="Microsoft YaHei"/>
                        </a:rPr>
                        <a:t>What’s our budget? / We need a ballpark figure. ★ / Let’s keep within budget. ★</a:t>
                      </a:r>
                    </a:p>
                  </a:txBody>
                  <a:tcPr anchor="ctr">
                    <a:solidFill>
                      <a:srgbClr val="FFFFFF"/>
                    </a:solidFill>
                  </a:tcPr>
                </a:tc>
              </a:tr>
              <a:tr h="652272">
                <a:tc>
                  <a:txBody>
                    <a:bodyPr wrap="square"/>
                    <a:lstStyle/>
                    <a:p>
                      <a:r>
                        <a:rPr sz="1600" b="1">
                          <a:solidFill>
                            <a:srgbClr val="1F2A44"/>
                          </a:solidFill>
                          <a:latin typeface="Arial"/>
                          <a:ea typeface="Microsoft YaHei"/>
                        </a:rPr>
                        <a:t>Tasks</a:t>
                      </a:r>
                    </a:p>
                  </a:txBody>
                  <a:tcPr anchor="ctr">
                    <a:solidFill>
                      <a:srgbClr val="FFEFD9"/>
                    </a:solidFill>
                  </a:tcPr>
                </a:tc>
                <a:tc>
                  <a:txBody>
                    <a:bodyPr wrap="square"/>
                    <a:lstStyle/>
                    <a:p>
                      <a:r>
                        <a:rPr sz="1600" b="0">
                          <a:solidFill>
                            <a:srgbClr val="1F2A44"/>
                          </a:solidFill>
                          <a:latin typeface="Arial"/>
                          <a:ea typeface="Microsoft YaHei"/>
                        </a:rPr>
                        <a:t>Who’s in charge of…? / I’ll take care of… / Could you draw up…? ★</a:t>
                      </a:r>
                    </a:p>
                  </a:txBody>
                  <a:tcPr anchor="ctr">
                    <a:solidFill>
                      <a:srgbClr val="FFEFD9"/>
                    </a:solidFill>
                  </a:tcPr>
                </a:tc>
              </a:tr>
            </a:tbl>
          </a:graphicData>
        </a:graphic>
      </p:graphicFrame>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Event-planning language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活动策划用语</a:t>
            </a:r>
          </a:p>
        </p:txBody>
      </p:sp>
      <p:graphicFrame>
        <p:nvGraphicFramePr>
          <p:cNvPr id="9" name="Table 8"/>
          <p:cNvGraphicFramePr>
            <a:graphicFrameLocks noGrp="1"/>
          </p:cNvGraphicFramePr>
          <p:nvPr/>
        </p:nvGraphicFramePr>
        <p:xfrm>
          <a:off x="548640" y="1417320"/>
          <a:ext cx="11094415" cy="301752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Timing</a:t>
                      </a:r>
                    </a:p>
                  </a:txBody>
                  <a:tcPr anchor="ctr">
                    <a:solidFill>
                      <a:srgbClr val="FFFFFF"/>
                    </a:solidFill>
                  </a:tcPr>
                </a:tc>
                <a:tc>
                  <a:txBody>
                    <a:bodyPr wrap="square"/>
                    <a:lstStyle/>
                    <a:p>
                      <a:r>
                        <a:rPr sz="1600" b="0">
                          <a:solidFill>
                            <a:srgbClr val="1F2A44"/>
                          </a:solidFill>
                          <a:latin typeface="Arial"/>
                          <a:ea typeface="Microsoft YaHei"/>
                        </a:rPr>
                        <a:t>We should send out the invitations well in advance. ★</a:t>
                      </a:r>
                    </a:p>
                  </a:txBody>
                  <a:tcPr anchor="ctr">
                    <a:solidFill>
                      <a:srgbClr val="FFFFFF"/>
                    </a:solidFill>
                  </a:tcPr>
                </a:tc>
              </a:tr>
              <a:tr h="652272">
                <a:tc>
                  <a:txBody>
                    <a:bodyPr wrap="square"/>
                    <a:lstStyle/>
                    <a:p>
                      <a:r>
                        <a:rPr sz="1600" b="1">
                          <a:solidFill>
                            <a:srgbClr val="1F2A44"/>
                          </a:solidFill>
                          <a:latin typeface="Arial"/>
                          <a:ea typeface="Microsoft YaHei"/>
                        </a:rPr>
                        <a:t>Progress</a:t>
                      </a:r>
                    </a:p>
                  </a:txBody>
                  <a:tcPr anchor="ctr">
                    <a:solidFill>
                      <a:srgbClr val="FFEFD9"/>
                    </a:solidFill>
                  </a:tcPr>
                </a:tc>
                <a:tc>
                  <a:txBody>
                    <a:bodyPr wrap="square"/>
                    <a:lstStyle/>
                    <a:p>
                      <a:r>
                        <a:rPr sz="1600" b="0">
                          <a:solidFill>
                            <a:srgbClr val="1F2A44"/>
                          </a:solidFill>
                          <a:latin typeface="Arial"/>
                          <a:ea typeface="Microsoft YaHei"/>
                        </a:rPr>
                        <a:t>How are we doing on…? / We’re on track. ★ / We’re a bit behind.</a:t>
                      </a:r>
                    </a:p>
                  </a:txBody>
                  <a:tcPr anchor="ctr">
                    <a:solidFill>
                      <a:srgbClr val="FFEFD9"/>
                    </a:solidFill>
                  </a:tcPr>
                </a:tc>
              </a:tr>
              <a:tr h="652272">
                <a:tc>
                  <a:txBody>
                    <a:bodyPr wrap="square"/>
                    <a:lstStyle/>
                    <a:p>
                      <a:r>
                        <a:rPr sz="1600" b="1">
                          <a:solidFill>
                            <a:srgbClr val="1F2A44"/>
                          </a:solidFill>
                          <a:latin typeface="Arial"/>
                          <a:ea typeface="Microsoft YaHei"/>
                        </a:rPr>
                        <a:t>Problems</a:t>
                      </a:r>
                    </a:p>
                  </a:txBody>
                  <a:tcPr anchor="ctr">
                    <a:solidFill>
                      <a:srgbClr val="FFFFFF"/>
                    </a:solidFill>
                  </a:tcPr>
                </a:tc>
                <a:tc>
                  <a:txBody>
                    <a:bodyPr wrap="square"/>
                    <a:lstStyle/>
                    <a:p>
                      <a:r>
                        <a:rPr sz="1600" b="0">
                          <a:solidFill>
                            <a:srgbClr val="1F2A44"/>
                          </a:solidFill>
                          <a:latin typeface="Arial"/>
                          <a:ea typeface="Microsoft YaHei"/>
                        </a:rPr>
                        <a:t>We need a contingency plan. ★ / Let’s go with Plan B.</a:t>
                      </a:r>
                    </a:p>
                  </a:txBody>
                  <a:tcPr anchor="ctr">
                    <a:solidFill>
                      <a:srgbClr val="FFFFFF"/>
                    </a:solidFill>
                  </a:tcPr>
                </a:tc>
              </a:tr>
              <a:tr h="652272">
                <a:tc>
                  <a:txBody>
                    <a:bodyPr wrap="square"/>
                    <a:lstStyle/>
                    <a:p>
                      <a:r>
                        <a:rPr sz="1600" b="1">
                          <a:solidFill>
                            <a:srgbClr val="1F2A44"/>
                          </a:solidFill>
                          <a:latin typeface="Arial"/>
                          <a:ea typeface="Microsoft YaHei"/>
                        </a:rPr>
                        <a:t>Checklist</a:t>
                      </a:r>
                    </a:p>
                  </a:txBody>
                  <a:tcPr anchor="ctr">
                    <a:solidFill>
                      <a:srgbClr val="FFEFD9"/>
                    </a:solidFill>
                  </a:tcPr>
                </a:tc>
                <a:tc>
                  <a:txBody>
                    <a:bodyPr wrap="square"/>
                    <a:lstStyle/>
                    <a:p>
                      <a:r>
                        <a:rPr sz="1600" b="0">
                          <a:solidFill>
                            <a:srgbClr val="1F2A44"/>
                          </a:solidFill>
                          <a:latin typeface="Arial"/>
                          <a:ea typeface="Microsoft YaHei"/>
                        </a:rPr>
                        <a:t>Let’s make a checklist. / Let’s go through the list.</a:t>
                      </a:r>
                    </a:p>
                  </a:txBody>
                  <a:tcPr anchor="ctr">
                    <a:solidFill>
                      <a:srgbClr val="FFEFD9"/>
                    </a:solidFill>
                  </a:tcPr>
                </a:tc>
              </a:tr>
            </a:tbl>
          </a:graphicData>
        </a:graphic>
      </p:graphicFrame>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Event checklist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活动检查清单</a:t>
            </a:r>
          </a:p>
        </p:txBody>
      </p:sp>
      <p:graphicFrame>
        <p:nvGraphicFramePr>
          <p:cNvPr id="9" name="Table 8"/>
          <p:cNvGraphicFramePr>
            <a:graphicFrameLocks noGrp="1"/>
          </p:cNvGraphicFramePr>
          <p:nvPr/>
        </p:nvGraphicFramePr>
        <p:xfrm>
          <a:off x="548640" y="1417320"/>
          <a:ext cx="11094415" cy="3919728"/>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Item</a:t>
                      </a:r>
                    </a:p>
                  </a:txBody>
                  <a:tcPr anchor="ctr">
                    <a:solidFill>
                      <a:srgbClr val="3CC49A"/>
                    </a:solidFill>
                  </a:tcPr>
                </a:tc>
                <a:tc>
                  <a:txBody>
                    <a:bodyPr wrap="square"/>
                    <a:lstStyle/>
                    <a:p>
                      <a:r>
                        <a:rPr sz="1600" b="1">
                          <a:solidFill>
                            <a:srgbClr val="FFFFFF"/>
                          </a:solidFill>
                          <a:latin typeface="Arial"/>
                          <a:ea typeface="Microsoft YaHei"/>
                        </a:rPr>
                        <a:t>Questions</a:t>
                      </a:r>
                    </a:p>
                  </a:txBody>
                  <a:tcPr anchor="ctr">
                    <a:solidFill>
                      <a:srgbClr val="3CC49A"/>
                    </a:solidFill>
                  </a:tcPr>
                </a:tc>
              </a:tr>
              <a:tr h="408432">
                <a:tc>
                  <a:txBody>
                    <a:bodyPr wrap="square"/>
                    <a:lstStyle/>
                    <a:p>
                      <a:r>
                        <a:rPr sz="1600" b="1">
                          <a:solidFill>
                            <a:srgbClr val="1F2A44"/>
                          </a:solidFill>
                          <a:latin typeface="Arial"/>
                          <a:ea typeface="Microsoft YaHei"/>
                        </a:rPr>
                        <a:t>Purpose</a:t>
                      </a:r>
                    </a:p>
                  </a:txBody>
                  <a:tcPr anchor="ctr">
                    <a:solidFill>
                      <a:srgbClr val="FFFFFF"/>
                    </a:solidFill>
                  </a:tcPr>
                </a:tc>
                <a:tc>
                  <a:txBody>
                    <a:bodyPr wrap="square"/>
                    <a:lstStyle/>
                    <a:p>
                      <a:r>
                        <a:rPr sz="1600" b="0">
                          <a:solidFill>
                            <a:srgbClr val="1F2A44"/>
                          </a:solidFill>
                          <a:latin typeface="Arial"/>
                          <a:ea typeface="Microsoft YaHei"/>
                        </a:rPr>
                        <a:t>Why are we doing this? Who is it for?</a:t>
                      </a:r>
                    </a:p>
                  </a:txBody>
                  <a:tcPr anchor="ctr">
                    <a:solidFill>
                      <a:srgbClr val="FFFFFF"/>
                    </a:solidFill>
                  </a:tcPr>
                </a:tc>
              </a:tr>
              <a:tr h="408432">
                <a:tc>
                  <a:txBody>
                    <a:bodyPr wrap="square"/>
                    <a:lstStyle/>
                    <a:p>
                      <a:r>
                        <a:rPr sz="1600" b="1">
                          <a:solidFill>
                            <a:srgbClr val="1F2A44"/>
                          </a:solidFill>
                          <a:latin typeface="Arial"/>
                          <a:ea typeface="Microsoft YaHei"/>
                        </a:rPr>
                        <a:t>Date and time</a:t>
                      </a:r>
                    </a:p>
                  </a:txBody>
                  <a:tcPr anchor="ctr">
                    <a:solidFill>
                      <a:srgbClr val="FFEFD9"/>
                    </a:solidFill>
                  </a:tcPr>
                </a:tc>
                <a:tc>
                  <a:txBody>
                    <a:bodyPr wrap="square"/>
                    <a:lstStyle/>
                    <a:p>
                      <a:r>
                        <a:rPr sz="1600" b="0">
                          <a:solidFill>
                            <a:srgbClr val="1F2A44"/>
                          </a:solidFill>
                          <a:latin typeface="Arial"/>
                          <a:ea typeface="Microsoft YaHei"/>
                        </a:rPr>
                        <a:t>Does it clash with holidays or other events?</a:t>
                      </a:r>
                    </a:p>
                  </a:txBody>
                  <a:tcPr anchor="ctr">
                    <a:solidFill>
                      <a:srgbClr val="FFEFD9"/>
                    </a:solidFill>
                  </a:tcPr>
                </a:tc>
              </a:tr>
              <a:tr h="408432">
                <a:tc>
                  <a:txBody>
                    <a:bodyPr wrap="square"/>
                    <a:lstStyle/>
                    <a:p>
                      <a:r>
                        <a:rPr sz="1600" b="1">
                          <a:solidFill>
                            <a:srgbClr val="1F2A44"/>
                          </a:solidFill>
                          <a:latin typeface="Arial"/>
                          <a:ea typeface="Microsoft YaHei"/>
                        </a:rPr>
                        <a:t>Venue</a:t>
                      </a:r>
                    </a:p>
                  </a:txBody>
                  <a:tcPr anchor="ctr">
                    <a:solidFill>
                      <a:srgbClr val="FFFFFF"/>
                    </a:solidFill>
                  </a:tcPr>
                </a:tc>
                <a:tc>
                  <a:txBody>
                    <a:bodyPr wrap="square"/>
                    <a:lstStyle/>
                    <a:p>
                      <a:r>
                        <a:rPr sz="1600" b="0">
                          <a:solidFill>
                            <a:srgbClr val="1F2A44"/>
                          </a:solidFill>
                          <a:latin typeface="Arial"/>
                          <a:ea typeface="Microsoft YaHei"/>
                        </a:rPr>
                        <a:t>Capacity? Location? Parking? Access?</a:t>
                      </a:r>
                    </a:p>
                  </a:txBody>
                  <a:tcPr anchor="ctr">
                    <a:solidFill>
                      <a:srgbClr val="FFFFFF"/>
                    </a:solidFill>
                  </a:tcPr>
                </a:tc>
              </a:tr>
              <a:tr h="652272">
                <a:tc>
                  <a:txBody>
                    <a:bodyPr wrap="square"/>
                    <a:lstStyle/>
                    <a:p>
                      <a:r>
                        <a:rPr sz="1600" b="1">
                          <a:solidFill>
                            <a:srgbClr val="1F2A44"/>
                          </a:solidFill>
                          <a:latin typeface="Arial"/>
                          <a:ea typeface="Microsoft YaHei"/>
                        </a:rPr>
                        <a:t>Budget</a:t>
                      </a:r>
                    </a:p>
                  </a:txBody>
                  <a:tcPr anchor="ctr">
                    <a:solidFill>
                      <a:srgbClr val="FFEFD9"/>
                    </a:solidFill>
                  </a:tcPr>
                </a:tc>
                <a:tc>
                  <a:txBody>
                    <a:bodyPr wrap="square"/>
                    <a:lstStyle/>
                    <a:p>
                      <a:r>
                        <a:rPr sz="1600" b="0">
                          <a:solidFill>
                            <a:srgbClr val="1F2A44"/>
                          </a:solidFill>
                          <a:latin typeface="Arial"/>
                          <a:ea typeface="Microsoft YaHei"/>
                        </a:rPr>
                        <a:t>Venue, food, drinks, speakers, decorations, gifts, 10% spare</a:t>
                      </a:r>
                    </a:p>
                  </a:txBody>
                  <a:tcPr anchor="ctr">
                    <a:solidFill>
                      <a:srgbClr val="FFEFD9"/>
                    </a:solidFill>
                  </a:tcPr>
                </a:tc>
              </a:tr>
              <a:tr h="408432">
                <a:tc>
                  <a:txBody>
                    <a:bodyPr wrap="square"/>
                    <a:lstStyle/>
                    <a:p>
                      <a:r>
                        <a:rPr sz="1600" b="1">
                          <a:solidFill>
                            <a:srgbClr val="1F2A44"/>
                          </a:solidFill>
                          <a:latin typeface="Arial"/>
                          <a:ea typeface="Microsoft YaHei"/>
                        </a:rPr>
                        <a:t>Guests</a:t>
                      </a:r>
                    </a:p>
                  </a:txBody>
                  <a:tcPr anchor="ctr">
                    <a:solidFill>
                      <a:srgbClr val="FFFFFF"/>
                    </a:solidFill>
                  </a:tcPr>
                </a:tc>
                <a:tc>
                  <a:txBody>
                    <a:bodyPr wrap="square"/>
                    <a:lstStyle/>
                    <a:p>
                      <a:r>
                        <a:rPr sz="1600" b="0">
                          <a:solidFill>
                            <a:srgbClr val="1F2A44"/>
                          </a:solidFill>
                          <a:latin typeface="Arial"/>
                          <a:ea typeface="Microsoft YaHei"/>
                        </a:rPr>
                        <a:t>Guest list, invitations, RSVP, dietary needs</a:t>
                      </a:r>
                    </a:p>
                  </a:txBody>
                  <a:tcPr anchor="ctr">
                    <a:solidFill>
                      <a:srgbClr val="FFFFFF"/>
                    </a:solidFill>
                  </a:tcPr>
                </a:tc>
              </a:tr>
              <a:tr h="408432">
                <a:tc>
                  <a:txBody>
                    <a:bodyPr wrap="square"/>
                    <a:lstStyle/>
                    <a:p>
                      <a:r>
                        <a:rPr sz="1600" b="1">
                          <a:solidFill>
                            <a:srgbClr val="1F2A44"/>
                          </a:solidFill>
                          <a:latin typeface="Arial"/>
                          <a:ea typeface="Microsoft YaHei"/>
                        </a:rPr>
                        <a:t>Programme</a:t>
                      </a:r>
                    </a:p>
                  </a:txBody>
                  <a:tcPr anchor="ctr">
                    <a:solidFill>
                      <a:srgbClr val="FFEFD9"/>
                    </a:solidFill>
                  </a:tcPr>
                </a:tc>
                <a:tc>
                  <a:txBody>
                    <a:bodyPr wrap="square"/>
                    <a:lstStyle/>
                    <a:p>
                      <a:r>
                        <a:rPr sz="1600" b="0">
                          <a:solidFill>
                            <a:srgbClr val="1F2A44"/>
                          </a:solidFill>
                          <a:latin typeface="Arial"/>
                          <a:ea typeface="Microsoft YaHei"/>
                        </a:rPr>
                        <a:t>Welcome, speeches, activities, finish time</a:t>
                      </a:r>
                    </a:p>
                  </a:txBody>
                  <a:tcPr anchor="ctr">
                    <a:solidFill>
                      <a:srgbClr val="FFEFD9"/>
                    </a:solidFill>
                  </a:tcPr>
                </a:tc>
              </a:tr>
              <a:tr h="408432">
                <a:tc>
                  <a:txBody>
                    <a:bodyPr wrap="square"/>
                    <a:lstStyle/>
                    <a:p>
                      <a:r>
                        <a:rPr sz="1600" b="1">
                          <a:solidFill>
                            <a:srgbClr val="1F2A44"/>
                          </a:solidFill>
                          <a:latin typeface="Arial"/>
                          <a:ea typeface="Microsoft YaHei"/>
                        </a:rPr>
                        <a:t>Logistics</a:t>
                      </a:r>
                    </a:p>
                  </a:txBody>
                  <a:tcPr anchor="ctr">
                    <a:solidFill>
                      <a:srgbClr val="FFFFFF"/>
                    </a:solidFill>
                  </a:tcPr>
                </a:tc>
                <a:tc>
                  <a:txBody>
                    <a:bodyPr wrap="square"/>
                    <a:lstStyle/>
                    <a:p>
                      <a:r>
                        <a:rPr sz="1600" b="0">
                          <a:solidFill>
                            <a:srgbClr val="1F2A44"/>
                          </a:solidFill>
                          <a:latin typeface="Arial"/>
                          <a:ea typeface="Microsoft YaHei"/>
                        </a:rPr>
                        <a:t>AV equipment, signs, name badges, transport</a:t>
                      </a:r>
                    </a:p>
                  </a:txBody>
                  <a:tcPr anchor="ctr">
                    <a:solidFill>
                      <a:srgbClr val="FFFFFF"/>
                    </a:solidFill>
                  </a:tcPr>
                </a:tc>
              </a:tr>
              <a:tr h="408432">
                <a:tc>
                  <a:txBody>
                    <a:bodyPr wrap="square"/>
                    <a:lstStyle/>
                    <a:p>
                      <a:r>
                        <a:rPr sz="1600" b="1">
                          <a:solidFill>
                            <a:srgbClr val="1F2A44"/>
                          </a:solidFill>
                          <a:latin typeface="Arial"/>
                          <a:ea typeface="Microsoft YaHei"/>
                        </a:rPr>
                        <a:t>Follow-up</a:t>
                      </a:r>
                    </a:p>
                  </a:txBody>
                  <a:tcPr anchor="ctr">
                    <a:solidFill>
                      <a:srgbClr val="FFEFD9"/>
                    </a:solidFill>
                  </a:tcPr>
                </a:tc>
                <a:tc>
                  <a:txBody>
                    <a:bodyPr wrap="square"/>
                    <a:lstStyle/>
                    <a:p>
                      <a:r>
                        <a:rPr sz="1600" b="0">
                          <a:solidFill>
                            <a:srgbClr val="1F2A44"/>
                          </a:solidFill>
                          <a:latin typeface="Arial"/>
                          <a:ea typeface="Microsoft YaHei"/>
                        </a:rPr>
                        <a:t>Thank-you emails, photos, feedback survey</a:t>
                      </a:r>
                    </a:p>
                  </a:txBody>
                  <a:tcPr anchor="ctr">
                    <a:solidFill>
                      <a:srgbClr val="FFEFD9"/>
                    </a:solidFill>
                  </a:tcPr>
                </a:tc>
              </a:tr>
            </a:tbl>
          </a:graphicData>
        </a:graphic>
      </p:graphicFrame>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Event checklist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活动检查清单</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Plan with going to / will / present continuous: </a:t>
            </a:r>
            <a:r>
              <a:rPr sz="1700" b="0">
                <a:solidFill>
                  <a:srgbClr val="1F2A44"/>
                </a:solidFill>
                <a:latin typeface="Arial"/>
                <a:ea typeface="Microsoft YaHei"/>
              </a:rPr>
              <a:t>“We’re going to book the hall” (plan), “I’ll send the invitations” (decision now), “We’re meeting the caterer on Monday” (arrangement).</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Words: </a:t>
            </a:r>
            <a:r>
              <a:rPr sz="1700" b="0">
                <a:solidFill>
                  <a:srgbClr val="1F2A44"/>
                </a:solidFill>
                <a:latin typeface="Arial"/>
                <a:ea typeface="Microsoft YaHei"/>
              </a:rPr>
              <a:t>host (organize), attend (go to), turn up (arrive), no-show (a person who doesn’t come), headcount (number of people) ★.</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will do an event.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will hold / organize an event.</a:t>
            </a:r>
          </a:p>
          <a:p>
            <a:pPr algn="l">
              <a:spcAft>
                <a:spcPts val="200"/>
              </a:spcAft>
            </a:pPr>
            <a:r>
              <a:rPr sz="1200" b="0">
                <a:solidFill>
                  <a:srgbClr val="FFFFFF"/>
                </a:solidFill>
                <a:latin typeface="Arial"/>
                <a:ea typeface="Microsoft YaHei"/>
              </a:rPr>
              <a:t>hold / organize an event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make a party.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We’re having / throwing a party.</a:t>
            </a:r>
          </a:p>
          <a:p>
            <a:pPr algn="l">
              <a:spcAft>
                <a:spcPts val="200"/>
              </a:spcAft>
            </a:pPr>
            <a:r>
              <a:rPr sz="1200" b="0">
                <a:solidFill>
                  <a:srgbClr val="FFFFFF"/>
                </a:solidFill>
                <a:latin typeface="Arial"/>
                <a:ea typeface="Microsoft YaHei"/>
              </a:rPr>
              <a:t>have / throw a party</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in charge of the venue.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in charge of the venue.</a:t>
            </a:r>
          </a:p>
          <a:p>
            <a:pPr algn="l">
              <a:spcAft>
                <a:spcPts val="200"/>
              </a:spcAft>
            </a:pPr>
            <a:r>
              <a:rPr sz="1200" b="0">
                <a:solidFill>
                  <a:srgbClr val="FFFFFF"/>
                </a:solidFill>
                <a:latin typeface="Arial"/>
                <a:ea typeface="Microsoft YaHei"/>
              </a:rPr>
              <a:t>缺 be 动词</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Responsible of the catering.</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Responsible for the catering.</a:t>
            </a:r>
          </a:p>
          <a:p>
            <a:pPr algn="l">
              <a:spcAft>
                <a:spcPts val="200"/>
              </a:spcAft>
            </a:pPr>
            <a:r>
              <a:rPr sz="1200" b="0">
                <a:solidFill>
                  <a:srgbClr val="FFFFFF"/>
                </a:solidFill>
                <a:latin typeface="Arial"/>
                <a:ea typeface="Microsoft YaHei"/>
              </a:rPr>
              <a:t>responsible for</a:t>
            </a:r>
          </a:p>
        </p:txBody>
      </p:sp>
      <p:sp>
        <p:nvSpPr>
          <p:cNvPr id="17" name="Rounded Rectangle 16"/>
          <p:cNvSpPr/>
          <p:nvPr/>
        </p:nvSpPr>
        <p:spPr>
          <a:xfrm>
            <a:off x="548640" y="426719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don’t come.</a:t>
            </a:r>
          </a:p>
        </p:txBody>
      </p:sp>
      <p:sp>
        <p:nvSpPr>
          <p:cNvPr id="18" name="Rounded Rectangle 17"/>
          <p:cNvSpPr/>
          <p:nvPr/>
        </p:nvSpPr>
        <p:spPr>
          <a:xfrm>
            <a:off x="6187287" y="426719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doesn’t come. / He didn’t turn up.</a:t>
            </a:r>
          </a:p>
          <a:p>
            <a:pPr algn="l">
              <a:spcAft>
                <a:spcPts val="200"/>
              </a:spcAft>
            </a:pPr>
            <a:r>
              <a:rPr sz="1200" b="0">
                <a:solidFill>
                  <a:srgbClr val="FFFFFF"/>
                </a:solidFill>
                <a:latin typeface="Arial"/>
                <a:ea typeface="Microsoft YaHei"/>
              </a:rPr>
              <a:t>助动词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should send the invitations in advance.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should send the invitations well in advance.</a:t>
            </a:r>
          </a:p>
          <a:p>
            <a:pPr algn="l">
              <a:spcAft>
                <a:spcPts val="200"/>
              </a:spcAft>
            </a:pPr>
            <a:r>
              <a:rPr sz="1200" b="0">
                <a:solidFill>
                  <a:srgbClr val="FFFFFF"/>
                </a:solidFill>
                <a:latin typeface="Arial"/>
                <a:ea typeface="Microsoft YaHei"/>
              </a:rPr>
              <a:t>加 well</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must to book it.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must book it. / We need to book it.</a:t>
            </a:r>
          </a:p>
          <a:p>
            <a:pPr algn="l">
              <a:spcAft>
                <a:spcPts val="200"/>
              </a:spcAft>
            </a:pPr>
            <a:r>
              <a:rPr sz="1200" b="0">
                <a:solidFill>
                  <a:srgbClr val="FFFFFF"/>
                </a:solidFill>
                <a:latin typeface="Arial"/>
                <a:ea typeface="Microsoft YaHei"/>
              </a:rPr>
              <a:t>must 后不加 to</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budget is not enough.</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We’re on a tight budget, so we need to keep costs down.</a:t>
            </a:r>
          </a:p>
          <a:p>
            <a:pPr algn="l">
              <a:spcAft>
                <a:spcPts val="200"/>
              </a:spcAft>
            </a:pPr>
            <a:r>
              <a:rPr sz="1200" b="0">
                <a:solidFill>
                  <a:srgbClr val="FFFFFF"/>
                </a:solidFill>
                <a:latin typeface="Arial"/>
                <a:ea typeface="Microsoft YaHei"/>
              </a:rPr>
              <a:t>地道说法</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Partys / cateing</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Parties / catering</a:t>
            </a:r>
          </a:p>
          <a:p>
            <a:pPr algn="l">
              <a:spcAft>
                <a:spcPts val="200"/>
              </a:spcAft>
            </a:pPr>
            <a:r>
              <a:rPr sz="1200" b="0">
                <a:solidFill>
                  <a:srgbClr val="FFFFFF"/>
                </a:solidFill>
                <a:latin typeface="Arial"/>
                <a:ea typeface="Microsoft YaHei"/>
              </a:rPr>
              <a:t>拼写</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There are 40 peoples.</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There are 40 people.</a:t>
            </a:r>
          </a:p>
          <a:p>
            <a:pPr algn="l">
              <a:spcAft>
                <a:spcPts val="200"/>
              </a:spcAft>
            </a:pPr>
            <a:r>
              <a:rPr sz="1200" b="0">
                <a:solidFill>
                  <a:srgbClr val="FFFFFF"/>
                </a:solidFill>
                <a:latin typeface="Arial"/>
                <a:ea typeface="Microsoft YaHei"/>
              </a:rPr>
              <a:t>people 本身是复数</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hold / have an event, in charge of, responsible for, people (no -s), must + base verb.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Plan early. Western calendars fill quickly. Invitations for a corporate event often go out 4–6 weeks before.</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Be inclusive. Offer alcohol-free drinks and vegetarian or halal food. Don’t assume everyone drinks.</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1">
                <a:solidFill>
                  <a:srgbClr val="3CC49A"/>
                </a:solidFill>
                <a:latin typeface="Arial"/>
                <a:ea typeface="Microsoft YaHei"/>
              </a:rPr>
              <a:t>Dress code: </a:t>
            </a:r>
            <a:r>
              <a:rPr sz="1700" b="0">
                <a:solidFill>
                  <a:srgbClr val="1F2A44"/>
                </a:solidFill>
                <a:latin typeface="Arial"/>
                <a:ea typeface="Microsoft YaHei"/>
              </a:rPr>
              <a:t>State it clearly in the invitation. “Business casual” is a common standard.</a:t>
            </a:r>
          </a:p>
        </p:txBody>
      </p:sp>
      <p:sp>
        <p:nvSpPr>
          <p:cNvPr id="18" name="Rounded Rectangle 17"/>
          <p:cNvSpPr/>
          <p:nvPr/>
        </p:nvSpPr>
        <p:spPr>
          <a:xfrm>
            <a:off x="548640" y="353567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701039"/>
          </a:xfrm>
          <a:prstGeom prst="rect">
            <a:avLst/>
          </a:prstGeom>
          <a:noFill/>
        </p:spPr>
        <p:txBody>
          <a:bodyPr wrap="square" anchor="ctr">
            <a:spAutoFit/>
          </a:bodyPr>
          <a:lstStyle/>
          <a:p>
            <a:r>
              <a:rPr sz="1700" b="1">
                <a:solidFill>
                  <a:srgbClr val="FFC857"/>
                </a:solidFill>
                <a:latin typeface="Arial"/>
                <a:ea typeface="Microsoft YaHei"/>
              </a:rPr>
              <a:t>Time: </a:t>
            </a:r>
            <a:r>
              <a:rPr sz="1700" b="0">
                <a:solidFill>
                  <a:srgbClr val="1F2A44"/>
                </a:solidFill>
                <a:latin typeface="Arial"/>
                <a:ea typeface="Microsoft YaHei"/>
              </a:rPr>
              <a:t>After-work events usually start at 6–7 p.m. and end by 9–10 p.m. Leave before the end only if you say goodbye to the host.</a:t>
            </a:r>
          </a:p>
        </p:txBody>
      </p:sp>
      <p:sp>
        <p:nvSpPr>
          <p:cNvPr id="21" name="Rounded Rectangle 20"/>
          <p:cNvSpPr/>
          <p:nvPr/>
        </p:nvSpPr>
        <p:spPr>
          <a:xfrm>
            <a:off x="548640" y="4328156"/>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328156"/>
            <a:ext cx="91440" cy="44195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328156"/>
            <a:ext cx="10728655" cy="441959"/>
          </a:xfrm>
          <a:prstGeom prst="rect">
            <a:avLst/>
          </a:prstGeom>
          <a:noFill/>
        </p:spPr>
        <p:txBody>
          <a:bodyPr wrap="square" anchor="ctr">
            <a:spAutoFit/>
          </a:bodyPr>
          <a:lstStyle/>
          <a:p>
            <a:r>
              <a:rPr sz="1700" b="1">
                <a:solidFill>
                  <a:srgbClr val="9B6BE0"/>
                </a:solidFill>
                <a:latin typeface="Arial"/>
                <a:ea typeface="Microsoft YaHei"/>
              </a:rPr>
              <a:t>Thank-you: </a:t>
            </a:r>
            <a:r>
              <a:rPr sz="1700" b="0">
                <a:solidFill>
                  <a:srgbClr val="1F2A44"/>
                </a:solidFill>
                <a:latin typeface="Arial"/>
                <a:ea typeface="Microsoft YaHei"/>
              </a:rPr>
              <a:t>Send a short “Thank you for coming” email the next day. Include a photo if possible.</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set the purpose, date, venue, budget and number of guests for an event.</a:t>
            </a:r>
          </a:p>
        </p:txBody>
      </p:sp>
      <p:sp>
        <p:nvSpPr>
          <p:cNvPr id="12" name="TextBox 11"/>
          <p:cNvSpPr txBox="1"/>
          <p:nvPr/>
        </p:nvSpPr>
        <p:spPr>
          <a:xfrm>
            <a:off x="9539935" y="1508760"/>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350008"/>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50008"/>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350008"/>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share tasks (Who’s in charge of…? I’ll take care of…) and set deadlines.</a:t>
            </a:r>
          </a:p>
        </p:txBody>
      </p:sp>
      <p:sp>
        <p:nvSpPr>
          <p:cNvPr id="16" name="TextBox 15"/>
          <p:cNvSpPr txBox="1"/>
          <p:nvPr/>
        </p:nvSpPr>
        <p:spPr>
          <a:xfrm>
            <a:off x="9539935" y="2350008"/>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191256"/>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191256"/>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191256"/>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check progress (How are we doing on…? We’re on track / a bit behind.).</a:t>
            </a:r>
          </a:p>
        </p:txBody>
      </p:sp>
      <p:sp>
        <p:nvSpPr>
          <p:cNvPr id="20" name="TextBox 19"/>
          <p:cNvSpPr txBox="1"/>
          <p:nvPr/>
        </p:nvSpPr>
        <p:spPr>
          <a:xfrm>
            <a:off x="9539935" y="3191256"/>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4032504"/>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032504"/>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4032504"/>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suggest a Plan B (We need a contingency plan.) and stay within budget.</a:t>
            </a:r>
          </a:p>
        </p:txBody>
      </p:sp>
      <p:sp>
        <p:nvSpPr>
          <p:cNvPr id="24" name="TextBox 23"/>
          <p:cNvSpPr txBox="1"/>
          <p:nvPr/>
        </p:nvSpPr>
        <p:spPr>
          <a:xfrm>
            <a:off x="9539935" y="4032504"/>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73752"/>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73752"/>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73752"/>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use hold an event, in charge of, responsible for and people correctly.</a:t>
            </a:r>
          </a:p>
        </p:txBody>
      </p:sp>
      <p:sp>
        <p:nvSpPr>
          <p:cNvPr id="28" name="TextBox 27"/>
          <p:cNvSpPr txBox="1"/>
          <p:nvPr/>
        </p:nvSpPr>
        <p:spPr>
          <a:xfrm>
            <a:off x="9539935" y="4873752"/>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39 Organizing an event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hold an event, in charge of / responsible for, must + base verb, and spelling (catering, parties).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10 · Lesson 40 Plans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86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Plans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计划</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talk about plans and intentions at work and outside work: weekend and holiday plans, business trips, project goals, and make tentative arrangements using the right future forms (going to, will, present continuous, hope to, aim to).</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9258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What are you doing this weekend? Is it a fixed plan or an idea?</a:t>
            </a:r>
          </a:p>
        </p:txBody>
      </p:sp>
      <p:sp>
        <p:nvSpPr>
          <p:cNvPr id="12" name="Oval 11"/>
          <p:cNvSpPr/>
          <p:nvPr/>
        </p:nvSpPr>
        <p:spPr>
          <a:xfrm>
            <a:off x="548640" y="228142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43328"/>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43328"/>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What are your plans for the next three months at work?</a:t>
            </a:r>
          </a:p>
        </p:txBody>
      </p:sp>
      <p:sp>
        <p:nvSpPr>
          <p:cNvPr id="15" name="Oval 14"/>
          <p:cNvSpPr/>
          <p:nvPr/>
        </p:nvSpPr>
        <p:spPr>
          <a:xfrm>
            <a:off x="548640" y="314553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32176"/>
            <a:ext cx="10408615" cy="929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32176"/>
            <a:ext cx="10180015" cy="92964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How do you make plans with colleagues or clients: by email, by phone, or in person?</a:t>
            </a:r>
          </a:p>
        </p:txBody>
      </p:sp>
      <p:sp>
        <p:nvSpPr>
          <p:cNvPr id="18" name="Oval 17"/>
          <p:cNvSpPr/>
          <p:nvPr/>
        </p:nvSpPr>
        <p:spPr>
          <a:xfrm>
            <a:off x="548640" y="400964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71544"/>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71544"/>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Tell me about a plan that worked well (or did not work) last year.</a:t>
            </a:r>
          </a:p>
        </p:txBody>
      </p:sp>
      <p:sp>
        <p:nvSpPr>
          <p:cNvPr id="21" name="Oval 20"/>
          <p:cNvSpPr/>
          <p:nvPr/>
        </p:nvSpPr>
        <p:spPr>
          <a:xfrm>
            <a:off x="548640" y="469849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60392"/>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0392"/>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Do you prefer to plan everything or to be flexible? Why?</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题讲过去的事,请用过去式(worked, planned, didn’t go)。第 1 题可以说 “I’m going to… / I’m having…”。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your plans for the next three months at work and in your free time.</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your main goal</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the first step</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a possible problem</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a personal plan</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“if all goes well, …”</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I’m planning to…   💬 We’re hoping to…   💬 If all goes well, …   💬 It depends on…</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已安排好的事用 present continuous(I’m meeting a client on Friday);计划/打算用 be going to / planning to;临时决定用 will。</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Talking about plans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谈计划</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planning to…</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我打算……</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planning to take a few days off in December.”</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We’re hoping to… / We aim to…</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我们希望/目标是……</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hoping to launch in spring.”</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 are you doing this weekend?</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你这周末做什么?</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are you doing this weekend?”</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 haven’t made up my mind yet.</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我还没拿定主意</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haven’t made up my mind yet.”</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I’m toying with the idea of…</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我在考虑……</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toying with the idea of studying part-time.”</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Making arrangements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做安排</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Shall we meet on…?</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我们周……见面好吗?</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“Shall we meet on Tuesday?”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Let’s pencil in Friday.</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先暂定周五吧</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pencil in Friday for now.”</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Nothing is set in stone.</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一切都还没定死</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only a rough plan. Nothing is set in stone.”</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It’s subject to approval.</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这需经批准</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trip is subject to approval from my manager.”</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It depends on…</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这取决于……</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depends on the budget.”</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Chunk 3: Possible problems and flexibility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灵活应对</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If all goes well, …</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如果一切顺利,……</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“If all goes well, we’ll finish in March.”</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We’ll play it by ear.</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我们走一步看一步</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play it by ear and see how things go.”</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Plan A / Plan B</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方案A / 备用方案B</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“If Plan A fails, we’ll switch to Plan B.”</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Just in case, …</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以防万一……</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“Just in case, I’ve booked a second room.”</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Keep me posted.</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请告诉我进展</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“Keep me posted on your plans.”</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如果一切顺利,……</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If all goes well, …</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我还没拿定主意</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haven’t made up my mind yet.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我打算……</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planning to…</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我们周……见面好吗?</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Shall we meet on…?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这需经批准</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It’s subject to approval.</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你这周末做什么?</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What are you doing this weekend?</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先暂定周五吧</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Let’s pencil in Friday.</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我在考虑……</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toying with the idea of…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pencil</a:t>
            </a:r>
          </a:p>
        </p:txBody>
      </p:sp>
      <p:sp>
        <p:nvSpPr>
          <p:cNvPr id="10" name="Rounded Rectangle 9"/>
          <p:cNvSpPr/>
          <p:nvPr/>
        </p:nvSpPr>
        <p:spPr>
          <a:xfrm>
            <a:off x="3127248"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hoping</a:t>
            </a:r>
          </a:p>
        </p:txBody>
      </p:sp>
      <p:sp>
        <p:nvSpPr>
          <p:cNvPr id="11" name="Rounded Rectangle 10"/>
          <p:cNvSpPr/>
          <p:nvPr/>
        </p:nvSpPr>
        <p:spPr>
          <a:xfrm>
            <a:off x="4242816" y="987552"/>
            <a:ext cx="69494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ear</a:t>
            </a:r>
          </a:p>
        </p:txBody>
      </p:sp>
      <p:sp>
        <p:nvSpPr>
          <p:cNvPr id="12" name="Rounded Rectangle 11"/>
          <p:cNvSpPr/>
          <p:nvPr/>
        </p:nvSpPr>
        <p:spPr>
          <a:xfrm>
            <a:off x="5029200"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planning</a:t>
            </a:r>
          </a:p>
        </p:txBody>
      </p:sp>
      <p:sp>
        <p:nvSpPr>
          <p:cNvPr id="13" name="Rounded Rectangle 12"/>
          <p:cNvSpPr/>
          <p:nvPr/>
        </p:nvSpPr>
        <p:spPr>
          <a:xfrm>
            <a:off x="6364224"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well</a:t>
            </a:r>
          </a:p>
        </p:txBody>
      </p:sp>
      <p:sp>
        <p:nvSpPr>
          <p:cNvPr id="14" name="Rounded Rectangle 13"/>
          <p:cNvSpPr/>
          <p:nvPr/>
        </p:nvSpPr>
        <p:spPr>
          <a:xfrm>
            <a:off x="7260336"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subject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I’m _______ to take a few days off in December.</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planning</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We’re _______ to launch in spring.</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hoping</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Let’s _______ in Friday for now.</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pencil</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trip is _______ to approval from my manager.</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subject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If all goes _______, we’ll finish in March.</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well</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We’ll play it by _______ and see how things go.</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ear</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时态): plan (planning, planned: double n), schedule, appointment. Future forms: “I’m going to call him” (intention), “I’ll call him” (decision now), “I’m calling him at 3” (arrangement), “I’m hoping to call him” (hope).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Weekend and work plans small talk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聊周末与工作计划</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On Friday afternoon, two colleagues chat about their plans for the weekend and next week.</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 Hughes</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Weekend and work plans small talk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Dan, any plans for the weekend?</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much. I’m hoping to go hiking if the weather’s good. What about you?</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visiting my parents in Suzhou. We’re planning a family dinner on Saturday.</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nice. Are you coming back on Sunday?</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I’m taking the evening train. Hopefully, it won’t be too crowded.</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next week? Do you have anything big at work?</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Weekend and work plans small talk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meeting BlueSea on Tuesday, but the time isn’t fixed. It’s subject to their schedule.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pencil in lunch on Wednesday, then. We can discuss the new project.</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If all goes well, I should be free from noon.</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We’ll play it by ear.</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Have a great weekend!</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too. See you Monday.</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Weekend and work plans small talk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chat about plans on a Friday afternoon.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Yourself. Real plans for the weekend and next week: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Asks follow-up questions.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planning to… · I’m hoping to… · It depends on… · If all goes well, … · Let’s pencil in…</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Share 2 personal and 2 work plans, using at least 3 different future forms.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Your plan changes. Say: “I might not go after all. It depends on the weather.”</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about a plan: “Are you doing anything special for the holiday?”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Make a loose plan: “Let’s play it by ear.”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Planning a project for the next quarter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计划下季度项目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discuss your plans for next quarter with your manager.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Sophie Zhou, manager</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Planning a project for the next quarter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Sophie, I’d like to share my plans for next quarter.</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Sophie</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 ahead.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We’re aiming to launch the new product in March. First, we’re going to finish testing by the end of January.</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ambitious. What if the supplier is late again?</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why we have a Plan B. If the parts aren’t ready, we’ll use the older model for the first batch.</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And what about the budget?</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Planning a project for the next quarter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subject to approval. I’m presenting the numbers to Finance on Thursday.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Please keep me posted. Nothing is set in stone until Finance says yes.</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Understood. If all goes well, we can start production in February.</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Fine. Let’s pencil in a review meeting for the 15th.</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send an invitation today.</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Planning a project for the next quarter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present your plans for the next quarter.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Project manager. Goal, steps, risk, Plan B.</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Asks “What if…?” questions.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We’re aiming to… · First, we’re going to… · It’s subject to… · Plan B · Nothing is set in stone.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3 plans with dates and one backup plan.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Your manager says the plan is too ambitious. Say: “I see your point. We could start with a smaller pilot.”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time words: by the end of January / in the second half of March.</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present perfect for what you’ve done so far: “We’ve already booked the testing lab.”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plan your week in detail? What tools do you use?</a:t>
            </a:r>
          </a:p>
          <a:p>
            <a:pPr algn="l">
              <a:lnSpc>
                <a:spcPct val="115000"/>
              </a:lnSpc>
              <a:spcAft>
                <a:spcPts val="800"/>
              </a:spcAft>
            </a:pPr>
            <a:r>
              <a:rPr sz="1400" b="0">
                <a:solidFill>
                  <a:srgbClr val="5F677A"/>
                </a:solidFill>
                <a:latin typeface="Arial"/>
                <a:ea typeface="Microsoft YaHei"/>
              </a:rPr>
              <a:t>💬 “I plan my week on Sunday using…” / “I use a calendar app and a notebook.”</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your career plans for the next three years?</a:t>
            </a:r>
          </a:p>
          <a:p>
            <a:pPr algn="l">
              <a:lnSpc>
                <a:spcPct val="115000"/>
              </a:lnSpc>
              <a:spcAft>
                <a:spcPts val="800"/>
              </a:spcAft>
            </a:pPr>
            <a:r>
              <a:rPr sz="1400" b="0">
                <a:solidFill>
                  <a:srgbClr val="5F677A"/>
                </a:solidFill>
                <a:latin typeface="Arial"/>
                <a:ea typeface="Microsoft YaHei"/>
              </a:rPr>
              <a:t>💬 “In three years, I’d like to…” / “I’m hoping to be…”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flexible should a plan be?</a:t>
            </a:r>
          </a:p>
          <a:p>
            <a:pPr algn="l">
              <a:lnSpc>
                <a:spcPct val="115000"/>
              </a:lnSpc>
              <a:spcAft>
                <a:spcPts val="800"/>
              </a:spcAft>
            </a:pPr>
            <a:r>
              <a:rPr sz="1400" b="0">
                <a:solidFill>
                  <a:srgbClr val="5F677A"/>
                </a:solidFill>
                <a:latin typeface="Arial"/>
                <a:ea typeface="Microsoft YaHei"/>
              </a:rPr>
              <a:t>💬 “A plan should be flexible enough to…” / “I prefer to have a clear goal, but a flexible route.”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difference between a goal and a plan?</a:t>
            </a:r>
          </a:p>
          <a:p>
            <a:pPr algn="l">
              <a:lnSpc>
                <a:spcPct val="115000"/>
              </a:lnSpc>
              <a:spcAft>
                <a:spcPts val="800"/>
              </a:spcAft>
            </a:pPr>
            <a:r>
              <a:rPr sz="1400" b="0">
                <a:solidFill>
                  <a:srgbClr val="5F677A"/>
                </a:solidFill>
                <a:latin typeface="Arial"/>
                <a:ea typeface="Microsoft YaHei"/>
              </a:rPr>
              <a:t>💬 “A goal is… while a plan is…” / “A plan shows the steps to reach the goal.”</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handle it when your plans change at the last minute?</a:t>
            </a:r>
          </a:p>
          <a:p>
            <a:pPr algn="l">
              <a:lnSpc>
                <a:spcPct val="115000"/>
              </a:lnSpc>
              <a:spcAft>
                <a:spcPts val="800"/>
              </a:spcAft>
            </a:pPr>
            <a:r>
              <a:rPr sz="1400" b="0">
                <a:solidFill>
                  <a:srgbClr val="5F677A"/>
                </a:solidFill>
                <a:latin typeface="Arial"/>
                <a:ea typeface="Microsoft YaHei"/>
              </a:rPr>
              <a:t>💬 “I stay calm and look for another way.” / “I tell the others as soon as I know.”</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goal is what you want to achieve; a plan shows the steps to get there. For example, my goal is to improve my English, and my plan is to practise for ten minutes every day, to record myself every week, and to take a course next year. A goal without a plan is just a wish. But a plan without flexibility can be difficult, so I always check it once a month.</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“A goal without a plan is just a wish.” 是名言式的表达。“once a month”(每月一次)。注意 “practise”(动词,英式)和 “practice”(名词)。</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Social language: plans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谈计划用语</a:t>
            </a:r>
          </a:p>
        </p:txBody>
      </p:sp>
      <p:graphicFrame>
        <p:nvGraphicFramePr>
          <p:cNvPr id="9" name="Table 8"/>
          <p:cNvGraphicFramePr>
            <a:graphicFrameLocks noGrp="1"/>
          </p:cNvGraphicFramePr>
          <p:nvPr/>
        </p:nvGraphicFramePr>
        <p:xfrm>
          <a:off x="548640" y="1417320"/>
          <a:ext cx="11094415" cy="277368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Ask</a:t>
                      </a:r>
                    </a:p>
                  </a:txBody>
                  <a:tcPr anchor="ctr">
                    <a:solidFill>
                      <a:srgbClr val="FFFFFF"/>
                    </a:solidFill>
                  </a:tcPr>
                </a:tc>
                <a:tc>
                  <a:txBody>
                    <a:bodyPr wrap="square"/>
                    <a:lstStyle/>
                    <a:p>
                      <a:r>
                        <a:rPr sz="1600" b="0">
                          <a:solidFill>
                            <a:srgbClr val="1F2A44"/>
                          </a:solidFill>
                          <a:latin typeface="Arial"/>
                          <a:ea typeface="Microsoft YaHei"/>
                        </a:rPr>
                        <a:t>What are you doing this weekend? / Do you have any plans?</a:t>
                      </a:r>
                    </a:p>
                  </a:txBody>
                  <a:tcPr anchor="ctr">
                    <a:solidFill>
                      <a:srgbClr val="FFFFFF"/>
                    </a:solidFill>
                  </a:tcPr>
                </a:tc>
              </a:tr>
              <a:tr h="408432">
                <a:tc>
                  <a:txBody>
                    <a:bodyPr wrap="square"/>
                    <a:lstStyle/>
                    <a:p>
                      <a:r>
                        <a:rPr sz="1600" b="1">
                          <a:solidFill>
                            <a:srgbClr val="1F2A44"/>
                          </a:solidFill>
                          <a:latin typeface="Arial"/>
                          <a:ea typeface="Microsoft YaHei"/>
                        </a:rPr>
                        <a:t>Intention</a:t>
                      </a:r>
                    </a:p>
                  </a:txBody>
                  <a:tcPr anchor="ctr">
                    <a:solidFill>
                      <a:srgbClr val="FFEFD9"/>
                    </a:solidFill>
                  </a:tcPr>
                </a:tc>
                <a:tc>
                  <a:txBody>
                    <a:bodyPr wrap="square"/>
                    <a:lstStyle/>
                    <a:p>
                      <a:r>
                        <a:rPr sz="1600" b="0">
                          <a:solidFill>
                            <a:srgbClr val="1F2A44"/>
                          </a:solidFill>
                          <a:latin typeface="Arial"/>
                          <a:ea typeface="Microsoft YaHei"/>
                        </a:rPr>
                        <a:t>I’m planning to… / I’m going to… / We’re hoping to…</a:t>
                      </a:r>
                    </a:p>
                  </a:txBody>
                  <a:tcPr anchor="ctr">
                    <a:solidFill>
                      <a:srgbClr val="FFEFD9"/>
                    </a:solidFill>
                  </a:tcPr>
                </a:tc>
              </a:tr>
              <a:tr h="652272">
                <a:tc>
                  <a:txBody>
                    <a:bodyPr wrap="square"/>
                    <a:lstStyle/>
                    <a:p>
                      <a:r>
                        <a:rPr sz="1600" b="1">
                          <a:solidFill>
                            <a:srgbClr val="1F2A44"/>
                          </a:solidFill>
                          <a:latin typeface="Arial"/>
                          <a:ea typeface="Microsoft YaHei"/>
                        </a:rPr>
                        <a:t>Idea</a:t>
                      </a:r>
                    </a:p>
                  </a:txBody>
                  <a:tcPr anchor="ctr">
                    <a:solidFill>
                      <a:srgbClr val="FFFFFF"/>
                    </a:solidFill>
                  </a:tcPr>
                </a:tc>
                <a:tc>
                  <a:txBody>
                    <a:bodyPr wrap="square"/>
                    <a:lstStyle/>
                    <a:p>
                      <a:r>
                        <a:rPr sz="1600" b="0">
                          <a:solidFill>
                            <a:srgbClr val="1F2A44"/>
                          </a:solidFill>
                          <a:latin typeface="Arial"/>
                          <a:ea typeface="Microsoft YaHei"/>
                        </a:rPr>
                        <a:t>I’m toying with the idea of… ★ / I’m thinking of -ing</a:t>
                      </a:r>
                    </a:p>
                  </a:txBody>
                  <a:tcPr anchor="ctr">
                    <a:solidFill>
                      <a:srgbClr val="FFFFFF"/>
                    </a:solidFill>
                  </a:tcPr>
                </a:tc>
              </a:tr>
              <a:tr h="652272">
                <a:tc>
                  <a:txBody>
                    <a:bodyPr wrap="square"/>
                    <a:lstStyle/>
                    <a:p>
                      <a:r>
                        <a:rPr sz="1600" b="1">
                          <a:solidFill>
                            <a:srgbClr val="1F2A44"/>
                          </a:solidFill>
                          <a:latin typeface="Arial"/>
                          <a:ea typeface="Microsoft YaHei"/>
                        </a:rPr>
                        <a:t>Arrangement</a:t>
                      </a:r>
                    </a:p>
                  </a:txBody>
                  <a:tcPr anchor="ctr">
                    <a:solidFill>
                      <a:srgbClr val="FFEFD9"/>
                    </a:solidFill>
                  </a:tcPr>
                </a:tc>
                <a:tc>
                  <a:txBody>
                    <a:bodyPr wrap="square"/>
                    <a:lstStyle/>
                    <a:p>
                      <a:r>
                        <a:rPr sz="1600" b="0">
                          <a:solidFill>
                            <a:srgbClr val="1F2A44"/>
                          </a:solidFill>
                          <a:latin typeface="Arial"/>
                          <a:ea typeface="Microsoft YaHei"/>
                        </a:rPr>
                        <a:t>I’m meeting a client on Friday. / We’re having lunch at noon.</a:t>
                      </a:r>
                    </a:p>
                  </a:txBody>
                  <a:tcPr anchor="ctr">
                    <a:solidFill>
                      <a:srgbClr val="FFEFD9"/>
                    </a:solidFill>
                  </a:tcPr>
                </a:tc>
              </a:tr>
            </a:tbl>
          </a:graphicData>
        </a:graphic>
      </p:graphicFrame>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Social language: plans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谈计划用语</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Tentative</a:t>
                      </a:r>
                    </a:p>
                  </a:txBody>
                  <a:tcPr anchor="ctr">
                    <a:solidFill>
                      <a:srgbClr val="FFFFFF"/>
                    </a:solidFill>
                  </a:tcPr>
                </a:tc>
                <a:tc>
                  <a:txBody>
                    <a:bodyPr wrap="square"/>
                    <a:lstStyle/>
                    <a:p>
                      <a:r>
                        <a:rPr sz="1600" b="0">
                          <a:solidFill>
                            <a:srgbClr val="1F2A44"/>
                          </a:solidFill>
                          <a:latin typeface="Arial"/>
                          <a:ea typeface="Microsoft YaHei"/>
                        </a:rPr>
                        <a:t>Let’s pencil in Friday. ★ / Nothing is set in stone. ★</a:t>
                      </a:r>
                    </a:p>
                  </a:txBody>
                  <a:tcPr anchor="ctr">
                    <a:solidFill>
                      <a:srgbClr val="FFFFFF"/>
                    </a:solidFill>
                  </a:tcPr>
                </a:tc>
              </a:tr>
              <a:tr h="408432">
                <a:tc>
                  <a:txBody>
                    <a:bodyPr wrap="square"/>
                    <a:lstStyle/>
                    <a:p>
                      <a:r>
                        <a:rPr sz="1600" b="1">
                          <a:solidFill>
                            <a:srgbClr val="1F2A44"/>
                          </a:solidFill>
                          <a:latin typeface="Arial"/>
                          <a:ea typeface="Microsoft YaHei"/>
                        </a:rPr>
                        <a:t>Condition</a:t>
                      </a:r>
                    </a:p>
                  </a:txBody>
                  <a:tcPr anchor="ctr">
                    <a:solidFill>
                      <a:srgbClr val="FFEFD9"/>
                    </a:solidFill>
                  </a:tcPr>
                </a:tc>
                <a:tc>
                  <a:txBody>
                    <a:bodyPr wrap="square"/>
                    <a:lstStyle/>
                    <a:p>
                      <a:r>
                        <a:rPr sz="1600" b="0">
                          <a:solidFill>
                            <a:srgbClr val="1F2A44"/>
                          </a:solidFill>
                          <a:latin typeface="Arial"/>
                          <a:ea typeface="Microsoft YaHei"/>
                        </a:rPr>
                        <a:t>It depends on… ★ / It’s subject to approval. ★</a:t>
                      </a:r>
                    </a:p>
                  </a:txBody>
                  <a:tcPr anchor="ctr">
                    <a:solidFill>
                      <a:srgbClr val="FFEFD9"/>
                    </a:solidFill>
                  </a:tcPr>
                </a:tc>
              </a:tr>
              <a:tr h="408432">
                <a:tc>
                  <a:txBody>
                    <a:bodyPr wrap="square"/>
                    <a:lstStyle/>
                    <a:p>
                      <a:r>
                        <a:rPr sz="1600" b="1">
                          <a:solidFill>
                            <a:srgbClr val="1F2A44"/>
                          </a:solidFill>
                          <a:latin typeface="Arial"/>
                          <a:ea typeface="Microsoft YaHei"/>
                        </a:rPr>
                        <a:t>Optimism</a:t>
                      </a:r>
                    </a:p>
                  </a:txBody>
                  <a:tcPr anchor="ctr">
                    <a:solidFill>
                      <a:srgbClr val="FFFFFF"/>
                    </a:solidFill>
                  </a:tcPr>
                </a:tc>
                <a:tc>
                  <a:txBody>
                    <a:bodyPr wrap="square"/>
                    <a:lstStyle/>
                    <a:p>
                      <a:r>
                        <a:rPr sz="1600" b="0">
                          <a:solidFill>
                            <a:srgbClr val="1F2A44"/>
                          </a:solidFill>
                          <a:latin typeface="Arial"/>
                          <a:ea typeface="Microsoft YaHei"/>
                        </a:rPr>
                        <a:t>If all goes well, … ★</a:t>
                      </a:r>
                    </a:p>
                  </a:txBody>
                  <a:tcPr anchor="ctr">
                    <a:solidFill>
                      <a:srgbClr val="FFFFFF"/>
                    </a:solidFill>
                  </a:tcPr>
                </a:tc>
              </a:tr>
              <a:tr h="408432">
                <a:tc>
                  <a:txBody>
                    <a:bodyPr wrap="square"/>
                    <a:lstStyle/>
                    <a:p>
                      <a:r>
                        <a:rPr sz="1600" b="1">
                          <a:solidFill>
                            <a:srgbClr val="1F2A44"/>
                          </a:solidFill>
                          <a:latin typeface="Arial"/>
                          <a:ea typeface="Microsoft YaHei"/>
                        </a:rPr>
                        <a:t>Flexibility</a:t>
                      </a:r>
                    </a:p>
                  </a:txBody>
                  <a:tcPr anchor="ctr">
                    <a:solidFill>
                      <a:srgbClr val="FFEFD9"/>
                    </a:solidFill>
                  </a:tcPr>
                </a:tc>
                <a:tc>
                  <a:txBody>
                    <a:bodyPr wrap="square"/>
                    <a:lstStyle/>
                    <a:p>
                      <a:r>
                        <a:rPr sz="1600" b="0">
                          <a:solidFill>
                            <a:srgbClr val="1F2A44"/>
                          </a:solidFill>
                          <a:latin typeface="Arial"/>
                          <a:ea typeface="Microsoft YaHei"/>
                        </a:rPr>
                        <a:t>We’ll play it by ear. ★ / Just in case, … ★</a:t>
                      </a:r>
                    </a:p>
                  </a:txBody>
                  <a:tcPr anchor="ctr">
                    <a:solidFill>
                      <a:srgbClr val="FFEFD9"/>
                    </a:solidFill>
                  </a:tcPr>
                </a:tc>
              </a:tr>
            </a:tbl>
          </a:graphicData>
        </a:graphic>
      </p:graphicFrame>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Future forms: which one?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未来时态怎么选</a:t>
            </a:r>
          </a:p>
        </p:txBody>
      </p:sp>
      <p:graphicFrame>
        <p:nvGraphicFramePr>
          <p:cNvPr id="9" name="Table 8"/>
          <p:cNvGraphicFramePr>
            <a:graphicFrameLocks noGrp="1"/>
          </p:cNvGraphicFramePr>
          <p:nvPr/>
        </p:nvGraphicFramePr>
        <p:xfrm>
          <a:off x="548640" y="1417320"/>
          <a:ext cx="11094415" cy="4078224"/>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Form</a:t>
                      </a:r>
                    </a:p>
                  </a:txBody>
                  <a:tcPr anchor="ctr">
                    <a:solidFill>
                      <a:srgbClr val="3CC49A"/>
                    </a:solidFill>
                  </a:tcPr>
                </a:tc>
                <a:tc>
                  <a:txBody>
                    <a:bodyPr wrap="square"/>
                    <a:lstStyle/>
                    <a:p>
                      <a:r>
                        <a:rPr sz="1600" b="1">
                          <a:solidFill>
                            <a:srgbClr val="FFFFFF"/>
                          </a:solidFill>
                          <a:latin typeface="Arial"/>
                          <a:ea typeface="Microsoft YaHei"/>
                        </a:rPr>
                        <a:t>Use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652272">
                <a:tc>
                  <a:txBody>
                    <a:bodyPr wrap="square"/>
                    <a:lstStyle/>
                    <a:p>
                      <a:r>
                        <a:rPr sz="1600" b="1">
                          <a:solidFill>
                            <a:srgbClr val="1F2A44"/>
                          </a:solidFill>
                          <a:latin typeface="Arial"/>
                          <a:ea typeface="Microsoft YaHei"/>
                        </a:rPr>
                        <a:t>will</a:t>
                      </a:r>
                    </a:p>
                  </a:txBody>
                  <a:tcPr anchor="ctr">
                    <a:solidFill>
                      <a:srgbClr val="FFFFFF"/>
                    </a:solidFill>
                  </a:tcPr>
                </a:tc>
                <a:tc>
                  <a:txBody>
                    <a:bodyPr wrap="square"/>
                    <a:lstStyle/>
                    <a:p>
                      <a:r>
                        <a:rPr sz="1600" b="0">
                          <a:solidFill>
                            <a:srgbClr val="1F2A44"/>
                          </a:solidFill>
                          <a:latin typeface="Arial"/>
                          <a:ea typeface="Microsoft YaHei"/>
                        </a:rPr>
                        <a:t>decision now; promise; prediction</a:t>
                      </a:r>
                    </a:p>
                  </a:txBody>
                  <a:tcPr anchor="ctr">
                    <a:solidFill>
                      <a:srgbClr val="FFFFFF"/>
                    </a:solidFill>
                  </a:tcPr>
                </a:tc>
                <a:tc>
                  <a:txBody>
                    <a:bodyPr wrap="square"/>
                    <a:lstStyle/>
                    <a:p>
                      <a:r>
                        <a:rPr sz="1600" b="0">
                          <a:solidFill>
                            <a:srgbClr val="1F2A44"/>
                          </a:solidFill>
                          <a:latin typeface="Arial"/>
                          <a:ea typeface="Microsoft YaHei"/>
                        </a:rPr>
                        <a:t>“I’ll send you the file now.”</a:t>
                      </a:r>
                    </a:p>
                  </a:txBody>
                  <a:tcPr anchor="ctr">
                    <a:solidFill>
                      <a:srgbClr val="FFFFFF"/>
                    </a:solidFill>
                  </a:tcPr>
                </a:tc>
              </a:tr>
              <a:tr h="652272">
                <a:tc>
                  <a:txBody>
                    <a:bodyPr wrap="square"/>
                    <a:lstStyle/>
                    <a:p>
                      <a:r>
                        <a:rPr sz="1600" b="1">
                          <a:solidFill>
                            <a:srgbClr val="1F2A44"/>
                          </a:solidFill>
                          <a:latin typeface="Arial"/>
                          <a:ea typeface="Microsoft YaHei"/>
                        </a:rPr>
                        <a:t>be going to</a:t>
                      </a:r>
                    </a:p>
                  </a:txBody>
                  <a:tcPr anchor="ctr">
                    <a:solidFill>
                      <a:srgbClr val="FFEFD9"/>
                    </a:solidFill>
                  </a:tcPr>
                </a:tc>
                <a:tc>
                  <a:txBody>
                    <a:bodyPr wrap="square"/>
                    <a:lstStyle/>
                    <a:p>
                      <a:r>
                        <a:rPr sz="1600" b="0">
                          <a:solidFill>
                            <a:srgbClr val="1F2A44"/>
                          </a:solidFill>
                          <a:latin typeface="Arial"/>
                          <a:ea typeface="Microsoft YaHei"/>
                        </a:rPr>
                        <a:t>plan you’ve already made; evidence</a:t>
                      </a:r>
                    </a:p>
                  </a:txBody>
                  <a:tcPr anchor="ctr">
                    <a:solidFill>
                      <a:srgbClr val="FFEFD9"/>
                    </a:solidFill>
                  </a:tcPr>
                </a:tc>
                <a:tc>
                  <a:txBody>
                    <a:bodyPr wrap="square"/>
                    <a:lstStyle/>
                    <a:p>
                      <a:r>
                        <a:rPr sz="1600" b="0">
                          <a:solidFill>
                            <a:srgbClr val="1F2A44"/>
                          </a:solidFill>
                          <a:latin typeface="Arial"/>
                          <a:ea typeface="Microsoft YaHei"/>
                        </a:rPr>
                        <a:t>“I’m going to visit Berlin next month.”</a:t>
                      </a:r>
                    </a:p>
                  </a:txBody>
                  <a:tcPr anchor="ctr">
                    <a:solidFill>
                      <a:srgbClr val="FFEFD9"/>
                    </a:solidFill>
                  </a:tcPr>
                </a:tc>
              </a:tr>
              <a:tr h="652272">
                <a:tc>
                  <a:txBody>
                    <a:bodyPr wrap="square"/>
                    <a:lstStyle/>
                    <a:p>
                      <a:r>
                        <a:rPr sz="1600" b="1">
                          <a:solidFill>
                            <a:srgbClr val="1F2A44"/>
                          </a:solidFill>
                          <a:latin typeface="Arial"/>
                          <a:ea typeface="Microsoft YaHei"/>
                        </a:rPr>
                        <a:t>present continuous</a:t>
                      </a:r>
                    </a:p>
                  </a:txBody>
                  <a:tcPr anchor="ctr">
                    <a:solidFill>
                      <a:srgbClr val="FFFFFF"/>
                    </a:solidFill>
                  </a:tcPr>
                </a:tc>
                <a:tc>
                  <a:txBody>
                    <a:bodyPr wrap="square"/>
                    <a:lstStyle/>
                    <a:p>
                      <a:r>
                        <a:rPr sz="1600" b="0">
                          <a:solidFill>
                            <a:srgbClr val="1F2A44"/>
                          </a:solidFill>
                          <a:latin typeface="Arial"/>
                          <a:ea typeface="Microsoft YaHei"/>
                        </a:rPr>
                        <a:t>fixed arrangement (time + place)</a:t>
                      </a:r>
                    </a:p>
                  </a:txBody>
                  <a:tcPr anchor="ctr">
                    <a:solidFill>
                      <a:srgbClr val="FFFFFF"/>
                    </a:solidFill>
                  </a:tcPr>
                </a:tc>
                <a:tc>
                  <a:txBody>
                    <a:bodyPr wrap="square"/>
                    <a:lstStyle/>
                    <a:p>
                      <a:r>
                        <a:rPr sz="1600" b="0">
                          <a:solidFill>
                            <a:srgbClr val="1F2A44"/>
                          </a:solidFill>
                          <a:latin typeface="Arial"/>
                          <a:ea typeface="Microsoft YaHei"/>
                        </a:rPr>
                        <a:t>“I’m meeting the client at 3 p.m. tomorrow.”</a:t>
                      </a:r>
                    </a:p>
                  </a:txBody>
                  <a:tcPr anchor="ctr">
                    <a:solidFill>
                      <a:srgbClr val="FFFFFF"/>
                    </a:solidFill>
                  </a:tcPr>
                </a:tc>
              </a:tr>
              <a:tr h="652272">
                <a:tc>
                  <a:txBody>
                    <a:bodyPr wrap="square"/>
                    <a:lstStyle/>
                    <a:p>
                      <a:r>
                        <a:rPr sz="1600" b="1">
                          <a:solidFill>
                            <a:srgbClr val="1F2A44"/>
                          </a:solidFill>
                          <a:latin typeface="Arial"/>
                          <a:ea typeface="Microsoft YaHei"/>
                        </a:rPr>
                        <a:t>hope to / plan to / aim to</a:t>
                      </a:r>
                    </a:p>
                  </a:txBody>
                  <a:tcPr anchor="ctr">
                    <a:solidFill>
                      <a:srgbClr val="FFEFD9"/>
                    </a:solidFill>
                  </a:tcPr>
                </a:tc>
                <a:tc>
                  <a:txBody>
                    <a:bodyPr wrap="square"/>
                    <a:lstStyle/>
                    <a:p>
                      <a:r>
                        <a:rPr sz="1600" b="0">
                          <a:solidFill>
                            <a:srgbClr val="1F2A44"/>
                          </a:solidFill>
                          <a:latin typeface="Arial"/>
                          <a:ea typeface="Microsoft YaHei"/>
                        </a:rPr>
                        <a:t>intention</a:t>
                      </a:r>
                    </a:p>
                  </a:txBody>
                  <a:tcPr anchor="ctr">
                    <a:solidFill>
                      <a:srgbClr val="FFEFD9"/>
                    </a:solidFill>
                  </a:tcPr>
                </a:tc>
                <a:tc>
                  <a:txBody>
                    <a:bodyPr wrap="square"/>
                    <a:lstStyle/>
                    <a:p>
                      <a:r>
                        <a:rPr sz="1600" b="0">
                          <a:solidFill>
                            <a:srgbClr val="1F2A44"/>
                          </a:solidFill>
                          <a:latin typeface="Arial"/>
                          <a:ea typeface="Microsoft YaHei"/>
                        </a:rPr>
                        <a:t>“We’re aiming to launch in March.”</a:t>
                      </a:r>
                    </a:p>
                  </a:txBody>
                  <a:tcPr anchor="ctr">
                    <a:solidFill>
                      <a:srgbClr val="FFEFD9"/>
                    </a:solidFill>
                  </a:tcPr>
                </a:tc>
              </a:tr>
              <a:tr h="408432">
                <a:tc>
                  <a:txBody>
                    <a:bodyPr wrap="square"/>
                    <a:lstStyle/>
                    <a:p>
                      <a:r>
                        <a:rPr sz="1600" b="1">
                          <a:solidFill>
                            <a:srgbClr val="1F2A44"/>
                          </a:solidFill>
                          <a:latin typeface="Arial"/>
                          <a:ea typeface="Microsoft YaHei"/>
                        </a:rPr>
                        <a:t>present simple</a:t>
                      </a:r>
                    </a:p>
                  </a:txBody>
                  <a:tcPr anchor="ctr">
                    <a:solidFill>
                      <a:srgbClr val="FFFFFF"/>
                    </a:solidFill>
                  </a:tcPr>
                </a:tc>
                <a:tc>
                  <a:txBody>
                    <a:bodyPr wrap="square"/>
                    <a:lstStyle/>
                    <a:p>
                      <a:r>
                        <a:rPr sz="1600" b="0">
                          <a:solidFill>
                            <a:srgbClr val="1F2A44"/>
                          </a:solidFill>
                          <a:latin typeface="Arial"/>
                          <a:ea typeface="Microsoft YaHei"/>
                        </a:rPr>
                        <a:t>timetable</a:t>
                      </a:r>
                    </a:p>
                  </a:txBody>
                  <a:tcPr anchor="ctr">
                    <a:solidFill>
                      <a:srgbClr val="FFFFFF"/>
                    </a:solidFill>
                  </a:tcPr>
                </a:tc>
                <a:tc>
                  <a:txBody>
                    <a:bodyPr wrap="square"/>
                    <a:lstStyle/>
                    <a:p>
                      <a:r>
                        <a:rPr sz="1600" b="0">
                          <a:solidFill>
                            <a:srgbClr val="1F2A44"/>
                          </a:solidFill>
                          <a:latin typeface="Arial"/>
                          <a:ea typeface="Microsoft YaHei"/>
                        </a:rPr>
                        <a:t>“The train leaves at 7:15.”</a:t>
                      </a:r>
                    </a:p>
                  </a:txBody>
                  <a:tcPr anchor="ctr">
                    <a:solidFill>
                      <a:srgbClr val="FFFFFF"/>
                    </a:solidFill>
                  </a:tcPr>
                </a:tc>
              </a:tr>
              <a:tr h="652272">
                <a:tc>
                  <a:txBody>
                    <a:bodyPr wrap="square"/>
                    <a:lstStyle/>
                    <a:p>
                      <a:r>
                        <a:rPr sz="1600" b="1">
                          <a:solidFill>
                            <a:srgbClr val="1F2A44"/>
                          </a:solidFill>
                          <a:latin typeface="Arial"/>
                          <a:ea typeface="Microsoft YaHei"/>
                        </a:rPr>
                        <a:t>might / may</a:t>
                      </a:r>
                    </a:p>
                  </a:txBody>
                  <a:tcPr anchor="ctr">
                    <a:solidFill>
                      <a:srgbClr val="FFEFD9"/>
                    </a:solidFill>
                  </a:tcPr>
                </a:tc>
                <a:tc>
                  <a:txBody>
                    <a:bodyPr wrap="square"/>
                    <a:lstStyle/>
                    <a:p>
                      <a:r>
                        <a:rPr sz="1600" b="0">
                          <a:solidFill>
                            <a:srgbClr val="1F2A44"/>
                          </a:solidFill>
                          <a:latin typeface="Arial"/>
                          <a:ea typeface="Microsoft YaHei"/>
                        </a:rPr>
                        <a:t>possibility</a:t>
                      </a:r>
                    </a:p>
                  </a:txBody>
                  <a:tcPr anchor="ctr">
                    <a:solidFill>
                      <a:srgbClr val="FFEFD9"/>
                    </a:solidFill>
                  </a:tcPr>
                </a:tc>
                <a:tc>
                  <a:txBody>
                    <a:bodyPr wrap="square"/>
                    <a:lstStyle/>
                    <a:p>
                      <a:r>
                        <a:rPr sz="1600" b="0">
                          <a:solidFill>
                            <a:srgbClr val="1F2A44"/>
                          </a:solidFill>
                          <a:latin typeface="Arial"/>
                          <a:ea typeface="Microsoft YaHei"/>
                        </a:rPr>
                        <a:t>“I might go hiking, if it doesn’t rain.”</a:t>
                      </a:r>
                    </a:p>
                  </a:txBody>
                  <a:tcPr anchor="ctr">
                    <a:solidFill>
                      <a:srgbClr val="FFEFD9"/>
                    </a:solidFill>
                  </a:tcPr>
                </a:tc>
              </a:tr>
            </a:tbl>
          </a:graphicData>
        </a:graphic>
      </p:graphicFrame>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Future forms: which one?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未来时态怎么选</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After if / when / as soon as / before: </a:t>
            </a:r>
            <a:r>
              <a:rPr sz="1700" b="0">
                <a:solidFill>
                  <a:srgbClr val="1F2A44"/>
                </a:solidFill>
                <a:latin typeface="Arial"/>
                <a:ea typeface="Microsoft YaHei"/>
              </a:rPr>
              <a:t>use the present simple for the future: “If all goes well, we’ll finish.” (not “If all will go well”)</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Hope vs wish: </a:t>
            </a:r>
            <a:r>
              <a:rPr sz="1700" b="0">
                <a:solidFill>
                  <a:srgbClr val="1F2A44"/>
                </a:solidFill>
                <a:latin typeface="Arial"/>
                <a:ea typeface="Microsoft YaHei"/>
              </a:rPr>
              <a:t>“I hope it goes well.” (real) vs “I wish it were cheaper.” (unreal)</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Reasons and conditions: </a:t>
            </a:r>
            <a:r>
              <a:rPr sz="1700" b="0">
                <a:solidFill>
                  <a:srgbClr val="1F2A44"/>
                </a:solidFill>
                <a:latin typeface="Arial"/>
                <a:ea typeface="Microsoft YaHei"/>
              </a:rPr>
              <a:t>because, so, depending on, as long as, unless.</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go hiking this weekend. (already planned)</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going to go hiking this weekend. / I’m planning to go hiking.</a:t>
            </a:r>
          </a:p>
          <a:p>
            <a:pPr algn="l">
              <a:spcAft>
                <a:spcPts val="200"/>
              </a:spcAft>
            </a:pPr>
            <a:r>
              <a:rPr sz="1200" b="0">
                <a:solidFill>
                  <a:srgbClr val="FFFFFF"/>
                </a:solidFill>
                <a:latin typeface="Arial"/>
                <a:ea typeface="Microsoft YaHei"/>
              </a:rPr>
              <a:t>已有计划:be going to</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If it will rain, I’ll stay home.</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If it rains, I’ll stay home.</a:t>
            </a:r>
          </a:p>
          <a:p>
            <a:pPr algn="l">
              <a:spcAft>
                <a:spcPts val="200"/>
              </a:spcAft>
            </a:pPr>
            <a:r>
              <a:rPr sz="1200" b="0">
                <a:solidFill>
                  <a:srgbClr val="FFFFFF"/>
                </a:solidFill>
                <a:latin typeface="Arial"/>
                <a:ea typeface="Microsoft YaHei"/>
              </a:rPr>
              <a:t>if 从句用现在时</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meeting him sometime, maybe. (not fixed)</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hoping to meet him. / I might meet him.</a:t>
            </a:r>
          </a:p>
          <a:p>
            <a:pPr algn="l">
              <a:spcAft>
                <a:spcPts val="200"/>
              </a:spcAft>
            </a:pPr>
            <a:r>
              <a:rPr sz="1200" b="0">
                <a:solidFill>
                  <a:srgbClr val="FFFFFF"/>
                </a:solidFill>
                <a:latin typeface="Arial"/>
                <a:ea typeface="Microsoft YaHei"/>
              </a:rPr>
              <a:t>没定的事不用现在进行时</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plan to going to Beijing.</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plan to go / I’m planning to go to Beijing.</a:t>
            </a:r>
          </a:p>
          <a:p>
            <a:pPr algn="l">
              <a:spcAft>
                <a:spcPts val="200"/>
              </a:spcAft>
            </a:pPr>
            <a:r>
              <a:rPr sz="1200" b="0">
                <a:solidFill>
                  <a:srgbClr val="FFFFFF"/>
                </a:solidFill>
                <a:latin typeface="Arial"/>
                <a:ea typeface="Microsoft YaHei"/>
              </a:rPr>
              <a:t>plan to + 原形</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thinking to change my job.</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thinking of changing my job.</a:t>
            </a:r>
          </a:p>
          <a:p>
            <a:pPr algn="l">
              <a:spcAft>
                <a:spcPts val="200"/>
              </a:spcAft>
            </a:pPr>
            <a:r>
              <a:rPr sz="1200" b="0">
                <a:solidFill>
                  <a:srgbClr val="FFFFFF"/>
                </a:solidFill>
                <a:latin typeface="Arial"/>
                <a:ea typeface="Microsoft YaHei"/>
              </a:rPr>
              <a:t>think of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hope to can finish by Friday.</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hope to finish by Friday. / I hope I can finish by Friday.</a:t>
            </a:r>
          </a:p>
          <a:p>
            <a:pPr algn="l">
              <a:spcAft>
                <a:spcPts val="200"/>
              </a:spcAft>
            </a:pPr>
            <a:r>
              <a:rPr sz="1200" b="0">
                <a:solidFill>
                  <a:srgbClr val="FFFFFF"/>
                </a:solidFill>
                <a:latin typeface="Arial"/>
                <a:ea typeface="Microsoft YaHei"/>
              </a:rPr>
              <a:t>不用 to can</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Next week I go to Shanghai. (only a plan)</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Next week I’m going to Shanghai.</a:t>
            </a:r>
          </a:p>
          <a:p>
            <a:pPr algn="l">
              <a:spcAft>
                <a:spcPts val="200"/>
              </a:spcAft>
            </a:pPr>
            <a:r>
              <a:rPr sz="1200" b="0">
                <a:solidFill>
                  <a:srgbClr val="FFFFFF"/>
                </a:solidFill>
                <a:latin typeface="Arial"/>
                <a:ea typeface="Microsoft YaHei"/>
              </a:rPr>
              <a:t>用 be going to</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will to meet at 5.</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We’ll meet at 5.</a:t>
            </a:r>
          </a:p>
          <a:p>
            <a:pPr algn="l">
              <a:spcAft>
                <a:spcPts val="200"/>
              </a:spcAft>
            </a:pPr>
            <a:r>
              <a:rPr sz="1200" b="0">
                <a:solidFill>
                  <a:srgbClr val="FFFFFF"/>
                </a:solidFill>
                <a:latin typeface="Arial"/>
                <a:ea typeface="Microsoft YaHei"/>
              </a:rPr>
              <a:t>will 后不加 to</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Have you any plan?</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Do you have any plans?</a:t>
            </a:r>
          </a:p>
          <a:p>
            <a:pPr algn="l">
              <a:spcAft>
                <a:spcPts val="200"/>
              </a:spcAft>
            </a:pPr>
            <a:r>
              <a:rPr sz="1200" b="0">
                <a:solidFill>
                  <a:srgbClr val="FFFFFF"/>
                </a:solidFill>
                <a:latin typeface="Arial"/>
                <a:ea typeface="Microsoft YaHei"/>
              </a:rPr>
              <a:t>plans 通常用复数</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pland / planing</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planned / planning</a:t>
            </a:r>
          </a:p>
          <a:p>
            <a:pPr algn="l">
              <a:spcAft>
                <a:spcPts val="200"/>
              </a:spcAft>
            </a:pPr>
            <a:r>
              <a:rPr sz="1200" b="0">
                <a:solidFill>
                  <a:srgbClr val="FFFFFF"/>
                </a:solidFill>
                <a:latin typeface="Arial"/>
                <a:ea typeface="Microsoft YaHei"/>
              </a:rPr>
              <a:t>拼写</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if + present (not “if it will rain”), plan to + base verb, think of + -ing, hope to + base verb. Planning has double 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Weekends are private. Asking “What are you doing at the weekend?” is common small talk, but people may not want to give details. Don’t ask follow-up questions that sound too personal.</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Agree plans in writing. After a chat, “Let’s pencil in lunch on Wednesday” should be followed by a calendar invite.</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0">
                <a:solidFill>
                  <a:srgbClr val="1F2A44"/>
                </a:solidFill>
                <a:latin typeface="Arial"/>
                <a:ea typeface="Microsoft YaHei"/>
              </a:rPr>
              <a:t>Be clear about how firm a plan is. “Definitely”, “probably”, “might” show certainty. Using the wrong one can cause misunderstanding.</a:t>
            </a:r>
          </a:p>
        </p:txBody>
      </p:sp>
      <p:sp>
        <p:nvSpPr>
          <p:cNvPr id="18" name="Rounded Rectangle 17"/>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701039"/>
          </a:xfrm>
          <a:prstGeom prst="rect">
            <a:avLst/>
          </a:prstGeom>
          <a:noFill/>
        </p:spPr>
        <p:txBody>
          <a:bodyPr wrap="square" anchor="ctr">
            <a:spAutoFit/>
          </a:bodyPr>
          <a:lstStyle/>
          <a:p>
            <a:r>
              <a:rPr sz="1700" b="0">
                <a:solidFill>
                  <a:srgbClr val="1F2A44"/>
                </a:solidFill>
                <a:latin typeface="Arial"/>
                <a:ea typeface="Microsoft YaHei"/>
              </a:rPr>
              <a:t>“Sometime” is vague. “Let’s get together sometime” may never happen. Add a date: “How about next Thursday?”</a:t>
            </a:r>
          </a:p>
        </p:txBody>
      </p:sp>
      <p:sp>
        <p:nvSpPr>
          <p:cNvPr id="21" name="Rounded Rectangle 20"/>
          <p:cNvSpPr/>
          <p:nvPr/>
        </p:nvSpPr>
        <p:spPr>
          <a:xfrm>
            <a:off x="548640" y="458723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58723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587236"/>
            <a:ext cx="10728655" cy="701039"/>
          </a:xfrm>
          <a:prstGeom prst="rect">
            <a:avLst/>
          </a:prstGeom>
          <a:noFill/>
        </p:spPr>
        <p:txBody>
          <a:bodyPr wrap="square" anchor="ctr">
            <a:spAutoFit/>
          </a:bodyPr>
          <a:lstStyle/>
          <a:p>
            <a:r>
              <a:rPr sz="1700" b="1">
                <a:solidFill>
                  <a:srgbClr val="9B6BE0"/>
                </a:solidFill>
                <a:latin typeface="Arial"/>
                <a:ea typeface="Microsoft YaHei"/>
              </a:rPr>
              <a:t>Long-term plans: </a:t>
            </a:r>
            <a:r>
              <a:rPr sz="1700" b="0">
                <a:solidFill>
                  <a:srgbClr val="1F2A44"/>
                </a:solidFill>
                <a:latin typeface="Arial"/>
                <a:ea typeface="Microsoft YaHei"/>
              </a:rPr>
              <a:t>Western managers like SMART goals: Specific, Measurable, Achievable, Relevant, Time-bound.</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plans using be going to, present continuous, planning to and hoping to.</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make tentative arrangements (Let’s pencil in… It’s subject to… It depends on…).</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 project plan with steps, dates and a Plan B.</a:t>
            </a:r>
          </a:p>
        </p:txBody>
      </p:sp>
      <p:sp>
        <p:nvSpPr>
          <p:cNvPr id="20" name="TextBox 19"/>
          <p:cNvSpPr txBox="1"/>
          <p:nvPr/>
        </p:nvSpPr>
        <p:spPr>
          <a:xfrm>
            <a:off x="9539935" y="33131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if all goes well, play it by ear and just in case.</a:t>
            </a:r>
          </a:p>
        </p:txBody>
      </p:sp>
      <p:sp>
        <p:nvSpPr>
          <p:cNvPr id="24" name="TextBox 23"/>
          <p:cNvSpPr txBox="1"/>
          <p:nvPr/>
        </p:nvSpPr>
        <p:spPr>
          <a:xfrm>
            <a:off x="9539935" y="39105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07992"/>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07992"/>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07992"/>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avoid if it will, plan to going and thinking to.</a:t>
            </a:r>
          </a:p>
        </p:txBody>
      </p:sp>
      <p:sp>
        <p:nvSpPr>
          <p:cNvPr id="28" name="TextBox 27"/>
          <p:cNvSpPr txBox="1"/>
          <p:nvPr/>
        </p:nvSpPr>
        <p:spPr>
          <a:xfrm>
            <a:off x="9539935" y="4507992"/>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40 Plans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98755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98755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future forms (going to / present continuous / will), if + present simple, plan to + base verb, think of + -ing.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10 · Lesson 41 A change of plan</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113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A change of plan</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计划更改</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tell people about a change of plan and respond to one: give a short reason, apologize, suggest alternatives, ask about others’ availability, reschedule or cancel, and keep everyone informed.</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7734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4864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When was the last time a plan changed at the last minute? What happened?</a:t>
            </a:r>
          </a:p>
        </p:txBody>
      </p:sp>
      <p:sp>
        <p:nvSpPr>
          <p:cNvPr id="12" name="Oval 11"/>
          <p:cNvSpPr/>
          <p:nvPr/>
        </p:nvSpPr>
        <p:spPr>
          <a:xfrm>
            <a:off x="548640" y="223570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12848"/>
            <a:ext cx="10408615"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12848"/>
            <a:ext cx="10180015" cy="54864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How do you tell someone that you must change or cancel an arrangement?</a:t>
            </a:r>
          </a:p>
        </p:txBody>
      </p:sp>
      <p:sp>
        <p:nvSpPr>
          <p:cNvPr id="15" name="Oval 14"/>
          <p:cNvSpPr/>
          <p:nvPr/>
        </p:nvSpPr>
        <p:spPr>
          <a:xfrm>
            <a:off x="548640" y="28940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871216"/>
            <a:ext cx="10408615"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871216"/>
            <a:ext cx="10180015" cy="54864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What is your reaction when a colleague changes the plan at the last minute?</a:t>
            </a:r>
          </a:p>
        </p:txBody>
      </p:sp>
      <p:sp>
        <p:nvSpPr>
          <p:cNvPr id="18" name="Oval 17"/>
          <p:cNvSpPr/>
          <p:nvPr/>
        </p:nvSpPr>
        <p:spPr>
          <a:xfrm>
            <a:off x="548640" y="355244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529584"/>
            <a:ext cx="10408615"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529584"/>
            <a:ext cx="10180015" cy="54864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Tell me about a time you had to change your travel plans. What did you do?</a:t>
            </a:r>
          </a:p>
        </p:txBody>
      </p:sp>
      <p:sp>
        <p:nvSpPr>
          <p:cNvPr id="21" name="Oval 20"/>
          <p:cNvSpPr/>
          <p:nvPr/>
        </p:nvSpPr>
        <p:spPr>
          <a:xfrm>
            <a:off x="548640" y="421081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187952"/>
            <a:ext cx="10408615"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187952"/>
            <a:ext cx="10180015" cy="54864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Who should you inform when a meeting is moved or cancelled?</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1、4 题讲过去的事,请用过去式(changed, cancelled, missed)。第 2 题可以说 “I explain the reason and…”。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Tell a client you must change the date of a visit and suggest a new plan.</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apologize</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give a short reason</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suggest alternatives</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ask if they are free</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confirm the new plan</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I’m afraid there’s been a change of plan.   💬 Something has come up.   💬 Would it be possible to…?   💬 How about…?</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通知变更先说抱歉,再给简短原因,然后给出替代方案。理由不用太长:Something urgent has come up。</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Announcing a change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通知更改</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afraid there’s been a change of plan.</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恐怕计划有变</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afraid there’s been a change of plan.”</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Something has come up.</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临时有事</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sorry, something has come up and I can’t make it.”</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We’ll have to postpone / reschedule / cancel.</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我们得推迟/改期/取消</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have to postpone the meeting until next week.”</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1: Announcing a change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通知更改</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I’m sorry for the short notice.</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抱歉通知得太晚</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sorry for the short notice.”</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plan has fallen through.</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计划落空了</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deal has fallen through.”</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Suggesting alternatives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提出替代方案</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Would it be possible to move it to…?</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是否可以改到……?</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“Would it be possible to move it to Thursday?”</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we make it a day earlier / later?</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能否提前/推迟一天?</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we make it a day later?”</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How about doing it online instead?</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改成线上怎么样?</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“How about doing it online instead?”</a:t>
            </a:r>
          </a:p>
        </p:txBody>
      </p:sp>
      <p:sp>
        <p:nvSpPr>
          <p:cNvPr id="24" name="Rounded Rectangle 23"/>
          <p:cNvSpPr/>
          <p:nvPr/>
        </p:nvSpPr>
        <p:spPr>
          <a:xfrm>
            <a:off x="548640" y="44424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424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4881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Let’s go with Plan B.</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4881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我们就用备用方案</a:t>
            </a:r>
          </a:p>
        </p:txBody>
      </p:sp>
      <p:sp>
        <p:nvSpPr>
          <p:cNvPr id="28" name="TextBox 27"/>
          <p:cNvSpPr txBox="1"/>
          <p:nvPr/>
        </p:nvSpPr>
        <p:spPr>
          <a:xfrm>
            <a:off x="6675120" y="44881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go with Plan B and meet at the office.”</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Do you have any other availability?</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你还有其他空闲时间吗?</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 you have any other availability next week?”</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Responding to a change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回应变更</a:t>
            </a:r>
          </a:p>
        </p:txBody>
      </p:sp>
      <p:sp>
        <p:nvSpPr>
          <p:cNvPr id="9" name="Rounded Rectangle 8"/>
          <p:cNvSpPr/>
          <p:nvPr/>
        </p:nvSpPr>
        <p:spPr>
          <a:xfrm>
            <a:off x="548640" y="141732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12400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11760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That’s not a problem. Thanks for letting me know.</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没问题,谢谢你告诉我</a:t>
            </a:r>
          </a:p>
        </p:txBody>
      </p:sp>
      <p:sp>
        <p:nvSpPr>
          <p:cNvPr id="13" name="TextBox 12"/>
          <p:cNvSpPr txBox="1"/>
          <p:nvPr/>
        </p:nvSpPr>
        <p:spPr>
          <a:xfrm>
            <a:off x="6675120" y="146304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“That’s not a problem. Thanks for letting me know.”</a:t>
            </a:r>
          </a:p>
        </p:txBody>
      </p:sp>
      <p:sp>
        <p:nvSpPr>
          <p:cNvPr id="14" name="Rounded Rectangle 13"/>
          <p:cNvSpPr/>
          <p:nvPr/>
        </p:nvSpPr>
        <p:spPr>
          <a:xfrm>
            <a:off x="548640" y="27305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305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762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I’m afraid that doesn’t work for me.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7762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恐怕这个时间我不行</a:t>
            </a:r>
          </a:p>
        </p:txBody>
      </p:sp>
      <p:sp>
        <p:nvSpPr>
          <p:cNvPr id="18" name="TextBox 17"/>
          <p:cNvSpPr txBox="1"/>
          <p:nvPr/>
        </p:nvSpPr>
        <p:spPr>
          <a:xfrm>
            <a:off x="6675120" y="27762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afraid that doesn’t work for me.”</a:t>
            </a:r>
          </a:p>
        </p:txBody>
      </p:sp>
      <p:sp>
        <p:nvSpPr>
          <p:cNvPr id="19" name="Rounded Rectangle 18"/>
          <p:cNvSpPr/>
          <p:nvPr/>
        </p:nvSpPr>
        <p:spPr>
          <a:xfrm>
            <a:off x="548640" y="37388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7388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7846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Could we call it off?</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37846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我们可以取消吗?</a:t>
            </a:r>
          </a:p>
        </p:txBody>
      </p:sp>
      <p:sp>
        <p:nvSpPr>
          <p:cNvPr id="23" name="TextBox 22"/>
          <p:cNvSpPr txBox="1"/>
          <p:nvPr/>
        </p:nvSpPr>
        <p:spPr>
          <a:xfrm>
            <a:off x="6675120" y="37846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we call it off and meet next month?”</a:t>
            </a:r>
          </a:p>
        </p:txBody>
      </p:sp>
      <p:sp>
        <p:nvSpPr>
          <p:cNvPr id="24" name="Rounded Rectangle 23"/>
          <p:cNvSpPr/>
          <p:nvPr/>
        </p:nvSpPr>
        <p:spPr>
          <a:xfrm>
            <a:off x="548640" y="44424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424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4881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 that case, …</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4881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那样的话,……</a:t>
            </a:r>
          </a:p>
        </p:txBody>
      </p:sp>
      <p:sp>
        <p:nvSpPr>
          <p:cNvPr id="28" name="TextBox 27"/>
          <p:cNvSpPr txBox="1"/>
          <p:nvPr/>
        </p:nvSpPr>
        <p:spPr>
          <a:xfrm>
            <a:off x="6675120" y="44881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 that case, let’s meet on Friday.”</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Let’s keep everyone in the loop.</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我们让所有人都知情</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keep everyone in the loop.”</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我们可以取消吗?</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we call it off?</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改成线上怎么样?</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How about doing it online instead?</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我们就用备用方案</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Let’s go with Plan B.</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我们让所有人都知情</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Let’s keep everyone in the loop.</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你还有其他空闲时间吗?</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Do you have any other availability?</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我们得推迟/改期/取消</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We’ll have to postpone / reschedule / cancel.</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计划落空了</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plan has fallen through.</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恐怕这个时间我不行</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I’m afraid that doesn’t work for 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notice</a:t>
            </a:r>
          </a:p>
        </p:txBody>
      </p:sp>
      <p:sp>
        <p:nvSpPr>
          <p:cNvPr id="10" name="Rounded Rectangle 9"/>
          <p:cNvSpPr/>
          <p:nvPr/>
        </p:nvSpPr>
        <p:spPr>
          <a:xfrm>
            <a:off x="3127248" y="987552"/>
            <a:ext cx="80467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loop</a:t>
            </a:r>
          </a:p>
        </p:txBody>
      </p:sp>
      <p:sp>
        <p:nvSpPr>
          <p:cNvPr id="11" name="Rounded Rectangle 10"/>
          <p:cNvSpPr/>
          <p:nvPr/>
        </p:nvSpPr>
        <p:spPr>
          <a:xfrm>
            <a:off x="4023360" y="987552"/>
            <a:ext cx="80467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plan</a:t>
            </a:r>
          </a:p>
        </p:txBody>
      </p:sp>
      <p:sp>
        <p:nvSpPr>
          <p:cNvPr id="12" name="Rounded Rectangle 11"/>
          <p:cNvSpPr/>
          <p:nvPr/>
        </p:nvSpPr>
        <p:spPr>
          <a:xfrm>
            <a:off x="4919472" y="987552"/>
            <a:ext cx="58521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up</a:t>
            </a:r>
          </a:p>
        </p:txBody>
      </p:sp>
      <p:sp>
        <p:nvSpPr>
          <p:cNvPr id="13" name="Rounded Rectangle 12"/>
          <p:cNvSpPr/>
          <p:nvPr/>
        </p:nvSpPr>
        <p:spPr>
          <a:xfrm>
            <a:off x="5596128"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possible</a:t>
            </a:r>
          </a:p>
        </p:txBody>
      </p:sp>
      <p:sp>
        <p:nvSpPr>
          <p:cNvPr id="14" name="Rounded Rectangle 13"/>
          <p:cNvSpPr/>
          <p:nvPr/>
        </p:nvSpPr>
        <p:spPr>
          <a:xfrm>
            <a:off x="6931152" y="987552"/>
            <a:ext cx="1682495"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availability</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I’m afraid there’s been a change of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plan</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I’m sorry, something has come _______ and I can’t make it.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up</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Would it be _______ to move it to Thursday?</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possible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Do you have any other _______ next week?</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availability</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I’m sorry for the short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notice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Let’s keep everyone in the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loop</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搭配与拼写): postpone (to a later time; not “delay” for events), cancel (UK: cancelled, double l), availability, notice. Change of plan (noun phrase), change the plan (verb). Come up = happen unexpectedly.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Telling a client about a change of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通知客户计划变更</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must change the date of your visit to a client. You phone to explain and suggest a new plan.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visitor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Anders, client</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Telling a client about a change of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Mr Anders. I’m afraid I have some bad news. There’s been a change of plan.</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Anders</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Oh? What’s happened?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Something urgent has come up with another customer. I won’t be able to visit you on Tuesday. I’m so sorry for the short notice.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That’s disappointing, but I understand. Could you come on another day?</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Would it be possible to move the visit to Thursday? Or I could do next Monday.</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Telling a client about a change of plan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Thursday doesn’t work for me. I’m at a conference. Monday would be fine.</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Could we make it ten o’clock?</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Ten is fine. Do you still need the tour of the factory?</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if that’s possible. If not, we’ll go with Plan B and have the meeting in the office.</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check and let you know by Friday.</a:t>
            </a:r>
          </a:p>
        </p:txBody>
      </p:sp>
      <p:sp>
        <p:nvSpPr>
          <p:cNvPr id="23" name="Rounded Rectangle 22"/>
          <p:cNvSpPr/>
          <p:nvPr/>
        </p:nvSpPr>
        <p:spPr>
          <a:xfrm>
            <a:off x="548640" y="481584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4" name="TextBox 23"/>
          <p:cNvSpPr txBox="1"/>
          <p:nvPr/>
        </p:nvSpPr>
        <p:spPr>
          <a:xfrm>
            <a:off x="274320"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1463040" y="481584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being so understanding.</a:t>
            </a:r>
          </a:p>
        </p:txBody>
      </p:sp>
      <p:sp>
        <p:nvSpPr>
          <p:cNvPr id="26" name="Rounded Rectangle 25"/>
          <p:cNvSpPr/>
          <p:nvPr/>
        </p:nvSpPr>
        <p:spPr>
          <a:xfrm>
            <a:off x="10911535" y="53980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7" name="TextBox 26"/>
          <p:cNvSpPr txBox="1"/>
          <p:nvPr/>
        </p:nvSpPr>
        <p:spPr>
          <a:xfrm>
            <a:off x="10637215" y="58369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2133295" y="53980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at all. Thanks for letting me know.</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Telling a client about a change of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need to change a visit or meeting with a client.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Caller. Apologize, give a short reason, offer two alternatives.</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Disappointed but flexible. Prefers one of the dates.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afraid there’s been a change of plan. · Something has come up. · short notice · Would it be possible to…? · Thanks for letting me know.</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Agree a new date and time in 90 seconds, and say how you will confirm.</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client cannot change the date. Say: “In that case, how about a video call on Tuesday instead?”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must cancel completely. Say: “I’m afraid we have to call this off, but I’d like to reschedule in the spring.”</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Confirm in writing: “I’ll send an email to confirm the new plan.”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Role Play · A colleague changes the plan on you</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同事临时改变计划</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colleague tells you at the last minute that she can’t come to the airport pick-up. You respond.</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Sophie Zhou, colleague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Li Wei, you</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colleague changes the plan on you</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Sophie</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Li Wei, I’m sorry, but there’s been a change of plan. I can’t go to the airport tomorrow. Something has come up.</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Oh, I see. What time was the flight?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lands at seven in the morning. I was going to pick up Mr Reed.</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quite early. Can you ask someone else?</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asked Dan, but he’s busy. Would you be able to go?</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afraid seven doesn’t work for me. I have a call at eight, and I’ll still be in traffic.</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colleague changes the plan on you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What if we arrange a taxi for him and meet him at the hotel instead?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good idea. In that case, I’ll book a taxi now and send him the details.</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Let’s make sure we keep everyone in the loop.</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I’ll email Mr Reed and cc you.</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really sorry for the short notice.</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Don’t worry. These things happen. We’ll sort it out.</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Your Turn · A colleague changes the plan on you</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Your plan changes at short notice and you must adapt.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(B)</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Stay positive. Find an alternative plan quickly.</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(A)</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Apologizes and asks for help.</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afraid that doesn’t work for me. · What if we…? · In that case, … · keep everyone in the loop · We’ll sort it out.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Agree on Plan B and who tells the guest.</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are annoyed. Stay polite: “That’s a bit inconvenient, but let’s see what we can do.”</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no: “I’m afraid I can’t help this time, but I can take over the hotel booking.”</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Send a three-line update email.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feel when someone changes plans at the last minute?</a:t>
            </a:r>
          </a:p>
          <a:p>
            <a:pPr algn="l">
              <a:lnSpc>
                <a:spcPct val="115000"/>
              </a:lnSpc>
              <a:spcAft>
                <a:spcPts val="800"/>
              </a:spcAft>
            </a:pPr>
            <a:r>
              <a:rPr sz="1400" b="0">
                <a:solidFill>
                  <a:srgbClr val="5F677A"/>
                </a:solidFill>
                <a:latin typeface="Arial"/>
                <a:ea typeface="Microsoft YaHei"/>
              </a:rPr>
              <a:t>💬 “I feel… because…” / “It depends on the reason.”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a good reason to change a plan? What is a bad reason?</a:t>
            </a:r>
          </a:p>
          <a:p>
            <a:pPr algn="l">
              <a:lnSpc>
                <a:spcPct val="115000"/>
              </a:lnSpc>
              <a:spcAft>
                <a:spcPts val="800"/>
              </a:spcAft>
            </a:pPr>
            <a:r>
              <a:rPr sz="1400" b="0">
                <a:solidFill>
                  <a:srgbClr val="5F677A"/>
                </a:solidFill>
                <a:latin typeface="Arial"/>
                <a:ea typeface="Microsoft YaHei"/>
              </a:rPr>
              <a:t>💬 “A good reason is… A bad reason is…” / “People should be honest about the real reason.”</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tell a client that you have to cancel?</a:t>
            </a:r>
          </a:p>
          <a:p>
            <a:pPr algn="l">
              <a:lnSpc>
                <a:spcPct val="115000"/>
              </a:lnSpc>
              <a:spcAft>
                <a:spcPts val="800"/>
              </a:spcAft>
            </a:pPr>
            <a:r>
              <a:rPr sz="1400" b="0">
                <a:solidFill>
                  <a:srgbClr val="5F677A"/>
                </a:solidFill>
                <a:latin typeface="Arial"/>
                <a:ea typeface="Microsoft YaHei"/>
              </a:rPr>
              <a:t>💬 “I phone first, then send an email.” / “I say sorry and offer a new date.”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should a company do when a big event is cancelled?</a:t>
            </a:r>
          </a:p>
          <a:p>
            <a:pPr algn="l">
              <a:lnSpc>
                <a:spcPct val="115000"/>
              </a:lnSpc>
              <a:spcAft>
                <a:spcPts val="800"/>
              </a:spcAft>
            </a:pPr>
            <a:r>
              <a:rPr sz="1400" b="0">
                <a:solidFill>
                  <a:srgbClr val="5F677A"/>
                </a:solidFill>
                <a:latin typeface="Arial"/>
                <a:ea typeface="Microsoft YaHei"/>
              </a:rPr>
              <a:t>💬 “They should inform everyone quickly.” / “They could offer a refund or a new date.”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stay flexible when your schedule changes often?</a:t>
            </a:r>
          </a:p>
          <a:p>
            <a:pPr algn="l">
              <a:lnSpc>
                <a:spcPct val="115000"/>
              </a:lnSpc>
              <a:spcAft>
                <a:spcPts val="800"/>
              </a:spcAft>
            </a:pPr>
            <a:r>
              <a:rPr sz="1400" b="0">
                <a:solidFill>
                  <a:srgbClr val="5F677A"/>
                </a:solidFill>
                <a:latin typeface="Arial"/>
                <a:ea typeface="Microsoft YaHei"/>
              </a:rPr>
              <a:t>💬 “I leave some free time in my diary.” / “I always have a Plan 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It depends on the reason and the way the person tells me. If the reason is genuine and the person apologizes and offers an alternative, I’m happy to be flexible. But if it happens often, or the person doesn’t say sorry, I feel disrespected. I think the best approach is to be honest, tell people as early as possible, and suggest a new plan.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“genuine”(真实的)、“disrespected”(感觉被不尊重)。“It depends on…”(取决于)。“as early as possible”(尽早)。</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Social language: changing plans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变更计划用语</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Announce</a:t>
                      </a:r>
                    </a:p>
                  </a:txBody>
                  <a:tcPr anchor="ctr">
                    <a:solidFill>
                      <a:srgbClr val="FFFFFF"/>
                    </a:solidFill>
                  </a:tcPr>
                </a:tc>
                <a:tc>
                  <a:txBody>
                    <a:bodyPr wrap="square"/>
                    <a:lstStyle/>
                    <a:p>
                      <a:r>
                        <a:rPr sz="1600" b="0">
                          <a:solidFill>
                            <a:srgbClr val="1F2A44"/>
                          </a:solidFill>
                          <a:latin typeface="Arial"/>
                          <a:ea typeface="Microsoft YaHei"/>
                        </a:rPr>
                        <a:t>I’m afraid there’s been a change of plan. / Something has come up. ★</a:t>
                      </a:r>
                    </a:p>
                  </a:txBody>
                  <a:tcPr anchor="ctr">
                    <a:solidFill>
                      <a:srgbClr val="FFFFFF"/>
                    </a:solidFill>
                  </a:tcPr>
                </a:tc>
              </a:tr>
              <a:tr h="408432">
                <a:tc>
                  <a:txBody>
                    <a:bodyPr wrap="square"/>
                    <a:lstStyle/>
                    <a:p>
                      <a:r>
                        <a:rPr sz="1600" b="1">
                          <a:solidFill>
                            <a:srgbClr val="1F2A44"/>
                          </a:solidFill>
                          <a:latin typeface="Arial"/>
                          <a:ea typeface="Microsoft YaHei"/>
                        </a:rPr>
                        <a:t>Apologize</a:t>
                      </a:r>
                    </a:p>
                  </a:txBody>
                  <a:tcPr anchor="ctr">
                    <a:solidFill>
                      <a:srgbClr val="FFEFD9"/>
                    </a:solidFill>
                  </a:tcPr>
                </a:tc>
                <a:tc>
                  <a:txBody>
                    <a:bodyPr wrap="square"/>
                    <a:lstStyle/>
                    <a:p>
                      <a:r>
                        <a:rPr sz="1600" b="0">
                          <a:solidFill>
                            <a:srgbClr val="1F2A44"/>
                          </a:solidFill>
                          <a:latin typeface="Arial"/>
                          <a:ea typeface="Microsoft YaHei"/>
                        </a:rPr>
                        <a:t>I’m sorry for the short notice. ★</a:t>
                      </a:r>
                    </a:p>
                  </a:txBody>
                  <a:tcPr anchor="ctr">
                    <a:solidFill>
                      <a:srgbClr val="FFEFD9"/>
                    </a:solidFill>
                  </a:tcPr>
                </a:tc>
              </a:tr>
              <a:tr h="652272">
                <a:tc>
                  <a:txBody>
                    <a:bodyPr wrap="square"/>
                    <a:lstStyle/>
                    <a:p>
                      <a:r>
                        <a:rPr sz="1600" b="1">
                          <a:solidFill>
                            <a:srgbClr val="1F2A44"/>
                          </a:solidFill>
                          <a:latin typeface="Arial"/>
                          <a:ea typeface="Microsoft YaHei"/>
                        </a:rPr>
                        <a:t>Postpone</a:t>
                      </a:r>
                    </a:p>
                  </a:txBody>
                  <a:tcPr anchor="ctr">
                    <a:solidFill>
                      <a:srgbClr val="FFFFFF"/>
                    </a:solidFill>
                  </a:tcPr>
                </a:tc>
                <a:tc>
                  <a:txBody>
                    <a:bodyPr wrap="square"/>
                    <a:lstStyle/>
                    <a:p>
                      <a:r>
                        <a:rPr sz="1600" b="0">
                          <a:solidFill>
                            <a:srgbClr val="1F2A44"/>
                          </a:solidFill>
                          <a:latin typeface="Arial"/>
                          <a:ea typeface="Microsoft YaHei"/>
                        </a:rPr>
                        <a:t>We’ll have to postpone / reschedule. / Could we move it to…?</a:t>
                      </a:r>
                    </a:p>
                  </a:txBody>
                  <a:tcPr anchor="ctr">
                    <a:solidFill>
                      <a:srgbClr val="FFFFFF"/>
                    </a:solidFill>
                  </a:tcPr>
                </a:tc>
              </a:tr>
              <a:tr h="652272">
                <a:tc>
                  <a:txBody>
                    <a:bodyPr wrap="square"/>
                    <a:lstStyle/>
                    <a:p>
                      <a:r>
                        <a:rPr sz="1600" b="1">
                          <a:solidFill>
                            <a:srgbClr val="1F2A44"/>
                          </a:solidFill>
                          <a:latin typeface="Arial"/>
                          <a:ea typeface="Microsoft YaHei"/>
                        </a:rPr>
                        <a:t>Cancel</a:t>
                      </a:r>
                    </a:p>
                  </a:txBody>
                  <a:tcPr anchor="ctr">
                    <a:solidFill>
                      <a:srgbClr val="FFEFD9"/>
                    </a:solidFill>
                  </a:tcPr>
                </a:tc>
                <a:tc>
                  <a:txBody>
                    <a:bodyPr wrap="square"/>
                    <a:lstStyle/>
                    <a:p>
                      <a:r>
                        <a:rPr sz="1600" b="0">
                          <a:solidFill>
                            <a:srgbClr val="1F2A44"/>
                          </a:solidFill>
                          <a:latin typeface="Arial"/>
                          <a:ea typeface="Microsoft YaHei"/>
                        </a:rPr>
                        <a:t>We’ll have to call it off. ★ / The plan has fallen through. ★</a:t>
                      </a:r>
                    </a:p>
                  </a:txBody>
                  <a:tcPr anchor="ctr">
                    <a:solidFill>
                      <a:srgbClr val="FFEFD9"/>
                    </a:solidFill>
                  </a:tcPr>
                </a:tc>
              </a:tr>
              <a:tr h="652272">
                <a:tc>
                  <a:txBody>
                    <a:bodyPr wrap="square"/>
                    <a:lstStyle/>
                    <a:p>
                      <a:r>
                        <a:rPr sz="1600" b="1">
                          <a:solidFill>
                            <a:srgbClr val="1F2A44"/>
                          </a:solidFill>
                          <a:latin typeface="Arial"/>
                          <a:ea typeface="Microsoft YaHei"/>
                        </a:rPr>
                        <a:t>Suggest</a:t>
                      </a:r>
                    </a:p>
                  </a:txBody>
                  <a:tcPr anchor="ctr">
                    <a:solidFill>
                      <a:srgbClr val="FFFFFF"/>
                    </a:solidFill>
                  </a:tcPr>
                </a:tc>
                <a:tc>
                  <a:txBody>
                    <a:bodyPr wrap="square"/>
                    <a:lstStyle/>
                    <a:p>
                      <a:r>
                        <a:rPr sz="1600" b="0">
                          <a:solidFill>
                            <a:srgbClr val="1F2A44"/>
                          </a:solidFill>
                          <a:latin typeface="Arial"/>
                          <a:ea typeface="Microsoft YaHei"/>
                        </a:rPr>
                        <a:t>Would it be possible to…? / How about…? / What if we…?</a:t>
                      </a:r>
                    </a:p>
                  </a:txBody>
                  <a:tcPr anchor="ctr">
                    <a:solidFill>
                      <a:srgbClr val="FFFFFF"/>
                    </a:solidFill>
                  </a:tcPr>
                </a:tc>
              </a:tr>
            </a:tbl>
          </a:graphicData>
        </a:graphic>
      </p:graphicFrame>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Social language: changing plans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变更计划用语</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Plan B</a:t>
                      </a:r>
                    </a:p>
                  </a:txBody>
                  <a:tcPr anchor="ctr">
                    <a:solidFill>
                      <a:srgbClr val="FFFFFF"/>
                    </a:solidFill>
                  </a:tcPr>
                </a:tc>
                <a:tc>
                  <a:txBody>
                    <a:bodyPr wrap="square"/>
                    <a:lstStyle/>
                    <a:p>
                      <a:r>
                        <a:rPr sz="1600" b="0">
                          <a:solidFill>
                            <a:srgbClr val="1F2A44"/>
                          </a:solidFill>
                          <a:latin typeface="Arial"/>
                          <a:ea typeface="Microsoft YaHei"/>
                        </a:rPr>
                        <a:t>Let’s go with Plan B. ★ / We can do it online instead.</a:t>
                      </a:r>
                    </a:p>
                  </a:txBody>
                  <a:tcPr anchor="ctr">
                    <a:solidFill>
                      <a:srgbClr val="FFFFFF"/>
                    </a:solidFill>
                  </a:tcPr>
                </a:tc>
              </a:tr>
              <a:tr h="408432">
                <a:tc>
                  <a:txBody>
                    <a:bodyPr wrap="square"/>
                    <a:lstStyle/>
                    <a:p>
                      <a:r>
                        <a:rPr sz="1600" b="1">
                          <a:solidFill>
                            <a:srgbClr val="1F2A44"/>
                          </a:solidFill>
                          <a:latin typeface="Arial"/>
                          <a:ea typeface="Microsoft YaHei"/>
                        </a:rPr>
                        <a:t>Respond</a:t>
                      </a:r>
                    </a:p>
                  </a:txBody>
                  <a:tcPr anchor="ctr">
                    <a:solidFill>
                      <a:srgbClr val="FFEFD9"/>
                    </a:solidFill>
                  </a:tcPr>
                </a:tc>
                <a:tc>
                  <a:txBody>
                    <a:bodyPr wrap="square"/>
                    <a:lstStyle/>
                    <a:p>
                      <a:r>
                        <a:rPr sz="1600" b="0">
                          <a:solidFill>
                            <a:srgbClr val="1F2A44"/>
                          </a:solidFill>
                          <a:latin typeface="Arial"/>
                          <a:ea typeface="Microsoft YaHei"/>
                        </a:rPr>
                        <a:t>That’s not a problem. Thanks for letting me know.</a:t>
                      </a:r>
                    </a:p>
                  </a:txBody>
                  <a:tcPr anchor="ctr">
                    <a:solidFill>
                      <a:srgbClr val="FFEFD9"/>
                    </a:solidFill>
                  </a:tcPr>
                </a:tc>
              </a:tr>
              <a:tr h="408432">
                <a:tc>
                  <a:txBody>
                    <a:bodyPr wrap="square"/>
                    <a:lstStyle/>
                    <a:p>
                      <a:r>
                        <a:rPr sz="1600" b="1">
                          <a:solidFill>
                            <a:srgbClr val="1F2A44"/>
                          </a:solidFill>
                          <a:latin typeface="Arial"/>
                          <a:ea typeface="Microsoft YaHei"/>
                        </a:rPr>
                        <a:t>Refuse</a:t>
                      </a:r>
                    </a:p>
                  </a:txBody>
                  <a:tcPr anchor="ctr">
                    <a:solidFill>
                      <a:srgbClr val="FFFFFF"/>
                    </a:solidFill>
                  </a:tcPr>
                </a:tc>
                <a:tc>
                  <a:txBody>
                    <a:bodyPr wrap="square"/>
                    <a:lstStyle/>
                    <a:p>
                      <a:r>
                        <a:rPr sz="1600" b="0">
                          <a:solidFill>
                            <a:srgbClr val="1F2A44"/>
                          </a:solidFill>
                          <a:latin typeface="Arial"/>
                          <a:ea typeface="Microsoft YaHei"/>
                        </a:rPr>
                        <a:t>I’m afraid that doesn’t work for me. ★</a:t>
                      </a:r>
                    </a:p>
                  </a:txBody>
                  <a:tcPr anchor="ctr">
                    <a:solidFill>
                      <a:srgbClr val="FFFFFF"/>
                    </a:solidFill>
                  </a:tcPr>
                </a:tc>
              </a:tr>
              <a:tr h="408432">
                <a:tc>
                  <a:txBody>
                    <a:bodyPr wrap="square"/>
                    <a:lstStyle/>
                    <a:p>
                      <a:r>
                        <a:rPr sz="1600" b="1">
                          <a:solidFill>
                            <a:srgbClr val="1F2A44"/>
                          </a:solidFill>
                          <a:latin typeface="Arial"/>
                          <a:ea typeface="Microsoft YaHei"/>
                        </a:rPr>
                        <a:t>Inform</a:t>
                      </a:r>
                    </a:p>
                  </a:txBody>
                  <a:tcPr anchor="ctr">
                    <a:solidFill>
                      <a:srgbClr val="FFEFD9"/>
                    </a:solidFill>
                  </a:tcPr>
                </a:tc>
                <a:tc>
                  <a:txBody>
                    <a:bodyPr wrap="square"/>
                    <a:lstStyle/>
                    <a:p>
                      <a:r>
                        <a:rPr sz="1600" b="0">
                          <a:solidFill>
                            <a:srgbClr val="1F2A44"/>
                          </a:solidFill>
                          <a:latin typeface="Arial"/>
                          <a:ea typeface="Microsoft YaHei"/>
                        </a:rPr>
                        <a:t>Let’s keep everyone in the loop. ★</a:t>
                      </a:r>
                    </a:p>
                  </a:txBody>
                  <a:tcPr anchor="ctr">
                    <a:solidFill>
                      <a:srgbClr val="FFEFD9"/>
                    </a:solidFill>
                  </a:tcPr>
                </a:tc>
              </a:tr>
            </a:tbl>
          </a:graphicData>
        </a:graphic>
      </p:graphicFrame>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Postpone, reschedule, cancel, bring forward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推迟、改期、取消、提前</a:t>
            </a:r>
          </a:p>
        </p:txBody>
      </p:sp>
      <p:graphicFrame>
        <p:nvGraphicFramePr>
          <p:cNvPr id="9" name="Table 8"/>
          <p:cNvGraphicFramePr>
            <a:graphicFrameLocks noGrp="1"/>
          </p:cNvGraphicFramePr>
          <p:nvPr/>
        </p:nvGraphicFramePr>
        <p:xfrm>
          <a:off x="548640" y="1417320"/>
          <a:ext cx="11094415" cy="4242816"/>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Verb</a:t>
                      </a:r>
                    </a:p>
                  </a:txBody>
                  <a:tcPr anchor="ctr">
                    <a:solidFill>
                      <a:srgbClr val="3CC49A"/>
                    </a:solidFill>
                  </a:tcPr>
                </a:tc>
                <a:tc>
                  <a:txBody>
                    <a:bodyPr wrap="square"/>
                    <a:lstStyle/>
                    <a:p>
                      <a:r>
                        <a:rPr sz="1600" b="1">
                          <a:solidFill>
                            <a:srgbClr val="FFFFFF"/>
                          </a:solidFill>
                          <a:latin typeface="Arial"/>
                          <a:ea typeface="Microsoft YaHei"/>
                        </a:rPr>
                        <a:t>Meaning</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652272">
                <a:tc>
                  <a:txBody>
                    <a:bodyPr wrap="square"/>
                    <a:lstStyle/>
                    <a:p>
                      <a:r>
                        <a:rPr sz="1600" b="1">
                          <a:solidFill>
                            <a:srgbClr val="1F2A44"/>
                          </a:solidFill>
                          <a:latin typeface="Arial"/>
                          <a:ea typeface="Microsoft YaHei"/>
                        </a:rPr>
                        <a:t>postpone</a:t>
                      </a:r>
                    </a:p>
                  </a:txBody>
                  <a:tcPr anchor="ctr">
                    <a:solidFill>
                      <a:srgbClr val="FFFFFF"/>
                    </a:solidFill>
                  </a:tcPr>
                </a:tc>
                <a:tc>
                  <a:txBody>
                    <a:bodyPr wrap="square"/>
                    <a:lstStyle/>
                    <a:p>
                      <a:r>
                        <a:rPr sz="1600" b="0">
                          <a:solidFill>
                            <a:srgbClr val="1F2A44"/>
                          </a:solidFill>
                          <a:latin typeface="Arial"/>
                          <a:ea typeface="Microsoft YaHei"/>
                        </a:rPr>
                        <a:t>do it later</a:t>
                      </a:r>
                    </a:p>
                  </a:txBody>
                  <a:tcPr anchor="ctr">
                    <a:solidFill>
                      <a:srgbClr val="FFFFFF"/>
                    </a:solidFill>
                  </a:tcPr>
                </a:tc>
                <a:tc>
                  <a:txBody>
                    <a:bodyPr wrap="square"/>
                    <a:lstStyle/>
                    <a:p>
                      <a:r>
                        <a:rPr sz="1600" b="0">
                          <a:solidFill>
                            <a:srgbClr val="1F2A44"/>
                          </a:solidFill>
                          <a:latin typeface="Arial"/>
                          <a:ea typeface="Microsoft YaHei"/>
                        </a:rPr>
                        <a:t>“We’ll postpone the meeting until Monday.”</a:t>
                      </a:r>
                    </a:p>
                  </a:txBody>
                  <a:tcPr anchor="ctr">
                    <a:solidFill>
                      <a:srgbClr val="FFFFFF"/>
                    </a:solidFill>
                  </a:tcPr>
                </a:tc>
              </a:tr>
              <a:tr h="652272">
                <a:tc>
                  <a:txBody>
                    <a:bodyPr wrap="square"/>
                    <a:lstStyle/>
                    <a:p>
                      <a:r>
                        <a:rPr sz="1600" b="1">
                          <a:solidFill>
                            <a:srgbClr val="1F2A44"/>
                          </a:solidFill>
                          <a:latin typeface="Arial"/>
                          <a:ea typeface="Microsoft YaHei"/>
                        </a:rPr>
                        <a:t>put off</a:t>
                      </a:r>
                    </a:p>
                  </a:txBody>
                  <a:tcPr anchor="ctr">
                    <a:solidFill>
                      <a:srgbClr val="FFEFD9"/>
                    </a:solidFill>
                  </a:tcPr>
                </a:tc>
                <a:tc>
                  <a:txBody>
                    <a:bodyPr wrap="square"/>
                    <a:lstStyle/>
                    <a:p>
                      <a:r>
                        <a:rPr sz="1600" b="0">
                          <a:solidFill>
                            <a:srgbClr val="1F2A44"/>
                          </a:solidFill>
                          <a:latin typeface="Arial"/>
                          <a:ea typeface="Microsoft YaHei"/>
                        </a:rPr>
                        <a:t>postpone (informal)</a:t>
                      </a:r>
                    </a:p>
                  </a:txBody>
                  <a:tcPr anchor="ctr">
                    <a:solidFill>
                      <a:srgbClr val="FFEFD9"/>
                    </a:solidFill>
                  </a:tcPr>
                </a:tc>
                <a:tc>
                  <a:txBody>
                    <a:bodyPr wrap="square"/>
                    <a:lstStyle/>
                    <a:p>
                      <a:r>
                        <a:rPr sz="1600" b="0">
                          <a:solidFill>
                            <a:srgbClr val="1F2A44"/>
                          </a:solidFill>
                          <a:latin typeface="Arial"/>
                          <a:ea typeface="Microsoft YaHei"/>
                        </a:rPr>
                        <a:t>“Let’s put it off until next week.”</a:t>
                      </a:r>
                    </a:p>
                  </a:txBody>
                  <a:tcPr anchor="ctr">
                    <a:solidFill>
                      <a:srgbClr val="FFEFD9"/>
                    </a:solidFill>
                  </a:tcPr>
                </a:tc>
              </a:tr>
              <a:tr h="408432">
                <a:tc>
                  <a:txBody>
                    <a:bodyPr wrap="square"/>
                    <a:lstStyle/>
                    <a:p>
                      <a:r>
                        <a:rPr sz="1600" b="1">
                          <a:solidFill>
                            <a:srgbClr val="1F2A44"/>
                          </a:solidFill>
                          <a:latin typeface="Arial"/>
                          <a:ea typeface="Microsoft YaHei"/>
                        </a:rPr>
                        <a:t>reschedule</a:t>
                      </a:r>
                    </a:p>
                  </a:txBody>
                  <a:tcPr anchor="ctr">
                    <a:solidFill>
                      <a:srgbClr val="FFFFFF"/>
                    </a:solidFill>
                  </a:tcPr>
                </a:tc>
                <a:tc>
                  <a:txBody>
                    <a:bodyPr wrap="square"/>
                    <a:lstStyle/>
                    <a:p>
                      <a:r>
                        <a:rPr sz="1600" b="0">
                          <a:solidFill>
                            <a:srgbClr val="1F2A44"/>
                          </a:solidFill>
                          <a:latin typeface="Arial"/>
                          <a:ea typeface="Microsoft YaHei"/>
                        </a:rPr>
                        <a:t>choose a new time</a:t>
                      </a:r>
                    </a:p>
                  </a:txBody>
                  <a:tcPr anchor="ctr">
                    <a:solidFill>
                      <a:srgbClr val="FFFFFF"/>
                    </a:solidFill>
                  </a:tcPr>
                </a:tc>
                <a:tc>
                  <a:txBody>
                    <a:bodyPr wrap="square"/>
                    <a:lstStyle/>
                    <a:p>
                      <a:r>
                        <a:rPr sz="1600" b="0">
                          <a:solidFill>
                            <a:srgbClr val="1F2A44"/>
                          </a:solidFill>
                          <a:latin typeface="Arial"/>
                          <a:ea typeface="Microsoft YaHei"/>
                        </a:rPr>
                        <a:t>“I need to reschedule our call.”</a:t>
                      </a:r>
                    </a:p>
                  </a:txBody>
                  <a:tcPr anchor="ctr">
                    <a:solidFill>
                      <a:srgbClr val="FFFFFF"/>
                    </a:solidFill>
                  </a:tcPr>
                </a:tc>
              </a:tr>
              <a:tr h="652272">
                <a:tc>
                  <a:txBody>
                    <a:bodyPr wrap="square"/>
                    <a:lstStyle/>
                    <a:p>
                      <a:r>
                        <a:rPr sz="1600" b="1">
                          <a:solidFill>
                            <a:srgbClr val="1F2A44"/>
                          </a:solidFill>
                          <a:latin typeface="Arial"/>
                          <a:ea typeface="Microsoft YaHei"/>
                        </a:rPr>
                        <a:t>bring forward</a:t>
                      </a:r>
                    </a:p>
                  </a:txBody>
                  <a:tcPr anchor="ctr">
                    <a:solidFill>
                      <a:srgbClr val="FFEFD9"/>
                    </a:solidFill>
                  </a:tcPr>
                </a:tc>
                <a:tc>
                  <a:txBody>
                    <a:bodyPr wrap="square"/>
                    <a:lstStyle/>
                    <a:p>
                      <a:r>
                        <a:rPr sz="1600" b="0">
                          <a:solidFill>
                            <a:srgbClr val="1F2A44"/>
                          </a:solidFill>
                          <a:latin typeface="Arial"/>
                          <a:ea typeface="Microsoft YaHei"/>
                        </a:rPr>
                        <a:t>do it earlier</a:t>
                      </a:r>
                    </a:p>
                  </a:txBody>
                  <a:tcPr anchor="ctr">
                    <a:solidFill>
                      <a:srgbClr val="FFEFD9"/>
                    </a:solidFill>
                  </a:tcPr>
                </a:tc>
                <a:tc>
                  <a:txBody>
                    <a:bodyPr wrap="square"/>
                    <a:lstStyle/>
                    <a:p>
                      <a:r>
                        <a:rPr sz="1600" b="0">
                          <a:solidFill>
                            <a:srgbClr val="1F2A44"/>
                          </a:solidFill>
                          <a:latin typeface="Arial"/>
                          <a:ea typeface="Microsoft YaHei"/>
                        </a:rPr>
                        <a:t>“Can we bring it forward to Tuesday?”</a:t>
                      </a:r>
                    </a:p>
                  </a:txBody>
                  <a:tcPr anchor="ctr">
                    <a:solidFill>
                      <a:srgbClr val="FFEFD9"/>
                    </a:solidFill>
                  </a:tcPr>
                </a:tc>
              </a:tr>
              <a:tr h="652272">
                <a:tc>
                  <a:txBody>
                    <a:bodyPr wrap="square"/>
                    <a:lstStyle/>
                    <a:p>
                      <a:r>
                        <a:rPr sz="1600" b="1">
                          <a:solidFill>
                            <a:srgbClr val="1F2A44"/>
                          </a:solidFill>
                          <a:latin typeface="Arial"/>
                          <a:ea typeface="Microsoft YaHei"/>
                        </a:rPr>
                        <a:t>push back</a:t>
                      </a:r>
                    </a:p>
                  </a:txBody>
                  <a:tcPr anchor="ctr">
                    <a:solidFill>
                      <a:srgbClr val="FFFFFF"/>
                    </a:solidFill>
                  </a:tcPr>
                </a:tc>
                <a:tc>
                  <a:txBody>
                    <a:bodyPr wrap="square"/>
                    <a:lstStyle/>
                    <a:p>
                      <a:r>
                        <a:rPr sz="1600" b="0">
                          <a:solidFill>
                            <a:srgbClr val="1F2A44"/>
                          </a:solidFill>
                          <a:latin typeface="Arial"/>
                          <a:ea typeface="Microsoft YaHei"/>
                        </a:rPr>
                        <a:t>move later</a:t>
                      </a:r>
                    </a:p>
                  </a:txBody>
                  <a:tcPr anchor="ctr">
                    <a:solidFill>
                      <a:srgbClr val="FFFFFF"/>
                    </a:solidFill>
                  </a:tcPr>
                </a:tc>
                <a:tc>
                  <a:txBody>
                    <a:bodyPr wrap="square"/>
                    <a:lstStyle/>
                    <a:p>
                      <a:r>
                        <a:rPr sz="1600" b="0">
                          <a:solidFill>
                            <a:srgbClr val="1F2A44"/>
                          </a:solidFill>
                          <a:latin typeface="Arial"/>
                          <a:ea typeface="Microsoft YaHei"/>
                        </a:rPr>
                        <a:t>“They pushed the deadline back a week.”</a:t>
                      </a:r>
                    </a:p>
                  </a:txBody>
                  <a:tcPr anchor="ctr">
                    <a:solidFill>
                      <a:srgbClr val="FFFFFF"/>
                    </a:solidFill>
                  </a:tcPr>
                </a:tc>
              </a:tr>
              <a:tr h="408432">
                <a:tc>
                  <a:txBody>
                    <a:bodyPr wrap="square"/>
                    <a:lstStyle/>
                    <a:p>
                      <a:r>
                        <a:rPr sz="1600" b="1">
                          <a:solidFill>
                            <a:srgbClr val="1F2A44"/>
                          </a:solidFill>
                          <a:latin typeface="Arial"/>
                          <a:ea typeface="Microsoft YaHei"/>
                        </a:rPr>
                        <a:t>cancel / call off ★</a:t>
                      </a:r>
                    </a:p>
                  </a:txBody>
                  <a:tcPr anchor="ctr">
                    <a:solidFill>
                      <a:srgbClr val="FFEFD9"/>
                    </a:solidFill>
                  </a:tcPr>
                </a:tc>
                <a:tc>
                  <a:txBody>
                    <a:bodyPr wrap="square"/>
                    <a:lstStyle/>
                    <a:p>
                      <a:r>
                        <a:rPr sz="1600" b="0">
                          <a:solidFill>
                            <a:srgbClr val="1F2A44"/>
                          </a:solidFill>
                          <a:latin typeface="Arial"/>
                          <a:ea typeface="Microsoft YaHei"/>
                        </a:rPr>
                        <a:t>do not do it</a:t>
                      </a:r>
                    </a:p>
                  </a:txBody>
                  <a:tcPr anchor="ctr">
                    <a:solidFill>
                      <a:srgbClr val="FFEFD9"/>
                    </a:solidFill>
                  </a:tcPr>
                </a:tc>
                <a:tc>
                  <a:txBody>
                    <a:bodyPr wrap="square"/>
                    <a:lstStyle/>
                    <a:p>
                      <a:r>
                        <a:rPr sz="1600" b="0">
                          <a:solidFill>
                            <a:srgbClr val="1F2A44"/>
                          </a:solidFill>
                          <a:latin typeface="Arial"/>
                          <a:ea typeface="Microsoft YaHei"/>
                        </a:rPr>
                        <a:t>“The event was called off.”</a:t>
                      </a:r>
                    </a:p>
                  </a:txBody>
                  <a:tcPr anchor="ctr">
                    <a:solidFill>
                      <a:srgbClr val="FFEFD9"/>
                    </a:solidFill>
                  </a:tcPr>
                </a:tc>
              </a:tr>
              <a:tr h="408432">
                <a:tc>
                  <a:txBody>
                    <a:bodyPr wrap="square"/>
                    <a:lstStyle/>
                    <a:p>
                      <a:r>
                        <a:rPr sz="1600" b="1">
                          <a:solidFill>
                            <a:srgbClr val="1F2A44"/>
                          </a:solidFill>
                          <a:latin typeface="Arial"/>
                          <a:ea typeface="Microsoft YaHei"/>
                        </a:rPr>
                        <a:t>fall through ★</a:t>
                      </a:r>
                    </a:p>
                  </a:txBody>
                  <a:tcPr anchor="ctr">
                    <a:solidFill>
                      <a:srgbClr val="FFFFFF"/>
                    </a:solidFill>
                  </a:tcPr>
                </a:tc>
                <a:tc>
                  <a:txBody>
                    <a:bodyPr wrap="square"/>
                    <a:lstStyle/>
                    <a:p>
                      <a:r>
                        <a:rPr sz="1600" b="0">
                          <a:solidFill>
                            <a:srgbClr val="1F2A44"/>
                          </a:solidFill>
                          <a:latin typeface="Arial"/>
                          <a:ea typeface="Microsoft YaHei"/>
                        </a:rPr>
                        <a:t>fail (a plan or deal)</a:t>
                      </a:r>
                    </a:p>
                  </a:txBody>
                  <a:tcPr anchor="ctr">
                    <a:solidFill>
                      <a:srgbClr val="FFFFFF"/>
                    </a:solidFill>
                  </a:tcPr>
                </a:tc>
                <a:tc>
                  <a:txBody>
                    <a:bodyPr wrap="square"/>
                    <a:lstStyle/>
                    <a:p>
                      <a:r>
                        <a:rPr sz="1600" b="0">
                          <a:solidFill>
                            <a:srgbClr val="1F2A44"/>
                          </a:solidFill>
                          <a:latin typeface="Arial"/>
                          <a:ea typeface="Microsoft YaHei"/>
                        </a:rPr>
                        <a:t>“The deal fell through.”</a:t>
                      </a:r>
                    </a:p>
                  </a:txBody>
                  <a:tcPr anchor="ctr">
                    <a:solidFill>
                      <a:srgbClr val="FFFFFF"/>
                    </a:solidFill>
                  </a:tcPr>
                </a:tc>
              </a:tr>
            </a:tbl>
          </a:graphicData>
        </a:graphic>
      </p:graphicFrame>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Postpone, reschedule, cancel, bring forward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推迟、改期、取消、提前</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Reasons (short): </a:t>
            </a:r>
            <a:r>
              <a:rPr sz="1700" b="0">
                <a:solidFill>
                  <a:srgbClr val="1F2A44"/>
                </a:solidFill>
                <a:latin typeface="Arial"/>
                <a:ea typeface="Microsoft YaHei"/>
              </a:rPr>
              <a:t>“something urgent has come up”, “a client has asked to see me”, “the flight was delayed”. Keep it short and don’t over-explain.</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If + past for polite suggestions: </a:t>
            </a:r>
            <a:r>
              <a:rPr sz="1700" b="0">
                <a:solidFill>
                  <a:srgbClr val="1F2A44"/>
                </a:solidFill>
                <a:latin typeface="Arial"/>
                <a:ea typeface="Microsoft YaHei"/>
              </a:rPr>
              <a:t>“It would be great if we could meet on Monday.”</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What if + present: </a:t>
            </a:r>
            <a:r>
              <a:rPr sz="1700" b="0">
                <a:solidFill>
                  <a:srgbClr val="1F2A44"/>
                </a:solidFill>
                <a:latin typeface="Arial"/>
                <a:ea typeface="Microsoft YaHei"/>
              </a:rPr>
              <a:t>“What if we meet at the hotel?” (a possible plan)</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must delay the meeting to Friday.</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must postpone the meeting until Friday. / reschedule it for Friday.</a:t>
            </a:r>
          </a:p>
          <a:p>
            <a:pPr algn="l">
              <a:spcAft>
                <a:spcPts val="200"/>
              </a:spcAft>
            </a:pPr>
            <a:r>
              <a:rPr sz="1200" b="0">
                <a:solidFill>
                  <a:srgbClr val="FFFFFF"/>
                </a:solidFill>
                <a:latin typeface="Arial"/>
                <a:ea typeface="Microsoft YaHei"/>
              </a:rPr>
              <a:t>delay 通常指延误</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change the meeting at Friday.</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We’ll move the meeting to Friday.</a:t>
            </a:r>
          </a:p>
          <a:p>
            <a:pPr algn="l">
              <a:spcAft>
                <a:spcPts val="200"/>
              </a:spcAft>
            </a:pPr>
            <a:r>
              <a:rPr sz="1200" b="0">
                <a:solidFill>
                  <a:srgbClr val="FFFFFF"/>
                </a:solidFill>
                <a:latin typeface="Arial"/>
                <a:ea typeface="Microsoft YaHei"/>
              </a:rPr>
              <a:t>move … to</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meeting is cancel.</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meeting is cancelled / has been cancelled.</a:t>
            </a:r>
          </a:p>
          <a:p>
            <a:pPr algn="l">
              <a:spcAft>
                <a:spcPts val="200"/>
              </a:spcAft>
            </a:pPr>
            <a:r>
              <a:rPr sz="1200" b="0">
                <a:solidFill>
                  <a:srgbClr val="FFFFFF"/>
                </a:solidFill>
                <a:latin typeface="Arial"/>
                <a:ea typeface="Microsoft YaHei"/>
              </a:rPr>
              <a:t>被动语态</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can’t to come.</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can’t come. / I won’t be able to come.</a:t>
            </a:r>
          </a:p>
          <a:p>
            <a:pPr algn="l">
              <a:spcAft>
                <a:spcPts val="200"/>
              </a:spcAft>
            </a:pPr>
            <a:r>
              <a:rPr sz="1200" b="0">
                <a:solidFill>
                  <a:srgbClr val="FFFFFF"/>
                </a:solidFill>
                <a:latin typeface="Arial"/>
                <a:ea typeface="Microsoft YaHei"/>
              </a:rPr>
              <a:t>can 后不加 to</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Sorry for changing the plan suddenly.</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sorry for the short notice.</a:t>
            </a:r>
          </a:p>
          <a:p>
            <a:pPr algn="l">
              <a:spcAft>
                <a:spcPts val="200"/>
              </a:spcAft>
            </a:pPr>
            <a:r>
              <a:rPr sz="1200" b="0">
                <a:solidFill>
                  <a:srgbClr val="FFFFFF"/>
                </a:solidFill>
                <a:latin typeface="Arial"/>
                <a:ea typeface="Microsoft YaHei"/>
              </a:rPr>
              <a:t>地道表达</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meeting is delay to Monday.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meeting has been postponed to Monday.</a:t>
            </a:r>
          </a:p>
          <a:p>
            <a:pPr algn="l">
              <a:spcAft>
                <a:spcPts val="200"/>
              </a:spcAft>
            </a:pPr>
            <a:r>
              <a:rPr sz="1200" b="0">
                <a:solidFill>
                  <a:srgbClr val="FFFFFF"/>
                </a:solidFill>
                <a:latin typeface="Arial"/>
                <a:ea typeface="Microsoft YaHei"/>
              </a:rPr>
              <a:t>被动语态 + postpone</a:t>
            </a:r>
          </a:p>
        </p:txBody>
      </p:sp>
      <p:sp>
        <p:nvSpPr>
          <p:cNvPr id="11" name="Rounded Rectangle 10"/>
          <p:cNvSpPr/>
          <p:nvPr/>
        </p:nvSpPr>
        <p:spPr>
          <a:xfrm>
            <a:off x="548640" y="2164079"/>
            <a:ext cx="5455767" cy="670560"/>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sorry to change the plan, but I have something.</a:t>
            </a:r>
          </a:p>
        </p:txBody>
      </p:sp>
      <p:sp>
        <p:nvSpPr>
          <p:cNvPr id="12" name="Rounded Rectangle 11"/>
          <p:cNvSpPr/>
          <p:nvPr/>
        </p:nvSpPr>
        <p:spPr>
          <a:xfrm>
            <a:off x="6187287" y="2164079"/>
            <a:ext cx="5455767" cy="67056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Something has come up.</a:t>
            </a:r>
          </a:p>
          <a:p>
            <a:pPr algn="l">
              <a:spcAft>
                <a:spcPts val="200"/>
              </a:spcAft>
            </a:pPr>
            <a:r>
              <a:rPr sz="1200" b="0">
                <a:solidFill>
                  <a:srgbClr val="FFFFFF"/>
                </a:solidFill>
                <a:latin typeface="Arial"/>
                <a:ea typeface="Microsoft YaHei"/>
              </a:rPr>
              <a:t>简洁自然</a:t>
            </a:r>
          </a:p>
        </p:txBody>
      </p:sp>
      <p:sp>
        <p:nvSpPr>
          <p:cNvPr id="13" name="Rounded Rectangle 12"/>
          <p:cNvSpPr/>
          <p:nvPr/>
        </p:nvSpPr>
        <p:spPr>
          <a:xfrm>
            <a:off x="548640" y="2926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plan has some change.</a:t>
            </a:r>
          </a:p>
        </p:txBody>
      </p:sp>
      <p:sp>
        <p:nvSpPr>
          <p:cNvPr id="14" name="Rounded Rectangle 13"/>
          <p:cNvSpPr/>
          <p:nvPr/>
        </p:nvSpPr>
        <p:spPr>
          <a:xfrm>
            <a:off x="6187287" y="2926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There’s been a change of plan.</a:t>
            </a:r>
          </a:p>
          <a:p>
            <a:pPr algn="l">
              <a:spcAft>
                <a:spcPts val="200"/>
              </a:spcAft>
            </a:pPr>
            <a:r>
              <a:rPr sz="1200" b="0">
                <a:solidFill>
                  <a:srgbClr val="FFFFFF"/>
                </a:solidFill>
                <a:latin typeface="Arial"/>
                <a:ea typeface="Microsoft YaHei"/>
              </a:rPr>
              <a:t>固定说法</a:t>
            </a:r>
          </a:p>
        </p:txBody>
      </p:sp>
      <p:sp>
        <p:nvSpPr>
          <p:cNvPr id="15" name="Rounded Rectangle 14"/>
          <p:cNvSpPr/>
          <p:nvPr/>
        </p:nvSpPr>
        <p:spPr>
          <a:xfrm>
            <a:off x="548640" y="3627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Can you adjust your time?</a:t>
            </a:r>
          </a:p>
        </p:txBody>
      </p:sp>
      <p:sp>
        <p:nvSpPr>
          <p:cNvPr id="16" name="Rounded Rectangle 15"/>
          <p:cNvSpPr/>
          <p:nvPr/>
        </p:nvSpPr>
        <p:spPr>
          <a:xfrm>
            <a:off x="6187287" y="3627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Would it be possible to move it to…? / Do you have any other availability?</a:t>
            </a:r>
          </a:p>
          <a:p>
            <a:pPr algn="l">
              <a:spcAft>
                <a:spcPts val="200"/>
              </a:spcAft>
            </a:pPr>
            <a:r>
              <a:rPr sz="1200" b="0">
                <a:solidFill>
                  <a:srgbClr val="FFFFFF"/>
                </a:solidFill>
                <a:latin typeface="Arial"/>
                <a:ea typeface="Microsoft YaHei"/>
              </a:rPr>
              <a:t>更礼貌</a:t>
            </a:r>
          </a:p>
        </p:txBody>
      </p:sp>
      <p:sp>
        <p:nvSpPr>
          <p:cNvPr id="17" name="Rounded Rectangle 16"/>
          <p:cNvSpPr/>
          <p:nvPr/>
        </p:nvSpPr>
        <p:spPr>
          <a:xfrm>
            <a:off x="548640" y="4571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postphone / cancelation</a:t>
            </a:r>
          </a:p>
        </p:txBody>
      </p:sp>
      <p:sp>
        <p:nvSpPr>
          <p:cNvPr id="18" name="Rounded Rectangle 17"/>
          <p:cNvSpPr/>
          <p:nvPr/>
        </p:nvSpPr>
        <p:spPr>
          <a:xfrm>
            <a:off x="6187287" y="4571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postpone / cancellation</a:t>
            </a:r>
          </a:p>
          <a:p>
            <a:pPr algn="l">
              <a:spcAft>
                <a:spcPts val="200"/>
              </a:spcAft>
            </a:pPr>
            <a:r>
              <a:rPr sz="1200" b="0">
                <a:solidFill>
                  <a:srgbClr val="FFFFFF"/>
                </a:solidFill>
                <a:latin typeface="Arial"/>
                <a:ea typeface="Microsoft YaHei"/>
              </a:rPr>
              <a:t>拼写</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postpone (not “delay”) for events, the meeting has been cancelled (passive), a change of plan, move it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Tell people as early as possible. Last-minute changes are tolerated if you inform people immediately and apologize.</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Phone or message first, then confirm in writing. For important changes (client visits), call, then send a short email.</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0">
                <a:solidFill>
                  <a:srgbClr val="1F2A44"/>
                </a:solidFill>
                <a:latin typeface="Arial"/>
                <a:ea typeface="Microsoft YaHei"/>
              </a:rPr>
              <a:t>Be honest but brief. You don’t need to give private details. “Something has come up” is enough in most cases.</a:t>
            </a:r>
          </a:p>
        </p:txBody>
      </p:sp>
      <p:sp>
        <p:nvSpPr>
          <p:cNvPr id="18" name="Rounded Rectangle 17"/>
          <p:cNvSpPr/>
          <p:nvPr/>
        </p:nvSpPr>
        <p:spPr>
          <a:xfrm>
            <a:off x="548640" y="379475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441959"/>
          </a:xfrm>
          <a:prstGeom prst="rect">
            <a:avLst/>
          </a:prstGeom>
          <a:noFill/>
        </p:spPr>
        <p:txBody>
          <a:bodyPr wrap="square" anchor="ctr">
            <a:spAutoFit/>
          </a:bodyPr>
          <a:lstStyle/>
          <a:p>
            <a:r>
              <a:rPr sz="1700" b="0">
                <a:solidFill>
                  <a:srgbClr val="1F2A44"/>
                </a:solidFill>
                <a:latin typeface="Arial"/>
                <a:ea typeface="Microsoft YaHei"/>
              </a:rPr>
              <a:t>Avoid blaming others. “My boss changed everything” sounds like an excuse.</a:t>
            </a:r>
          </a:p>
        </p:txBody>
      </p:sp>
      <p:sp>
        <p:nvSpPr>
          <p:cNvPr id="21" name="Rounded Rectangle 20"/>
          <p:cNvSpPr/>
          <p:nvPr/>
        </p:nvSpPr>
        <p:spPr>
          <a:xfrm>
            <a:off x="548640" y="4328156"/>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328156"/>
            <a:ext cx="91440" cy="44195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328156"/>
            <a:ext cx="10728655" cy="441959"/>
          </a:xfrm>
          <a:prstGeom prst="rect">
            <a:avLst/>
          </a:prstGeom>
          <a:noFill/>
        </p:spPr>
        <p:txBody>
          <a:bodyPr wrap="square" anchor="ctr">
            <a:spAutoFit/>
          </a:bodyPr>
          <a:lstStyle/>
          <a:p>
            <a:r>
              <a:rPr sz="1700" b="0">
                <a:solidFill>
                  <a:srgbClr val="1F2A44"/>
                </a:solidFill>
                <a:latin typeface="Arial"/>
                <a:ea typeface="Microsoft YaHei"/>
              </a:rPr>
              <a:t>Offer alternatives. A change without a suggestion creates more work for the other person.</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announce a change of plan politely (I’m afraid there’s been a change of plan. Something has come up.).</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apologize for short notice and offer alternatives (Would it be possible to…? How about…?).</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respond to a change (That’s not a problem. I’m afraid that doesn’t work for me.).</a:t>
            </a:r>
          </a:p>
        </p:txBody>
      </p:sp>
      <p:sp>
        <p:nvSpPr>
          <p:cNvPr id="20" name="TextBox 19"/>
          <p:cNvSpPr txBox="1"/>
          <p:nvPr/>
        </p:nvSpPr>
        <p:spPr>
          <a:xfrm>
            <a:off x="9539935" y="33131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42153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2153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42153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postpone, reschedule or cancel with the right verb.</a:t>
            </a:r>
          </a:p>
        </p:txBody>
      </p:sp>
      <p:sp>
        <p:nvSpPr>
          <p:cNvPr id="24" name="TextBox 23"/>
          <p:cNvSpPr txBox="1"/>
          <p:nvPr/>
        </p:nvSpPr>
        <p:spPr>
          <a:xfrm>
            <a:off x="9539935" y="42153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127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127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127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postpone, cancelled, move … to and a change of plan correctly.</a:t>
            </a:r>
          </a:p>
        </p:txBody>
      </p:sp>
      <p:sp>
        <p:nvSpPr>
          <p:cNvPr id="28" name="TextBox 27"/>
          <p:cNvSpPr txBox="1"/>
          <p:nvPr/>
        </p:nvSpPr>
        <p:spPr>
          <a:xfrm>
            <a:off x="9539935" y="48127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41 A change of plan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98755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98755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postpone / cancel / move … to, passive (has been cancelled), can’t + base verb, and spelling (postpone, cancellation).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10 · Lesson 42 How was your visit?</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141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How was your visit?</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您的访问如何?</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ask a guest about their visit and receive feedback, and as a guest, describe your visit, thank your hosts and give polite suggestions. Understand the needs and feedback of visitors.</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you visit another company, what do you remember most?</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ask a guest about their visit politely?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give negative feedback politely when you are a guest?</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Tell me about a visit you enjoyed. What made it special?</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would you change in your company’s way of hosting visitors?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题讲过去的事,请用过去式(enjoyed, made, saw)。第 3 题可以说 “I would say…, but…”。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a business visit you made, what you liked and what could be improved.</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where you went</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you did</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the highlight</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one suggestion</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thanks</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visited… last month.   💬 The highlight was…   💬 One thing that could be improved is…   💬 Thank you for having me.</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讲过去的访问用过去式。提建议时用 It might be helpful if… / Perhaps next time… 委婉表达。</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Asking about the visit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询问访问情况</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How was your visit?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您的访问怎么样?</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“How was your visit to our factory?”</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Did you enjoy your stay?</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您住得愉快吗?</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“Did you enjoy your stay in Shanghai?”</a:t>
            </a:r>
          </a:p>
        </p:txBody>
      </p:sp>
      <p:sp>
        <p:nvSpPr>
          <p:cNvPr id="19" name="Rounded Rectangle 18"/>
          <p:cNvSpPr/>
          <p:nvPr/>
        </p:nvSpPr>
        <p:spPr>
          <a:xfrm>
            <a:off x="548640" y="312928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12400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11760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 did you think of the factory / the meetings?</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您觉得工厂/会议怎么样?</a:t>
            </a:r>
          </a:p>
        </p:txBody>
      </p:sp>
      <p:sp>
        <p:nvSpPr>
          <p:cNvPr id="23" name="TextBox 22"/>
          <p:cNvSpPr txBox="1"/>
          <p:nvPr/>
        </p:nvSpPr>
        <p:spPr>
          <a:xfrm>
            <a:off x="6675120" y="317500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did you think of the factory?”</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Chunk 1: Asking about the visit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询问访问情况</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Was everything to your satisfaction?</a:t>
            </a:r>
          </a:p>
          <a:p>
            <a:pPr algn="l">
              <a:lnSpc>
                <a:spcPct val="115000"/>
              </a:lnSpc>
              <a:spcAft>
                <a:spcPts val="800"/>
              </a:spcAft>
            </a:pPr>
            <a:r>
              <a:rPr sz="1300" b="0">
                <a:solidFill>
                  <a:srgbClr val="5F677A"/>
                </a:solidFill>
                <a:latin typeface="Arial"/>
                <a:ea typeface="Microsoft YaHei"/>
              </a:rPr>
              <a:t>phrase (formal)</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一切都令您满意吗?</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“Was everything to your satisfaction?”</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Is there anything we could have done better?</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有什么我们可以做得更好的吗?</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“Is there anything we could have done better?”</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Chunk 2: Describing your visit as a guest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作为客人描述访问</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It was a very productive trip.</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这次行程很有成效</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was a very productive trip.”</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The highlight was…</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最精彩的部分是……</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highlight was the factory tour.”</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It was a real eye-opener.</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这真让人大开眼界</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tour was a real eye-opener.”</a:t>
            </a:r>
          </a:p>
        </p:txBody>
      </p:sp>
      <p:sp>
        <p:nvSpPr>
          <p:cNvPr id="24" name="Rounded Rectangle 23"/>
          <p:cNvSpPr/>
          <p:nvPr/>
        </p:nvSpPr>
        <p:spPr>
          <a:xfrm>
            <a:off x="548640" y="41376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 was impressed by…</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我对……印象深刻</a:t>
            </a:r>
          </a:p>
        </p:txBody>
      </p:sp>
      <p:sp>
        <p:nvSpPr>
          <p:cNvPr id="28" name="TextBox 27"/>
          <p:cNvSpPr txBox="1"/>
          <p:nvPr/>
        </p:nvSpPr>
        <p:spPr>
          <a:xfrm>
            <a:off x="6675120" y="41833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was impressed by your team’s professionalism.”</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 learned a lot.</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我学到了很多</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learned a lot about your production process.”</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3: Giving feedback and thanking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反馈与感谢</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Thank you for having me.</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谢谢您的款待</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for having me. I really enjoyed it.”</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Thank you for your hospitality.</a:t>
            </a:r>
          </a:p>
          <a:p>
            <a:pPr algn="l">
              <a:lnSpc>
                <a:spcPct val="115000"/>
              </a:lnSpc>
              <a:spcAft>
                <a:spcPts val="800"/>
              </a:spcAft>
            </a:pPr>
            <a:r>
              <a:rPr sz="1300" b="0">
                <a:solidFill>
                  <a:srgbClr val="5F677A"/>
                </a:solidFill>
                <a:latin typeface="Arial"/>
                <a:ea typeface="Microsoft YaHei"/>
              </a:rPr>
              <a:t>phrase (formal)</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感谢您的热情款待</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for your hospitality.”</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One suggestion would be to…</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一个建议是……</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“One suggestion would be to start the tour earlier.”</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Chunk 3: Giving feedback and thanking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反馈与感谢</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It might be helpful if…</a:t>
            </a:r>
          </a:p>
          <a:p>
            <a:pPr algn="l">
              <a:lnSpc>
                <a:spcPct val="115000"/>
              </a:lnSpc>
              <a:spcAft>
                <a:spcPts val="800"/>
              </a:spcAft>
            </a:pPr>
            <a:r>
              <a:rPr sz="1300" b="0">
                <a:solidFill>
                  <a:srgbClr val="5F677A"/>
                </a:solidFill>
                <a:latin typeface="Arial"/>
                <a:ea typeface="Microsoft YaHei"/>
              </a:rPr>
              <a:t>phrase (softened)</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如果……可能会更有帮助</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might be helpful if we had the agenda in advance.”</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looking forward to the next visit.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期待下次访问</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looking forward to the next visit.”</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感谢您的热情款待</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Thank you for your hospitality.</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这次行程很有成效</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 was a very productive trip.</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期待下次访问</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I’m looking forward to the next visit.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一切都令您满意吗?</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Was everything to your satisfaction?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最精彩的部分是……</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highlight was…</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您住得愉快吗?</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Did you enjoy your stay?</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如果……可能会更有帮助</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 might be helpful if…</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您觉得工厂/会议怎么样?</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What did you think of the factory / the meetings?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impressed</a:t>
            </a:r>
          </a:p>
        </p:txBody>
      </p:sp>
      <p:sp>
        <p:nvSpPr>
          <p:cNvPr id="10" name="Rounded Rectangle 9"/>
          <p:cNvSpPr/>
          <p:nvPr/>
        </p:nvSpPr>
        <p:spPr>
          <a:xfrm>
            <a:off x="3456432" y="987552"/>
            <a:ext cx="80467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stay</a:t>
            </a:r>
          </a:p>
        </p:txBody>
      </p:sp>
      <p:sp>
        <p:nvSpPr>
          <p:cNvPr id="11" name="Rounded Rectangle 10"/>
          <p:cNvSpPr/>
          <p:nvPr/>
        </p:nvSpPr>
        <p:spPr>
          <a:xfrm>
            <a:off x="4352544"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highlight</a:t>
            </a:r>
          </a:p>
        </p:txBody>
      </p:sp>
      <p:sp>
        <p:nvSpPr>
          <p:cNvPr id="12" name="Rounded Rectangle 11"/>
          <p:cNvSpPr/>
          <p:nvPr/>
        </p:nvSpPr>
        <p:spPr>
          <a:xfrm>
            <a:off x="5797296" y="987552"/>
            <a:ext cx="1572767"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hospitality</a:t>
            </a:r>
          </a:p>
        </p:txBody>
      </p:sp>
      <p:sp>
        <p:nvSpPr>
          <p:cNvPr id="13" name="Rounded Rectangle 12"/>
          <p:cNvSpPr/>
          <p:nvPr/>
        </p:nvSpPr>
        <p:spPr>
          <a:xfrm>
            <a:off x="7461503" y="987552"/>
            <a:ext cx="91440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visit</a:t>
            </a:r>
          </a:p>
        </p:txBody>
      </p:sp>
      <p:sp>
        <p:nvSpPr>
          <p:cNvPr id="14" name="Rounded Rectangle 13"/>
          <p:cNvSpPr/>
          <p:nvPr/>
        </p:nvSpPr>
        <p:spPr>
          <a:xfrm>
            <a:off x="8467343"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helpful</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How was your _______ to our factory?</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visit</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Did you enjoy your _______ in Shanghai?</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stay</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 _______ was the factory tour.</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highlight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 was _______ by your team’s professionalism.</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impressed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Thank you for your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hospitality</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It might be _______ if we had the agenda in advance.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helpful</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搭配与拼写): hospitality (not “hospitaly”), impressed (adjective), satisfaction, eye-opener. “Thank you for having me” is the natural thing to say after a visit. Visit a place (no “to” for the verb): “I visited the factory.” (“a visit to the factory” for the noun.)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Asking a guest for feedback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向客人征求反馈</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At the end of Mr Reed’s visit, Li Wei asks how it went.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host</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James Reed, guest</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Asking a guest for feedback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James, before you leave, I’d like to ask: how was your visit?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James</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was excellent. A very productive trip, and I learned a lot.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glad to hear it. What did you think of the factory tour?</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was a real eye-opener. I was impressed by how organized everything was.</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Was everything to your satisfaction? The hotel, the food, the transport?</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Everything was fine. The only small thing: the hotel was a bit far from the office.</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Asking a guest for feedback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Is there anything we could have done better?</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One suggestion would be to put the schedule in the hotel in advance. It might be helpful if we had it before the trip.</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very good point. Thank you. We’ll do that next time.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thank you for your hospitality. I really enjoyed it.</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was our pleasure. We look forward to your next visit.</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Me too. I’ll write up my notes and send them to you.</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Asking a guest for feedback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At the end of a visit, you ask the guest for feedback.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Host. Ask about the visit and ask for improvement ideas.</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Guest. Positive overall with one small suggestion.</a:t>
            </a:r>
          </a:p>
        </p:txBody>
      </p:sp>
      <p:sp>
        <p:nvSpPr>
          <p:cNvPr id="14" name="Rounded Rectangle 13"/>
          <p:cNvSpPr/>
          <p:nvPr/>
        </p:nvSpPr>
        <p:spPr>
          <a:xfrm>
            <a:off x="548640" y="2770632"/>
            <a:ext cx="2377440" cy="896111"/>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896111"/>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How was your visit? · What did you think of…? · Was everything to your satisfaction? · Is there anything we could have done better? · Thank you for your hospitality.</a:t>
            </a:r>
          </a:p>
        </p:txBody>
      </p:sp>
      <p:sp>
        <p:nvSpPr>
          <p:cNvPr id="16" name="Rounded Rectangle 15"/>
          <p:cNvSpPr/>
          <p:nvPr/>
        </p:nvSpPr>
        <p:spPr>
          <a:xfrm>
            <a:off x="548640" y="3739895"/>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739895"/>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Collect feedback and thank the guest. About 2 minutes.</a:t>
            </a:r>
          </a:p>
        </p:txBody>
      </p:sp>
      <p:sp>
        <p:nvSpPr>
          <p:cNvPr id="18" name="Rounded Rectangle 17"/>
          <p:cNvSpPr/>
          <p:nvPr/>
        </p:nvSpPr>
        <p:spPr>
          <a:xfrm>
            <a:off x="548640" y="4221479"/>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4221479"/>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794503"/>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5178551"/>
            <a:ext cx="3576218" cy="1039369"/>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guest is unhappy about the hotel. Say: “I’m sorry to hear that. I’ll look into it.”</a:t>
            </a:r>
          </a:p>
        </p:txBody>
      </p:sp>
      <p:sp>
        <p:nvSpPr>
          <p:cNvPr id="22" name="Rounded Rectangle 21"/>
          <p:cNvSpPr/>
          <p:nvPr/>
        </p:nvSpPr>
        <p:spPr>
          <a:xfrm>
            <a:off x="4307738" y="5178551"/>
            <a:ext cx="3576218" cy="1039369"/>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Respond to a compliment: “That’s very kind of you to say so.”</a:t>
            </a:r>
          </a:p>
        </p:txBody>
      </p:sp>
      <p:sp>
        <p:nvSpPr>
          <p:cNvPr id="23" name="Rounded Rectangle 22"/>
          <p:cNvSpPr/>
          <p:nvPr/>
        </p:nvSpPr>
        <p:spPr>
          <a:xfrm>
            <a:off x="8066836" y="5178551"/>
            <a:ext cx="3576218" cy="1039369"/>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specific feedback: “On a scale of 1 to 5, how useful was the tour?”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Talking about a visit to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对同事讲述访问经历</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return from a visit to a supplier and tell your manager about it.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Sophie Zhou,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Li Wei, returning from a visit</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Talking about a visit to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Sophie</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Welcome back, Li Wei. How was your visit to Nordic Steel?</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Very productive, thanks. The highlight was the factory tour. I was impressed by their quality control.</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What did you think of the team?</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Very professional. They answered all my questions, and they’d prepared a detailed presentation.</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Did they agree to the new prices?</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yet. They said they need two weeks to check, but I think they will accept.</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Talking about a visit to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Were there any problems?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Only a small one: the meeting started 30 minutes late because the manager’s flight was delayed.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And what are the next steps?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write a report by Thursday, and I’m going to send them a thank-you email today.</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Please send me the report.</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I’ve learned a lot, and I’d like to invite them to our factory in spring.</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Talking about a visit to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report on a business visit.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(B)</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Visitor. Report the highlights, one problem, and next steps.</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(A)</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Asks 4 questions.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How was…? · The highlight was… · I was impressed by… · Only a small problem: … · I’ll write a report by…</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Report on the visit in 90 seconds and agree on the next step.</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Report a negative experience politely: “It wasn’t perfect, but…”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numbers: “We visited three factories in two days.”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follow-up: “I think we should send them a thank-you gift.”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business visit successful?</a:t>
            </a:r>
          </a:p>
          <a:p>
            <a:pPr algn="l">
              <a:lnSpc>
                <a:spcPct val="115000"/>
              </a:lnSpc>
              <a:spcAft>
                <a:spcPts val="800"/>
              </a:spcAft>
            </a:pPr>
            <a:r>
              <a:rPr sz="1400" b="0">
                <a:solidFill>
                  <a:srgbClr val="5F677A"/>
                </a:solidFill>
                <a:latin typeface="Arial"/>
                <a:ea typeface="Microsoft YaHei"/>
              </a:rPr>
              <a:t>💬 “A successful visit has a clear purpose and…” / “It’s successful when both sides…”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8991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85344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give negative feedback politely to a host?</a:t>
            </a:r>
          </a:p>
          <a:p>
            <a:pPr algn="l">
              <a:lnSpc>
                <a:spcPct val="115000"/>
              </a:lnSpc>
              <a:spcAft>
                <a:spcPts val="800"/>
              </a:spcAft>
            </a:pPr>
            <a:r>
              <a:rPr sz="1400" b="0">
                <a:solidFill>
                  <a:srgbClr val="5F677A"/>
                </a:solidFill>
                <a:latin typeface="Arial"/>
                <a:ea typeface="Microsoft YaHei"/>
              </a:rPr>
              <a:t>💬 “I start with something positive, then say ‘One suggestion would be…’” / “I never criticize the people, only the process.”</a:t>
            </a:r>
          </a:p>
        </p:txBody>
      </p:sp>
      <p:sp>
        <p:nvSpPr>
          <p:cNvPr id="15" name="Oval 14"/>
          <p:cNvSpPr/>
          <p:nvPr/>
        </p:nvSpPr>
        <p:spPr>
          <a:xfrm>
            <a:off x="548640" y="332232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766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23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respond when a guest says something negative about your company?</a:t>
            </a:r>
          </a:p>
          <a:p>
            <a:pPr algn="l">
              <a:lnSpc>
                <a:spcPct val="115000"/>
              </a:lnSpc>
              <a:spcAft>
                <a:spcPts val="800"/>
              </a:spcAft>
            </a:pPr>
            <a:r>
              <a:rPr sz="1400" b="0">
                <a:solidFill>
                  <a:srgbClr val="5F677A"/>
                </a:solidFill>
                <a:latin typeface="Arial"/>
                <a:ea typeface="Microsoft YaHei"/>
              </a:rPr>
              <a:t>💬 “I thank them for their honesty and say…” / “I don’t get defensive.”</a:t>
            </a:r>
          </a:p>
        </p:txBody>
      </p:sp>
      <p:sp>
        <p:nvSpPr>
          <p:cNvPr id="18" name="Oval 17"/>
          <p:cNvSpPr/>
          <p:nvPr/>
        </p:nvSpPr>
        <p:spPr>
          <a:xfrm>
            <a:off x="548640" y="409956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538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995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think visitor feedback forms are useful?</a:t>
            </a:r>
          </a:p>
          <a:p>
            <a:pPr algn="l">
              <a:lnSpc>
                <a:spcPct val="115000"/>
              </a:lnSpc>
              <a:spcAft>
                <a:spcPts val="800"/>
              </a:spcAft>
            </a:pPr>
            <a:r>
              <a:rPr sz="1400" b="0">
                <a:solidFill>
                  <a:srgbClr val="5F677A"/>
                </a:solidFill>
                <a:latin typeface="Arial"/>
                <a:ea typeface="Microsoft YaHei"/>
              </a:rPr>
              <a:t>💬 “Yes, because they show…” / “Only if the company actually uses them.”</a:t>
            </a:r>
          </a:p>
        </p:txBody>
      </p:sp>
      <p:sp>
        <p:nvSpPr>
          <p:cNvPr id="21" name="Oval 20"/>
          <p:cNvSpPr/>
          <p:nvPr/>
        </p:nvSpPr>
        <p:spPr>
          <a:xfrm>
            <a:off x="548640" y="487680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8310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8768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do you remember most about the best visit you ever made?</a:t>
            </a:r>
          </a:p>
          <a:p>
            <a:pPr algn="l">
              <a:lnSpc>
                <a:spcPct val="115000"/>
              </a:lnSpc>
              <a:spcAft>
                <a:spcPts val="800"/>
              </a:spcAft>
            </a:pPr>
            <a:r>
              <a:rPr sz="1400" b="0">
                <a:solidFill>
                  <a:srgbClr val="5F677A"/>
                </a:solidFill>
                <a:latin typeface="Arial"/>
                <a:ea typeface="Microsoft YaHei"/>
              </a:rPr>
              <a:t>💬 “What I remember most is…” / “The people were so… that…”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start with something positive, because I really appreciate the host’s effort. Then I say,”One suggestion would be…” or “It might be helpful if…”. I use these soft expressions because I don’t want to sound critical. I talk about the process, not the people. For example, I don’t say, “The schedule was terrible.” I say, “It might be helpful to have the schedule a week earlier.</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“start with something positive”(先说好的)。“soft expressions”(委婉表达)。“talk about the process, not the people”(对事不对人)。</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Social language: visit feedback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访问反馈用语</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Ask (host)</a:t>
                      </a:r>
                    </a:p>
                  </a:txBody>
                  <a:tcPr anchor="ctr">
                    <a:solidFill>
                      <a:srgbClr val="FFFFFF"/>
                    </a:solidFill>
                  </a:tcPr>
                </a:tc>
                <a:tc>
                  <a:txBody>
                    <a:bodyPr wrap="square"/>
                    <a:lstStyle/>
                    <a:p>
                      <a:r>
                        <a:rPr sz="1600" b="0">
                          <a:solidFill>
                            <a:srgbClr val="1F2A44"/>
                          </a:solidFill>
                          <a:latin typeface="Arial"/>
                          <a:ea typeface="Microsoft YaHei"/>
                        </a:rPr>
                        <a:t>How was your visit? / Did you enjoy your stay?</a:t>
                      </a:r>
                    </a:p>
                  </a:txBody>
                  <a:tcPr anchor="ctr">
                    <a:solidFill>
                      <a:srgbClr val="FFFFFF"/>
                    </a:solidFill>
                  </a:tcPr>
                </a:tc>
              </a:tr>
              <a:tr h="652272">
                <a:tc>
                  <a:txBody>
                    <a:bodyPr wrap="square"/>
                    <a:lstStyle/>
                    <a:p>
                      <a:r>
                        <a:rPr sz="1600" b="1">
                          <a:solidFill>
                            <a:srgbClr val="1F2A44"/>
                          </a:solidFill>
                          <a:latin typeface="Arial"/>
                          <a:ea typeface="Microsoft YaHei"/>
                        </a:rPr>
                        <a:t>Ask (formal)</a:t>
                      </a:r>
                    </a:p>
                  </a:txBody>
                  <a:tcPr anchor="ctr">
                    <a:solidFill>
                      <a:srgbClr val="FFEFD9"/>
                    </a:solidFill>
                  </a:tcPr>
                </a:tc>
                <a:tc>
                  <a:txBody>
                    <a:bodyPr wrap="square"/>
                    <a:lstStyle/>
                    <a:p>
                      <a:r>
                        <a:rPr sz="1600" b="0">
                          <a:solidFill>
                            <a:srgbClr val="1F2A44"/>
                          </a:solidFill>
                          <a:latin typeface="Arial"/>
                          <a:ea typeface="Microsoft YaHei"/>
                        </a:rPr>
                        <a:t>Was everything to your satisfaction? ★ / Is there anything we could have done better? ★</a:t>
                      </a:r>
                    </a:p>
                  </a:txBody>
                  <a:tcPr anchor="ctr">
                    <a:solidFill>
                      <a:srgbClr val="FFEFD9"/>
                    </a:solidFill>
                  </a:tcPr>
                </a:tc>
              </a:tr>
              <a:tr h="652272">
                <a:tc>
                  <a:txBody>
                    <a:bodyPr wrap="square"/>
                    <a:lstStyle/>
                    <a:p>
                      <a:r>
                        <a:rPr sz="1600" b="1">
                          <a:solidFill>
                            <a:srgbClr val="1F2A44"/>
                          </a:solidFill>
                          <a:latin typeface="Arial"/>
                          <a:ea typeface="Microsoft YaHei"/>
                        </a:rPr>
                        <a:t>Praise (guest)</a:t>
                      </a:r>
                    </a:p>
                  </a:txBody>
                  <a:tcPr anchor="ctr">
                    <a:solidFill>
                      <a:srgbClr val="FFFFFF"/>
                    </a:solidFill>
                  </a:tcPr>
                </a:tc>
                <a:tc>
                  <a:txBody>
                    <a:bodyPr wrap="square"/>
                    <a:lstStyle/>
                    <a:p>
                      <a:r>
                        <a:rPr sz="1600" b="0">
                          <a:solidFill>
                            <a:srgbClr val="1F2A44"/>
                          </a:solidFill>
                          <a:latin typeface="Arial"/>
                          <a:ea typeface="Microsoft YaHei"/>
                        </a:rPr>
                        <a:t>It was a very productive trip. / I was impressed by… / It was a real eye-opener. ★</a:t>
                      </a:r>
                    </a:p>
                  </a:txBody>
                  <a:tcPr anchor="ctr">
                    <a:solidFill>
                      <a:srgbClr val="FFFFFF"/>
                    </a:solidFill>
                  </a:tcPr>
                </a:tc>
              </a:tr>
              <a:tr h="408432">
                <a:tc>
                  <a:txBody>
                    <a:bodyPr wrap="square"/>
                    <a:lstStyle/>
                    <a:p>
                      <a:r>
                        <a:rPr sz="1600" b="1">
                          <a:solidFill>
                            <a:srgbClr val="1F2A44"/>
                          </a:solidFill>
                          <a:latin typeface="Arial"/>
                          <a:ea typeface="Microsoft YaHei"/>
                        </a:rPr>
                        <a:t>Highlight</a:t>
                      </a:r>
                    </a:p>
                  </a:txBody>
                  <a:tcPr anchor="ctr">
                    <a:solidFill>
                      <a:srgbClr val="FFEFD9"/>
                    </a:solidFill>
                  </a:tcPr>
                </a:tc>
                <a:tc>
                  <a:txBody>
                    <a:bodyPr wrap="square"/>
                    <a:lstStyle/>
                    <a:p>
                      <a:r>
                        <a:rPr sz="1600" b="0">
                          <a:solidFill>
                            <a:srgbClr val="1F2A44"/>
                          </a:solidFill>
                          <a:latin typeface="Arial"/>
                          <a:ea typeface="Microsoft YaHei"/>
                        </a:rPr>
                        <a:t>The highlight was… / What I enjoyed most was…</a:t>
                      </a:r>
                    </a:p>
                  </a:txBody>
                  <a:tcPr anchor="ctr">
                    <a:solidFill>
                      <a:srgbClr val="FFEFD9"/>
                    </a:solidFill>
                  </a:tcPr>
                </a:tc>
              </a:tr>
            </a:tbl>
          </a:graphicData>
        </a:graphic>
      </p:graphicFrame>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Social language: visit feedback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访问反馈用语</a:t>
            </a:r>
          </a:p>
        </p:txBody>
      </p:sp>
      <p:graphicFrame>
        <p:nvGraphicFramePr>
          <p:cNvPr id="9" name="Table 8"/>
          <p:cNvGraphicFramePr>
            <a:graphicFrameLocks noGrp="1"/>
          </p:cNvGraphicFramePr>
          <p:nvPr/>
        </p:nvGraphicFramePr>
        <p:xfrm>
          <a:off x="548640" y="1417320"/>
          <a:ext cx="11094415" cy="2365248"/>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Suggest</a:t>
                      </a:r>
                    </a:p>
                  </a:txBody>
                  <a:tcPr anchor="ctr">
                    <a:solidFill>
                      <a:srgbClr val="FFFFFF"/>
                    </a:solidFill>
                  </a:tcPr>
                </a:tc>
                <a:tc>
                  <a:txBody>
                    <a:bodyPr wrap="square"/>
                    <a:lstStyle/>
                    <a:p>
                      <a:r>
                        <a:rPr sz="1600" b="0">
                          <a:solidFill>
                            <a:srgbClr val="1F2A44"/>
                          </a:solidFill>
                          <a:latin typeface="Arial"/>
                          <a:ea typeface="Microsoft YaHei"/>
                        </a:rPr>
                        <a:t>One suggestion would be to… ★ / It might be helpful if… ★</a:t>
                      </a:r>
                    </a:p>
                  </a:txBody>
                  <a:tcPr anchor="ctr">
                    <a:solidFill>
                      <a:srgbClr val="FFFFFF"/>
                    </a:solidFill>
                  </a:tcPr>
                </a:tc>
              </a:tr>
              <a:tr h="652272">
                <a:tc>
                  <a:txBody>
                    <a:bodyPr wrap="square"/>
                    <a:lstStyle/>
                    <a:p>
                      <a:r>
                        <a:rPr sz="1600" b="1">
                          <a:solidFill>
                            <a:srgbClr val="1F2A44"/>
                          </a:solidFill>
                          <a:latin typeface="Arial"/>
                          <a:ea typeface="Microsoft YaHei"/>
                        </a:rPr>
                        <a:t>Thank</a:t>
                      </a:r>
                    </a:p>
                  </a:txBody>
                  <a:tcPr anchor="ctr">
                    <a:solidFill>
                      <a:srgbClr val="FFEFD9"/>
                    </a:solidFill>
                  </a:tcPr>
                </a:tc>
                <a:tc>
                  <a:txBody>
                    <a:bodyPr wrap="square"/>
                    <a:lstStyle/>
                    <a:p>
                      <a:r>
                        <a:rPr sz="1600" b="0">
                          <a:solidFill>
                            <a:srgbClr val="1F2A44"/>
                          </a:solidFill>
                          <a:latin typeface="Arial"/>
                          <a:ea typeface="Microsoft YaHei"/>
                        </a:rPr>
                        <a:t>Thank you for having me. / Thank you for your hospitality. ★</a:t>
                      </a:r>
                    </a:p>
                  </a:txBody>
                  <a:tcPr anchor="ctr">
                    <a:solidFill>
                      <a:srgbClr val="FFEFD9"/>
                    </a:solidFill>
                  </a:tcPr>
                </a:tc>
              </a:tr>
              <a:tr h="652272">
                <a:tc>
                  <a:txBody>
                    <a:bodyPr wrap="square"/>
                    <a:lstStyle/>
                    <a:p>
                      <a:r>
                        <a:rPr sz="1600" b="1">
                          <a:solidFill>
                            <a:srgbClr val="1F2A44"/>
                          </a:solidFill>
                          <a:latin typeface="Arial"/>
                          <a:ea typeface="Microsoft YaHei"/>
                        </a:rPr>
                        <a:t>Future</a:t>
                      </a:r>
                    </a:p>
                  </a:txBody>
                  <a:tcPr anchor="ctr">
                    <a:solidFill>
                      <a:srgbClr val="FFFFFF"/>
                    </a:solidFill>
                  </a:tcPr>
                </a:tc>
                <a:tc>
                  <a:txBody>
                    <a:bodyPr wrap="square"/>
                    <a:lstStyle/>
                    <a:p>
                      <a:r>
                        <a:rPr sz="1600" b="0">
                          <a:solidFill>
                            <a:srgbClr val="1F2A44"/>
                          </a:solidFill>
                          <a:latin typeface="Arial"/>
                          <a:ea typeface="Microsoft YaHei"/>
                        </a:rPr>
                        <a:t>I’m looking forward to the next visit. / I hope you can visit us soon.</a:t>
                      </a:r>
                    </a:p>
                  </a:txBody>
                  <a:tcPr anchor="ctr">
                    <a:solidFill>
                      <a:srgbClr val="FFFFFF"/>
                    </a:solidFill>
                  </a:tcPr>
                </a:tc>
              </a:tr>
            </a:tbl>
          </a:graphicData>
        </a:graphic>
      </p:graphicFrame>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Polite feedback: positive + suggestion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礼貌反馈:先肯定再建议</a:t>
            </a:r>
          </a:p>
        </p:txBody>
      </p:sp>
      <p:graphicFrame>
        <p:nvGraphicFramePr>
          <p:cNvPr id="9" name="Table 8"/>
          <p:cNvGraphicFramePr>
            <a:graphicFrameLocks noGrp="1"/>
          </p:cNvGraphicFramePr>
          <p:nvPr/>
        </p:nvGraphicFramePr>
        <p:xfrm>
          <a:off x="548640" y="1417320"/>
          <a:ext cx="11094415" cy="301752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Direct ✗</a:t>
                      </a:r>
                    </a:p>
                  </a:txBody>
                  <a:tcPr anchor="ctr">
                    <a:solidFill>
                      <a:srgbClr val="3CC49A"/>
                    </a:solidFill>
                  </a:tcPr>
                </a:tc>
                <a:tc>
                  <a:txBody>
                    <a:bodyPr wrap="square"/>
                    <a:lstStyle/>
                    <a:p>
                      <a:r>
                        <a:rPr sz="1600" b="1">
                          <a:solidFill>
                            <a:srgbClr val="FFFFFF"/>
                          </a:solidFill>
                          <a:latin typeface="Arial"/>
                          <a:ea typeface="Microsoft YaHei"/>
                        </a:rPr>
                        <a:t>Softer ✓</a:t>
                      </a:r>
                    </a:p>
                  </a:txBody>
                  <a:tcPr anchor="ctr">
                    <a:solidFill>
                      <a:srgbClr val="3CC49A"/>
                    </a:solidFill>
                  </a:tcPr>
                </a:tc>
              </a:tr>
              <a:tr h="652272">
                <a:tc>
                  <a:txBody>
                    <a:bodyPr wrap="square"/>
                    <a:lstStyle/>
                    <a:p>
                      <a:r>
                        <a:rPr sz="1600" b="1">
                          <a:solidFill>
                            <a:srgbClr val="1F2A44"/>
                          </a:solidFill>
                          <a:latin typeface="Arial"/>
                          <a:ea typeface="Microsoft YaHei"/>
                        </a:rPr>
                        <a:t>The hotel was too far.</a:t>
                      </a:r>
                    </a:p>
                  </a:txBody>
                  <a:tcPr anchor="ctr">
                    <a:solidFill>
                      <a:srgbClr val="FFFFFF"/>
                    </a:solidFill>
                  </a:tcPr>
                </a:tc>
                <a:tc>
                  <a:txBody>
                    <a:bodyPr wrap="square"/>
                    <a:lstStyle/>
                    <a:p>
                      <a:r>
                        <a:rPr sz="1600" b="0">
                          <a:solidFill>
                            <a:srgbClr val="1F2A44"/>
                          </a:solidFill>
                          <a:latin typeface="Arial"/>
                          <a:ea typeface="Microsoft YaHei"/>
                        </a:rPr>
                        <a:t>The hotel was lovely, though it was a bit far from the office.</a:t>
                      </a:r>
                    </a:p>
                  </a:txBody>
                  <a:tcPr anchor="ctr">
                    <a:solidFill>
                      <a:srgbClr val="FFFFFF"/>
                    </a:solidFill>
                  </a:tcPr>
                </a:tc>
              </a:tr>
              <a:tr h="652272">
                <a:tc>
                  <a:txBody>
                    <a:bodyPr wrap="square"/>
                    <a:lstStyle/>
                    <a:p>
                      <a:r>
                        <a:rPr sz="1600" b="1">
                          <a:solidFill>
                            <a:srgbClr val="1F2A44"/>
                          </a:solidFill>
                          <a:latin typeface="Arial"/>
                          <a:ea typeface="Microsoft YaHei"/>
                        </a:rPr>
                        <a:t>The schedule was terrible.</a:t>
                      </a:r>
                    </a:p>
                  </a:txBody>
                  <a:tcPr anchor="ctr">
                    <a:solidFill>
                      <a:srgbClr val="FFEFD9"/>
                    </a:solidFill>
                  </a:tcPr>
                </a:tc>
                <a:tc>
                  <a:txBody>
                    <a:bodyPr wrap="square"/>
                    <a:lstStyle/>
                    <a:p>
                      <a:r>
                        <a:rPr sz="1600" b="0">
                          <a:solidFill>
                            <a:srgbClr val="1F2A44"/>
                          </a:solidFill>
                          <a:latin typeface="Arial"/>
                          <a:ea typeface="Microsoft YaHei"/>
                        </a:rPr>
                        <a:t>It might be helpful to have the schedule a week earlier.</a:t>
                      </a:r>
                    </a:p>
                  </a:txBody>
                  <a:tcPr anchor="ctr">
                    <a:solidFill>
                      <a:srgbClr val="FFEFD9"/>
                    </a:solidFill>
                  </a:tcPr>
                </a:tc>
              </a:tr>
              <a:tr h="652272">
                <a:tc>
                  <a:txBody>
                    <a:bodyPr wrap="square"/>
                    <a:lstStyle/>
                    <a:p>
                      <a:r>
                        <a:rPr sz="1600" b="1">
                          <a:solidFill>
                            <a:srgbClr val="1F2A44"/>
                          </a:solidFill>
                          <a:latin typeface="Arial"/>
                          <a:ea typeface="Microsoft YaHei"/>
                        </a:rPr>
                        <a:t>The meeting started late.</a:t>
                      </a:r>
                    </a:p>
                  </a:txBody>
                  <a:tcPr anchor="ctr">
                    <a:solidFill>
                      <a:srgbClr val="FFFFFF"/>
                    </a:solidFill>
                  </a:tcPr>
                </a:tc>
                <a:tc>
                  <a:txBody>
                    <a:bodyPr wrap="square"/>
                    <a:lstStyle/>
                    <a:p>
                      <a:r>
                        <a:rPr sz="1600" b="0">
                          <a:solidFill>
                            <a:srgbClr val="1F2A44"/>
                          </a:solidFill>
                          <a:latin typeface="Arial"/>
                          <a:ea typeface="Microsoft YaHei"/>
                        </a:rPr>
                        <a:t>The meeting started a little late, but it was well organized.</a:t>
                      </a:r>
                    </a:p>
                  </a:txBody>
                  <a:tcPr anchor="ctr">
                    <a:solidFill>
                      <a:srgbClr val="FFFFFF"/>
                    </a:solidFill>
                  </a:tcPr>
                </a:tc>
              </a:tr>
              <a:tr h="652272">
                <a:tc>
                  <a:txBody>
                    <a:bodyPr wrap="square"/>
                    <a:lstStyle/>
                    <a:p>
                      <a:r>
                        <a:rPr sz="1600" b="1">
                          <a:solidFill>
                            <a:srgbClr val="1F2A44"/>
                          </a:solidFill>
                          <a:latin typeface="Arial"/>
                          <a:ea typeface="Microsoft YaHei"/>
                        </a:rPr>
                        <a:t>You didn’t give us lunch.</a:t>
                      </a:r>
                    </a:p>
                  </a:txBody>
                  <a:tcPr anchor="ctr">
                    <a:solidFill>
                      <a:srgbClr val="FFEFD9"/>
                    </a:solidFill>
                  </a:tcPr>
                </a:tc>
                <a:tc>
                  <a:txBody>
                    <a:bodyPr wrap="square"/>
                    <a:lstStyle/>
                    <a:p>
                      <a:r>
                        <a:rPr sz="1600" b="0">
                          <a:solidFill>
                            <a:srgbClr val="1F2A44"/>
                          </a:solidFill>
                          <a:latin typeface="Arial"/>
                          <a:ea typeface="Microsoft YaHei"/>
                        </a:rPr>
                        <a:t>Next time, it would be great if lunch could be included.</a:t>
                      </a:r>
                    </a:p>
                  </a:txBody>
                  <a:tcPr anchor="ctr">
                    <a:solidFill>
                      <a:srgbClr val="FFEFD9"/>
                    </a:solidFill>
                  </a:tcPr>
                </a:tc>
              </a:tr>
            </a:tbl>
          </a:graphicData>
        </a:graphic>
      </p:graphicFrame>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Polite feedback: positive + suggestion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礼貌反馈:先肯定再建议</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Sandwich method: </a:t>
            </a:r>
            <a:r>
              <a:rPr sz="1700" b="0">
                <a:solidFill>
                  <a:srgbClr val="1F2A44"/>
                </a:solidFill>
                <a:latin typeface="Arial"/>
                <a:ea typeface="Microsoft YaHei"/>
              </a:rPr>
              <a:t>positive → suggestion → positive. “The tour was great. It might be helpful to have more time for questions. Overall, I learned a lot.”</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Softeners: </a:t>
            </a:r>
            <a:r>
              <a:rPr sz="1700" b="0">
                <a:solidFill>
                  <a:srgbClr val="1F2A44"/>
                </a:solidFill>
                <a:latin typeface="Arial"/>
                <a:ea typeface="Microsoft YaHei"/>
              </a:rPr>
              <a:t>a bit, a little, slightly, though, however, perhaps.</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Comparatives for suggestions: </a:t>
            </a:r>
            <a:r>
              <a:rPr sz="1700" b="0">
                <a:solidFill>
                  <a:srgbClr val="1F2A44"/>
                </a:solidFill>
                <a:latin typeface="Arial"/>
                <a:ea typeface="Microsoft YaHei"/>
              </a:rPr>
              <a:t>“It would be better if…” “It would be easier to…”</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How is your visit? (after)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How was your visit?</a:t>
            </a:r>
          </a:p>
          <a:p>
            <a:pPr algn="l">
              <a:spcAft>
                <a:spcPts val="200"/>
              </a:spcAft>
            </a:pPr>
            <a:r>
              <a:rPr sz="1200" b="0">
                <a:solidFill>
                  <a:srgbClr val="FFFFFF"/>
                </a:solidFill>
                <a:latin typeface="Arial"/>
                <a:ea typeface="Microsoft YaHei"/>
              </a:rPr>
              <a:t>访问已结束 → 过去式</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visited to your factory.</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visited your factory. / I paid a visit to your factory.</a:t>
            </a:r>
          </a:p>
          <a:p>
            <a:pPr algn="l">
              <a:spcAft>
                <a:spcPts val="200"/>
              </a:spcAft>
            </a:pPr>
            <a:r>
              <a:rPr sz="1200" b="0">
                <a:solidFill>
                  <a:srgbClr val="FFFFFF"/>
                </a:solidFill>
                <a:latin typeface="Arial"/>
                <a:ea typeface="Microsoft YaHei"/>
              </a:rPr>
              <a:t>visit 作动词不加 to</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Thank you for invite me.</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Thank you for having me. / inviting me.</a:t>
            </a:r>
          </a:p>
          <a:p>
            <a:pPr algn="l">
              <a:spcAft>
                <a:spcPts val="200"/>
              </a:spcAft>
            </a:pPr>
            <a:r>
              <a:rPr sz="1200" b="0">
                <a:solidFill>
                  <a:srgbClr val="FFFFFF"/>
                </a:solidFill>
                <a:latin typeface="Arial"/>
                <a:ea typeface="Microsoft YaHei"/>
              </a:rPr>
              <a:t>for + -ing</a:t>
            </a:r>
          </a:p>
        </p:txBody>
      </p:sp>
      <p:sp>
        <p:nvSpPr>
          <p:cNvPr id="15" name="Rounded Rectangle 14"/>
          <p:cNvSpPr/>
          <p:nvPr/>
        </p:nvSpPr>
        <p:spPr>
          <a:xfrm>
            <a:off x="548640" y="3809997"/>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Very good. (as the only answer)</a:t>
            </a:r>
          </a:p>
        </p:txBody>
      </p:sp>
      <p:sp>
        <p:nvSpPr>
          <p:cNvPr id="16" name="Rounded Rectangle 15"/>
          <p:cNvSpPr/>
          <p:nvPr/>
        </p:nvSpPr>
        <p:spPr>
          <a:xfrm>
            <a:off x="6187287" y="3809997"/>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was very good, thanks. I particularly enjoyed the tour.</a:t>
            </a:r>
          </a:p>
          <a:p>
            <a:pPr algn="l">
              <a:spcAft>
                <a:spcPts val="200"/>
              </a:spcAft>
            </a:pPr>
            <a:r>
              <a:rPr sz="1200" b="0">
                <a:solidFill>
                  <a:srgbClr val="FFFFFF"/>
                </a:solidFill>
                <a:latin typeface="Arial"/>
                <a:ea typeface="Microsoft YaHei"/>
              </a:rPr>
              <a:t>补充一点具体内容</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food very delicious.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food was delicious.</a:t>
            </a:r>
          </a:p>
          <a:p>
            <a:pPr algn="l">
              <a:spcAft>
                <a:spcPts val="200"/>
              </a:spcAft>
            </a:pPr>
            <a:r>
              <a:rPr sz="1200" b="0">
                <a:solidFill>
                  <a:srgbClr val="FFFFFF"/>
                </a:solidFill>
                <a:latin typeface="Arial"/>
                <a:ea typeface="Microsoft YaHei"/>
              </a:rPr>
              <a:t>缺 be 动词</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satisfied for the visit.</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satisfied with the visit. / It was satisfactory.</a:t>
            </a:r>
          </a:p>
          <a:p>
            <a:pPr algn="l">
              <a:spcAft>
                <a:spcPts val="200"/>
              </a:spcAft>
            </a:pPr>
            <a:r>
              <a:rPr sz="1200" b="0">
                <a:solidFill>
                  <a:srgbClr val="FFFFFF"/>
                </a:solidFill>
                <a:latin typeface="Arial"/>
                <a:ea typeface="Microsoft YaHei"/>
              </a:rPr>
              <a:t>satisfied with</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was impress by your team.</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was impressed by your team.</a:t>
            </a:r>
          </a:p>
          <a:p>
            <a:pPr algn="l">
              <a:spcAft>
                <a:spcPts val="200"/>
              </a:spcAft>
            </a:pPr>
            <a:r>
              <a:rPr sz="1200" b="0">
                <a:solidFill>
                  <a:srgbClr val="FFFFFF"/>
                </a:solidFill>
                <a:latin typeface="Arial"/>
                <a:ea typeface="Microsoft YaHei"/>
              </a:rPr>
              <a:t>被动式</a:t>
            </a:r>
          </a:p>
        </p:txBody>
      </p:sp>
      <p:sp>
        <p:nvSpPr>
          <p:cNvPr id="15" name="Rounded Rectangle 14"/>
          <p:cNvSpPr/>
          <p:nvPr/>
        </p:nvSpPr>
        <p:spPr>
          <a:xfrm>
            <a:off x="548640" y="3809997"/>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Your hotel is bad.</a:t>
            </a:r>
          </a:p>
        </p:txBody>
      </p:sp>
      <p:sp>
        <p:nvSpPr>
          <p:cNvPr id="16" name="Rounded Rectangle 15"/>
          <p:cNvSpPr/>
          <p:nvPr/>
        </p:nvSpPr>
        <p:spPr>
          <a:xfrm>
            <a:off x="6187287" y="3809997"/>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hotel could be a little closer. / It might be helpful if…</a:t>
            </a:r>
          </a:p>
          <a:p>
            <a:pPr algn="l">
              <a:spcAft>
                <a:spcPts val="200"/>
              </a:spcAft>
            </a:pPr>
            <a:r>
              <a:rPr sz="1200" b="0">
                <a:solidFill>
                  <a:srgbClr val="FFFFFF"/>
                </a:solidFill>
                <a:latin typeface="Arial"/>
                <a:ea typeface="Microsoft YaHei"/>
              </a:rPr>
              <a:t>委婉</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is my honor.</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was our pleasure. / It’s been a pleasure having you.</a:t>
            </a:r>
          </a:p>
          <a:p>
            <a:pPr algn="l">
              <a:spcAft>
                <a:spcPts val="200"/>
              </a:spcAft>
            </a:pPr>
            <a:r>
              <a:rPr sz="1200" b="0">
                <a:solidFill>
                  <a:srgbClr val="FFFFFF"/>
                </a:solidFill>
                <a:latin typeface="Arial"/>
                <a:ea typeface="Microsoft YaHei"/>
              </a:rPr>
              <a:t>英文更常用</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hospitaly / satisfacton</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hospitality / satisfaction</a:t>
            </a:r>
          </a:p>
          <a:p>
            <a:pPr algn="l">
              <a:spcAft>
                <a:spcPts val="200"/>
              </a:spcAft>
            </a:pPr>
            <a:r>
              <a:rPr sz="1200" b="0">
                <a:solidFill>
                  <a:srgbClr val="FFFFFF"/>
                </a:solidFill>
                <a:latin typeface="Arial"/>
                <a:ea typeface="Microsoft YaHei"/>
              </a:rPr>
              <a:t>拼写</a:t>
            </a:r>
          </a:p>
        </p:txBody>
      </p:sp>
      <p:sp>
        <p:nvSpPr>
          <p:cNvPr id="13" name="Rounded Rectangle 1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was (past) for finished visits, visit + object (no “to”), satisfied with, impressed by, Thank you for having 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Compliments are expected. A short, specific compliment (“I was impressed by your quality control”) means more than “Everything was good.”</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Negative feedback: </a:t>
            </a:r>
            <a:r>
              <a:rPr sz="1700" b="0">
                <a:solidFill>
                  <a:srgbClr val="1F2A44"/>
                </a:solidFill>
                <a:latin typeface="Arial"/>
                <a:ea typeface="Microsoft YaHei"/>
              </a:rPr>
              <a:t>Be gentle. In English-speaking business, harsh criticism of a host is rare. Use “It might be helpful if…”.</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1">
                <a:solidFill>
                  <a:srgbClr val="3CC49A"/>
                </a:solidFill>
                <a:latin typeface="Arial"/>
                <a:ea typeface="Microsoft YaHei"/>
              </a:rPr>
              <a:t>Hosts: </a:t>
            </a:r>
            <a:r>
              <a:rPr sz="1700" b="0">
                <a:solidFill>
                  <a:srgbClr val="1F2A44"/>
                </a:solidFill>
                <a:latin typeface="Arial"/>
                <a:ea typeface="Microsoft YaHei"/>
              </a:rPr>
              <a:t>If a guest gives a suggestion, say thank you, not “No, you are wrong.” Write it down.</a:t>
            </a:r>
          </a:p>
        </p:txBody>
      </p:sp>
      <p:sp>
        <p:nvSpPr>
          <p:cNvPr id="18" name="Rounded Rectangle 17"/>
          <p:cNvSpPr/>
          <p:nvPr/>
        </p:nvSpPr>
        <p:spPr>
          <a:xfrm>
            <a:off x="548640" y="353567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441959"/>
          </a:xfrm>
          <a:prstGeom prst="rect">
            <a:avLst/>
          </a:prstGeom>
          <a:noFill/>
        </p:spPr>
        <p:txBody>
          <a:bodyPr wrap="square" anchor="ctr">
            <a:spAutoFit/>
          </a:bodyPr>
          <a:lstStyle/>
          <a:p>
            <a:r>
              <a:rPr sz="1700" b="1">
                <a:solidFill>
                  <a:srgbClr val="FFC857"/>
                </a:solidFill>
                <a:latin typeface="Arial"/>
                <a:ea typeface="Microsoft YaHei"/>
              </a:rPr>
              <a:t>Follow up: </a:t>
            </a:r>
            <a:r>
              <a:rPr sz="1700" b="0">
                <a:solidFill>
                  <a:srgbClr val="1F2A44"/>
                </a:solidFill>
                <a:latin typeface="Arial"/>
                <a:ea typeface="Microsoft YaHei"/>
              </a:rPr>
              <a:t>Send a thank-you email within 24 hours: mention one specific thing you enjoyed.</a:t>
            </a:r>
          </a:p>
        </p:txBody>
      </p:sp>
      <p:sp>
        <p:nvSpPr>
          <p:cNvPr id="21" name="Rounded Rectangle 20"/>
          <p:cNvSpPr/>
          <p:nvPr/>
        </p:nvSpPr>
        <p:spPr>
          <a:xfrm>
            <a:off x="548640" y="406907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06907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069076"/>
            <a:ext cx="10728655" cy="701039"/>
          </a:xfrm>
          <a:prstGeom prst="rect">
            <a:avLst/>
          </a:prstGeom>
          <a:noFill/>
        </p:spPr>
        <p:txBody>
          <a:bodyPr wrap="square" anchor="ctr">
            <a:spAutoFit/>
          </a:bodyPr>
          <a:lstStyle/>
          <a:p>
            <a:r>
              <a:rPr sz="1700" b="1">
                <a:solidFill>
                  <a:srgbClr val="9B6BE0"/>
                </a:solidFill>
                <a:latin typeface="Arial"/>
                <a:ea typeface="Microsoft YaHei"/>
              </a:rPr>
              <a:t>Cultural humility: </a:t>
            </a:r>
            <a:r>
              <a:rPr sz="1700" b="0">
                <a:solidFill>
                  <a:srgbClr val="1F2A44"/>
                </a:solidFill>
                <a:latin typeface="Arial"/>
                <a:ea typeface="Microsoft YaHei"/>
              </a:rPr>
              <a:t>If something was unusual, ask a question instead of judging: “Is that the usual way you do it?”</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ask a guest about a visit (How was your visit? Was everything to your satisfaction?).</a:t>
            </a:r>
          </a:p>
        </p:txBody>
      </p:sp>
      <p:sp>
        <p:nvSpPr>
          <p:cNvPr id="12" name="TextBox 11"/>
          <p:cNvSpPr txBox="1"/>
          <p:nvPr/>
        </p:nvSpPr>
        <p:spPr>
          <a:xfrm>
            <a:off x="9539935" y="1508760"/>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350008"/>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50008"/>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350008"/>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describe a visit with highlights and impressions (The highlight was… I was impressed by…).</a:t>
            </a:r>
          </a:p>
        </p:txBody>
      </p:sp>
      <p:sp>
        <p:nvSpPr>
          <p:cNvPr id="16" name="TextBox 15"/>
          <p:cNvSpPr txBox="1"/>
          <p:nvPr/>
        </p:nvSpPr>
        <p:spPr>
          <a:xfrm>
            <a:off x="9539935" y="2350008"/>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191256"/>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191256"/>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191256"/>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give polite feedback with a suggestion (One suggestion would be… It might be helpful if…).</a:t>
            </a:r>
          </a:p>
        </p:txBody>
      </p:sp>
      <p:sp>
        <p:nvSpPr>
          <p:cNvPr id="20" name="TextBox 19"/>
          <p:cNvSpPr txBox="1"/>
          <p:nvPr/>
        </p:nvSpPr>
        <p:spPr>
          <a:xfrm>
            <a:off x="9539935" y="3191256"/>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4032504"/>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032504"/>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4032504"/>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thank my hosts (Thank you for having me. Thank you for your hospitality.).</a:t>
            </a:r>
          </a:p>
        </p:txBody>
      </p:sp>
      <p:sp>
        <p:nvSpPr>
          <p:cNvPr id="24" name="TextBox 23"/>
          <p:cNvSpPr txBox="1"/>
          <p:nvPr/>
        </p:nvSpPr>
        <p:spPr>
          <a:xfrm>
            <a:off x="9539935" y="4032504"/>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73752"/>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73752"/>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73752"/>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use the past simple, visit (no “to”), satisfied with and impressed by correctly.</a:t>
            </a:r>
          </a:p>
        </p:txBody>
      </p:sp>
      <p:sp>
        <p:nvSpPr>
          <p:cNvPr id="28" name="TextBox 27"/>
          <p:cNvSpPr txBox="1"/>
          <p:nvPr/>
        </p:nvSpPr>
        <p:spPr>
          <a:xfrm>
            <a:off x="9539935" y="4873752"/>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42 How was your visit?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98755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98755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past simple, visit + object, satisfied with / impressed by, softening feedback, and spelling (hospitality, satisfaction).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10 · Lesson 43 What can I do for you?</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171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What can I do for you?</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我能为您做些什么?</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offer help, ask for a favour and respond to requests: ask what someone needs, make offers (Shall I…? Would you like me to…?), say yes or no politely, and promise follow-up action.</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did a colleague last help you with something? What did they do?</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offer help to a visitor or a new colleague?</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ask for a favour politely at work?</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easy or difficult for you to say no to a request? Why?</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kind of favours do clients often ask for?</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题讲过去的事,请用过去式(helped, sent, checked)。第 3、4 题可以说 “I usually say…”。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how you offer help and how you say no politely at work.</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a situation</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you offer</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how you ask for a favour</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how you refuse politely</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a follow-up</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usually say…   💬 If I can’t help, I…   💬 I’d be happy to…   💬 I’m afraid I can’t, but…</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提供帮助用 Shall I / Would you like me to;婉拒时先说 I’d love to, but… 或 I’m afraid I can’t, but… 再给替代方案。</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Offering help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主动提供帮助</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 can I do for you?</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我能为您做什么?</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“Good morning. What can I do for you?”</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Shall I…? / Would you like me to…?</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要我……吗?</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“Shall I book a taxi for you?”</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Is there anything else I can help you with?</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还有什么需要我帮忙的吗?</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“Is there anything else I can help you with?”</a:t>
            </a:r>
          </a:p>
        </p:txBody>
      </p:sp>
      <p:sp>
        <p:nvSpPr>
          <p:cNvPr id="24" name="Rounded Rectangle 23"/>
          <p:cNvSpPr/>
          <p:nvPr/>
        </p:nvSpPr>
        <p:spPr>
          <a:xfrm>
            <a:off x="548640" y="41376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Leave it with me.</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41833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交给我吧</a:t>
            </a:r>
          </a:p>
        </p:txBody>
      </p:sp>
      <p:sp>
        <p:nvSpPr>
          <p:cNvPr id="28" name="TextBox 27"/>
          <p:cNvSpPr txBox="1"/>
          <p:nvPr/>
        </p:nvSpPr>
        <p:spPr>
          <a:xfrm>
            <a:off x="6675120" y="41833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“Leave it with me. I’ll sort it out.”</a:t>
            </a:r>
          </a:p>
        </p:txBody>
      </p:sp>
      <p:sp>
        <p:nvSpPr>
          <p:cNvPr id="29" name="Rounded Rectangle 28"/>
          <p:cNvSpPr/>
          <p:nvPr/>
        </p:nvSpPr>
        <p:spPr>
          <a:xfrm>
            <a:off x="548640" y="48412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I’ll see what I can do.</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8869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我看看能做些什么</a:t>
            </a:r>
          </a:p>
        </p:txBody>
      </p:sp>
      <p:sp>
        <p:nvSpPr>
          <p:cNvPr id="33" name="TextBox 32"/>
          <p:cNvSpPr txBox="1"/>
          <p:nvPr/>
        </p:nvSpPr>
        <p:spPr>
          <a:xfrm>
            <a:off x="6675120" y="48869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see what I can do.”</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Asking for a favour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请求帮忙</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do me a favour?</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能帮我个忙吗?</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do me a favour?”</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Would you mind checking this for me?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你介意帮我看看这个吗?</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“Would you mind checking this for me?”</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 was wondering if you could…</a:t>
            </a:r>
          </a:p>
          <a:p>
            <a:pPr algn="l">
              <a:lnSpc>
                <a:spcPct val="115000"/>
              </a:lnSpc>
              <a:spcAft>
                <a:spcPts val="800"/>
              </a:spcAft>
            </a:pPr>
            <a:r>
              <a:rPr sz="1300" b="0">
                <a:solidFill>
                  <a:srgbClr val="5F677A"/>
                </a:solidFill>
                <a:latin typeface="Arial"/>
                <a:ea typeface="Microsoft YaHei"/>
              </a:rPr>
              <a:t>phrase (polite)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我想知道您能否……</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was wondering if you could introduce me to him.”</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2: Asking for a favour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请求帮忙</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hate to bother you, but…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不好意思打扰,但是……</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hate to bother you, but do you have a minute?”</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I’d really appreciate it if you could…</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如果您能……我会很感激</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really appreciate it if you could send it today.”</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Saying yes, no and thanks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答应、婉拒与感谢</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Sure. No problem. / Of course.</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当然,没问题</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“Sure. No problem.”</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I’d be happy to.</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我很乐意</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be happy to help.”</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I’m afraid I can’t, but I could…</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恐怕不行,但我可以……</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afraid I can’t, but I could ask Dan.”</a:t>
            </a:r>
          </a:p>
        </p:txBody>
      </p:sp>
      <p:sp>
        <p:nvSpPr>
          <p:cNvPr id="24" name="Rounded Rectangle 23"/>
          <p:cNvSpPr/>
          <p:nvPr/>
        </p:nvSpPr>
        <p:spPr>
          <a:xfrm>
            <a:off x="548640" y="41376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owe you one.</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41833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我欠你一个人情</a:t>
            </a:r>
          </a:p>
        </p:txBody>
      </p:sp>
      <p:sp>
        <p:nvSpPr>
          <p:cNvPr id="28" name="TextBox 27"/>
          <p:cNvSpPr txBox="1"/>
          <p:nvPr/>
        </p:nvSpPr>
        <p:spPr>
          <a:xfrm>
            <a:off x="6675120" y="41833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“Thanks a lot. I owe you one.”</a:t>
            </a:r>
          </a:p>
        </p:txBody>
      </p:sp>
      <p:sp>
        <p:nvSpPr>
          <p:cNvPr id="29" name="Rounded Rectangle 28"/>
          <p:cNvSpPr/>
          <p:nvPr/>
        </p:nvSpPr>
        <p:spPr>
          <a:xfrm>
            <a:off x="548640" y="48412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Thank you so much. That’s very kind of you.</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8869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太谢谢了,你真好</a:t>
            </a:r>
          </a:p>
        </p:txBody>
      </p:sp>
      <p:sp>
        <p:nvSpPr>
          <p:cNvPr id="33" name="TextBox 32"/>
          <p:cNvSpPr txBox="1"/>
          <p:nvPr/>
        </p:nvSpPr>
        <p:spPr>
          <a:xfrm>
            <a:off x="6675120" y="48869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so much. That’s very kind of you.”</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我看看能做些什么</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I’ll see what I can do.</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如果您能……我会很感激</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I’d really appreciate it if you could…</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我想知道您能否……</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was wondering if you could…</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恐怕不行,但我可以……</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afraid I can’t, but I could…</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要我……吗?</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Shall I…? / Would you like me to…?</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你介意帮我看看这个吗?</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Would you mind checking this for me?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还有什么需要我帮忙的吗?</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Is there anything else I can help you with?</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我很乐意</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I’d be happy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69494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owe</a:t>
            </a:r>
          </a:p>
        </p:txBody>
      </p:sp>
      <p:sp>
        <p:nvSpPr>
          <p:cNvPr id="10" name="Rounded Rectangle 9"/>
          <p:cNvSpPr/>
          <p:nvPr/>
        </p:nvSpPr>
        <p:spPr>
          <a:xfrm>
            <a:off x="2798064"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Leave</a:t>
            </a:r>
          </a:p>
        </p:txBody>
      </p:sp>
      <p:sp>
        <p:nvSpPr>
          <p:cNvPr id="11" name="Rounded Rectangle 10"/>
          <p:cNvSpPr/>
          <p:nvPr/>
        </p:nvSpPr>
        <p:spPr>
          <a:xfrm>
            <a:off x="3803904"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wondering</a:t>
            </a:r>
          </a:p>
        </p:txBody>
      </p:sp>
      <p:sp>
        <p:nvSpPr>
          <p:cNvPr id="12" name="Rounded Rectangle 11"/>
          <p:cNvSpPr/>
          <p:nvPr/>
        </p:nvSpPr>
        <p:spPr>
          <a:xfrm>
            <a:off x="5248656" y="987552"/>
            <a:ext cx="91440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Shall</a:t>
            </a:r>
          </a:p>
        </p:txBody>
      </p:sp>
      <p:sp>
        <p:nvSpPr>
          <p:cNvPr id="13" name="Rounded Rectangle 12"/>
          <p:cNvSpPr/>
          <p:nvPr/>
        </p:nvSpPr>
        <p:spPr>
          <a:xfrm>
            <a:off x="6254496"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mind</a:t>
            </a:r>
          </a:p>
        </p:txBody>
      </p:sp>
      <p:sp>
        <p:nvSpPr>
          <p:cNvPr id="14" name="Rounded Rectangle 13"/>
          <p:cNvSpPr/>
          <p:nvPr/>
        </p:nvSpPr>
        <p:spPr>
          <a:xfrm>
            <a:off x="7150608" y="987552"/>
            <a:ext cx="69494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Good morning. What can I do for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you</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_______ I book a taxi for you?</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Shall</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Would you _______ checking this for me?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mind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 was _______ if you could introduce me to him.</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wondering</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_______ it with me. I’ll sort it out.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Leave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Thanks a lot. I _______ you one.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owe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搭配与句型): do a favour (UK: favour; US: favor), mind + -ing, would you mind, sort it out, arrange for. Say “Could you do me a favour?” (not “make me a favour”).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A colleague needs help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同事需要帮助</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new colleague asks for help with a report. You offer help and ask for a favour in return.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Anna Lee, new colleague</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A colleague needs help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Anna, you look busy. What can I do for you?</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Anna</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Li Wei. I’m struggling with this sales report. Could you do me a favour?</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What do you need?</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Would you mind checking my English? I’d really appreciate it.</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Send it over. Shall I look at it now, or do you need it later?</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If you could look at it this afternoon, that would be great. I have to send it by five.</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A colleague needs help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do it right after lunch. Leave it with me.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so much. I owe you one.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Actually, could I ask you for a favour as well?</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was wondering if you could cover for me at Thursday’s meeting. I have a dentist’s appointment.</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problem. I’d be happy to. Just send me the notes.</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A colleague needs help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colleague asks you for a favour, and you ask for one back.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Helpful colleague. Offer, agree, ask for a favour.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New colleague. Polite and grateful.</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What can I do for you? · Shall I…? · Leave it with me. · I was wondering if you could… · I owe you one.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help, make a request and end with thanks.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are too busy. Say: “I’m afraid I can’t do it today, but I could do it tomorrow morning.”</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something bigger: “I hate to bother you, but would you have time to look at the whole presentation?”</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Reply to thanks: “Don’t mention it.” / “Any time.”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A client asks a favour you partly decline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客户请求的婉拒</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client asks you to deliver an urgent order in two days and to give a big discount. You can do one but not the other.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supplier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Carter, client</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client asks a favour you partly decline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afternoon, Mr Carter. What can I do for you?</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Carter</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I was wondering if you could do me a favour. We need the order by Friday, and we’d also like a ten percent discount.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Let me see what I can do about the delivery. I’ll check with the warehouse.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really appreciate it if you could. It’s quite urgent.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afraid I can’t promise Friday, but I could try to get it to you by Saturday morning. Would that help?</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Saturday morning could work. And what about the discount?</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client asks a favour you partly decline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afraid I can’t offer ten percent. That’s beyond what I’m allowed to do. But I could offer free shipping.</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Free shipping is a good start. Could you ask your manager about a small discount?</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see what I can do, and I’ll get back to you by tomorrow.</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be great. Thank you for being so helpful.</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You’re welcome. Is there anything else I can help you with?</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that’s all. Thanks.</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A client asks a favour you partly decline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client asks for two favours. You can agree to one.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Supplier. Try to help, but say no to the discount politely.</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Persistent but polite.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I’ll see what I can do. · I’m afraid I can’t…, but I could… · That’s beyond what I’m allowed to do. · I’ll get back to you. · Is there anything else…?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Say no to one request and offer an alternative. Agree on the next step.</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client insists. Say: “I understand, but I really can’t. Let me check with my manager.”</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Agree fully: “Leave it with me. I’ll arrange it.”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Finish the call: “Thanks again. Please let me know if you need anything else.”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find it easy to ask for help? Why or why not?</a:t>
            </a:r>
          </a:p>
          <a:p>
            <a:pPr algn="l">
              <a:lnSpc>
                <a:spcPct val="115000"/>
              </a:lnSpc>
              <a:spcAft>
                <a:spcPts val="800"/>
              </a:spcAft>
            </a:pPr>
            <a:r>
              <a:rPr sz="1400" b="0">
                <a:solidFill>
                  <a:srgbClr val="5F677A"/>
                </a:solidFill>
                <a:latin typeface="Arial"/>
                <a:ea typeface="Microsoft YaHei"/>
              </a:rPr>
              <a:t>💬 “I find it easy / difficult because…” / “I don’t like to bother people.”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say no politely at work?</a:t>
            </a:r>
          </a:p>
          <a:p>
            <a:pPr algn="l">
              <a:lnSpc>
                <a:spcPct val="115000"/>
              </a:lnSpc>
              <a:spcAft>
                <a:spcPts val="800"/>
              </a:spcAft>
            </a:pPr>
            <a:r>
              <a:rPr sz="1400" b="0">
                <a:solidFill>
                  <a:srgbClr val="5F677A"/>
                </a:solidFill>
                <a:latin typeface="Arial"/>
                <a:ea typeface="Microsoft YaHei"/>
              </a:rPr>
              <a:t>💬 “I start by saying ‘I’d love to, but…’” / “I give a reason and an alternative.”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you do favours for clients? Where is the limit?</a:t>
            </a:r>
          </a:p>
          <a:p>
            <a:pPr algn="l">
              <a:lnSpc>
                <a:spcPct val="115000"/>
              </a:lnSpc>
              <a:spcAft>
                <a:spcPts val="800"/>
              </a:spcAft>
            </a:pPr>
            <a:r>
              <a:rPr sz="1400" b="0">
                <a:solidFill>
                  <a:srgbClr val="5F677A"/>
                </a:solidFill>
                <a:latin typeface="Arial"/>
                <a:ea typeface="Microsoft YaHei"/>
              </a:rPr>
              <a:t>💬 “I think you should help, as long as…” / “It depends on whether…”</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thank someone who helped you a lot?</a:t>
            </a:r>
          </a:p>
          <a:p>
            <a:pPr algn="l">
              <a:lnSpc>
                <a:spcPct val="115000"/>
              </a:lnSpc>
              <a:spcAft>
                <a:spcPts val="800"/>
              </a:spcAft>
            </a:pPr>
            <a:r>
              <a:rPr sz="1400" b="0">
                <a:solidFill>
                  <a:srgbClr val="5F677A"/>
                </a:solidFill>
                <a:latin typeface="Arial"/>
                <a:ea typeface="Microsoft YaHei"/>
              </a:rPr>
              <a:t>💬 “I send an email” / “I buy them lunch”</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think a favour should be returned? Why?</a:t>
            </a:r>
          </a:p>
          <a:p>
            <a:pPr algn="l">
              <a:lnSpc>
                <a:spcPct val="115000"/>
              </a:lnSpc>
              <a:spcAft>
                <a:spcPts val="800"/>
              </a:spcAft>
            </a:pPr>
            <a:r>
              <a:rPr sz="1400" b="0">
                <a:solidFill>
                  <a:srgbClr val="5F677A"/>
                </a:solidFill>
                <a:latin typeface="Arial"/>
                <a:ea typeface="Microsoft YaHei"/>
              </a:rPr>
              <a:t>💬 “I think so, because…” / “Not necessarily; helping is part of the job.”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start with a positive word, like”I’d love to help, but…” or “I’m afraid I can’t, but I could…”. Then I give a short reason and, if possible, an alternative. For example, “I’m afraid I can’t finish it today, but I could do it first thing tomorrow.” I try never to just say “no”, because it can sound unfriendly. Most people appreciate an honest answer and a different solution.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“I’d love to, but…”(我很想,但……)。“first thing tomorrow”(明天一早)。“never to just say no”(不要只说 no)。</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Social language: offers and favours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提供帮助与请求帮忙</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Offer</a:t>
                      </a:r>
                    </a:p>
                  </a:txBody>
                  <a:tcPr anchor="ctr">
                    <a:solidFill>
                      <a:srgbClr val="FFFFFF"/>
                    </a:solidFill>
                  </a:tcPr>
                </a:tc>
                <a:tc>
                  <a:txBody>
                    <a:bodyPr wrap="square"/>
                    <a:lstStyle/>
                    <a:p>
                      <a:r>
                        <a:rPr sz="1600" b="0">
                          <a:solidFill>
                            <a:srgbClr val="1F2A44"/>
                          </a:solidFill>
                          <a:latin typeface="Arial"/>
                          <a:ea typeface="Microsoft YaHei"/>
                        </a:rPr>
                        <a:t>What can I do for you? / Shall I…? / Would you like me to…?</a:t>
                      </a:r>
                    </a:p>
                  </a:txBody>
                  <a:tcPr anchor="ctr">
                    <a:solidFill>
                      <a:srgbClr val="FFFFFF"/>
                    </a:solidFill>
                  </a:tcPr>
                </a:tc>
              </a:tr>
              <a:tr h="408432">
                <a:tc>
                  <a:txBody>
                    <a:bodyPr wrap="square"/>
                    <a:lstStyle/>
                    <a:p>
                      <a:r>
                        <a:rPr sz="1600" b="1">
                          <a:solidFill>
                            <a:srgbClr val="1F2A44"/>
                          </a:solidFill>
                          <a:latin typeface="Arial"/>
                          <a:ea typeface="Microsoft YaHei"/>
                        </a:rPr>
                        <a:t>Offer (extra)</a:t>
                      </a:r>
                    </a:p>
                  </a:txBody>
                  <a:tcPr anchor="ctr">
                    <a:solidFill>
                      <a:srgbClr val="FFEFD9"/>
                    </a:solidFill>
                  </a:tcPr>
                </a:tc>
                <a:tc>
                  <a:txBody>
                    <a:bodyPr wrap="square"/>
                    <a:lstStyle/>
                    <a:p>
                      <a:r>
                        <a:rPr sz="1600" b="0">
                          <a:solidFill>
                            <a:srgbClr val="1F2A44"/>
                          </a:solidFill>
                          <a:latin typeface="Arial"/>
                          <a:ea typeface="Microsoft YaHei"/>
                        </a:rPr>
                        <a:t>Is there anything else I can help you with?</a:t>
                      </a:r>
                    </a:p>
                  </a:txBody>
                  <a:tcPr anchor="ctr">
                    <a:solidFill>
                      <a:srgbClr val="FFEFD9"/>
                    </a:solidFill>
                  </a:tcPr>
                </a:tc>
              </a:tr>
              <a:tr h="408432">
                <a:tc>
                  <a:txBody>
                    <a:bodyPr wrap="square"/>
                    <a:lstStyle/>
                    <a:p>
                      <a:r>
                        <a:rPr sz="1600" b="1">
                          <a:solidFill>
                            <a:srgbClr val="1F2A44"/>
                          </a:solidFill>
                          <a:latin typeface="Arial"/>
                          <a:ea typeface="Microsoft YaHei"/>
                        </a:rPr>
                        <a:t>Promise</a:t>
                      </a:r>
                    </a:p>
                  </a:txBody>
                  <a:tcPr anchor="ctr">
                    <a:solidFill>
                      <a:srgbClr val="FFFFFF"/>
                    </a:solidFill>
                  </a:tcPr>
                </a:tc>
                <a:tc>
                  <a:txBody>
                    <a:bodyPr wrap="square"/>
                    <a:lstStyle/>
                    <a:p>
                      <a:r>
                        <a:rPr sz="1600" b="0">
                          <a:solidFill>
                            <a:srgbClr val="1F2A44"/>
                          </a:solidFill>
                          <a:latin typeface="Arial"/>
                          <a:ea typeface="Microsoft YaHei"/>
                        </a:rPr>
                        <a:t>Leave it with me. ★ / I’ll see what I can do. ★</a:t>
                      </a:r>
                    </a:p>
                  </a:txBody>
                  <a:tcPr anchor="ctr">
                    <a:solidFill>
                      <a:srgbClr val="FFFFFF"/>
                    </a:solidFill>
                  </a:tcPr>
                </a:tc>
              </a:tr>
              <a:tr h="408432">
                <a:tc>
                  <a:txBody>
                    <a:bodyPr wrap="square"/>
                    <a:lstStyle/>
                    <a:p>
                      <a:r>
                        <a:rPr sz="1600" b="1">
                          <a:solidFill>
                            <a:srgbClr val="1F2A44"/>
                          </a:solidFill>
                          <a:latin typeface="Arial"/>
                          <a:ea typeface="Microsoft YaHei"/>
                        </a:rPr>
                        <a:t>Ask (neutral)</a:t>
                      </a:r>
                    </a:p>
                  </a:txBody>
                  <a:tcPr anchor="ctr">
                    <a:solidFill>
                      <a:srgbClr val="FFEFD9"/>
                    </a:solidFill>
                  </a:tcPr>
                </a:tc>
                <a:tc>
                  <a:txBody>
                    <a:bodyPr wrap="square"/>
                    <a:lstStyle/>
                    <a:p>
                      <a:r>
                        <a:rPr sz="1600" b="0">
                          <a:solidFill>
                            <a:srgbClr val="1F2A44"/>
                          </a:solidFill>
                          <a:latin typeface="Arial"/>
                          <a:ea typeface="Microsoft YaHei"/>
                        </a:rPr>
                        <a:t>Could you do me a favour? / Would you mind -ing…?</a:t>
                      </a:r>
                    </a:p>
                  </a:txBody>
                  <a:tcPr anchor="ctr">
                    <a:solidFill>
                      <a:srgbClr val="FFEFD9"/>
                    </a:solidFill>
                  </a:tcPr>
                </a:tc>
              </a:tr>
              <a:tr h="652272">
                <a:tc>
                  <a:txBody>
                    <a:bodyPr wrap="square"/>
                    <a:lstStyle/>
                    <a:p>
                      <a:r>
                        <a:rPr sz="1600" b="1">
                          <a:solidFill>
                            <a:srgbClr val="1F2A44"/>
                          </a:solidFill>
                          <a:latin typeface="Arial"/>
                          <a:ea typeface="Microsoft YaHei"/>
                        </a:rPr>
                        <a:t>Ask (polite)</a:t>
                      </a:r>
                    </a:p>
                  </a:txBody>
                  <a:tcPr anchor="ctr">
                    <a:solidFill>
                      <a:srgbClr val="FFFFFF"/>
                    </a:solidFill>
                  </a:tcPr>
                </a:tc>
                <a:tc>
                  <a:txBody>
                    <a:bodyPr wrap="square"/>
                    <a:lstStyle/>
                    <a:p>
                      <a:r>
                        <a:rPr sz="1600" b="0">
                          <a:solidFill>
                            <a:srgbClr val="1F2A44"/>
                          </a:solidFill>
                          <a:latin typeface="Arial"/>
                          <a:ea typeface="Microsoft YaHei"/>
                        </a:rPr>
                        <a:t>I was wondering if you could… / I hate to bother you, but… ★</a:t>
                      </a:r>
                    </a:p>
                  </a:txBody>
                  <a:tcPr anchor="ctr">
                    <a:solidFill>
                      <a:srgbClr val="FFFFFF"/>
                    </a:solidFill>
                  </a:tcPr>
                </a:tc>
              </a:tr>
            </a:tbl>
          </a:graphicData>
        </a:graphic>
      </p:graphicFrame>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Social language: offers and favours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提供帮助与请求帮忙</a:t>
            </a:r>
          </a:p>
        </p:txBody>
      </p:sp>
      <p:graphicFrame>
        <p:nvGraphicFramePr>
          <p:cNvPr id="9" name="Table 8"/>
          <p:cNvGraphicFramePr>
            <a:graphicFrameLocks noGrp="1"/>
          </p:cNvGraphicFramePr>
          <p:nvPr/>
        </p:nvGraphicFramePr>
        <p:xfrm>
          <a:off x="548640" y="1417320"/>
          <a:ext cx="11094415" cy="2450592"/>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Ask (strong)</a:t>
                      </a:r>
                    </a:p>
                  </a:txBody>
                  <a:tcPr anchor="ctr">
                    <a:solidFill>
                      <a:srgbClr val="FFFFFF"/>
                    </a:solidFill>
                  </a:tcPr>
                </a:tc>
                <a:tc>
                  <a:txBody>
                    <a:bodyPr wrap="square"/>
                    <a:lstStyle/>
                    <a:p>
                      <a:r>
                        <a:rPr sz="1600" b="0">
                          <a:solidFill>
                            <a:srgbClr val="1F2A44"/>
                          </a:solidFill>
                          <a:latin typeface="Arial"/>
                          <a:ea typeface="Microsoft YaHei"/>
                        </a:rPr>
                        <a:t>I’d really appreciate it if you could… ★</a:t>
                      </a:r>
                    </a:p>
                  </a:txBody>
                  <a:tcPr anchor="ctr">
                    <a:solidFill>
                      <a:srgbClr val="FFFFFF"/>
                    </a:solidFill>
                  </a:tcPr>
                </a:tc>
              </a:tr>
              <a:tr h="408432">
                <a:tc>
                  <a:txBody>
                    <a:bodyPr wrap="square"/>
                    <a:lstStyle/>
                    <a:p>
                      <a:r>
                        <a:rPr sz="1600" b="1">
                          <a:solidFill>
                            <a:srgbClr val="1F2A44"/>
                          </a:solidFill>
                          <a:latin typeface="Arial"/>
                          <a:ea typeface="Microsoft YaHei"/>
                        </a:rPr>
                        <a:t>Accept</a:t>
                      </a:r>
                    </a:p>
                  </a:txBody>
                  <a:tcPr anchor="ctr">
                    <a:solidFill>
                      <a:srgbClr val="FFEFD9"/>
                    </a:solidFill>
                  </a:tcPr>
                </a:tc>
                <a:tc>
                  <a:txBody>
                    <a:bodyPr wrap="square"/>
                    <a:lstStyle/>
                    <a:p>
                      <a:r>
                        <a:rPr sz="1600" b="0">
                          <a:solidFill>
                            <a:srgbClr val="1F2A44"/>
                          </a:solidFill>
                          <a:latin typeface="Arial"/>
                          <a:ea typeface="Microsoft YaHei"/>
                        </a:rPr>
                        <a:t>Sure. / Of course. / I’d be happy to.</a:t>
                      </a:r>
                    </a:p>
                  </a:txBody>
                  <a:tcPr anchor="ctr">
                    <a:solidFill>
                      <a:srgbClr val="FFEFD9"/>
                    </a:solidFill>
                  </a:tcPr>
                </a:tc>
              </a:tr>
              <a:tr h="408432">
                <a:tc>
                  <a:txBody>
                    <a:bodyPr wrap="square"/>
                    <a:lstStyle/>
                    <a:p>
                      <a:r>
                        <a:rPr sz="1600" b="1">
                          <a:solidFill>
                            <a:srgbClr val="1F2A44"/>
                          </a:solidFill>
                          <a:latin typeface="Arial"/>
                          <a:ea typeface="Microsoft YaHei"/>
                        </a:rPr>
                        <a:t>Decline</a:t>
                      </a:r>
                    </a:p>
                  </a:txBody>
                  <a:tcPr anchor="ctr">
                    <a:solidFill>
                      <a:srgbClr val="FFFFFF"/>
                    </a:solidFill>
                  </a:tcPr>
                </a:tc>
                <a:tc>
                  <a:txBody>
                    <a:bodyPr wrap="square"/>
                    <a:lstStyle/>
                    <a:p>
                      <a:r>
                        <a:rPr sz="1600" b="0">
                          <a:solidFill>
                            <a:srgbClr val="1F2A44"/>
                          </a:solidFill>
                          <a:latin typeface="Arial"/>
                          <a:ea typeface="Microsoft YaHei"/>
                        </a:rPr>
                        <a:t>I’m afraid I can’t, but I could… ★</a:t>
                      </a:r>
                    </a:p>
                  </a:txBody>
                  <a:tcPr anchor="ctr">
                    <a:solidFill>
                      <a:srgbClr val="FFFFFF"/>
                    </a:solidFill>
                  </a:tcPr>
                </a:tc>
              </a:tr>
              <a:tr h="408432">
                <a:tc>
                  <a:txBody>
                    <a:bodyPr wrap="square"/>
                    <a:lstStyle/>
                    <a:p>
                      <a:r>
                        <a:rPr sz="1600" b="1">
                          <a:solidFill>
                            <a:srgbClr val="1F2A44"/>
                          </a:solidFill>
                          <a:latin typeface="Arial"/>
                          <a:ea typeface="Microsoft YaHei"/>
                        </a:rPr>
                        <a:t>Thank</a:t>
                      </a:r>
                    </a:p>
                  </a:txBody>
                  <a:tcPr anchor="ctr">
                    <a:solidFill>
                      <a:srgbClr val="FFEFD9"/>
                    </a:solidFill>
                  </a:tcPr>
                </a:tc>
                <a:tc>
                  <a:txBody>
                    <a:bodyPr wrap="square"/>
                    <a:lstStyle/>
                    <a:p>
                      <a:r>
                        <a:rPr sz="1600" b="0">
                          <a:solidFill>
                            <a:srgbClr val="1F2A44"/>
                          </a:solidFill>
                          <a:latin typeface="Arial"/>
                          <a:ea typeface="Microsoft YaHei"/>
                        </a:rPr>
                        <a:t>I owe you one. ★ / That’s very kind of you.</a:t>
                      </a:r>
                    </a:p>
                  </a:txBody>
                  <a:tcPr anchor="ctr">
                    <a:solidFill>
                      <a:srgbClr val="FFEFD9"/>
                    </a:solidFill>
                  </a:tcPr>
                </a:tc>
              </a:tr>
              <a:tr h="408432">
                <a:tc>
                  <a:txBody>
                    <a:bodyPr wrap="square"/>
                    <a:lstStyle/>
                    <a:p>
                      <a:r>
                        <a:rPr sz="1600" b="1">
                          <a:solidFill>
                            <a:srgbClr val="1F2A44"/>
                          </a:solidFill>
                          <a:latin typeface="Arial"/>
                          <a:ea typeface="Microsoft YaHei"/>
                        </a:rPr>
                        <a:t>Reply to thanks</a:t>
                      </a:r>
                    </a:p>
                  </a:txBody>
                  <a:tcPr anchor="ctr">
                    <a:solidFill>
                      <a:srgbClr val="FFFFFF"/>
                    </a:solidFill>
                  </a:tcPr>
                </a:tc>
                <a:tc>
                  <a:txBody>
                    <a:bodyPr wrap="square"/>
                    <a:lstStyle/>
                    <a:p>
                      <a:r>
                        <a:rPr sz="1600" b="0">
                          <a:solidFill>
                            <a:srgbClr val="1F2A44"/>
                          </a:solidFill>
                          <a:latin typeface="Arial"/>
                          <a:ea typeface="Microsoft YaHei"/>
                        </a:rPr>
                        <a:t>Don’t mention it. / Any time. / My pleasure.</a:t>
                      </a:r>
                    </a:p>
                  </a:txBody>
                  <a:tcPr anchor="ctr">
                    <a:solidFill>
                      <a:srgbClr val="FFFFFF"/>
                    </a:solidFill>
                  </a:tcPr>
                </a:tc>
              </a:tr>
            </a:tbl>
          </a:graphicData>
        </a:graphic>
      </p:graphicFrame>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Requests: from direct to very polite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从直接到很客气</a:t>
            </a:r>
          </a:p>
        </p:txBody>
      </p:sp>
      <p:graphicFrame>
        <p:nvGraphicFramePr>
          <p:cNvPr id="9" name="Table 8"/>
          <p:cNvGraphicFramePr>
            <a:graphicFrameLocks noGrp="1"/>
          </p:cNvGraphicFramePr>
          <p:nvPr/>
        </p:nvGraphicFramePr>
        <p:xfrm>
          <a:off x="548640" y="1417320"/>
          <a:ext cx="11094415" cy="2859024"/>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Level</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Direct</a:t>
                      </a:r>
                    </a:p>
                  </a:txBody>
                  <a:tcPr anchor="ctr">
                    <a:solidFill>
                      <a:srgbClr val="FFFFFF"/>
                    </a:solidFill>
                  </a:tcPr>
                </a:tc>
                <a:tc>
                  <a:txBody>
                    <a:bodyPr wrap="square"/>
                    <a:lstStyle/>
                    <a:p>
                      <a:r>
                        <a:rPr sz="1600" b="0">
                          <a:solidFill>
                            <a:srgbClr val="1F2A44"/>
                          </a:solidFill>
                          <a:latin typeface="Arial"/>
                          <a:ea typeface="Microsoft YaHei"/>
                        </a:rPr>
                        <a:t>Check this for me. (too direct)</a:t>
                      </a:r>
                    </a:p>
                  </a:txBody>
                  <a:tcPr anchor="ctr">
                    <a:solidFill>
                      <a:srgbClr val="FFFFFF"/>
                    </a:solidFill>
                  </a:tcPr>
                </a:tc>
              </a:tr>
              <a:tr h="408432">
                <a:tc>
                  <a:txBody>
                    <a:bodyPr wrap="square"/>
                    <a:lstStyle/>
                    <a:p>
                      <a:r>
                        <a:rPr sz="1600" b="1">
                          <a:solidFill>
                            <a:srgbClr val="1F2A44"/>
                          </a:solidFill>
                          <a:latin typeface="Arial"/>
                          <a:ea typeface="Microsoft YaHei"/>
                        </a:rPr>
                        <a:t>Neutral</a:t>
                      </a:r>
                    </a:p>
                  </a:txBody>
                  <a:tcPr anchor="ctr">
                    <a:solidFill>
                      <a:srgbClr val="FFEFD9"/>
                    </a:solidFill>
                  </a:tcPr>
                </a:tc>
                <a:tc>
                  <a:txBody>
                    <a:bodyPr wrap="square"/>
                    <a:lstStyle/>
                    <a:p>
                      <a:r>
                        <a:rPr sz="1600" b="0">
                          <a:solidFill>
                            <a:srgbClr val="1F2A44"/>
                          </a:solidFill>
                          <a:latin typeface="Arial"/>
                          <a:ea typeface="Microsoft YaHei"/>
                        </a:rPr>
                        <a:t>Can you check this for me?</a:t>
                      </a:r>
                    </a:p>
                  </a:txBody>
                  <a:tcPr anchor="ctr">
                    <a:solidFill>
                      <a:srgbClr val="FFEFD9"/>
                    </a:solidFill>
                  </a:tcPr>
                </a:tc>
              </a:tr>
              <a:tr h="408432">
                <a:tc>
                  <a:txBody>
                    <a:bodyPr wrap="square"/>
                    <a:lstStyle/>
                    <a:p>
                      <a:r>
                        <a:rPr sz="1600" b="1">
                          <a:solidFill>
                            <a:srgbClr val="1F2A44"/>
                          </a:solidFill>
                          <a:latin typeface="Arial"/>
                          <a:ea typeface="Microsoft YaHei"/>
                        </a:rPr>
                        <a:t>Polite</a:t>
                      </a:r>
                    </a:p>
                  </a:txBody>
                  <a:tcPr anchor="ctr">
                    <a:solidFill>
                      <a:srgbClr val="FFFFFF"/>
                    </a:solidFill>
                  </a:tcPr>
                </a:tc>
                <a:tc>
                  <a:txBody>
                    <a:bodyPr wrap="square"/>
                    <a:lstStyle/>
                    <a:p>
                      <a:r>
                        <a:rPr sz="1600" b="0">
                          <a:solidFill>
                            <a:srgbClr val="1F2A44"/>
                          </a:solidFill>
                          <a:latin typeface="Arial"/>
                          <a:ea typeface="Microsoft YaHei"/>
                        </a:rPr>
                        <a:t>Could you check this for me, please?</a:t>
                      </a:r>
                    </a:p>
                  </a:txBody>
                  <a:tcPr anchor="ctr">
                    <a:solidFill>
                      <a:srgbClr val="FFFFFF"/>
                    </a:solidFill>
                  </a:tcPr>
                </a:tc>
              </a:tr>
              <a:tr h="408432">
                <a:tc>
                  <a:txBody>
                    <a:bodyPr wrap="square"/>
                    <a:lstStyle/>
                    <a:p>
                      <a:r>
                        <a:rPr sz="1600" b="1">
                          <a:solidFill>
                            <a:srgbClr val="1F2A44"/>
                          </a:solidFill>
                          <a:latin typeface="Arial"/>
                          <a:ea typeface="Microsoft YaHei"/>
                        </a:rPr>
                        <a:t>Very polite</a:t>
                      </a:r>
                    </a:p>
                  </a:txBody>
                  <a:tcPr anchor="ctr">
                    <a:solidFill>
                      <a:srgbClr val="FFEFD9"/>
                    </a:solidFill>
                  </a:tcPr>
                </a:tc>
                <a:tc>
                  <a:txBody>
                    <a:bodyPr wrap="square"/>
                    <a:lstStyle/>
                    <a:p>
                      <a:r>
                        <a:rPr sz="1600" b="0">
                          <a:solidFill>
                            <a:srgbClr val="1F2A44"/>
                          </a:solidFill>
                          <a:latin typeface="Arial"/>
                          <a:ea typeface="Microsoft YaHei"/>
                        </a:rPr>
                        <a:t>Would you mind checking this for me?</a:t>
                      </a:r>
                    </a:p>
                  </a:txBody>
                  <a:tcPr anchor="ctr">
                    <a:solidFill>
                      <a:srgbClr val="FFEFD9"/>
                    </a:solidFill>
                  </a:tcPr>
                </a:tc>
              </a:tr>
              <a:tr h="408432">
                <a:tc>
                  <a:txBody>
                    <a:bodyPr wrap="square"/>
                    <a:lstStyle/>
                    <a:p>
                      <a:r>
                        <a:rPr sz="1600" b="1">
                          <a:solidFill>
                            <a:srgbClr val="1F2A44"/>
                          </a:solidFill>
                          <a:latin typeface="Arial"/>
                          <a:ea typeface="Microsoft YaHei"/>
                        </a:rPr>
                        <a:t>Very polite ★</a:t>
                      </a:r>
                    </a:p>
                  </a:txBody>
                  <a:tcPr anchor="ctr">
                    <a:solidFill>
                      <a:srgbClr val="FFFFFF"/>
                    </a:solidFill>
                  </a:tcPr>
                </a:tc>
                <a:tc>
                  <a:txBody>
                    <a:bodyPr wrap="square"/>
                    <a:lstStyle/>
                    <a:p>
                      <a:r>
                        <a:rPr sz="1600" b="0">
                          <a:solidFill>
                            <a:srgbClr val="1F2A44"/>
                          </a:solidFill>
                          <a:latin typeface="Arial"/>
                          <a:ea typeface="Microsoft YaHei"/>
                        </a:rPr>
                        <a:t>I was wondering if you could check this for me.</a:t>
                      </a:r>
                    </a:p>
                  </a:txBody>
                  <a:tcPr anchor="ctr">
                    <a:solidFill>
                      <a:srgbClr val="FFFFFF"/>
                    </a:solidFill>
                  </a:tcPr>
                </a:tc>
              </a:tr>
              <a:tr h="408432">
                <a:tc>
                  <a:txBody>
                    <a:bodyPr wrap="square"/>
                    <a:lstStyle/>
                    <a:p>
                      <a:r>
                        <a:rPr sz="1600" b="1">
                          <a:solidFill>
                            <a:srgbClr val="1F2A44"/>
                          </a:solidFill>
                          <a:latin typeface="Arial"/>
                          <a:ea typeface="Microsoft YaHei"/>
                        </a:rPr>
                        <a:t>Very polite ★</a:t>
                      </a:r>
                    </a:p>
                  </a:txBody>
                  <a:tcPr anchor="ctr">
                    <a:solidFill>
                      <a:srgbClr val="FFEFD9"/>
                    </a:solidFill>
                  </a:tcPr>
                </a:tc>
                <a:tc>
                  <a:txBody>
                    <a:bodyPr wrap="square"/>
                    <a:lstStyle/>
                    <a:p>
                      <a:r>
                        <a:rPr sz="1600" b="0">
                          <a:solidFill>
                            <a:srgbClr val="1F2A44"/>
                          </a:solidFill>
                          <a:latin typeface="Arial"/>
                          <a:ea typeface="Microsoft YaHei"/>
                        </a:rPr>
                        <a:t>I’d really appreciate it if you could check this.</a:t>
                      </a:r>
                    </a:p>
                  </a:txBody>
                  <a:tcPr anchor="ctr">
                    <a:solidFill>
                      <a:srgbClr val="FFEFD9"/>
                    </a:solidFill>
                  </a:tcPr>
                </a:tc>
              </a:tr>
            </a:tbl>
          </a:graphicData>
        </a:graphic>
      </p:graphicFrame>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Requests: from direct to very polite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从直接到很客气</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Answering “Would you mind…?”: </a:t>
            </a:r>
            <a:r>
              <a:rPr sz="1700" b="0">
                <a:solidFill>
                  <a:srgbClr val="1F2A44"/>
                </a:solidFill>
                <a:latin typeface="Arial"/>
                <a:ea typeface="Microsoft YaHei"/>
              </a:rPr>
              <a:t>“Not at all.” / “No, of course not.” / “Sure, no problem.” Don’t answer “Yes” (it means you do mind).</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Offers: </a:t>
            </a:r>
            <a:r>
              <a:rPr sz="1700" b="0">
                <a:solidFill>
                  <a:srgbClr val="1F2A44"/>
                </a:solidFill>
                <a:latin typeface="Arial"/>
                <a:ea typeface="Microsoft YaHei"/>
              </a:rPr>
              <a:t>Shall I + base verb (UK) / Would you like me to + base verb. “Shall I open the window?”</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Softening a refusal: </a:t>
            </a:r>
            <a:r>
              <a:rPr sz="1700" b="0">
                <a:solidFill>
                  <a:srgbClr val="1F2A44"/>
                </a:solidFill>
                <a:latin typeface="Arial"/>
                <a:ea typeface="Microsoft YaHei"/>
              </a:rPr>
              <a:t>apology + reason + alternative: “I’m afraid I can’t. I’m in a meeting all day, but I could do it tomorrow.”</a:t>
            </a:r>
          </a:p>
        </p:txBody>
      </p:sp>
      <p:sp>
        <p:nvSpPr>
          <p:cNvPr id="18" name="Rounded Rectangle 17"/>
          <p:cNvSpPr/>
          <p:nvPr/>
        </p:nvSpPr>
        <p:spPr>
          <a:xfrm>
            <a:off x="548640" y="353567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441959"/>
          </a:xfrm>
          <a:prstGeom prst="rect">
            <a:avLst/>
          </a:prstGeom>
          <a:noFill/>
        </p:spPr>
        <p:txBody>
          <a:bodyPr wrap="square" anchor="ctr">
            <a:spAutoFit/>
          </a:bodyPr>
          <a:lstStyle/>
          <a:p>
            <a:r>
              <a:rPr sz="1700" b="1">
                <a:solidFill>
                  <a:srgbClr val="FFC857"/>
                </a:solidFill>
                <a:latin typeface="Arial"/>
                <a:ea typeface="Microsoft YaHei"/>
              </a:rPr>
              <a:t>Would you mind + -ing: </a:t>
            </a:r>
            <a:r>
              <a:rPr sz="1700" b="0">
                <a:solidFill>
                  <a:srgbClr val="1F2A44"/>
                </a:solidFill>
                <a:latin typeface="Arial"/>
                <a:ea typeface="Microsoft YaHei"/>
              </a:rPr>
              <a:t>“Would you mind closing the door?” (not “to close”)</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Can I help you something?</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Can I help you with anything? / What can I do for you?</a:t>
            </a:r>
          </a:p>
          <a:p>
            <a:pPr algn="l">
              <a:spcAft>
                <a:spcPts val="200"/>
              </a:spcAft>
            </a:pPr>
            <a:r>
              <a:rPr sz="1200" b="0">
                <a:solidFill>
                  <a:srgbClr val="FFFFFF"/>
                </a:solidFill>
                <a:latin typeface="Arial"/>
                <a:ea typeface="Microsoft YaHei"/>
              </a:rPr>
              <a:t>help sb with sth</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Would you mind to check it?</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Would you mind checking it?</a:t>
            </a:r>
          </a:p>
          <a:p>
            <a:pPr algn="l">
              <a:spcAft>
                <a:spcPts val="200"/>
              </a:spcAft>
            </a:pPr>
            <a:r>
              <a:rPr sz="1200" b="0">
                <a:solidFill>
                  <a:srgbClr val="FFFFFF"/>
                </a:solidFill>
                <a:latin typeface="Arial"/>
                <a:ea typeface="Microsoft YaHei"/>
              </a:rPr>
              <a:t>mind + -ing</a:t>
            </a:r>
          </a:p>
        </p:txBody>
      </p:sp>
      <p:sp>
        <p:nvSpPr>
          <p:cNvPr id="13" name="Rounded Rectangle 12"/>
          <p:cNvSpPr/>
          <p:nvPr/>
        </p:nvSpPr>
        <p:spPr>
          <a:xfrm>
            <a:off x="548640" y="3108958"/>
            <a:ext cx="5455767" cy="670560"/>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Would you mind opening the window? “Yes, of course.”</a:t>
            </a:r>
          </a:p>
        </p:txBody>
      </p:sp>
      <p:sp>
        <p:nvSpPr>
          <p:cNvPr id="14" name="Rounded Rectangle 13"/>
          <p:cNvSpPr/>
          <p:nvPr/>
        </p:nvSpPr>
        <p:spPr>
          <a:xfrm>
            <a:off x="6187287" y="3108958"/>
            <a:ext cx="5455767" cy="67056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“Not at all.” / “No problem.”</a:t>
            </a:r>
          </a:p>
          <a:p>
            <a:pPr algn="l">
              <a:spcAft>
                <a:spcPts val="200"/>
              </a:spcAft>
            </a:pPr>
            <a:r>
              <a:rPr sz="1200" b="0">
                <a:solidFill>
                  <a:srgbClr val="FFFFFF"/>
                </a:solidFill>
                <a:latin typeface="Arial"/>
                <a:ea typeface="Microsoft YaHei"/>
              </a:rPr>
              <a:t>Yes 会变成”我介意”</a:t>
            </a:r>
          </a:p>
        </p:txBody>
      </p:sp>
      <p:sp>
        <p:nvSpPr>
          <p:cNvPr id="15" name="Rounded Rectangle 14"/>
          <p:cNvSpPr/>
          <p:nvPr/>
        </p:nvSpPr>
        <p:spPr>
          <a:xfrm>
            <a:off x="548640" y="387095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help me. (to a colleague)</a:t>
            </a:r>
          </a:p>
        </p:txBody>
      </p:sp>
      <p:sp>
        <p:nvSpPr>
          <p:cNvPr id="16" name="Rounded Rectangle 15"/>
          <p:cNvSpPr/>
          <p:nvPr/>
        </p:nvSpPr>
        <p:spPr>
          <a:xfrm>
            <a:off x="6187287" y="387095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you give me a hand with this? / Could you help me with this?</a:t>
            </a:r>
          </a:p>
          <a:p>
            <a:pPr algn="l">
              <a:spcAft>
                <a:spcPts val="200"/>
              </a:spcAft>
            </a:pPr>
            <a:r>
              <a:rPr sz="1200" b="0">
                <a:solidFill>
                  <a:srgbClr val="FFFFFF"/>
                </a:solidFill>
                <a:latin typeface="Arial"/>
                <a:ea typeface="Microsoft YaHei"/>
              </a:rPr>
              <a:t>命令式太直接</a:t>
            </a:r>
          </a:p>
        </p:txBody>
      </p:sp>
      <p:sp>
        <p:nvSpPr>
          <p:cNvPr id="17" name="Rounded Rectangle 16"/>
          <p:cNvSpPr/>
          <p:nvPr/>
        </p:nvSpPr>
        <p:spPr>
          <a:xfrm>
            <a:off x="548640" y="481583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Make me a favour.</a:t>
            </a:r>
          </a:p>
        </p:txBody>
      </p:sp>
      <p:sp>
        <p:nvSpPr>
          <p:cNvPr id="18" name="Rounded Rectangle 17"/>
          <p:cNvSpPr/>
          <p:nvPr/>
        </p:nvSpPr>
        <p:spPr>
          <a:xfrm>
            <a:off x="6187287" y="481583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Do me a favour.</a:t>
            </a:r>
          </a:p>
          <a:p>
            <a:pPr algn="l">
              <a:spcAft>
                <a:spcPts val="200"/>
              </a:spcAft>
            </a:pPr>
            <a:r>
              <a:rPr sz="1200" b="0">
                <a:solidFill>
                  <a:srgbClr val="FFFFFF"/>
                </a:solidFill>
                <a:latin typeface="Arial"/>
                <a:ea typeface="Microsoft YaHei"/>
              </a:rPr>
              <a:t>do a favour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No, I can’t.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afraid I can’t, but I could…</a:t>
            </a:r>
          </a:p>
          <a:p>
            <a:pPr algn="l">
              <a:spcAft>
                <a:spcPts val="200"/>
              </a:spcAft>
            </a:pPr>
            <a:r>
              <a:rPr sz="1200" b="0">
                <a:solidFill>
                  <a:srgbClr val="FFFFFF"/>
                </a:solidFill>
                <a:latin typeface="Arial"/>
                <a:ea typeface="Microsoft YaHei"/>
              </a:rPr>
              <a:t>说不时给出替代方案</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help you do that. (offer)</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Shall I do that for you? / Would you like me to do that?</a:t>
            </a:r>
          </a:p>
          <a:p>
            <a:pPr algn="l">
              <a:spcAft>
                <a:spcPts val="200"/>
              </a:spcAft>
            </a:pPr>
            <a:r>
              <a:rPr sz="1200" b="0">
                <a:solidFill>
                  <a:srgbClr val="FFFFFF"/>
                </a:solidFill>
                <a:latin typeface="Arial"/>
                <a:ea typeface="Microsoft YaHei"/>
              </a:rPr>
              <a:t>提供帮助更礼貌</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return your favour. (as a casual thanks)</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Thanks, I owe you one.</a:t>
            </a:r>
          </a:p>
          <a:p>
            <a:pPr algn="l">
              <a:spcAft>
                <a:spcPts val="200"/>
              </a:spcAft>
            </a:pPr>
            <a:r>
              <a:rPr sz="1200" b="0">
                <a:solidFill>
                  <a:srgbClr val="FFFFFF"/>
                </a:solidFill>
                <a:latin typeface="Arial"/>
                <a:ea typeface="Microsoft YaHei"/>
              </a:rPr>
              <a:t>口语固定说法</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Thank you for your help me.</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Thank you for your help. / for helping me.</a:t>
            </a:r>
          </a:p>
          <a:p>
            <a:pPr algn="l">
              <a:spcAft>
                <a:spcPts val="200"/>
              </a:spcAft>
            </a:pPr>
            <a:r>
              <a:rPr sz="1200" b="0">
                <a:solidFill>
                  <a:srgbClr val="FFFFFF"/>
                </a:solidFill>
                <a:latin typeface="Arial"/>
                <a:ea typeface="Microsoft YaHei"/>
              </a:rPr>
              <a:t>for + 名词 / -ing</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Welcome. (reply to thanks)</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You’re welcome. / Don’t mention it. / Any time.</a:t>
            </a:r>
          </a:p>
          <a:p>
            <a:pPr algn="l">
              <a:spcAft>
                <a:spcPts val="200"/>
              </a:spcAft>
            </a:pPr>
            <a:r>
              <a:rPr sz="1200" b="0">
                <a:solidFill>
                  <a:srgbClr val="FFFFFF"/>
                </a:solidFill>
                <a:latin typeface="Arial"/>
                <a:ea typeface="Microsoft YaHei"/>
              </a:rPr>
              <a:t>缺 You’re</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mind + -ing, do a favour (not “make”), help sb with sth, not at all (not “yes”) when answering Would you mind…?, I’m afraid I can’t, but I could….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Saying no is normal. English speakers value honesty. A polite “no” with an alternative is better than a vague “maybe” which you can’t keep.</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Favours and reciprocity. “I owe you one” shows you remember. A small return gesture (coffee, lunch) is a nice touch.</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0">
                <a:solidFill>
                  <a:srgbClr val="1F2A44"/>
                </a:solidFill>
                <a:latin typeface="Arial"/>
                <a:ea typeface="Microsoft YaHei"/>
              </a:rPr>
              <a:t>Don’t overpromise. “I’ll see what I can do” is a soft promise; if you can’t help, say so quickly.</a:t>
            </a:r>
          </a:p>
        </p:txBody>
      </p:sp>
      <p:sp>
        <p:nvSpPr>
          <p:cNvPr id="18" name="Rounded Rectangle 17"/>
          <p:cNvSpPr/>
          <p:nvPr/>
        </p:nvSpPr>
        <p:spPr>
          <a:xfrm>
            <a:off x="548640" y="353567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701039"/>
          </a:xfrm>
          <a:prstGeom prst="rect">
            <a:avLst/>
          </a:prstGeom>
          <a:noFill/>
        </p:spPr>
        <p:txBody>
          <a:bodyPr wrap="square" anchor="ctr">
            <a:spAutoFit/>
          </a:bodyPr>
          <a:lstStyle/>
          <a:p>
            <a:r>
              <a:rPr sz="1700" b="0">
                <a:solidFill>
                  <a:srgbClr val="1F2A44"/>
                </a:solidFill>
                <a:latin typeface="Arial"/>
                <a:ea typeface="Microsoft YaHei"/>
              </a:rPr>
              <a:t>Thank in the right way. A short email “Thanks again for your help with the report. It made a real difference.” is appreciated.</a:t>
            </a:r>
          </a:p>
        </p:txBody>
      </p:sp>
      <p:sp>
        <p:nvSpPr>
          <p:cNvPr id="21" name="Rounded Rectangle 20"/>
          <p:cNvSpPr/>
          <p:nvPr/>
        </p:nvSpPr>
        <p:spPr>
          <a:xfrm>
            <a:off x="548640" y="432815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32815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328156"/>
            <a:ext cx="10728655" cy="701039"/>
          </a:xfrm>
          <a:prstGeom prst="rect">
            <a:avLst/>
          </a:prstGeom>
          <a:noFill/>
        </p:spPr>
        <p:txBody>
          <a:bodyPr wrap="square" anchor="ctr">
            <a:spAutoFit/>
          </a:bodyPr>
          <a:lstStyle/>
          <a:p>
            <a:r>
              <a:rPr sz="1700" b="0">
                <a:solidFill>
                  <a:srgbClr val="1F2A44"/>
                </a:solidFill>
                <a:latin typeface="Arial"/>
                <a:ea typeface="Microsoft YaHei"/>
              </a:rPr>
              <a:t>Ask early. Asking at the last minute without apology sounds careless: “I know it’s short notice, but…”.</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offer help politely (What can I do for you? Shall I…? Would you like me to…?).</a:t>
            </a:r>
          </a:p>
        </p:txBody>
      </p:sp>
      <p:sp>
        <p:nvSpPr>
          <p:cNvPr id="12" name="TextBox 11"/>
          <p:cNvSpPr txBox="1"/>
          <p:nvPr/>
        </p:nvSpPr>
        <p:spPr>
          <a:xfrm>
            <a:off x="9539935" y="1508760"/>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350008"/>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50008"/>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350008"/>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ask for a favour politely (Could you do me a favour? I was wondering if you could…).</a:t>
            </a:r>
          </a:p>
        </p:txBody>
      </p:sp>
      <p:sp>
        <p:nvSpPr>
          <p:cNvPr id="16" name="TextBox 15"/>
          <p:cNvSpPr txBox="1"/>
          <p:nvPr/>
        </p:nvSpPr>
        <p:spPr>
          <a:xfrm>
            <a:off x="9539935" y="2350008"/>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191256"/>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191256"/>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191256"/>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say yes or no politely (I’d be happy to. I’m afraid I can’t, but I could…).</a:t>
            </a:r>
          </a:p>
        </p:txBody>
      </p:sp>
      <p:sp>
        <p:nvSpPr>
          <p:cNvPr id="20" name="TextBox 19"/>
          <p:cNvSpPr txBox="1"/>
          <p:nvPr/>
        </p:nvSpPr>
        <p:spPr>
          <a:xfrm>
            <a:off x="9539935" y="3191256"/>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4032504"/>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032504"/>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4032504"/>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promise action (Leave it with me. I’ll see what I can do.) and say thank you (I owe you one.).</a:t>
            </a:r>
          </a:p>
        </p:txBody>
      </p:sp>
      <p:sp>
        <p:nvSpPr>
          <p:cNvPr id="24" name="TextBox 23"/>
          <p:cNvSpPr txBox="1"/>
          <p:nvPr/>
        </p:nvSpPr>
        <p:spPr>
          <a:xfrm>
            <a:off x="9539935" y="4032504"/>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73752"/>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73752"/>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73752"/>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use mind + -ing, do a favour, help with and not at all correctly.</a:t>
            </a:r>
          </a:p>
        </p:txBody>
      </p:sp>
      <p:sp>
        <p:nvSpPr>
          <p:cNvPr id="28" name="TextBox 27"/>
          <p:cNvSpPr txBox="1"/>
          <p:nvPr/>
        </p:nvSpPr>
        <p:spPr>
          <a:xfrm>
            <a:off x="9539935" y="4873752"/>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43 What can I do for you?</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Shall I / Would you like me to, mind + -ing, do a favour, help sb with sth, and polite refusals.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10 · Lesson 44 Business Lunches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199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Business Lunches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商务午餐</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800" b="0">
                <a:solidFill>
                  <a:srgbClr val="FFC857"/>
                </a:solidFill>
                <a:latin typeface="Arial"/>
                <a:ea typeface="Microsoft YaHei"/>
              </a:rPr>
              <a:t>🎯 handle a business lunch: invite, order, ask about the menu, mention allergies or preferences, make small talk, move to business, pay or split the bill, and thank the host.</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8496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Have you ever had a business lunch? Where did you go and who was there?</a:t>
            </a:r>
          </a:p>
        </p:txBody>
      </p:sp>
      <p:sp>
        <p:nvSpPr>
          <p:cNvPr id="12" name="Oval 11"/>
          <p:cNvSpPr/>
          <p:nvPr/>
        </p:nvSpPr>
        <p:spPr>
          <a:xfrm>
            <a:off x="548640" y="242620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28088"/>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28088"/>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kind of food do you usually order when you have lunch with a client?</a:t>
            </a:r>
          </a:p>
        </p:txBody>
      </p:sp>
      <p:sp>
        <p:nvSpPr>
          <p:cNvPr id="15" name="Oval 14"/>
          <p:cNvSpPr/>
          <p:nvPr/>
        </p:nvSpPr>
        <p:spPr>
          <a:xfrm>
            <a:off x="548640" y="326745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3697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23697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When is the right time to start talking about business at a lunch?</a:t>
            </a:r>
          </a:p>
        </p:txBody>
      </p:sp>
      <p:sp>
        <p:nvSpPr>
          <p:cNvPr id="18" name="Oval 17"/>
          <p:cNvSpPr/>
          <p:nvPr/>
        </p:nvSpPr>
        <p:spPr>
          <a:xfrm>
            <a:off x="548640" y="41087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Who usually pays at a business lunch in your country? Is it different in other countries?</a:t>
            </a:r>
          </a:p>
        </p:txBody>
      </p:sp>
      <p:sp>
        <p:nvSpPr>
          <p:cNvPr id="21" name="Oval 20"/>
          <p:cNvSpPr/>
          <p:nvPr/>
        </p:nvSpPr>
        <p:spPr>
          <a:xfrm>
            <a:off x="548640" y="49499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1947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1947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do you thank your host after a lunch?</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题讲过去的事,请用过去式(went, had, ordered)。第 4 题可以说 “In my country, the host usually…”。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2600" b="1">
                <a:solidFill>
                  <a:srgbClr val="1F2A44"/>
                </a:solidFill>
                <a:latin typeface="Arial"/>
                <a:ea typeface="Microsoft YaHei"/>
              </a:rPr>
              <a:t>Describe a business lunch: where you went, what you ordered, what you talked about and who paid.</a:t>
            </a:r>
          </a:p>
        </p:txBody>
      </p:sp>
      <p:sp>
        <p:nvSpPr>
          <p:cNvPr id="10" name="Rounded Rectangle 9"/>
          <p:cNvSpPr/>
          <p:nvPr/>
        </p:nvSpPr>
        <p:spPr>
          <a:xfrm>
            <a:off x="548640" y="3017520"/>
            <a:ext cx="156210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invitation</a:t>
            </a:r>
          </a:p>
        </p:txBody>
      </p:sp>
      <p:sp>
        <p:nvSpPr>
          <p:cNvPr id="11" name="Rounded Rectangle 10"/>
          <p:cNvSpPr/>
          <p:nvPr/>
        </p:nvSpPr>
        <p:spPr>
          <a:xfrm>
            <a:off x="2247900" y="3017520"/>
            <a:ext cx="156210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ordering</a:t>
            </a:r>
          </a:p>
        </p:txBody>
      </p:sp>
      <p:sp>
        <p:nvSpPr>
          <p:cNvPr id="12" name="Rounded Rectangle 11"/>
          <p:cNvSpPr/>
          <p:nvPr/>
        </p:nvSpPr>
        <p:spPr>
          <a:xfrm>
            <a:off x="3947160" y="3017520"/>
            <a:ext cx="156210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small talk</a:t>
            </a:r>
          </a:p>
        </p:txBody>
      </p:sp>
      <p:sp>
        <p:nvSpPr>
          <p:cNvPr id="13" name="Rounded Rectangle 12"/>
          <p:cNvSpPr/>
          <p:nvPr/>
        </p:nvSpPr>
        <p:spPr>
          <a:xfrm>
            <a:off x="5646420" y="3017520"/>
            <a:ext cx="156210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business</a:t>
            </a:r>
          </a:p>
        </p:txBody>
      </p:sp>
      <p:sp>
        <p:nvSpPr>
          <p:cNvPr id="14" name="Rounded Rectangle 13"/>
          <p:cNvSpPr/>
          <p:nvPr/>
        </p:nvSpPr>
        <p:spPr>
          <a:xfrm>
            <a:off x="7345680" y="3017520"/>
            <a:ext cx="1562100"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the bill</a:t>
            </a:r>
          </a:p>
        </p:txBody>
      </p:sp>
      <p:sp>
        <p:nvSpPr>
          <p:cNvPr id="15" name="Rounded Rectangle 14"/>
          <p:cNvSpPr/>
          <p:nvPr/>
        </p:nvSpPr>
        <p:spPr>
          <a:xfrm>
            <a:off x="9044940" y="3017520"/>
            <a:ext cx="156210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6. thanks</a:t>
            </a:r>
          </a:p>
        </p:txBody>
      </p:sp>
      <p:sp>
        <p:nvSpPr>
          <p:cNvPr id="16" name="TextBox 15"/>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7" name="TextBox 16"/>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We went to…   💬 I ordered…   💬 We talked about…   💬 In the end, the host paid / we split the bill.</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讲过去的事用过去式。点菜用 I’ll have… / I’d like…;AA 制说 go Dutch / split the bill。</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Inviting and arriving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邀请与入座</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I’d like to invite you to lunch.</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我想请您吃午饭</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like to invite you to lunch on Thursday.”</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I’ve booked a table for two at 12:30.</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我订了12:30的两人桌</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“I’ve booked a table for two at 12:30.”</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know a great little place near the office.</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我知道办公室附近有个很好的小餐馆</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know a great little place near the office.”</a:t>
            </a:r>
          </a:p>
        </p:txBody>
      </p:sp>
      <p:sp>
        <p:nvSpPr>
          <p:cNvPr id="24" name="Rounded Rectangle 23"/>
          <p:cNvSpPr/>
          <p:nvPr/>
        </p:nvSpPr>
        <p:spPr>
          <a:xfrm>
            <a:off x="548640" y="44424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424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4881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Do you have any dietary requirements?</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4881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您有饮食方面的要求吗?</a:t>
            </a:r>
          </a:p>
        </p:txBody>
      </p:sp>
      <p:sp>
        <p:nvSpPr>
          <p:cNvPr id="28" name="TextBox 27"/>
          <p:cNvSpPr txBox="1"/>
          <p:nvPr/>
        </p:nvSpPr>
        <p:spPr>
          <a:xfrm>
            <a:off x="6675120" y="44881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 you have any dietary requirements?”</a:t>
            </a:r>
          </a:p>
        </p:txBody>
      </p:sp>
      <p:sp>
        <p:nvSpPr>
          <p:cNvPr id="29" name="Rounded Rectangle 28"/>
          <p:cNvSpPr/>
          <p:nvPr/>
        </p:nvSpPr>
        <p:spPr>
          <a:xfrm>
            <a:off x="548640" y="54508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4508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4965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I’m allergic to nuts.</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4965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我对坚果过敏</a:t>
            </a:r>
          </a:p>
        </p:txBody>
      </p:sp>
      <p:sp>
        <p:nvSpPr>
          <p:cNvPr id="33" name="TextBox 32"/>
          <p:cNvSpPr txBox="1"/>
          <p:nvPr/>
        </p:nvSpPr>
        <p:spPr>
          <a:xfrm>
            <a:off x="6675120" y="54965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allergic to nuts. Could you check the dish?”</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Chunk 2: Ordering and talking about food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点餐与谈论食物</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 do you recommend?</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您推荐什么?</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do you recommend?”</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I’ll have the soup, please.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我要汤</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have the soup, please.”</a:t>
            </a:r>
          </a:p>
        </p:txBody>
      </p:sp>
      <p:sp>
        <p:nvSpPr>
          <p:cNvPr id="19" name="Rounded Rectangle 18"/>
          <p:cNvSpPr/>
          <p:nvPr/>
        </p:nvSpPr>
        <p:spPr>
          <a:xfrm>
            <a:off x="548640" y="312928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12400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11760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I have the grilled fish without the sauce?</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我要烤鱼,不加酱</a:t>
            </a:r>
          </a:p>
        </p:txBody>
      </p:sp>
      <p:sp>
        <p:nvSpPr>
          <p:cNvPr id="23" name="TextBox 22"/>
          <p:cNvSpPr txBox="1"/>
          <p:nvPr/>
        </p:nvSpPr>
        <p:spPr>
          <a:xfrm>
            <a:off x="6675120" y="317500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I have the grilled fish without the sauce?”</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Chunk 2: Ordering and talking about food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点餐与谈论食物</a:t>
            </a:r>
          </a:p>
        </p:txBody>
      </p:sp>
      <p:sp>
        <p:nvSpPr>
          <p:cNvPr id="9" name="Rounded Rectangle 8"/>
          <p:cNvSpPr/>
          <p:nvPr/>
        </p:nvSpPr>
        <p:spPr>
          <a:xfrm>
            <a:off x="548640" y="141732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12400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11760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I’m easy. / I’ll go with whatever you’re having.</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我随意/和你一样</a:t>
            </a:r>
          </a:p>
        </p:txBody>
      </p:sp>
      <p:sp>
        <p:nvSpPr>
          <p:cNvPr id="13" name="TextBox 12"/>
          <p:cNvSpPr txBox="1"/>
          <p:nvPr/>
        </p:nvSpPr>
        <p:spPr>
          <a:xfrm>
            <a:off x="6675120" y="146304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go with whatever you’re having.”</a:t>
            </a:r>
          </a:p>
        </p:txBody>
      </p:sp>
      <p:sp>
        <p:nvSpPr>
          <p:cNvPr id="14" name="Rounded Rectangle 13"/>
          <p:cNvSpPr/>
          <p:nvPr/>
        </p:nvSpPr>
        <p:spPr>
          <a:xfrm>
            <a:off x="548640" y="27305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305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762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This is delicious. / It’s really good.</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7762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真好吃</a:t>
            </a:r>
          </a:p>
        </p:txBody>
      </p:sp>
      <p:sp>
        <p:nvSpPr>
          <p:cNvPr id="18" name="TextBox 17"/>
          <p:cNvSpPr txBox="1"/>
          <p:nvPr/>
        </p:nvSpPr>
        <p:spPr>
          <a:xfrm>
            <a:off x="6675120" y="27762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“This is delicious. Where did you learn to cook?”</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Chunk 3: Business, paying and thanking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谈生意、买单与致谢</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Shall we get down to business over coffee?</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喝咖啡时谈正事吧?</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“Shall we get down to business over coffee?”</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we have the bill, please?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请结账</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we have the bill, please?”</a:t>
            </a:r>
          </a:p>
        </p:txBody>
      </p:sp>
      <p:sp>
        <p:nvSpPr>
          <p:cNvPr id="19" name="Rounded Rectangle 18"/>
          <p:cNvSpPr/>
          <p:nvPr/>
        </p:nvSpPr>
        <p:spPr>
          <a:xfrm>
            <a:off x="548640" y="34340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This one’s on me.</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34798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这顿我请</a:t>
            </a:r>
          </a:p>
        </p:txBody>
      </p:sp>
      <p:sp>
        <p:nvSpPr>
          <p:cNvPr id="23" name="TextBox 22"/>
          <p:cNvSpPr txBox="1"/>
          <p:nvPr/>
        </p:nvSpPr>
        <p:spPr>
          <a:xfrm>
            <a:off x="6675120" y="34798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this one’s on me.”</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Let’s split the bill. / Let’s go Dutch.</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我们AA制吧</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split the bill.”</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Thank you for a lovely lunch.</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谢谢这顿美味的午餐</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for a lovely lunch.”</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真好吃</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This is delicious. / It’s really good.</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我对坚果过敏</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allergic to nuts.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我随意/和你一样</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I’m easy. / I’ll go with whatever you’re having.</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喝咖啡时谈正事吧?</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Shall we get down to business over coffee?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您有饮食方面的要求吗?</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Do you have any dietary requirements?</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我们AA制吧</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Let’s split the bill. / Let’s go Dutch.</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请结账</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we have the bill, please?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谢谢这顿美味的午餐</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Thank you for a lovely lunch.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recommend</a:t>
            </a:r>
          </a:p>
        </p:txBody>
      </p:sp>
      <p:sp>
        <p:nvSpPr>
          <p:cNvPr id="10" name="Rounded Rectangle 9"/>
          <p:cNvSpPr/>
          <p:nvPr/>
        </p:nvSpPr>
        <p:spPr>
          <a:xfrm>
            <a:off x="3456432"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allergic</a:t>
            </a:r>
          </a:p>
        </p:txBody>
      </p:sp>
      <p:sp>
        <p:nvSpPr>
          <p:cNvPr id="11" name="Rounded Rectangle 10"/>
          <p:cNvSpPr/>
          <p:nvPr/>
        </p:nvSpPr>
        <p:spPr>
          <a:xfrm>
            <a:off x="4791456" y="987552"/>
            <a:ext cx="91440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split</a:t>
            </a:r>
          </a:p>
        </p:txBody>
      </p:sp>
      <p:sp>
        <p:nvSpPr>
          <p:cNvPr id="12" name="Rounded Rectangle 11"/>
          <p:cNvSpPr/>
          <p:nvPr/>
        </p:nvSpPr>
        <p:spPr>
          <a:xfrm>
            <a:off x="5797296"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booked</a:t>
            </a:r>
          </a:p>
        </p:txBody>
      </p:sp>
      <p:sp>
        <p:nvSpPr>
          <p:cNvPr id="13" name="Rounded Rectangle 12"/>
          <p:cNvSpPr/>
          <p:nvPr/>
        </p:nvSpPr>
        <p:spPr>
          <a:xfrm>
            <a:off x="6912864"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business</a:t>
            </a:r>
          </a:p>
        </p:txBody>
      </p:sp>
      <p:sp>
        <p:nvSpPr>
          <p:cNvPr id="14" name="Rounded Rectangle 13"/>
          <p:cNvSpPr/>
          <p:nvPr/>
        </p:nvSpPr>
        <p:spPr>
          <a:xfrm>
            <a:off x="8247888" y="987552"/>
            <a:ext cx="58521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I’ve _______ a table for two at 12:30.</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booked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I’m _______ to nuts.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allergic</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What do you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recommend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Please, this one’s on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Shall we get down to _______ over coffee?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business</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Let’s _______ the bill.</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split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搭配与拼写): book a table, order (verb/noun), the bill (UK) / the check (US), allergic to (not “allergic with”), dietary requirements, recommend (double m, not “recomend”). Starter / main course / dessert (UK) vs appetizer / entrée (US).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Role Play · Ordering and small talk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点餐与闲聊</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Li Wei takes a client, Mr Reed, to lunch in a restaurant.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host</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James Reed, client</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Ordering and small talk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Please, take a seat. I hope you like this place. I come here often.</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James</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lovely. What do you recommend?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grilled fish is excellent. And the soup is very popular.</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allergic to shellfish, so I’ll avoid the soup. I’ll have the fish, please.</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Do you want something to drink? Water, juice, or a glass of wine?</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Just sparkling water for me, thanks. I have meetings this afternoon.</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Ordering and small talk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Same here. (To the waiter) Two grilled fish, please. One without the sauce. And two sparkling waters.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how long have you been working here?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About six years. I started in the sales team. What about you?</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Ten years in this industry. I used to work in Germany.</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Really? That must have been interesting.</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was a real eye-opener. By the way, this is delicious.</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Your Turn · Ordering and small talk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are having lunch with a client. You order and make small talk.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Host. Recommend dishes, ask about preferences, keep the conversation going.</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Has an allergy and little time.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What do you recommend? · I’ll have… · I’m allergic to… · Do you have any dietary requirements? · This is delicious.</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Order, ask 3 small talk questions and keep it natural for 2 minutes.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Order something difficult: “Could I have it without the cream, please?”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no to alcohol politely: “I won’t, thanks. I’m driving.”</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Compliment the food: “This is exactly what I was hoping for.”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Role Play · Getting down to business and paying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谈生意与买单</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After the main course, you move the conversation to business and then pay the bill.</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host</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James Reed, client</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Getting down to business and paying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James, shall we get down to business over coffee?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James</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I’d like to talk about the delivery dates.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We could deliver in the first week of November. Is that early enough?</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works for us. We’d like to place an order for 500 units.</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great news. I’ll send you a quotation tomorrow.</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Let’s keep in touch about the details.</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Getting down to business and paying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(To the waiter) Could we have the bill, please?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 me get this. You paid last time.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Please, this one’s on me. You’re my guest today.</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very kind of you. Next time it’s my turn.</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look forward to it.</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a lovely lunch. The food was delicious and the conversation was even better.</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Your Turn · Getting down to business and paying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After lunch, you discuss business and pay the bill.</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Host. Move to business politely and pay.</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Offers to split the bill, then accepts.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Shall we get down to business? · Could we have the bill, please? · This one’s on me. · Let’s split the bill. · Thank you for a lovely lunch.</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Discuss one business point, agree on the next step, handle the bill politely.</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Split the bill: “Let’s go Dutch. It’s easier.”</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Refuse politely when the client insists: “I really must insist. Next time, it’s your turn.”</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tip: “Is service included?”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like business lunches? Why or why not?</a:t>
            </a:r>
          </a:p>
          <a:p>
            <a:pPr algn="l">
              <a:lnSpc>
                <a:spcPct val="115000"/>
              </a:lnSpc>
              <a:spcAft>
                <a:spcPts val="800"/>
              </a:spcAft>
            </a:pPr>
            <a:r>
              <a:rPr sz="1400" b="0">
                <a:solidFill>
                  <a:srgbClr val="5F677A"/>
                </a:solidFill>
                <a:latin typeface="Arial"/>
                <a:ea typeface="Microsoft YaHei"/>
              </a:rPr>
              <a:t>💬 “I enjoy them because…” / “I find them stressful when…”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When is the best moment to talk business at a lunch?</a:t>
            </a:r>
          </a:p>
          <a:p>
            <a:pPr algn="l">
              <a:lnSpc>
                <a:spcPct val="115000"/>
              </a:lnSpc>
              <a:spcAft>
                <a:spcPts val="800"/>
              </a:spcAft>
            </a:pPr>
            <a:r>
              <a:rPr sz="1400" b="0">
                <a:solidFill>
                  <a:srgbClr val="5F677A"/>
                </a:solidFill>
                <a:latin typeface="Arial"/>
                <a:ea typeface="Microsoft YaHei"/>
              </a:rPr>
              <a:t>💬 “After the main course, over coffee.” / “It depends on the client.”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should pay at a business lunch?</a:t>
            </a:r>
          </a:p>
          <a:p>
            <a:pPr algn="l">
              <a:lnSpc>
                <a:spcPct val="115000"/>
              </a:lnSpc>
              <a:spcAft>
                <a:spcPts val="800"/>
              </a:spcAft>
            </a:pPr>
            <a:r>
              <a:rPr sz="1400" b="0">
                <a:solidFill>
                  <a:srgbClr val="5F677A"/>
                </a:solidFill>
                <a:latin typeface="Arial"/>
                <a:ea typeface="Microsoft YaHei"/>
              </a:rPr>
              <a:t>💬 “The person who invited.” / “In my country, …”</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choose a restaurant for a client?</a:t>
            </a:r>
          </a:p>
          <a:p>
            <a:pPr algn="l">
              <a:lnSpc>
                <a:spcPct val="115000"/>
              </a:lnSpc>
              <a:spcAft>
                <a:spcPts val="800"/>
              </a:spcAft>
            </a:pPr>
            <a:r>
              <a:rPr sz="1400" b="0">
                <a:solidFill>
                  <a:srgbClr val="5F677A"/>
                </a:solidFill>
                <a:latin typeface="Arial"/>
                <a:ea typeface="Microsoft YaHei"/>
              </a:rPr>
              <a:t>💬 “I choose a quiet place near…” / “I check dietary needs first.”</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topics are good for small talk at lunch? What should you avoid?</a:t>
            </a:r>
          </a:p>
          <a:p>
            <a:pPr algn="l">
              <a:lnSpc>
                <a:spcPct val="115000"/>
              </a:lnSpc>
              <a:spcAft>
                <a:spcPts val="800"/>
              </a:spcAft>
            </a:pPr>
            <a:r>
              <a:rPr sz="1400" b="0">
                <a:solidFill>
                  <a:srgbClr val="5F677A"/>
                </a:solidFill>
                <a:latin typeface="Arial"/>
                <a:ea typeface="Microsoft YaHei"/>
              </a:rPr>
              <a:t>💬 “Safe topics: food, travel, sports.” / “Avoid politics and religion.”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the person who invited should pay. In my country, the host usually pays, and the guest says thank you. In the UK or the US, it’s also common to split the bill if the lunch is among colleagues. If you’re the guest, it is polite to offer to pay, even if you know the host will refuse. Then, next time, it’s your turn.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“In my country, the host usually pays”(在我国通常请客方付款)。“split the bill”(AA制)。“it’s your turn”(轮到你了)。</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Social language: business lunches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商务午餐用语</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Invite</a:t>
                      </a:r>
                    </a:p>
                  </a:txBody>
                  <a:tcPr anchor="ctr">
                    <a:solidFill>
                      <a:srgbClr val="FFFFFF"/>
                    </a:solidFill>
                  </a:tcPr>
                </a:tc>
                <a:tc>
                  <a:txBody>
                    <a:bodyPr wrap="square"/>
                    <a:lstStyle/>
                    <a:p>
                      <a:r>
                        <a:rPr sz="1600" b="0">
                          <a:solidFill>
                            <a:srgbClr val="1F2A44"/>
                          </a:solidFill>
                          <a:latin typeface="Arial"/>
                          <a:ea typeface="Microsoft YaHei"/>
                        </a:rPr>
                        <a:t>I’d like to invite you to lunch. / I’ve booked a table for two.</a:t>
                      </a:r>
                    </a:p>
                  </a:txBody>
                  <a:tcPr anchor="ctr">
                    <a:solidFill>
                      <a:srgbClr val="FFFFFF"/>
                    </a:solidFill>
                  </a:tcPr>
                </a:tc>
              </a:tr>
              <a:tr h="652272">
                <a:tc>
                  <a:txBody>
                    <a:bodyPr wrap="square"/>
                    <a:lstStyle/>
                    <a:p>
                      <a:r>
                        <a:rPr sz="1600" b="1">
                          <a:solidFill>
                            <a:srgbClr val="1F2A44"/>
                          </a:solidFill>
                          <a:latin typeface="Arial"/>
                          <a:ea typeface="Microsoft YaHei"/>
                        </a:rPr>
                        <a:t>Arrive</a:t>
                      </a:r>
                    </a:p>
                  </a:txBody>
                  <a:tcPr anchor="ctr">
                    <a:solidFill>
                      <a:srgbClr val="FFEFD9"/>
                    </a:solidFill>
                  </a:tcPr>
                </a:tc>
                <a:tc>
                  <a:txBody>
                    <a:bodyPr wrap="square"/>
                    <a:lstStyle/>
                    <a:p>
                      <a:r>
                        <a:rPr sz="1600" b="0">
                          <a:solidFill>
                            <a:srgbClr val="1F2A44"/>
                          </a:solidFill>
                          <a:latin typeface="Arial"/>
                          <a:ea typeface="Microsoft YaHei"/>
                        </a:rPr>
                        <a:t>Please, take a seat. / I know a great little place near the office. ★</a:t>
                      </a:r>
                    </a:p>
                  </a:txBody>
                  <a:tcPr anchor="ctr">
                    <a:solidFill>
                      <a:srgbClr val="FFEFD9"/>
                    </a:solidFill>
                  </a:tcPr>
                </a:tc>
              </a:tr>
              <a:tr h="652272">
                <a:tc>
                  <a:txBody>
                    <a:bodyPr wrap="square"/>
                    <a:lstStyle/>
                    <a:p>
                      <a:r>
                        <a:rPr sz="1600" b="1">
                          <a:solidFill>
                            <a:srgbClr val="1F2A44"/>
                          </a:solidFill>
                          <a:latin typeface="Arial"/>
                          <a:ea typeface="Microsoft YaHei"/>
                        </a:rPr>
                        <a:t>Needs</a:t>
                      </a:r>
                    </a:p>
                  </a:txBody>
                  <a:tcPr anchor="ctr">
                    <a:solidFill>
                      <a:srgbClr val="FFFFFF"/>
                    </a:solidFill>
                  </a:tcPr>
                </a:tc>
                <a:tc>
                  <a:txBody>
                    <a:bodyPr wrap="square"/>
                    <a:lstStyle/>
                    <a:p>
                      <a:r>
                        <a:rPr sz="1600" b="0">
                          <a:solidFill>
                            <a:srgbClr val="1F2A44"/>
                          </a:solidFill>
                          <a:latin typeface="Arial"/>
                          <a:ea typeface="Microsoft YaHei"/>
                        </a:rPr>
                        <a:t>Do you have any dietary requirements? / I’m allergic to nuts. ★</a:t>
                      </a:r>
                    </a:p>
                  </a:txBody>
                  <a:tcPr anchor="ctr">
                    <a:solidFill>
                      <a:srgbClr val="FFFFFF"/>
                    </a:solidFill>
                  </a:tcPr>
                </a:tc>
              </a:tr>
              <a:tr h="652272">
                <a:tc>
                  <a:txBody>
                    <a:bodyPr wrap="square"/>
                    <a:lstStyle/>
                    <a:p>
                      <a:r>
                        <a:rPr sz="1600" b="1">
                          <a:solidFill>
                            <a:srgbClr val="1F2A44"/>
                          </a:solidFill>
                          <a:latin typeface="Arial"/>
                          <a:ea typeface="Microsoft YaHei"/>
                        </a:rPr>
                        <a:t>Order</a:t>
                      </a:r>
                    </a:p>
                  </a:txBody>
                  <a:tcPr anchor="ctr">
                    <a:solidFill>
                      <a:srgbClr val="FFEFD9"/>
                    </a:solidFill>
                  </a:tcPr>
                </a:tc>
                <a:tc>
                  <a:txBody>
                    <a:bodyPr wrap="square"/>
                    <a:lstStyle/>
                    <a:p>
                      <a:r>
                        <a:rPr sz="1600" b="0">
                          <a:solidFill>
                            <a:srgbClr val="1F2A44"/>
                          </a:solidFill>
                          <a:latin typeface="Arial"/>
                          <a:ea typeface="Microsoft YaHei"/>
                        </a:rPr>
                        <a:t>What do you recommend? / I’ll have… / I’ll go with whatever you’re having. ★</a:t>
                      </a:r>
                    </a:p>
                  </a:txBody>
                  <a:tcPr anchor="ctr">
                    <a:solidFill>
                      <a:srgbClr val="FFEFD9"/>
                    </a:solidFill>
                  </a:tcPr>
                </a:tc>
              </a:tr>
              <a:tr h="408432">
                <a:tc>
                  <a:txBody>
                    <a:bodyPr wrap="square"/>
                    <a:lstStyle/>
                    <a:p>
                      <a:r>
                        <a:rPr sz="1600" b="1">
                          <a:solidFill>
                            <a:srgbClr val="1F2A44"/>
                          </a:solidFill>
                          <a:latin typeface="Arial"/>
                          <a:ea typeface="Microsoft YaHei"/>
                        </a:rPr>
                        <a:t>Compliment</a:t>
                      </a:r>
                    </a:p>
                  </a:txBody>
                  <a:tcPr anchor="ctr">
                    <a:solidFill>
                      <a:srgbClr val="FFFFFF"/>
                    </a:solidFill>
                  </a:tcPr>
                </a:tc>
                <a:tc>
                  <a:txBody>
                    <a:bodyPr wrap="square"/>
                    <a:lstStyle/>
                    <a:p>
                      <a:r>
                        <a:rPr sz="1600" b="0">
                          <a:solidFill>
                            <a:srgbClr val="1F2A44"/>
                          </a:solidFill>
                          <a:latin typeface="Arial"/>
                          <a:ea typeface="Microsoft YaHei"/>
                        </a:rPr>
                        <a:t>This is delicious. / It’s really good.</a:t>
                      </a:r>
                    </a:p>
                  </a:txBody>
                  <a:tcPr anchor="ctr">
                    <a:solidFill>
                      <a:srgbClr val="FFFFFF"/>
                    </a:solidFill>
                  </a:tcPr>
                </a:tc>
              </a:tr>
            </a:tbl>
          </a:graphicData>
        </a:graphic>
      </p:graphicFrame>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Social language: business lunches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商务午餐用语</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Move to business</a:t>
                      </a:r>
                    </a:p>
                  </a:txBody>
                  <a:tcPr anchor="ctr">
                    <a:solidFill>
                      <a:srgbClr val="FFFFFF"/>
                    </a:solidFill>
                  </a:tcPr>
                </a:tc>
                <a:tc>
                  <a:txBody>
                    <a:bodyPr wrap="square"/>
                    <a:lstStyle/>
                    <a:p>
                      <a:r>
                        <a:rPr sz="1600" b="0">
                          <a:solidFill>
                            <a:srgbClr val="1F2A44"/>
                          </a:solidFill>
                          <a:latin typeface="Arial"/>
                          <a:ea typeface="Microsoft YaHei"/>
                        </a:rPr>
                        <a:t>Shall we get down to business over coffee? ★</a:t>
                      </a:r>
                    </a:p>
                  </a:txBody>
                  <a:tcPr anchor="ctr">
                    <a:solidFill>
                      <a:srgbClr val="FFFFFF"/>
                    </a:solidFill>
                  </a:tcPr>
                </a:tc>
              </a:tr>
              <a:tr h="652272">
                <a:tc>
                  <a:txBody>
                    <a:bodyPr wrap="square"/>
                    <a:lstStyle/>
                    <a:p>
                      <a:r>
                        <a:rPr sz="1600" b="1">
                          <a:solidFill>
                            <a:srgbClr val="1F2A44"/>
                          </a:solidFill>
                          <a:latin typeface="Arial"/>
                          <a:ea typeface="Microsoft YaHei"/>
                        </a:rPr>
                        <a:t>Pay</a:t>
                      </a:r>
                    </a:p>
                  </a:txBody>
                  <a:tcPr anchor="ctr">
                    <a:solidFill>
                      <a:srgbClr val="FFEFD9"/>
                    </a:solidFill>
                  </a:tcPr>
                </a:tc>
                <a:tc>
                  <a:txBody>
                    <a:bodyPr wrap="square"/>
                    <a:lstStyle/>
                    <a:p>
                      <a:r>
                        <a:rPr sz="1600" b="0">
                          <a:solidFill>
                            <a:srgbClr val="1F2A44"/>
                          </a:solidFill>
                          <a:latin typeface="Arial"/>
                          <a:ea typeface="Microsoft YaHei"/>
                        </a:rPr>
                        <a:t>Could we have the bill, please? / This one’s on me. ★</a:t>
                      </a:r>
                    </a:p>
                  </a:txBody>
                  <a:tcPr anchor="ctr">
                    <a:solidFill>
                      <a:srgbClr val="FFEFD9"/>
                    </a:solidFill>
                  </a:tcPr>
                </a:tc>
              </a:tr>
              <a:tr h="408432">
                <a:tc>
                  <a:txBody>
                    <a:bodyPr wrap="square"/>
                    <a:lstStyle/>
                    <a:p>
                      <a:r>
                        <a:rPr sz="1600" b="1">
                          <a:solidFill>
                            <a:srgbClr val="1F2A44"/>
                          </a:solidFill>
                          <a:latin typeface="Arial"/>
                          <a:ea typeface="Microsoft YaHei"/>
                        </a:rPr>
                        <a:t>Split</a:t>
                      </a:r>
                    </a:p>
                  </a:txBody>
                  <a:tcPr anchor="ctr">
                    <a:solidFill>
                      <a:srgbClr val="FFFFFF"/>
                    </a:solidFill>
                  </a:tcPr>
                </a:tc>
                <a:tc>
                  <a:txBody>
                    <a:bodyPr wrap="square"/>
                    <a:lstStyle/>
                    <a:p>
                      <a:r>
                        <a:rPr sz="1600" b="0">
                          <a:solidFill>
                            <a:srgbClr val="1F2A44"/>
                          </a:solidFill>
                          <a:latin typeface="Arial"/>
                          <a:ea typeface="Microsoft YaHei"/>
                        </a:rPr>
                        <a:t>Let’s split the bill. / Let’s go Dutch. ★</a:t>
                      </a:r>
                    </a:p>
                  </a:txBody>
                  <a:tcPr anchor="ctr">
                    <a:solidFill>
                      <a:srgbClr val="FFFFFF"/>
                    </a:solidFill>
                  </a:tcPr>
                </a:tc>
              </a:tr>
              <a:tr h="408432">
                <a:tc>
                  <a:txBody>
                    <a:bodyPr wrap="square"/>
                    <a:lstStyle/>
                    <a:p>
                      <a:r>
                        <a:rPr sz="1600" b="1">
                          <a:solidFill>
                            <a:srgbClr val="1F2A44"/>
                          </a:solidFill>
                          <a:latin typeface="Arial"/>
                          <a:ea typeface="Microsoft YaHei"/>
                        </a:rPr>
                        <a:t>Thank</a:t>
                      </a:r>
                    </a:p>
                  </a:txBody>
                  <a:tcPr anchor="ctr">
                    <a:solidFill>
                      <a:srgbClr val="FFEFD9"/>
                    </a:solidFill>
                  </a:tcPr>
                </a:tc>
                <a:tc>
                  <a:txBody>
                    <a:bodyPr wrap="square"/>
                    <a:lstStyle/>
                    <a:p>
                      <a:r>
                        <a:rPr sz="1600" b="0">
                          <a:solidFill>
                            <a:srgbClr val="1F2A44"/>
                          </a:solidFill>
                          <a:latin typeface="Arial"/>
                          <a:ea typeface="Microsoft YaHei"/>
                        </a:rPr>
                        <a:t>Thank you for a lovely lunch.</a:t>
                      </a:r>
                    </a:p>
                  </a:txBody>
                  <a:tcPr anchor="ctr">
                    <a:solidFill>
                      <a:srgbClr val="FFEFD9"/>
                    </a:solidFill>
                  </a:tcPr>
                </a:tc>
              </a:tr>
            </a:tbl>
          </a:graphicData>
        </a:graphic>
      </p:graphicFrame>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Menu and table vocabulary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菜单与餐桌词汇</a:t>
            </a:r>
          </a:p>
        </p:txBody>
      </p:sp>
      <p:graphicFrame>
        <p:nvGraphicFramePr>
          <p:cNvPr id="9" name="Table 8"/>
          <p:cNvGraphicFramePr>
            <a:graphicFrameLocks noGrp="1"/>
          </p:cNvGraphicFramePr>
          <p:nvPr/>
        </p:nvGraphicFramePr>
        <p:xfrm>
          <a:off x="548640" y="1417320"/>
          <a:ext cx="11094415" cy="3267456"/>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UK</a:t>
                      </a:r>
                    </a:p>
                  </a:txBody>
                  <a:tcPr anchor="ctr">
                    <a:solidFill>
                      <a:srgbClr val="3CC49A"/>
                    </a:solidFill>
                  </a:tcPr>
                </a:tc>
                <a:tc>
                  <a:txBody>
                    <a:bodyPr wrap="square"/>
                    <a:lstStyle/>
                    <a:p>
                      <a:r>
                        <a:rPr sz="1600" b="1">
                          <a:solidFill>
                            <a:srgbClr val="FFFFFF"/>
                          </a:solidFill>
                          <a:latin typeface="Arial"/>
                          <a:ea typeface="Microsoft YaHei"/>
                        </a:rPr>
                        <a:t>US</a:t>
                      </a:r>
                    </a:p>
                  </a:txBody>
                  <a:tcPr anchor="ctr">
                    <a:solidFill>
                      <a:srgbClr val="3CC49A"/>
                    </a:solidFill>
                  </a:tcPr>
                </a:tc>
                <a:tc>
                  <a:txBody>
                    <a:bodyPr wrap="square"/>
                    <a:lstStyle/>
                    <a:p>
                      <a:r>
                        <a:rPr sz="1600" b="1">
                          <a:solidFill>
                            <a:srgbClr val="FFFFFF"/>
                          </a:solidFill>
                          <a:latin typeface="Arial"/>
                          <a:ea typeface="Microsoft YaHei"/>
                        </a:rPr>
                        <a:t>Meaning</a:t>
                      </a:r>
                    </a:p>
                  </a:txBody>
                  <a:tcPr anchor="ctr">
                    <a:solidFill>
                      <a:srgbClr val="3CC49A"/>
                    </a:solidFill>
                  </a:tcPr>
                </a:tc>
              </a:tr>
              <a:tr h="408432">
                <a:tc>
                  <a:txBody>
                    <a:bodyPr wrap="square"/>
                    <a:lstStyle/>
                    <a:p>
                      <a:r>
                        <a:rPr sz="1600" b="1">
                          <a:solidFill>
                            <a:srgbClr val="1F2A44"/>
                          </a:solidFill>
                          <a:latin typeface="Arial"/>
                          <a:ea typeface="Microsoft YaHei"/>
                        </a:rPr>
                        <a:t>starter</a:t>
                      </a:r>
                    </a:p>
                  </a:txBody>
                  <a:tcPr anchor="ctr">
                    <a:solidFill>
                      <a:srgbClr val="FFFFFF"/>
                    </a:solidFill>
                  </a:tcPr>
                </a:tc>
                <a:tc>
                  <a:txBody>
                    <a:bodyPr wrap="square"/>
                    <a:lstStyle/>
                    <a:p>
                      <a:r>
                        <a:rPr sz="1600" b="0">
                          <a:solidFill>
                            <a:srgbClr val="1F2A44"/>
                          </a:solidFill>
                          <a:latin typeface="Arial"/>
                          <a:ea typeface="Microsoft YaHei"/>
                        </a:rPr>
                        <a:t>appetizer</a:t>
                      </a:r>
                    </a:p>
                  </a:txBody>
                  <a:tcPr anchor="ctr">
                    <a:solidFill>
                      <a:srgbClr val="FFFFFF"/>
                    </a:solidFill>
                  </a:tcPr>
                </a:tc>
                <a:tc>
                  <a:txBody>
                    <a:bodyPr wrap="square"/>
                    <a:lstStyle/>
                    <a:p>
                      <a:r>
                        <a:rPr sz="1600" b="0">
                          <a:solidFill>
                            <a:srgbClr val="FF6B5B"/>
                          </a:solidFill>
                          <a:latin typeface="Arial"/>
                          <a:ea typeface="Microsoft YaHei"/>
                        </a:rPr>
                        <a:t>前菜</a:t>
                      </a:r>
                    </a:p>
                  </a:txBody>
                  <a:tcPr anchor="ctr">
                    <a:solidFill>
                      <a:srgbClr val="FFFFFF"/>
                    </a:solidFill>
                  </a:tcPr>
                </a:tc>
              </a:tr>
              <a:tr h="408432">
                <a:tc>
                  <a:txBody>
                    <a:bodyPr wrap="square"/>
                    <a:lstStyle/>
                    <a:p>
                      <a:r>
                        <a:rPr sz="1600" b="1">
                          <a:solidFill>
                            <a:srgbClr val="1F2A44"/>
                          </a:solidFill>
                          <a:latin typeface="Arial"/>
                          <a:ea typeface="Microsoft YaHei"/>
                        </a:rPr>
                        <a:t>main course</a:t>
                      </a:r>
                    </a:p>
                  </a:txBody>
                  <a:tcPr anchor="ctr">
                    <a:solidFill>
                      <a:srgbClr val="FFEFD9"/>
                    </a:solidFill>
                  </a:tcPr>
                </a:tc>
                <a:tc>
                  <a:txBody>
                    <a:bodyPr wrap="square"/>
                    <a:lstStyle/>
                    <a:p>
                      <a:r>
                        <a:rPr sz="1600" b="0">
                          <a:solidFill>
                            <a:srgbClr val="1F2A44"/>
                          </a:solidFill>
                          <a:latin typeface="Arial"/>
                          <a:ea typeface="Microsoft YaHei"/>
                        </a:rPr>
                        <a:t>entrée / main</a:t>
                      </a:r>
                    </a:p>
                  </a:txBody>
                  <a:tcPr anchor="ctr">
                    <a:solidFill>
                      <a:srgbClr val="FFEFD9"/>
                    </a:solidFill>
                  </a:tcPr>
                </a:tc>
                <a:tc>
                  <a:txBody>
                    <a:bodyPr wrap="square"/>
                    <a:lstStyle/>
                    <a:p>
                      <a:r>
                        <a:rPr sz="1600" b="0">
                          <a:solidFill>
                            <a:srgbClr val="FF6B5B"/>
                          </a:solidFill>
                          <a:latin typeface="Arial"/>
                          <a:ea typeface="Microsoft YaHei"/>
                        </a:rPr>
                        <a:t>主菜</a:t>
                      </a:r>
                    </a:p>
                  </a:txBody>
                  <a:tcPr anchor="ctr">
                    <a:solidFill>
                      <a:srgbClr val="FFEFD9"/>
                    </a:solidFill>
                  </a:tcPr>
                </a:tc>
              </a:tr>
              <a:tr h="408432">
                <a:tc>
                  <a:txBody>
                    <a:bodyPr wrap="square"/>
                    <a:lstStyle/>
                    <a:p>
                      <a:r>
                        <a:rPr sz="1600" b="1">
                          <a:solidFill>
                            <a:srgbClr val="1F2A44"/>
                          </a:solidFill>
                          <a:latin typeface="Arial"/>
                          <a:ea typeface="Microsoft YaHei"/>
                        </a:rPr>
                        <a:t>pudding / dessert</a:t>
                      </a:r>
                    </a:p>
                  </a:txBody>
                  <a:tcPr anchor="ctr">
                    <a:solidFill>
                      <a:srgbClr val="FFFFFF"/>
                    </a:solidFill>
                  </a:tcPr>
                </a:tc>
                <a:tc>
                  <a:txBody>
                    <a:bodyPr wrap="square"/>
                    <a:lstStyle/>
                    <a:p>
                      <a:r>
                        <a:rPr sz="1600" b="0">
                          <a:solidFill>
                            <a:srgbClr val="1F2A44"/>
                          </a:solidFill>
                          <a:latin typeface="Arial"/>
                          <a:ea typeface="Microsoft YaHei"/>
                        </a:rPr>
                        <a:t>dessert</a:t>
                      </a:r>
                    </a:p>
                  </a:txBody>
                  <a:tcPr anchor="ctr">
                    <a:solidFill>
                      <a:srgbClr val="FFFFFF"/>
                    </a:solidFill>
                  </a:tcPr>
                </a:tc>
                <a:tc>
                  <a:txBody>
                    <a:bodyPr wrap="square"/>
                    <a:lstStyle/>
                    <a:p>
                      <a:r>
                        <a:rPr sz="1600" b="0">
                          <a:solidFill>
                            <a:srgbClr val="FF6B5B"/>
                          </a:solidFill>
                          <a:latin typeface="Arial"/>
                          <a:ea typeface="Microsoft YaHei"/>
                        </a:rPr>
                        <a:t>甜点</a:t>
                      </a:r>
                    </a:p>
                  </a:txBody>
                  <a:tcPr anchor="ctr">
                    <a:solidFill>
                      <a:srgbClr val="FFFFFF"/>
                    </a:solidFill>
                  </a:tcPr>
                </a:tc>
              </a:tr>
              <a:tr h="408432">
                <a:tc>
                  <a:txBody>
                    <a:bodyPr wrap="square"/>
                    <a:lstStyle/>
                    <a:p>
                      <a:r>
                        <a:rPr sz="1600" b="1">
                          <a:solidFill>
                            <a:srgbClr val="1F2A44"/>
                          </a:solidFill>
                          <a:latin typeface="Arial"/>
                          <a:ea typeface="Microsoft YaHei"/>
                        </a:rPr>
                        <a:t>the bill</a:t>
                      </a:r>
                    </a:p>
                  </a:txBody>
                  <a:tcPr anchor="ctr">
                    <a:solidFill>
                      <a:srgbClr val="FFEFD9"/>
                    </a:solidFill>
                  </a:tcPr>
                </a:tc>
                <a:tc>
                  <a:txBody>
                    <a:bodyPr wrap="square"/>
                    <a:lstStyle/>
                    <a:p>
                      <a:r>
                        <a:rPr sz="1600" b="0">
                          <a:solidFill>
                            <a:srgbClr val="1F2A44"/>
                          </a:solidFill>
                          <a:latin typeface="Arial"/>
                          <a:ea typeface="Microsoft YaHei"/>
                        </a:rPr>
                        <a:t>the check</a:t>
                      </a:r>
                    </a:p>
                  </a:txBody>
                  <a:tcPr anchor="ctr">
                    <a:solidFill>
                      <a:srgbClr val="FFEFD9"/>
                    </a:solidFill>
                  </a:tcPr>
                </a:tc>
                <a:tc>
                  <a:txBody>
                    <a:bodyPr wrap="square"/>
                    <a:lstStyle/>
                    <a:p>
                      <a:r>
                        <a:rPr sz="1600" b="0">
                          <a:solidFill>
                            <a:srgbClr val="FF6B5B"/>
                          </a:solidFill>
                          <a:latin typeface="Arial"/>
                          <a:ea typeface="Microsoft YaHei"/>
                        </a:rPr>
                        <a:t>账单</a:t>
                      </a:r>
                    </a:p>
                  </a:txBody>
                  <a:tcPr anchor="ctr">
                    <a:solidFill>
                      <a:srgbClr val="FFEFD9"/>
                    </a:solidFill>
                  </a:tcPr>
                </a:tc>
              </a:tr>
              <a:tr h="408432">
                <a:tc>
                  <a:txBody>
                    <a:bodyPr wrap="square"/>
                    <a:lstStyle/>
                    <a:p>
                      <a:r>
                        <a:rPr sz="1600" b="1">
                          <a:solidFill>
                            <a:srgbClr val="1F2A44"/>
                          </a:solidFill>
                          <a:latin typeface="Arial"/>
                          <a:ea typeface="Microsoft YaHei"/>
                        </a:rPr>
                        <a:t>chips</a:t>
                      </a:r>
                    </a:p>
                  </a:txBody>
                  <a:tcPr anchor="ctr">
                    <a:solidFill>
                      <a:srgbClr val="FFFFFF"/>
                    </a:solidFill>
                  </a:tcPr>
                </a:tc>
                <a:tc>
                  <a:txBody>
                    <a:bodyPr wrap="square"/>
                    <a:lstStyle/>
                    <a:p>
                      <a:r>
                        <a:rPr sz="1600" b="0">
                          <a:solidFill>
                            <a:srgbClr val="1F2A44"/>
                          </a:solidFill>
                          <a:latin typeface="Arial"/>
                          <a:ea typeface="Microsoft YaHei"/>
                        </a:rPr>
                        <a:t>fries</a:t>
                      </a:r>
                    </a:p>
                  </a:txBody>
                  <a:tcPr anchor="ctr">
                    <a:solidFill>
                      <a:srgbClr val="FFFFFF"/>
                    </a:solidFill>
                  </a:tcPr>
                </a:tc>
                <a:tc>
                  <a:txBody>
                    <a:bodyPr wrap="square"/>
                    <a:lstStyle/>
                    <a:p>
                      <a:r>
                        <a:rPr sz="1600" b="0">
                          <a:solidFill>
                            <a:srgbClr val="FF6B5B"/>
                          </a:solidFill>
                          <a:latin typeface="Arial"/>
                          <a:ea typeface="Microsoft YaHei"/>
                        </a:rPr>
                        <a:t>薯条</a:t>
                      </a:r>
                    </a:p>
                  </a:txBody>
                  <a:tcPr anchor="ctr">
                    <a:solidFill>
                      <a:srgbClr val="FFFFFF"/>
                    </a:solidFill>
                  </a:tcPr>
                </a:tc>
              </a:tr>
              <a:tr h="408432">
                <a:tc>
                  <a:txBody>
                    <a:bodyPr wrap="square"/>
                    <a:lstStyle/>
                    <a:p>
                      <a:r>
                        <a:rPr sz="1600" b="1">
                          <a:solidFill>
                            <a:srgbClr val="1F2A44"/>
                          </a:solidFill>
                          <a:latin typeface="Arial"/>
                          <a:ea typeface="Microsoft YaHei"/>
                        </a:rPr>
                        <a:t>crisps</a:t>
                      </a:r>
                    </a:p>
                  </a:txBody>
                  <a:tcPr anchor="ctr">
                    <a:solidFill>
                      <a:srgbClr val="FFEFD9"/>
                    </a:solidFill>
                  </a:tcPr>
                </a:tc>
                <a:tc>
                  <a:txBody>
                    <a:bodyPr wrap="square"/>
                    <a:lstStyle/>
                    <a:p>
                      <a:r>
                        <a:rPr sz="1600" b="0">
                          <a:solidFill>
                            <a:srgbClr val="1F2A44"/>
                          </a:solidFill>
                          <a:latin typeface="Arial"/>
                          <a:ea typeface="Microsoft YaHei"/>
                        </a:rPr>
                        <a:t>chips</a:t>
                      </a:r>
                    </a:p>
                  </a:txBody>
                  <a:tcPr anchor="ctr">
                    <a:solidFill>
                      <a:srgbClr val="FFEFD9"/>
                    </a:solidFill>
                  </a:tcPr>
                </a:tc>
                <a:tc>
                  <a:txBody>
                    <a:bodyPr wrap="square"/>
                    <a:lstStyle/>
                    <a:p>
                      <a:r>
                        <a:rPr sz="1600" b="0">
                          <a:solidFill>
                            <a:srgbClr val="FF6B5B"/>
                          </a:solidFill>
                          <a:latin typeface="Arial"/>
                          <a:ea typeface="Microsoft YaHei"/>
                        </a:rPr>
                        <a:t>薯片</a:t>
                      </a:r>
                    </a:p>
                  </a:txBody>
                  <a:tcPr anchor="ctr">
                    <a:solidFill>
                      <a:srgbClr val="FFEFD9"/>
                    </a:solidFill>
                  </a:tcPr>
                </a:tc>
              </a:tr>
              <a:tr h="408432">
                <a:tc>
                  <a:txBody>
                    <a:bodyPr wrap="square"/>
                    <a:lstStyle/>
                    <a:p>
                      <a:r>
                        <a:rPr sz="1600" b="1">
                          <a:solidFill>
                            <a:srgbClr val="1F2A44"/>
                          </a:solidFill>
                          <a:latin typeface="Arial"/>
                          <a:ea typeface="Microsoft YaHei"/>
                        </a:rPr>
                        <a:t>booking</a:t>
                      </a:r>
                    </a:p>
                  </a:txBody>
                  <a:tcPr anchor="ctr">
                    <a:solidFill>
                      <a:srgbClr val="FFFFFF"/>
                    </a:solidFill>
                  </a:tcPr>
                </a:tc>
                <a:tc>
                  <a:txBody>
                    <a:bodyPr wrap="square"/>
                    <a:lstStyle/>
                    <a:p>
                      <a:r>
                        <a:rPr sz="1600" b="0">
                          <a:solidFill>
                            <a:srgbClr val="1F2A44"/>
                          </a:solidFill>
                          <a:latin typeface="Arial"/>
                          <a:ea typeface="Microsoft YaHei"/>
                        </a:rPr>
                        <a:t>reservation</a:t>
                      </a:r>
                    </a:p>
                  </a:txBody>
                  <a:tcPr anchor="ctr">
                    <a:solidFill>
                      <a:srgbClr val="FFFFFF"/>
                    </a:solidFill>
                  </a:tcPr>
                </a:tc>
                <a:tc>
                  <a:txBody>
                    <a:bodyPr wrap="square"/>
                    <a:lstStyle/>
                    <a:p>
                      <a:r>
                        <a:rPr sz="1600" b="0">
                          <a:solidFill>
                            <a:srgbClr val="FF6B5B"/>
                          </a:solidFill>
                          <a:latin typeface="Arial"/>
                          <a:ea typeface="Microsoft YaHei"/>
                        </a:rPr>
                        <a:t>订位</a:t>
                      </a:r>
                    </a:p>
                  </a:txBody>
                  <a:tcPr anchor="ctr">
                    <a:solidFill>
                      <a:srgbClr val="FFFFFF"/>
                    </a:solidFill>
                  </a:tcPr>
                </a:tc>
              </a:tr>
            </a:tbl>
          </a:graphicData>
        </a:graphic>
      </p:graphicFrame>
    </p:spTree>
  </p:cSld>
  <p:clrMapOvr>
    <a:masterClrMapping/>
  </p:clrMapOvr>
  <p:transition spd="med">
    <p:fade/>
  </p:transition>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Menu and table vocabulary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菜单与餐桌词汇</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Dietary needs: </a:t>
            </a:r>
            <a:r>
              <a:rPr sz="1700" b="0">
                <a:solidFill>
                  <a:srgbClr val="1F2A44"/>
                </a:solidFill>
                <a:latin typeface="Arial"/>
                <a:ea typeface="Microsoft YaHei"/>
              </a:rPr>
              <a:t>vegetarian, vegan, gluten-free, halal, kosher, “I don’t eat pork.”</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Ordering: </a:t>
            </a:r>
            <a:r>
              <a:rPr sz="1700" b="0">
                <a:solidFill>
                  <a:srgbClr val="1F2A44"/>
                </a:solidFill>
                <a:latin typeface="Arial"/>
                <a:ea typeface="Microsoft YaHei"/>
              </a:rPr>
              <a:t>I’ll have… / I’d like… / Could I have…? (not “I want…”, too direct).</a:t>
            </a:r>
          </a:p>
        </p:txBody>
      </p:sp>
      <p:sp>
        <p:nvSpPr>
          <p:cNvPr id="15" name="Rounded Rectangle 14"/>
          <p:cNvSpPr/>
          <p:nvPr/>
        </p:nvSpPr>
        <p:spPr>
          <a:xfrm>
            <a:off x="548640" y="248411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701039"/>
          </a:xfrm>
          <a:prstGeom prst="rect">
            <a:avLst/>
          </a:prstGeom>
          <a:noFill/>
        </p:spPr>
        <p:txBody>
          <a:bodyPr wrap="square" anchor="ctr">
            <a:spAutoFit/>
          </a:bodyPr>
          <a:lstStyle/>
          <a:p>
            <a:r>
              <a:rPr sz="1700" b="1">
                <a:solidFill>
                  <a:srgbClr val="3CC49A"/>
                </a:solidFill>
                <a:latin typeface="Arial"/>
                <a:ea typeface="Microsoft YaHei"/>
              </a:rPr>
              <a:t>Compliments: </a:t>
            </a:r>
            <a:r>
              <a:rPr sz="1700" b="0">
                <a:solidFill>
                  <a:srgbClr val="1F2A44"/>
                </a:solidFill>
                <a:latin typeface="Arial"/>
                <a:ea typeface="Microsoft YaHei"/>
              </a:rPr>
              <a:t>This is delicious. / It’s really good. / It’s cooked perfectly. Avoid “It’s not bad” (can sound lukewarm).</a:t>
            </a:r>
          </a:p>
        </p:txBody>
      </p:sp>
      <p:sp>
        <p:nvSpPr>
          <p:cNvPr id="18" name="Rounded Rectangle 17"/>
          <p:cNvSpPr/>
          <p:nvPr/>
        </p:nvSpPr>
        <p:spPr>
          <a:xfrm>
            <a:off x="548640" y="327659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7659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76597"/>
            <a:ext cx="10728655" cy="701039"/>
          </a:xfrm>
          <a:prstGeom prst="rect">
            <a:avLst/>
          </a:prstGeom>
          <a:noFill/>
        </p:spPr>
        <p:txBody>
          <a:bodyPr wrap="square" anchor="ctr">
            <a:spAutoFit/>
          </a:bodyPr>
          <a:lstStyle/>
          <a:p>
            <a:r>
              <a:rPr sz="1700" b="1">
                <a:solidFill>
                  <a:srgbClr val="FFC857"/>
                </a:solidFill>
                <a:latin typeface="Arial"/>
                <a:ea typeface="Microsoft YaHei"/>
              </a:rPr>
              <a:t>Tipping: </a:t>
            </a:r>
            <a:r>
              <a:rPr sz="1700" b="0">
                <a:solidFill>
                  <a:srgbClr val="1F2A44"/>
                </a:solidFill>
                <a:latin typeface="Arial"/>
                <a:ea typeface="Microsoft YaHei"/>
              </a:rPr>
              <a:t>In the UK, 10–12.5% if service isn’t included. In the US, 15–20% is normal. In China, generally no tip.</a:t>
            </a:r>
          </a:p>
        </p:txBody>
      </p:sp>
    </p:spTree>
  </p:cSld>
  <p:clrMapOvr>
    <a:masterClrMapping/>
  </p:clrMapOvr>
  <p:transition spd="med">
    <p:fade/>
  </p:transition>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a steak.</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have the steak, please. / I’d like the steak.</a:t>
            </a:r>
          </a:p>
          <a:p>
            <a:pPr algn="l">
              <a:spcAft>
                <a:spcPts val="200"/>
              </a:spcAft>
            </a:pPr>
            <a:r>
              <a:rPr sz="1200" b="0">
                <a:solidFill>
                  <a:srgbClr val="FFFFFF"/>
                </a:solidFill>
                <a:latin typeface="Arial"/>
                <a:ea typeface="Microsoft YaHei"/>
              </a:rPr>
              <a:t>want 太直白</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Waiter, come here!</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Excuse me, could we have the menu, please?</a:t>
            </a:r>
          </a:p>
          <a:p>
            <a:pPr algn="l">
              <a:spcAft>
                <a:spcPts val="200"/>
              </a:spcAft>
            </a:pPr>
            <a:r>
              <a:rPr sz="1200" b="0">
                <a:solidFill>
                  <a:srgbClr val="FFFFFF"/>
                </a:solidFill>
                <a:latin typeface="Arial"/>
                <a:ea typeface="Microsoft YaHei"/>
              </a:rPr>
              <a:t>礼貌招呼服务员</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allergy to nuts.</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allergic to nuts. / I have a nut allergy.</a:t>
            </a:r>
          </a:p>
          <a:p>
            <a:pPr algn="l">
              <a:spcAft>
                <a:spcPts val="200"/>
              </a:spcAft>
            </a:pPr>
            <a:r>
              <a:rPr sz="1200" b="0">
                <a:solidFill>
                  <a:srgbClr val="FFFFFF"/>
                </a:solidFill>
                <a:latin typeface="Arial"/>
                <a:ea typeface="Microsoft YaHei"/>
              </a:rPr>
              <a:t>形容词 allergic to</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eat vegetarian.</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vegetarian. / I don’t eat meat.</a:t>
            </a:r>
          </a:p>
          <a:p>
            <a:pPr algn="l">
              <a:spcAft>
                <a:spcPts val="200"/>
              </a:spcAft>
            </a:pPr>
            <a:r>
              <a:rPr sz="1200" b="0">
                <a:solidFill>
                  <a:srgbClr val="FFFFFF"/>
                </a:solidFill>
                <a:latin typeface="Arial"/>
                <a:ea typeface="Microsoft YaHei"/>
              </a:rPr>
              <a:t>be vegetarian</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Let me pay the money.</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Let me get this. / This one’s on me.</a:t>
            </a:r>
          </a:p>
          <a:p>
            <a:pPr algn="l">
              <a:spcAft>
                <a:spcPts val="200"/>
              </a:spcAft>
            </a:pPr>
            <a:r>
              <a:rPr sz="1200" b="0">
                <a:solidFill>
                  <a:srgbClr val="FFFFFF"/>
                </a:solidFill>
                <a:latin typeface="Arial"/>
                <a:ea typeface="Microsoft YaHei"/>
              </a:rPr>
              <a:t>地道说法</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pay half and half.</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Let’s split the bill. / Let’s go Dutch.</a:t>
            </a:r>
          </a:p>
          <a:p>
            <a:pPr algn="l">
              <a:spcAft>
                <a:spcPts val="200"/>
              </a:spcAft>
            </a:pPr>
            <a:r>
              <a:rPr sz="1200" b="0">
                <a:solidFill>
                  <a:srgbClr val="FFFFFF"/>
                </a:solidFill>
                <a:latin typeface="Arial"/>
                <a:ea typeface="Microsoft YaHei"/>
              </a:rPr>
              <a:t>固定说法</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eat more! Eat more! (pressing)</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help yourself. / Would you like some more?</a:t>
            </a:r>
          </a:p>
          <a:p>
            <a:pPr algn="l">
              <a:spcAft>
                <a:spcPts val="200"/>
              </a:spcAft>
            </a:pPr>
            <a:r>
              <a:rPr sz="1200" b="0">
                <a:solidFill>
                  <a:srgbClr val="FFFFFF"/>
                </a:solidFill>
                <a:latin typeface="Arial"/>
                <a:ea typeface="Microsoft YaHei"/>
              </a:rPr>
              <a:t>劝食要有分寸</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food is not bad. (as a compliment)</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food is really good. / delicious.</a:t>
            </a:r>
          </a:p>
          <a:p>
            <a:pPr algn="l">
              <a:spcAft>
                <a:spcPts val="200"/>
              </a:spcAft>
            </a:pPr>
            <a:r>
              <a:rPr sz="1200" b="0">
                <a:solidFill>
                  <a:srgbClr val="FFFFFF"/>
                </a:solidFill>
                <a:latin typeface="Arial"/>
                <a:ea typeface="Microsoft YaHei"/>
              </a:rPr>
              <a:t>not bad 较冷淡</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can’t eat any more. (blunt)</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full, thanks. It was delicious.</a:t>
            </a:r>
          </a:p>
          <a:p>
            <a:pPr algn="l">
              <a:spcAft>
                <a:spcPts val="200"/>
              </a:spcAft>
            </a:pPr>
            <a:r>
              <a:rPr sz="1200" b="0">
                <a:solidFill>
                  <a:srgbClr val="FFFFFF"/>
                </a:solidFill>
                <a:latin typeface="Arial"/>
                <a:ea typeface="Microsoft YaHei"/>
              </a:rPr>
              <a:t>先感谢再婉拒</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recomend / dessart</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recommend / dessert</a:t>
            </a:r>
          </a:p>
          <a:p>
            <a:pPr algn="l">
              <a:spcAft>
                <a:spcPts val="200"/>
              </a:spcAft>
            </a:pPr>
            <a:r>
              <a:rPr sz="1200" b="0">
                <a:solidFill>
                  <a:srgbClr val="FFFFFF"/>
                </a:solidFill>
                <a:latin typeface="Arial"/>
                <a:ea typeface="Microsoft YaHei"/>
              </a:rPr>
              <a:t>拼写</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I’ll have… / I’d like… (not “I want”), allergic to, I’m vegetarian, the bill / the check, This one’s on me. Recommend has double 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Timing: </a:t>
            </a:r>
            <a:r>
              <a:rPr sz="1700" b="0">
                <a:solidFill>
                  <a:srgbClr val="1F2A44"/>
                </a:solidFill>
                <a:latin typeface="Arial"/>
                <a:ea typeface="Microsoft YaHei"/>
              </a:rPr>
              <a:t>Business lunches in English-speaking countries are often 60–90 minutes. Don’t talk about business until after ordering, or after the main course.</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Who pays: </a:t>
            </a:r>
            <a:r>
              <a:rPr sz="1700" b="0">
                <a:solidFill>
                  <a:srgbClr val="1F2A44"/>
                </a:solidFill>
                <a:latin typeface="Arial"/>
                <a:ea typeface="Microsoft YaHei"/>
              </a:rPr>
              <a:t>The person who invites usually pays. The guest may offer to pay, but should accept gracefully if the host insists. In the UK, colleagues often split the bill.</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Alcohol: </a:t>
            </a:r>
            <a:r>
              <a:rPr sz="1700" b="0">
                <a:solidFill>
                  <a:srgbClr val="1F2A44"/>
                </a:solidFill>
                <a:latin typeface="Arial"/>
                <a:ea typeface="Microsoft YaHei"/>
              </a:rPr>
              <a:t>Many people avoid alcohol at business lunches. A guest may refuse politely: “Not for me, thanks.”</a:t>
            </a:r>
          </a:p>
        </p:txBody>
      </p:sp>
    </p:spTree>
  </p:cSld>
  <p:clrMapOvr>
    <a:masterClrMapping/>
  </p:clrMapOvr>
  <p:transition spd="med">
    <p:fade/>
  </p:transition>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Toasts: </a:t>
            </a:r>
            <a:r>
              <a:rPr sz="1700" b="0">
                <a:solidFill>
                  <a:srgbClr val="1F2A44"/>
                </a:solidFill>
                <a:latin typeface="Arial"/>
                <a:ea typeface="Microsoft YaHei"/>
              </a:rPr>
              <a:t>A short “Cheers!” or “To a successful partnership!” is enough. Don’t force others to drink.</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Table manners: </a:t>
            </a:r>
            <a:r>
              <a:rPr sz="1700" b="0">
                <a:solidFill>
                  <a:srgbClr val="1F2A44"/>
                </a:solidFill>
                <a:latin typeface="Arial"/>
                <a:ea typeface="Microsoft YaHei"/>
              </a:rPr>
              <a:t>Napkin on your lap, wait until everyone is served, and don’t talk with food in your mouth.</a:t>
            </a:r>
          </a:p>
        </p:txBody>
      </p:sp>
      <p:sp>
        <p:nvSpPr>
          <p:cNvPr id="15" name="Rounded Rectangle 14"/>
          <p:cNvSpPr/>
          <p:nvPr/>
        </p:nvSpPr>
        <p:spPr>
          <a:xfrm>
            <a:off x="548640" y="3002278"/>
            <a:ext cx="11094415" cy="9601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96012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960120"/>
          </a:xfrm>
          <a:prstGeom prst="rect">
            <a:avLst/>
          </a:prstGeom>
          <a:noFill/>
        </p:spPr>
        <p:txBody>
          <a:bodyPr wrap="square" anchor="ctr">
            <a:spAutoFit/>
          </a:bodyPr>
          <a:lstStyle/>
          <a:p>
            <a:r>
              <a:rPr sz="1700" b="1">
                <a:solidFill>
                  <a:srgbClr val="3CC49A"/>
                </a:solidFill>
                <a:latin typeface="Arial"/>
                <a:ea typeface="Microsoft YaHei"/>
              </a:rPr>
              <a:t>Chinese hospitality: </a:t>
            </a:r>
            <a:r>
              <a:rPr sz="1700" b="0">
                <a:solidFill>
                  <a:srgbClr val="1F2A44"/>
                </a:solidFill>
                <a:latin typeface="Arial"/>
                <a:ea typeface="Microsoft YaHei"/>
              </a:rPr>
              <a:t>Ordering many dishes and pressing guests to eat more is a sign of respect in China. In Western settings, each person orders their own dish, and “No, thanks, I’m full” should be accepted.</a:t>
            </a:r>
          </a:p>
        </p:txBody>
      </p:sp>
    </p:spTree>
  </p:cSld>
  <p:clrMapOvr>
    <a:masterClrMapping/>
  </p:clrMapOvr>
  <p:transition spd="med">
    <p:fade/>
  </p:transition>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49072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49072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4907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invite a client to lunch and ask about dietary requirements.</a:t>
            </a:r>
          </a:p>
        </p:txBody>
      </p:sp>
      <p:sp>
        <p:nvSpPr>
          <p:cNvPr id="12" name="TextBox 11"/>
          <p:cNvSpPr txBox="1"/>
          <p:nvPr/>
        </p:nvSpPr>
        <p:spPr>
          <a:xfrm>
            <a:off x="9539935" y="1508760"/>
            <a:ext cx="2011680" cy="49072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090928"/>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090928"/>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090928"/>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order food and ask for recommendations (What do you recommend? I’ll have… I’m allergic to…).</a:t>
            </a:r>
          </a:p>
        </p:txBody>
      </p:sp>
      <p:sp>
        <p:nvSpPr>
          <p:cNvPr id="16" name="TextBox 15"/>
          <p:cNvSpPr txBox="1"/>
          <p:nvPr/>
        </p:nvSpPr>
        <p:spPr>
          <a:xfrm>
            <a:off x="9539935" y="2090928"/>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962656"/>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962656"/>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962656"/>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make small talk and move to business (Shall we get down to business over coffee?).</a:t>
            </a:r>
          </a:p>
        </p:txBody>
      </p:sp>
      <p:sp>
        <p:nvSpPr>
          <p:cNvPr id="20" name="TextBox 19"/>
          <p:cNvSpPr txBox="1"/>
          <p:nvPr/>
        </p:nvSpPr>
        <p:spPr>
          <a:xfrm>
            <a:off x="9539935" y="2962656"/>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834384"/>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834384"/>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834384"/>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handle the bill politely (This one’s on me. Let’s split the bill. Could we have the bill, please?).</a:t>
            </a:r>
          </a:p>
        </p:txBody>
      </p:sp>
      <p:sp>
        <p:nvSpPr>
          <p:cNvPr id="24" name="TextBox 23"/>
          <p:cNvSpPr txBox="1"/>
          <p:nvPr/>
        </p:nvSpPr>
        <p:spPr>
          <a:xfrm>
            <a:off x="9539935" y="3834384"/>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706112"/>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706112"/>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706112"/>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use I’ll have, allergic to, I’m vegetarian and the bill / the check correctly.</a:t>
            </a:r>
          </a:p>
        </p:txBody>
      </p:sp>
      <p:sp>
        <p:nvSpPr>
          <p:cNvPr id="28" name="TextBox 27"/>
          <p:cNvSpPr txBox="1"/>
          <p:nvPr/>
        </p:nvSpPr>
        <p:spPr>
          <a:xfrm>
            <a:off x="9539935" y="4706112"/>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44 Business Lunches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I’ll have / I’d like, allergic to, I’m vegetarian, bill/check, and small-talk topics.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10 · Lesson 45 Goodbye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228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Goodbye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告别</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800" b="0">
                <a:solidFill>
                  <a:srgbClr val="FFC857"/>
                </a:solidFill>
                <a:latin typeface="Arial"/>
                <a:ea typeface="Microsoft YaHei"/>
              </a:rPr>
              <a:t>🎯 say goodbye in a business setting: see a visitor off, thank your hosts, say farewell to a departing colleague, give a short farewell speech, and keep in touch afterwards.</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8496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do you say goodbye to a visitor or a client at the end of a visit?</a:t>
            </a:r>
          </a:p>
        </p:txBody>
      </p:sp>
      <p:sp>
        <p:nvSpPr>
          <p:cNvPr id="12" name="Oval 11"/>
          <p:cNvSpPr/>
          <p:nvPr/>
        </p:nvSpPr>
        <p:spPr>
          <a:xfrm>
            <a:off x="548640" y="225856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2808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2808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do you say to a colleague who is leaving the company?</a:t>
            </a:r>
          </a:p>
        </p:txBody>
      </p:sp>
      <p:sp>
        <p:nvSpPr>
          <p:cNvPr id="15" name="Oval 14"/>
          <p:cNvSpPr/>
          <p:nvPr/>
        </p:nvSpPr>
        <p:spPr>
          <a:xfrm>
            <a:off x="548640" y="309981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01696"/>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01696"/>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Have you ever said goodbye to a colleague or a client you worked with for a long time? How did you feel?</a:t>
            </a:r>
          </a:p>
        </p:txBody>
      </p:sp>
      <p:sp>
        <p:nvSpPr>
          <p:cNvPr id="18" name="Oval 17"/>
          <p:cNvSpPr/>
          <p:nvPr/>
        </p:nvSpPr>
        <p:spPr>
          <a:xfrm>
            <a:off x="548640" y="394106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do you stay in touch with people after they leave?</a:t>
            </a:r>
          </a:p>
        </p:txBody>
      </p:sp>
      <p:sp>
        <p:nvSpPr>
          <p:cNvPr id="21" name="Oval 20"/>
          <p:cNvSpPr/>
          <p:nvPr/>
        </p:nvSpPr>
        <p:spPr>
          <a:xfrm>
            <a:off x="548640" y="461467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58419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58419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should a good farewell speech include?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3 题讲过去的事,请用过去式(felt, said, worked)。第 5 题可以说 “A good speech should include…”。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Give a short farewell speech to a colleague who is leaving and wish them well.</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thanks</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a memory</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you’ll miss</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good wishes</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“keep in touch”</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It’s been a pleasure working with you.   💬 I’ll miss…   💬 I’m sure you’ll…   💬 Let’s keep in touch.</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告别词先感谢,再说一件具体的事,最后祝福并保持联系。别只说 “Goodbye”。</a:t>
            </a:r>
          </a:p>
        </p:txBody>
      </p:sp>
    </p:spTree>
  </p:cSld>
  <p:clrMapOvr>
    <a:masterClrMapping/>
  </p:clrMapOvr>
  <p:transition spd="med">
    <p:fade/>
  </p:transition>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Seeing a visitor off</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送别访客</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It was a pleasure meeting you.</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很高兴认识您</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was a pleasure meeting you.”</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Have a safe trip home.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祝您回程平安</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“Have a safe trip home.”</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Safe travels!</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一路平安</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“Safe travels, and see you soon.”</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Please give my regards to your team.</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请代我向您的团队问好</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give my regards to your team.”</a:t>
            </a:r>
          </a:p>
        </p:txBody>
      </p:sp>
      <p:sp>
        <p:nvSpPr>
          <p:cNvPr id="29" name="Rounded Rectangle 28"/>
          <p:cNvSpPr/>
          <p:nvPr/>
        </p:nvSpPr>
        <p:spPr>
          <a:xfrm>
            <a:off x="548640" y="48412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hope we can do it again soon.</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8869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希望我们很快能再见</a:t>
            </a:r>
          </a:p>
        </p:txBody>
      </p:sp>
      <p:sp>
        <p:nvSpPr>
          <p:cNvPr id="33" name="TextBox 32"/>
          <p:cNvSpPr txBox="1"/>
          <p:nvPr/>
        </p:nvSpPr>
        <p:spPr>
          <a:xfrm>
            <a:off x="6675120" y="48869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hope we can do it again soon.”</a:t>
            </a:r>
          </a:p>
        </p:txBody>
      </p:sp>
    </p:spTree>
  </p:cSld>
  <p:clrMapOvr>
    <a:masterClrMapping/>
  </p:clrMapOvr>
  <p:transition spd="med">
    <p:fade/>
  </p:transition>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Chunk 2: Thanking and keeping in touch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感谢与保持联系</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Thank you for your hospitality.</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谢谢您的热情款待</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for your hospitality.”</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 really enjoyed having you.</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我们很高兴您能来</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really enjoyed having you.”</a:t>
            </a:r>
          </a:p>
        </p:txBody>
      </p:sp>
      <p:sp>
        <p:nvSpPr>
          <p:cNvPr id="19" name="Rounded Rectangle 18"/>
          <p:cNvSpPr/>
          <p:nvPr/>
        </p:nvSpPr>
        <p:spPr>
          <a:xfrm>
            <a:off x="548640" y="34340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Let’s keep in touch.</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我们保持联系</a:t>
            </a:r>
          </a:p>
        </p:txBody>
      </p:sp>
      <p:sp>
        <p:nvSpPr>
          <p:cNvPr id="23" name="TextBox 22"/>
          <p:cNvSpPr txBox="1"/>
          <p:nvPr/>
        </p:nvSpPr>
        <p:spPr>
          <a:xfrm>
            <a:off x="6675120" y="34798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keep in touch.”</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Drop me a line when you get home.</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到家后给我留个言</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“Drop me a line when you get home.”</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I’ll send you the photos / the report.</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我会把照片/报告发给您</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send you the photos tomorrow.”</a:t>
            </a:r>
          </a:p>
        </p:txBody>
      </p:sp>
    </p:spTree>
  </p:cSld>
  <p:clrMapOvr>
    <a:masterClrMapping/>
  </p:clrMapOvr>
  <p:transition spd="med">
    <p:fade/>
  </p:transition>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Farewell to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欢送同事</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We’re going to miss you.</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我们会想你的</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going to miss you.”</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It’s been a pleasure working with you.</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与您共事很愉快</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been a pleasure working with you.”</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wish you all the best in your new job.</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祝你新工作一切顺利</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wish you all the best in your new job.”</a:t>
            </a:r>
          </a:p>
        </p:txBody>
      </p:sp>
    </p:spTree>
  </p:cSld>
  <p:clrMapOvr>
    <a:masterClrMapping/>
  </p:clrMapOvr>
  <p:transition spd="med">
    <p:fade/>
  </p:transition>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Chunk 3: Farewell to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欢送同事</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You’ll be a hard act to follow.</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你很难被取代</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“You’ll be a hard act to follow.”</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 should get going. / I must be going.</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我该走了</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should get going. I have a train to catch.”</a:t>
            </a:r>
          </a:p>
        </p:txBody>
      </p:sp>
    </p:spTree>
  </p:cSld>
  <p:clrMapOvr>
    <a:masterClrMapping/>
  </p:clrMapOvr>
  <p:transition spd="med">
    <p:fade/>
  </p:transition>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一路平安</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Safe travels!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我们很高兴您能来</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 really enjoyed having you.</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我会把照片/报告发给您</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I’ll send you the photos / the report.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祝你新工作一切顺利</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 wish you all the best in your new job.</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与您共事很愉快</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It’s been a pleasure working with you.</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谢谢您的热情款待</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Thank you for your hospitality.</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我们保持联系</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Let’s keep in touch.</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到家后给我留个言</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Drop me a line when you get home.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best</a:t>
            </a:r>
          </a:p>
        </p:txBody>
      </p:sp>
      <p:sp>
        <p:nvSpPr>
          <p:cNvPr id="10" name="Rounded Rectangle 9"/>
          <p:cNvSpPr/>
          <p:nvPr/>
        </p:nvSpPr>
        <p:spPr>
          <a:xfrm>
            <a:off x="2907792" y="987552"/>
            <a:ext cx="80467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safe</a:t>
            </a:r>
          </a:p>
        </p:txBody>
      </p:sp>
      <p:sp>
        <p:nvSpPr>
          <p:cNvPr id="11" name="Rounded Rectangle 10"/>
          <p:cNvSpPr/>
          <p:nvPr/>
        </p:nvSpPr>
        <p:spPr>
          <a:xfrm>
            <a:off x="3803904"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regards</a:t>
            </a:r>
          </a:p>
        </p:txBody>
      </p:sp>
      <p:sp>
        <p:nvSpPr>
          <p:cNvPr id="12" name="Rounded Rectangle 11"/>
          <p:cNvSpPr/>
          <p:nvPr/>
        </p:nvSpPr>
        <p:spPr>
          <a:xfrm>
            <a:off x="5029200"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miss</a:t>
            </a:r>
          </a:p>
        </p:txBody>
      </p:sp>
      <p:sp>
        <p:nvSpPr>
          <p:cNvPr id="13" name="Rounded Rectangle 12"/>
          <p:cNvSpPr/>
          <p:nvPr/>
        </p:nvSpPr>
        <p:spPr>
          <a:xfrm>
            <a:off x="5925312"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pleasure</a:t>
            </a:r>
          </a:p>
        </p:txBody>
      </p:sp>
      <p:sp>
        <p:nvSpPr>
          <p:cNvPr id="14" name="Rounded Rectangle 13"/>
          <p:cNvSpPr/>
          <p:nvPr/>
        </p:nvSpPr>
        <p:spPr>
          <a:xfrm>
            <a:off x="7260336"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Drop</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Have a _______ trip home.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safe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Please give my _______ to your team.</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regards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_______ me a line when you get home.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Drop</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It’s been a _______ working with you.</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pleasure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We’re going to _______ you.</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miss</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 wish you all the _______ in your new job.</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best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搭配与表达): say goodbye to (not “say goodbye with”), give my regards to (not “send my regard”), keep in touch (no “with” needed alone; “keep in touch with sb”), miss (= feel sad because someone is absent), see off (accompany someone to the station or airport).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Seeing a visitor off</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送别访客</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Li Wei goes with Mr Reed to the airport (or the hotel lobby) and says goodbye.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host</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James Reed, visitor</a:t>
            </a:r>
          </a:p>
        </p:txBody>
      </p:sp>
    </p:spTree>
  </p:cSld>
  <p:clrMapOvr>
    <a:masterClrMapping/>
  </p:clrMapOvr>
  <p:transition spd="med">
    <p:fade/>
  </p:transition>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Model Dialogue · Seeing a visitor off</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Well, James, it’s time to say goodbye. Do you have everything?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James</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think so. Passport, laptop, phone… yes, I’m all set.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was a pleasure meeting you, and thank you for coming all this way.</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your hospitality. I’ve had a wonderful time.</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really enjoyed having you. I hope we can do it again soon.</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Me too. You’ll have to come to our office next time.</a:t>
            </a:r>
          </a:p>
        </p:txBody>
      </p:sp>
    </p:spTree>
  </p:cSld>
  <p:clrMapOvr>
    <a:masterClrMapping/>
  </p:clrMapOvr>
  <p:transition spd="med">
    <p:fade/>
  </p:transition>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Seeing a visitor off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love to. I’ll send you the dates by email.</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Please give my regards to Sophie and the team.</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will. Have a safe trip home, and drop me a line when you land.</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will. Thanks again for everything.</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Safe travels!</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See you in the spring. Goodbye!</a:t>
            </a:r>
          </a:p>
        </p:txBody>
      </p:sp>
    </p:spTree>
  </p:cSld>
  <p:clrMapOvr>
    <a:masterClrMapping/>
  </p:clrMapOvr>
  <p:transition spd="med">
    <p:fade/>
  </p:transition>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Seeing a visitor off</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see a business visitor off at the airport or the hotel.</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Host. Thank, wish a safe trip, and agree on the next contact.</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Visitor. Thanks you and invites you back.</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It was a pleasure meeting you. · Thank you for your hospitality. · Please give my regards to… · Have a safe trip. · Drop me a line.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Say goodbye warmly in one minute and agree to keep in touch.</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goodbye at a busy station: “I should let you go. You don’t want to miss your train.”</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small gift: “Here’s a small souvenir from us.”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you’ll see each other soon: “See you in the spring, then.”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A farewell party for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欢送同事的聚会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colleague, Dan, is leaving for a new job. You give a short speech at his farewell lunch.</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(speaker)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 Hughes (leaving colleague)</a:t>
            </a:r>
          </a:p>
        </p:txBody>
      </p:sp>
    </p:spTree>
  </p:cSld>
  <p:clrMapOvr>
    <a:masterClrMapping/>
  </p:clrMapOvr>
  <p:transition spd="med">
    <p:fade/>
  </p:transition>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A farewell party for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Everyone, may I have your attention for a moment? As you know, Dan is leaving us after eight years.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(Smiles)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Dan, it’s been a pleasure working with you. You’ve taught many of us a lot, and you always had time to help.</a:t>
            </a:r>
          </a:p>
        </p:txBody>
      </p:sp>
      <p:sp>
        <p:nvSpPr>
          <p:cNvPr id="17" name="Rounded Rectangle 16"/>
          <p:cNvSpPr/>
          <p:nvPr/>
        </p:nvSpPr>
        <p:spPr>
          <a:xfrm>
            <a:off x="548640" y="365150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65150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remember the first week I joined. You showed me around and said, “Don’t worry, you’ll be fine.” That meant a lot.</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We’re going to miss you, not only for your work, but also for your sense of humour.</a:t>
            </a:r>
          </a:p>
        </p:txBody>
      </p:sp>
    </p:spTree>
  </p:cSld>
  <p:clrMapOvr>
    <a:masterClrMapping/>
  </p:clrMapOvr>
  <p:transition spd="med">
    <p:fade/>
  </p:transition>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farewell party for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You’ll be a hard act to follow, but I’m sure you’ll do very well in your new job.</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please raise your glasses: to Dan, and to the next chapter!</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6" name="Rounded Rectangle 15"/>
          <p:cNvSpPr/>
          <p:nvPr/>
        </p:nvSpPr>
        <p:spPr>
          <a:xfrm>
            <a:off x="2133295" y="2779776"/>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Li Wei, and thank you all. I’ve loved working here. I’ll miss you too.</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Please keep in touch. You all have my number.</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will. And don’t be a stranger. Drop by any time.</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will. Thanks again. Cheers!</a:t>
            </a:r>
          </a:p>
        </p:txBody>
      </p:sp>
      <p:sp>
        <p:nvSpPr>
          <p:cNvPr id="26" name="Rounded Rectangle 25"/>
          <p:cNvSpPr/>
          <p:nvPr/>
        </p:nvSpPr>
        <p:spPr>
          <a:xfrm>
            <a:off x="548640" y="53980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8369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53980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Cheers!</a:t>
            </a:r>
          </a:p>
        </p:txBody>
      </p:sp>
    </p:spTree>
  </p:cSld>
  <p:clrMapOvr>
    <a:masterClrMapping/>
  </p:clrMapOvr>
  <p:transition spd="med">
    <p:fade/>
  </p:transition>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A farewell party for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colleague is leaving. You give a farewell speech.</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Speaker. Thank, tell a short memory, give good wishes.</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Departing colleague. Responds with thanks.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It’s been a pleasure working with you. · We’re going to miss you. · I wish you all the best. · You’ll be a hard act to follow. · Let’s keep in touch.</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a speech of about 45 seconds, with one memory and good wishes.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some humour: “We’ll miss you, even your terrible jokes.”</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Respond to the farewell: “Thank you all. I’ll never forget my time here.”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 contact: “Here is my personal email. Do keep in touch.”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say goodbye to a client after a long project?</a:t>
            </a:r>
          </a:p>
          <a:p>
            <a:pPr algn="l">
              <a:lnSpc>
                <a:spcPct val="115000"/>
              </a:lnSpc>
              <a:spcAft>
                <a:spcPts val="800"/>
              </a:spcAft>
            </a:pPr>
            <a:r>
              <a:rPr sz="1400" b="0">
                <a:solidFill>
                  <a:srgbClr val="5F677A"/>
                </a:solidFill>
                <a:latin typeface="Arial"/>
                <a:ea typeface="Microsoft YaHei"/>
              </a:rPr>
              <a:t>💬 “I send a thank-you email and…” / “I invite them for a farewell lunch.”</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do you say when you leave a party or a meeting early?</a:t>
            </a:r>
          </a:p>
          <a:p>
            <a:pPr algn="l">
              <a:lnSpc>
                <a:spcPct val="115000"/>
              </a:lnSpc>
              <a:spcAft>
                <a:spcPts val="800"/>
              </a:spcAft>
            </a:pPr>
            <a:r>
              <a:rPr sz="1400" b="0">
                <a:solidFill>
                  <a:srgbClr val="5F677A"/>
                </a:solidFill>
                <a:latin typeface="Arial"/>
                <a:ea typeface="Microsoft YaHei"/>
              </a:rPr>
              <a:t>💬 “I’m afraid I have to get going.” / “I’m sorry to leave early. I have an appointment.”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good farewell speech?</a:t>
            </a:r>
          </a:p>
          <a:p>
            <a:pPr algn="l">
              <a:lnSpc>
                <a:spcPct val="115000"/>
              </a:lnSpc>
              <a:spcAft>
                <a:spcPts val="800"/>
              </a:spcAft>
            </a:pPr>
            <a:r>
              <a:rPr sz="1400" b="0">
                <a:solidFill>
                  <a:srgbClr val="5F677A"/>
                </a:solidFill>
                <a:latin typeface="Arial"/>
                <a:ea typeface="Microsoft YaHei"/>
              </a:rPr>
              <a:t>💬 “A good speech is short and sincere.” / “It should include a story.”</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stay in touch with former colleagues?</a:t>
            </a:r>
          </a:p>
          <a:p>
            <a:pPr algn="l">
              <a:lnSpc>
                <a:spcPct val="115000"/>
              </a:lnSpc>
              <a:spcAft>
                <a:spcPts val="800"/>
              </a:spcAft>
            </a:pPr>
            <a:r>
              <a:rPr sz="1400" b="0">
                <a:solidFill>
                  <a:srgbClr val="5F677A"/>
                </a:solidFill>
                <a:latin typeface="Arial"/>
                <a:ea typeface="Microsoft YaHei"/>
              </a:rPr>
              <a:t>💬 “We have a chat group” / “I send a message on holidays.”</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difficult for you to say goodbye? Why or why not?</a:t>
            </a:r>
          </a:p>
          <a:p>
            <a:pPr algn="l">
              <a:lnSpc>
                <a:spcPct val="115000"/>
              </a:lnSpc>
              <a:spcAft>
                <a:spcPts val="800"/>
              </a:spcAft>
            </a:pPr>
            <a:r>
              <a:rPr sz="1400" b="0">
                <a:solidFill>
                  <a:srgbClr val="5F677A"/>
                </a:solidFill>
                <a:latin typeface="Arial"/>
                <a:ea typeface="Microsoft YaHei"/>
              </a:rPr>
              <a:t>💬 “It’s sad because…” / “I look at it as a new start.”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a good speech should be short, sincere and personal. First, say thank you. Then tell one real memory, because it makes the speech more human. Finally, give your best wishes and say you’ll keep in touch. Don’t try to be too funny, and never say anything that could embarrass the person. About one minute is usually enough.</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“sincere”(真诚的)。“embarrass”(使尴尬)。“One minute is usually enough”(一分钟通常足够)。</a:t>
            </a:r>
          </a:p>
        </p:txBody>
      </p:sp>
    </p:spTree>
  </p:cSld>
  <p:clrMapOvr>
    <a:masterClrMapping/>
  </p:clrMapOvr>
  <p:transition spd="med">
    <p:fade/>
  </p:transition>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Social language: saying goodbye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告别用语</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Thank</a:t>
                      </a:r>
                    </a:p>
                  </a:txBody>
                  <a:tcPr anchor="ctr">
                    <a:solidFill>
                      <a:srgbClr val="FFFFFF"/>
                    </a:solidFill>
                  </a:tcPr>
                </a:tc>
                <a:tc>
                  <a:txBody>
                    <a:bodyPr wrap="square"/>
                    <a:lstStyle/>
                    <a:p>
                      <a:r>
                        <a:rPr sz="1600" b="0">
                          <a:solidFill>
                            <a:srgbClr val="1F2A44"/>
                          </a:solidFill>
                          <a:latin typeface="Arial"/>
                          <a:ea typeface="Microsoft YaHei"/>
                        </a:rPr>
                        <a:t>Thank you for your hospitality. / We really enjoyed having you.</a:t>
                      </a:r>
                    </a:p>
                  </a:txBody>
                  <a:tcPr anchor="ctr">
                    <a:solidFill>
                      <a:srgbClr val="FFFFFF"/>
                    </a:solidFill>
                  </a:tcPr>
                </a:tc>
              </a:tr>
              <a:tr h="408432">
                <a:tc>
                  <a:txBody>
                    <a:bodyPr wrap="square"/>
                    <a:lstStyle/>
                    <a:p>
                      <a:r>
                        <a:rPr sz="1600" b="1">
                          <a:solidFill>
                            <a:srgbClr val="1F2A44"/>
                          </a:solidFill>
                          <a:latin typeface="Arial"/>
                          <a:ea typeface="Microsoft YaHei"/>
                        </a:rPr>
                        <a:t>Wish (visitor)</a:t>
                      </a:r>
                    </a:p>
                  </a:txBody>
                  <a:tcPr anchor="ctr">
                    <a:solidFill>
                      <a:srgbClr val="FFEFD9"/>
                    </a:solidFill>
                  </a:tcPr>
                </a:tc>
                <a:tc>
                  <a:txBody>
                    <a:bodyPr wrap="square"/>
                    <a:lstStyle/>
                    <a:p>
                      <a:r>
                        <a:rPr sz="1600" b="0">
                          <a:solidFill>
                            <a:srgbClr val="1F2A44"/>
                          </a:solidFill>
                          <a:latin typeface="Arial"/>
                          <a:ea typeface="Microsoft YaHei"/>
                        </a:rPr>
                        <a:t>Have a safe trip home. / Safe travels! ★</a:t>
                      </a:r>
                    </a:p>
                  </a:txBody>
                  <a:tcPr anchor="ctr">
                    <a:solidFill>
                      <a:srgbClr val="FFEFD9"/>
                    </a:solidFill>
                  </a:tcPr>
                </a:tc>
              </a:tr>
              <a:tr h="408432">
                <a:tc>
                  <a:txBody>
                    <a:bodyPr wrap="square"/>
                    <a:lstStyle/>
                    <a:p>
                      <a:r>
                        <a:rPr sz="1600" b="1">
                          <a:solidFill>
                            <a:srgbClr val="1F2A44"/>
                          </a:solidFill>
                          <a:latin typeface="Arial"/>
                          <a:ea typeface="Microsoft YaHei"/>
                        </a:rPr>
                        <a:t>Regards</a:t>
                      </a:r>
                    </a:p>
                  </a:txBody>
                  <a:tcPr anchor="ctr">
                    <a:solidFill>
                      <a:srgbClr val="FFFFFF"/>
                    </a:solidFill>
                  </a:tcPr>
                </a:tc>
                <a:tc>
                  <a:txBody>
                    <a:bodyPr wrap="square"/>
                    <a:lstStyle/>
                    <a:p>
                      <a:r>
                        <a:rPr sz="1600" b="0">
                          <a:solidFill>
                            <a:srgbClr val="1F2A44"/>
                          </a:solidFill>
                          <a:latin typeface="Arial"/>
                          <a:ea typeface="Microsoft YaHei"/>
                        </a:rPr>
                        <a:t>Please give my regards to… / Say hello to … for me.</a:t>
                      </a:r>
                    </a:p>
                  </a:txBody>
                  <a:tcPr anchor="ctr">
                    <a:solidFill>
                      <a:srgbClr val="FFFFFF"/>
                    </a:solidFill>
                  </a:tcPr>
                </a:tc>
              </a:tr>
              <a:tr h="408432">
                <a:tc>
                  <a:txBody>
                    <a:bodyPr wrap="square"/>
                    <a:lstStyle/>
                    <a:p>
                      <a:r>
                        <a:rPr sz="1600" b="1">
                          <a:solidFill>
                            <a:srgbClr val="1F2A44"/>
                          </a:solidFill>
                          <a:latin typeface="Arial"/>
                          <a:ea typeface="Microsoft YaHei"/>
                        </a:rPr>
                        <a:t>Keep in touch</a:t>
                      </a:r>
                    </a:p>
                  </a:txBody>
                  <a:tcPr anchor="ctr">
                    <a:solidFill>
                      <a:srgbClr val="FFEFD9"/>
                    </a:solidFill>
                  </a:tcPr>
                </a:tc>
                <a:tc>
                  <a:txBody>
                    <a:bodyPr wrap="square"/>
                    <a:lstStyle/>
                    <a:p>
                      <a:r>
                        <a:rPr sz="1600" b="0">
                          <a:solidFill>
                            <a:srgbClr val="1F2A44"/>
                          </a:solidFill>
                          <a:latin typeface="Arial"/>
                          <a:ea typeface="Microsoft YaHei"/>
                        </a:rPr>
                        <a:t>Let’s keep in touch. / Drop me a line. ★</a:t>
                      </a:r>
                    </a:p>
                  </a:txBody>
                  <a:tcPr anchor="ctr">
                    <a:solidFill>
                      <a:srgbClr val="FFEFD9"/>
                    </a:solidFill>
                  </a:tcPr>
                </a:tc>
              </a:tr>
              <a:tr h="652272">
                <a:tc>
                  <a:txBody>
                    <a:bodyPr wrap="square"/>
                    <a:lstStyle/>
                    <a:p>
                      <a:r>
                        <a:rPr sz="1600" b="1">
                          <a:solidFill>
                            <a:srgbClr val="1F2A44"/>
                          </a:solidFill>
                          <a:latin typeface="Arial"/>
                          <a:ea typeface="Microsoft YaHei"/>
                        </a:rPr>
                        <a:t>Future</a:t>
                      </a:r>
                    </a:p>
                  </a:txBody>
                  <a:tcPr anchor="ctr">
                    <a:solidFill>
                      <a:srgbClr val="FFFFFF"/>
                    </a:solidFill>
                  </a:tcPr>
                </a:tc>
                <a:tc>
                  <a:txBody>
                    <a:bodyPr wrap="square"/>
                    <a:lstStyle/>
                    <a:p>
                      <a:r>
                        <a:rPr sz="1600" b="0">
                          <a:solidFill>
                            <a:srgbClr val="1F2A44"/>
                          </a:solidFill>
                          <a:latin typeface="Arial"/>
                          <a:ea typeface="Microsoft YaHei"/>
                        </a:rPr>
                        <a:t>I hope we can do it again soon. ★ / See you in the spring.</a:t>
                      </a:r>
                    </a:p>
                  </a:txBody>
                  <a:tcPr anchor="ctr">
                    <a:solidFill>
                      <a:srgbClr val="FFFFFF"/>
                    </a:solidFill>
                  </a:tcPr>
                </a:tc>
              </a:tr>
            </a:tbl>
          </a:graphicData>
        </a:graphic>
      </p:graphicFrame>
    </p:spTree>
  </p:cSld>
  <p:clrMapOvr>
    <a:masterClrMapping/>
  </p:clrMapOvr>
  <p:transition spd="med">
    <p:fade/>
  </p:transition>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Social language: saying goodbye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告别用语</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Leaving</a:t>
                      </a:r>
                    </a:p>
                  </a:txBody>
                  <a:tcPr anchor="ctr">
                    <a:solidFill>
                      <a:srgbClr val="FFFFFF"/>
                    </a:solidFill>
                  </a:tcPr>
                </a:tc>
                <a:tc>
                  <a:txBody>
                    <a:bodyPr wrap="square"/>
                    <a:lstStyle/>
                    <a:p>
                      <a:r>
                        <a:rPr sz="1600" b="0">
                          <a:solidFill>
                            <a:srgbClr val="1F2A44"/>
                          </a:solidFill>
                          <a:latin typeface="Arial"/>
                          <a:ea typeface="Microsoft YaHei"/>
                        </a:rPr>
                        <a:t>I should get going. / I must be going.</a:t>
                      </a:r>
                    </a:p>
                  </a:txBody>
                  <a:tcPr anchor="ctr">
                    <a:solidFill>
                      <a:srgbClr val="FFFFFF"/>
                    </a:solidFill>
                  </a:tcPr>
                </a:tc>
              </a:tr>
              <a:tr h="652272">
                <a:tc>
                  <a:txBody>
                    <a:bodyPr wrap="square"/>
                    <a:lstStyle/>
                    <a:p>
                      <a:r>
                        <a:rPr sz="1600" b="1">
                          <a:solidFill>
                            <a:srgbClr val="1F2A44"/>
                          </a:solidFill>
                          <a:latin typeface="Arial"/>
                          <a:ea typeface="Microsoft YaHei"/>
                        </a:rPr>
                        <a:t>Colleague leaving</a:t>
                      </a:r>
                    </a:p>
                  </a:txBody>
                  <a:tcPr anchor="ctr">
                    <a:solidFill>
                      <a:srgbClr val="FFEFD9"/>
                    </a:solidFill>
                  </a:tcPr>
                </a:tc>
                <a:tc>
                  <a:txBody>
                    <a:bodyPr wrap="square"/>
                    <a:lstStyle/>
                    <a:p>
                      <a:r>
                        <a:rPr sz="1600" b="0">
                          <a:solidFill>
                            <a:srgbClr val="1F2A44"/>
                          </a:solidFill>
                          <a:latin typeface="Arial"/>
                          <a:ea typeface="Microsoft YaHei"/>
                        </a:rPr>
                        <a:t>We’re going to miss you. ★ / It’s been a pleasure working with you.</a:t>
                      </a:r>
                    </a:p>
                  </a:txBody>
                  <a:tcPr anchor="ctr">
                    <a:solidFill>
                      <a:srgbClr val="FFEFD9"/>
                    </a:solidFill>
                  </a:tcPr>
                </a:tc>
              </a:tr>
              <a:tr h="408432">
                <a:tc>
                  <a:txBody>
                    <a:bodyPr wrap="square"/>
                    <a:lstStyle/>
                    <a:p>
                      <a:r>
                        <a:rPr sz="1600" b="1">
                          <a:solidFill>
                            <a:srgbClr val="1F2A44"/>
                          </a:solidFill>
                          <a:latin typeface="Arial"/>
                          <a:ea typeface="Microsoft YaHei"/>
                        </a:rPr>
                        <a:t>Best wishes</a:t>
                      </a:r>
                    </a:p>
                  </a:txBody>
                  <a:tcPr anchor="ctr">
                    <a:solidFill>
                      <a:srgbClr val="FFFFFF"/>
                    </a:solidFill>
                  </a:tcPr>
                </a:tc>
                <a:tc>
                  <a:txBody>
                    <a:bodyPr wrap="square"/>
                    <a:lstStyle/>
                    <a:p>
                      <a:r>
                        <a:rPr sz="1600" b="0">
                          <a:solidFill>
                            <a:srgbClr val="1F2A44"/>
                          </a:solidFill>
                          <a:latin typeface="Arial"/>
                          <a:ea typeface="Microsoft YaHei"/>
                        </a:rPr>
                        <a:t>I wish you all the best in your new job. ★</a:t>
                      </a:r>
                    </a:p>
                  </a:txBody>
                  <a:tcPr anchor="ctr">
                    <a:solidFill>
                      <a:srgbClr val="FFFFFF"/>
                    </a:solidFill>
                  </a:tcPr>
                </a:tc>
              </a:tr>
              <a:tr h="408432">
                <a:tc>
                  <a:txBody>
                    <a:bodyPr wrap="square"/>
                    <a:lstStyle/>
                    <a:p>
                      <a:r>
                        <a:rPr sz="1600" b="1">
                          <a:solidFill>
                            <a:srgbClr val="1F2A44"/>
                          </a:solidFill>
                          <a:latin typeface="Arial"/>
                          <a:ea typeface="Microsoft YaHei"/>
                        </a:rPr>
                        <a:t>Compliment</a:t>
                      </a:r>
                    </a:p>
                  </a:txBody>
                  <a:tcPr anchor="ctr">
                    <a:solidFill>
                      <a:srgbClr val="FFEFD9"/>
                    </a:solidFill>
                  </a:tcPr>
                </a:tc>
                <a:tc>
                  <a:txBody>
                    <a:bodyPr wrap="square"/>
                    <a:lstStyle/>
                    <a:p>
                      <a:r>
                        <a:rPr sz="1600" b="0">
                          <a:solidFill>
                            <a:srgbClr val="1F2A44"/>
                          </a:solidFill>
                          <a:latin typeface="Arial"/>
                          <a:ea typeface="Microsoft YaHei"/>
                        </a:rPr>
                        <a:t>You’ll be a hard act to follow. ★</a:t>
                      </a:r>
                    </a:p>
                  </a:txBody>
                  <a:tcPr anchor="ctr">
                    <a:solidFill>
                      <a:srgbClr val="FFEFD9"/>
                    </a:solidFill>
                  </a:tcPr>
                </a:tc>
              </a:tr>
            </a:tbl>
          </a:graphicData>
        </a:graphic>
      </p:graphicFrame>
    </p:spTree>
  </p:cSld>
  <p:clrMapOvr>
    <a:masterClrMapping/>
  </p:clrMapOvr>
  <p:transition spd="med">
    <p:fade/>
  </p:transition>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 short farewell speech: structure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欢送致辞结构</a:t>
            </a:r>
          </a:p>
        </p:txBody>
      </p:sp>
      <p:graphicFrame>
        <p:nvGraphicFramePr>
          <p:cNvPr id="9" name="Table 8"/>
          <p:cNvGraphicFramePr>
            <a:graphicFrameLocks noGrp="1"/>
          </p:cNvGraphicFramePr>
          <p:nvPr/>
        </p:nvGraphicFramePr>
        <p:xfrm>
          <a:off x="548640" y="1417320"/>
          <a:ext cx="11094415" cy="3346704"/>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Part</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1. Get attention</a:t>
                      </a:r>
                    </a:p>
                  </a:txBody>
                  <a:tcPr anchor="ctr">
                    <a:solidFill>
                      <a:srgbClr val="FFFFFF"/>
                    </a:solidFill>
                  </a:tcPr>
                </a:tc>
                <a:tc>
                  <a:txBody>
                    <a:bodyPr wrap="square"/>
                    <a:lstStyle/>
                    <a:p>
                      <a:r>
                        <a:rPr sz="1600" b="0">
                          <a:solidFill>
                            <a:srgbClr val="1F2A44"/>
                          </a:solidFill>
                          <a:latin typeface="Arial"/>
                          <a:ea typeface="Microsoft YaHei"/>
                        </a:rPr>
                        <a:t>Everyone, may I have your attention for a moment?</a:t>
                      </a:r>
                    </a:p>
                  </a:txBody>
                  <a:tcPr anchor="ctr">
                    <a:solidFill>
                      <a:srgbClr val="FFFFFF"/>
                    </a:solidFill>
                  </a:tcPr>
                </a:tc>
              </a:tr>
              <a:tr h="408432">
                <a:tc>
                  <a:txBody>
                    <a:bodyPr wrap="square"/>
                    <a:lstStyle/>
                    <a:p>
                      <a:r>
                        <a:rPr sz="1600" b="1">
                          <a:solidFill>
                            <a:srgbClr val="1F2A44"/>
                          </a:solidFill>
                          <a:latin typeface="Arial"/>
                          <a:ea typeface="Microsoft YaHei"/>
                        </a:rPr>
                        <a:t>2. Thanks</a:t>
                      </a:r>
                    </a:p>
                  </a:txBody>
                  <a:tcPr anchor="ctr">
                    <a:solidFill>
                      <a:srgbClr val="FFEFD9"/>
                    </a:solidFill>
                  </a:tcPr>
                </a:tc>
                <a:tc>
                  <a:txBody>
                    <a:bodyPr wrap="square"/>
                    <a:lstStyle/>
                    <a:p>
                      <a:r>
                        <a:rPr sz="1600" b="0">
                          <a:solidFill>
                            <a:srgbClr val="1F2A44"/>
                          </a:solidFill>
                          <a:latin typeface="Arial"/>
                          <a:ea typeface="Microsoft YaHei"/>
                        </a:rPr>
                        <a:t>It’s been a pleasure working with you, Dan.</a:t>
                      </a:r>
                    </a:p>
                  </a:txBody>
                  <a:tcPr anchor="ctr">
                    <a:solidFill>
                      <a:srgbClr val="FFEFD9"/>
                    </a:solidFill>
                  </a:tcPr>
                </a:tc>
              </a:tr>
              <a:tr h="652272">
                <a:tc>
                  <a:txBody>
                    <a:bodyPr wrap="square"/>
                    <a:lstStyle/>
                    <a:p>
                      <a:r>
                        <a:rPr sz="1600" b="1">
                          <a:solidFill>
                            <a:srgbClr val="1F2A44"/>
                          </a:solidFill>
                          <a:latin typeface="Arial"/>
                          <a:ea typeface="Microsoft YaHei"/>
                        </a:rPr>
                        <a:t>3. A memory</a:t>
                      </a:r>
                    </a:p>
                  </a:txBody>
                  <a:tcPr anchor="ctr">
                    <a:solidFill>
                      <a:srgbClr val="FFFFFF"/>
                    </a:solidFill>
                  </a:tcPr>
                </a:tc>
                <a:tc>
                  <a:txBody>
                    <a:bodyPr wrap="square"/>
                    <a:lstStyle/>
                    <a:p>
                      <a:r>
                        <a:rPr sz="1600" b="0">
                          <a:solidFill>
                            <a:srgbClr val="1F2A44"/>
                          </a:solidFill>
                          <a:latin typeface="Arial"/>
                          <a:ea typeface="Microsoft YaHei"/>
                        </a:rPr>
                        <a:t>I remember when you helped me with my first big project…</a:t>
                      </a:r>
                    </a:p>
                  </a:txBody>
                  <a:tcPr anchor="ctr">
                    <a:solidFill>
                      <a:srgbClr val="FFFFFF"/>
                    </a:solidFill>
                  </a:tcPr>
                </a:tc>
              </a:tr>
              <a:tr h="408432">
                <a:tc>
                  <a:txBody>
                    <a:bodyPr wrap="square"/>
                    <a:lstStyle/>
                    <a:p>
                      <a:r>
                        <a:rPr sz="1600" b="1">
                          <a:solidFill>
                            <a:srgbClr val="1F2A44"/>
                          </a:solidFill>
                          <a:latin typeface="Arial"/>
                          <a:ea typeface="Microsoft YaHei"/>
                        </a:rPr>
                        <a:t>4. What we’ll miss</a:t>
                      </a:r>
                    </a:p>
                  </a:txBody>
                  <a:tcPr anchor="ctr">
                    <a:solidFill>
                      <a:srgbClr val="FFEFD9"/>
                    </a:solidFill>
                  </a:tcPr>
                </a:tc>
                <a:tc>
                  <a:txBody>
                    <a:bodyPr wrap="square"/>
                    <a:lstStyle/>
                    <a:p>
                      <a:r>
                        <a:rPr sz="1600" b="0">
                          <a:solidFill>
                            <a:srgbClr val="1F2A44"/>
                          </a:solidFill>
                          <a:latin typeface="Arial"/>
                          <a:ea typeface="Microsoft YaHei"/>
                        </a:rPr>
                        <a:t>We’ll miss your help and your sense of humour.</a:t>
                      </a:r>
                    </a:p>
                  </a:txBody>
                  <a:tcPr anchor="ctr">
                    <a:solidFill>
                      <a:srgbClr val="FFEFD9"/>
                    </a:solidFill>
                  </a:tcPr>
                </a:tc>
              </a:tr>
              <a:tr h="652272">
                <a:tc>
                  <a:txBody>
                    <a:bodyPr wrap="square"/>
                    <a:lstStyle/>
                    <a:p>
                      <a:r>
                        <a:rPr sz="1600" b="1">
                          <a:solidFill>
                            <a:srgbClr val="1F2A44"/>
                          </a:solidFill>
                          <a:latin typeface="Arial"/>
                          <a:ea typeface="Microsoft YaHei"/>
                        </a:rPr>
                        <a:t>5. Good wishes</a:t>
                      </a:r>
                    </a:p>
                  </a:txBody>
                  <a:tcPr anchor="ctr">
                    <a:solidFill>
                      <a:srgbClr val="FFFFFF"/>
                    </a:solidFill>
                  </a:tcPr>
                </a:tc>
                <a:tc>
                  <a:txBody>
                    <a:bodyPr wrap="square"/>
                    <a:lstStyle/>
                    <a:p>
                      <a:r>
                        <a:rPr sz="1600" b="0">
                          <a:solidFill>
                            <a:srgbClr val="1F2A44"/>
                          </a:solidFill>
                          <a:latin typeface="Arial"/>
                          <a:ea typeface="Microsoft YaHei"/>
                        </a:rPr>
                        <a:t>I’m sure you’ll do very well. I wish you all the best.</a:t>
                      </a:r>
                    </a:p>
                  </a:txBody>
                  <a:tcPr anchor="ctr">
                    <a:solidFill>
                      <a:srgbClr val="FFFFFF"/>
                    </a:solidFill>
                  </a:tcPr>
                </a:tc>
              </a:tr>
              <a:tr h="408432">
                <a:tc>
                  <a:txBody>
                    <a:bodyPr wrap="square"/>
                    <a:lstStyle/>
                    <a:p>
                      <a:r>
                        <a:rPr sz="1600" b="1">
                          <a:solidFill>
                            <a:srgbClr val="1F2A44"/>
                          </a:solidFill>
                          <a:latin typeface="Arial"/>
                          <a:ea typeface="Microsoft YaHei"/>
                        </a:rPr>
                        <a:t>6. Toast</a:t>
                      </a:r>
                    </a:p>
                  </a:txBody>
                  <a:tcPr anchor="ctr">
                    <a:solidFill>
                      <a:srgbClr val="FFEFD9"/>
                    </a:solidFill>
                  </a:tcPr>
                </a:tc>
                <a:tc>
                  <a:txBody>
                    <a:bodyPr wrap="square"/>
                    <a:lstStyle/>
                    <a:p>
                      <a:r>
                        <a:rPr sz="1600" b="0">
                          <a:solidFill>
                            <a:srgbClr val="1F2A44"/>
                          </a:solidFill>
                          <a:latin typeface="Arial"/>
                          <a:ea typeface="Microsoft YaHei"/>
                        </a:rPr>
                        <a:t>Please raise your glasses: to Dan!</a:t>
                      </a:r>
                    </a:p>
                  </a:txBody>
                  <a:tcPr anchor="ctr">
                    <a:solidFill>
                      <a:srgbClr val="FFEFD9"/>
                    </a:solidFill>
                  </a:tcPr>
                </a:tc>
              </a:tr>
            </a:tbl>
          </a:graphicData>
        </a:graphic>
      </p:graphicFrame>
    </p:spTree>
  </p:cSld>
  <p:clrMapOvr>
    <a:masterClrMapping/>
  </p:clrMapOvr>
  <p:transition spd="med">
    <p:fade/>
  </p:transition>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 short farewell speech: structure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欢送致辞结构</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Goodbye variations: </a:t>
            </a:r>
            <a:r>
              <a:rPr sz="1700" b="0">
                <a:solidFill>
                  <a:srgbClr val="1F2A44"/>
                </a:solidFill>
                <a:latin typeface="Arial"/>
                <a:ea typeface="Microsoft YaHei"/>
              </a:rPr>
              <a:t>Bye / Goodbye / See you / Take care / Have a good one / Speak soon.</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Formal vs. informal: </a:t>
            </a:r>
            <a:r>
              <a:rPr sz="1700" b="0">
                <a:solidFill>
                  <a:srgbClr val="1F2A44"/>
                </a:solidFill>
                <a:latin typeface="Arial"/>
                <a:ea typeface="Microsoft YaHei"/>
              </a:rPr>
              <a:t>Best wishes, Kind regards (email, formal) vs Take care, Cheers (informal).</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Regards: </a:t>
            </a:r>
            <a:r>
              <a:rPr sz="1700" b="0">
                <a:solidFill>
                  <a:srgbClr val="1F2A44"/>
                </a:solidFill>
                <a:latin typeface="Arial"/>
                <a:ea typeface="Microsoft YaHei"/>
              </a:rPr>
              <a:t>Give my regards to… (formal), Say hi to … for me (informal).</a:t>
            </a:r>
          </a:p>
        </p:txBody>
      </p:sp>
      <p:sp>
        <p:nvSpPr>
          <p:cNvPr id="18" name="Rounded Rectangle 17"/>
          <p:cNvSpPr/>
          <p:nvPr/>
        </p:nvSpPr>
        <p:spPr>
          <a:xfrm>
            <a:off x="548640" y="301751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701039"/>
          </a:xfrm>
          <a:prstGeom prst="rect">
            <a:avLst/>
          </a:prstGeom>
          <a:noFill/>
        </p:spPr>
        <p:txBody>
          <a:bodyPr wrap="square" anchor="ctr">
            <a:spAutoFit/>
          </a:bodyPr>
          <a:lstStyle/>
          <a:p>
            <a:r>
              <a:rPr sz="1700" b="1">
                <a:solidFill>
                  <a:srgbClr val="FFC857"/>
                </a:solidFill>
                <a:latin typeface="Arial"/>
                <a:ea typeface="Microsoft YaHei"/>
              </a:rPr>
              <a:t>Present perfect for a relationship: </a:t>
            </a:r>
            <a:r>
              <a:rPr sz="1700" b="0">
                <a:solidFill>
                  <a:srgbClr val="1F2A44"/>
                </a:solidFill>
                <a:latin typeface="Arial"/>
                <a:ea typeface="Microsoft YaHei"/>
              </a:rPr>
              <a:t>“We’ve worked together for eight years.” (still connected). Use the past simple only for finished periods: “We worked together in 2018.”</a:t>
            </a:r>
          </a:p>
        </p:txBody>
      </p:sp>
    </p:spTree>
  </p:cSld>
  <p:clrMapOvr>
    <a:masterClrMapping/>
  </p:clrMapOvr>
  <p:transition spd="med">
    <p:fade/>
  </p:transition>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Goodbye. (only, and walk away)</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was a pleasure meeting you. Safe travels, and see you soon.</a:t>
            </a:r>
          </a:p>
          <a:p>
            <a:pPr algn="l">
              <a:spcAft>
                <a:spcPts val="200"/>
              </a:spcAft>
            </a:pPr>
            <a:r>
              <a:rPr sz="1200" b="0">
                <a:solidFill>
                  <a:srgbClr val="FFFFFF"/>
                </a:solidFill>
                <a:latin typeface="Arial"/>
                <a:ea typeface="Microsoft YaHei"/>
              </a:rPr>
              <a:t>补充一句温暖的话</a:t>
            </a:r>
          </a:p>
        </p:txBody>
      </p:sp>
      <p:sp>
        <p:nvSpPr>
          <p:cNvPr id="11" name="Rounded Rectangle 10"/>
          <p:cNvSpPr/>
          <p:nvPr/>
        </p:nvSpPr>
        <p:spPr>
          <a:xfrm>
            <a:off x="548640" y="240791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Send my regard to your team.</a:t>
            </a:r>
          </a:p>
        </p:txBody>
      </p:sp>
      <p:sp>
        <p:nvSpPr>
          <p:cNvPr id="12" name="Rounded Rectangle 11"/>
          <p:cNvSpPr/>
          <p:nvPr/>
        </p:nvSpPr>
        <p:spPr>
          <a:xfrm>
            <a:off x="6187287" y="240791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Give my regards to your team. / Please say hello to your team for me.</a:t>
            </a:r>
          </a:p>
          <a:p>
            <a:pPr algn="l">
              <a:spcAft>
                <a:spcPts val="200"/>
              </a:spcAft>
            </a:pPr>
            <a:r>
              <a:rPr sz="1200" b="0">
                <a:solidFill>
                  <a:srgbClr val="FFFFFF"/>
                </a:solidFill>
                <a:latin typeface="Arial"/>
                <a:ea typeface="Microsoft YaHei"/>
              </a:rPr>
              <a:t>give my regards</a:t>
            </a:r>
          </a:p>
        </p:txBody>
      </p:sp>
      <p:sp>
        <p:nvSpPr>
          <p:cNvPr id="13" name="Rounded Rectangle 12"/>
          <p:cNvSpPr/>
          <p:nvPr/>
        </p:nvSpPr>
        <p:spPr>
          <a:xfrm>
            <a:off x="548640" y="335279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remember you.</a:t>
            </a:r>
          </a:p>
        </p:txBody>
      </p:sp>
      <p:sp>
        <p:nvSpPr>
          <p:cNvPr id="14" name="Rounded Rectangle 13"/>
          <p:cNvSpPr/>
          <p:nvPr/>
        </p:nvSpPr>
        <p:spPr>
          <a:xfrm>
            <a:off x="6187287" y="335279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miss you. / We’re going to miss you.</a:t>
            </a:r>
          </a:p>
          <a:p>
            <a:pPr algn="l">
              <a:spcAft>
                <a:spcPts val="200"/>
              </a:spcAft>
            </a:pPr>
            <a:r>
              <a:rPr sz="1200" b="0">
                <a:solidFill>
                  <a:srgbClr val="FFFFFF"/>
                </a:solidFill>
                <a:latin typeface="Arial"/>
                <a:ea typeface="Microsoft YaHei"/>
              </a:rPr>
              <a:t>remember 不表达不舍</a:t>
            </a:r>
          </a:p>
        </p:txBody>
      </p:sp>
      <p:sp>
        <p:nvSpPr>
          <p:cNvPr id="15" name="Rounded Rectangle 14"/>
          <p:cNvSpPr/>
          <p:nvPr/>
        </p:nvSpPr>
        <p:spPr>
          <a:xfrm>
            <a:off x="548640" y="405383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Have a nice trip back to home.</a:t>
            </a:r>
          </a:p>
        </p:txBody>
      </p:sp>
      <p:sp>
        <p:nvSpPr>
          <p:cNvPr id="16" name="Rounded Rectangle 15"/>
          <p:cNvSpPr/>
          <p:nvPr/>
        </p:nvSpPr>
        <p:spPr>
          <a:xfrm>
            <a:off x="6187287" y="405383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Have a safe trip home.</a:t>
            </a:r>
          </a:p>
          <a:p>
            <a:pPr algn="l">
              <a:spcAft>
                <a:spcPts val="200"/>
              </a:spcAft>
            </a:pPr>
            <a:r>
              <a:rPr sz="1200" b="0">
                <a:solidFill>
                  <a:srgbClr val="FFFFFF"/>
                </a:solidFill>
                <a:latin typeface="Arial"/>
                <a:ea typeface="Microsoft YaHei"/>
              </a:rPr>
              <a:t>home 前不加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Goodbye, welcome again! (欢迎再来)</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come again soon. / We’d love to have you back.</a:t>
            </a:r>
          </a:p>
          <a:p>
            <a:pPr algn="l">
              <a:spcAft>
                <a:spcPts val="200"/>
              </a:spcAft>
            </a:pPr>
            <a:r>
              <a:rPr sz="1200" b="0">
                <a:solidFill>
                  <a:srgbClr val="FFFFFF"/>
                </a:solidFill>
                <a:latin typeface="Arial"/>
                <a:ea typeface="Microsoft YaHei"/>
              </a:rPr>
              <a:t>欢迎再来不直译</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will keep contact.</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We’ll keep in touch. / stay in touch.</a:t>
            </a:r>
          </a:p>
          <a:p>
            <a:pPr algn="l">
              <a:spcAft>
                <a:spcPts val="200"/>
              </a:spcAft>
            </a:pPr>
            <a:r>
              <a:rPr sz="1200" b="0">
                <a:solidFill>
                  <a:srgbClr val="FFFFFF"/>
                </a:solidFill>
                <a:latin typeface="Arial"/>
                <a:ea typeface="Microsoft YaHei"/>
              </a:rPr>
              <a:t>keep in touch</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wish you good luck in new job.</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wish you all the best in your new job.</a:t>
            </a:r>
          </a:p>
          <a:p>
            <a:pPr algn="l">
              <a:spcAft>
                <a:spcPts val="200"/>
              </a:spcAft>
            </a:pPr>
            <a:r>
              <a:rPr sz="1200" b="0">
                <a:solidFill>
                  <a:srgbClr val="FFFFFF"/>
                </a:solidFill>
                <a:latin typeface="Arial"/>
                <a:ea typeface="Microsoft YaHei"/>
              </a:rPr>
              <a:t>冠词 + 习语</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Slowly go! / Walk slowly! (translating 慢走)</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Safe travels! / Take care. / Have a safe trip.</a:t>
            </a:r>
          </a:p>
          <a:p>
            <a:pPr algn="l">
              <a:spcAft>
                <a:spcPts val="200"/>
              </a:spcAft>
            </a:pPr>
            <a:r>
              <a:rPr sz="1200" b="0">
                <a:solidFill>
                  <a:srgbClr val="FFFFFF"/>
                </a:solidFill>
                <a:latin typeface="Arial"/>
                <a:ea typeface="Microsoft YaHei"/>
              </a:rPr>
              <a:t>中文告别语不直译</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Thanks for your take care.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Thank you for looking after us.</a:t>
            </a:r>
          </a:p>
          <a:p>
            <a:pPr algn="l">
              <a:spcAft>
                <a:spcPts val="200"/>
              </a:spcAft>
            </a:pPr>
            <a:r>
              <a:rPr sz="1200" b="0">
                <a:solidFill>
                  <a:srgbClr val="FFFFFF"/>
                </a:solidFill>
                <a:latin typeface="Arial"/>
                <a:ea typeface="Microsoft YaHei"/>
              </a:rPr>
              <a:t>照顾</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must go back now. (abrupt)</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should get going. It’s been lovely talking to you.</a:t>
            </a:r>
          </a:p>
          <a:p>
            <a:pPr algn="l">
              <a:spcAft>
                <a:spcPts val="200"/>
              </a:spcAft>
            </a:pPr>
            <a:r>
              <a:rPr sz="1200" b="0">
                <a:solidFill>
                  <a:srgbClr val="FFFFFF"/>
                </a:solidFill>
                <a:latin typeface="Arial"/>
                <a:ea typeface="Microsoft YaHei"/>
              </a:rPr>
              <a:t>离开时加一句客气话</a:t>
            </a:r>
          </a:p>
        </p:txBody>
      </p:sp>
      <p:sp>
        <p:nvSpPr>
          <p:cNvPr id="13" name="Rounded Rectangle 1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give my regards (plural), keep in touch (not “keep contact”), a safe trip home (no “to”), I wish you all the best. Do not translate 慢走 / 请留步 word by word.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Don’t say goodbye too quickly. Add a warm closing sentence. A short thank-you and a good wish make a good impression.</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Chinese farewells: </a:t>
            </a:r>
            <a:r>
              <a:rPr sz="1700" b="0">
                <a:solidFill>
                  <a:srgbClr val="1F2A44"/>
                </a:solidFill>
                <a:latin typeface="Arial"/>
                <a:ea typeface="Microsoft YaHei"/>
              </a:rPr>
              <a:t>Hosts often see guests to the door or car and wait until they leave. In Western settings, a goodbye at the door or lobby is usual; waiting for the car to disappear is rare.</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Keep in touch. Followed by an action: </a:t>
            </a:r>
            <a:r>
              <a:rPr sz="1700" b="0">
                <a:solidFill>
                  <a:srgbClr val="1F2A44"/>
                </a:solidFill>
                <a:latin typeface="Arial"/>
                <a:ea typeface="Microsoft YaHei"/>
              </a:rPr>
              <a:t>“I’ll send you an email next week.” Without an action it sounds like a polite phrase only.</a:t>
            </a:r>
          </a:p>
        </p:txBody>
      </p:sp>
    </p:spTree>
  </p:cSld>
  <p:clrMapOvr>
    <a:masterClrMapping/>
  </p:clrMapOvr>
  <p:transition spd="med">
    <p:fade/>
  </p:transition>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Thank-you notes. A short thank-you email on the same day, or the next morning, is professional.</a:t>
            </a:r>
          </a:p>
        </p:txBody>
      </p:sp>
      <p:sp>
        <p:nvSpPr>
          <p:cNvPr id="12" name="Rounded Rectangle 11"/>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701039"/>
          </a:xfrm>
          <a:prstGeom prst="rect">
            <a:avLst/>
          </a:prstGeom>
          <a:noFill/>
        </p:spPr>
        <p:txBody>
          <a:bodyPr wrap="square" anchor="ctr">
            <a:spAutoFit/>
          </a:bodyPr>
          <a:lstStyle/>
          <a:p>
            <a:r>
              <a:rPr sz="1700" b="1">
                <a:solidFill>
                  <a:srgbClr val="4A90E2"/>
                </a:solidFill>
                <a:latin typeface="Arial"/>
                <a:ea typeface="Microsoft YaHei"/>
              </a:rPr>
              <a:t>Farewell speeches: </a:t>
            </a:r>
            <a:r>
              <a:rPr sz="1700" b="0">
                <a:solidFill>
                  <a:srgbClr val="1F2A44"/>
                </a:solidFill>
                <a:latin typeface="Arial"/>
                <a:ea typeface="Microsoft YaHei"/>
              </a:rPr>
              <a:t>Keep them short, positive and personal. Gentle humour is fine. Avoid inside jokes that guests don’t understand.</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Leaving a party early: </a:t>
            </a:r>
            <a:r>
              <a:rPr sz="1700" b="0">
                <a:solidFill>
                  <a:srgbClr val="1F2A44"/>
                </a:solidFill>
                <a:latin typeface="Arial"/>
                <a:ea typeface="Microsoft YaHei"/>
              </a:rPr>
              <a:t>Say thank you to the host first: “Thank you for having us. I’m afraid we have to get going.”</a:t>
            </a:r>
          </a:p>
        </p:txBody>
      </p:sp>
    </p:spTree>
  </p:cSld>
  <p:clrMapOvr>
    <a:masterClrMapping/>
  </p:clrMapOvr>
  <p:transition spd="med">
    <p:fade/>
  </p:transition>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say goodbye to a visitor warmly (It was a pleasure meeting you. Have a safe trip home. Safe travels!).</a:t>
            </a:r>
          </a:p>
        </p:txBody>
      </p:sp>
      <p:sp>
        <p:nvSpPr>
          <p:cNvPr id="12" name="TextBox 11"/>
          <p:cNvSpPr txBox="1"/>
          <p:nvPr/>
        </p:nvSpPr>
        <p:spPr>
          <a:xfrm>
            <a:off x="9539935" y="1508760"/>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380488"/>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80488"/>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380488"/>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thank my hosts and keep in touch (Thank you for your hospitality. Drop me a line.).</a:t>
            </a:r>
          </a:p>
        </p:txBody>
      </p:sp>
      <p:sp>
        <p:nvSpPr>
          <p:cNvPr id="16" name="TextBox 15"/>
          <p:cNvSpPr txBox="1"/>
          <p:nvPr/>
        </p:nvSpPr>
        <p:spPr>
          <a:xfrm>
            <a:off x="9539935" y="2380488"/>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252216"/>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252216"/>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252216"/>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say farewell to a colleague (We’re going to miss you. I wish you all the best.).</a:t>
            </a:r>
          </a:p>
        </p:txBody>
      </p:sp>
      <p:sp>
        <p:nvSpPr>
          <p:cNvPr id="20" name="TextBox 19"/>
          <p:cNvSpPr txBox="1"/>
          <p:nvPr/>
        </p:nvSpPr>
        <p:spPr>
          <a:xfrm>
            <a:off x="9539935" y="3252216"/>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4123944"/>
            <a:ext cx="11094415" cy="49072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123944"/>
            <a:ext cx="548640" cy="49072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4123944"/>
            <a:ext cx="8168335" cy="4907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give a short farewell speech with a memory and good wishes.</a:t>
            </a:r>
          </a:p>
        </p:txBody>
      </p:sp>
      <p:sp>
        <p:nvSpPr>
          <p:cNvPr id="24" name="TextBox 23"/>
          <p:cNvSpPr txBox="1"/>
          <p:nvPr/>
        </p:nvSpPr>
        <p:spPr>
          <a:xfrm>
            <a:off x="9539935" y="4123944"/>
            <a:ext cx="2011680" cy="49072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706112"/>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706112"/>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706112"/>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use give my regards, keep in touch, a safe trip home and I should get going correctly.</a:t>
            </a:r>
          </a:p>
        </p:txBody>
      </p:sp>
      <p:sp>
        <p:nvSpPr>
          <p:cNvPr id="28" name="TextBox 27"/>
          <p:cNvSpPr txBox="1"/>
          <p:nvPr/>
        </p:nvSpPr>
        <p:spPr>
          <a:xfrm>
            <a:off x="9539935" y="4706112"/>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 · Lesson 45 Goodbye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98755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98755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give my regards, keep in touch, safe trip home, I should get going, and the structure of a short farewell speech.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25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能否提前/推迟一天?</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Could we make it a day earlier / later?</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一个建议是……</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One suggestion would be to…</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We need a ballpark figure.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We need a ballpark figure for the total cost.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262</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6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It’s good to have you back.</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It’s good to have you back.</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264</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6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265</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6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希望我们很快能再见</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 hope we can do it again soon.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267</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Make me a favour.</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Do me a favour.</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“如果您能……我会很感激”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I’d really appreciate it if you could…</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“我们希望/目标是……”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We’re hoping to… / We aim to…</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“你看起来精神焕发”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You look refreshed / well-rested.</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Next week I go to Shanghai. (only a plan)</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Next week I’m going to Shanghai.</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Please eat more! Eat more! (pressing)</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Please help yourself. / Would you like some more?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10</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269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10</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270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10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