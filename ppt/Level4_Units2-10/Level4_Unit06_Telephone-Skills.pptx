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4</a:t>
            </a:r>
          </a:p>
          <a:p>
            <a:r>
              <a:t>Unit 6: Telephone Skills — Self-Study Workbook (Lessons 23–26)</a:t>
            </a:r>
          </a:p>
          <a:p/>
          <a:p>
            <a:r>
              <a:t>开场：简单介绍本单元的主题和要完成的 4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23 · Making an appointment for a meeting 预约会议</a:t>
            </a:r>
          </a:p>
          <a:p>
            <a:r>
              <a:t>Goal: arrange, confirm, change and cancel meeting appointments by phone: suggest times, respond to suggestions, deal with scheduling conflicts and check the details (day, date, time, place).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题讲过去的事,请用过去式(changed, moved, said)。第 3 题可以说 “I say, ‘I’m afraid I can’t make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Phone a client to arrange a meeting next week.</a:t>
            </a:r>
          </a:p>
          <a:p>
            <a:r>
              <a:t>Say: introduce yourself → say why you want a meeting → suggest a time → agree a time and place → confirm and close.</a:t>
            </a:r>
          </a:p>
          <a:p>
            <a:r>
              <a:t>Useful starters: “I’d like to arrange a meeting to…” / “Would Tuesday at 10 suit you?” / “Just to confirm, we’ll meet on… at…”</a:t>
            </a:r>
          </a:p>
          <a:p>
            <a:r>
              <a:t>约时间的介词:on Tuesday / at 10 a.m. / in the afternoon / next week(不加 on)。提出时间用 Would… suit you? / How about…?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Suggesting a time 提议时间</a:t>
            </a:r>
          </a:p>
          <a:p>
            <a:r>
              <a:t>领读 → 学员跟读 → 请学员用表达造一个和自己工作相关的句子。</a:t>
            </a:r>
          </a:p>
          <a:p>
            <a:r>
              <a:t>I’d like to arrange a meeting. (phrase) 我想约一次会议 — “I’d like to arrange a meeting to discuss the contract.”</a:t>
            </a:r>
          </a:p>
          <a:p>
            <a:r>
              <a:t>Are you free on Tuesday afternoon? (phrase) 您周二下午有空吗? — “Are you free on Tuesday afternoon?”</a:t>
            </a:r>
          </a:p>
          <a:p>
            <a:r>
              <a:t>How about Thursday at ten? (phrase) 周四十点怎么样? — “How about Thursday at 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Suggesting a time 提议时间</a:t>
            </a:r>
          </a:p>
          <a:p>
            <a:r>
              <a:t>领读 → 学员跟读 → 请学员用表达造一个和自己工作相关的句子。</a:t>
            </a:r>
          </a:p>
          <a:p>
            <a:r>
              <a:t>★ Would Thursday work for you? (phrase) 周四对您合适吗? — “Would Thursday morning work for you?”</a:t>
            </a:r>
          </a:p>
          <a:p>
            <a:r>
              <a:t>★ When would be convenient for you? (phrase (polite)) 您什么时候方便? — “When would be convenient for you next week?”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Responding and negotiating 回应与协商</a:t>
            </a:r>
          </a:p>
          <a:p>
            <a:r>
              <a:t>领读 → 学员跟读 → 请学员用表达造一个和自己工作相关的句子。</a:t>
            </a:r>
          </a:p>
          <a:p>
            <a:r>
              <a:t>That suits me fine. / That works for me. (phrase) 我可以 / 合适 — “Tuesday at ten works for me.”</a:t>
            </a:r>
          </a:p>
          <a:p>
            <a:r>
              <a:t>I’m afraid I’m tied up on Monday. (phrase) 恐怕我周一没空 — “I’m afraid I’m tied up on Monday morning.”</a:t>
            </a:r>
          </a:p>
          <a:p>
            <a:r>
              <a:t>I’m fully booked that day. (phrase) 那天我的日程排满了 — “I’m fully booked on Wednesday.”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Responding and negotiating 回应与协商</a:t>
            </a:r>
          </a:p>
          <a:p>
            <a:r>
              <a:t>领读 → 学员跟读 → 请学员用表达造一个和自己工作相关的句子。</a:t>
            </a:r>
          </a:p>
          <a:p>
            <a:r>
              <a:t>★ Could we make it a little later? (phrase) 能不能稍微晚一点? — “Could we make it a little later, say eleven?”</a:t>
            </a:r>
          </a:p>
          <a:p>
            <a:r>
              <a:t>★ Let me check my diary. (phrase) 我看一下我的日程 — “Let me check my diary. … Yes, I’m free at three.”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Confirming and changing 确认与更改</a:t>
            </a:r>
          </a:p>
          <a:p>
            <a:r>
              <a:t>领读 → 学员跟读 → 请学员用表达造一个和自己工作相关的句子。</a:t>
            </a:r>
          </a:p>
          <a:p>
            <a:r>
              <a:t>Let’s say Friday at 2 p.m. (phrase) 那就定周五下午两点吧 — “Let’s say Friday at 2 p.m.”</a:t>
            </a:r>
          </a:p>
          <a:p>
            <a:r>
              <a:t>Just to confirm, … (phrase) 确认一下,…… — “Just to confirm, we’ll meet on Friday at two at your office.”</a:t>
            </a:r>
          </a:p>
          <a:p>
            <a:r>
              <a:t>★ I’m afraid I’ll have to reschedule. (phrase) 恐怕我得改期 — “I’m afraid I’ll have to reschedule our meeting.”</a:t>
            </a:r>
          </a:p>
          <a:p>
            <a:r>
              <a:t>★ Could we push it back to Monday? (phrasal verb) 能推迟到周一吗? — “Could we push it back to Monday?”</a:t>
            </a:r>
          </a:p>
          <a:p>
            <a:r>
              <a:t>I’ll send a calendar invitation. (phrase) 我会发日历邀请 — “I’ll send a calendar invitation after this call.”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afraid / free / Just / reschedule / arrange / work</a:t>
            </a:r>
          </a:p>
          <a:p>
            <a:r>
              <a:t>1. I’d like to _______ a meeting to discuss the contract. → arrange</a:t>
            </a:r>
          </a:p>
          <a:p>
            <a:r>
              <a:t>2. Are you _______ on Tuesday afternoon? → free</a:t>
            </a:r>
          </a:p>
          <a:p>
            <a:r>
              <a:t>3. Would Thursday _______ for you? → work</a:t>
            </a:r>
          </a:p>
          <a:p>
            <a:r>
              <a:t>4. I’m _______ I’m tied up on Monday morning. → afraid</a:t>
            </a:r>
          </a:p>
          <a:p>
            <a:r>
              <a:t>5. I’m afraid I’ll have to _______ our meeting. → reschedule</a:t>
            </a:r>
          </a:p>
          <a:p>
            <a:r>
              <a:t>6. Let’s say Friday at two. _______ to confirm, at your office? → Just</a:t>
            </a:r>
          </a:p>
          <a:p>
            <a:r>
              <a:t>Mistake Watch (介词与拼写): appointment, schedule, Wednesday (Wed-nes-day). Use on for days, at for clock times, in for parts of the day: “on Tuesday at ten in the morning”.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Arranging a meeting 约定会议</a:t>
            </a:r>
          </a:p>
          <a:p>
            <a:r>
              <a:t>情景：You call a new client to arrange a first meeting. You find a time that suits you both.</a:t>
            </a:r>
          </a:p>
          <a:p>
            <a:r>
              <a:t>Role A: Li Wei, sales manager Role B: Henry Lee, purchasing manager at BlueSea</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Mr Lee. This is Li Wei from Orion. I’d like to arrange a meeting to discuss next year’s order.</a:t>
            </a:r>
          </a:p>
          <a:p>
            <a:r>
              <a:t>B (Henry): Good morning. That sounds good. When were you thinking?</a:t>
            </a:r>
          </a:p>
          <a:p>
            <a:r>
              <a:t>A: Are you free next Tuesday afternoon?</a:t>
            </a:r>
          </a:p>
          <a:p>
            <a:r>
              <a:t>B: Let me check my diary. … I’m afraid I’m tied up on Tuesday. How about Wednesday?</a:t>
            </a:r>
          </a:p>
          <a:p>
            <a:r>
              <a:t>A: Wednesday is fine for me. Would ten o’clock suit you?</a:t>
            </a:r>
          </a:p>
          <a:p>
            <a:r>
              <a:t>B: Ten is a bit early for me. Could we make it a little later, say eleven?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that works for me. And would you prefer to meet at your office or ours?</a:t>
            </a:r>
          </a:p>
          <a:p>
            <a:r>
              <a:t>B: Let’s meet at our office. It’s easier for me.</a:t>
            </a:r>
          </a:p>
          <a:p>
            <a:r>
              <a:t>A: Perfect. Just to confirm: Wednesday the 14th at eleven, at your office.</a:t>
            </a:r>
          </a:p>
          <a:p>
            <a:r>
              <a:t>B: That’s right. It should take about an hour.</a:t>
            </a:r>
          </a:p>
          <a:p>
            <a:r>
              <a:t>A: Great. I’ll send a calendar invitation today.</a:t>
            </a:r>
          </a:p>
          <a:p>
            <a:r>
              <a:t>B: Thank you. See you on Wednesday.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41 | </a:t>
            </a:r>
          </a:p>
          <a:p>
            <a:r>
              <a:t>Situation | You call to arrange a meeting. The first time doesn’t work.</a:t>
            </a:r>
          </a:p>
          <a:p>
            <a:r>
              <a:t>Your role (A) | Caller. Your company and reason for the meeting: ______________</a:t>
            </a:r>
          </a:p>
          <a:p>
            <a:r>
              <a:t>Partner’s role (B) | Client. Has a busy diary.</a:t>
            </a:r>
          </a:p>
          <a:p>
            <a:r>
              <a:t>Must use (4 or more) | I’d like to arrange a meeting… · Are you free on…? · I’m afraid I’m tied up… · Could we make it…? · Just to confirm…</a:t>
            </a:r>
          </a:p>
          <a:p>
            <a:r>
              <a:t>Goal | Agree a day, time and place, and confirm the details. About 90 seconds.</a:t>
            </a:r>
          </a:p>
          <a:p>
            <a:r>
              <a:t>My notes | ____________________________________________</a:t>
            </a:r>
          </a:p>
          <a:p>
            <a:r>
              <a:t>Your client offers only early morning slots. Say: “Would later in the day be possible?”</a:t>
            </a:r>
          </a:p>
          <a:p>
            <a:r>
              <a:t>Offer two options: “I’m free on Tuesday at two or Thursday at ten. Which would you prefer?”</a:t>
            </a:r>
          </a:p>
          <a:p>
            <a:r>
              <a:t>Confirm by email after the call.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Rescheduling a meeting 更改会议时间</a:t>
            </a:r>
          </a:p>
          <a:p>
            <a:r>
              <a:t>情景：You must move a meeting because of a client emergency. You phone to reschedule.</a:t>
            </a:r>
          </a:p>
          <a:p>
            <a:r>
              <a:t>Role A: Li Wei Role B: Henry Lee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Mr Lee. It’s Li Wei. I’m sorry to call you at short notice. Is this a good time?</a:t>
            </a:r>
          </a:p>
          <a:p>
            <a:r>
              <a:t>B (Henry): Yes, go ahead.</a:t>
            </a:r>
          </a:p>
          <a:p>
            <a:r>
              <a:t>A: I’m afraid I’ll have to reschedule our meeting on Wednesday. One of our key clients has an urgent problem, and I need to be there.</a:t>
            </a:r>
          </a:p>
          <a:p>
            <a:r>
              <a:t>B: I see. That’s a shame. What would you suggest?</a:t>
            </a:r>
          </a:p>
          <a:p>
            <a:r>
              <a:t>A: Could we push it back to Friday? Same time, same place.</a:t>
            </a:r>
          </a:p>
          <a:p>
            <a:r>
              <a:t>B: I’m fully booked on Friday morning, I’m afraid. What about the afternoon?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Friday afternoon is fine. Would two o’clock work for you?</a:t>
            </a:r>
          </a:p>
          <a:p>
            <a:r>
              <a:t>B: Two o’clock is fine.</a:t>
            </a:r>
          </a:p>
          <a:p>
            <a:r>
              <a:t>A: Thank you for being so flexible. I really appreciate it.</a:t>
            </a:r>
          </a:p>
          <a:p>
            <a:r>
              <a:t>B: Don’t worry. These things happen.</a:t>
            </a:r>
          </a:p>
          <a:p>
            <a:r>
              <a:t>A: I’ll send a new invitation, and I’ll cancel the old one.</a:t>
            </a:r>
          </a:p>
          <a:p>
            <a:r>
              <a:t>B: Thanks. See you on Friday.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42 | </a:t>
            </a:r>
          </a:p>
          <a:p>
            <a:r>
              <a:t>Situation | You need to postpone a meeting.</a:t>
            </a:r>
          </a:p>
          <a:p>
            <a:r>
              <a:t>Your role (A) | Caller. Apologize, explain briefly, suggest a new time.</a:t>
            </a:r>
          </a:p>
          <a:p>
            <a:r>
              <a:t>Partner’s role (B) | Client. Flexible but busy.</a:t>
            </a:r>
          </a:p>
          <a:p>
            <a:r>
              <a:t>Must use (4 or more) | I’m afraid I’ll have to reschedule… · push it back to… · I’m fully booked… · Thank you for being so flexible. · I’ll send a new invitation.</a:t>
            </a:r>
          </a:p>
          <a:p>
            <a:r>
              <a:t>Goal | Agree a new time and confirm what happens to the old booking.</a:t>
            </a:r>
          </a:p>
          <a:p>
            <a:r>
              <a:t>My notes | ____________________________________________</a:t>
            </a:r>
          </a:p>
          <a:p>
            <a:r>
              <a:t>You want to bring the meeting forward. Say: “Could we bring it forward to Tuesday?”</a:t>
            </a:r>
          </a:p>
          <a:p>
            <a:r>
              <a:t>The client is annoyed. Say: “I completely understand, and I’m sorry for the inconvenience.”</a:t>
            </a:r>
          </a:p>
          <a:p>
            <a:r>
              <a:t>Cancel instead: “I’m afraid I have to cancel, but I’d like to rebook for next month.”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decide when to hold a meeting (morning, afternoon, how long)? | “I prefer mornings because…” / “I try to keep meetings under…”</a:t>
            </a:r>
          </a:p>
          <a:p>
            <a:r>
              <a:t>2. How many times is it acceptable to reschedule a meeting? | “Once is acceptable if…” / “More than twice looks unprofessional because…”</a:t>
            </a:r>
          </a:p>
          <a:p>
            <a:r>
              <a:t>3. Which is better for arranging a meeting: phone, email, or a booking tool? | “I find… easier because…” / “For important clients I would call because…”</a:t>
            </a:r>
          </a:p>
          <a:p>
            <a:r>
              <a:t>4. How do you stay polite when you must refuse a time? | “I say ‘I’m afraid I can’t…’ and offer…” / “I always give another option.”</a:t>
            </a:r>
          </a:p>
          <a:p>
            <a:r>
              <a:t>5. How do you deal with time zones when you arrange meetings? | “I use a time-zone converter.” / “I say the time in both places.”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rescheduling once is acceptable if there is a good reason and I tell the other person early. Twice is a bit too much, and three times looks unprofessional. When I change a meeting, I apologize, explain in one sentence, and suggest two new times. This way, the other person can choose quickly, and it shows that I respect their time.”</a:t>
            </a:r>
          </a:p>
          <a:p>
            <a:r>
              <a:t>“tell the other person early”(尽早告知)。“suggest two new times”(提供两个新时间)是实用技巧。“respect their time”(尊重别人的时间)是常见搭配。</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arranging an appointment 约会议话术</a:t>
            </a:r>
          </a:p>
          <a:p>
            <a:r>
              <a:t>Step | Say this</a:t>
            </a:r>
          </a:p>
          <a:p>
            <a:r>
              <a:t>Introduce | Hello, this is [Name] from [Company].</a:t>
            </a:r>
          </a:p>
          <a:p>
            <a:r>
              <a:t>Purpose | I’d like to arrange a meeting to discuss…</a:t>
            </a:r>
          </a:p>
          <a:p>
            <a:r>
              <a:t>Suggest | Are you free on Tuesday afternoon? / How about Thursday at ten?</a:t>
            </a:r>
          </a:p>
          <a:p>
            <a:r>
              <a:t>Ask | When would be convenient for you? ★ / Would Thursday work for you? ★</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arranging an appointment 约会议话术</a:t>
            </a:r>
          </a:p>
          <a:p>
            <a:r>
              <a:t>Step | Say this</a:t>
            </a:r>
          </a:p>
          <a:p>
            <a:r>
              <a:t>Refuse | I’m afraid I’m tied up on Monday. / I’m fully booked that day.</a:t>
            </a:r>
          </a:p>
          <a:p>
            <a:r>
              <a:t>Counter | Could we make it a little later? ★ / What about the afternoon?</a:t>
            </a:r>
          </a:p>
          <a:p>
            <a:r>
              <a:t>Confirm | Let’s say Friday at 2 p.m. Just to confirm, …</a:t>
            </a:r>
          </a:p>
          <a:p>
            <a:r>
              <a:t>Close | I’ll send a calendar invitation. See you on Friday.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expressions and prepositions 时间表达与介词</a:t>
            </a:r>
          </a:p>
          <a:p>
            <a:r>
              <a:t>Preposition | Use | Example</a:t>
            </a:r>
          </a:p>
          <a:p>
            <a:r>
              <a:t>on | days, dates | on Tuesday, on 14 October</a:t>
            </a:r>
          </a:p>
          <a:p>
            <a:r>
              <a:t>at | clock time | at ten, at half past two</a:t>
            </a:r>
          </a:p>
          <a:p>
            <a:r>
              <a:t>in | parts of day, months | in the morning, in October</a:t>
            </a:r>
          </a:p>
          <a:p>
            <a:r>
              <a:t>by | deadline | by Friday, by noon</a:t>
            </a:r>
          </a:p>
          <a:p>
            <a:r>
              <a:t>no preposition | next / this / last + time | next week, this Friday, tomorrow</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expressions and prepositions 时间表达与介词</a:t>
            </a:r>
          </a:p>
          <a:p>
            <a:r>
              <a:t>Change the time: postpone / push back (to a later time), bring forward (to an earlier time), reschedule (to a new time), cancel.</a:t>
            </a:r>
          </a:p>
          <a:p>
            <a:r>
              <a:t>Say the time: 2:30 = “half past two” or “two thirty”. 9:15 = “quarter past nine”. 4:45 = “quarter to five”. Say a.m. / p.m. when it could be confusing.</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See you in Tuesday.  →  ✓ See you on Tuesday.  (星期前用 on)</a:t>
            </a:r>
          </a:p>
          <a:p>
            <a:r>
              <a:t>✗ Let’s meet on next Monday.  →  ✓ Let’s meet next Monday.  (next / this / last 前面不加介词)</a:t>
            </a:r>
          </a:p>
          <a:p>
            <a:r>
              <a:t>✗ Are you free at tomorrow?  →  ✓ Are you free tomorrow?  (tomorrow 前不加介词)</a:t>
            </a:r>
          </a:p>
          <a:p>
            <a:r>
              <a:t>✗ I’m free in 3 p.m.  →  ✓ I’m free at 3 p.m.  (钟点用 at)</a:t>
            </a:r>
          </a:p>
          <a:p>
            <a:r>
              <a:t>✗ The meeting is at the morning.  →  ✓ The meeting is in the morning.  (in the morning)</a:t>
            </a:r>
          </a:p>
          <a:p>
            <a:r>
              <a:t>Mistake Watch: on Tuesday, at ten, in the morning, but next Tuesday, tomorrow, this afternoon: no preposition.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Let’s change the meeting to forward.  →  ✓ Let’s bring the meeting forward.  (bring forward / push back)</a:t>
            </a:r>
          </a:p>
          <a:p>
            <a:r>
              <a:t>✗ We will meet us on Friday.  →  ✓ We’ll meet on Friday.  (meet 不加反身代词)</a:t>
            </a:r>
          </a:p>
          <a:p>
            <a:r>
              <a:t>✗ Can you come my office?  →  ✓ Can you come to my office?  (come to)</a:t>
            </a:r>
          </a:p>
          <a:p>
            <a:r>
              <a:t>✗ I’m busy to Monday.  →  ✓ I’m busy on Monday. / I’m tied up on Monday.  (周一忙 → busy on)</a:t>
            </a:r>
          </a:p>
          <a:p>
            <a:r>
              <a:t>✗ appointement / Wensday  →  ✓ appointment / Wednesday  (拼写)</a:t>
            </a:r>
          </a:p>
          <a:p>
            <a:r>
              <a:t>Mistake Watch: on Tuesday, at ten, in the morning, but next Tuesday, tomorrow, this afternoon: no preposition.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Offer options, not a command. “How about Thursday at ten?” is more natural than “You come on Thursday at ten.”</a:t>
            </a:r>
          </a:p>
          <a:p>
            <a:r>
              <a:t>Be on time. In the UK, US and Germany, being on time is part of professionalism. If you’re running late, call before the meeting.</a:t>
            </a:r>
          </a:p>
          <a:p>
            <a:r>
              <a:t>Check the time zone. “11 a.m. Shanghai time” or “11 a.m. CST” avoids confusion. In the US, CST can mean Central Standard Time. Write “Beijing time” or “GMT+8”.</a:t>
            </a:r>
          </a:p>
          <a:p>
            <a:r>
              <a:t>Avoid the busiest times: Many Western offices avoid Monday mornings and Friday afternoons for important meetings.</a:t>
            </a:r>
          </a:p>
          <a:p>
            <a:r>
              <a:t>Confirm in writing. Send a calendar invitation or a short email with date, time, place, and agenda.</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suggest a time with Are you free on…? How about…? Would … work for you?</a:t>
            </a:r>
          </a:p>
          <a:p>
            <a:r>
              <a:t>I can accept, refuse and counter-suggest politely (I’m afraid I’m tied up. Could we make it later?).</a:t>
            </a:r>
          </a:p>
          <a:p>
            <a:r>
              <a:t>I can confirm a booking with Let’s say… Just to confirm, …</a:t>
            </a:r>
          </a:p>
          <a:p>
            <a:r>
              <a:t>I can postpone or cancel with I’ll have to reschedule / push it back.</a:t>
            </a:r>
          </a:p>
          <a:p>
            <a:r>
              <a:t>I can use on / at / in / by and next / tomorrow (no preposition)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time prepositions, next / tomorrow with no preposition, polite refusals, and spelling (appointment, Wednesday).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24 · Asking for information 请求信息</a:t>
            </a:r>
          </a:p>
          <a:p>
            <a:r>
              <a:t>Goal: ask for information by phone politely and clearly: use direct and indirect questions, ask the right follow-up questions, check what you heard, and thank the person.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题讲过去的事,请用过去式(called, asked, needed)。第 2 题可以说 “I use Could you tell me…?”。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Phone a hotel to ask about a conference room for next month.</a:t>
            </a:r>
          </a:p>
          <a:p>
            <a:r>
              <a:t>Say: introduce → ask about availability → ask about price and facilities → check details → thank them.</a:t>
            </a:r>
          </a:p>
          <a:p>
            <a:r>
              <a:t>Useful starters: “I’d like some information about…” / “Could you tell me whether…?” / “Do you happen to know…?” / “Let me check that I understood.”</a:t>
            </a:r>
          </a:p>
          <a:p>
            <a:r>
              <a:t>间接疑问句用陈述语序:Could you tell me what time it opens?(不要说 what time does it open)。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and asking 开场与提问</a:t>
            </a:r>
          </a:p>
          <a:p>
            <a:r>
              <a:t>领读 → 学员跟读 → 请学员用表达造一个和自己工作相关的句子。</a:t>
            </a:r>
          </a:p>
          <a:p>
            <a:r>
              <a:t>I’d like some information about… (phrase) 我想了解一些关于……的信息 — “I’d like some information about your conference rooms.”</a:t>
            </a:r>
          </a:p>
          <a:p>
            <a:r>
              <a:t>Could you tell me what time the museum opens? (indirect question) 请问博物馆几点开门? — “Could you tell me what time the room is available?”</a:t>
            </a:r>
          </a:p>
          <a:p>
            <a:r>
              <a:t>Do you happen to know…? (phrase) 请问您知不知道……? — “Do you happen to know if there is parking?”</a:t>
            </a:r>
          </a:p>
          <a:p>
            <a:r>
              <a:t>★ I was wondering if you could tell me… (phrase (very polite)) 不知道您能不能告诉我…… — “I was wondering if you could tell me the cost for a full day.”</a:t>
            </a:r>
          </a:p>
          <a:p>
            <a:r>
              <a:t>Is it possible to…? (phrase) 有没有可能……? — “Is it possible to rent a projector?”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Following up and clarifying 追问与澄清</a:t>
            </a:r>
          </a:p>
          <a:p>
            <a:r>
              <a:t>领读 → 学员跟读 → 请学员用表达造一个和自己工作相关的句子。</a:t>
            </a:r>
          </a:p>
          <a:p>
            <a:r>
              <a:t>How much does it cost? / What’s the price? (phrase) 费用是多少? — “How much does it cost for a whole day?”</a:t>
            </a:r>
          </a:p>
          <a:p>
            <a:r>
              <a:t>Does that include…? (phrase) 这包括……吗? — “Does that include lunch and Wi-Fi?”</a:t>
            </a:r>
          </a:p>
          <a:p>
            <a:r>
              <a:t>★ Could you go through that again? (phrase) 能再讲一遍吗? — “Could you go through the prices again?”</a:t>
            </a:r>
          </a:p>
          <a:p>
            <a:r>
              <a:t>★ Could you send me the details by email? (phrase) 能把详情发邮件给我吗? — “Could you send me the details by email?”</a:t>
            </a:r>
          </a:p>
          <a:p>
            <a:r>
              <a:t>Is there a discount for…? (phrase) ……有折扣吗? — “Is there a discount for a group booking?”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Checking and thanking 核对与致谢</a:t>
            </a:r>
          </a:p>
          <a:p>
            <a:r>
              <a:t>领读 → 学员跟读 → 请学员用表达造一个和自己工作相关的句子。</a:t>
            </a:r>
          </a:p>
          <a:p>
            <a:r>
              <a:t>Let me check that I’ve got that right. (phrase) 我确认一下我听对了 — “Let me check that I’ve got that right: £450 for a day.”</a:t>
            </a:r>
          </a:p>
          <a:p>
            <a:r>
              <a:t>So that’s… , is that correct? (phrase) 也就是说……,对吗? — “So that’s 450 pounds per day, is that correct?”</a:t>
            </a:r>
          </a:p>
          <a:p>
            <a:r>
              <a:t>★ That’s very helpful. Thank you. (phrase) 这很有帮助,谢谢 — “That’s very helpful. Thank you.”</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Checking and thanking 核对与致谢</a:t>
            </a:r>
          </a:p>
          <a:p>
            <a:r>
              <a:t>领读 → 学员跟读 → 请学员用表达造一个和自己工作相关的句子。</a:t>
            </a:r>
          </a:p>
          <a:p>
            <a:r>
              <a:t>★ I’ll get back to you once I’ve spoken to my manager. (phrase) 我和经理商量后再回复您 — “I’ll get back to you once I’ve spoken to my manager.”</a:t>
            </a:r>
          </a:p>
          <a:p>
            <a:r>
              <a:t>Thank you for your time. (phrase) 感谢您抽出时间 — “Thank you for your time.”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right / include / time / wondering / through / helpful</a:t>
            </a:r>
          </a:p>
          <a:p>
            <a:r>
              <a:t>1. Could you tell me what _______ the room is available? → time</a:t>
            </a:r>
          </a:p>
          <a:p>
            <a:r>
              <a:t>2. I was _______ if you could tell me the cost. → wondering</a:t>
            </a:r>
          </a:p>
          <a:p>
            <a:r>
              <a:t>3. Does that _______ lunch and Wi-Fi? → include</a:t>
            </a:r>
          </a:p>
          <a:p>
            <a:r>
              <a:t>4. Could you go _______ that again, please? → through</a:t>
            </a:r>
          </a:p>
          <a:p>
            <a:r>
              <a:t>5. Let me check that I’ve got that _______. → right</a:t>
            </a:r>
          </a:p>
          <a:p>
            <a:r>
              <a:t>6. That’s very _______. Thank you. → helpful</a:t>
            </a:r>
          </a:p>
          <a:p>
            <a:r>
              <a:t>Mistake Watch (语序): In indirect questions the word order is like a statement: “Could you tell me where the room is?” (not “where is the room”). No “do/does” in the second part: “what time it opens”.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 hotel about a conference room 向酒店询问会议室</a:t>
            </a:r>
          </a:p>
          <a:p>
            <a:r>
              <a:t>情景：You call a hotel to ask about a conference room for 30 people next month.</a:t>
            </a:r>
          </a:p>
          <a:p>
            <a:r>
              <a:t>Role A: Li Wei, event organizer Role B: Emma Zhou, hotel events coordinator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this is Li Wei from Orion. I’d like some information about your conference rooms.</a:t>
            </a:r>
          </a:p>
          <a:p>
            <a:r>
              <a:t>B (Emma): Of course. How can I help?</a:t>
            </a:r>
          </a:p>
          <a:p>
            <a:r>
              <a:t>A: Could you tell me if you have a room available for 30 people on 12 November?</a:t>
            </a:r>
          </a:p>
          <a:p>
            <a:r>
              <a:t>B: Let me check. Yes, our Pearl Room is free that day. It seats up to 40.</a:t>
            </a:r>
          </a:p>
          <a:p>
            <a:r>
              <a:t>A: Great. Could you tell me how much it costs for a full day?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It’s 4,500 yuan for a full day.</a:t>
            </a:r>
          </a:p>
          <a:p>
            <a:r>
              <a:t>A: Does that include lunch and Wi-Fi?</a:t>
            </a:r>
          </a:p>
          <a:p>
            <a:r>
              <a:t>B: Wi-Fi is included. Lunch is an extra 120 yuan per person.</a:t>
            </a:r>
          </a:p>
          <a:p>
            <a:r>
              <a:t>A: I see. Let me check that I’ve got that right: 4,500 yuan for the room, plus 120 yuan per person for lunch. Is that correct?</a:t>
            </a:r>
          </a:p>
          <a:p>
            <a:r>
              <a:t>B: Yes, that’s right.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Is there a discount for a group booking?</a:t>
            </a:r>
          </a:p>
          <a:p>
            <a:r>
              <a:t>B: I’m afraid not, but we can add coffee breaks for free.</a:t>
            </a:r>
          </a:p>
          <a:p>
            <a:r>
              <a:t>A: That’s very helpful. Could you send me the details by email? I’ll get back to you once I’ve spoken to my manager.</a:t>
            </a:r>
          </a:p>
          <a:p>
            <a:r>
              <a:t>B: Of course. Thank you for calling.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43 | </a:t>
            </a:r>
          </a:p>
          <a:p>
            <a:r>
              <a:t>Situation | You call to ask for information about a service.</a:t>
            </a:r>
          </a:p>
          <a:p>
            <a:r>
              <a:t>Your role (A) | Caller. What you need: ______________ (room / transport / equipment)</a:t>
            </a:r>
          </a:p>
          <a:p>
            <a:r>
              <a:t>Partner’s role (B) | Staff member. Gives facts and prices.</a:t>
            </a:r>
          </a:p>
          <a:p>
            <a:r>
              <a:t>Must use (4 or more) | I’d like some information about… · Could you tell me…? · Does that include…? · Let me check that I’ve got that right. · Could you send me the details?</a:t>
            </a:r>
          </a:p>
          <a:p>
            <a:r>
              <a:t>Goal | Ask 4 questions, repeat the key facts, ask for an email and say thank you.</a:t>
            </a:r>
          </a:p>
          <a:p>
            <a:r>
              <a:t>My notes | ____________________________________________</a:t>
            </a:r>
          </a:p>
          <a:p>
            <a:r>
              <a:t>The answer is too fast. Say: “Sorry, could you slow down a little?”</a:t>
            </a:r>
          </a:p>
          <a:p>
            <a:r>
              <a:t>Ask a question that begins with “I was wondering if…”</a:t>
            </a:r>
          </a:p>
          <a:p>
            <a:r>
              <a:t>Compare two options: “What’s the difference between the standard and the premium room?”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Asking about shipping rates 询问运费</a:t>
            </a:r>
          </a:p>
          <a:p>
            <a:r>
              <a:t>情景：You call a courier company to ask about sending a 20 kg package to Germany.</a:t>
            </a:r>
          </a:p>
          <a:p>
            <a:r>
              <a:t>Role A: Li Wei, office assistant Role B: Jack Wu, courier customer service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afternoon. I’d like some information about sending a parcel to Germany.</a:t>
            </a:r>
          </a:p>
          <a:p>
            <a:r>
              <a:t>B (Jack): Certainly. What would you like to know?</a:t>
            </a:r>
          </a:p>
          <a:p>
            <a:r>
              <a:t>A: Do you happen to know how long it takes for express delivery?</a:t>
            </a:r>
          </a:p>
          <a:p>
            <a:r>
              <a:t>B: It usually takes three to five working days.</a:t>
            </a:r>
          </a:p>
          <a:p>
            <a:r>
              <a:t>A: And how much does it cost for a 20-kilo parcel?</a:t>
            </a:r>
          </a:p>
          <a:p>
            <a:r>
              <a:t>B: That would be 780 yuan, including insurance.</a:t>
            </a:r>
          </a:p>
          <a:p>
            <a:r>
              <a:t>A: Sorry, did you say 780 or 870?</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Seven hundred and eighty. That’s seven-eight-zero.</a:t>
            </a:r>
          </a:p>
          <a:p>
            <a:r>
              <a:t>A: Thank you. Is it possible to track the parcel online?</a:t>
            </a:r>
          </a:p>
          <a:p>
            <a:r>
              <a:t>B: Yes. We’ll send you a tracking number by text.</a:t>
            </a:r>
          </a:p>
          <a:p>
            <a:r>
              <a:t>A: That’s very helpful. And is there any restriction on what I can send?</a:t>
            </a:r>
          </a:p>
          <a:p>
            <a:r>
              <a:t>B: Liquids and batteries are not allowed. I can send you the full list by email.</a:t>
            </a:r>
          </a:p>
          <a:p>
            <a:r>
              <a:t>A: Please do. Thank you for your time.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44 | </a:t>
            </a:r>
          </a:p>
          <a:p>
            <a:r>
              <a:t>Situation | You ask a company about a service and price.</a:t>
            </a:r>
          </a:p>
          <a:p>
            <a:r>
              <a:t>Your role (A) | Customer. What do you want to send / buy / book? ______________</a:t>
            </a:r>
          </a:p>
          <a:p>
            <a:r>
              <a:t>Partner’s role (B) | Customer service. Gives numbers, time and rules.</a:t>
            </a:r>
          </a:p>
          <a:p>
            <a:r>
              <a:t>Must use (3 or more) | Do you happen to know…? · How much does it cost? · Is it possible to…? · Sorry, did you say…? · Could you send me the details?</a:t>
            </a:r>
          </a:p>
          <a:p>
            <a:r>
              <a:t>Goal | Get price, time, one rule and an email. Check one number.</a:t>
            </a:r>
          </a:p>
          <a:p>
            <a:r>
              <a:t>My notes | ____________________________________________</a:t>
            </a:r>
          </a:p>
          <a:p>
            <a:r>
              <a:t>Check a number you didn’t hear well: “Was that fifteen or fifty?”</a:t>
            </a:r>
          </a:p>
          <a:p>
            <a:r>
              <a:t>Ask for a recommendation: “Which would you recommend for urgent documents?”</a:t>
            </a:r>
          </a:p>
          <a:p>
            <a:r>
              <a:t>Ask an indirect question: “Could you tell me whether you deliver on Saturdays?”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most useful questions to ask when you call for information? | “I always ask…” / “The first thing I want to know is…”</a:t>
            </a:r>
          </a:p>
          <a:p>
            <a:r>
              <a:t>2. How do you check that you understood the answer? | “I repeat the information and ask, ‘Is that right?’” / “I write it down and read it back.”</a:t>
            </a:r>
          </a:p>
          <a:p>
            <a:r>
              <a:t>3. Do you prefer a phone call, a website or a chat bot for information? | “I prefer… because I can…” / “For complex questions I call because…”</a:t>
            </a:r>
          </a:p>
          <a:p>
            <a:r>
              <a:t>4. What would you do if the person on the phone cannot help you? | “I would ask who else can help.” / “I’d ask them to transfer me.”</a:t>
            </a:r>
          </a:p>
          <a:p>
            <a:r>
              <a:t>5. How do you ask a direct question politely? | “I use ‘Could you tell me…?’” / “I add ‘please’ and ‘thank you’.”</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repeat the information and ask,”Is that right?” This is especially important for numbers and dates. For example, “So that’s 780 yuan, with delivery in three to five working days, is that correct?” Then I write the answers down. If I’m not sure, I ask for an email confirmation. It takes one extra minute, but it can save a lot of trouble later.”</a:t>
            </a:r>
          </a:p>
          <a:p>
            <a:r>
              <a:t>“especially important for numbers and dates” 中 especially 强调重点。“save a lot of trouble”(避免很多麻烦)是地道搭配。注意 “is that correct?” 的主谓倒装。</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asking for information 询问信息话术</a:t>
            </a:r>
          </a:p>
          <a:p>
            <a:r>
              <a:t>Step | Say this</a:t>
            </a:r>
          </a:p>
          <a:p>
            <a:r>
              <a:t>Open | Hello, I’d like some information about…</a:t>
            </a:r>
          </a:p>
          <a:p>
            <a:r>
              <a:t>Ask (direct) | How much does it cost? / What time does it open?</a:t>
            </a:r>
          </a:p>
          <a:p>
            <a:r>
              <a:t>Ask (indirect) ★ | Could you tell me how much it costs? / Do you happen to know what time it opens?</a:t>
            </a:r>
          </a:p>
          <a:p>
            <a:r>
              <a:t>Very polite ★ | I was wondering if you could tell me whether…</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asking for information 询问信息话术</a:t>
            </a:r>
          </a:p>
          <a:p>
            <a:r>
              <a:t>Step | Say this</a:t>
            </a:r>
          </a:p>
          <a:p>
            <a:r>
              <a:t>Clarify | Does that include…? / Sorry, did you say fifteen or fifty?</a:t>
            </a:r>
          </a:p>
          <a:p>
            <a:r>
              <a:t>Check | Let me check that I’ve got that right. So that’s… , is that correct?</a:t>
            </a:r>
          </a:p>
          <a:p>
            <a:r>
              <a:t>Request | Could you send me the details by email?</a:t>
            </a:r>
          </a:p>
          <a:p>
            <a:r>
              <a:t>Close | That’s very helpful. Thank you for your time.</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vs indirect questions 直接问句与间接问句</a:t>
            </a:r>
          </a:p>
          <a:p>
            <a:r>
              <a:t>Direct | Indirect (more polite)</a:t>
            </a:r>
          </a:p>
          <a:p>
            <a:r>
              <a:t>What time does it open? | Could you tell me what time it opens?</a:t>
            </a:r>
          </a:p>
          <a:p>
            <a:r>
              <a:t>Where is the station? | Do you know where the station is?</a:t>
            </a:r>
          </a:p>
          <a:p>
            <a:r>
              <a:t>How much does it cost? | I was wondering how much it costs.</a:t>
            </a:r>
          </a:p>
          <a:p>
            <a:r>
              <a:t>Is there a discount? | Could you tell me if there is a discount?</a:t>
            </a:r>
          </a:p>
          <a:p>
            <a:r>
              <a:t>Do you accept cards? | Do you happen to know whether you accept cards?</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vs indirect questions 直接问句与间接问句</a:t>
            </a:r>
          </a:p>
          <a:p>
            <a:r>
              <a:t>Word order: After “Could you tell me…”, use statement order (subject + verb): “…what time it opens”. No do / does / did.</a:t>
            </a:r>
          </a:p>
          <a:p>
            <a:r>
              <a:t>Yes/no questions use if or whether: “Could you tell me if parking is included?”</a:t>
            </a:r>
          </a:p>
          <a:p>
            <a:r>
              <a:t>“I was wondering if you could tell me…” is a very polite request, even though it is not a question. The past tense (was wondering) makes it softer.</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Could you tell me what time does it open?  →  ✓ Could you tell me what time it opens?  (间接问句用陈述语序)</a:t>
            </a:r>
          </a:p>
          <a:p>
            <a:r>
              <a:t>✗ Do you know where is the station?  →  ✓ Do you know where the station is?  (间接问句用陈述语序)</a:t>
            </a:r>
          </a:p>
          <a:p>
            <a:r>
              <a:t>✗ Could you tell me do you accept cards?  →  ✓ Could you tell me if you accept cards?  (yes/no 问句用 if / whether)</a:t>
            </a:r>
          </a:p>
          <a:p>
            <a:r>
              <a:t>✗ I want to ask a question you.  →  ✓ Could I ask you a question?  (ask sb a question)</a:t>
            </a:r>
          </a:p>
          <a:p>
            <a:r>
              <a:t>✗ Tell me the price.  →  ✓ Could you tell me the price, please?  (礼貌请求)</a:t>
            </a:r>
          </a:p>
          <a:p>
            <a:r>
              <a:t>Mistake Watch: Information is uncountable: some information, a piece of information (not “informations”). Indirect questions keep statement order.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How much it costs?  →  ✓ How much does it cost?  (直接问句要倒装)</a:t>
            </a:r>
          </a:p>
          <a:p>
            <a:r>
              <a:t>✗ I want to know the price.  →  ✓ I’d like to know the price. / I was wondering about the price.  (want 太直接)</a:t>
            </a:r>
          </a:p>
          <a:p>
            <a:r>
              <a:t>✗ Say me the price again.  →  ✓ Could you repeat the price? / Could you say that again?  (say 后不接人)</a:t>
            </a:r>
          </a:p>
          <a:p>
            <a:r>
              <a:t>✗ Does include the price lunch?  →  ✓ Does the price include lunch?  (语序)</a:t>
            </a:r>
          </a:p>
          <a:p>
            <a:r>
              <a:t>✗ informations / infomation  →  ✓ information  (information 不可数,拼写 -mation)</a:t>
            </a:r>
          </a:p>
          <a:p>
            <a:r>
              <a:t>Mistake Watch: Information is uncountable: some information, a piece of information (not “informations”). Indirect questions keep statement order.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Please and thank you are not optional. Even short, simple phone calls start with “Hello” and end with “Thank you”.</a:t>
            </a:r>
          </a:p>
          <a:p>
            <a:r>
              <a:t>Be ready to wait. In many English-speaking countries, you may be asked to hold. It’s normal and polite to say, “No problem, I’ll hold.”</a:t>
            </a:r>
          </a:p>
          <a:p>
            <a:r>
              <a:t>Don’t hang up when the answer is “no”. Ask: “Is there anything else you’d recommend?” Often the person helps with another option.</a:t>
            </a:r>
          </a:p>
          <a:p>
            <a:r>
              <a:t>Be specific about dates and numbers. Say “30 people on Thursday, 12 November” rather than “a group next month”.</a:t>
            </a:r>
          </a:p>
          <a:p>
            <a:r>
              <a:t>Get it in writing. Ask for an email confirmation when money or dates are involved.</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 request for information (I’d like some information about…).</a:t>
            </a:r>
          </a:p>
          <a:p>
            <a:r>
              <a:t>I can ask direct and indirect questions with the correct word order (Could you tell me what time it opens?).</a:t>
            </a:r>
          </a:p>
          <a:p>
            <a:r>
              <a:t>I can ask follow-up questions (price, what’s included, discount).</a:t>
            </a:r>
          </a:p>
          <a:p>
            <a:r>
              <a:t>I can check what I heard (Let me check that I’ve got that right) and ask for an email.</a:t>
            </a:r>
          </a:p>
          <a:p>
            <a:r>
              <a:t>I can use information (uncountable), if / whether, and statement order in indirect questions.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indirect question word order, information (uncountable), if / whether, and polite requests.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25 · Making a reservation 预订</a:t>
            </a:r>
          </a:p>
          <a:p>
            <a:r>
              <a:t>Goal: book a hotel room, a restaurant table and travel services by phone: give dates, numbers and names, state special requests, confirm, change or cancel a booking.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题讲过去的事,请用过去式(booked, was, had)。第 2 题可以说 “I need to give…”。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Book a hotel room for a visitor and a restaurant table for a business dinner.</a:t>
            </a:r>
          </a:p>
          <a:p>
            <a:r>
              <a:t>Say: introduce → what you want to book → dates and numbers → special requests → confirmation and thanks.</a:t>
            </a:r>
          </a:p>
          <a:p>
            <a:r>
              <a:t>Useful starters: “I’d like to book…” / “It’s for two nights, from… to…” / “Could I also request…?”</a:t>
            </a:r>
          </a:p>
          <a:p>
            <a:r>
              <a:t>订房/订位要说清楚 5 个信息:when / how many / how long / name / special requests。日期用 from…to…,住几晚用 for two nights。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Booking a hotel room 订酒店</a:t>
            </a:r>
          </a:p>
          <a:p>
            <a:r>
              <a:t>领读 → 学员跟读 → 请学员用表达造一个和自己工作相关的句子。</a:t>
            </a:r>
          </a:p>
          <a:p>
            <a:r>
              <a:t>I’d like to book a room. / reserve a room (phrase) 我想订一间房 — “I’d like to book a double room for two nights.”</a:t>
            </a:r>
          </a:p>
          <a:p>
            <a:r>
              <a:t>Do you have any vacancies / rooms available? (phrase) 请问有空房吗? — “Do you have any rooms available from 12 to 14 November?”</a:t>
            </a:r>
          </a:p>
          <a:p>
            <a:r>
              <a:t>single room / double room / twin room (noun) 单人房 / 大床房 / 双床房 — “Two twin rooms, please.”</a:t>
            </a:r>
          </a:p>
          <a:p>
            <a:r>
              <a:t>★ Is breakfast included in the rate? (phrase) 房价含早餐吗? — “Is breakfast included in the rate?”</a:t>
            </a:r>
          </a:p>
          <a:p>
            <a:r>
              <a:t>check-in / check-out (noun) 入住 / 退房 — “What time is check-out?”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Booking a table 订餐厅</a:t>
            </a:r>
          </a:p>
          <a:p>
            <a:r>
              <a:t>领读 → 学员跟读 → 请学员用表达造一个和自己工作相关的句子。</a:t>
            </a:r>
          </a:p>
          <a:p>
            <a:r>
              <a:t>I’d like to reserve a table for four. (phrase) 我想订一张四人桌 — “I’d like to reserve a table for four at 7:30 on Friday.”</a:t>
            </a:r>
          </a:p>
          <a:p>
            <a:r>
              <a:t>★ Could we have a quiet table, away from the kitchen? (phrase) 能给我们安排一个安静的位置吗(远离厨房)? — “Could we have a quiet table, away from the kitchen?”</a:t>
            </a:r>
          </a:p>
          <a:p>
            <a:r>
              <a:t>dietary requirements (noun phrase) 饮食要求 — “One guest is vegetarian and one has a nut allergy.”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Booking a table 订餐厅</a:t>
            </a:r>
          </a:p>
          <a:p>
            <a:r>
              <a:t>领读 → 学员跟读 → 请学员用表达造一个和自己工作相关的句子。</a:t>
            </a:r>
          </a:p>
          <a:p>
            <a:r>
              <a:t>★ Is there a private room we can use? (phrase) 有包间可以用吗? — “Is there a private room we can use?”</a:t>
            </a:r>
          </a:p>
          <a:p>
            <a:r>
              <a:t>The booking is under the name of… (phrase) 预订用的是……的名字 — “The booking is under the name of Li Wei.”</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Confirming, changing, cancelling 确认、更改、取消</a:t>
            </a:r>
          </a:p>
          <a:p>
            <a:r>
              <a:t>领读 → 学员跟读 → 请学员用表达造一个和自己工作相关的句子。</a:t>
            </a:r>
          </a:p>
          <a:p>
            <a:r>
              <a:t>Could I have a confirmation number? (phrase) 请问有预订确认号吗? — “Could I have a confirmation number, please?”</a:t>
            </a:r>
          </a:p>
          <a:p>
            <a:r>
              <a:t>I’d like to change my reservation. (phrase) 我想更改预订 — “I’d like to change my reservation from Friday to Saturday.”</a:t>
            </a:r>
          </a:p>
          <a:p>
            <a:r>
              <a:t>★ I’m afraid I have to cancel. (phrase) 恐怕我得取消 — “I’m afraid I have to cancel my reservation for tonight.”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Confirming, changing, cancelling 确认、更改、取消</a:t>
            </a:r>
          </a:p>
          <a:p>
            <a:r>
              <a:t>领读 → 学员跟读 → 请学员用表达造一个和自己工作相关的句子。</a:t>
            </a:r>
          </a:p>
          <a:p>
            <a:r>
              <a:t>★ Is there a cancellation fee / deposit? (phrase) 取消要收费/需要订金吗? — “Is there a cancellation fee?”</a:t>
            </a:r>
          </a:p>
          <a:p>
            <a:r>
              <a:t>★ Could you put me on the waiting list? (phrase) 能把我放在候补名单上吗? — “If you’re fully booked, could you put me on the waiting list?”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change / included / cancellation / available / book / under</a:t>
            </a:r>
          </a:p>
          <a:p>
            <a:r>
              <a:t>1. I’d like to _______ a double room for two nights. → book</a:t>
            </a:r>
          </a:p>
          <a:p>
            <a:r>
              <a:t>2. Do you have any rooms _______ from 12 to 14 November? → available</a:t>
            </a:r>
          </a:p>
          <a:p>
            <a:r>
              <a:t>3. Is breakfast _______ in the rate? → included</a:t>
            </a:r>
          </a:p>
          <a:p>
            <a:r>
              <a:t>4. The booking is _______ the name of Li Wei. → under</a:t>
            </a:r>
          </a:p>
          <a:p>
            <a:r>
              <a:t>5. I’d like to _______ my reservation from Friday to Saturday. → change</a:t>
            </a:r>
          </a:p>
          <a:p>
            <a:r>
              <a:t>6. Is there a _______ fee? → cancellation</a:t>
            </a:r>
          </a:p>
          <a:p>
            <a:r>
              <a:t>Mistake Watch (介词与拼写): reservation (not “reservision”), accommodation (double c, double m), vegetarian. “book a room for two nights from the 12th to the 14th” and “a table for four at seven on Friday”.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Booking a hotel room 订酒店</a:t>
            </a:r>
          </a:p>
          <a:p>
            <a:r>
              <a:t>情景：You call a hotel to book rooms for two visitors.</a:t>
            </a:r>
          </a:p>
          <a:p>
            <a:r>
              <a:t>Role A: Li Wei, assistant Role B: Emma Zhou, hotel receptionist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morning. I’d like to book two single rooms for two nights, please.</a:t>
            </a:r>
          </a:p>
          <a:p>
            <a:r>
              <a:t>B (Emma): Certainly. What are the dates?</a:t>
            </a:r>
          </a:p>
          <a:p>
            <a:r>
              <a:t>A: From Thursday, 12 November, to Saturday, 14 November. That’s two nights.</a:t>
            </a:r>
          </a:p>
          <a:p>
            <a:r>
              <a:t>B: Let me check. Yes, we have two single rooms available. They are 680 yuan per night.</a:t>
            </a:r>
          </a:p>
          <a:p>
            <a:r>
              <a:t>A: Is breakfast included in the rate?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Yes, it is. Breakfast is served from 6.30 to 10.</a:t>
            </a:r>
          </a:p>
          <a:p>
            <a:r>
              <a:t>A: Perfect. And could we have rooms on a high floor, away from the lift?</a:t>
            </a:r>
          </a:p>
          <a:p>
            <a:r>
              <a:t>B: I’ll note that, but I can’t guarantee it. Could I have the guests’ names?</a:t>
            </a:r>
          </a:p>
          <a:p>
            <a:r>
              <a:t>A: Yes, Mr James Reed and Ms Karen Ortiz.</a:t>
            </a:r>
          </a:p>
          <a:p>
            <a:r>
              <a:t>B: And a contact number, please?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139 0000 1234. The booking is under the name of Li Wei, Orion Foods.</a:t>
            </a:r>
          </a:p>
          <a:p>
            <a:r>
              <a:t>B: Thank you, Ms Li. Your confirmation number is 4471. We’ll send you an email.</a:t>
            </a:r>
          </a:p>
          <a:p>
            <a:r>
              <a:t>A: Thank you. What time is check-in?</a:t>
            </a:r>
          </a:p>
          <a:p>
            <a:r>
              <a:t>B: From 3 p.m. Check-out is at noon.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45 | </a:t>
            </a:r>
          </a:p>
          <a:p>
            <a:r>
              <a:t>Situation | You book hotel rooms for your visitors.</a:t>
            </a:r>
          </a:p>
          <a:p>
            <a:r>
              <a:t>Your role (A) | Booker. Names, dates, room types: ______________</a:t>
            </a:r>
          </a:p>
          <a:p>
            <a:r>
              <a:t>Partner’s role (B) | Hotel receptionist. Checks availability, price and details.</a:t>
            </a:r>
          </a:p>
          <a:p>
            <a:r>
              <a:t>Must use (4 or more) | I’d like to book… · from … to … · Is breakfast included? · The booking is under the name of… · confirmation number</a:t>
            </a:r>
          </a:p>
          <a:p>
            <a:r>
              <a:t>Goal | Book, give names, ask about breakfast, get a confirmation number. About 2 minutes.</a:t>
            </a:r>
          </a:p>
          <a:p>
            <a:r>
              <a:t>My notes | ____________________________________________</a:t>
            </a:r>
          </a:p>
          <a:p>
            <a:r>
              <a:t>The hotel is fully booked. Say: “Is there another hotel nearby you could recommend?”</a:t>
            </a:r>
          </a:p>
          <a:p>
            <a:r>
              <a:t>Ask about special requests: “Could we have a quiet room with a desk?”</a:t>
            </a:r>
          </a:p>
          <a:p>
            <a:r>
              <a:t>Change the booking: “I’d like to extend by one night.”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Reserving a restaurant table for a business dinner 订商务晚宴</a:t>
            </a:r>
          </a:p>
          <a:p>
            <a:r>
              <a:t>情景：You call a restaurant to reserve a table for six for a client dinner.</a:t>
            </a:r>
          </a:p>
          <a:p>
            <a:r>
              <a:t>Role A: Li Wei Role B: Jack Wu, restaurant host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afternoon. I’d like to reserve a table for six, for tomorrow evening.</a:t>
            </a:r>
          </a:p>
          <a:p>
            <a:r>
              <a:t>B (Jack): Certainly. What time would you like?</a:t>
            </a:r>
          </a:p>
          <a:p>
            <a:r>
              <a:t>A: Seven thirty, please.</a:t>
            </a:r>
          </a:p>
          <a:p>
            <a:r>
              <a:t>B: I’m afraid we’re fully booked at seven thirty. I could offer you a table at eight.</a:t>
            </a:r>
          </a:p>
          <a:p>
            <a:r>
              <a:t>A: Eight would be fine. Could we have a quiet table? It’s a business dinner, and we’d like to talk.</a:t>
            </a:r>
          </a:p>
          <a:p>
            <a:r>
              <a:t>B: Of course. We have a table in the corner. Are there any dietary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One guest is vegetarian, and another can’t eat shellfish.</a:t>
            </a:r>
          </a:p>
          <a:p>
            <a:r>
              <a:t>B: No problem. May I have the name for the booking?</a:t>
            </a:r>
          </a:p>
          <a:p>
            <a:r>
              <a:t>A: Li, L-I. And my number is 139 0000 1234.</a:t>
            </a:r>
          </a:p>
          <a:p>
            <a:r>
              <a:t>B: Thank you, Ms Li. That’s a table for six at eight tomorrow, under the name of Li. We’ll hold the table for 15 minutes.</a:t>
            </a:r>
          </a:p>
          <a:p>
            <a:r>
              <a:t>A: Thank you. If one of us is delayed, I’ll call you.</a:t>
            </a:r>
          </a:p>
          <a:p>
            <a:r>
              <a:t>B: That’s fine. We look forward to seeing you.</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46 | </a:t>
            </a:r>
          </a:p>
          <a:p>
            <a:r>
              <a:t>Situation | You reserve a restaurant table for a business meal.</a:t>
            </a:r>
          </a:p>
          <a:p>
            <a:r>
              <a:t>Your role (A) | Booker. How many people and which day? ______________</a:t>
            </a:r>
          </a:p>
          <a:p>
            <a:r>
              <a:t>Partner’s role (B) | Restaurant host. Offers a different time.</a:t>
            </a:r>
          </a:p>
          <a:p>
            <a:r>
              <a:t>Must use (4 or more) | I’d like to reserve a table for… · Could we have a quiet table? · dietary requirements · under the name of… · I’m afraid we’re fully booked.</a:t>
            </a:r>
          </a:p>
          <a:p>
            <a:r>
              <a:t>Goal | Reserve, accept an alternative time, state requests, repeat the booking.</a:t>
            </a:r>
          </a:p>
          <a:p>
            <a:r>
              <a:t>My notes | ____________________________________________</a:t>
            </a:r>
          </a:p>
          <a:p>
            <a:r>
              <a:t>Ask for a private room: “Is there a private room we could use? We’d like to give a short presentation.”</a:t>
            </a:r>
          </a:p>
          <a:p>
            <a:r>
              <a:t>Cancel: “I’m afraid I have to cancel tomorrow’s booking. Is there a cancellation fee?”</a:t>
            </a:r>
          </a:p>
          <a:p>
            <a:r>
              <a:t>Tell them you are 15 minutes late: “I’m sorry, we’re running a little late. Could you hold the table?”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most important details when you book a hotel or restaurant for a client? | “The most important details are…” / “I always check… and I confirm…”</a:t>
            </a:r>
          </a:p>
          <a:p>
            <a:r>
              <a:t>2. Do you prefer to book online or by phone? Why? | “I prefer to book online because…” / “By phone, I can ask for special requests.”</a:t>
            </a:r>
          </a:p>
          <a:p>
            <a:r>
              <a:t>3. What do you do if the booking is wrong when you arrive? | “I stay calm and show the confirmation.” / “I ask to speak to the manager.”</a:t>
            </a:r>
          </a:p>
          <a:p>
            <a:r>
              <a:t>4. How do you choose a restaurant for a business dinner? | “I look for somewhere quiet, with…” / “I think about the guests’ food preferences.”</a:t>
            </a:r>
          </a:p>
          <a:p>
            <a:r>
              <a:t>5. Is it fair for hotels to charge for cancellations? | “I think it’s fair because…” / “It depends on how late you cancel.”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“When I book for a client, I always check four things: the dates, the number of people, any special requests such as allergies, and the confirmation. I ask for a confirmation number or email, so that I can show it if there is a problem. I also tell the guests the hotel address and check-in time before they arrive. A little preparation avoids a lot of stress.”</a:t>
            </a:r>
          </a:p>
          <a:p>
            <a:r>
              <a:t>“so that I can show it…”(以便我可以出示……)表示目的。“A little preparation avoids a lot of stress.” 是简短有力的总结句。注意 “any special requests such as allergies”。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reservations 预订话术</a:t>
            </a:r>
          </a:p>
          <a:p>
            <a:r>
              <a:t>Step | Say this</a:t>
            </a:r>
          </a:p>
          <a:p>
            <a:r>
              <a:t>Open | Good morning. I’d like to book / reserve…</a:t>
            </a:r>
          </a:p>
          <a:p>
            <a:r>
              <a:t>Dates | From Thursday, 12 November, to Saturday, 14 November. That’s two nights.</a:t>
            </a:r>
          </a:p>
          <a:p>
            <a:r>
              <a:t>Numbers | A table for six at eight o’clock. / Two single rooms.</a:t>
            </a:r>
          </a:p>
          <a:p>
            <a:r>
              <a:t>Availability | Do you have any rooms available? / Is there a table free at eight?</a:t>
            </a:r>
          </a:p>
          <a:p>
            <a:r>
              <a:t>Price | What’s the rate per night? / Is breakfast included in the rate? ★</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reservations 预订话术</a:t>
            </a:r>
          </a:p>
          <a:p>
            <a:r>
              <a:t>Step | Say this</a:t>
            </a:r>
          </a:p>
          <a:p>
            <a:r>
              <a:t>Requests | Could we have a quiet table? ★ / Could we have a room on a high floor?</a:t>
            </a:r>
          </a:p>
          <a:p>
            <a:r>
              <a:t>Name + number | The booking is under the name of… My number is…</a:t>
            </a:r>
          </a:p>
          <a:p>
            <a:r>
              <a:t>Confirm | Could I have a confirmation number? / Could you confirm that by email?</a:t>
            </a:r>
          </a:p>
          <a:p>
            <a:r>
              <a:t>Change / cancel | I’d like to change… / I’m afraid I have to cancel. ★</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Hotel and restaurant vocabulary 酒店与餐厅词汇</a:t>
            </a:r>
          </a:p>
          <a:p>
            <a:r>
              <a:t>Hotel | Restaurant</a:t>
            </a:r>
          </a:p>
          <a:p>
            <a:r>
              <a:t>single / double / twin room | table for two / a party of six</a:t>
            </a:r>
          </a:p>
          <a:p>
            <a:r>
              <a:t>rate per night | set menu / à la carte</a:t>
            </a:r>
          </a:p>
          <a:p>
            <a:r>
              <a:t>check-in / check-out | reservation / booking</a:t>
            </a:r>
          </a:p>
          <a:p>
            <a:r>
              <a:t>vacancy / fully booked | private dining room</a:t>
            </a:r>
          </a:p>
          <a:p>
            <a:r>
              <a:t>deposit / cancellation fee | corkage (bringing your own wine)</a:t>
            </a:r>
          </a:p>
          <a:p>
            <a:r>
              <a:t>late check-out | allergies / dietary requirements</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Hotel and restaurant vocabulary 酒店与餐厅词汇</a:t>
            </a:r>
          </a:p>
          <a:p>
            <a:r>
              <a:t>Double vs twin: a double room has one large bed; a twin room has two single beds. For colleagues who share, ask for a twin.</a:t>
            </a:r>
          </a:p>
          <a:p>
            <a:r>
              <a:t>Book / reserve: both are correct. Book is more common in British English, reserve in US English.</a:t>
            </a:r>
          </a:p>
          <a:p>
            <a:r>
              <a:t>Numbers: “a table for four” ; “for two nights” ; “from the 12th to the 14th”.</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reserve a room.  →  ✓ I’d like to book a room.  (would like to + 动词)</a:t>
            </a:r>
          </a:p>
          <a:p>
            <a:r>
              <a:t>✗ I book a room for two night.  →  ✓ I’d like to book a room for two nights.  (复数 nights)</a:t>
            </a:r>
          </a:p>
          <a:p>
            <a:r>
              <a:t>✗ I’ll stay in 12 November to 14 November.  →  ✓ I’ll stay from 12 November to 14 November.  (from…to)</a:t>
            </a:r>
          </a:p>
          <a:p>
            <a:r>
              <a:t>✗ I have a reservation in the name of Li.  →  ✓ I have a reservation under the name of Li.  (under the name of)</a:t>
            </a:r>
          </a:p>
          <a:p>
            <a:r>
              <a:t>✗ Is there a room free?  →  ✓ Do you have any rooms available?  (available 更自然)</a:t>
            </a:r>
          </a:p>
          <a:p>
            <a:r>
              <a:t>Mistake Watch: for two nights (plural), from…to…, under the name of, check-out (noun) vs check out (verb), accommodation (double c, double m).</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make a table for four people.  →  ✓ Please reserve a table for four.  (订位用 reserve / book,for four)</a:t>
            </a:r>
          </a:p>
          <a:p>
            <a:r>
              <a:t>✗ What time is the check out?  →  ✓ What time is check-out? / When do I have to check out?  (名词连字符,动词分开)</a:t>
            </a:r>
          </a:p>
          <a:p>
            <a:r>
              <a:t>✗ I’d like to cancel off my booking.  →  ✓ I’d like to cancel my booking.  (cancel 不加 off)</a:t>
            </a:r>
          </a:p>
          <a:p>
            <a:r>
              <a:t>✗ He is vegetable.  →  ✓ He is a vegetarian. / He is vegetarian.  (vegetable 是蔬菜)</a:t>
            </a:r>
          </a:p>
          <a:p>
            <a:r>
              <a:t>✗ accomodation / reservision  →  ✓ accommodation / reservation  (拼写)</a:t>
            </a:r>
          </a:p>
          <a:p>
            <a:r>
              <a:t>Mistake Watch: for two nights (plural), from…to…, under the name of, check-out (noun) vs check out (verb), accommodation (double c, double m).</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Booking name: Give the name exactly as it appears on the passport or ID, and spell it clearly: “Li, L-I”. Say which name is the surname: “Wang is my surname, Fang is my first name.”</a:t>
            </a:r>
          </a:p>
          <a:p>
            <a:r>
              <a:t>Tipping: In the US, 15–20% is expected in restaurants. In the UK, 10–12.5% is common, and a service charge may be added. In China, tipping is not the norm.</a:t>
            </a:r>
          </a:p>
          <a:p>
            <a:r>
              <a:t>Dietary needs and allergies: Say them at the time of booking. Restaurants in the UK and the US take allergies very seriously.</a:t>
            </a:r>
          </a:p>
          <a:p>
            <a:r>
              <a:t>Hold times: Restaurants usually hold a table for 15 minutes. Call if you are going to be late.</a:t>
            </a:r>
          </a:p>
          <a:p>
            <a:r>
              <a:t>Cancel early. Many hotels charge a fee if you cancel less than 24–48 hours before.</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book a hotel room with dates, number of nights, room type and rate (from…to…, for two nights).</a:t>
            </a:r>
          </a:p>
          <a:p>
            <a:r>
              <a:t>I can reserve a restaurant table with time, number of people and special requests.</a:t>
            </a:r>
          </a:p>
          <a:p>
            <a:r>
              <a:t>I can give a name and contact number (under the name of…) and ask for a confirmation number.</a:t>
            </a:r>
          </a:p>
          <a:p>
            <a:r>
              <a:t>I can change or cancel a booking politely.</a:t>
            </a:r>
          </a:p>
          <a:p>
            <a:r>
              <a:t>I can use for two nights, from…to…, under the name of and accommodation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for two nights (plural), from…to…, would like to, vegetarian, and spelling (accommodation, reservation).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26 · Dealing with a wrong number 处理错误号码</a:t>
            </a:r>
          </a:p>
          <a:p>
            <a:r>
              <a:t>Goal: handle wrong numbers politely: say “wrong number” without offending the other person, help a caller find the right number, redirect a call within a company, and handle unwanted calls.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1、4 题讲过去的事,请用过去式(called, said, got)。第 2 题可以说 “I tell them politely that…”。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what you do when you realize you have the wrong number.</a:t>
            </a:r>
          </a:p>
          <a:p>
            <a:r>
              <a:t>Say: check → apologize → end the call politely → try again or find the right number.</a:t>
            </a:r>
          </a:p>
          <a:p>
            <a:r>
              <a:t>Useful starters: “I’d say, ‘I’m sorry, I think I’ve dialled the wrong number.’” / “Then I…” / “I check the number again.”</a:t>
            </a:r>
          </a:p>
          <a:p>
            <a:r>
              <a:t>打错电话时礼貌结束:Sorry to bother you. 接到错号时:I’m afraid you’ve got the wrong number. 语气要友好。</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When you have the wrong number 自己打错号码</a:t>
            </a:r>
          </a:p>
          <a:p>
            <a:r>
              <a:t>领读 → 学员跟读 → 请学员用表达造一个和自己工作相关的句子。</a:t>
            </a:r>
          </a:p>
          <a:p>
            <a:r>
              <a:t>Is this 021 5555 0100? (phrase) 请问这是 021 5555 0100 吗? — “Hello, is this 021 5555 0100?”</a:t>
            </a:r>
          </a:p>
          <a:p>
            <a:r>
              <a:t>Is that Orion Foods? (phrase) 请问是奥利安食品公司吗? — “Is that Orion Foods?” — “No, I’m afraid this is a private number.”</a:t>
            </a:r>
          </a:p>
          <a:p>
            <a:r>
              <a:t>I’m sorry, I think I’ve got the wrong number. (phrase) 抱歉,我想我打错了 — “I’m sorry, I think I’ve got the wrong number.”</a:t>
            </a:r>
          </a:p>
          <a:p>
            <a:r>
              <a:t>★ I must have dialled the wrong number. (phrase) 我一定是拨错号码了 — “I must have dialled the wrong number. Sorry to bother you.”</a:t>
            </a:r>
          </a:p>
          <a:p>
            <a:r>
              <a:t>Sorry to bother / disturb you. (phrase) 抱歉打扰您 — “Sorry to bother you. Goodbye.”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When someone else has the wrong number 对方打错号码</a:t>
            </a:r>
          </a:p>
          <a:p>
            <a:r>
              <a:t>领读 → 学员跟读 → 请学员用表达造一个和自己工作相关的句子。</a:t>
            </a:r>
          </a:p>
          <a:p>
            <a:r>
              <a:t>I’m afraid you’ve got the wrong number. (phrase) 恐怕您打错了 — “I’m afraid you’ve got the wrong number.”</a:t>
            </a:r>
          </a:p>
          <a:p>
            <a:r>
              <a:t>There’s no one here by that name. (phrase) 这里没有叫这个名字的人 — “There’s no one here by that name.”</a:t>
            </a:r>
          </a:p>
          <a:p>
            <a:r>
              <a:t>★ What number were you trying to reach? (phrase) 您想打的号码是多少? — “What number were you trying to reach?”</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When someone else has the wrong number 对方打错号码</a:t>
            </a:r>
          </a:p>
          <a:p>
            <a:r>
              <a:t>领读 → 学员跟读 → 请学员用表达造一个和自己工作相关的句子。</a:t>
            </a:r>
          </a:p>
          <a:p>
            <a:r>
              <a:t>★ You’ve reached a private number. (phrase) 您拨打的是私人号码 — “You’ve reached a private number. This isn’t a company.”</a:t>
            </a:r>
          </a:p>
          <a:p>
            <a:r>
              <a:t>No problem. / That’s all right. (phrase) 没关系 — “No problem. It happens.”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Redirecting and unwanted calls 转接与骚扰电话</a:t>
            </a:r>
          </a:p>
          <a:p>
            <a:r>
              <a:t>领读 → 学员跟读 → 请学员用表达造一个和自己工作相关的句子。</a:t>
            </a:r>
          </a:p>
          <a:p>
            <a:r>
              <a:t>You’ve been put through to the wrong department. (phrase) 您被转到错误的部门了 — “I’m afraid you’ve been put through to the wrong department.”</a:t>
            </a:r>
          </a:p>
          <a:p>
            <a:r>
              <a:t>★ Let me transfer you to the right person. (phrase) 让我帮您转到合适的人 — “Let me transfer you to the right person.”</a:t>
            </a:r>
          </a:p>
          <a:p>
            <a:r>
              <a:t>The number is no longer in service. (phrase) 该号码已停用 — “The number you’ve dialled is no longer in service.”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Redirecting and unwanted calls 转接与骚扰电话</a:t>
            </a:r>
          </a:p>
          <a:p>
            <a:r>
              <a:t>领读 → 学员跟读 → 请学员用表达造一个和自己工作相关的句子。</a:t>
            </a:r>
          </a:p>
          <a:p>
            <a:r>
              <a:t>★ I’m not interested, thank you. (phrase) 我没有兴趣,谢谢 — “I’m not interested, thank you. Please take me off your list.”</a:t>
            </a:r>
          </a:p>
          <a:p>
            <a:r>
              <a:t>★ Please remove my number from your list. (phrase) 请把我的号码从名单中删除 — “Please remove my number from your list.”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name / number / dialled / bother / that / transfer</a:t>
            </a:r>
          </a:p>
          <a:p>
            <a:r>
              <a:t>1. I’m afraid you’ve got the wrong _______. → number</a:t>
            </a:r>
          </a:p>
          <a:p>
            <a:r>
              <a:t>2. Is _______ Orion Foods? → that</a:t>
            </a:r>
          </a:p>
          <a:p>
            <a:r>
              <a:t>3. There’s no one here by that _______. → name</a:t>
            </a:r>
          </a:p>
          <a:p>
            <a:r>
              <a:t>4. I must have _______ the wrong number. → dialled</a:t>
            </a:r>
          </a:p>
          <a:p>
            <a:r>
              <a:t>5. Sorry to _______ you. Goodbye. → bother</a:t>
            </a:r>
          </a:p>
          <a:p>
            <a:r>
              <a:t>6. Let me _______ you to the right person. → transfer</a:t>
            </a:r>
          </a:p>
          <a:p>
            <a:r>
              <a:t>Mistake Watch (拼写与时态): dialled (UK) / dialed (US), disturb (not “distrub”), department (not “departement”). Use must have + past participle for a guess about the past: “I must have dialled the wrong number.”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Realizing you’ve called the wrong number 发现打错电话</a:t>
            </a:r>
          </a:p>
          <a:p>
            <a:r>
              <a:t>情景：You call a supplier, but a stranger answers.</a:t>
            </a:r>
          </a:p>
          <a:p>
            <a:r>
              <a:t>Role A: Li Wei Role B: Mr Chen, stranger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is this 021 5555 0100?</a:t>
            </a:r>
          </a:p>
          <a:p>
            <a:r>
              <a:t>B (Mr Chen): No, I’m afraid you’ve got the wrong number.</a:t>
            </a:r>
          </a:p>
          <a:p>
            <a:r>
              <a:t>A: Oh, I’m sorry. Is that not Nordic Steel?</a:t>
            </a:r>
          </a:p>
          <a:p>
            <a:r>
              <a:t>B: No, this is a private number. There’s no company here.</a:t>
            </a:r>
          </a:p>
          <a:p>
            <a:r>
              <a:t>A: I see. I must have dialled the wrong number. Sorry to bother you.</a:t>
            </a:r>
          </a:p>
          <a:p>
            <a:r>
              <a:t>B: That’s all right. It happens. What number were you trying to reach?</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021 5555 0108.</a:t>
            </a:r>
          </a:p>
          <a:p>
            <a:r>
              <a:t>B: Ah, you dialled 0100, not 0108. Maybe that’s the problem.</a:t>
            </a:r>
          </a:p>
          <a:p>
            <a:r>
              <a:t>A: You’re right, I see now. I misread the card. Thank you for your help, and sorry again.</a:t>
            </a:r>
          </a:p>
          <a:p>
            <a:r>
              <a:t>B: No problem at all. Good luck.</a:t>
            </a:r>
          </a:p>
          <a:p>
            <a:r>
              <a:t>A: Thank you. Goodbye.</a:t>
            </a:r>
          </a:p>
          <a:p>
            <a:r>
              <a:t>B: Goodbye.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47 | </a:t>
            </a:r>
          </a:p>
          <a:p>
            <a:r>
              <a:t>Situation | You call a number and the wrong person answers.</a:t>
            </a:r>
          </a:p>
          <a:p>
            <a:r>
              <a:t>Your role (A) | Caller. Check the number, apologize, hang up politely.</a:t>
            </a:r>
          </a:p>
          <a:p>
            <a:r>
              <a:t>Partner’s role (B) | Stranger. Friendly or a little annoyed.</a:t>
            </a:r>
          </a:p>
          <a:p>
            <a:r>
              <a:t>Must use (4 or more) | Is this…? · I think I’ve got the wrong number. · I must have dialled… · Sorry to bother you. · It happens.</a:t>
            </a:r>
          </a:p>
          <a:p>
            <a:r>
              <a:t>Goal | Close the call in a friendly way in 30 seconds.</a:t>
            </a:r>
          </a:p>
          <a:p>
            <a:r>
              <a:t>My notes | ____________________________________________</a:t>
            </a:r>
          </a:p>
          <a:p>
            <a:r>
              <a:t>The stranger is annoyed (third call today). Say: “I’m so sorry about that. I’ll double-check the number.”</a:t>
            </a:r>
          </a:p>
          <a:p>
            <a:r>
              <a:t>The stranger tells you a similar number you can try.</a:t>
            </a:r>
          </a:p>
          <a:p>
            <a:r>
              <a:t>Role switch: you receive a wrong number three times from the same caller.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wrong department and an unwanted call 转错部门与骚扰电话</a:t>
            </a:r>
          </a:p>
          <a:p>
            <a:r>
              <a:t>情景：A customer was put through to the wrong department. Later a salesperson calls you.</a:t>
            </a:r>
          </a:p>
          <a:p>
            <a:r>
              <a:t>Role A: Li Wei, accounts clerk Role B: Anna Berg, customer / salesperson</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Accounts department, Li Wei speaking.</a:t>
            </a:r>
          </a:p>
          <a:p>
            <a:r>
              <a:t>B (Anna): Hello. I’d like to ask about a delivery date for my order.</a:t>
            </a:r>
          </a:p>
          <a:p>
            <a:r>
              <a:t>A: I’m afraid you’ve been put through to the wrong department. This is the accounts department. You need the logistics team.</a:t>
            </a:r>
          </a:p>
          <a:p>
            <a:r>
              <a:t>B: Oh, I’m sorry. I was transferred from reception.</a:t>
            </a:r>
          </a:p>
          <a:p>
            <a:r>
              <a:t>A: No problem at all. Let me transfer you to the right person. Could you hold the line for a moment?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Thank you.</a:t>
            </a:r>
          </a:p>
          <a:p>
            <a:r>
              <a:t>A: I’m putting you through to Jack Wu in logistics. His extension is 2214, in case you get cut off.</a:t>
            </a:r>
          </a:p>
          <a:p>
            <a:r>
              <a:t>B: That’s very kind. Thank you.</a:t>
            </a:r>
          </a:p>
          <a:p>
            <a:r>
              <a:t>(…): Later that day, another call comes in.</a:t>
            </a:r>
          </a:p>
          <a:p>
            <a:r>
              <a:t>B (as salesperson): Hello, I’m calling from Smart Office Solutions. Do you have a minute to talk about our new copy machines?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sorry, I’m not interested, thank you. Please remove my number from your list.</a:t>
            </a:r>
          </a:p>
          <a:p>
            <a:r>
              <a:t>B: Of course. Sorry to have bothered you.</a:t>
            </a:r>
          </a:p>
          <a:p>
            <a:r>
              <a:t>A: Thank you. Goodbye.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48 | </a:t>
            </a:r>
          </a:p>
          <a:p>
            <a:r>
              <a:t>Situation | Redirect a customer, and refuse a sales call.</a:t>
            </a:r>
          </a:p>
          <a:p>
            <a:r>
              <a:t>Your role (A) | Staff member. Help the customer, then refuse the salesperson.</a:t>
            </a:r>
          </a:p>
          <a:p>
            <a:r>
              <a:t>Partner’s role (B) | Customer first, salesperson second.</a:t>
            </a:r>
          </a:p>
          <a:p>
            <a:r>
              <a:t>Must use (3 or more) | You’ve been put through to the wrong department. · Let me transfer you to… · I’m not interested, thank you. · Please remove my number.</a:t>
            </a:r>
          </a:p>
          <a:p>
            <a:r>
              <a:t>Goal | Give the right extension and end the unwanted call politely.</a:t>
            </a:r>
          </a:p>
          <a:p>
            <a:r>
              <a:t>My notes | ____________________________________________</a:t>
            </a:r>
          </a:p>
          <a:p>
            <a:r>
              <a:t>Offer your own number if the extension doesn’t work: “If you can’t get through, please call me back and I’ll help.”</a:t>
            </a:r>
          </a:p>
          <a:p>
            <a:r>
              <a:t>The salesperson keeps going. Say: “I’m sorry, I have to go. Goodbye.”</a:t>
            </a:r>
          </a:p>
          <a:p>
            <a:r>
              <a:t>Tell a colleague about the wrong call so they know.</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should you do when someone calls your number by mistake? | “I tell them politely that…” / “I give them the right number if I know it.”</a:t>
            </a:r>
          </a:p>
          <a:p>
            <a:r>
              <a:t>2. How can companies reduce wrong-number or wrong-department calls? | “They can use a clear menu.” / “They could give a direct number on the website.”</a:t>
            </a:r>
          </a:p>
          <a:p>
            <a:r>
              <a:t>3. Why do some people get annoyed by wrong numbers? | “People are busy, so…” / “It’s the third time and…”</a:t>
            </a:r>
          </a:p>
          <a:p>
            <a:r>
              <a:t>4. How do you deal with unwanted sales calls? | “I say ‘No, thank you’ and end the call.” / “I block the number.”</a:t>
            </a:r>
          </a:p>
          <a:p>
            <a:r>
              <a:t>5. Is it better to call back when you’ve been cut off or wait for the other person to call? | “I think the person who called first should call back.” / “I wait one minute and then…”</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is polite to say”No, thank you” clearly and end the call. I don’t argue or give reasons, because that gives the salesperson more chances to keep talking. If the number keeps calling, I say, “Please remove my number from your list.” If it still continues, I block the number. I’m not rude, but I’m firm.”</a:t>
            </a:r>
          </a:p>
          <a:p>
            <a:r>
              <a:t>“firm” 意为“坚定但不无礼”。“give reasons… more chances to keep talking” 注意 give sb sth 的结构。“I block the number”(我拉黑号码)。</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wrong number 错号码话术</a:t>
            </a:r>
          </a:p>
          <a:p>
            <a:r>
              <a:t>Situation | Say this</a:t>
            </a:r>
          </a:p>
          <a:p>
            <a:r>
              <a:t>Check | Is this 021 5555 0100? / Is that Orion Foods?</a:t>
            </a:r>
          </a:p>
          <a:p>
            <a:r>
              <a:t>Realize | I’m sorry, I think I’ve got the wrong number. / I must have dialled the wrong number. ★</a:t>
            </a:r>
          </a:p>
          <a:p>
            <a:r>
              <a:t>Apologize | Sorry to bother you. / Sorry for the trouble.</a:t>
            </a:r>
          </a:p>
          <a:p>
            <a:r>
              <a:t>Receive | I’m afraid you’ve got the wrong number. / There’s no one here by that name.</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wrong number 错号码话术</a:t>
            </a:r>
          </a:p>
          <a:p>
            <a:r>
              <a:t>Situation | Say this</a:t>
            </a:r>
          </a:p>
          <a:p>
            <a:r>
              <a:t>Help | What number were you trying to reach? ★</a:t>
            </a:r>
          </a:p>
          <a:p>
            <a:r>
              <a:t>Wrong department | You’ve been put through to the wrong department. Let me transfer you. ★</a:t>
            </a:r>
          </a:p>
          <a:p>
            <a:r>
              <a:t>Unwanted | I’m not interested, thank you. ★ / Please remove my number from your list. ★</a:t>
            </a:r>
          </a:p>
          <a:p>
            <a:r>
              <a:t>Close | No problem. Goodbye.</a:t>
            </a:r>
          </a:p>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 have / can’t have: guessing about the past 推测过去</a:t>
            </a:r>
          </a:p>
          <a:p>
            <a:r>
              <a:t>Meaning | Structure | Example</a:t>
            </a:r>
          </a:p>
          <a:p>
            <a:r>
              <a:t>Sure it happened | must have + past participle ★ | “I must have dialled the wrong number.”</a:t>
            </a:r>
          </a:p>
          <a:p>
            <a:r>
              <a:t>Sure it didn’t | can’t have + past participle ★ | “You can’t have called us. We didn’t get a call.”</a:t>
            </a:r>
          </a:p>
          <a:p>
            <a:r>
              <a:t>Possibly | might / could have + past participle | “She might have changed her number.”</a:t>
            </a:r>
          </a:p>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Must have / can’t have: guessing about the past 推测过去</a:t>
            </a:r>
          </a:p>
          <a:p>
            <a:r>
              <a:t>After must have, use the past participle: dialled, misread, forgotten. Not “must have dial”.</a:t>
            </a:r>
          </a:p>
          <a:p>
            <a:r>
              <a:t>Wrong number vs wrong department: wrong number = the phone number is wrong; wrong department / extension = the number is right but the person or team is not.</a:t>
            </a:r>
          </a:p>
          <a:p>
            <a:r>
              <a:t>Dial / call / ring / phone: dial a number; call / ring / phone a person. Ring is British English.</a:t>
            </a:r>
          </a:p>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You are wrong number.  →  ✓ You’ve got the wrong number. / I’m afraid you have the wrong number.  (固定说法 the wrong number)</a:t>
            </a:r>
          </a:p>
          <a:p>
            <a:r>
              <a:t>✗ Wrong number! (and hang up)  →  ✓ I’m afraid you’ve got the wrong number.  (直接说会很粗鲁)</a:t>
            </a:r>
          </a:p>
          <a:p>
            <a:r>
              <a:t>✗ Who do you want?  →  ✓ Who are you trying to reach? / Who would you like to speak to?  (更礼貌)</a:t>
            </a:r>
          </a:p>
          <a:p>
            <a:r>
              <a:t>✗ I have dialed the wrong number yesterday.  →  ✓ I dialled the wrong number yesterday.  (yesterday → 过去式)</a:t>
            </a:r>
          </a:p>
          <a:p>
            <a:r>
              <a:t>✗ I must dial the wrong number.  →  ✓ I must have dialled the wrong number.  (推测过去用 must have + p.p.)</a:t>
            </a:r>
          </a:p>
          <a:p>
            <a:r>
              <a:t>Mistake Watch: Don’t hang up in silence. Say “Sorry to bother you” and “Goodbye”. Use must have + past participle for “I guess I did it”.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This is not Orion?  →  ✓ Is that Orion Foods?  (问句要倒装)</a:t>
            </a:r>
          </a:p>
          <a:p>
            <a:r>
              <a:t>✗ Sorry to disturb you, wrong number. Bye!  →  ✓ Sorry to bother you. Goodbye.  (完整、礼貌的结束)</a:t>
            </a:r>
          </a:p>
          <a:p>
            <a:r>
              <a:t>✗ He don’t live here.  →  ✓ He doesn’t live here.  (第三人称单数)</a:t>
            </a:r>
          </a:p>
          <a:p>
            <a:r>
              <a:t>✗ We no have Mr Lee here.  →  ✓ There is no one here by that name. / We don’t have a Mr Lee here.  (否定句)</a:t>
            </a:r>
          </a:p>
          <a:p>
            <a:r>
              <a:t>✗ I dial to Orion.  →  ✓ I dialled Orion’s number. / I called Orion.  (dial 后直接加号码,不加 to)</a:t>
            </a:r>
          </a:p>
          <a:p>
            <a:r>
              <a:t>Mistake Watch: Don’t hang up in silence. Say “Sorry to bother you” and “Goodbye”. Use must have + past participle for “I guess I did it”.</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Don’t give personal information to a wrong-number caller. If a stranger asks “Whose number is this?”, say “I’m afraid I can’t say. Who are you trying to reach?”</a:t>
            </a:r>
          </a:p>
          <a:p>
            <a:r>
              <a:t>Don’t ask “Who is this?” when you’ve been called. Use “Who’s calling, please?”</a:t>
            </a:r>
          </a:p>
          <a:p>
            <a:r>
              <a:t>Be kind. In English-speaking countries, a polite “No problem, it happens” is the standard reply, not annoyance.</a:t>
            </a:r>
          </a:p>
          <a:p>
            <a:r>
              <a:t>Unwanted calls: In the UK and US, companies must stop calling if you ask to be removed from the list. It is normal to say “Please remove me from your list.”</a:t>
            </a:r>
          </a:p>
          <a:p>
            <a:r>
              <a:t>Redirect, don’t just say “wrong department”. A helpful reply gives the extension or the new number.</a:t>
            </a:r>
          </a:p>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check a number (Is this…? Is that…?) and apologize when I call the wrong number.</a:t>
            </a:r>
          </a:p>
          <a:p>
            <a:r>
              <a:t>I can say politely “You’ve got the wrong number” and ask What number were you trying to reach?</a:t>
            </a:r>
          </a:p>
          <a:p>
            <a:r>
              <a:t>I can redirect a call to the right person or give the right extension.</a:t>
            </a:r>
          </a:p>
          <a:p>
            <a:r>
              <a:t>I can refuse an unwanted call (I’m not interested, thank you. Please remove my number).</a:t>
            </a:r>
          </a:p>
          <a:p>
            <a:r>
              <a:t>I can use must have + past participle and the wrong number correctly.</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the wrong number, must have + p.p., past simple with yesterday, and a friendly closing.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“您想打的号码是多少?” in English? → What number were you trying to reach?</a:t>
            </a:r>
          </a:p>
          <a:p>
            <a:r>
              <a:t>“抱歉打扰您” in English? → Sorry to bother / disturb you.</a:t>
            </a:r>
          </a:p>
          <a:p>
            <a:r>
              <a:t>“我想约一次会议” in English? → I’d like to arrange a meeting.</a:t>
            </a:r>
          </a:p>
          <a:p>
            <a:r>
              <a:t>Fix it: Can you come my office? → Can you come to my office?</a:t>
            </a:r>
          </a:p>
          <a:p>
            <a:r>
              <a:t>Fix it: I have a reservation in the name of Li. → I have a reservation under the name of Li.</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3.xml"/><Relationship Id="rId5" Type="http://schemas.openxmlformats.org/officeDocument/2006/relationships/slide" Target="slide62.xml"/><Relationship Id="rId6" Type="http://schemas.openxmlformats.org/officeDocument/2006/relationships/slide" Target="slid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 Id="rId4" Type="http://schemas.openxmlformats.org/officeDocument/2006/relationships/slide" Target="slide123.xml"/><Relationship Id="rId5" Type="http://schemas.openxmlformats.org/officeDocument/2006/relationships/slide" Target="slide124.xml"/><Relationship Id="rId6" Type="http://schemas.openxmlformats.org/officeDocument/2006/relationships/slide" Target="slide125.xml"/><Relationship Id="rId7" Type="http://schemas.openxmlformats.org/officeDocument/2006/relationships/slide" Target="slide126.xml"/><Relationship Id="rId8" Type="http://schemas.openxmlformats.org/officeDocument/2006/relationships/slide" Target="slide127.xml"/><Relationship Id="rId9" Type="http://schemas.openxmlformats.org/officeDocument/2006/relationships/slide" Target="slide128.xml"/><Relationship Id="rId10" Type="http://schemas.openxmlformats.org/officeDocument/2006/relationships/slide" Target="slide129.xml"/><Relationship Id="rId11" Type="http://schemas.openxmlformats.org/officeDocument/2006/relationships/slide" Target="slide130.xml"/><Relationship Id="rId12" Type="http://schemas.openxmlformats.org/officeDocument/2006/relationships/slide" Target="slide13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2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4 · UNIT 6</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Telephone Skills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L23 Making an appointment for a meeting · L24 Asking for information · L25 Making a reservation · L26 Dealing with a wrong number</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23</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Making an appointment for a meeting</a:t>
            </a:r>
          </a:p>
          <a:p>
            <a:pPr algn="l">
              <a:lnSpc>
                <a:spcPct val="100000"/>
              </a:lnSpc>
              <a:spcAft>
                <a:spcPts val="800"/>
              </a:spcAft>
            </a:pPr>
            <a:r>
              <a:rPr sz="1400" b="0">
                <a:solidFill>
                  <a:srgbClr val="5F677A"/>
                </a:solidFill>
                <a:latin typeface="Arial"/>
                <a:ea typeface="Microsoft YaHei"/>
              </a:rPr>
              <a:t>预约会议</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24</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Asking for information</a:t>
            </a:r>
          </a:p>
          <a:p>
            <a:pPr algn="l">
              <a:lnSpc>
                <a:spcPct val="100000"/>
              </a:lnSpc>
              <a:spcAft>
                <a:spcPts val="800"/>
              </a:spcAft>
            </a:pPr>
            <a:r>
              <a:rPr sz="1400" b="0">
                <a:solidFill>
                  <a:srgbClr val="5F677A"/>
                </a:solidFill>
                <a:latin typeface="Arial"/>
                <a:ea typeface="Microsoft YaHei"/>
              </a:rPr>
              <a:t>请求信息</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25</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Making a reservation</a:t>
            </a:r>
          </a:p>
          <a:p>
            <a:pPr algn="l">
              <a:lnSpc>
                <a:spcPct val="100000"/>
              </a:lnSpc>
              <a:spcAft>
                <a:spcPts val="800"/>
              </a:spcAft>
            </a:pPr>
            <a:r>
              <a:rPr sz="1400" b="0">
                <a:solidFill>
                  <a:srgbClr val="5F677A"/>
                </a:solidFill>
                <a:latin typeface="Arial"/>
                <a:ea typeface="Microsoft YaHei"/>
              </a:rPr>
              <a:t>预订</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26</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Dealing with a wrong number</a:t>
            </a:r>
          </a:p>
          <a:p>
            <a:pPr algn="l">
              <a:lnSpc>
                <a:spcPct val="100000"/>
              </a:lnSpc>
              <a:spcAft>
                <a:spcPts val="800"/>
              </a:spcAft>
            </a:pPr>
            <a:r>
              <a:rPr sz="1400" b="0">
                <a:solidFill>
                  <a:srgbClr val="5F677A"/>
                </a:solidFill>
                <a:latin typeface="Arial"/>
                <a:ea typeface="Microsoft YaHei"/>
              </a:rPr>
              <a:t>处理错误号码</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6 · Lesson 23 Making an appointment for a meeting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300" b="1">
                <a:solidFill>
                  <a:srgbClr val="FFFFFF"/>
                </a:solidFill>
                <a:latin typeface="Arial"/>
                <a:ea typeface="Microsoft YaHei"/>
              </a:rPr>
              <a:t>Making an appointment for a meeting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预约会议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arrange, confirm, change and cancel meeting appointments by phone: suggest times, respond to suggestions, deal with scheduling conflicts and check the details (day, date, time, place).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arrange a meeting at your company: by phone, email, or chat?</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information do you need to confirm for every meeting?</a:t>
            </a:r>
          </a:p>
        </p:txBody>
      </p:sp>
      <p:sp>
        <p:nvSpPr>
          <p:cNvPr id="15" name="Oval 14"/>
          <p:cNvSpPr/>
          <p:nvPr/>
        </p:nvSpPr>
        <p:spPr>
          <a:xfrm>
            <a:off x="548640" y="29321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say when the time someone suggests is not good for you?</a:t>
            </a:r>
          </a:p>
        </p:txBody>
      </p:sp>
      <p:sp>
        <p:nvSpPr>
          <p:cNvPr id="18" name="Oval 17"/>
          <p:cNvSpPr/>
          <p:nvPr/>
        </p:nvSpPr>
        <p:spPr>
          <a:xfrm>
            <a:off x="548640" y="37734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57530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57530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the last time you had to change a meeting. What did you say?</a:t>
            </a:r>
          </a:p>
        </p:txBody>
      </p:sp>
      <p:sp>
        <p:nvSpPr>
          <p:cNvPr id="21" name="Oval 20"/>
          <p:cNvSpPr/>
          <p:nvPr/>
        </p:nvSpPr>
        <p:spPr>
          <a:xfrm>
            <a:off x="548640" y="461467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far ahead do you usually book meetings? Why?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题讲过去的事,请用过去式(changed, moved, said)。第 3 题可以说 “I say, ‘I’m afraid I can’t make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Phone a client to arrange a meeting next week.</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introduce yourself</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say why you want a meeting</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suggest a time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agree a time and place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confirm and close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arrange a meeting to…   💬 Would Tuesday at 10 suit you?   💬 Just to confirm, we’ll meet on… at…</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约时间的介词:on Tuesday / at 10 a.m. / in the afternoon / next week(不加 on)。提出时间用 Would… suit you? / How about…?</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Suggesting a time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提议时间</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arrange a meeting.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我想约一次会议</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arrange a meeting to discuss the contract.”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Are you free on Tuesday afternoon?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您周二下午有空吗?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“Are you free on Tuesday afternoon?”</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about Thursday at ten?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周四十点怎么样?</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about Thursday at ten?”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Suggesting a time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提议时间</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Would Thursday work for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周四对您合适吗?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Thursday morning work for you?”</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When would be convenient for you?</a:t>
            </a:r>
          </a:p>
          <a:p>
            <a:pPr algn="l">
              <a:lnSpc>
                <a:spcPct val="115000"/>
              </a:lnSpc>
              <a:spcAft>
                <a:spcPts val="800"/>
              </a:spcAft>
            </a:pPr>
            <a:r>
              <a:rPr sz="1300" b="0">
                <a:solidFill>
                  <a:srgbClr val="5F677A"/>
                </a:solidFill>
                <a:latin typeface="Arial"/>
                <a:ea typeface="Microsoft YaHei"/>
              </a:rPr>
              <a:t>phrase (polite)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您什么时候方便?</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“When would be convenient for you next week?”</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Responding and negotiating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回应与协商</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 suits me fine. / That works for me.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我可以 / 合适</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“Tuesday at ten works for me.”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afraid I’m tied up on Monday.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恐怕我周一没空</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I’m tied up on Monday morning.”</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fully booked that day.</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那天我的日程排满了</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fully booked on Wednesday.”</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2: Responding and negotiating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回应与协商</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we make it a little later?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能不能稍微晚一点?</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make it a little later, say eleven?”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check my diary.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我看一下我的日程</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check my diary. … Yes, I’m free at three.”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Confirming and changing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确认与更改</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say Friday at 2 p.m.</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那就定周五下午两点吧</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say Friday at 2 p.m.”</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Just to confirm, …</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确认一下,……</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“Just to confirm, we’ll meet on Friday at two at your office.”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I’ll have to reschedule.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恐怕我得改期</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I’ll have to reschedule our meeting.”</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we push it back to Monday?</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能推迟到周一吗?</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push it back to Monday?”</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send a calendar invitation.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我会发日历邀请</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send a calendar invitation after this call.”</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周四十点怎么样?</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about Thursday at ten?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那天我的日程排满了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fully booked that day.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确认一下,……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 to confirm, …</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我可以 / 合适</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That suits me fine. / That works for me.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我看一下我的日程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check my diary.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那就定周五下午两点吧</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say Friday at 2 p.m.</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恐怕我周一没空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afraid I’m tied up on Monday.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能不能稍微晚一点?</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we make it a little later?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afraid</a:t>
            </a:r>
          </a:p>
        </p:txBody>
      </p:sp>
      <p:sp>
        <p:nvSpPr>
          <p:cNvPr id="10" name="Rounded Rectangle 9"/>
          <p:cNvSpPr/>
          <p:nvPr/>
        </p:nvSpPr>
        <p:spPr>
          <a:xfrm>
            <a:off x="3127248"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free</a:t>
            </a:r>
          </a:p>
        </p:txBody>
      </p:sp>
      <p:sp>
        <p:nvSpPr>
          <p:cNvPr id="11" name="Rounded Rectangle 10"/>
          <p:cNvSpPr/>
          <p:nvPr/>
        </p:nvSpPr>
        <p:spPr>
          <a:xfrm>
            <a:off x="402336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Just</a:t>
            </a:r>
          </a:p>
        </p:txBody>
      </p:sp>
      <p:sp>
        <p:nvSpPr>
          <p:cNvPr id="12" name="Rounded Rectangle 11"/>
          <p:cNvSpPr/>
          <p:nvPr/>
        </p:nvSpPr>
        <p:spPr>
          <a:xfrm>
            <a:off x="4919472"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reschedule</a:t>
            </a:r>
          </a:p>
        </p:txBody>
      </p:sp>
      <p:sp>
        <p:nvSpPr>
          <p:cNvPr id="13" name="Rounded Rectangle 12"/>
          <p:cNvSpPr/>
          <p:nvPr/>
        </p:nvSpPr>
        <p:spPr>
          <a:xfrm>
            <a:off x="6473952"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arrange</a:t>
            </a:r>
          </a:p>
        </p:txBody>
      </p:sp>
      <p:sp>
        <p:nvSpPr>
          <p:cNvPr id="14" name="Rounded Rectangle 13"/>
          <p:cNvSpPr/>
          <p:nvPr/>
        </p:nvSpPr>
        <p:spPr>
          <a:xfrm>
            <a:off x="7699248"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work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I’d like to _______ a meeting to discuss the contract.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arrange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Are you _______ on Tuesday afternoon?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Would Thursday _______ for you?</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I’m _______ I’m tied up on Monday morning.</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afraid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afraid I’ll have to _______ our meeting.</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reschedule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say Friday at two. _______ to confirm, at your office?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介词与拼写): appointment, schedule, Wednesday (Wed-nes-day). Use on for days, at for clock times, in for parts of the day: “on Tuesday at ten in the morning”.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Arranging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约定会议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new client to arrange a first meeting. You find a time that suits you both.</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sales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Henry Lee, purchasing manager at BlueSea</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Arranging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Mr Lee. This is Li Wei from Orion. I’d like to arrange a meeting to discuss next year’s order.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Henry</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That sounds good. When were you thinking?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Are you free next Tuesday afternoon?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check my diary. … I’m afraid I’m tied up on Tuesday. How about Wednesday?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Wednesday is fine for me. Would ten o’clock suit you?</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Ten is a bit early for me. Could we make it a little later, say eleven?</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Arranging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that works for me. And would you prefer to meet at your office or ours?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meet at our office. It’s easier for me.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Just to confirm: Wednesday the 14th at eleven, at your office.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 It should take about an hour.</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I’ll send a calendar invitation today.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See you on Wednesday.</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Arranging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call to arrange a meeting. The first time doesn’t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Your company and reason for the meeting: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Has a busy diary.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arrange a meeting… · Are you free on…? · I’m afraid I’m tied up… · Could we make it…? · Just to confirm…</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a day, time and place, and confirm the details. About 90 seconds.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client offers only early morning slots. Say: “Would later in the day be possible?”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two options: “I’m free on Tuesday at two or Thursday at ten. Which would you prefer?”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Confirm by email after the call.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Rescheduling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更改会议时间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must move a meeting because of a client emergency. You phone to reschedule.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Henry Lee</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Rescheduling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Mr Lee. It’s Li Wei. I’m sorry to call you at short notice. Is this a good time?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Henry</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go ahead.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I’ll have to reschedule our meeting on Wednesday. One of our key clients has an urgent problem, and I need to be there.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That’s a shame. What would you suggest?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push it back to Friday? Same time, same place.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fully booked on Friday morning, I’m afraid. What about the afternoon?</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Rescheduling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Friday afternoon is fine. Would two o’clock work for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Two o’clock is fine.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so flexible. I really appreciate it.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worry. These things happen.</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send a new invitation, and I’ll cancel the old one.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See you on Friday.</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Rescheduling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need to postpone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Apologize, explain briefly, suggest a new time.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Flexible but busy.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I’ll have to reschedule… · push it back to… · I’m fully booked… · Thank you for being so flexible. · I’ll send a new invitation.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a new time and confirm what happens to the old booking.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want to bring the meeting forward. Say: “Could we bring it forward to Tuesday?”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is annoyed. Say: “I completely understand, and I’m sorry for the inconvenience.”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Cancel instead: “I’m afraid I have to cancel, but I’d like to rebook for next month.”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decide when to hold a meeting (morning, afternoon, how long)?</a:t>
            </a:r>
          </a:p>
          <a:p>
            <a:pPr algn="l">
              <a:lnSpc>
                <a:spcPct val="115000"/>
              </a:lnSpc>
              <a:spcAft>
                <a:spcPts val="800"/>
              </a:spcAft>
            </a:pPr>
            <a:r>
              <a:rPr sz="1400" b="0">
                <a:solidFill>
                  <a:srgbClr val="5F677A"/>
                </a:solidFill>
                <a:latin typeface="Arial"/>
                <a:ea typeface="Microsoft YaHei"/>
              </a:rPr>
              <a:t>💬 “I prefer mornings because…” / “I try to keep meetings under…”</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many times is it acceptable to reschedule a meeting?</a:t>
            </a:r>
          </a:p>
          <a:p>
            <a:pPr algn="l">
              <a:lnSpc>
                <a:spcPct val="115000"/>
              </a:lnSpc>
              <a:spcAft>
                <a:spcPts val="800"/>
              </a:spcAft>
            </a:pPr>
            <a:r>
              <a:rPr sz="1400" b="0">
                <a:solidFill>
                  <a:srgbClr val="5F677A"/>
                </a:solidFill>
                <a:latin typeface="Arial"/>
                <a:ea typeface="Microsoft YaHei"/>
              </a:rPr>
              <a:t>💬 “Once is acceptable if…” / “More than twice looks unprofessional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is better for arranging a meeting: phone, email, or a booking tool?</a:t>
            </a:r>
          </a:p>
          <a:p>
            <a:pPr algn="l">
              <a:lnSpc>
                <a:spcPct val="115000"/>
              </a:lnSpc>
              <a:spcAft>
                <a:spcPts val="800"/>
              </a:spcAft>
            </a:pPr>
            <a:r>
              <a:rPr sz="1400" b="0">
                <a:solidFill>
                  <a:srgbClr val="5F677A"/>
                </a:solidFill>
                <a:latin typeface="Arial"/>
                <a:ea typeface="Microsoft YaHei"/>
              </a:rPr>
              <a:t>💬 “I find… easier because…” / “For important clients I would call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stay polite when you must refuse a time?</a:t>
            </a:r>
          </a:p>
          <a:p>
            <a:pPr algn="l">
              <a:lnSpc>
                <a:spcPct val="115000"/>
              </a:lnSpc>
              <a:spcAft>
                <a:spcPts val="800"/>
              </a:spcAft>
            </a:pPr>
            <a:r>
              <a:rPr sz="1400" b="0">
                <a:solidFill>
                  <a:srgbClr val="5F677A"/>
                </a:solidFill>
                <a:latin typeface="Arial"/>
                <a:ea typeface="Microsoft YaHei"/>
              </a:rPr>
              <a:t>💬 “I say ‘I’m afraid I can’t…’ and offer…” / “I always give another option.”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time zones when you arrange meetings?</a:t>
            </a:r>
          </a:p>
          <a:p>
            <a:pPr algn="l">
              <a:lnSpc>
                <a:spcPct val="115000"/>
              </a:lnSpc>
              <a:spcAft>
                <a:spcPts val="800"/>
              </a:spcAft>
            </a:pPr>
            <a:r>
              <a:rPr sz="1400" b="0">
                <a:solidFill>
                  <a:srgbClr val="5F677A"/>
                </a:solidFill>
                <a:latin typeface="Arial"/>
                <a:ea typeface="Microsoft YaHei"/>
              </a:rPr>
              <a:t>💬 “I use a time-zone converter.” / “I say the time in both places.”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rescheduling once is acceptable if there is a good reason and I tell the other person early. Twice is a bit too much, and three times looks unprofessional. When I change a meeting, I apologize, explain in one sentence, and suggest two new times. This way, the other person can choose quickly, and it shows that I respect their time.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“tell the other person early”(尽早告知)。“suggest two new times”(提供两个新时间)是实用技巧。“respect their time”(尊重别人的时间)是常见搭配。</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Phone-language script: arranging an appointment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约会议话术</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Introduce</a:t>
                      </a:r>
                    </a:p>
                  </a:txBody>
                  <a:tcPr anchor="ctr">
                    <a:solidFill>
                      <a:srgbClr val="FFFFFF"/>
                    </a:solidFill>
                  </a:tcPr>
                </a:tc>
                <a:tc>
                  <a:txBody>
                    <a:bodyPr wrap="square"/>
                    <a:lstStyle/>
                    <a:p>
                      <a:r>
                        <a:rPr sz="1600" b="0">
                          <a:solidFill>
                            <a:srgbClr val="1F2A44"/>
                          </a:solidFill>
                          <a:latin typeface="Arial"/>
                          <a:ea typeface="Microsoft YaHei"/>
                        </a:rPr>
                        <a:t>Hello, this is [Name] from [Company].</a:t>
                      </a:r>
                    </a:p>
                  </a:txBody>
                  <a:tcPr anchor="ctr">
                    <a:solidFill>
                      <a:srgbClr val="FFFFFF"/>
                    </a:solidFill>
                  </a:tcPr>
                </a:tc>
              </a:tr>
              <a:tr h="408432">
                <a:tc>
                  <a:txBody>
                    <a:bodyPr wrap="square"/>
                    <a:lstStyle/>
                    <a:p>
                      <a:r>
                        <a:rPr sz="1600" b="1">
                          <a:solidFill>
                            <a:srgbClr val="1F2A44"/>
                          </a:solidFill>
                          <a:latin typeface="Arial"/>
                          <a:ea typeface="Microsoft YaHei"/>
                        </a:rPr>
                        <a:t>Purpose</a:t>
                      </a:r>
                    </a:p>
                  </a:txBody>
                  <a:tcPr anchor="ctr">
                    <a:solidFill>
                      <a:srgbClr val="FFEFD9"/>
                    </a:solidFill>
                  </a:tcPr>
                </a:tc>
                <a:tc>
                  <a:txBody>
                    <a:bodyPr wrap="square"/>
                    <a:lstStyle/>
                    <a:p>
                      <a:r>
                        <a:rPr sz="1600" b="0">
                          <a:solidFill>
                            <a:srgbClr val="1F2A44"/>
                          </a:solidFill>
                          <a:latin typeface="Arial"/>
                          <a:ea typeface="Microsoft YaHei"/>
                        </a:rPr>
                        <a:t>I’d like to arrange a meeting to discuss…</a:t>
                      </a:r>
                    </a:p>
                  </a:txBody>
                  <a:tcPr anchor="ctr">
                    <a:solidFill>
                      <a:srgbClr val="FFEFD9"/>
                    </a:solidFill>
                  </a:tcPr>
                </a:tc>
              </a:tr>
              <a:tr h="652272">
                <a:tc>
                  <a:txBody>
                    <a:bodyPr wrap="square"/>
                    <a:lstStyle/>
                    <a:p>
                      <a:r>
                        <a:rPr sz="1600" b="1">
                          <a:solidFill>
                            <a:srgbClr val="1F2A44"/>
                          </a:solidFill>
                          <a:latin typeface="Arial"/>
                          <a:ea typeface="Microsoft YaHei"/>
                        </a:rPr>
                        <a:t>Suggest</a:t>
                      </a:r>
                    </a:p>
                  </a:txBody>
                  <a:tcPr anchor="ctr">
                    <a:solidFill>
                      <a:srgbClr val="FFFFFF"/>
                    </a:solidFill>
                  </a:tcPr>
                </a:tc>
                <a:tc>
                  <a:txBody>
                    <a:bodyPr wrap="square"/>
                    <a:lstStyle/>
                    <a:p>
                      <a:r>
                        <a:rPr sz="1600" b="0">
                          <a:solidFill>
                            <a:srgbClr val="1F2A44"/>
                          </a:solidFill>
                          <a:latin typeface="Arial"/>
                          <a:ea typeface="Microsoft YaHei"/>
                        </a:rPr>
                        <a:t>Are you free on Tuesday afternoon? / How about Thursday at ten?</a:t>
                      </a:r>
                    </a:p>
                  </a:txBody>
                  <a:tcPr anchor="ctr">
                    <a:solidFill>
                      <a:srgbClr val="FFFFFF"/>
                    </a:solidFill>
                  </a:tcPr>
                </a:tc>
              </a:tr>
              <a:tr h="652272">
                <a:tc>
                  <a:txBody>
                    <a:bodyPr wrap="square"/>
                    <a:lstStyle/>
                    <a:p>
                      <a:r>
                        <a:rPr sz="1600" b="1">
                          <a:solidFill>
                            <a:srgbClr val="1F2A44"/>
                          </a:solidFill>
                          <a:latin typeface="Arial"/>
                          <a:ea typeface="Microsoft YaHei"/>
                        </a:rPr>
                        <a:t>Ask</a:t>
                      </a:r>
                    </a:p>
                  </a:txBody>
                  <a:tcPr anchor="ctr">
                    <a:solidFill>
                      <a:srgbClr val="FFEFD9"/>
                    </a:solidFill>
                  </a:tcPr>
                </a:tc>
                <a:tc>
                  <a:txBody>
                    <a:bodyPr wrap="square"/>
                    <a:lstStyle/>
                    <a:p>
                      <a:r>
                        <a:rPr sz="1600" b="0">
                          <a:solidFill>
                            <a:srgbClr val="1F2A44"/>
                          </a:solidFill>
                          <a:latin typeface="Arial"/>
                          <a:ea typeface="Microsoft YaHei"/>
                        </a:rPr>
                        <a:t>When would be convenient for you? ★ / Would Thursday work for you? ★</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Phone-language script: arranging an appointment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约会议话术</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Refuse</a:t>
                      </a:r>
                    </a:p>
                  </a:txBody>
                  <a:tcPr anchor="ctr">
                    <a:solidFill>
                      <a:srgbClr val="FFFFFF"/>
                    </a:solidFill>
                  </a:tcPr>
                </a:tc>
                <a:tc>
                  <a:txBody>
                    <a:bodyPr wrap="square"/>
                    <a:lstStyle/>
                    <a:p>
                      <a:r>
                        <a:rPr sz="1600" b="0">
                          <a:solidFill>
                            <a:srgbClr val="1F2A44"/>
                          </a:solidFill>
                          <a:latin typeface="Arial"/>
                          <a:ea typeface="Microsoft YaHei"/>
                        </a:rPr>
                        <a:t>I’m afraid I’m tied up on Monday. / I’m fully booked that day.</a:t>
                      </a:r>
                    </a:p>
                  </a:txBody>
                  <a:tcPr anchor="ctr">
                    <a:solidFill>
                      <a:srgbClr val="FFFFFF"/>
                    </a:solidFill>
                  </a:tcPr>
                </a:tc>
              </a:tr>
              <a:tr h="652272">
                <a:tc>
                  <a:txBody>
                    <a:bodyPr wrap="square"/>
                    <a:lstStyle/>
                    <a:p>
                      <a:r>
                        <a:rPr sz="1600" b="1">
                          <a:solidFill>
                            <a:srgbClr val="1F2A44"/>
                          </a:solidFill>
                          <a:latin typeface="Arial"/>
                          <a:ea typeface="Microsoft YaHei"/>
                        </a:rPr>
                        <a:t>Counter</a:t>
                      </a:r>
                    </a:p>
                  </a:txBody>
                  <a:tcPr anchor="ctr">
                    <a:solidFill>
                      <a:srgbClr val="FFEFD9"/>
                    </a:solidFill>
                  </a:tcPr>
                </a:tc>
                <a:tc>
                  <a:txBody>
                    <a:bodyPr wrap="square"/>
                    <a:lstStyle/>
                    <a:p>
                      <a:r>
                        <a:rPr sz="1600" b="0">
                          <a:solidFill>
                            <a:srgbClr val="1F2A44"/>
                          </a:solidFill>
                          <a:latin typeface="Arial"/>
                          <a:ea typeface="Microsoft YaHei"/>
                        </a:rPr>
                        <a:t>Could we make it a little later? ★ / What about the afternoon?</a:t>
                      </a:r>
                    </a:p>
                  </a:txBody>
                  <a:tcPr anchor="ctr">
                    <a:solidFill>
                      <a:srgbClr val="FFEFD9"/>
                    </a:solidFill>
                  </a:tcPr>
                </a:tc>
              </a:tr>
              <a:tr h="408432">
                <a:tc>
                  <a:txBody>
                    <a:bodyPr wrap="square"/>
                    <a:lstStyle/>
                    <a:p>
                      <a:r>
                        <a:rPr sz="1600" b="1">
                          <a:solidFill>
                            <a:srgbClr val="1F2A44"/>
                          </a:solidFill>
                          <a:latin typeface="Arial"/>
                          <a:ea typeface="Microsoft YaHei"/>
                        </a:rPr>
                        <a:t>Confirm</a:t>
                      </a:r>
                    </a:p>
                  </a:txBody>
                  <a:tcPr anchor="ctr">
                    <a:solidFill>
                      <a:srgbClr val="FFFFFF"/>
                    </a:solidFill>
                  </a:tcPr>
                </a:tc>
                <a:tc>
                  <a:txBody>
                    <a:bodyPr wrap="square"/>
                    <a:lstStyle/>
                    <a:p>
                      <a:r>
                        <a:rPr sz="1600" b="0">
                          <a:solidFill>
                            <a:srgbClr val="1F2A44"/>
                          </a:solidFill>
                          <a:latin typeface="Arial"/>
                          <a:ea typeface="Microsoft YaHei"/>
                        </a:rPr>
                        <a:t>Let’s say Friday at 2 p.m. Just to confirm, …</a:t>
                      </a:r>
                    </a:p>
                  </a:txBody>
                  <a:tcPr anchor="ctr">
                    <a:solidFill>
                      <a:srgbClr val="FFFFFF"/>
                    </a:solidFill>
                  </a:tcPr>
                </a:tc>
              </a:tr>
              <a:tr h="408432">
                <a:tc>
                  <a:txBody>
                    <a:bodyPr wrap="square"/>
                    <a:lstStyle/>
                    <a:p>
                      <a:r>
                        <a:rPr sz="1600" b="1">
                          <a:solidFill>
                            <a:srgbClr val="1F2A44"/>
                          </a:solidFill>
                          <a:latin typeface="Arial"/>
                          <a:ea typeface="Microsoft YaHei"/>
                        </a:rPr>
                        <a:t>Close</a:t>
                      </a:r>
                    </a:p>
                  </a:txBody>
                  <a:tcPr anchor="ctr">
                    <a:solidFill>
                      <a:srgbClr val="FFEFD9"/>
                    </a:solidFill>
                  </a:tcPr>
                </a:tc>
                <a:tc>
                  <a:txBody>
                    <a:bodyPr wrap="square"/>
                    <a:lstStyle/>
                    <a:p>
                      <a:r>
                        <a:rPr sz="1600" b="0">
                          <a:solidFill>
                            <a:srgbClr val="1F2A44"/>
                          </a:solidFill>
                          <a:latin typeface="Arial"/>
                          <a:ea typeface="Microsoft YaHei"/>
                        </a:rPr>
                        <a:t>I’ll send a calendar invitation. See you on Friday.</a:t>
                      </a:r>
                    </a:p>
                  </a:txBody>
                  <a:tcPr anchor="ctr">
                    <a:solidFill>
                      <a:srgbClr val="FFEFD9"/>
                    </a:solidFill>
                  </a:tcPr>
                </a:tc>
              </a:tr>
            </a:tbl>
          </a:graphicData>
        </a:graphic>
      </p:graphicFrame>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Time expressions and prepositions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时间表达与介词</a:t>
            </a:r>
          </a:p>
        </p:txBody>
      </p:sp>
      <p:graphicFrame>
        <p:nvGraphicFramePr>
          <p:cNvPr id="9" name="Table 8"/>
          <p:cNvGraphicFramePr>
            <a:graphicFrameLocks noGrp="1"/>
          </p:cNvGraphicFramePr>
          <p:nvPr/>
        </p:nvGraphicFramePr>
        <p:xfrm>
          <a:off x="548640" y="1417320"/>
          <a:ext cx="11094415" cy="24505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Preposition</a:t>
                      </a:r>
                    </a:p>
                  </a:txBody>
                  <a:tcPr anchor="ctr">
                    <a:solidFill>
                      <a:srgbClr val="3CC49A"/>
                    </a:solidFill>
                  </a:tcPr>
                </a:tc>
                <a:tc>
                  <a:txBody>
                    <a:bodyPr wrap="square"/>
                    <a:lstStyle/>
                    <a:p>
                      <a:r>
                        <a:rPr sz="1600" b="1">
                          <a:solidFill>
                            <a:srgbClr val="FFFFFF"/>
                          </a:solidFill>
                          <a:latin typeface="Arial"/>
                          <a:ea typeface="Microsoft YaHei"/>
                        </a:rPr>
                        <a:t>Use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on</a:t>
                      </a:r>
                    </a:p>
                  </a:txBody>
                  <a:tcPr anchor="ctr">
                    <a:solidFill>
                      <a:srgbClr val="FFFFFF"/>
                    </a:solidFill>
                  </a:tcPr>
                </a:tc>
                <a:tc>
                  <a:txBody>
                    <a:bodyPr wrap="square"/>
                    <a:lstStyle/>
                    <a:p>
                      <a:r>
                        <a:rPr sz="1600" b="0">
                          <a:solidFill>
                            <a:srgbClr val="1F2A44"/>
                          </a:solidFill>
                          <a:latin typeface="Arial"/>
                          <a:ea typeface="Microsoft YaHei"/>
                        </a:rPr>
                        <a:t>days, dates</a:t>
                      </a:r>
                    </a:p>
                  </a:txBody>
                  <a:tcPr anchor="ctr">
                    <a:solidFill>
                      <a:srgbClr val="FFFFFF"/>
                    </a:solidFill>
                  </a:tcPr>
                </a:tc>
                <a:tc>
                  <a:txBody>
                    <a:bodyPr wrap="square"/>
                    <a:lstStyle/>
                    <a:p>
                      <a:r>
                        <a:rPr sz="1600" b="0">
                          <a:solidFill>
                            <a:srgbClr val="1F2A44"/>
                          </a:solidFill>
                          <a:latin typeface="Arial"/>
                          <a:ea typeface="Microsoft YaHei"/>
                        </a:rPr>
                        <a:t>on Tuesday, on 14 October</a:t>
                      </a:r>
                    </a:p>
                  </a:txBody>
                  <a:tcPr anchor="ctr">
                    <a:solidFill>
                      <a:srgbClr val="FFFFFF"/>
                    </a:solidFill>
                  </a:tcPr>
                </a:tc>
              </a:tr>
              <a:tr h="408432">
                <a:tc>
                  <a:txBody>
                    <a:bodyPr wrap="square"/>
                    <a:lstStyle/>
                    <a:p>
                      <a:r>
                        <a:rPr sz="1600" b="1">
                          <a:solidFill>
                            <a:srgbClr val="1F2A44"/>
                          </a:solidFill>
                          <a:latin typeface="Arial"/>
                          <a:ea typeface="Microsoft YaHei"/>
                        </a:rPr>
                        <a:t>at</a:t>
                      </a:r>
                    </a:p>
                  </a:txBody>
                  <a:tcPr anchor="ctr">
                    <a:solidFill>
                      <a:srgbClr val="FFEFD9"/>
                    </a:solidFill>
                  </a:tcPr>
                </a:tc>
                <a:tc>
                  <a:txBody>
                    <a:bodyPr wrap="square"/>
                    <a:lstStyle/>
                    <a:p>
                      <a:r>
                        <a:rPr sz="1600" b="0">
                          <a:solidFill>
                            <a:srgbClr val="1F2A44"/>
                          </a:solidFill>
                          <a:latin typeface="Arial"/>
                          <a:ea typeface="Microsoft YaHei"/>
                        </a:rPr>
                        <a:t>clock time</a:t>
                      </a:r>
                    </a:p>
                  </a:txBody>
                  <a:tcPr anchor="ctr">
                    <a:solidFill>
                      <a:srgbClr val="FFEFD9"/>
                    </a:solidFill>
                  </a:tcPr>
                </a:tc>
                <a:tc>
                  <a:txBody>
                    <a:bodyPr wrap="square"/>
                    <a:lstStyle/>
                    <a:p>
                      <a:r>
                        <a:rPr sz="1600" b="0">
                          <a:solidFill>
                            <a:srgbClr val="1F2A44"/>
                          </a:solidFill>
                          <a:latin typeface="Arial"/>
                          <a:ea typeface="Microsoft YaHei"/>
                        </a:rPr>
                        <a:t>at ten, at half past two</a:t>
                      </a:r>
                    </a:p>
                  </a:txBody>
                  <a:tcPr anchor="ctr">
                    <a:solidFill>
                      <a:srgbClr val="FFEFD9"/>
                    </a:solidFill>
                  </a:tcPr>
                </a:tc>
              </a:tr>
              <a:tr h="408432">
                <a:tc>
                  <a:txBody>
                    <a:bodyPr wrap="square"/>
                    <a:lstStyle/>
                    <a:p>
                      <a:r>
                        <a:rPr sz="1600" b="1">
                          <a:solidFill>
                            <a:srgbClr val="1F2A44"/>
                          </a:solidFill>
                          <a:latin typeface="Arial"/>
                          <a:ea typeface="Microsoft YaHei"/>
                        </a:rPr>
                        <a:t>in</a:t>
                      </a:r>
                    </a:p>
                  </a:txBody>
                  <a:tcPr anchor="ctr">
                    <a:solidFill>
                      <a:srgbClr val="FFFFFF"/>
                    </a:solidFill>
                  </a:tcPr>
                </a:tc>
                <a:tc>
                  <a:txBody>
                    <a:bodyPr wrap="square"/>
                    <a:lstStyle/>
                    <a:p>
                      <a:r>
                        <a:rPr sz="1600" b="0">
                          <a:solidFill>
                            <a:srgbClr val="1F2A44"/>
                          </a:solidFill>
                          <a:latin typeface="Arial"/>
                          <a:ea typeface="Microsoft YaHei"/>
                        </a:rPr>
                        <a:t>parts of day, months</a:t>
                      </a:r>
                    </a:p>
                  </a:txBody>
                  <a:tcPr anchor="ctr">
                    <a:solidFill>
                      <a:srgbClr val="FFFFFF"/>
                    </a:solidFill>
                  </a:tcPr>
                </a:tc>
                <a:tc>
                  <a:txBody>
                    <a:bodyPr wrap="square"/>
                    <a:lstStyle/>
                    <a:p>
                      <a:r>
                        <a:rPr sz="1600" b="0">
                          <a:solidFill>
                            <a:srgbClr val="1F2A44"/>
                          </a:solidFill>
                          <a:latin typeface="Arial"/>
                          <a:ea typeface="Microsoft YaHei"/>
                        </a:rPr>
                        <a:t>in the morning, in October</a:t>
                      </a:r>
                    </a:p>
                  </a:txBody>
                  <a:tcPr anchor="ctr">
                    <a:solidFill>
                      <a:srgbClr val="FFFFFF"/>
                    </a:solidFill>
                  </a:tcPr>
                </a:tc>
              </a:tr>
              <a:tr h="408432">
                <a:tc>
                  <a:txBody>
                    <a:bodyPr wrap="square"/>
                    <a:lstStyle/>
                    <a:p>
                      <a:r>
                        <a:rPr sz="1600" b="1">
                          <a:solidFill>
                            <a:srgbClr val="1F2A44"/>
                          </a:solidFill>
                          <a:latin typeface="Arial"/>
                          <a:ea typeface="Microsoft YaHei"/>
                        </a:rPr>
                        <a:t>by</a:t>
                      </a:r>
                    </a:p>
                  </a:txBody>
                  <a:tcPr anchor="ctr">
                    <a:solidFill>
                      <a:srgbClr val="FFEFD9"/>
                    </a:solidFill>
                  </a:tcPr>
                </a:tc>
                <a:tc>
                  <a:txBody>
                    <a:bodyPr wrap="square"/>
                    <a:lstStyle/>
                    <a:p>
                      <a:r>
                        <a:rPr sz="1600" b="0">
                          <a:solidFill>
                            <a:srgbClr val="1F2A44"/>
                          </a:solidFill>
                          <a:latin typeface="Arial"/>
                          <a:ea typeface="Microsoft YaHei"/>
                        </a:rPr>
                        <a:t>deadline</a:t>
                      </a:r>
                    </a:p>
                  </a:txBody>
                  <a:tcPr anchor="ctr">
                    <a:solidFill>
                      <a:srgbClr val="FFEFD9"/>
                    </a:solidFill>
                  </a:tcPr>
                </a:tc>
                <a:tc>
                  <a:txBody>
                    <a:bodyPr wrap="square"/>
                    <a:lstStyle/>
                    <a:p>
                      <a:r>
                        <a:rPr sz="1600" b="0">
                          <a:solidFill>
                            <a:srgbClr val="1F2A44"/>
                          </a:solidFill>
                          <a:latin typeface="Arial"/>
                          <a:ea typeface="Microsoft YaHei"/>
                        </a:rPr>
                        <a:t>by Friday, by noon</a:t>
                      </a:r>
                    </a:p>
                  </a:txBody>
                  <a:tcPr anchor="ctr">
                    <a:solidFill>
                      <a:srgbClr val="FFEFD9"/>
                    </a:solidFill>
                  </a:tcPr>
                </a:tc>
              </a:tr>
              <a:tr h="408432">
                <a:tc>
                  <a:txBody>
                    <a:bodyPr wrap="square"/>
                    <a:lstStyle/>
                    <a:p>
                      <a:r>
                        <a:rPr sz="1600" b="1">
                          <a:solidFill>
                            <a:srgbClr val="1F2A44"/>
                          </a:solidFill>
                          <a:latin typeface="Arial"/>
                          <a:ea typeface="Microsoft YaHei"/>
                        </a:rPr>
                        <a:t>no preposition</a:t>
                      </a:r>
                    </a:p>
                  </a:txBody>
                  <a:tcPr anchor="ctr">
                    <a:solidFill>
                      <a:srgbClr val="FFFFFF"/>
                    </a:solidFill>
                  </a:tcPr>
                </a:tc>
                <a:tc>
                  <a:txBody>
                    <a:bodyPr wrap="square"/>
                    <a:lstStyle/>
                    <a:p>
                      <a:r>
                        <a:rPr sz="1600" b="0">
                          <a:solidFill>
                            <a:srgbClr val="1F2A44"/>
                          </a:solidFill>
                          <a:latin typeface="Arial"/>
                          <a:ea typeface="Microsoft YaHei"/>
                        </a:rPr>
                        <a:t>next / this / last + time</a:t>
                      </a:r>
                    </a:p>
                  </a:txBody>
                  <a:tcPr anchor="ctr">
                    <a:solidFill>
                      <a:srgbClr val="FFFFFF"/>
                    </a:solidFill>
                  </a:tcPr>
                </a:tc>
                <a:tc>
                  <a:txBody>
                    <a:bodyPr wrap="square"/>
                    <a:lstStyle/>
                    <a:p>
                      <a:r>
                        <a:rPr sz="1600" b="0">
                          <a:solidFill>
                            <a:srgbClr val="1F2A44"/>
                          </a:solidFill>
                          <a:latin typeface="Arial"/>
                          <a:ea typeface="Microsoft YaHei"/>
                        </a:rPr>
                        <a:t>next week, this Friday, tomorrow</a:t>
                      </a:r>
                    </a:p>
                  </a:txBody>
                  <a:tcPr anchor="ctr">
                    <a:solidFill>
                      <a:srgbClr val="FFFFFF"/>
                    </a:solidFill>
                  </a:tcPr>
                </a:tc>
              </a:tr>
            </a:tbl>
          </a:graphicData>
        </a:graphic>
      </p:graphicFrame>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Time expressions and prepositions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时间表达与介词</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Change the time: </a:t>
            </a:r>
            <a:r>
              <a:rPr sz="1700" b="0">
                <a:solidFill>
                  <a:srgbClr val="1F2A44"/>
                </a:solidFill>
                <a:latin typeface="Arial"/>
                <a:ea typeface="Microsoft YaHei"/>
              </a:rPr>
              <a:t>postpone / push back (to a later time), bring forward (to an earlier time), reschedule (to a new time), cancel.</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Say the time: </a:t>
            </a:r>
            <a:r>
              <a:rPr sz="1700" b="0">
                <a:solidFill>
                  <a:srgbClr val="1F2A44"/>
                </a:solidFill>
                <a:latin typeface="Arial"/>
                <a:ea typeface="Microsoft YaHei"/>
              </a:rPr>
              <a:t>2:30 = “half past two” or “two thirty”. 9:15 = “quarter past nine”. 4:45 = “quarter to five”. Say a.m. / p.m. when it could be confusing.</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See you in Tuesday.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See you on Tuesday.</a:t>
            </a:r>
          </a:p>
          <a:p>
            <a:pPr algn="l">
              <a:spcAft>
                <a:spcPts val="200"/>
              </a:spcAft>
            </a:pPr>
            <a:r>
              <a:rPr sz="1200" b="0">
                <a:solidFill>
                  <a:srgbClr val="FFFFFF"/>
                </a:solidFill>
                <a:latin typeface="Arial"/>
                <a:ea typeface="Microsoft YaHei"/>
              </a:rPr>
              <a:t>星期前用 on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meet on next Monday.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meet next Monday.</a:t>
            </a:r>
          </a:p>
          <a:p>
            <a:pPr algn="l">
              <a:spcAft>
                <a:spcPts val="200"/>
              </a:spcAft>
            </a:pPr>
            <a:r>
              <a:rPr sz="1200" b="0">
                <a:solidFill>
                  <a:srgbClr val="FFFFFF"/>
                </a:solidFill>
                <a:latin typeface="Arial"/>
                <a:ea typeface="Microsoft YaHei"/>
              </a:rPr>
              <a:t>next / this / last 前面不加介词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Are you free at tomorrow?</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Are you free tomorrow?</a:t>
            </a:r>
          </a:p>
          <a:p>
            <a:pPr algn="l">
              <a:spcAft>
                <a:spcPts val="200"/>
              </a:spcAft>
            </a:pPr>
            <a:r>
              <a:rPr sz="1200" b="0">
                <a:solidFill>
                  <a:srgbClr val="FFFFFF"/>
                </a:solidFill>
                <a:latin typeface="Arial"/>
                <a:ea typeface="Microsoft YaHei"/>
              </a:rPr>
              <a:t>tomorrow 前不加介词</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free in 3 p.m.</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free at 3 p.m.</a:t>
            </a:r>
          </a:p>
          <a:p>
            <a:pPr algn="l">
              <a:spcAft>
                <a:spcPts val="200"/>
              </a:spcAft>
            </a:pPr>
            <a:r>
              <a:rPr sz="1200" b="0">
                <a:solidFill>
                  <a:srgbClr val="FFFFFF"/>
                </a:solidFill>
                <a:latin typeface="Arial"/>
                <a:ea typeface="Microsoft YaHei"/>
              </a:rPr>
              <a:t>钟点用 at</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is at the morning.</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is in the morning.</a:t>
            </a:r>
          </a:p>
          <a:p>
            <a:pPr algn="l">
              <a:spcAft>
                <a:spcPts val="200"/>
              </a:spcAft>
            </a:pPr>
            <a:r>
              <a:rPr sz="1200" b="0">
                <a:solidFill>
                  <a:srgbClr val="FFFFFF"/>
                </a:solidFill>
                <a:latin typeface="Arial"/>
                <a:ea typeface="Microsoft YaHei"/>
              </a:rPr>
              <a:t>in the morning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change the meeting to forward.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bring the meeting forward.</a:t>
            </a:r>
          </a:p>
          <a:p>
            <a:pPr algn="l">
              <a:spcAft>
                <a:spcPts val="200"/>
              </a:spcAft>
            </a:pPr>
            <a:r>
              <a:rPr sz="1200" b="0">
                <a:solidFill>
                  <a:srgbClr val="FFFFFF"/>
                </a:solidFill>
                <a:latin typeface="Arial"/>
                <a:ea typeface="Microsoft YaHei"/>
              </a:rPr>
              <a:t>bring forward / push back</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meet us on Friday.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meet on Friday.</a:t>
            </a:r>
          </a:p>
          <a:p>
            <a:pPr algn="l">
              <a:spcAft>
                <a:spcPts val="200"/>
              </a:spcAft>
            </a:pPr>
            <a:r>
              <a:rPr sz="1200" b="0">
                <a:solidFill>
                  <a:srgbClr val="FFFFFF"/>
                </a:solidFill>
                <a:latin typeface="Arial"/>
                <a:ea typeface="Microsoft YaHei"/>
              </a:rPr>
              <a:t>meet 不加反身代词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come my office?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come to my office?</a:t>
            </a:r>
          </a:p>
          <a:p>
            <a:pPr algn="l">
              <a:spcAft>
                <a:spcPts val="200"/>
              </a:spcAft>
            </a:pPr>
            <a:r>
              <a:rPr sz="1200" b="0">
                <a:solidFill>
                  <a:srgbClr val="FFFFFF"/>
                </a:solidFill>
                <a:latin typeface="Arial"/>
                <a:ea typeface="Microsoft YaHei"/>
              </a:rPr>
              <a:t>come to</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busy to Monday.</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busy on Monday. / I’m tied up on Monday.</a:t>
            </a:r>
          </a:p>
          <a:p>
            <a:pPr algn="l">
              <a:spcAft>
                <a:spcPts val="200"/>
              </a:spcAft>
            </a:pPr>
            <a:r>
              <a:rPr sz="1200" b="0">
                <a:solidFill>
                  <a:srgbClr val="FFFFFF"/>
                </a:solidFill>
                <a:latin typeface="Arial"/>
                <a:ea typeface="Microsoft YaHei"/>
              </a:rPr>
              <a:t>周一忙 → busy on</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appointement / Wensday</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appointment / Wednesday</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Tuesday, at ten, in the morning, but next Tuesday, tomorrow, this afternoon: no preposition.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Offer options, not a command. “How about Thursday at ten?” is more natural than “You come on Thursday at ten.”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Be on time. In the UK, US and Germany, being on time is part of professionalism. If you’re running late, call before the meeting.</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Check the time zone. “11 a.m. Shanghai time” or “11 a.m. CST” avoids confusion. In the US, CST can mean Central Standard Time. Write “Beijing time” or “GMT+8”.</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Avoid the busiest times: </a:t>
            </a:r>
            <a:r>
              <a:rPr sz="1700" b="0">
                <a:solidFill>
                  <a:srgbClr val="1F2A44"/>
                </a:solidFill>
                <a:latin typeface="Arial"/>
                <a:ea typeface="Microsoft YaHei"/>
              </a:rPr>
              <a:t>Many Western offices avoid Monday mornings and Friday afternoons for important meetings.</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0">
                <a:solidFill>
                  <a:srgbClr val="1F2A44"/>
                </a:solidFill>
                <a:latin typeface="Arial"/>
                <a:ea typeface="Microsoft YaHei"/>
              </a:rPr>
              <a:t>Confirm in writing. Send a calendar invitation or a short email with date, time, place, and agenda.</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a time with Are you free on…? How about…? Would … work for you?</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accept, refuse and counter-suggest politely (I’m afraid I’m tied up. Could we make it later?).</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confirm a booking with Let’s say… Just to confirm, …</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postpone or cancel with I’ll have to reschedule / push it back.</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on / at / in / by and next / tomorrow (no preposition)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23 Making an appointment for a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time prepositions, next / tomorrow with no preposition, polite refusals, and spelling (appointment, Wednesday).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6 · Lesson 24 Asking for information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Asking for information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请求信息</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900" b="0">
                <a:solidFill>
                  <a:srgbClr val="FFC857"/>
                </a:solidFill>
                <a:latin typeface="Arial"/>
                <a:ea typeface="Microsoft YaHei"/>
              </a:rPr>
              <a:t>🎯 ask for information by phone politely and clearly: use direct and indirect questions, ask the right follow-up questions, check what you heard, and thank the person.</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kind of information do you often ask for by phone (prices, times, facts)?</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make a question polite in English?</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if the answer is too fast or too long?</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time you called to get information. Did you get what you needed?</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write down while you are on the phone?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题讲过去的事,请用过去式(called, asked, needed)。第 2 题可以说 “I use Could you tell 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Phone a hotel to ask about a conference room for next month.</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1. introduce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 ask about availability</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 ask about price and facilities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 check details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 thank them</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some information about…   💬 Could you tell me whether…?   💬 Do you happen to know…?   💬 Let me check that I understood.</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间接疑问句用陈述语序:Could you tell me what time it opens?(不要说 what time does it open)。</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and asking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开场与提问</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some information about…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我想了解一些关于……的信息</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some information about your conference rooms.”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tell me what time the museum opens?</a:t>
            </a:r>
          </a:p>
          <a:p>
            <a:pPr algn="l">
              <a:lnSpc>
                <a:spcPct val="115000"/>
              </a:lnSpc>
              <a:spcAft>
                <a:spcPts val="800"/>
              </a:spcAft>
            </a:pPr>
            <a:r>
              <a:rPr sz="1300" b="0">
                <a:solidFill>
                  <a:srgbClr val="5F677A"/>
                </a:solidFill>
                <a:latin typeface="Arial"/>
                <a:ea typeface="Microsoft YaHei"/>
              </a:rPr>
              <a:t>indirect question</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请问博物馆几点开门?</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tell me what time the room is available?”</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you happen to know…?</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请问您知不知道……?</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 happen to know if there is parking?”</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was wondering if you could tell me…</a:t>
            </a:r>
          </a:p>
          <a:p>
            <a:pPr algn="l">
              <a:lnSpc>
                <a:spcPct val="115000"/>
              </a:lnSpc>
              <a:spcAft>
                <a:spcPts val="800"/>
              </a:spcAft>
            </a:pPr>
            <a:r>
              <a:rPr sz="1300" b="0">
                <a:solidFill>
                  <a:srgbClr val="5F677A"/>
                </a:solidFill>
                <a:latin typeface="Arial"/>
                <a:ea typeface="Microsoft YaHei"/>
              </a:rPr>
              <a:t>phrase (very polite)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不知道您能不能告诉我……</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wondering if you could tell me the cost for a full day.”</a:t>
            </a:r>
          </a:p>
        </p:txBody>
      </p:sp>
      <p:sp>
        <p:nvSpPr>
          <p:cNvPr id="29" name="Rounded Rectangle 28"/>
          <p:cNvSpPr/>
          <p:nvPr/>
        </p:nvSpPr>
        <p:spPr>
          <a:xfrm>
            <a:off x="548640" y="51460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it possible to…?</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有没有可能……?</a:t>
            </a:r>
          </a:p>
        </p:txBody>
      </p:sp>
      <p:sp>
        <p:nvSpPr>
          <p:cNvPr id="33" name="TextBox 32"/>
          <p:cNvSpPr txBox="1"/>
          <p:nvPr/>
        </p:nvSpPr>
        <p:spPr>
          <a:xfrm>
            <a:off x="6675120" y="51917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it possible to rent a projector?”</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Following up and clarifying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追问与澄清</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much does it cost? / What’s the price?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费用是多少?</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much does it cost for a whole day?”</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Does that include…?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这包括……吗?</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“Does that include lunch and Wi-Fi?”</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go through that again?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能再讲一遍吗?</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go through the prices again?”</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send me the details by email?</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能把详情发邮件给我吗?</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send me the details by email?”</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there a discount for…?</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……有折扣吗?</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 discount for a group booking?”</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Checking and thanking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核对与致谢</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check that I’ve got that right.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我确认一下我听对了</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check that I’ve got that right: £450 for a day.”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 that’s… , is that correct?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也就是说……,对吗?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 that’s 450 pounds per day, is that correct?”</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That’s very helpful. Thank you.</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这很有帮助,谢谢</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very helpful. Thank you.”</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3: Checking and thanking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核对与致谢</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get back to you once I’ve spoken to my manager.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我和经理商量后再回复您</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get back to you once I’ve spoken to my manager.”</a:t>
            </a:r>
          </a:p>
        </p:txBody>
      </p:sp>
      <p:sp>
        <p:nvSpPr>
          <p:cNvPr id="14" name="Rounded Rectangle 13"/>
          <p:cNvSpPr/>
          <p:nvPr/>
        </p:nvSpPr>
        <p:spPr>
          <a:xfrm>
            <a:off x="548640" y="27305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time.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7762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感谢您抽出时间</a:t>
            </a:r>
          </a:p>
        </p:txBody>
      </p:sp>
      <p:sp>
        <p:nvSpPr>
          <p:cNvPr id="18" name="TextBox 17"/>
          <p:cNvSpPr txBox="1"/>
          <p:nvPr/>
        </p:nvSpPr>
        <p:spPr>
          <a:xfrm>
            <a:off x="6675120" y="27762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time.”</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请问博物馆几点开门?</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Could you tell me what time the museum opens?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……有折扣吗?</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 there a discount for…?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我和经理商量后再回复您</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I’ll get back to you once I’ve spoken to my manager.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这很有帮助,谢谢</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That’s very helpful. Thank you.</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有没有可能……?</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 it possible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费用是多少?</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How much does it cost? / What’s the price?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能再讲一遍吗?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go through that again?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感谢您抽出时间</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right</a:t>
            </a:r>
          </a:p>
        </p:txBody>
      </p:sp>
      <p:sp>
        <p:nvSpPr>
          <p:cNvPr id="10" name="Rounded Rectangle 9"/>
          <p:cNvSpPr/>
          <p:nvPr/>
        </p:nvSpPr>
        <p:spPr>
          <a:xfrm>
            <a:off x="301752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include</a:t>
            </a:r>
          </a:p>
        </p:txBody>
      </p:sp>
      <p:sp>
        <p:nvSpPr>
          <p:cNvPr id="11" name="Rounded Rectangle 10"/>
          <p:cNvSpPr/>
          <p:nvPr/>
        </p:nvSpPr>
        <p:spPr>
          <a:xfrm>
            <a:off x="4242816"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time</a:t>
            </a:r>
          </a:p>
        </p:txBody>
      </p:sp>
      <p:sp>
        <p:nvSpPr>
          <p:cNvPr id="12" name="Rounded Rectangle 11"/>
          <p:cNvSpPr/>
          <p:nvPr/>
        </p:nvSpPr>
        <p:spPr>
          <a:xfrm>
            <a:off x="5138928"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wondering</a:t>
            </a:r>
          </a:p>
        </p:txBody>
      </p:sp>
      <p:sp>
        <p:nvSpPr>
          <p:cNvPr id="13" name="Rounded Rectangle 12"/>
          <p:cNvSpPr/>
          <p:nvPr/>
        </p:nvSpPr>
        <p:spPr>
          <a:xfrm>
            <a:off x="6583680"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through</a:t>
            </a:r>
          </a:p>
        </p:txBody>
      </p:sp>
      <p:sp>
        <p:nvSpPr>
          <p:cNvPr id="14" name="Rounded Rectangle 13"/>
          <p:cNvSpPr/>
          <p:nvPr/>
        </p:nvSpPr>
        <p:spPr>
          <a:xfrm>
            <a:off x="7808976"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helpful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Could you tell me what _______ the room is available?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was _______ if you could tell me the cost.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wondering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Does that _______ lunch and Wi-Fi?</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include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Could you go _______ that again, please?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through</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Let me check that I’ve got that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right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That’s very _______. Thank you.</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helpful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语序): In indirect questions the word order is like a statement: “Could you tell me where the room is?” (not “where is the room”). No “do/does” in the second part: “what time it opens”.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Asking a hotel about a conference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向酒店询问会议室</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hotel to ask about a conference room for 30 people next month.</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event organizer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Emma Zhou, hotel events coordinator</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a hotel about a conference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this is Li Wei from Orion. I’d like some information about your conference rooms.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Emma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How can I help?</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tell me if you have a room available for 30 people on 12 November?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check. Yes, our Pearl Room is free that day. It seats up to 40.</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Could you tell me how much it costs for a full day?</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a hotel about a conference room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4,500 yuan for a full day.</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Does that include lunch and Wi-Fi?</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Wi-Fi is included. Lunch is an extra 120 yuan per person.</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Let me check that I’ve got that right: 4,500 yuan for the room, plus 120 yuan per person for lunch. Is that correct?</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that’s right.</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a hotel about a conference room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there a discount for a group booking?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not, but we can add coffee breaks for free.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helpful. Could you send me the details by email? I’ll get back to you once I’ve spoken to my manager.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Thank you for calling.</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Asking a hotel about a conference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call to ask for information about a service.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What you need: ______________ (room / transport / equipment)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Staff member. Gives facts and prices.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some information about… · Could you tell me…? · Does that include…? · Let me check that I’ve got that right. · Could you send me the details?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4 questions, repeat the key facts, ask for an email and say thank you.</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answer is too fast. Say: “Sorry, could you slow down a little?”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 question that begins with “I was wondering if…”</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two options: “What’s the difference between the standard and the premium room?”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Asking about shipping rates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询问运费</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courier company to ask about sending a 20 kg package to Germany.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office assistant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Jack Wu, courier customer service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Asking about shipping rates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I’d like some information about sending a parcel to Germany.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Jack</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What would you like to know?</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happen to know how long it takes for express delivery?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usually takes three to five working days.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much does it cost for a 20-kilo parcel?</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780 yuan, including insurance.</a:t>
            </a:r>
          </a:p>
        </p:txBody>
      </p:sp>
      <p:sp>
        <p:nvSpPr>
          <p:cNvPr id="26" name="Rounded Rectangle 25"/>
          <p:cNvSpPr/>
          <p:nvPr/>
        </p:nvSpPr>
        <p:spPr>
          <a:xfrm>
            <a:off x="548640" y="51084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5473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1084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did you say 780 or 870?</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Asking about shipping rates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Seven hundred and eighty. That’s seven-eight-zero.</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Is it possible to track the parcel online?</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We’ll send you a tracking number by text.</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helpful. And is there any restriction on what I can send?</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Liquids and batteries are not allowed. I can send you the full list by email.</a:t>
            </a:r>
          </a:p>
        </p:txBody>
      </p:sp>
      <p:sp>
        <p:nvSpPr>
          <p:cNvPr id="23" name="Rounded Rectangle 22"/>
          <p:cNvSpPr/>
          <p:nvPr/>
        </p:nvSpPr>
        <p:spPr>
          <a:xfrm>
            <a:off x="548640" y="481584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81584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 Thank you for your time.</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Asking about shipping rates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a company about a service and price.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 What do you want to send / buy / book?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 service. Gives numbers, time and rules.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Do you happen to know…? · How much does it cost? · Is it possible to…? · Sorry, did you say…? · Could you send me the details?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Get price, time, one rule and an email. Check one number.</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a number you didn’t hear well: “Was that fifteen or fifty?”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 recommendation: “Which would you recommend for urgent documents?”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an indirect question: “Could you tell me whether you deliver on Saturdays?”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useful questions to ask when you call for information?</a:t>
            </a:r>
          </a:p>
          <a:p>
            <a:pPr algn="l">
              <a:lnSpc>
                <a:spcPct val="115000"/>
              </a:lnSpc>
              <a:spcAft>
                <a:spcPts val="800"/>
              </a:spcAft>
            </a:pPr>
            <a:r>
              <a:rPr sz="1400" b="0">
                <a:solidFill>
                  <a:srgbClr val="5F677A"/>
                </a:solidFill>
                <a:latin typeface="Arial"/>
                <a:ea typeface="Microsoft YaHei"/>
              </a:rPr>
              <a:t>💬 “I always ask…” / “The first thing I want to know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check that you understood the answer?</a:t>
            </a:r>
          </a:p>
          <a:p>
            <a:pPr algn="l">
              <a:lnSpc>
                <a:spcPct val="115000"/>
              </a:lnSpc>
              <a:spcAft>
                <a:spcPts val="800"/>
              </a:spcAft>
            </a:pPr>
            <a:r>
              <a:rPr sz="1400" b="0">
                <a:solidFill>
                  <a:srgbClr val="5F677A"/>
                </a:solidFill>
                <a:latin typeface="Arial"/>
                <a:ea typeface="Microsoft YaHei"/>
              </a:rPr>
              <a:t>💬 “I repeat the information and ask, ‘Is that right?’” / “I write it down and read it back.”</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a phone call, a website or a chat bot for information?</a:t>
            </a:r>
          </a:p>
          <a:p>
            <a:pPr algn="l">
              <a:lnSpc>
                <a:spcPct val="115000"/>
              </a:lnSpc>
              <a:spcAft>
                <a:spcPts val="800"/>
              </a:spcAft>
            </a:pPr>
            <a:r>
              <a:rPr sz="1400" b="0">
                <a:solidFill>
                  <a:srgbClr val="5F677A"/>
                </a:solidFill>
                <a:latin typeface="Arial"/>
                <a:ea typeface="Microsoft YaHei"/>
              </a:rPr>
              <a:t>💬 “I prefer… because I can…” / “For complex questions I call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the person on the phone cannot help you?</a:t>
            </a:r>
          </a:p>
          <a:p>
            <a:pPr algn="l">
              <a:lnSpc>
                <a:spcPct val="115000"/>
              </a:lnSpc>
              <a:spcAft>
                <a:spcPts val="800"/>
              </a:spcAft>
            </a:pPr>
            <a:r>
              <a:rPr sz="1400" b="0">
                <a:solidFill>
                  <a:srgbClr val="5F677A"/>
                </a:solidFill>
                <a:latin typeface="Arial"/>
                <a:ea typeface="Microsoft YaHei"/>
              </a:rPr>
              <a:t>💬 “I would ask who else can help.” / “I’d ask them to transfer me.”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ask a direct question politely?</a:t>
            </a:r>
          </a:p>
          <a:p>
            <a:pPr algn="l">
              <a:lnSpc>
                <a:spcPct val="115000"/>
              </a:lnSpc>
              <a:spcAft>
                <a:spcPts val="800"/>
              </a:spcAft>
            </a:pPr>
            <a:r>
              <a:rPr sz="1400" b="0">
                <a:solidFill>
                  <a:srgbClr val="5F677A"/>
                </a:solidFill>
                <a:latin typeface="Arial"/>
                <a:ea typeface="Microsoft YaHei"/>
              </a:rPr>
              <a:t>💬 “I use ‘Could you tell me…?’” / “I add ‘please’ and ‘thank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repeat the information and ask,”Is that right?” This is especially important for numbers and dates. For example, “So that’s 780 yuan, with delivery in three to five working days, is that correct?” Then I write the answers down. If I’m not sure, I ask for an email confirmation. It takes one extra minute, but it can save a lot of trouble later.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“especially important for numbers and dates” 中 especially 强调重点。“save a lot of trouble”(避免很多麻烦)是地道搭配。注意 “is that correct?” 的主谓倒装。</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Phone-language script: asking for information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询问信息话术</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Open</a:t>
                      </a:r>
                    </a:p>
                  </a:txBody>
                  <a:tcPr anchor="ctr">
                    <a:solidFill>
                      <a:srgbClr val="FFFFFF"/>
                    </a:solidFill>
                  </a:tcPr>
                </a:tc>
                <a:tc>
                  <a:txBody>
                    <a:bodyPr wrap="square"/>
                    <a:lstStyle/>
                    <a:p>
                      <a:r>
                        <a:rPr sz="1600" b="0">
                          <a:solidFill>
                            <a:srgbClr val="1F2A44"/>
                          </a:solidFill>
                          <a:latin typeface="Arial"/>
                          <a:ea typeface="Microsoft YaHei"/>
                        </a:rPr>
                        <a:t>Hello, I’d like some information about…</a:t>
                      </a:r>
                    </a:p>
                  </a:txBody>
                  <a:tcPr anchor="ctr">
                    <a:solidFill>
                      <a:srgbClr val="FFFFFF"/>
                    </a:solidFill>
                  </a:tcPr>
                </a:tc>
              </a:tr>
              <a:tr h="408432">
                <a:tc>
                  <a:txBody>
                    <a:bodyPr wrap="square"/>
                    <a:lstStyle/>
                    <a:p>
                      <a:r>
                        <a:rPr sz="1600" b="1">
                          <a:solidFill>
                            <a:srgbClr val="1F2A44"/>
                          </a:solidFill>
                          <a:latin typeface="Arial"/>
                          <a:ea typeface="Microsoft YaHei"/>
                        </a:rPr>
                        <a:t>Ask (direct)</a:t>
                      </a:r>
                    </a:p>
                  </a:txBody>
                  <a:tcPr anchor="ctr">
                    <a:solidFill>
                      <a:srgbClr val="FFEFD9"/>
                    </a:solidFill>
                  </a:tcPr>
                </a:tc>
                <a:tc>
                  <a:txBody>
                    <a:bodyPr wrap="square"/>
                    <a:lstStyle/>
                    <a:p>
                      <a:r>
                        <a:rPr sz="1600" b="0">
                          <a:solidFill>
                            <a:srgbClr val="1F2A44"/>
                          </a:solidFill>
                          <a:latin typeface="Arial"/>
                          <a:ea typeface="Microsoft YaHei"/>
                        </a:rPr>
                        <a:t>How much does it cost? / What time does it open?</a:t>
                      </a:r>
                    </a:p>
                  </a:txBody>
                  <a:tcPr anchor="ctr">
                    <a:solidFill>
                      <a:srgbClr val="FFEFD9"/>
                    </a:solidFill>
                  </a:tcPr>
                </a:tc>
              </a:tr>
              <a:tr h="652272">
                <a:tc>
                  <a:txBody>
                    <a:bodyPr wrap="square"/>
                    <a:lstStyle/>
                    <a:p>
                      <a:r>
                        <a:rPr sz="1600" b="1">
                          <a:solidFill>
                            <a:srgbClr val="1F2A44"/>
                          </a:solidFill>
                          <a:latin typeface="Arial"/>
                          <a:ea typeface="Microsoft YaHei"/>
                        </a:rPr>
                        <a:t>Ask (indirect) ★</a:t>
                      </a:r>
                    </a:p>
                  </a:txBody>
                  <a:tcPr anchor="ctr">
                    <a:solidFill>
                      <a:srgbClr val="FFFFFF"/>
                    </a:solidFill>
                  </a:tcPr>
                </a:tc>
                <a:tc>
                  <a:txBody>
                    <a:bodyPr wrap="square"/>
                    <a:lstStyle/>
                    <a:p>
                      <a:r>
                        <a:rPr sz="1600" b="0">
                          <a:solidFill>
                            <a:srgbClr val="1F2A44"/>
                          </a:solidFill>
                          <a:latin typeface="Arial"/>
                          <a:ea typeface="Microsoft YaHei"/>
                        </a:rPr>
                        <a:t>Could you tell me how much it costs? / Do you happen to know what time it opens?</a:t>
                      </a:r>
                    </a:p>
                  </a:txBody>
                  <a:tcPr anchor="ctr">
                    <a:solidFill>
                      <a:srgbClr val="FFFFFF"/>
                    </a:solidFill>
                  </a:tcPr>
                </a:tc>
              </a:tr>
              <a:tr h="408432">
                <a:tc>
                  <a:txBody>
                    <a:bodyPr wrap="square"/>
                    <a:lstStyle/>
                    <a:p>
                      <a:r>
                        <a:rPr sz="1600" b="1">
                          <a:solidFill>
                            <a:srgbClr val="1F2A44"/>
                          </a:solidFill>
                          <a:latin typeface="Arial"/>
                          <a:ea typeface="Microsoft YaHei"/>
                        </a:rPr>
                        <a:t>Very polite ★</a:t>
                      </a:r>
                    </a:p>
                  </a:txBody>
                  <a:tcPr anchor="ctr">
                    <a:solidFill>
                      <a:srgbClr val="FFEFD9"/>
                    </a:solidFill>
                  </a:tcPr>
                </a:tc>
                <a:tc>
                  <a:txBody>
                    <a:bodyPr wrap="square"/>
                    <a:lstStyle/>
                    <a:p>
                      <a:r>
                        <a:rPr sz="1600" b="0">
                          <a:solidFill>
                            <a:srgbClr val="1F2A44"/>
                          </a:solidFill>
                          <a:latin typeface="Arial"/>
                          <a:ea typeface="Microsoft YaHei"/>
                        </a:rPr>
                        <a:t>I was wondering if you could tell me whether…</a:t>
                      </a:r>
                    </a:p>
                  </a:txBody>
                  <a:tcPr anchor="ctr">
                    <a:solidFill>
                      <a:srgbClr val="FFEFD9"/>
                    </a:solidFill>
                  </a:tcPr>
                </a:tc>
              </a:tr>
            </a:tbl>
          </a:graphicData>
        </a:graphic>
      </p:graphicFrame>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Phone-language script: asking for information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询问信息话术</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Clarify</a:t>
                      </a:r>
                    </a:p>
                  </a:txBody>
                  <a:tcPr anchor="ctr">
                    <a:solidFill>
                      <a:srgbClr val="FFFFFF"/>
                    </a:solidFill>
                  </a:tcPr>
                </a:tc>
                <a:tc>
                  <a:txBody>
                    <a:bodyPr wrap="square"/>
                    <a:lstStyle/>
                    <a:p>
                      <a:r>
                        <a:rPr sz="1600" b="0">
                          <a:solidFill>
                            <a:srgbClr val="1F2A44"/>
                          </a:solidFill>
                          <a:latin typeface="Arial"/>
                          <a:ea typeface="Microsoft YaHei"/>
                        </a:rPr>
                        <a:t>Does that include…? / Sorry, did you say fifteen or fifty?</a:t>
                      </a:r>
                    </a:p>
                  </a:txBody>
                  <a:tcPr anchor="ctr">
                    <a:solidFill>
                      <a:srgbClr val="FFFFFF"/>
                    </a:solidFill>
                  </a:tcPr>
                </a:tc>
              </a:tr>
              <a:tr h="652272">
                <a:tc>
                  <a:txBody>
                    <a:bodyPr wrap="square"/>
                    <a:lstStyle/>
                    <a:p>
                      <a:r>
                        <a:rPr sz="1600" b="1">
                          <a:solidFill>
                            <a:srgbClr val="1F2A44"/>
                          </a:solidFill>
                          <a:latin typeface="Arial"/>
                          <a:ea typeface="Microsoft YaHei"/>
                        </a:rPr>
                        <a:t>Check</a:t>
                      </a:r>
                    </a:p>
                  </a:txBody>
                  <a:tcPr anchor="ctr">
                    <a:solidFill>
                      <a:srgbClr val="FFEFD9"/>
                    </a:solidFill>
                  </a:tcPr>
                </a:tc>
                <a:tc>
                  <a:txBody>
                    <a:bodyPr wrap="square"/>
                    <a:lstStyle/>
                    <a:p>
                      <a:r>
                        <a:rPr sz="1600" b="0">
                          <a:solidFill>
                            <a:srgbClr val="1F2A44"/>
                          </a:solidFill>
                          <a:latin typeface="Arial"/>
                          <a:ea typeface="Microsoft YaHei"/>
                        </a:rPr>
                        <a:t>Let me check that I’ve got that right. So that’s… , is that correct?</a:t>
                      </a:r>
                    </a:p>
                  </a:txBody>
                  <a:tcPr anchor="ctr">
                    <a:solidFill>
                      <a:srgbClr val="FFEFD9"/>
                    </a:solidFill>
                  </a:tcPr>
                </a:tc>
              </a:tr>
              <a:tr h="408432">
                <a:tc>
                  <a:txBody>
                    <a:bodyPr wrap="square"/>
                    <a:lstStyle/>
                    <a:p>
                      <a:r>
                        <a:rPr sz="1600" b="1">
                          <a:solidFill>
                            <a:srgbClr val="1F2A44"/>
                          </a:solidFill>
                          <a:latin typeface="Arial"/>
                          <a:ea typeface="Microsoft YaHei"/>
                        </a:rPr>
                        <a:t>Request</a:t>
                      </a:r>
                    </a:p>
                  </a:txBody>
                  <a:tcPr anchor="ctr">
                    <a:solidFill>
                      <a:srgbClr val="FFFFFF"/>
                    </a:solidFill>
                  </a:tcPr>
                </a:tc>
                <a:tc>
                  <a:txBody>
                    <a:bodyPr wrap="square"/>
                    <a:lstStyle/>
                    <a:p>
                      <a:r>
                        <a:rPr sz="1600" b="0">
                          <a:solidFill>
                            <a:srgbClr val="1F2A44"/>
                          </a:solidFill>
                          <a:latin typeface="Arial"/>
                          <a:ea typeface="Microsoft YaHei"/>
                        </a:rPr>
                        <a:t>Could you send me the details by email?</a:t>
                      </a:r>
                    </a:p>
                  </a:txBody>
                  <a:tcPr anchor="ctr">
                    <a:solidFill>
                      <a:srgbClr val="FFFFFF"/>
                    </a:solidFill>
                  </a:tcPr>
                </a:tc>
              </a:tr>
              <a:tr h="408432">
                <a:tc>
                  <a:txBody>
                    <a:bodyPr wrap="square"/>
                    <a:lstStyle/>
                    <a:p>
                      <a:r>
                        <a:rPr sz="1600" b="1">
                          <a:solidFill>
                            <a:srgbClr val="1F2A44"/>
                          </a:solidFill>
                          <a:latin typeface="Arial"/>
                          <a:ea typeface="Microsoft YaHei"/>
                        </a:rPr>
                        <a:t>Close</a:t>
                      </a:r>
                    </a:p>
                  </a:txBody>
                  <a:tcPr anchor="ctr">
                    <a:solidFill>
                      <a:srgbClr val="FFEFD9"/>
                    </a:solidFill>
                  </a:tcPr>
                </a:tc>
                <a:tc>
                  <a:txBody>
                    <a:bodyPr wrap="square"/>
                    <a:lstStyle/>
                    <a:p>
                      <a:r>
                        <a:rPr sz="1600" b="0">
                          <a:solidFill>
                            <a:srgbClr val="1F2A44"/>
                          </a:solidFill>
                          <a:latin typeface="Arial"/>
                          <a:ea typeface="Microsoft YaHei"/>
                        </a:rPr>
                        <a:t>That’s very helpful. Thank you for your time.</a:t>
                      </a:r>
                    </a:p>
                  </a:txBody>
                  <a:tcPr anchor="ctr">
                    <a:solidFill>
                      <a:srgbClr val="FFEFD9"/>
                    </a:solidFill>
                  </a:tcPr>
                </a:tc>
              </a:tr>
            </a:tbl>
          </a:graphicData>
        </a:graphic>
      </p:graphicFrame>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Direct vs indirect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直接问句与间接问句</a:t>
            </a:r>
          </a:p>
        </p:txBody>
      </p:sp>
      <p:graphicFrame>
        <p:nvGraphicFramePr>
          <p:cNvPr id="9" name="Table 8"/>
          <p:cNvGraphicFramePr>
            <a:graphicFrameLocks noGrp="1"/>
          </p:cNvGraphicFramePr>
          <p:nvPr/>
        </p:nvGraphicFramePr>
        <p:xfrm>
          <a:off x="548640" y="1417320"/>
          <a:ext cx="11094415" cy="245059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a:t>
                      </a:r>
                    </a:p>
                  </a:txBody>
                  <a:tcPr anchor="ctr">
                    <a:solidFill>
                      <a:srgbClr val="3CC49A"/>
                    </a:solidFill>
                  </a:tcPr>
                </a:tc>
                <a:tc>
                  <a:txBody>
                    <a:bodyPr wrap="square"/>
                    <a:lstStyle/>
                    <a:p>
                      <a:r>
                        <a:rPr sz="1600" b="1">
                          <a:solidFill>
                            <a:srgbClr val="FFFFFF"/>
                          </a:solidFill>
                          <a:latin typeface="Arial"/>
                          <a:ea typeface="Microsoft YaHei"/>
                        </a:rPr>
                        <a:t>Indirect (more polite)</a:t>
                      </a:r>
                    </a:p>
                  </a:txBody>
                  <a:tcPr anchor="ctr">
                    <a:solidFill>
                      <a:srgbClr val="3CC49A"/>
                    </a:solidFill>
                  </a:tcPr>
                </a:tc>
              </a:tr>
              <a:tr h="408432">
                <a:tc>
                  <a:txBody>
                    <a:bodyPr wrap="square"/>
                    <a:lstStyle/>
                    <a:p>
                      <a:r>
                        <a:rPr sz="1600" b="1">
                          <a:solidFill>
                            <a:srgbClr val="1F2A44"/>
                          </a:solidFill>
                          <a:latin typeface="Arial"/>
                          <a:ea typeface="Microsoft YaHei"/>
                        </a:rPr>
                        <a:t>What time does it open?</a:t>
                      </a:r>
                    </a:p>
                  </a:txBody>
                  <a:tcPr anchor="ctr">
                    <a:solidFill>
                      <a:srgbClr val="FFFFFF"/>
                    </a:solidFill>
                  </a:tcPr>
                </a:tc>
                <a:tc>
                  <a:txBody>
                    <a:bodyPr wrap="square"/>
                    <a:lstStyle/>
                    <a:p>
                      <a:r>
                        <a:rPr sz="1600" b="0">
                          <a:solidFill>
                            <a:srgbClr val="1F2A44"/>
                          </a:solidFill>
                          <a:latin typeface="Arial"/>
                          <a:ea typeface="Microsoft YaHei"/>
                        </a:rPr>
                        <a:t>Could you tell me what time it opens?</a:t>
                      </a:r>
                    </a:p>
                  </a:txBody>
                  <a:tcPr anchor="ctr">
                    <a:solidFill>
                      <a:srgbClr val="FFFFFF"/>
                    </a:solidFill>
                  </a:tcPr>
                </a:tc>
              </a:tr>
              <a:tr h="408432">
                <a:tc>
                  <a:txBody>
                    <a:bodyPr wrap="square"/>
                    <a:lstStyle/>
                    <a:p>
                      <a:r>
                        <a:rPr sz="1600" b="1">
                          <a:solidFill>
                            <a:srgbClr val="1F2A44"/>
                          </a:solidFill>
                          <a:latin typeface="Arial"/>
                          <a:ea typeface="Microsoft YaHei"/>
                        </a:rPr>
                        <a:t>Where is the station?</a:t>
                      </a:r>
                    </a:p>
                  </a:txBody>
                  <a:tcPr anchor="ctr">
                    <a:solidFill>
                      <a:srgbClr val="FFEFD9"/>
                    </a:solidFill>
                  </a:tcPr>
                </a:tc>
                <a:tc>
                  <a:txBody>
                    <a:bodyPr wrap="square"/>
                    <a:lstStyle/>
                    <a:p>
                      <a:r>
                        <a:rPr sz="1600" b="0">
                          <a:solidFill>
                            <a:srgbClr val="1F2A44"/>
                          </a:solidFill>
                          <a:latin typeface="Arial"/>
                          <a:ea typeface="Microsoft YaHei"/>
                        </a:rPr>
                        <a:t>Do you know where the station is?</a:t>
                      </a:r>
                    </a:p>
                  </a:txBody>
                  <a:tcPr anchor="ctr">
                    <a:solidFill>
                      <a:srgbClr val="FFEFD9"/>
                    </a:solidFill>
                  </a:tcPr>
                </a:tc>
              </a:tr>
              <a:tr h="408432">
                <a:tc>
                  <a:txBody>
                    <a:bodyPr wrap="square"/>
                    <a:lstStyle/>
                    <a:p>
                      <a:r>
                        <a:rPr sz="1600" b="1">
                          <a:solidFill>
                            <a:srgbClr val="1F2A44"/>
                          </a:solidFill>
                          <a:latin typeface="Arial"/>
                          <a:ea typeface="Microsoft YaHei"/>
                        </a:rPr>
                        <a:t>How much does it cost?</a:t>
                      </a:r>
                    </a:p>
                  </a:txBody>
                  <a:tcPr anchor="ctr">
                    <a:solidFill>
                      <a:srgbClr val="FFFFFF"/>
                    </a:solidFill>
                  </a:tcPr>
                </a:tc>
                <a:tc>
                  <a:txBody>
                    <a:bodyPr wrap="square"/>
                    <a:lstStyle/>
                    <a:p>
                      <a:r>
                        <a:rPr sz="1600" b="0">
                          <a:solidFill>
                            <a:srgbClr val="1F2A44"/>
                          </a:solidFill>
                          <a:latin typeface="Arial"/>
                          <a:ea typeface="Microsoft YaHei"/>
                        </a:rPr>
                        <a:t>I was wondering how much it costs.</a:t>
                      </a:r>
                    </a:p>
                  </a:txBody>
                  <a:tcPr anchor="ctr">
                    <a:solidFill>
                      <a:srgbClr val="FFFFFF"/>
                    </a:solidFill>
                  </a:tcPr>
                </a:tc>
              </a:tr>
              <a:tr h="408432">
                <a:tc>
                  <a:txBody>
                    <a:bodyPr wrap="square"/>
                    <a:lstStyle/>
                    <a:p>
                      <a:r>
                        <a:rPr sz="1600" b="1">
                          <a:solidFill>
                            <a:srgbClr val="1F2A44"/>
                          </a:solidFill>
                          <a:latin typeface="Arial"/>
                          <a:ea typeface="Microsoft YaHei"/>
                        </a:rPr>
                        <a:t>Is there a discount?</a:t>
                      </a:r>
                    </a:p>
                  </a:txBody>
                  <a:tcPr anchor="ctr">
                    <a:solidFill>
                      <a:srgbClr val="FFEFD9"/>
                    </a:solidFill>
                  </a:tcPr>
                </a:tc>
                <a:tc>
                  <a:txBody>
                    <a:bodyPr wrap="square"/>
                    <a:lstStyle/>
                    <a:p>
                      <a:r>
                        <a:rPr sz="1600" b="0">
                          <a:solidFill>
                            <a:srgbClr val="1F2A44"/>
                          </a:solidFill>
                          <a:latin typeface="Arial"/>
                          <a:ea typeface="Microsoft YaHei"/>
                        </a:rPr>
                        <a:t>Could you tell me if there is a discount?</a:t>
                      </a:r>
                    </a:p>
                  </a:txBody>
                  <a:tcPr anchor="ctr">
                    <a:solidFill>
                      <a:srgbClr val="FFEFD9"/>
                    </a:solidFill>
                  </a:tcPr>
                </a:tc>
              </a:tr>
              <a:tr h="408432">
                <a:tc>
                  <a:txBody>
                    <a:bodyPr wrap="square"/>
                    <a:lstStyle/>
                    <a:p>
                      <a:r>
                        <a:rPr sz="1600" b="1">
                          <a:solidFill>
                            <a:srgbClr val="1F2A44"/>
                          </a:solidFill>
                          <a:latin typeface="Arial"/>
                          <a:ea typeface="Microsoft YaHei"/>
                        </a:rPr>
                        <a:t>Do you accept cards?</a:t>
                      </a:r>
                    </a:p>
                  </a:txBody>
                  <a:tcPr anchor="ctr">
                    <a:solidFill>
                      <a:srgbClr val="FFFFFF"/>
                    </a:solidFill>
                  </a:tcPr>
                </a:tc>
                <a:tc>
                  <a:txBody>
                    <a:bodyPr wrap="square"/>
                    <a:lstStyle/>
                    <a:p>
                      <a:r>
                        <a:rPr sz="1600" b="0">
                          <a:solidFill>
                            <a:srgbClr val="1F2A44"/>
                          </a:solidFill>
                          <a:latin typeface="Arial"/>
                          <a:ea typeface="Microsoft YaHei"/>
                        </a:rPr>
                        <a:t>Do you happen to know whether you accept cards?</a:t>
                      </a:r>
                    </a:p>
                  </a:txBody>
                  <a:tcPr anchor="ctr">
                    <a:solidFill>
                      <a:srgbClr val="FFFFFF"/>
                    </a:solidFill>
                  </a:tcPr>
                </a:tc>
              </a:tr>
            </a:tbl>
          </a:graphicData>
        </a:graphic>
      </p:graphicFrame>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Direct vs indirect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直接问句与间接问句</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Word order: </a:t>
            </a:r>
            <a:r>
              <a:rPr sz="1700" b="0">
                <a:solidFill>
                  <a:srgbClr val="1F2A44"/>
                </a:solidFill>
                <a:latin typeface="Arial"/>
                <a:ea typeface="Microsoft YaHei"/>
              </a:rPr>
              <a:t>After “Could you tell me…”, use statement order (subject + verb): “…what time it opens”. No do / does / did.</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Yes/no questions use if or whether: </a:t>
            </a:r>
            <a:r>
              <a:rPr sz="1700" b="0">
                <a:solidFill>
                  <a:srgbClr val="1F2A44"/>
                </a:solidFill>
                <a:latin typeface="Arial"/>
                <a:ea typeface="Microsoft YaHei"/>
              </a:rPr>
              <a:t>“Could you tell me if parking is included?”</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0">
                <a:solidFill>
                  <a:srgbClr val="1F2A44"/>
                </a:solidFill>
                <a:latin typeface="Arial"/>
                <a:ea typeface="Microsoft YaHei"/>
              </a:rPr>
              <a:t>“I was wondering if you could tell me…” is a very polite request, even though it is not a question. The past tense (was wondering) makes it softer.</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Could you tell me what time does it open?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tell me what time it opens?</a:t>
            </a:r>
          </a:p>
          <a:p>
            <a:pPr algn="l">
              <a:spcAft>
                <a:spcPts val="200"/>
              </a:spcAft>
            </a:pPr>
            <a:r>
              <a:rPr sz="1200" b="0">
                <a:solidFill>
                  <a:srgbClr val="FFFFFF"/>
                </a:solidFill>
                <a:latin typeface="Arial"/>
                <a:ea typeface="Microsoft YaHei"/>
              </a:rPr>
              <a:t>间接问句用陈述语序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 you know where is the station?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 you know where the station is?</a:t>
            </a:r>
          </a:p>
          <a:p>
            <a:pPr algn="l">
              <a:spcAft>
                <a:spcPts val="200"/>
              </a:spcAft>
            </a:pPr>
            <a:r>
              <a:rPr sz="1200" b="0">
                <a:solidFill>
                  <a:srgbClr val="FFFFFF"/>
                </a:solidFill>
                <a:latin typeface="Arial"/>
                <a:ea typeface="Microsoft YaHei"/>
              </a:rPr>
              <a:t>间接问句用陈述语序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Could you tell me do you accept cards?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tell me if you accept cards?</a:t>
            </a:r>
          </a:p>
          <a:p>
            <a:pPr algn="l">
              <a:spcAft>
                <a:spcPts val="200"/>
              </a:spcAft>
            </a:pPr>
            <a:r>
              <a:rPr sz="1200" b="0">
                <a:solidFill>
                  <a:srgbClr val="FFFFFF"/>
                </a:solidFill>
                <a:latin typeface="Arial"/>
                <a:ea typeface="Microsoft YaHei"/>
              </a:rPr>
              <a:t>yes/no 问句用 if / whether</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ask a question you.</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I ask you a question?</a:t>
            </a:r>
          </a:p>
          <a:p>
            <a:pPr algn="l">
              <a:spcAft>
                <a:spcPts val="200"/>
              </a:spcAft>
            </a:pPr>
            <a:r>
              <a:rPr sz="1200" b="0">
                <a:solidFill>
                  <a:srgbClr val="FFFFFF"/>
                </a:solidFill>
                <a:latin typeface="Arial"/>
                <a:ea typeface="Microsoft YaHei"/>
              </a:rPr>
              <a:t>ask sb a question</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Tell me the price.</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tell me the price, please?</a:t>
            </a:r>
          </a:p>
          <a:p>
            <a:pPr algn="l">
              <a:spcAft>
                <a:spcPts val="200"/>
              </a:spcAft>
            </a:pPr>
            <a:r>
              <a:rPr sz="1200" b="0">
                <a:solidFill>
                  <a:srgbClr val="FFFFFF"/>
                </a:solidFill>
                <a:latin typeface="Arial"/>
                <a:ea typeface="Microsoft YaHei"/>
              </a:rPr>
              <a:t>礼貌请求</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much it costs?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much does it cost?</a:t>
            </a:r>
          </a:p>
          <a:p>
            <a:pPr algn="l">
              <a:spcAft>
                <a:spcPts val="200"/>
              </a:spcAft>
            </a:pPr>
            <a:r>
              <a:rPr sz="1200" b="0">
                <a:solidFill>
                  <a:srgbClr val="FFFFFF"/>
                </a:solidFill>
                <a:latin typeface="Arial"/>
                <a:ea typeface="Microsoft YaHei"/>
              </a:rPr>
              <a:t>直接问句要倒装</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know the price.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know the price. / I was wondering about the price.</a:t>
            </a:r>
          </a:p>
          <a:p>
            <a:pPr algn="l">
              <a:spcAft>
                <a:spcPts val="200"/>
              </a:spcAft>
            </a:pPr>
            <a:r>
              <a:rPr sz="1200" b="0">
                <a:solidFill>
                  <a:srgbClr val="FFFFFF"/>
                </a:solidFill>
                <a:latin typeface="Arial"/>
                <a:ea typeface="Microsoft YaHei"/>
              </a:rPr>
              <a:t>want 太直接</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Say me the price again.</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repeat the price? / Could you say that again?</a:t>
            </a:r>
          </a:p>
          <a:p>
            <a:pPr algn="l">
              <a:spcAft>
                <a:spcPts val="200"/>
              </a:spcAft>
            </a:pPr>
            <a:r>
              <a:rPr sz="1200" b="0">
                <a:solidFill>
                  <a:srgbClr val="FFFFFF"/>
                </a:solidFill>
                <a:latin typeface="Arial"/>
                <a:ea typeface="Microsoft YaHei"/>
              </a:rPr>
              <a:t>say 后不接人</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Does include the price lunch?</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Does the price include lunch?</a:t>
            </a:r>
          </a:p>
          <a:p>
            <a:pPr algn="l">
              <a:spcAft>
                <a:spcPts val="200"/>
              </a:spcAft>
            </a:pPr>
            <a:r>
              <a:rPr sz="1200" b="0">
                <a:solidFill>
                  <a:srgbClr val="FFFFFF"/>
                </a:solidFill>
                <a:latin typeface="Arial"/>
                <a:ea typeface="Microsoft YaHei"/>
              </a:rPr>
              <a:t>语序</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informations / infomation</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information</a:t>
            </a:r>
          </a:p>
          <a:p>
            <a:pPr algn="l">
              <a:spcAft>
                <a:spcPts val="200"/>
              </a:spcAft>
            </a:pPr>
            <a:r>
              <a:rPr sz="1200" b="0">
                <a:solidFill>
                  <a:srgbClr val="FFFFFF"/>
                </a:solidFill>
                <a:latin typeface="Arial"/>
                <a:ea typeface="Microsoft YaHei"/>
              </a:rPr>
              <a:t>information 不可数,拼写 -mation</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Information is uncountable: some information, a piece of information (not “informations”). Indirect questions keep statement order.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Please and thank you are not optional. Even short, simple phone calls start with “Hello” and end with “Thank you”.</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Be ready to wait. In many English-speaking countries, you may be asked to hold. It’s normal and polite to say, “No problem, I’ll hold.”</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Don’t hang up when the answer is “no”. Ask: </a:t>
            </a:r>
            <a:r>
              <a:rPr sz="1700" b="0">
                <a:solidFill>
                  <a:srgbClr val="1F2A44"/>
                </a:solidFill>
                <a:latin typeface="Arial"/>
                <a:ea typeface="Microsoft YaHei"/>
              </a:rPr>
              <a:t>“Is there anything else you’d recommend?” Often the person helps with another option.</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Be specific about dates and numbers. Say “30 people on Thursday, 12 November” rather than “a group next month”.</a:t>
            </a:r>
          </a:p>
        </p:txBody>
      </p:sp>
      <p:sp>
        <p:nvSpPr>
          <p:cNvPr id="21" name="Rounded Rectangle 20"/>
          <p:cNvSpPr/>
          <p:nvPr/>
        </p:nvSpPr>
        <p:spPr>
          <a:xfrm>
            <a:off x="548640" y="458723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441959"/>
          </a:xfrm>
          <a:prstGeom prst="rect">
            <a:avLst/>
          </a:prstGeom>
          <a:noFill/>
        </p:spPr>
        <p:txBody>
          <a:bodyPr wrap="square" anchor="ctr">
            <a:spAutoFit/>
          </a:bodyPr>
          <a:lstStyle/>
          <a:p>
            <a:r>
              <a:rPr sz="1700" b="0">
                <a:solidFill>
                  <a:srgbClr val="1F2A44"/>
                </a:solidFill>
                <a:latin typeface="Arial"/>
                <a:ea typeface="Microsoft YaHei"/>
              </a:rPr>
              <a:t>Get it in writing. Ask for an email confirmation when money or dates are involved.</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open a request for information (I’d like some information about…).</a:t>
            </a:r>
          </a:p>
        </p:txBody>
      </p:sp>
      <p:sp>
        <p:nvSpPr>
          <p:cNvPr id="12" name="TextBox 11"/>
          <p:cNvSpPr txBox="1"/>
          <p:nvPr/>
        </p:nvSpPr>
        <p:spPr>
          <a:xfrm>
            <a:off x="9539935" y="1508760"/>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80488"/>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80488"/>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80488"/>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ask direct and indirect questions with the correct word order (Could you tell me what time it opens?).</a:t>
            </a:r>
          </a:p>
        </p:txBody>
      </p:sp>
      <p:sp>
        <p:nvSpPr>
          <p:cNvPr id="16" name="TextBox 15"/>
          <p:cNvSpPr txBox="1"/>
          <p:nvPr/>
        </p:nvSpPr>
        <p:spPr>
          <a:xfrm>
            <a:off x="9539935" y="2380488"/>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252216"/>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52216"/>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252216"/>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ask follow-up questions (price, what’s included, discount).</a:t>
            </a:r>
          </a:p>
        </p:txBody>
      </p:sp>
      <p:sp>
        <p:nvSpPr>
          <p:cNvPr id="20" name="TextBox 19"/>
          <p:cNvSpPr txBox="1"/>
          <p:nvPr/>
        </p:nvSpPr>
        <p:spPr>
          <a:xfrm>
            <a:off x="9539935" y="3252216"/>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834384"/>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34384"/>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834384"/>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check what I heard (Let me check that I’ve got that right) and ask for an email.</a:t>
            </a:r>
          </a:p>
        </p:txBody>
      </p:sp>
      <p:sp>
        <p:nvSpPr>
          <p:cNvPr id="24" name="TextBox 23"/>
          <p:cNvSpPr txBox="1"/>
          <p:nvPr/>
        </p:nvSpPr>
        <p:spPr>
          <a:xfrm>
            <a:off x="9539935" y="3834384"/>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706112"/>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706112"/>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706112"/>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information (uncountable), if / whether, and statement order in indirect questions.</a:t>
            </a:r>
          </a:p>
        </p:txBody>
      </p:sp>
      <p:sp>
        <p:nvSpPr>
          <p:cNvPr id="28" name="TextBox 27"/>
          <p:cNvSpPr txBox="1"/>
          <p:nvPr/>
        </p:nvSpPr>
        <p:spPr>
          <a:xfrm>
            <a:off x="9539935" y="4706112"/>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24 Asking for information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indirect question word order, information (uncountable), if / whether, and polite requests.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6 · Lesson 25 Making a reservation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Making a reservation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预订</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book a hotel room, a restaurant table and travel services by phone: give dates, numbers and names, state special requests, confirm, change or cancel a booking.</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business bookings do you or your office make most often?</a:t>
            </a:r>
          </a:p>
        </p:txBody>
      </p:sp>
      <p:sp>
        <p:nvSpPr>
          <p:cNvPr id="12" name="Oval 11"/>
          <p:cNvSpPr/>
          <p:nvPr/>
        </p:nvSpPr>
        <p:spPr>
          <a:xfrm>
            <a:off x="548640" y="242620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information do you need to give when you book a hotel room or a table?</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prefer to book by phone or online? Why?</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booking problem you had (hotel, flight, restaurant). What happened?</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say when you want to change or cancel a booking?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题讲过去的事,请用过去式(booked, was, had)。第 2 题可以说 “I need to give…”。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Book a hotel room for a visitor and a restaurant table for a business dinner.</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introduce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 want to book</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dates and numbers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special requests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confirmation and thanks</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book…   💬 It’s for two nights, from… to…   💬 Could I also request…?</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订房/订位要说清楚 5 个信息:when / how many / how long / name / special requests。日期用 from…to…,住几晚用 for two nights。</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Booking a hotel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订酒店</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book a room. / reserve a room</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我想订一间房</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book a double room for two nights.”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 you have any vacancies / rooms available?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请问有空房吗?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 have any rooms available from 12 to 14 November?”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single room / double room / twin room</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单人房 / 大床房 / 双床房</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“Two twin rooms, please.”</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Is breakfast included in the rate?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房价含早餐吗?</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breakfast included in the rate?”</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check-in / check-out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入住 / 退房</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time is check-out?”</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Booking a table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订餐厅</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reserve a table for four.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我想订一张四人桌</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reserve a table for four at 7:30 on Friday.”</a:t>
            </a:r>
          </a:p>
        </p:txBody>
      </p:sp>
      <p:sp>
        <p:nvSpPr>
          <p:cNvPr id="14" name="Rounded Rectangle 13"/>
          <p:cNvSpPr/>
          <p:nvPr/>
        </p:nvSpPr>
        <p:spPr>
          <a:xfrm>
            <a:off x="548640" y="24257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we have a quiet table, away from the kitchen?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能给我们安排一个安静的位置吗(远离厨房)?</a:t>
            </a:r>
          </a:p>
        </p:txBody>
      </p:sp>
      <p:sp>
        <p:nvSpPr>
          <p:cNvPr id="18" name="TextBox 17"/>
          <p:cNvSpPr txBox="1"/>
          <p:nvPr/>
        </p:nvSpPr>
        <p:spPr>
          <a:xfrm>
            <a:off x="6675120" y="24714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we have a quiet table, away from the kitchen?”</a:t>
            </a:r>
          </a:p>
        </p:txBody>
      </p:sp>
      <p:sp>
        <p:nvSpPr>
          <p:cNvPr id="19" name="Rounded Rectangle 18"/>
          <p:cNvSpPr/>
          <p:nvPr/>
        </p:nvSpPr>
        <p:spPr>
          <a:xfrm>
            <a:off x="548640" y="37388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388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7846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dietary requirements</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37846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饮食要求</a:t>
            </a:r>
          </a:p>
        </p:txBody>
      </p:sp>
      <p:sp>
        <p:nvSpPr>
          <p:cNvPr id="23" name="TextBox 22"/>
          <p:cNvSpPr txBox="1"/>
          <p:nvPr/>
        </p:nvSpPr>
        <p:spPr>
          <a:xfrm>
            <a:off x="6675120" y="37846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“One guest is vegetarian and one has a nut allergy.”</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Booking a table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订餐厅</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Is there a private room we can use?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有包间可以用吗?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 private room we can use?”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booking is under the name of…</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预订用的是……的名字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booking is under the name of Li Wei.”</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3: Confirming, changing, cancelling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确认、更改、取消</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I have a confirmation number?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请问有预订确认号吗?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I have a confirmation number, please?”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change my reservation.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我想更改预订</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change my reservation from Friday to Saturday.”</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I have to cancel.</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恐怕我得取消</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I have to cancel my reservation for tonight.”</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Chunk 3: Confirming, changing, cancelling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确认、更改、取消</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Is there a cancellation fee / deposit?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取消要收费/需要订金吗?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 cancellation fee?”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put me on the waiting list?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能把我放在候补名单上吗?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you’re fully booked, could you put me on the waiting list?”</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我想更改预订</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I’d like to change my reservation.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我想订一间房</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I’d like to book a room. / reserve a room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预订用的是……的名字</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booking is under the name of…</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请问有预订确认号吗?</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Could I have a confirmation number?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饮食要求</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dietary requirements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恐怕我得取消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afraid I have to cancel.</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房价含早餐吗?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Is breakfast included in the rate?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能把我放在候补名单上吗?</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Could you put me on the waiting list?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change</a:t>
            </a:r>
          </a:p>
        </p:txBody>
      </p:sp>
      <p:sp>
        <p:nvSpPr>
          <p:cNvPr id="10" name="Rounded Rectangle 9"/>
          <p:cNvSpPr/>
          <p:nvPr/>
        </p:nvSpPr>
        <p:spPr>
          <a:xfrm>
            <a:off x="3127248"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included</a:t>
            </a:r>
          </a:p>
        </p:txBody>
      </p:sp>
      <p:sp>
        <p:nvSpPr>
          <p:cNvPr id="11" name="Rounded Rectangle 10"/>
          <p:cNvSpPr/>
          <p:nvPr/>
        </p:nvSpPr>
        <p:spPr>
          <a:xfrm>
            <a:off x="4462272" y="987552"/>
            <a:ext cx="1682495"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cancellation</a:t>
            </a:r>
          </a:p>
        </p:txBody>
      </p:sp>
      <p:sp>
        <p:nvSpPr>
          <p:cNvPr id="12" name="Rounded Rectangle 11"/>
          <p:cNvSpPr/>
          <p:nvPr/>
        </p:nvSpPr>
        <p:spPr>
          <a:xfrm>
            <a:off x="6236207"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available</a:t>
            </a:r>
          </a:p>
        </p:txBody>
      </p:sp>
      <p:sp>
        <p:nvSpPr>
          <p:cNvPr id="13" name="Rounded Rectangle 12"/>
          <p:cNvSpPr/>
          <p:nvPr/>
        </p:nvSpPr>
        <p:spPr>
          <a:xfrm>
            <a:off x="7680959"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book</a:t>
            </a:r>
          </a:p>
        </p:txBody>
      </p:sp>
      <p:sp>
        <p:nvSpPr>
          <p:cNvPr id="14" name="Rounded Rectangle 13"/>
          <p:cNvSpPr/>
          <p:nvPr/>
        </p:nvSpPr>
        <p:spPr>
          <a:xfrm>
            <a:off x="8577071"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under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I’d like to _______ a double room for two nights.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Do you have any rooms _______ from 12 to 14 November?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available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Is breakfast _______ in the rate?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included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booking is _______ the name of Li Wei.</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under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I’d like to _______ my reservation from Friday to Saturday.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change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Is there a _______ fee?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cancellation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介词与拼写): reservation (not “reservision”), accommodation (double c, double m), vegetarian. “book a room for two nights from the 12th to the 14th” and “a table for four at seven on Friday”.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Booking a hotel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订酒店</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hotel to book rooms for two visitors.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assistant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Emma Zhou, hotel receptionist</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Booking a hotel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I’d like to book two single rooms for two nights, please.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Emma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What are the dates?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From Thursday, 12 November, to Saturday, 14 November. That’s two nights.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check. Yes, we have two single rooms available. They are 680 yuan per night.</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breakfast included in the rate?</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Booking a hotel room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 is. Breakfast is served from 6.30 to 10.</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And could we have rooms on a high floor, away from the lift?</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note that, but I can’t guarantee it. Could I have the guests’ names?</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Mr James Reed and Ms Karen Ortiz.</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a contact number, please?</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Booking a hotel room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139 0000 1234. The booking is under the name of Li Wei, Orion Foods.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Ms Li. Your confirmation number is 4471. We’ll send you an email.</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What time is check-in?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From 3 p.m. Check-out is at noon.</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Booking a hotel room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book hotel rooms for your visitors.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Booker. Names, dates, room types: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Hotel receptionist. Checks availability, price and details.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book… · from … to … · Is breakfast included? · The booking is under the name of… · confirmation number</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Book, give names, ask about breakfast, get a confirmation number. About 2 minutes.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hotel is fully booked. Say: “Is there another hotel nearby you could recommend?”</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special requests: “Could we have a quiet room with a desk?”</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Change the booking: “I’d like to extend by one night.”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Reserving a restaurant table for a business dinner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订商务晚宴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restaurant to reserve a table for six for a client dinner.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Jack Wu, restaurant host</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Reserving a restaurant table for a business dinner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I’d like to reserve a table for six, for tomorrow evening.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Jack</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What time would you like?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Seven thirty, please.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we’re fully booked at seven thirty. I could offer you a table at eight.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Eight would be fine. Could we have a quiet table? It’s a business dinner, and we’d like to talk.</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We have a table in the corner. Are there any dietary requirements?</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Reserving a restaurant table for a business dinner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guest is vegetarian, and another can’t eat shellfish.</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May I have the name for the booking?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 L-I. And my number is 139 0000 1234.</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Ms Li. That’s a table for six at eight tomorrow, under the name of Li. We’ll hold the table for 15 minutes.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If one of us is delayed, I’ll call you.</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fine. We look forward to seeing you.</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Reserving a restaurant table for a business dinner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reserve a restaurant table for a business meal.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Booker. How many people and which day?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Restaurant host. Offers a different time.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reserve a table for… · Could we have a quiet table? · dietary requirements · under the name of… · I’m afraid we’re fully booked.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Reserve, accept an alternative time, state requests, repeat the booking.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 private room: “Is there a private room we could use? We’d like to give a short presentation.”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Cancel: “I’m afraid I have to cancel tomorrow’s booking. Is there a cancellation fee?”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Tell them you are 15 minutes late: “I’m sorry, we’re running a little late. Could you hold the 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important details when you book a hotel or restaurant for a client?</a:t>
            </a:r>
          </a:p>
          <a:p>
            <a:pPr algn="l">
              <a:lnSpc>
                <a:spcPct val="115000"/>
              </a:lnSpc>
              <a:spcAft>
                <a:spcPts val="800"/>
              </a:spcAft>
            </a:pPr>
            <a:r>
              <a:rPr sz="1400" b="0">
                <a:solidFill>
                  <a:srgbClr val="5F677A"/>
                </a:solidFill>
                <a:latin typeface="Arial"/>
                <a:ea typeface="Microsoft YaHei"/>
              </a:rPr>
              <a:t>💬 “The most important details are…” / “I always check… and I confirm…”</a:t>
            </a:r>
          </a:p>
        </p:txBody>
      </p:sp>
      <p:sp>
        <p:nvSpPr>
          <p:cNvPr id="12" name="Oval 11"/>
          <p:cNvSpPr/>
          <p:nvPr/>
        </p:nvSpPr>
        <p:spPr>
          <a:xfrm>
            <a:off x="548640" y="262128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755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12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to book online or by phone? Why?</a:t>
            </a:r>
          </a:p>
          <a:p>
            <a:pPr algn="l">
              <a:lnSpc>
                <a:spcPct val="115000"/>
              </a:lnSpc>
              <a:spcAft>
                <a:spcPts val="800"/>
              </a:spcAft>
            </a:pPr>
            <a:r>
              <a:rPr sz="1400" b="0">
                <a:solidFill>
                  <a:srgbClr val="5F677A"/>
                </a:solidFill>
                <a:latin typeface="Arial"/>
                <a:ea typeface="Microsoft YaHei"/>
              </a:rPr>
              <a:t>💬 “I prefer to book online because…” / “By phone, I can ask for special requests.”</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if the booking is wrong when you arrive?</a:t>
            </a:r>
          </a:p>
          <a:p>
            <a:pPr algn="l">
              <a:lnSpc>
                <a:spcPct val="115000"/>
              </a:lnSpc>
              <a:spcAft>
                <a:spcPts val="800"/>
              </a:spcAft>
            </a:pPr>
            <a:r>
              <a:rPr sz="1400" b="0">
                <a:solidFill>
                  <a:srgbClr val="5F677A"/>
                </a:solidFill>
                <a:latin typeface="Arial"/>
                <a:ea typeface="Microsoft YaHei"/>
              </a:rPr>
              <a:t>💬 “I stay calm and show the confirmation.” / “I ask to speak to the manager.”</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choose a restaurant for a business dinner?</a:t>
            </a:r>
          </a:p>
          <a:p>
            <a:pPr algn="l">
              <a:lnSpc>
                <a:spcPct val="115000"/>
              </a:lnSpc>
              <a:spcAft>
                <a:spcPts val="800"/>
              </a:spcAft>
            </a:pPr>
            <a:r>
              <a:rPr sz="1400" b="0">
                <a:solidFill>
                  <a:srgbClr val="5F677A"/>
                </a:solidFill>
                <a:latin typeface="Arial"/>
                <a:ea typeface="Microsoft YaHei"/>
              </a:rPr>
              <a:t>💬 “I look for somewhere quiet, with…” / “I think about the guests’ food preferences.”</a:t>
            </a:r>
          </a:p>
        </p:txBody>
      </p:sp>
      <p:sp>
        <p:nvSpPr>
          <p:cNvPr id="21" name="Oval 20"/>
          <p:cNvSpPr/>
          <p:nvPr/>
        </p:nvSpPr>
        <p:spPr>
          <a:xfrm>
            <a:off x="548640" y="495300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072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530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fair for hotels to charge for cancellations?</a:t>
            </a:r>
          </a:p>
          <a:p>
            <a:pPr algn="l">
              <a:lnSpc>
                <a:spcPct val="115000"/>
              </a:lnSpc>
              <a:spcAft>
                <a:spcPts val="800"/>
              </a:spcAft>
            </a:pPr>
            <a:r>
              <a:rPr sz="1400" b="0">
                <a:solidFill>
                  <a:srgbClr val="5F677A"/>
                </a:solidFill>
                <a:latin typeface="Arial"/>
                <a:ea typeface="Microsoft YaHei"/>
              </a:rPr>
              <a:t>💬 “I think it’s fair because…” / “It depends on how late you cancel.”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When I book for a client, I always check four things: the dates, the number of people, any special requests such as allergies, and the confirmation. I ask for a confirmation number or email, so that I can show it if there is a problem. I also tell the guests the hotel address and check-in time before they arrive. A little preparation avoids a lot of stress.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“so that I can show it…”(以便我可以出示……)表示目的。“A little preparation avoids a lot of stress.” 是简短有力的总结句。注意 “any special requests such as allergies”。</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Phone-language script: reservations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预订话术</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Open</a:t>
                      </a:r>
                    </a:p>
                  </a:txBody>
                  <a:tcPr anchor="ctr">
                    <a:solidFill>
                      <a:srgbClr val="FFFFFF"/>
                    </a:solidFill>
                  </a:tcPr>
                </a:tc>
                <a:tc>
                  <a:txBody>
                    <a:bodyPr wrap="square"/>
                    <a:lstStyle/>
                    <a:p>
                      <a:r>
                        <a:rPr sz="1600" b="0">
                          <a:solidFill>
                            <a:srgbClr val="1F2A44"/>
                          </a:solidFill>
                          <a:latin typeface="Arial"/>
                          <a:ea typeface="Microsoft YaHei"/>
                        </a:rPr>
                        <a:t>Good morning. I’d like to book / reserve…</a:t>
                      </a:r>
                    </a:p>
                  </a:txBody>
                  <a:tcPr anchor="ctr">
                    <a:solidFill>
                      <a:srgbClr val="FFFFFF"/>
                    </a:solidFill>
                  </a:tcPr>
                </a:tc>
              </a:tr>
              <a:tr h="652272">
                <a:tc>
                  <a:txBody>
                    <a:bodyPr wrap="square"/>
                    <a:lstStyle/>
                    <a:p>
                      <a:r>
                        <a:rPr sz="1600" b="1">
                          <a:solidFill>
                            <a:srgbClr val="1F2A44"/>
                          </a:solidFill>
                          <a:latin typeface="Arial"/>
                          <a:ea typeface="Microsoft YaHei"/>
                        </a:rPr>
                        <a:t>Dates</a:t>
                      </a:r>
                    </a:p>
                  </a:txBody>
                  <a:tcPr anchor="ctr">
                    <a:solidFill>
                      <a:srgbClr val="FFEFD9"/>
                    </a:solidFill>
                  </a:tcPr>
                </a:tc>
                <a:tc>
                  <a:txBody>
                    <a:bodyPr wrap="square"/>
                    <a:lstStyle/>
                    <a:p>
                      <a:r>
                        <a:rPr sz="1600" b="0">
                          <a:solidFill>
                            <a:srgbClr val="1F2A44"/>
                          </a:solidFill>
                          <a:latin typeface="Arial"/>
                          <a:ea typeface="Microsoft YaHei"/>
                        </a:rPr>
                        <a:t>From Thursday, 12 November, to Saturday, 14 November. That’s two nights.</a:t>
                      </a:r>
                    </a:p>
                  </a:txBody>
                  <a:tcPr anchor="ctr">
                    <a:solidFill>
                      <a:srgbClr val="FFEFD9"/>
                    </a:solidFill>
                  </a:tcPr>
                </a:tc>
              </a:tr>
              <a:tr h="652272">
                <a:tc>
                  <a:txBody>
                    <a:bodyPr wrap="square"/>
                    <a:lstStyle/>
                    <a:p>
                      <a:r>
                        <a:rPr sz="1600" b="1">
                          <a:solidFill>
                            <a:srgbClr val="1F2A44"/>
                          </a:solidFill>
                          <a:latin typeface="Arial"/>
                          <a:ea typeface="Microsoft YaHei"/>
                        </a:rPr>
                        <a:t>Numbers</a:t>
                      </a:r>
                    </a:p>
                  </a:txBody>
                  <a:tcPr anchor="ctr">
                    <a:solidFill>
                      <a:srgbClr val="FFFFFF"/>
                    </a:solidFill>
                  </a:tcPr>
                </a:tc>
                <a:tc>
                  <a:txBody>
                    <a:bodyPr wrap="square"/>
                    <a:lstStyle/>
                    <a:p>
                      <a:r>
                        <a:rPr sz="1600" b="0">
                          <a:solidFill>
                            <a:srgbClr val="1F2A44"/>
                          </a:solidFill>
                          <a:latin typeface="Arial"/>
                          <a:ea typeface="Microsoft YaHei"/>
                        </a:rPr>
                        <a:t>A table for six at eight o’clock. / Two single rooms.</a:t>
                      </a:r>
                    </a:p>
                  </a:txBody>
                  <a:tcPr anchor="ctr">
                    <a:solidFill>
                      <a:srgbClr val="FFFFFF"/>
                    </a:solidFill>
                  </a:tcPr>
                </a:tc>
              </a:tr>
              <a:tr h="652272">
                <a:tc>
                  <a:txBody>
                    <a:bodyPr wrap="square"/>
                    <a:lstStyle/>
                    <a:p>
                      <a:r>
                        <a:rPr sz="1600" b="1">
                          <a:solidFill>
                            <a:srgbClr val="1F2A44"/>
                          </a:solidFill>
                          <a:latin typeface="Arial"/>
                          <a:ea typeface="Microsoft YaHei"/>
                        </a:rPr>
                        <a:t>Availability</a:t>
                      </a:r>
                    </a:p>
                  </a:txBody>
                  <a:tcPr anchor="ctr">
                    <a:solidFill>
                      <a:srgbClr val="FFEFD9"/>
                    </a:solidFill>
                  </a:tcPr>
                </a:tc>
                <a:tc>
                  <a:txBody>
                    <a:bodyPr wrap="square"/>
                    <a:lstStyle/>
                    <a:p>
                      <a:r>
                        <a:rPr sz="1600" b="0">
                          <a:solidFill>
                            <a:srgbClr val="1F2A44"/>
                          </a:solidFill>
                          <a:latin typeface="Arial"/>
                          <a:ea typeface="Microsoft YaHei"/>
                        </a:rPr>
                        <a:t>Do you have any rooms available? / Is there a table free at eight?</a:t>
                      </a:r>
                    </a:p>
                  </a:txBody>
                  <a:tcPr anchor="ctr">
                    <a:solidFill>
                      <a:srgbClr val="FFEFD9"/>
                    </a:solidFill>
                  </a:tcPr>
                </a:tc>
              </a:tr>
              <a:tr h="652272">
                <a:tc>
                  <a:txBody>
                    <a:bodyPr wrap="square"/>
                    <a:lstStyle/>
                    <a:p>
                      <a:r>
                        <a:rPr sz="1600" b="1">
                          <a:solidFill>
                            <a:srgbClr val="1F2A44"/>
                          </a:solidFill>
                          <a:latin typeface="Arial"/>
                          <a:ea typeface="Microsoft YaHei"/>
                        </a:rPr>
                        <a:t>Price</a:t>
                      </a:r>
                    </a:p>
                  </a:txBody>
                  <a:tcPr anchor="ctr">
                    <a:solidFill>
                      <a:srgbClr val="FFFFFF"/>
                    </a:solidFill>
                  </a:tcPr>
                </a:tc>
                <a:tc>
                  <a:txBody>
                    <a:bodyPr wrap="square"/>
                    <a:lstStyle/>
                    <a:p>
                      <a:r>
                        <a:rPr sz="1600" b="0">
                          <a:solidFill>
                            <a:srgbClr val="1F2A44"/>
                          </a:solidFill>
                          <a:latin typeface="Arial"/>
                          <a:ea typeface="Microsoft YaHei"/>
                        </a:rPr>
                        <a:t>What’s the rate per night? / Is breakfast included in the rate? ★</a:t>
                      </a:r>
                    </a:p>
                  </a:txBody>
                  <a:tcPr anchor="ctr">
                    <a:solidFill>
                      <a:srgbClr val="FFFFFF"/>
                    </a:solidFill>
                  </a:tcPr>
                </a:tc>
              </a:tr>
            </a:tbl>
          </a:graphicData>
        </a:graphic>
      </p:graphicFrame>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Phone-language script: reservations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预订话术</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Requests</a:t>
                      </a:r>
                    </a:p>
                  </a:txBody>
                  <a:tcPr anchor="ctr">
                    <a:solidFill>
                      <a:srgbClr val="FFFFFF"/>
                    </a:solidFill>
                  </a:tcPr>
                </a:tc>
                <a:tc>
                  <a:txBody>
                    <a:bodyPr wrap="square"/>
                    <a:lstStyle/>
                    <a:p>
                      <a:r>
                        <a:rPr sz="1600" b="0">
                          <a:solidFill>
                            <a:srgbClr val="1F2A44"/>
                          </a:solidFill>
                          <a:latin typeface="Arial"/>
                          <a:ea typeface="Microsoft YaHei"/>
                        </a:rPr>
                        <a:t>Could we have a quiet table? ★ / Could we have a room on a high floor?</a:t>
                      </a:r>
                    </a:p>
                  </a:txBody>
                  <a:tcPr anchor="ctr">
                    <a:solidFill>
                      <a:srgbClr val="FFFFFF"/>
                    </a:solidFill>
                  </a:tcPr>
                </a:tc>
              </a:tr>
              <a:tr h="408432">
                <a:tc>
                  <a:txBody>
                    <a:bodyPr wrap="square"/>
                    <a:lstStyle/>
                    <a:p>
                      <a:r>
                        <a:rPr sz="1600" b="1">
                          <a:solidFill>
                            <a:srgbClr val="1F2A44"/>
                          </a:solidFill>
                          <a:latin typeface="Arial"/>
                          <a:ea typeface="Microsoft YaHei"/>
                        </a:rPr>
                        <a:t>Name + number</a:t>
                      </a:r>
                    </a:p>
                  </a:txBody>
                  <a:tcPr anchor="ctr">
                    <a:solidFill>
                      <a:srgbClr val="FFEFD9"/>
                    </a:solidFill>
                  </a:tcPr>
                </a:tc>
                <a:tc>
                  <a:txBody>
                    <a:bodyPr wrap="square"/>
                    <a:lstStyle/>
                    <a:p>
                      <a:r>
                        <a:rPr sz="1600" b="0">
                          <a:solidFill>
                            <a:srgbClr val="1F2A44"/>
                          </a:solidFill>
                          <a:latin typeface="Arial"/>
                          <a:ea typeface="Microsoft YaHei"/>
                        </a:rPr>
                        <a:t>The booking is under the name of… My number is…</a:t>
                      </a:r>
                    </a:p>
                  </a:txBody>
                  <a:tcPr anchor="ctr">
                    <a:solidFill>
                      <a:srgbClr val="FFEFD9"/>
                    </a:solidFill>
                  </a:tcPr>
                </a:tc>
              </a:tr>
              <a:tr h="652272">
                <a:tc>
                  <a:txBody>
                    <a:bodyPr wrap="square"/>
                    <a:lstStyle/>
                    <a:p>
                      <a:r>
                        <a:rPr sz="1600" b="1">
                          <a:solidFill>
                            <a:srgbClr val="1F2A44"/>
                          </a:solidFill>
                          <a:latin typeface="Arial"/>
                          <a:ea typeface="Microsoft YaHei"/>
                        </a:rPr>
                        <a:t>Confirm</a:t>
                      </a:r>
                    </a:p>
                  </a:txBody>
                  <a:tcPr anchor="ctr">
                    <a:solidFill>
                      <a:srgbClr val="FFFFFF"/>
                    </a:solidFill>
                  </a:tcPr>
                </a:tc>
                <a:tc>
                  <a:txBody>
                    <a:bodyPr wrap="square"/>
                    <a:lstStyle/>
                    <a:p>
                      <a:r>
                        <a:rPr sz="1600" b="0">
                          <a:solidFill>
                            <a:srgbClr val="1F2A44"/>
                          </a:solidFill>
                          <a:latin typeface="Arial"/>
                          <a:ea typeface="Microsoft YaHei"/>
                        </a:rPr>
                        <a:t>Could I have a confirmation number? / Could you confirm that by email?</a:t>
                      </a:r>
                    </a:p>
                  </a:txBody>
                  <a:tcPr anchor="ctr">
                    <a:solidFill>
                      <a:srgbClr val="FFFFFF"/>
                    </a:solidFill>
                  </a:tcPr>
                </a:tc>
              </a:tr>
              <a:tr h="652272">
                <a:tc>
                  <a:txBody>
                    <a:bodyPr wrap="square"/>
                    <a:lstStyle/>
                    <a:p>
                      <a:r>
                        <a:rPr sz="1600" b="1">
                          <a:solidFill>
                            <a:srgbClr val="1F2A44"/>
                          </a:solidFill>
                          <a:latin typeface="Arial"/>
                          <a:ea typeface="Microsoft YaHei"/>
                        </a:rPr>
                        <a:t>Change / cancel</a:t>
                      </a:r>
                    </a:p>
                  </a:txBody>
                  <a:tcPr anchor="ctr">
                    <a:solidFill>
                      <a:srgbClr val="FFEFD9"/>
                    </a:solidFill>
                  </a:tcPr>
                </a:tc>
                <a:tc>
                  <a:txBody>
                    <a:bodyPr wrap="square"/>
                    <a:lstStyle/>
                    <a:p>
                      <a:r>
                        <a:rPr sz="1600" b="0">
                          <a:solidFill>
                            <a:srgbClr val="1F2A44"/>
                          </a:solidFill>
                          <a:latin typeface="Arial"/>
                          <a:ea typeface="Microsoft YaHei"/>
                        </a:rPr>
                        <a:t>I’d like to change… / I’m afraid I have to cancel. ★</a:t>
                      </a:r>
                    </a:p>
                  </a:txBody>
                  <a:tcPr anchor="ctr">
                    <a:solidFill>
                      <a:srgbClr val="FFEFD9"/>
                    </a:solidFill>
                  </a:tcPr>
                </a:tc>
              </a:tr>
            </a:tbl>
          </a:graphicData>
        </a:graphic>
      </p:graphicFrame>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Hotel and restaurant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酒店与餐厅词汇</a:t>
            </a:r>
          </a:p>
        </p:txBody>
      </p:sp>
      <p:graphicFrame>
        <p:nvGraphicFramePr>
          <p:cNvPr id="9" name="Table 8"/>
          <p:cNvGraphicFramePr>
            <a:graphicFrameLocks noGrp="1"/>
          </p:cNvGraphicFramePr>
          <p:nvPr/>
        </p:nvGraphicFramePr>
        <p:xfrm>
          <a:off x="548640" y="1417320"/>
          <a:ext cx="11094415" cy="285902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Hotel</a:t>
                      </a:r>
                    </a:p>
                  </a:txBody>
                  <a:tcPr anchor="ctr">
                    <a:solidFill>
                      <a:srgbClr val="3CC49A"/>
                    </a:solidFill>
                  </a:tcPr>
                </a:tc>
                <a:tc>
                  <a:txBody>
                    <a:bodyPr wrap="square"/>
                    <a:lstStyle/>
                    <a:p>
                      <a:r>
                        <a:rPr sz="1600" b="1">
                          <a:solidFill>
                            <a:srgbClr val="FFFFFF"/>
                          </a:solidFill>
                          <a:latin typeface="Arial"/>
                          <a:ea typeface="Microsoft YaHei"/>
                        </a:rPr>
                        <a:t>Restaurant</a:t>
                      </a:r>
                    </a:p>
                  </a:txBody>
                  <a:tcPr anchor="ctr">
                    <a:solidFill>
                      <a:srgbClr val="3CC49A"/>
                    </a:solidFill>
                  </a:tcPr>
                </a:tc>
              </a:tr>
              <a:tr h="408432">
                <a:tc>
                  <a:txBody>
                    <a:bodyPr wrap="square"/>
                    <a:lstStyle/>
                    <a:p>
                      <a:r>
                        <a:rPr sz="1600" b="1">
                          <a:solidFill>
                            <a:srgbClr val="1F2A44"/>
                          </a:solidFill>
                          <a:latin typeface="Arial"/>
                          <a:ea typeface="Microsoft YaHei"/>
                        </a:rPr>
                        <a:t>single / double / twin room</a:t>
                      </a:r>
                    </a:p>
                  </a:txBody>
                  <a:tcPr anchor="ctr">
                    <a:solidFill>
                      <a:srgbClr val="FFFFFF"/>
                    </a:solidFill>
                  </a:tcPr>
                </a:tc>
                <a:tc>
                  <a:txBody>
                    <a:bodyPr wrap="square"/>
                    <a:lstStyle/>
                    <a:p>
                      <a:r>
                        <a:rPr sz="1600" b="0">
                          <a:solidFill>
                            <a:srgbClr val="1F2A44"/>
                          </a:solidFill>
                          <a:latin typeface="Arial"/>
                          <a:ea typeface="Microsoft YaHei"/>
                        </a:rPr>
                        <a:t>table for two / a party of six</a:t>
                      </a:r>
                    </a:p>
                  </a:txBody>
                  <a:tcPr anchor="ctr">
                    <a:solidFill>
                      <a:srgbClr val="FFFFFF"/>
                    </a:solidFill>
                  </a:tcPr>
                </a:tc>
              </a:tr>
              <a:tr h="408432">
                <a:tc>
                  <a:txBody>
                    <a:bodyPr wrap="square"/>
                    <a:lstStyle/>
                    <a:p>
                      <a:r>
                        <a:rPr sz="1600" b="1">
                          <a:solidFill>
                            <a:srgbClr val="1F2A44"/>
                          </a:solidFill>
                          <a:latin typeface="Arial"/>
                          <a:ea typeface="Microsoft YaHei"/>
                        </a:rPr>
                        <a:t>rate per night</a:t>
                      </a:r>
                    </a:p>
                  </a:txBody>
                  <a:tcPr anchor="ctr">
                    <a:solidFill>
                      <a:srgbClr val="FFEFD9"/>
                    </a:solidFill>
                  </a:tcPr>
                </a:tc>
                <a:tc>
                  <a:txBody>
                    <a:bodyPr wrap="square"/>
                    <a:lstStyle/>
                    <a:p>
                      <a:r>
                        <a:rPr sz="1600" b="0">
                          <a:solidFill>
                            <a:srgbClr val="1F2A44"/>
                          </a:solidFill>
                          <a:latin typeface="Arial"/>
                          <a:ea typeface="Microsoft YaHei"/>
                        </a:rPr>
                        <a:t>set menu / à la carte</a:t>
                      </a:r>
                    </a:p>
                  </a:txBody>
                  <a:tcPr anchor="ctr">
                    <a:solidFill>
                      <a:srgbClr val="FFEFD9"/>
                    </a:solidFill>
                  </a:tcPr>
                </a:tc>
              </a:tr>
              <a:tr h="408432">
                <a:tc>
                  <a:txBody>
                    <a:bodyPr wrap="square"/>
                    <a:lstStyle/>
                    <a:p>
                      <a:r>
                        <a:rPr sz="1600" b="1">
                          <a:solidFill>
                            <a:srgbClr val="1F2A44"/>
                          </a:solidFill>
                          <a:latin typeface="Arial"/>
                          <a:ea typeface="Microsoft YaHei"/>
                        </a:rPr>
                        <a:t>check-in / check-out</a:t>
                      </a:r>
                    </a:p>
                  </a:txBody>
                  <a:tcPr anchor="ctr">
                    <a:solidFill>
                      <a:srgbClr val="FFFFFF"/>
                    </a:solidFill>
                  </a:tcPr>
                </a:tc>
                <a:tc>
                  <a:txBody>
                    <a:bodyPr wrap="square"/>
                    <a:lstStyle/>
                    <a:p>
                      <a:r>
                        <a:rPr sz="1600" b="0">
                          <a:solidFill>
                            <a:srgbClr val="1F2A44"/>
                          </a:solidFill>
                          <a:latin typeface="Arial"/>
                          <a:ea typeface="Microsoft YaHei"/>
                        </a:rPr>
                        <a:t>reservation / booking</a:t>
                      </a:r>
                    </a:p>
                  </a:txBody>
                  <a:tcPr anchor="ctr">
                    <a:solidFill>
                      <a:srgbClr val="FFFFFF"/>
                    </a:solidFill>
                  </a:tcPr>
                </a:tc>
              </a:tr>
              <a:tr h="408432">
                <a:tc>
                  <a:txBody>
                    <a:bodyPr wrap="square"/>
                    <a:lstStyle/>
                    <a:p>
                      <a:r>
                        <a:rPr sz="1600" b="1">
                          <a:solidFill>
                            <a:srgbClr val="1F2A44"/>
                          </a:solidFill>
                          <a:latin typeface="Arial"/>
                          <a:ea typeface="Microsoft YaHei"/>
                        </a:rPr>
                        <a:t>vacancy / fully booked</a:t>
                      </a:r>
                    </a:p>
                  </a:txBody>
                  <a:tcPr anchor="ctr">
                    <a:solidFill>
                      <a:srgbClr val="FFEFD9"/>
                    </a:solidFill>
                  </a:tcPr>
                </a:tc>
                <a:tc>
                  <a:txBody>
                    <a:bodyPr wrap="square"/>
                    <a:lstStyle/>
                    <a:p>
                      <a:r>
                        <a:rPr sz="1600" b="0">
                          <a:solidFill>
                            <a:srgbClr val="1F2A44"/>
                          </a:solidFill>
                          <a:latin typeface="Arial"/>
                          <a:ea typeface="Microsoft YaHei"/>
                        </a:rPr>
                        <a:t>private dining room</a:t>
                      </a:r>
                    </a:p>
                  </a:txBody>
                  <a:tcPr anchor="ctr">
                    <a:solidFill>
                      <a:srgbClr val="FFEFD9"/>
                    </a:solidFill>
                  </a:tcPr>
                </a:tc>
              </a:tr>
              <a:tr h="408432">
                <a:tc>
                  <a:txBody>
                    <a:bodyPr wrap="square"/>
                    <a:lstStyle/>
                    <a:p>
                      <a:r>
                        <a:rPr sz="1600" b="1">
                          <a:solidFill>
                            <a:srgbClr val="1F2A44"/>
                          </a:solidFill>
                          <a:latin typeface="Arial"/>
                          <a:ea typeface="Microsoft YaHei"/>
                        </a:rPr>
                        <a:t>deposit / cancellation fee</a:t>
                      </a:r>
                    </a:p>
                  </a:txBody>
                  <a:tcPr anchor="ctr">
                    <a:solidFill>
                      <a:srgbClr val="FFFFFF"/>
                    </a:solidFill>
                  </a:tcPr>
                </a:tc>
                <a:tc>
                  <a:txBody>
                    <a:bodyPr wrap="square"/>
                    <a:lstStyle/>
                    <a:p>
                      <a:r>
                        <a:rPr sz="1600" b="0">
                          <a:solidFill>
                            <a:srgbClr val="1F2A44"/>
                          </a:solidFill>
                          <a:latin typeface="Arial"/>
                          <a:ea typeface="Microsoft YaHei"/>
                        </a:rPr>
                        <a:t>corkage (bringing your own wine)</a:t>
                      </a:r>
                    </a:p>
                  </a:txBody>
                  <a:tcPr anchor="ctr">
                    <a:solidFill>
                      <a:srgbClr val="FFFFFF"/>
                    </a:solidFill>
                  </a:tcPr>
                </a:tc>
              </a:tr>
              <a:tr h="408432">
                <a:tc>
                  <a:txBody>
                    <a:bodyPr wrap="square"/>
                    <a:lstStyle/>
                    <a:p>
                      <a:r>
                        <a:rPr sz="1600" b="1">
                          <a:solidFill>
                            <a:srgbClr val="1F2A44"/>
                          </a:solidFill>
                          <a:latin typeface="Arial"/>
                          <a:ea typeface="Microsoft YaHei"/>
                        </a:rPr>
                        <a:t>late check-out</a:t>
                      </a:r>
                    </a:p>
                  </a:txBody>
                  <a:tcPr anchor="ctr">
                    <a:solidFill>
                      <a:srgbClr val="FFEFD9"/>
                    </a:solidFill>
                  </a:tcPr>
                </a:tc>
                <a:tc>
                  <a:txBody>
                    <a:bodyPr wrap="square"/>
                    <a:lstStyle/>
                    <a:p>
                      <a:r>
                        <a:rPr sz="1600" b="0">
                          <a:solidFill>
                            <a:srgbClr val="1F2A44"/>
                          </a:solidFill>
                          <a:latin typeface="Arial"/>
                          <a:ea typeface="Microsoft YaHei"/>
                        </a:rPr>
                        <a:t>allergies / dietary requirements</a:t>
                      </a:r>
                    </a:p>
                  </a:txBody>
                  <a:tcPr anchor="ctr">
                    <a:solidFill>
                      <a:srgbClr val="FFEFD9"/>
                    </a:solidFill>
                  </a:tcPr>
                </a:tc>
              </a:tr>
            </a:tbl>
          </a:graphicData>
        </a:graphic>
      </p:graphicFrame>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Hotel and restaurant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酒店与餐厅词汇</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Double vs twin: </a:t>
            </a:r>
            <a:r>
              <a:rPr sz="1700" b="0">
                <a:solidFill>
                  <a:srgbClr val="1F2A44"/>
                </a:solidFill>
                <a:latin typeface="Arial"/>
                <a:ea typeface="Microsoft YaHei"/>
              </a:rPr>
              <a:t>a double room has one large bed; a twin room has two single beds. For colleagues who share, ask for a twin.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Book / reserve: </a:t>
            </a:r>
            <a:r>
              <a:rPr sz="1700" b="0">
                <a:solidFill>
                  <a:srgbClr val="1F2A44"/>
                </a:solidFill>
                <a:latin typeface="Arial"/>
                <a:ea typeface="Microsoft YaHei"/>
              </a:rPr>
              <a:t>both are correct. Book is more common in British English, reserve in US English.</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Numbers: </a:t>
            </a:r>
            <a:r>
              <a:rPr sz="1700" b="0">
                <a:solidFill>
                  <a:srgbClr val="1F2A44"/>
                </a:solidFill>
                <a:latin typeface="Arial"/>
                <a:ea typeface="Microsoft YaHei"/>
              </a:rPr>
              <a:t>“a table for four” ; “for two nights” ; “from the 12th to the 14th”.</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reserve a room.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book a room.</a:t>
            </a:r>
          </a:p>
          <a:p>
            <a:pPr algn="l">
              <a:spcAft>
                <a:spcPts val="200"/>
              </a:spcAft>
            </a:pPr>
            <a:r>
              <a:rPr sz="1200" b="0">
                <a:solidFill>
                  <a:srgbClr val="FFFFFF"/>
                </a:solidFill>
                <a:latin typeface="Arial"/>
                <a:ea typeface="Microsoft YaHei"/>
              </a:rPr>
              <a:t>would like to + 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book a room for two night.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book a room for two nights.</a:t>
            </a:r>
          </a:p>
          <a:p>
            <a:pPr algn="l">
              <a:spcAft>
                <a:spcPts val="200"/>
              </a:spcAft>
            </a:pPr>
            <a:r>
              <a:rPr sz="1200" b="0">
                <a:solidFill>
                  <a:srgbClr val="FFFFFF"/>
                </a:solidFill>
                <a:latin typeface="Arial"/>
                <a:ea typeface="Microsoft YaHei"/>
              </a:rPr>
              <a:t>复数 nights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stay in 12 November to 14 November.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stay from 12 November to 14 November.</a:t>
            </a:r>
          </a:p>
          <a:p>
            <a:pPr algn="l">
              <a:spcAft>
                <a:spcPts val="200"/>
              </a:spcAft>
            </a:pPr>
            <a:r>
              <a:rPr sz="1200" b="0">
                <a:solidFill>
                  <a:srgbClr val="FFFFFF"/>
                </a:solidFill>
                <a:latin typeface="Arial"/>
                <a:ea typeface="Microsoft YaHei"/>
              </a:rPr>
              <a:t>from…to</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reservation in the name of Li.</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reservation under the name of Li.</a:t>
            </a:r>
          </a:p>
          <a:p>
            <a:pPr algn="l">
              <a:spcAft>
                <a:spcPts val="200"/>
              </a:spcAft>
            </a:pPr>
            <a:r>
              <a:rPr sz="1200" b="0">
                <a:solidFill>
                  <a:srgbClr val="FFFFFF"/>
                </a:solidFill>
                <a:latin typeface="Arial"/>
                <a:ea typeface="Microsoft YaHei"/>
              </a:rPr>
              <a:t>under the name of</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Is there a room free?</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Do you have any rooms available?</a:t>
            </a:r>
          </a:p>
          <a:p>
            <a:pPr algn="l">
              <a:spcAft>
                <a:spcPts val="200"/>
              </a:spcAft>
            </a:pPr>
            <a:r>
              <a:rPr sz="1200" b="0">
                <a:solidFill>
                  <a:srgbClr val="FFFFFF"/>
                </a:solidFill>
                <a:latin typeface="Arial"/>
                <a:ea typeface="Microsoft YaHei"/>
              </a:rPr>
              <a:t>available 更自然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make a table for four people.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reserve a table for four.</a:t>
            </a:r>
          </a:p>
          <a:p>
            <a:pPr algn="l">
              <a:spcAft>
                <a:spcPts val="200"/>
              </a:spcAft>
            </a:pPr>
            <a:r>
              <a:rPr sz="1200" b="0">
                <a:solidFill>
                  <a:srgbClr val="FFFFFF"/>
                </a:solidFill>
                <a:latin typeface="Arial"/>
                <a:ea typeface="Microsoft YaHei"/>
              </a:rPr>
              <a:t>订位用 reserve / book,for four</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What time is the check out?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What time is check-out? / When do I have to check out?</a:t>
            </a:r>
          </a:p>
          <a:p>
            <a:pPr algn="l">
              <a:spcAft>
                <a:spcPts val="200"/>
              </a:spcAft>
            </a:pPr>
            <a:r>
              <a:rPr sz="1200" b="0">
                <a:solidFill>
                  <a:srgbClr val="FFFFFF"/>
                </a:solidFill>
                <a:latin typeface="Arial"/>
                <a:ea typeface="Microsoft YaHei"/>
              </a:rPr>
              <a:t>名词连字符,动词分开</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I’d like to cancel off my booking.</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cancel my booking.</a:t>
            </a:r>
          </a:p>
          <a:p>
            <a:pPr algn="l">
              <a:spcAft>
                <a:spcPts val="200"/>
              </a:spcAft>
            </a:pPr>
            <a:r>
              <a:rPr sz="1200" b="0">
                <a:solidFill>
                  <a:srgbClr val="FFFFFF"/>
                </a:solidFill>
                <a:latin typeface="Arial"/>
                <a:ea typeface="Microsoft YaHei"/>
              </a:rPr>
              <a:t>cancel 不加 off</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vegetable.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a vegetarian. / He is vegetarian.</a:t>
            </a:r>
          </a:p>
          <a:p>
            <a:pPr algn="l">
              <a:spcAft>
                <a:spcPts val="200"/>
              </a:spcAft>
            </a:pPr>
            <a:r>
              <a:rPr sz="1200" b="0">
                <a:solidFill>
                  <a:srgbClr val="FFFFFF"/>
                </a:solidFill>
                <a:latin typeface="Arial"/>
                <a:ea typeface="Microsoft YaHei"/>
              </a:rPr>
              <a:t>vegetable 是蔬菜</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accomodation / reservision</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accommodation / reservation</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for two nights (plural), from…to…, under the name of, check-out (noun) vs check out (verb), accommodation (double c, double 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Booking name: </a:t>
            </a:r>
            <a:r>
              <a:rPr sz="1700" b="0">
                <a:solidFill>
                  <a:srgbClr val="1F2A44"/>
                </a:solidFill>
                <a:latin typeface="Arial"/>
                <a:ea typeface="Microsoft YaHei"/>
              </a:rPr>
              <a:t>Give the name exactly as it appears on the passport or ID, and spell it clearly: “Li, L-I”. Say which name is the surname: “Wang is my surname, Fang is my first name.”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Tipping: </a:t>
            </a:r>
            <a:r>
              <a:rPr sz="1700" b="0">
                <a:solidFill>
                  <a:srgbClr val="1F2A44"/>
                </a:solidFill>
                <a:latin typeface="Arial"/>
                <a:ea typeface="Microsoft YaHei"/>
              </a:rPr>
              <a:t>In the US, 15–20% is expected in restaurants. In the UK, 10–12.5% is common, and a service charge may be added. In China, tipping is not the norm.</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Dietary needs and allergies: </a:t>
            </a:r>
            <a:r>
              <a:rPr sz="1700" b="0">
                <a:solidFill>
                  <a:srgbClr val="1F2A44"/>
                </a:solidFill>
                <a:latin typeface="Arial"/>
                <a:ea typeface="Microsoft YaHei"/>
              </a:rPr>
              <a:t>Say them at the time of booking. Restaurants in the UK and the US take allergies very seriously.</a:t>
            </a:r>
          </a:p>
        </p:txBody>
      </p:sp>
      <p:sp>
        <p:nvSpPr>
          <p:cNvPr id="18" name="Rounded Rectangle 17"/>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441959"/>
          </a:xfrm>
          <a:prstGeom prst="rect">
            <a:avLst/>
          </a:prstGeom>
          <a:noFill/>
        </p:spPr>
        <p:txBody>
          <a:bodyPr wrap="square" anchor="ctr">
            <a:spAutoFit/>
          </a:bodyPr>
          <a:lstStyle/>
          <a:p>
            <a:r>
              <a:rPr sz="1700" b="1">
                <a:solidFill>
                  <a:srgbClr val="FFC857"/>
                </a:solidFill>
                <a:latin typeface="Arial"/>
                <a:ea typeface="Microsoft YaHei"/>
              </a:rPr>
              <a:t>Hold times: </a:t>
            </a:r>
            <a:r>
              <a:rPr sz="1700" b="0">
                <a:solidFill>
                  <a:srgbClr val="1F2A44"/>
                </a:solidFill>
                <a:latin typeface="Arial"/>
                <a:ea typeface="Microsoft YaHei"/>
              </a:rPr>
              <a:t>Restaurants usually hold a table for 15 minutes. Call if you are going to be late.</a:t>
            </a:r>
          </a:p>
        </p:txBody>
      </p:sp>
      <p:sp>
        <p:nvSpPr>
          <p:cNvPr id="21" name="Rounded Rectangle 20"/>
          <p:cNvSpPr/>
          <p:nvPr/>
        </p:nvSpPr>
        <p:spPr>
          <a:xfrm>
            <a:off x="548640" y="432815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441959"/>
          </a:xfrm>
          <a:prstGeom prst="rect">
            <a:avLst/>
          </a:prstGeom>
          <a:noFill/>
        </p:spPr>
        <p:txBody>
          <a:bodyPr wrap="square" anchor="ctr">
            <a:spAutoFit/>
          </a:bodyPr>
          <a:lstStyle/>
          <a:p>
            <a:r>
              <a:rPr sz="1700" b="0">
                <a:solidFill>
                  <a:srgbClr val="1F2A44"/>
                </a:solidFill>
                <a:latin typeface="Arial"/>
                <a:ea typeface="Microsoft YaHei"/>
              </a:rPr>
              <a:t>Cancel early. Many hotels charge a fee if you cancel less than 24–48 hours before.</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book a hotel room with dates, number of nights, room type and rate (from…to…, for two nights).</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reserve a restaurant table with time, number of people and special requests.</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name and contact number (under the name of…) and ask for a confirmation number.</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change or cancel a booking politely.</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for two nights, from…to…, under the name of and accommodation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25 Making a reservation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for two nights (plural), from…to…, would like to, vegetarian, and spelling (accommodation, reservation).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6 · Lesson 26 Dealing with a wrong number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Dealing with a wrong number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处理错误号码</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handle wrong numbers politely: say “wrong number” without offending the other person, help a caller find the right number, redirect a call within a company, and handle unwanted calls.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Have you ever called the wrong number? What did you say?</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when someone calls you by mistake?</a:t>
            </a:r>
          </a:p>
        </p:txBody>
      </p:sp>
      <p:sp>
        <p:nvSpPr>
          <p:cNvPr id="15" name="Oval 14"/>
          <p:cNvSpPr/>
          <p:nvPr/>
        </p:nvSpPr>
        <p:spPr>
          <a:xfrm>
            <a:off x="548640" y="309981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check that you have the right number before you start talking?</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time a call was put through to the wrong person or department. What happened?</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when you get a sales call you don’t want?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1、4 题讲过去的事,请用过去式(called, said, got)。第 2 题可以说 “I tell them politely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what you do when you realize you have the wrong number.</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check</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apologize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end the call politely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try again or find the right number</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say, ‘I’m sorry, I think I’ve dialled the wrong number.’   💬 Then I…   💬 I check the number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打错电话时礼貌结束:Sorry to bother you. 接到错号时:I’m afraid you’ve got the wrong number. 语气要友好。</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1: When you have the wrong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自己打错号码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this 021 5555 0100?</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请问这是 021 5555 0100 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“Hello, is this 021 5555 0100?”</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that Orion Foods?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请问是奥利安食品公司吗?</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that Orion Foods?” — “No, I’m afraid this is a private number.”</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sorry, I think I’ve got the wrong number.</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抱歉,我想我打错了</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sorry, I think I’ve got the wrong number.”</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must have dialled the wrong number.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我一定是拨错号码了</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must have dialled the wrong number. Sorry to bother you.”</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to bother / disturb you.</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抱歉打扰您</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to bother you. Goodbye.”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Chunk 2: When someone else has the wrong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对方打错号码</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afraid you’ve got the wrong number.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恐怕您打错了</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you’ve got the wrong number.”</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There’s no one here by that name.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这里没有叫这个名字的人</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no one here by that name.”</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What number were you trying to reach?</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您想打的号码是多少?</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number were you trying to reach?”</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Chunk 2: When someone else has the wrong number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对方打错号码</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You’ve reached a private number.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您拨打的是私人号码</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“You’ve reached a private number. This isn’t a company.”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No problem. / That’s all right.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没关系</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“No problem. It happens.”</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Redirecting and unwanted calls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转接与骚扰电话</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You’ve been put through to the wrong department.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您被转到错误的部门了</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you’ve been put through to the wrong department.”</a:t>
            </a:r>
          </a:p>
        </p:txBody>
      </p:sp>
      <p:sp>
        <p:nvSpPr>
          <p:cNvPr id="14" name="Rounded Rectangle 13"/>
          <p:cNvSpPr/>
          <p:nvPr/>
        </p:nvSpPr>
        <p:spPr>
          <a:xfrm>
            <a:off x="548640" y="27305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transfer you to the right person.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7762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让我帮您转到合适的人</a:t>
            </a:r>
          </a:p>
        </p:txBody>
      </p:sp>
      <p:sp>
        <p:nvSpPr>
          <p:cNvPr id="18" name="TextBox 17"/>
          <p:cNvSpPr txBox="1"/>
          <p:nvPr/>
        </p:nvSpPr>
        <p:spPr>
          <a:xfrm>
            <a:off x="6675120" y="27762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transfer you to the right person.”</a:t>
            </a:r>
          </a:p>
        </p:txBody>
      </p:sp>
      <p:sp>
        <p:nvSpPr>
          <p:cNvPr id="19" name="Rounded Rectangle 18"/>
          <p:cNvSpPr/>
          <p:nvPr/>
        </p:nvSpPr>
        <p:spPr>
          <a:xfrm>
            <a:off x="548640" y="37388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7388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7846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number is no longer in service.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7846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该号码已停用</a:t>
            </a:r>
          </a:p>
        </p:txBody>
      </p:sp>
      <p:sp>
        <p:nvSpPr>
          <p:cNvPr id="23" name="TextBox 22"/>
          <p:cNvSpPr txBox="1"/>
          <p:nvPr/>
        </p:nvSpPr>
        <p:spPr>
          <a:xfrm>
            <a:off x="6675120" y="37846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number you’ve dialled is no longer in service.”</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Chunk 3: Redirecting and unwanted calls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转接与骚扰电话</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not interested, thank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我没有兴趣,谢谢</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not interested, thank you. Please take me off your list.”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remove my number from your list.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请把我的号码从名单中删除</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remove my number from your list.”</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我没有兴趣,谢谢</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not interested, thank you.</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抱歉打扰您</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Sorry to bother / disturb you.</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您拨打的是私人号码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You’ve reached a private number.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您被转到错误的部门了</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You’ve been put through to the wrong department.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没关系</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 problem. / That’s all right.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该号码已停用</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The number is no longer in service.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请问这是 021 5555 0100 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 this 021 5555 0100?</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抱歉,我想我打错了</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I’m sorry, I think I’ve got the wrong number.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name</a:t>
            </a:r>
          </a:p>
        </p:txBody>
      </p:sp>
      <p:sp>
        <p:nvSpPr>
          <p:cNvPr id="10" name="Rounded Rectangle 9"/>
          <p:cNvSpPr/>
          <p:nvPr/>
        </p:nvSpPr>
        <p:spPr>
          <a:xfrm>
            <a:off x="2907792"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number</a:t>
            </a:r>
          </a:p>
        </p:txBody>
      </p:sp>
      <p:sp>
        <p:nvSpPr>
          <p:cNvPr id="11" name="Rounded Rectangle 10"/>
          <p:cNvSpPr/>
          <p:nvPr/>
        </p:nvSpPr>
        <p:spPr>
          <a:xfrm>
            <a:off x="402336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dialled</a:t>
            </a:r>
          </a:p>
        </p:txBody>
      </p:sp>
      <p:sp>
        <p:nvSpPr>
          <p:cNvPr id="12" name="Rounded Rectangle 11"/>
          <p:cNvSpPr/>
          <p:nvPr/>
        </p:nvSpPr>
        <p:spPr>
          <a:xfrm>
            <a:off x="5248656"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bother</a:t>
            </a:r>
          </a:p>
        </p:txBody>
      </p:sp>
      <p:sp>
        <p:nvSpPr>
          <p:cNvPr id="13" name="Rounded Rectangle 12"/>
          <p:cNvSpPr/>
          <p:nvPr/>
        </p:nvSpPr>
        <p:spPr>
          <a:xfrm>
            <a:off x="6364224"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that</a:t>
            </a:r>
          </a:p>
        </p:txBody>
      </p:sp>
      <p:sp>
        <p:nvSpPr>
          <p:cNvPr id="14" name="Rounded Rectangle 13"/>
          <p:cNvSpPr/>
          <p:nvPr/>
        </p:nvSpPr>
        <p:spPr>
          <a:xfrm>
            <a:off x="7260336"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transfer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afraid you’ve got the wrong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number</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Is _______ Orion Foods?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There’s no one here by that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name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must have _______ the wrong number.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dialled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Sorry to _______ you. Goodbye.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bother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 me _______ you to the right person.</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transfer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拼写与时态): dialled (UK) / dialed (US), disturb (not “distrub”), department (not “departement”). Use must have + past participle for a guess about the past: “I must have dialled the wrong number.”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Realizing you’ve called the wrong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发现打错电话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supplier, but a stranger answers.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Chen, stranger</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Realizing you’ve called the wrong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is this 021 5555 0100?</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Chen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I’m afraid you’ve got the wrong number.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I’m sorry. Is that not Nordic Steel?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this is a private number. There’s no company here.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 must have dialled the wrong number. Sorry to bother you.</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all right. It happens. What number were you trying to reach?</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Realizing you’ve called the wrong number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021 5555 0108.</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Ah, you dialled 0100, not 0108. Maybe that’s the problem.</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 see now. I misread the card. Thank you for your help, and sorry again.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at all. Good luck.</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Goodbye.</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Goodbye.</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Realizing you’ve called the wrong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call a number and the wrong person answers.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Check the number, apologize, hang up politely.</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Stranger. Friendly or a little annoyed.</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Is this…? · I think I’ve got the wrong number. · I must have dialled… · Sorry to bother you. · It happens.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Close the call in a friendly way in 30 seconds.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stranger is annoyed (third call today). Say: “I’m so sorry about that. I’ll double-check the number.”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stranger tells you a similar number you can try.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Role switch: you receive a wrong number three times from the same caller.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wrong department and an unwanted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转错部门与骚扰电话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customer was put through to the wrong department. Later a salesperson calls you.</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accounts clerk</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Anna Berg, customer / salesperson</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wrong department and an unwanted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Accounts department, Li Wei speaking.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I’d like to ask about a delivery date for my order.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you’ve been put through to the wrong department. This is the accounts department. You need the logistics team.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I’m sorry. I was transferred from reception.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at all. Let me transfer you to the right person. Could you hold the line for a moment?</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wrong department and an unwanted call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putting you through to Jack Wu in logistics. His extension is 2214, in case you get cut off.</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kind. Thank you.</a:t>
            </a:r>
          </a:p>
        </p:txBody>
      </p:sp>
      <p:sp>
        <p:nvSpPr>
          <p:cNvPr id="17" name="Rounded Rectangle 16"/>
          <p:cNvSpPr/>
          <p:nvPr/>
        </p:nvSpPr>
        <p:spPr>
          <a:xfrm>
            <a:off x="548640" y="3361944"/>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Later that day, another call comes in.</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as salesperson</a:t>
            </a:r>
          </a:p>
        </p:txBody>
      </p:sp>
      <p:sp>
        <p:nvSpPr>
          <p:cNvPr id="22" name="Rounded Rectangle 21"/>
          <p:cNvSpPr/>
          <p:nvPr/>
        </p:nvSpPr>
        <p:spPr>
          <a:xfrm>
            <a:off x="2133295" y="394411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I’m calling from Smart Office Solutions. Do you have a minute to talk about our new copy machines?</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wrong department and an unwanted call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I’m not interested, thank you. Please remove my number from your list.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Sorry to have bothered you.</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Goodbye.</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wrong department and an unwanted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Redirect a customer, and refuse a sales call.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Staff member. Help the customer, then refuse the salesperson.</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 first, salesperson second.</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You’ve been put through to the wrong department. · Let me transfer you to… · I’m not interested, thank you. · Please remove my number.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the right extension and end the unwanted call politely.</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your own number if the extension doesn’t work: “If you can’t get through, please call me back and I’ll help.”</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salesperson keeps going. Say: “I’m sorry, I have to go. Goodbye.”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Tell a colleague about the wrong call so they know.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you do when someone calls your number by mistake?</a:t>
            </a:r>
          </a:p>
          <a:p>
            <a:pPr algn="l">
              <a:lnSpc>
                <a:spcPct val="115000"/>
              </a:lnSpc>
              <a:spcAft>
                <a:spcPts val="800"/>
              </a:spcAft>
            </a:pPr>
            <a:r>
              <a:rPr sz="1400" b="0">
                <a:solidFill>
                  <a:srgbClr val="5F677A"/>
                </a:solidFill>
                <a:latin typeface="Arial"/>
                <a:ea typeface="Microsoft YaHei"/>
              </a:rPr>
              <a:t>💬 “I tell them politely that…” / “I give them the right number if I know it.”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reduce wrong-number or wrong-department calls?</a:t>
            </a:r>
          </a:p>
          <a:p>
            <a:pPr algn="l">
              <a:lnSpc>
                <a:spcPct val="115000"/>
              </a:lnSpc>
              <a:spcAft>
                <a:spcPts val="800"/>
              </a:spcAft>
            </a:pPr>
            <a:r>
              <a:rPr sz="1400" b="0">
                <a:solidFill>
                  <a:srgbClr val="5F677A"/>
                </a:solidFill>
                <a:latin typeface="Arial"/>
                <a:ea typeface="Microsoft YaHei"/>
              </a:rPr>
              <a:t>💬 “They can use a clear menu.” / “They could give a direct number on the website.”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people get annoyed by wrong numbers?</a:t>
            </a:r>
          </a:p>
          <a:p>
            <a:pPr algn="l">
              <a:lnSpc>
                <a:spcPct val="115000"/>
              </a:lnSpc>
              <a:spcAft>
                <a:spcPts val="800"/>
              </a:spcAft>
            </a:pPr>
            <a:r>
              <a:rPr sz="1400" b="0">
                <a:solidFill>
                  <a:srgbClr val="5F677A"/>
                </a:solidFill>
                <a:latin typeface="Arial"/>
                <a:ea typeface="Microsoft YaHei"/>
              </a:rPr>
              <a:t>💬 “People are busy, so…” / “It’s the third time and…”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unwanted sales calls?</a:t>
            </a:r>
          </a:p>
          <a:p>
            <a:pPr algn="l">
              <a:lnSpc>
                <a:spcPct val="115000"/>
              </a:lnSpc>
              <a:spcAft>
                <a:spcPts val="800"/>
              </a:spcAft>
            </a:pPr>
            <a:r>
              <a:rPr sz="1400" b="0">
                <a:solidFill>
                  <a:srgbClr val="5F677A"/>
                </a:solidFill>
                <a:latin typeface="Arial"/>
                <a:ea typeface="Microsoft YaHei"/>
              </a:rPr>
              <a:t>💬 “I say ‘No, thank you’ and end the call.” / “I block the number.”</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call back when you’ve been cut off or wait for the other person to call?</a:t>
            </a:r>
          </a:p>
          <a:p>
            <a:pPr algn="l">
              <a:lnSpc>
                <a:spcPct val="115000"/>
              </a:lnSpc>
              <a:spcAft>
                <a:spcPts val="800"/>
              </a:spcAft>
            </a:pPr>
            <a:r>
              <a:rPr sz="1400" b="0">
                <a:solidFill>
                  <a:srgbClr val="5F677A"/>
                </a:solidFill>
                <a:latin typeface="Arial"/>
                <a:ea typeface="Microsoft YaHei"/>
              </a:rPr>
              <a:t>💬 “I think the person who called first should call back.” / “I wait one minute and then…”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is polite to say”No, thank you” clearly and end the call. I don’t argue or give reasons, because that gives the salesperson more chances to keep talking. If the number keeps calling, I say, “Please remove my number from your list.” If it still continues, I block the number. I’m not rude, but I’m firm.</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“firm” 意为“坚定但不无礼”。“give reasons… more chances to keep talking” 注意 give sb sth 的结构。“I block the number”(我拉黑号码)。</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Phone-language script: wrong number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错号码话术</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Situation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Check</a:t>
                      </a:r>
                    </a:p>
                  </a:txBody>
                  <a:tcPr anchor="ctr">
                    <a:solidFill>
                      <a:srgbClr val="FFFFFF"/>
                    </a:solidFill>
                  </a:tcPr>
                </a:tc>
                <a:tc>
                  <a:txBody>
                    <a:bodyPr wrap="square"/>
                    <a:lstStyle/>
                    <a:p>
                      <a:r>
                        <a:rPr sz="1600" b="0">
                          <a:solidFill>
                            <a:srgbClr val="1F2A44"/>
                          </a:solidFill>
                          <a:latin typeface="Arial"/>
                          <a:ea typeface="Microsoft YaHei"/>
                        </a:rPr>
                        <a:t>Is this 021 5555 0100? / Is that Orion Foods?</a:t>
                      </a:r>
                    </a:p>
                  </a:txBody>
                  <a:tcPr anchor="ctr">
                    <a:solidFill>
                      <a:srgbClr val="FFFFFF"/>
                    </a:solidFill>
                  </a:tcPr>
                </a:tc>
              </a:tr>
              <a:tr h="652272">
                <a:tc>
                  <a:txBody>
                    <a:bodyPr wrap="square"/>
                    <a:lstStyle/>
                    <a:p>
                      <a:r>
                        <a:rPr sz="1600" b="1">
                          <a:solidFill>
                            <a:srgbClr val="1F2A44"/>
                          </a:solidFill>
                          <a:latin typeface="Arial"/>
                          <a:ea typeface="Microsoft YaHei"/>
                        </a:rPr>
                        <a:t>Realize</a:t>
                      </a:r>
                    </a:p>
                  </a:txBody>
                  <a:tcPr anchor="ctr">
                    <a:solidFill>
                      <a:srgbClr val="FFEFD9"/>
                    </a:solidFill>
                  </a:tcPr>
                </a:tc>
                <a:tc>
                  <a:txBody>
                    <a:bodyPr wrap="square"/>
                    <a:lstStyle/>
                    <a:p>
                      <a:r>
                        <a:rPr sz="1600" b="0">
                          <a:solidFill>
                            <a:srgbClr val="1F2A44"/>
                          </a:solidFill>
                          <a:latin typeface="Arial"/>
                          <a:ea typeface="Microsoft YaHei"/>
                        </a:rPr>
                        <a:t>I’m sorry, I think I’ve got the wrong number. / I must have dialled the wrong number. ★</a:t>
                      </a:r>
                    </a:p>
                  </a:txBody>
                  <a:tcPr anchor="ctr">
                    <a:solidFill>
                      <a:srgbClr val="FFEFD9"/>
                    </a:solidFill>
                  </a:tcPr>
                </a:tc>
              </a:tr>
              <a:tr h="408432">
                <a:tc>
                  <a:txBody>
                    <a:bodyPr wrap="square"/>
                    <a:lstStyle/>
                    <a:p>
                      <a:r>
                        <a:rPr sz="1600" b="1">
                          <a:solidFill>
                            <a:srgbClr val="1F2A44"/>
                          </a:solidFill>
                          <a:latin typeface="Arial"/>
                          <a:ea typeface="Microsoft YaHei"/>
                        </a:rPr>
                        <a:t>Apologize</a:t>
                      </a:r>
                    </a:p>
                  </a:txBody>
                  <a:tcPr anchor="ctr">
                    <a:solidFill>
                      <a:srgbClr val="FFFFFF"/>
                    </a:solidFill>
                  </a:tcPr>
                </a:tc>
                <a:tc>
                  <a:txBody>
                    <a:bodyPr wrap="square"/>
                    <a:lstStyle/>
                    <a:p>
                      <a:r>
                        <a:rPr sz="1600" b="0">
                          <a:solidFill>
                            <a:srgbClr val="1F2A44"/>
                          </a:solidFill>
                          <a:latin typeface="Arial"/>
                          <a:ea typeface="Microsoft YaHei"/>
                        </a:rPr>
                        <a:t>Sorry to bother you. / Sorry for the trouble.</a:t>
                      </a:r>
                    </a:p>
                  </a:txBody>
                  <a:tcPr anchor="ctr">
                    <a:solidFill>
                      <a:srgbClr val="FFFFFF"/>
                    </a:solidFill>
                  </a:tcPr>
                </a:tc>
              </a:tr>
              <a:tr h="652272">
                <a:tc>
                  <a:txBody>
                    <a:bodyPr wrap="square"/>
                    <a:lstStyle/>
                    <a:p>
                      <a:r>
                        <a:rPr sz="1600" b="1">
                          <a:solidFill>
                            <a:srgbClr val="1F2A44"/>
                          </a:solidFill>
                          <a:latin typeface="Arial"/>
                          <a:ea typeface="Microsoft YaHei"/>
                        </a:rPr>
                        <a:t>Receive</a:t>
                      </a:r>
                    </a:p>
                  </a:txBody>
                  <a:tcPr anchor="ctr">
                    <a:solidFill>
                      <a:srgbClr val="FFEFD9"/>
                    </a:solidFill>
                  </a:tcPr>
                </a:tc>
                <a:tc>
                  <a:txBody>
                    <a:bodyPr wrap="square"/>
                    <a:lstStyle/>
                    <a:p>
                      <a:r>
                        <a:rPr sz="1600" b="0">
                          <a:solidFill>
                            <a:srgbClr val="1F2A44"/>
                          </a:solidFill>
                          <a:latin typeface="Arial"/>
                          <a:ea typeface="Microsoft YaHei"/>
                        </a:rPr>
                        <a:t>I’m afraid you’ve got the wrong number. / There’s no one here by that name.</a:t>
                      </a:r>
                    </a:p>
                  </a:txBody>
                  <a:tcPr anchor="ctr">
                    <a:solidFill>
                      <a:srgbClr val="FFEFD9"/>
                    </a:solidFill>
                  </a:tcPr>
                </a:tc>
              </a:tr>
            </a:tbl>
          </a:graphicData>
        </a:graphic>
      </p:graphicFrame>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Phone-language script: wrong number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错号码话术</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Situation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Help</a:t>
                      </a:r>
                    </a:p>
                  </a:txBody>
                  <a:tcPr anchor="ctr">
                    <a:solidFill>
                      <a:srgbClr val="FFFFFF"/>
                    </a:solidFill>
                  </a:tcPr>
                </a:tc>
                <a:tc>
                  <a:txBody>
                    <a:bodyPr wrap="square"/>
                    <a:lstStyle/>
                    <a:p>
                      <a:r>
                        <a:rPr sz="1600" b="0">
                          <a:solidFill>
                            <a:srgbClr val="1F2A44"/>
                          </a:solidFill>
                          <a:latin typeface="Arial"/>
                          <a:ea typeface="Microsoft YaHei"/>
                        </a:rPr>
                        <a:t>What number were you trying to reach? ★</a:t>
                      </a:r>
                    </a:p>
                  </a:txBody>
                  <a:tcPr anchor="ctr">
                    <a:solidFill>
                      <a:srgbClr val="FFFFFF"/>
                    </a:solidFill>
                  </a:tcPr>
                </a:tc>
              </a:tr>
              <a:tr h="652272">
                <a:tc>
                  <a:txBody>
                    <a:bodyPr wrap="square"/>
                    <a:lstStyle/>
                    <a:p>
                      <a:r>
                        <a:rPr sz="1600" b="1">
                          <a:solidFill>
                            <a:srgbClr val="1F2A44"/>
                          </a:solidFill>
                          <a:latin typeface="Arial"/>
                          <a:ea typeface="Microsoft YaHei"/>
                        </a:rPr>
                        <a:t>Wrong department</a:t>
                      </a:r>
                    </a:p>
                  </a:txBody>
                  <a:tcPr anchor="ctr">
                    <a:solidFill>
                      <a:srgbClr val="FFEFD9"/>
                    </a:solidFill>
                  </a:tcPr>
                </a:tc>
                <a:tc>
                  <a:txBody>
                    <a:bodyPr wrap="square"/>
                    <a:lstStyle/>
                    <a:p>
                      <a:r>
                        <a:rPr sz="1600" b="0">
                          <a:solidFill>
                            <a:srgbClr val="1F2A44"/>
                          </a:solidFill>
                          <a:latin typeface="Arial"/>
                          <a:ea typeface="Microsoft YaHei"/>
                        </a:rPr>
                        <a:t>You’ve been put through to the wrong department. Let me transfer you. ★</a:t>
                      </a:r>
                    </a:p>
                  </a:txBody>
                  <a:tcPr anchor="ctr">
                    <a:solidFill>
                      <a:srgbClr val="FFEFD9"/>
                    </a:solidFill>
                  </a:tcPr>
                </a:tc>
              </a:tr>
              <a:tr h="652272">
                <a:tc>
                  <a:txBody>
                    <a:bodyPr wrap="square"/>
                    <a:lstStyle/>
                    <a:p>
                      <a:r>
                        <a:rPr sz="1600" b="1">
                          <a:solidFill>
                            <a:srgbClr val="1F2A44"/>
                          </a:solidFill>
                          <a:latin typeface="Arial"/>
                          <a:ea typeface="Microsoft YaHei"/>
                        </a:rPr>
                        <a:t>Unwanted</a:t>
                      </a:r>
                    </a:p>
                  </a:txBody>
                  <a:tcPr anchor="ctr">
                    <a:solidFill>
                      <a:srgbClr val="FFFFFF"/>
                    </a:solidFill>
                  </a:tcPr>
                </a:tc>
                <a:tc>
                  <a:txBody>
                    <a:bodyPr wrap="square"/>
                    <a:lstStyle/>
                    <a:p>
                      <a:r>
                        <a:rPr sz="1600" b="0">
                          <a:solidFill>
                            <a:srgbClr val="1F2A44"/>
                          </a:solidFill>
                          <a:latin typeface="Arial"/>
                          <a:ea typeface="Microsoft YaHei"/>
                        </a:rPr>
                        <a:t>I’m not interested, thank you. ★ / Please remove my number from your list. ★</a:t>
                      </a:r>
                    </a:p>
                  </a:txBody>
                  <a:tcPr anchor="ctr">
                    <a:solidFill>
                      <a:srgbClr val="FFFFFF"/>
                    </a:solidFill>
                  </a:tcPr>
                </a:tc>
              </a:tr>
              <a:tr h="408432">
                <a:tc>
                  <a:txBody>
                    <a:bodyPr wrap="square"/>
                    <a:lstStyle/>
                    <a:p>
                      <a:r>
                        <a:rPr sz="1600" b="1">
                          <a:solidFill>
                            <a:srgbClr val="1F2A44"/>
                          </a:solidFill>
                          <a:latin typeface="Arial"/>
                          <a:ea typeface="Microsoft YaHei"/>
                        </a:rPr>
                        <a:t>Close</a:t>
                      </a:r>
                    </a:p>
                  </a:txBody>
                  <a:tcPr anchor="ctr">
                    <a:solidFill>
                      <a:srgbClr val="FFEFD9"/>
                    </a:solidFill>
                  </a:tcPr>
                </a:tc>
                <a:tc>
                  <a:txBody>
                    <a:bodyPr wrap="square"/>
                    <a:lstStyle/>
                    <a:p>
                      <a:r>
                        <a:rPr sz="1600" b="0">
                          <a:solidFill>
                            <a:srgbClr val="1F2A44"/>
                          </a:solidFill>
                          <a:latin typeface="Arial"/>
                          <a:ea typeface="Microsoft YaHei"/>
                        </a:rPr>
                        <a:t>No problem. Goodbye.</a:t>
                      </a:r>
                    </a:p>
                  </a:txBody>
                  <a:tcPr anchor="ctr">
                    <a:solidFill>
                      <a:srgbClr val="FFEFD9"/>
                    </a:solidFill>
                  </a:tcPr>
                </a:tc>
              </a:tr>
            </a:tbl>
          </a:graphicData>
        </a:graphic>
      </p:graphicFrame>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Must have / can’t have: guessing about the past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推测过去</a:t>
            </a:r>
          </a:p>
        </p:txBody>
      </p:sp>
      <p:graphicFrame>
        <p:nvGraphicFramePr>
          <p:cNvPr id="9" name="Table 8"/>
          <p:cNvGraphicFramePr>
            <a:graphicFrameLocks noGrp="1"/>
          </p:cNvGraphicFramePr>
          <p:nvPr/>
        </p:nvGraphicFramePr>
        <p:xfrm>
          <a:off x="548640" y="1417320"/>
          <a:ext cx="11094415" cy="2365248"/>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Meaning</a:t>
                      </a:r>
                    </a:p>
                  </a:txBody>
                  <a:tcPr anchor="ctr">
                    <a:solidFill>
                      <a:srgbClr val="3CC49A"/>
                    </a:solidFill>
                  </a:tcPr>
                </a:tc>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Sure it happened</a:t>
                      </a:r>
                    </a:p>
                  </a:txBody>
                  <a:tcPr anchor="ctr">
                    <a:solidFill>
                      <a:srgbClr val="FFFFFF"/>
                    </a:solidFill>
                  </a:tcPr>
                </a:tc>
                <a:tc>
                  <a:txBody>
                    <a:bodyPr wrap="square"/>
                    <a:lstStyle/>
                    <a:p>
                      <a:r>
                        <a:rPr sz="1600" b="0">
                          <a:solidFill>
                            <a:srgbClr val="1F2A44"/>
                          </a:solidFill>
                          <a:latin typeface="Arial"/>
                          <a:ea typeface="Microsoft YaHei"/>
                        </a:rPr>
                        <a:t>must have + past participle ★</a:t>
                      </a:r>
                    </a:p>
                  </a:txBody>
                  <a:tcPr anchor="ctr">
                    <a:solidFill>
                      <a:srgbClr val="FFFFFF"/>
                    </a:solidFill>
                  </a:tcPr>
                </a:tc>
                <a:tc>
                  <a:txBody>
                    <a:bodyPr wrap="square"/>
                    <a:lstStyle/>
                    <a:p>
                      <a:r>
                        <a:rPr sz="1600" b="0">
                          <a:solidFill>
                            <a:srgbClr val="1F2A44"/>
                          </a:solidFill>
                          <a:latin typeface="Arial"/>
                          <a:ea typeface="Microsoft YaHei"/>
                        </a:rPr>
                        <a:t>“I must have dialled the wrong number.”</a:t>
                      </a:r>
                    </a:p>
                  </a:txBody>
                  <a:tcPr anchor="ctr">
                    <a:solidFill>
                      <a:srgbClr val="FFFFFF"/>
                    </a:solidFill>
                  </a:tcPr>
                </a:tc>
              </a:tr>
              <a:tr h="652272">
                <a:tc>
                  <a:txBody>
                    <a:bodyPr wrap="square"/>
                    <a:lstStyle/>
                    <a:p>
                      <a:r>
                        <a:rPr sz="1600" b="1">
                          <a:solidFill>
                            <a:srgbClr val="1F2A44"/>
                          </a:solidFill>
                          <a:latin typeface="Arial"/>
                          <a:ea typeface="Microsoft YaHei"/>
                        </a:rPr>
                        <a:t>Sure it didn’t</a:t>
                      </a:r>
                    </a:p>
                  </a:txBody>
                  <a:tcPr anchor="ctr">
                    <a:solidFill>
                      <a:srgbClr val="FFEFD9"/>
                    </a:solidFill>
                  </a:tcPr>
                </a:tc>
                <a:tc>
                  <a:txBody>
                    <a:bodyPr wrap="square"/>
                    <a:lstStyle/>
                    <a:p>
                      <a:r>
                        <a:rPr sz="1600" b="0">
                          <a:solidFill>
                            <a:srgbClr val="1F2A44"/>
                          </a:solidFill>
                          <a:latin typeface="Arial"/>
                          <a:ea typeface="Microsoft YaHei"/>
                        </a:rPr>
                        <a:t>can’t have + past participle ★</a:t>
                      </a:r>
                    </a:p>
                  </a:txBody>
                  <a:tcPr anchor="ctr">
                    <a:solidFill>
                      <a:srgbClr val="FFEFD9"/>
                    </a:solidFill>
                  </a:tcPr>
                </a:tc>
                <a:tc>
                  <a:txBody>
                    <a:bodyPr wrap="square"/>
                    <a:lstStyle/>
                    <a:p>
                      <a:r>
                        <a:rPr sz="1600" b="0">
                          <a:solidFill>
                            <a:srgbClr val="1F2A44"/>
                          </a:solidFill>
                          <a:latin typeface="Arial"/>
                          <a:ea typeface="Microsoft YaHei"/>
                        </a:rPr>
                        <a:t>“You can’t have called us. We didn’t get a call.”</a:t>
                      </a:r>
                    </a:p>
                  </a:txBody>
                  <a:tcPr anchor="ctr">
                    <a:solidFill>
                      <a:srgbClr val="FFEFD9"/>
                    </a:solidFill>
                  </a:tcPr>
                </a:tc>
              </a:tr>
              <a:tr h="652272">
                <a:tc>
                  <a:txBody>
                    <a:bodyPr wrap="square"/>
                    <a:lstStyle/>
                    <a:p>
                      <a:r>
                        <a:rPr sz="1600" b="1">
                          <a:solidFill>
                            <a:srgbClr val="1F2A44"/>
                          </a:solidFill>
                          <a:latin typeface="Arial"/>
                          <a:ea typeface="Microsoft YaHei"/>
                        </a:rPr>
                        <a:t>Possibly</a:t>
                      </a:r>
                    </a:p>
                  </a:txBody>
                  <a:tcPr anchor="ctr">
                    <a:solidFill>
                      <a:srgbClr val="FFFFFF"/>
                    </a:solidFill>
                  </a:tcPr>
                </a:tc>
                <a:tc>
                  <a:txBody>
                    <a:bodyPr wrap="square"/>
                    <a:lstStyle/>
                    <a:p>
                      <a:r>
                        <a:rPr sz="1600" b="0">
                          <a:solidFill>
                            <a:srgbClr val="1F2A44"/>
                          </a:solidFill>
                          <a:latin typeface="Arial"/>
                          <a:ea typeface="Microsoft YaHei"/>
                        </a:rPr>
                        <a:t>might / could have + past participle</a:t>
                      </a:r>
                    </a:p>
                  </a:txBody>
                  <a:tcPr anchor="ctr">
                    <a:solidFill>
                      <a:srgbClr val="FFFFFF"/>
                    </a:solidFill>
                  </a:tcPr>
                </a:tc>
                <a:tc>
                  <a:txBody>
                    <a:bodyPr wrap="square"/>
                    <a:lstStyle/>
                    <a:p>
                      <a:r>
                        <a:rPr sz="1600" b="0">
                          <a:solidFill>
                            <a:srgbClr val="1F2A44"/>
                          </a:solidFill>
                          <a:latin typeface="Arial"/>
                          <a:ea typeface="Microsoft YaHei"/>
                        </a:rPr>
                        <a:t>“She might have changed her number.”</a:t>
                      </a:r>
                    </a:p>
                  </a:txBody>
                  <a:tcPr anchor="ctr">
                    <a:solidFill>
                      <a:srgbClr val="FFFFFF"/>
                    </a:solidFill>
                  </a:tcPr>
                </a:tc>
              </a:tr>
            </a:tbl>
          </a:graphicData>
        </a:graphic>
      </p:graphicFrame>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Must have / can’t have: guessing about the past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推测过去</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After must have, use the past participle: </a:t>
            </a:r>
            <a:r>
              <a:rPr sz="1700" b="0">
                <a:solidFill>
                  <a:srgbClr val="1F2A44"/>
                </a:solidFill>
                <a:latin typeface="Arial"/>
                <a:ea typeface="Microsoft YaHei"/>
              </a:rPr>
              <a:t>dialled, misread, forgotten. Not “must have dial”.</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Wrong number vs wrong department: </a:t>
            </a:r>
            <a:r>
              <a:rPr sz="1700" b="0">
                <a:solidFill>
                  <a:srgbClr val="1F2A44"/>
                </a:solidFill>
                <a:latin typeface="Arial"/>
                <a:ea typeface="Microsoft YaHei"/>
              </a:rPr>
              <a:t>wrong number = the phone number is wrong; wrong department / extension = the number is right but the person or team is not.</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Dial / call / ring / phone: </a:t>
            </a:r>
            <a:r>
              <a:rPr sz="1700" b="0">
                <a:solidFill>
                  <a:srgbClr val="1F2A44"/>
                </a:solidFill>
                <a:latin typeface="Arial"/>
                <a:ea typeface="Microsoft YaHei"/>
              </a:rPr>
              <a:t>dial a number; call / ring / phone a person. Ring is British English.</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are wrong number.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You’ve got the wrong number. / I’m afraid you have the wrong number.</a:t>
            </a:r>
          </a:p>
          <a:p>
            <a:pPr algn="l">
              <a:spcAft>
                <a:spcPts val="200"/>
              </a:spcAft>
            </a:pPr>
            <a:r>
              <a:rPr sz="1200" b="0">
                <a:solidFill>
                  <a:srgbClr val="FFFFFF"/>
                </a:solidFill>
                <a:latin typeface="Arial"/>
                <a:ea typeface="Microsoft YaHei"/>
              </a:rPr>
              <a:t>固定说法 the wrong number</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Wrong number! (and hang up)</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you’ve got the wrong number.</a:t>
            </a:r>
          </a:p>
          <a:p>
            <a:pPr algn="l">
              <a:spcAft>
                <a:spcPts val="200"/>
              </a:spcAft>
            </a:pPr>
            <a:r>
              <a:rPr sz="1200" b="0">
                <a:solidFill>
                  <a:srgbClr val="FFFFFF"/>
                </a:solidFill>
                <a:latin typeface="Arial"/>
                <a:ea typeface="Microsoft YaHei"/>
              </a:rPr>
              <a:t>直接说会很粗鲁</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 do you want?</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Who are you trying to reach? / Who would you like to speak to?</a:t>
            </a:r>
          </a:p>
          <a:p>
            <a:pPr algn="l">
              <a:spcAft>
                <a:spcPts val="200"/>
              </a:spcAft>
            </a:pPr>
            <a:r>
              <a:rPr sz="1200" b="0">
                <a:solidFill>
                  <a:srgbClr val="FFFFFF"/>
                </a:solidFill>
                <a:latin typeface="Arial"/>
                <a:ea typeface="Microsoft YaHei"/>
              </a:rPr>
              <a:t>更礼貌</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dialed the wrong number yesterday.</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dialled the wrong number yesterday.</a:t>
            </a:r>
          </a:p>
          <a:p>
            <a:pPr algn="l">
              <a:spcAft>
                <a:spcPts val="200"/>
              </a:spcAft>
            </a:pPr>
            <a:r>
              <a:rPr sz="1200" b="0">
                <a:solidFill>
                  <a:srgbClr val="FFFFFF"/>
                </a:solidFill>
                <a:latin typeface="Arial"/>
                <a:ea typeface="Microsoft YaHei"/>
              </a:rPr>
              <a:t>yesterday → 过去式</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must dial the wrong number.</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must have dialled the wrong number.</a:t>
            </a:r>
          </a:p>
          <a:p>
            <a:pPr algn="l">
              <a:spcAft>
                <a:spcPts val="200"/>
              </a:spcAft>
            </a:pPr>
            <a:r>
              <a:rPr sz="1200" b="0">
                <a:solidFill>
                  <a:srgbClr val="FFFFFF"/>
                </a:solidFill>
                <a:latin typeface="Arial"/>
                <a:ea typeface="Microsoft YaHei"/>
              </a:rPr>
              <a:t>推测过去用 must have + p.p.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is not Orion?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Is that Orion Foods?</a:t>
            </a:r>
          </a:p>
          <a:p>
            <a:pPr algn="l">
              <a:spcAft>
                <a:spcPts val="200"/>
              </a:spcAft>
            </a:pPr>
            <a:r>
              <a:rPr sz="1200" b="0">
                <a:solidFill>
                  <a:srgbClr val="FFFFFF"/>
                </a:solidFill>
                <a:latin typeface="Arial"/>
                <a:ea typeface="Microsoft YaHei"/>
              </a:rPr>
              <a:t>问句要倒装</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to disturb you, wrong number. Bye!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to bother you. Goodbye.</a:t>
            </a:r>
          </a:p>
          <a:p>
            <a:pPr algn="l">
              <a:spcAft>
                <a:spcPts val="200"/>
              </a:spcAft>
            </a:pPr>
            <a:r>
              <a:rPr sz="1200" b="0">
                <a:solidFill>
                  <a:srgbClr val="FFFFFF"/>
                </a:solidFill>
                <a:latin typeface="Arial"/>
                <a:ea typeface="Microsoft YaHei"/>
              </a:rPr>
              <a:t>完整、礼貌的结束</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don’t live here.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doesn’t live here.</a:t>
            </a:r>
          </a:p>
          <a:p>
            <a:pPr algn="l">
              <a:spcAft>
                <a:spcPts val="200"/>
              </a:spcAft>
            </a:pPr>
            <a:r>
              <a:rPr sz="1200" b="0">
                <a:solidFill>
                  <a:srgbClr val="FFFFFF"/>
                </a:solidFill>
                <a:latin typeface="Arial"/>
                <a:ea typeface="Microsoft YaHei"/>
              </a:rPr>
              <a:t>第三人称单数</a:t>
            </a:r>
          </a:p>
        </p:txBody>
      </p:sp>
      <p:sp>
        <p:nvSpPr>
          <p:cNvPr id="15" name="Rounded Rectangle 14"/>
          <p:cNvSpPr/>
          <p:nvPr/>
        </p:nvSpPr>
        <p:spPr>
          <a:xfrm>
            <a:off x="548640" y="356615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no have Mr Lee here.</a:t>
            </a:r>
          </a:p>
        </p:txBody>
      </p:sp>
      <p:sp>
        <p:nvSpPr>
          <p:cNvPr id="16" name="Rounded Rectangle 15"/>
          <p:cNvSpPr/>
          <p:nvPr/>
        </p:nvSpPr>
        <p:spPr>
          <a:xfrm>
            <a:off x="6187287" y="356615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is no one here by that name. / We don’t have a Mr Lee here.</a:t>
            </a:r>
          </a:p>
          <a:p>
            <a:pPr algn="l">
              <a:spcAft>
                <a:spcPts val="200"/>
              </a:spcAft>
            </a:pPr>
            <a:r>
              <a:rPr sz="1200" b="0">
                <a:solidFill>
                  <a:srgbClr val="FFFFFF"/>
                </a:solidFill>
                <a:latin typeface="Arial"/>
                <a:ea typeface="Microsoft YaHei"/>
              </a:rPr>
              <a:t>否定句</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dial to Orion.</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dialled Orion’s number. / I called Orion.</a:t>
            </a:r>
          </a:p>
          <a:p>
            <a:pPr algn="l">
              <a:spcAft>
                <a:spcPts val="200"/>
              </a:spcAft>
            </a:pPr>
            <a:r>
              <a:rPr sz="1200" b="0">
                <a:solidFill>
                  <a:srgbClr val="FFFFFF"/>
                </a:solidFill>
                <a:latin typeface="Arial"/>
                <a:ea typeface="Microsoft YaHei"/>
              </a:rPr>
              <a:t>dial 后直接加号码,不加 to</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Don’t hang up in silence. Say “Sorry to bother you” and “Goodbye”. Use must have + past participle for “I guess I did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Don’t give personal information to a wrong-number caller. If a stranger asks “Whose number is this?”, say “I’m afraid I can’t say. Who are you trying to reach?”</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Don’t ask “Who is this?” when you’ve been called. Use “Who’s calling, please?”</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0">
                <a:solidFill>
                  <a:srgbClr val="1F2A44"/>
                </a:solidFill>
                <a:latin typeface="Arial"/>
                <a:ea typeface="Microsoft YaHei"/>
              </a:rPr>
              <a:t>Be kind. In English-speaking countries, a polite “No problem, it happens” is the standard reply, not annoyance.</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Unwanted calls: </a:t>
            </a:r>
            <a:r>
              <a:rPr sz="1700" b="0">
                <a:solidFill>
                  <a:srgbClr val="1F2A44"/>
                </a:solidFill>
                <a:latin typeface="Arial"/>
                <a:ea typeface="Microsoft YaHei"/>
              </a:rPr>
              <a:t>In the UK and US, companies must stop calling if you ask to be removed from the list. It is normal to say “Please remove me from your list.”</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Redirect, don’t just say “wrong department”. A helpful reply gives the extension or the new number.</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check a number (Is this…? Is that…?) and apologize when I call the wrong number.</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say politely “You’ve got the wrong number” and ask What number were you trying to reach?</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redirect a call to the right person or give the right extension.</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refuse an unwanted call (I’m not interested, thank you. Please remove my number).</a:t>
            </a:r>
          </a:p>
        </p:txBody>
      </p:sp>
      <p:sp>
        <p:nvSpPr>
          <p:cNvPr id="24" name="TextBox 23"/>
          <p:cNvSpPr txBox="1"/>
          <p:nvPr/>
        </p:nvSpPr>
        <p:spPr>
          <a:xfrm>
            <a:off x="9539935" y="403250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73752"/>
            <a:ext cx="11094415"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73752"/>
            <a:ext cx="548640" cy="4754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73752"/>
            <a:ext cx="8168335" cy="47548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must have + past participle and the wrong number correctly.</a:t>
            </a:r>
          </a:p>
        </p:txBody>
      </p:sp>
      <p:sp>
        <p:nvSpPr>
          <p:cNvPr id="28" name="TextBox 27"/>
          <p:cNvSpPr txBox="1"/>
          <p:nvPr/>
        </p:nvSpPr>
        <p:spPr>
          <a:xfrm>
            <a:off x="9539935" y="4873752"/>
            <a:ext cx="2011680" cy="4754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 · Lesson 26 Dealing with a wrong number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the wrong number, must have + p.p., past simple with yesterday, and a friendly closing.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您周二下午有空吗?</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Are you free on Tuesday afternoon?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我可以 / 合适</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That suits me fine. / That works for me.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I’ll send a calendar invitation.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I’ll send a calendar invitation after this call.</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费用是多少?</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How much does it cost? / What’s the price?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Does include the price lunch?</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Does the price include lunch?</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Just to confirm, …</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Just to confirm, we’ll meet on Friday at two at your office.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“您想打的号码是多少?”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 number were you trying to reach?</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“抱歉打扰您”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Sorry to bother / disturb you.</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“我想约一次会议”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like to arrange a meeting.</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Can you come my office?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 you come to my office?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have a reservation in the name of Li.</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have a reservation under the name of Li.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6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